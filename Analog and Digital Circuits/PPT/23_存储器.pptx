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handoutMasterIdLst>
    <p:handoutMasterId r:id="rId25"/>
  </p:handoutMasterIdLst>
  <p:sldIdLst>
    <p:sldId id="1354" r:id="rId2"/>
    <p:sldId id="6935" r:id="rId3"/>
    <p:sldId id="7174" r:id="rId4"/>
    <p:sldId id="7175" r:id="rId5"/>
    <p:sldId id="7176" r:id="rId6"/>
    <p:sldId id="7195" r:id="rId7"/>
    <p:sldId id="7178" r:id="rId8"/>
    <p:sldId id="7179" r:id="rId9"/>
    <p:sldId id="7180" r:id="rId10"/>
    <p:sldId id="7186" r:id="rId11"/>
    <p:sldId id="7181" r:id="rId12"/>
    <p:sldId id="7182" r:id="rId13"/>
    <p:sldId id="7184" r:id="rId14"/>
    <p:sldId id="7185" r:id="rId15"/>
    <p:sldId id="7187" r:id="rId16"/>
    <p:sldId id="7188" r:id="rId17"/>
    <p:sldId id="7189" r:id="rId18"/>
    <p:sldId id="7194" r:id="rId19"/>
    <p:sldId id="7191" r:id="rId20"/>
    <p:sldId id="7192" r:id="rId21"/>
    <p:sldId id="7193" r:id="rId22"/>
    <p:sldId id="7007"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FF"/>
    <a:srgbClr val="0000FF"/>
    <a:srgbClr val="00FF00"/>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810" autoAdjust="0"/>
    <p:restoredTop sz="63867" autoAdjust="0"/>
  </p:normalViewPr>
  <p:slideViewPr>
    <p:cSldViewPr snapToGrid="0">
      <p:cViewPr>
        <p:scale>
          <a:sx n="75" d="100"/>
          <a:sy n="75" d="100"/>
        </p:scale>
        <p:origin x="573" y="-603"/>
      </p:cViewPr>
      <p:guideLst/>
    </p:cSldViewPr>
  </p:slideViewPr>
  <p:notesTextViewPr>
    <p:cViewPr>
      <p:scale>
        <a:sx n="1" d="1"/>
        <a:sy n="1" d="1"/>
      </p:scale>
      <p:origin x="0" y="0"/>
    </p:cViewPr>
  </p:notesTextViewPr>
  <p:notesViewPr>
    <p:cSldViewPr snapToGrid="0">
      <p:cViewPr varScale="1">
        <p:scale>
          <a:sx n="60" d="100"/>
          <a:sy n="60" d="100"/>
        </p:scale>
        <p:origin x="1230" y="39"/>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3336B957-0C23-1CDE-A2B8-044701C667D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B07E1FBC-070D-8861-8D9C-258144CACE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A72CA61-C7A7-44C1-8225-2F3B25FCEFE9}" type="datetimeFigureOut">
              <a:rPr lang="zh-CN" altLang="en-US" smtClean="0"/>
              <a:t>2025/12/29</a:t>
            </a:fld>
            <a:endParaRPr lang="zh-CN" altLang="en-US"/>
          </a:p>
        </p:txBody>
      </p:sp>
      <p:sp>
        <p:nvSpPr>
          <p:cNvPr id="4" name="页脚占位符 3">
            <a:extLst>
              <a:ext uri="{FF2B5EF4-FFF2-40B4-BE49-F238E27FC236}">
                <a16:creationId xmlns:a16="http://schemas.microsoft.com/office/drawing/2014/main" id="{CE964B15-02A6-96D1-7025-FFA5019E5E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A1ABE5DA-4AAF-6256-556A-73DB14F76B4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E1A6520-B727-41E0-BB1B-FA4B49A625E8}" type="slidenum">
              <a:rPr lang="zh-CN" altLang="en-US" smtClean="0"/>
              <a:t>‹#›</a:t>
            </a:fld>
            <a:endParaRPr lang="zh-CN" altLang="en-US"/>
          </a:p>
        </p:txBody>
      </p:sp>
    </p:spTree>
    <p:extLst>
      <p:ext uri="{BB962C8B-B14F-4D97-AF65-F5344CB8AC3E}">
        <p14:creationId xmlns:p14="http://schemas.microsoft.com/office/powerpoint/2010/main" val="2731041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6499D7-817A-4BF8-98BA-7E2BFEC27B52}" type="datetimeFigureOut">
              <a:rPr lang="zh-CN" altLang="en-US" smtClean="0"/>
              <a:t>2025/12/29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F8E926-3218-4A05-BE3C-00B734B06F20}" type="slidenum">
              <a:rPr lang="zh-CN" altLang="en-US" smtClean="0"/>
              <a:t>‹#›</a:t>
            </a:fld>
            <a:endParaRPr lang="zh-CN" altLang="en-US"/>
          </a:p>
        </p:txBody>
      </p:sp>
    </p:spTree>
    <p:extLst>
      <p:ext uri="{BB962C8B-B14F-4D97-AF65-F5344CB8AC3E}">
        <p14:creationId xmlns:p14="http://schemas.microsoft.com/office/powerpoint/2010/main" val="1144201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D049EC6D-DB1F-44A4-BAF7-4CD4248B20AA}" type="slidenum">
              <a:rPr lang="zh-CN" altLang="en-US" smtClean="0"/>
              <a:pPr/>
              <a:t>1</a:t>
            </a:fld>
            <a:endParaRPr lang="zh-CN" altLang="en-US"/>
          </a:p>
        </p:txBody>
      </p:sp>
    </p:spTree>
    <p:extLst>
      <p:ext uri="{BB962C8B-B14F-4D97-AF65-F5344CB8AC3E}">
        <p14:creationId xmlns:p14="http://schemas.microsoft.com/office/powerpoint/2010/main" val="2828306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endParaRPr lang="zh-CN" altLang="en-US" sz="1200"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2</a:t>
            </a:fld>
            <a:endParaRPr lang="zh-CN" altLang="en-US"/>
          </a:p>
        </p:txBody>
      </p:sp>
    </p:spTree>
    <p:extLst>
      <p:ext uri="{BB962C8B-B14F-4D97-AF65-F5344CB8AC3E}">
        <p14:creationId xmlns:p14="http://schemas.microsoft.com/office/powerpoint/2010/main" val="221483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endParaRPr lang="zh-CN" altLang="en-US" dirty="0">
              <a:latin typeface="宋体" panose="02010600030101010101" pitchFamily="2" charset="-122"/>
            </a:endParaRPr>
          </a:p>
          <a:p>
            <a:r>
              <a:rPr lang="zh-CN" altLang="en-US" dirty="0"/>
              <a:t>字数通常采用 </a:t>
            </a:r>
            <a:r>
              <a:rPr lang="en-US" altLang="zh-CN" dirty="0"/>
              <a:t>K</a:t>
            </a:r>
            <a:r>
              <a:rPr lang="zh-CN" altLang="en-US" dirty="0"/>
              <a:t>、</a:t>
            </a:r>
            <a:r>
              <a:rPr lang="en-US" altLang="zh-CN" dirty="0"/>
              <a:t>M</a:t>
            </a:r>
            <a:r>
              <a:rPr lang="zh-CN" altLang="en-US" dirty="0"/>
              <a:t>、</a:t>
            </a:r>
            <a:r>
              <a:rPr lang="en-US" altLang="zh-CN" dirty="0"/>
              <a:t>G </a:t>
            </a:r>
            <a:r>
              <a:rPr lang="zh-CN" altLang="en-US" dirty="0"/>
              <a:t>为单位</a:t>
            </a:r>
            <a:endParaRPr lang="en-US" altLang="zh-CN" dirty="0"/>
          </a:p>
          <a:p>
            <a:r>
              <a:rPr lang="en-US" altLang="zh-CN" dirty="0"/>
              <a:t>1 K  = 2^10 = 1024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 M = 2^20 = 1024 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1 G  = 2^30 = 1024 M</a:t>
            </a:r>
          </a:p>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3</a:t>
            </a:fld>
            <a:endParaRPr lang="zh-CN" altLang="en-US"/>
          </a:p>
        </p:txBody>
      </p:sp>
    </p:spTree>
    <p:extLst>
      <p:ext uri="{BB962C8B-B14F-4D97-AF65-F5344CB8AC3E}">
        <p14:creationId xmlns:p14="http://schemas.microsoft.com/office/powerpoint/2010/main" val="2801555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D6669-06CB-E5BD-D4DE-ABF9A135B9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883D3C2-69FE-5C98-CFE9-02EC3C304C5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8A68890-D4E6-6263-E19A-55FB12C6CF56}"/>
              </a:ext>
            </a:extLst>
          </p:cNvPr>
          <p:cNvSpPr>
            <a:spLocks noGrp="1"/>
          </p:cNvSpPr>
          <p:nvPr>
            <p:ph type="body" idx="1"/>
          </p:nvPr>
        </p:nvSpPr>
        <p:spPr/>
        <p:txBody>
          <a:bodyPr/>
          <a:lstStyle/>
          <a:p>
            <a:pPr eaLnBrk="1" hangingPunct="1"/>
            <a:endParaRPr lang="zh-CN" altLang="en-US" dirty="0">
              <a:latin typeface="宋体" panose="02010600030101010101" pitchFamily="2" charset="-122"/>
            </a:endParaRPr>
          </a:p>
          <a:p>
            <a:endParaRPr lang="zh-CN" altLang="en-US" dirty="0"/>
          </a:p>
        </p:txBody>
      </p:sp>
      <p:sp>
        <p:nvSpPr>
          <p:cNvPr id="4" name="灯片编号占位符 3">
            <a:extLst>
              <a:ext uri="{FF2B5EF4-FFF2-40B4-BE49-F238E27FC236}">
                <a16:creationId xmlns:a16="http://schemas.microsoft.com/office/drawing/2014/main" id="{291490A2-5244-FC56-2BF3-32813F4EBBCB}"/>
              </a:ext>
            </a:extLst>
          </p:cNvPr>
          <p:cNvSpPr>
            <a:spLocks noGrp="1"/>
          </p:cNvSpPr>
          <p:nvPr>
            <p:ph type="sldNum" sz="quarter" idx="5"/>
          </p:nvPr>
        </p:nvSpPr>
        <p:spPr/>
        <p:txBody>
          <a:bodyPr/>
          <a:lstStyle/>
          <a:p>
            <a:fld id="{6AF8E926-3218-4A05-BE3C-00B734B06F20}" type="slidenum">
              <a:rPr lang="zh-CN" altLang="en-US" smtClean="0"/>
              <a:t>4</a:t>
            </a:fld>
            <a:endParaRPr lang="zh-CN" altLang="en-US"/>
          </a:p>
        </p:txBody>
      </p:sp>
    </p:spTree>
    <p:extLst>
      <p:ext uri="{BB962C8B-B14F-4D97-AF65-F5344CB8AC3E}">
        <p14:creationId xmlns:p14="http://schemas.microsoft.com/office/powerpoint/2010/main" val="4182835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FFF65-8D6A-9E75-96B8-A6D266A0C04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1BFA88-ED44-5880-9AAC-22ED9927608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5012AA8-7EDB-C504-9A0B-D472F7DF3ED8}"/>
              </a:ext>
            </a:extLst>
          </p:cNvPr>
          <p:cNvSpPr>
            <a:spLocks noGrp="1"/>
          </p:cNvSpPr>
          <p:nvPr>
            <p:ph type="body" idx="1"/>
          </p:nvPr>
        </p:nvSpPr>
        <p:spPr/>
        <p:txBody>
          <a:bodyPr/>
          <a:lstStyle/>
          <a:p>
            <a:pPr eaLnBrk="1" hangingPunct="1"/>
            <a:endParaRPr lang="zh-CN" altLang="en-US" dirty="0">
              <a:latin typeface="宋体" panose="02010600030101010101" pitchFamily="2" charset="-122"/>
            </a:endParaRPr>
          </a:p>
          <a:p>
            <a:r>
              <a:rPr lang="en-US" altLang="zh-CN" dirty="0">
                <a:latin typeface="微软雅黑" panose="020B0503020204020204" pitchFamily="34" charset="-122"/>
                <a:ea typeface="微软雅黑" panose="020B0503020204020204" pitchFamily="34" charset="-122"/>
              </a:rPr>
              <a:t>ROM </a:t>
            </a:r>
            <a:r>
              <a:rPr lang="zh-CN" altLang="en-US" dirty="0">
                <a:latin typeface="微软雅黑" panose="020B0503020204020204" pitchFamily="34" charset="-122"/>
                <a:ea typeface="微软雅黑" panose="020B0503020204020204" pitchFamily="34" charset="-122"/>
              </a:rPr>
              <a:t>的发展，已经改变了最初</a:t>
            </a:r>
            <a:r>
              <a:rPr kumimoji="1" lang="zh-CN" altLang="en-US" sz="1200">
                <a:solidFill>
                  <a:schemeClr val="accent5">
                    <a:lumMod val="75000"/>
                  </a:schemeClr>
                </a:solidFill>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只读</a:t>
            </a:r>
            <a:r>
              <a:rPr kumimoji="1" lang="zh-CN" altLang="en-US" sz="1200">
                <a:solidFill>
                  <a:schemeClr val="accent5">
                    <a:lumMod val="75000"/>
                  </a:schemeClr>
                </a:solidFill>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的性质</a:t>
            </a:r>
            <a:endParaRPr lang="zh-CN" altLang="en-US" dirty="0">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0D944BBF-6745-DB45-147E-C4E3661F896F}"/>
              </a:ext>
            </a:extLst>
          </p:cNvPr>
          <p:cNvSpPr>
            <a:spLocks noGrp="1"/>
          </p:cNvSpPr>
          <p:nvPr>
            <p:ph type="sldNum" sz="quarter" idx="5"/>
          </p:nvPr>
        </p:nvSpPr>
        <p:spPr/>
        <p:txBody>
          <a:bodyPr/>
          <a:lstStyle/>
          <a:p>
            <a:fld id="{6AF8E926-3218-4A05-BE3C-00B734B06F20}" type="slidenum">
              <a:rPr lang="zh-CN" altLang="en-US" smtClean="0"/>
              <a:t>5</a:t>
            </a:fld>
            <a:endParaRPr lang="zh-CN" altLang="en-US"/>
          </a:p>
        </p:txBody>
      </p:sp>
    </p:spTree>
    <p:extLst>
      <p:ext uri="{BB962C8B-B14F-4D97-AF65-F5344CB8AC3E}">
        <p14:creationId xmlns:p14="http://schemas.microsoft.com/office/powerpoint/2010/main" val="30843588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22189-718C-7DF9-85DB-BC650BF646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89167D-8388-BCA1-4E21-A269FDD70B9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56CC1AD-BBD7-5CA9-CD8F-7F2E8B40428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cs typeface="宋体" panose="02010600030101010101" pitchFamily="2" charset="-122"/>
              </a:rPr>
              <a:t>当 </a:t>
            </a:r>
            <a:r>
              <a:rPr lang="en-US" altLang="zh-CN" sz="1200" dirty="0">
                <a:cs typeface="宋体" panose="02010600030101010101" pitchFamily="2" charset="-122"/>
              </a:rPr>
              <a:t>OE=0 </a:t>
            </a:r>
            <a:r>
              <a:rPr lang="zh-CN" altLang="en-US" sz="1200" dirty="0">
                <a:cs typeface="宋体" panose="02010600030101010101" pitchFamily="2" charset="-122"/>
              </a:rPr>
              <a:t>时输出选中行，否则呈高阻状态</a:t>
            </a:r>
            <a:endParaRPr lang="en-US" altLang="zh-CN" sz="1200" dirty="0">
              <a:cs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latin typeface="宋体" panose="02010600030101010101" pitchFamily="2" charset="-122"/>
            </a:endParaRPr>
          </a:p>
          <a:p>
            <a:r>
              <a:rPr lang="zh-CN" altLang="en-US" dirty="0"/>
              <a:t>字数通常采用 </a:t>
            </a:r>
            <a:r>
              <a:rPr lang="en-US" altLang="zh-CN" dirty="0"/>
              <a:t>K</a:t>
            </a:r>
            <a:r>
              <a:rPr lang="zh-CN" altLang="en-US" dirty="0"/>
              <a:t>、</a:t>
            </a:r>
            <a:r>
              <a:rPr lang="en-US" altLang="zh-CN" dirty="0"/>
              <a:t>M</a:t>
            </a:r>
            <a:r>
              <a:rPr lang="zh-CN" altLang="en-US" dirty="0"/>
              <a:t>、</a:t>
            </a:r>
            <a:r>
              <a:rPr lang="en-US" altLang="zh-CN" dirty="0"/>
              <a:t>G </a:t>
            </a:r>
            <a:r>
              <a:rPr lang="zh-CN" altLang="en-US" dirty="0"/>
              <a:t>为单位</a:t>
            </a:r>
            <a:endParaRPr lang="en-US" altLang="zh-CN" dirty="0"/>
          </a:p>
          <a:p>
            <a:r>
              <a:rPr lang="en-US" altLang="zh-CN" dirty="0"/>
              <a:t>1 K  = 2^10 = 1024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 M = 2^20 = 1024 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 G  = 2^30 = 1024 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图中的译码方式对于大容量存储，会需要大量的输出</a:t>
            </a:r>
            <a:r>
              <a:rPr lang="zh-CN" altLang="en-US"/>
              <a:t>选择线（字线），</a:t>
            </a:r>
            <a:r>
              <a:rPr lang="zh-CN" altLang="en-US" dirty="0"/>
              <a:t>会使得译码电路急剧膨胀</a:t>
            </a:r>
            <a:endParaRPr lang="en-US" altLang="zh-CN" dirty="0"/>
          </a:p>
        </p:txBody>
      </p:sp>
      <p:sp>
        <p:nvSpPr>
          <p:cNvPr id="4" name="灯片编号占位符 3">
            <a:extLst>
              <a:ext uri="{FF2B5EF4-FFF2-40B4-BE49-F238E27FC236}">
                <a16:creationId xmlns:a16="http://schemas.microsoft.com/office/drawing/2014/main" id="{310CE29C-3B31-35D0-8F06-D540C03D031C}"/>
              </a:ext>
            </a:extLst>
          </p:cNvPr>
          <p:cNvSpPr>
            <a:spLocks noGrp="1"/>
          </p:cNvSpPr>
          <p:nvPr>
            <p:ph type="sldNum" sz="quarter" idx="5"/>
          </p:nvPr>
        </p:nvSpPr>
        <p:spPr/>
        <p:txBody>
          <a:bodyPr/>
          <a:lstStyle/>
          <a:p>
            <a:fld id="{6AF8E926-3218-4A05-BE3C-00B734B06F20}" type="slidenum">
              <a:rPr lang="zh-CN" altLang="en-US" smtClean="0"/>
              <a:t>6</a:t>
            </a:fld>
            <a:endParaRPr lang="zh-CN" altLang="en-US"/>
          </a:p>
        </p:txBody>
      </p:sp>
    </p:spTree>
    <p:extLst>
      <p:ext uri="{BB962C8B-B14F-4D97-AF65-F5344CB8AC3E}">
        <p14:creationId xmlns:p14="http://schemas.microsoft.com/office/powerpoint/2010/main" val="6377936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73225-E312-F7F1-478D-7B444CE0DB7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C99EE97-FCE5-AB19-879F-664CB50DD13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2282E14-E46A-7C47-7CC6-868B54C4416B}"/>
              </a:ext>
            </a:extLst>
          </p:cNvPr>
          <p:cNvSpPr>
            <a:spLocks noGrp="1"/>
          </p:cNvSpPr>
          <p:nvPr>
            <p:ph type="body" idx="1"/>
          </p:nvPr>
        </p:nvSpPr>
        <p:spPr/>
        <p:txBody>
          <a:bodyPr/>
          <a:lstStyle/>
          <a:p>
            <a:r>
              <a:rPr lang="zh-CN" altLang="en-US" dirty="0"/>
              <a:t>要构造 </a:t>
            </a:r>
            <a:r>
              <a:rPr lang="en-US" altLang="zh-CN" dirty="0"/>
              <a:t>2^8x1 </a:t>
            </a:r>
            <a:r>
              <a:rPr lang="zh-CN" altLang="en-US" dirty="0"/>
              <a:t>位的 </a:t>
            </a:r>
            <a:r>
              <a:rPr lang="en-US" altLang="zh-CN" dirty="0"/>
              <a:t>ROM</a:t>
            </a:r>
            <a:r>
              <a:rPr lang="zh-CN" altLang="en-US" dirty="0"/>
              <a:t>，用上一页的方式，需要 </a:t>
            </a:r>
            <a:r>
              <a:rPr lang="en-US" altLang="zh-CN" dirty="0"/>
              <a:t>256 </a:t>
            </a:r>
            <a:r>
              <a:rPr lang="zh-CN" altLang="en-US" dirty="0"/>
              <a:t>根译码输出选择线</a:t>
            </a:r>
            <a:endParaRPr lang="en-US" altLang="zh-CN" dirty="0"/>
          </a:p>
          <a:p>
            <a:r>
              <a:rPr lang="zh-CN" altLang="en-US" dirty="0"/>
              <a:t>用这一页的方式，采用行译码和列译码的二维译码结构，只需行、列各 </a:t>
            </a:r>
            <a:r>
              <a:rPr lang="en-US" altLang="zh-CN" dirty="0"/>
              <a:t>16 </a:t>
            </a:r>
            <a:r>
              <a:rPr lang="zh-CN" altLang="en-US" dirty="0"/>
              <a:t>根选择线，大大减少电路规模</a:t>
            </a:r>
            <a:endParaRPr lang="en-US" altLang="zh-CN" dirty="0"/>
          </a:p>
          <a:p>
            <a:endParaRPr lang="en-US" altLang="zh-CN" dirty="0"/>
          </a:p>
          <a:p>
            <a:r>
              <a:rPr lang="zh-CN" altLang="en-US" dirty="0"/>
              <a:t>水平线不再是字线，是行线或行选择线</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cs typeface="宋体" panose="02010600030101010101" pitchFamily="2" charset="-122"/>
              </a:rPr>
              <a:t>MOS </a:t>
            </a:r>
            <a:r>
              <a:rPr lang="zh-CN" altLang="en-US" dirty="0">
                <a:cs typeface="宋体" panose="02010600030101010101" pitchFamily="2" charset="-122"/>
              </a:rPr>
              <a:t>管为增强型 </a:t>
            </a:r>
            <a:r>
              <a:rPr lang="en-US" altLang="zh-CN" dirty="0">
                <a:cs typeface="宋体" panose="02010600030101010101" pitchFamily="2" charset="-122"/>
              </a:rPr>
              <a:t>N </a:t>
            </a:r>
            <a:r>
              <a:rPr lang="zh-CN" altLang="en-US" dirty="0">
                <a:cs typeface="宋体" panose="02010600030101010101" pitchFamily="2" charset="-122"/>
              </a:rPr>
              <a:t>沟道管，根据 </a:t>
            </a:r>
            <a:r>
              <a:rPr lang="en-US" altLang="zh-CN" dirty="0">
                <a:cs typeface="宋体" panose="02010600030101010101" pitchFamily="2" charset="-122"/>
              </a:rPr>
              <a:t>A_7~A_4 </a:t>
            </a:r>
            <a:r>
              <a:rPr lang="zh-CN" altLang="en-US" dirty="0">
                <a:cs typeface="宋体" panose="02010600030101010101" pitchFamily="2" charset="-122"/>
              </a:rPr>
              <a:t>的值，对应的 </a:t>
            </a:r>
            <a:r>
              <a:rPr lang="en-US" altLang="zh-CN" dirty="0" err="1">
                <a:cs typeface="宋体" panose="02010600030101010101" pitchFamily="2" charset="-122"/>
              </a:rPr>
              <a:t>Y_i</a:t>
            </a:r>
            <a:r>
              <a:rPr lang="en-US" altLang="zh-CN" dirty="0">
                <a:cs typeface="宋体" panose="02010600030101010101" pitchFamily="2" charset="-122"/>
              </a:rPr>
              <a:t> </a:t>
            </a:r>
            <a:r>
              <a:rPr lang="zh-CN" altLang="en-US" dirty="0">
                <a:cs typeface="宋体" panose="02010600030101010101" pitchFamily="2" charset="-122"/>
              </a:rPr>
              <a:t>输出为高，</a:t>
            </a:r>
            <a:r>
              <a:rPr lang="en-US" altLang="zh-CN" dirty="0" err="1">
                <a:cs typeface="宋体" panose="02010600030101010101" pitchFamily="2" charset="-122"/>
              </a:rPr>
              <a:t>Y_i</a:t>
            </a:r>
            <a:r>
              <a:rPr lang="en-US" altLang="zh-CN" dirty="0">
                <a:cs typeface="宋体" panose="02010600030101010101" pitchFamily="2" charset="-122"/>
              </a:rPr>
              <a:t> </a:t>
            </a:r>
            <a:r>
              <a:rPr lang="zh-CN" altLang="en-US" dirty="0">
                <a:cs typeface="宋体" panose="02010600030101010101" pitchFamily="2" charset="-122"/>
              </a:rPr>
              <a:t>所接的横着的一排被选中，其输出达到位线</a:t>
            </a:r>
            <a:endParaRPr lang="en-US" altLang="zh-CN" dirty="0">
              <a:cs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cs typeface="宋体" panose="02010600030101010101" pitchFamily="2" charset="-122"/>
              </a:rPr>
              <a:t>同一位线上的其他路 </a:t>
            </a:r>
            <a:r>
              <a:rPr lang="en-US" altLang="zh-CN" dirty="0" err="1">
                <a:cs typeface="宋体" panose="02010600030101010101" pitchFamily="2" charset="-122"/>
              </a:rPr>
              <a:t>Y_j</a:t>
            </a:r>
            <a:r>
              <a:rPr lang="zh-CN" altLang="en-US" dirty="0">
                <a:cs typeface="宋体" panose="02010600030101010101" pitchFamily="2" charset="-122"/>
              </a:rPr>
              <a:t>（</a:t>
            </a:r>
            <a:r>
              <a:rPr lang="en-US" altLang="zh-CN" dirty="0" err="1">
                <a:cs typeface="宋体" panose="02010600030101010101" pitchFamily="2" charset="-122"/>
              </a:rPr>
              <a:t>j</a:t>
            </a:r>
            <a:r>
              <a:rPr lang="en-US" altLang="zh-CN" dirty="0" err="1">
                <a:latin typeface="微软雅黑" panose="020B0503020204020204" pitchFamily="34" charset="-122"/>
                <a:ea typeface="微软雅黑" panose="020B0503020204020204" pitchFamily="34" charset="-122"/>
                <a:cs typeface="宋体" panose="02010600030101010101" pitchFamily="2" charset="-122"/>
              </a:rPr>
              <a:t>≠i</a:t>
            </a:r>
            <a:r>
              <a:rPr lang="zh-CN" altLang="en-US" dirty="0">
                <a:cs typeface="宋体" panose="02010600030101010101" pitchFamily="2" charset="-122"/>
              </a:rPr>
              <a:t>），由于 </a:t>
            </a:r>
            <a:r>
              <a:rPr lang="en-US" altLang="zh-CN" dirty="0">
                <a:cs typeface="宋体" panose="02010600030101010101" pitchFamily="2" charset="-122"/>
              </a:rPr>
              <a:t>MOS </a:t>
            </a:r>
            <a:r>
              <a:rPr lang="zh-CN" altLang="en-US" dirty="0">
                <a:cs typeface="宋体" panose="02010600030101010101" pitchFamily="2" charset="-122"/>
              </a:rPr>
              <a:t>管不导通，因此不影响位线电压</a:t>
            </a:r>
            <a:endParaRPr lang="en-US" altLang="zh-CN" dirty="0">
              <a:cs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cs typeface="宋体" panose="02010600030101010101" pitchFamily="2" charset="-122"/>
              </a:rPr>
              <a:t>然后由 </a:t>
            </a:r>
            <a:r>
              <a:rPr lang="en-US" altLang="zh-CN" dirty="0">
                <a:cs typeface="宋体" panose="02010600030101010101" pitchFamily="2" charset="-122"/>
              </a:rPr>
              <a:t>A_3~A_0 </a:t>
            </a:r>
            <a:r>
              <a:rPr lang="zh-CN" altLang="en-US" dirty="0">
                <a:cs typeface="宋体" panose="02010600030101010101" pitchFamily="2" charset="-122"/>
              </a:rPr>
              <a:t>的值决定选中哪根位线（对应 </a:t>
            </a:r>
            <a:r>
              <a:rPr lang="en-US" altLang="zh-CN" dirty="0">
                <a:cs typeface="宋体" panose="02010600030101010101" pitchFamily="2" charset="-122"/>
              </a:rPr>
              <a:t>I_0~I_15</a:t>
            </a:r>
            <a:r>
              <a:rPr lang="zh-CN" altLang="en-US" dirty="0">
                <a:cs typeface="宋体" panose="02010600030101010101" pitchFamily="2" charset="-122"/>
              </a:rPr>
              <a:t>）</a:t>
            </a:r>
            <a:endParaRPr lang="en-US" altLang="zh-CN" dirty="0">
              <a:cs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cs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cs typeface="宋体" panose="02010600030101010101" pitchFamily="2" charset="-122"/>
              </a:rPr>
              <a:t>被选中的节点，如存在 </a:t>
            </a:r>
            <a:r>
              <a:rPr lang="en-US" altLang="zh-CN" dirty="0">
                <a:cs typeface="宋体" panose="02010600030101010101" pitchFamily="2" charset="-122"/>
              </a:rPr>
              <a:t>MOS </a:t>
            </a:r>
            <a:r>
              <a:rPr lang="zh-CN" altLang="en-US" dirty="0">
                <a:cs typeface="宋体" panose="02010600030101010101" pitchFamily="2" charset="-122"/>
              </a:rPr>
              <a:t>管，则由于 </a:t>
            </a:r>
            <a:r>
              <a:rPr lang="en-US" altLang="zh-CN" dirty="0">
                <a:cs typeface="宋体" panose="02010600030101010101" pitchFamily="2" charset="-122"/>
              </a:rPr>
              <a:t>MOS </a:t>
            </a:r>
            <a:r>
              <a:rPr lang="zh-CN" altLang="en-US" dirty="0">
                <a:cs typeface="宋体" panose="02010600030101010101" pitchFamily="2" charset="-122"/>
              </a:rPr>
              <a:t>管导通，电流经过 </a:t>
            </a:r>
            <a:r>
              <a:rPr lang="en-US" altLang="zh-CN" dirty="0">
                <a:cs typeface="宋体" panose="02010600030101010101" pitchFamily="2" charset="-122"/>
              </a:rPr>
              <a:t>R</a:t>
            </a:r>
            <a:r>
              <a:rPr lang="zh-CN" altLang="en-US" dirty="0">
                <a:cs typeface="宋体" panose="02010600030101010101" pitchFamily="2" charset="-122"/>
              </a:rPr>
              <a:t>，因此位线电压底（</a:t>
            </a:r>
            <a:r>
              <a:rPr lang="en-US" altLang="zh-CN" dirty="0">
                <a:cs typeface="宋体" panose="02010600030101010101" pitchFamily="2" charset="-122"/>
              </a:rPr>
              <a:t>V_DD-I*R</a:t>
            </a:r>
            <a:r>
              <a:rPr lang="zh-CN" altLang="en-US" dirty="0">
                <a:cs typeface="宋体" panose="02010600030101010101" pitchFamily="2" charset="-122"/>
              </a:rPr>
              <a:t>），相当于位线接地，读出 </a:t>
            </a:r>
            <a:r>
              <a:rPr lang="en-US" altLang="zh-CN" dirty="0">
                <a:cs typeface="宋体" panose="02010600030101010101" pitchFamily="2" charset="-122"/>
              </a:rPr>
              <a:t>0</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cs typeface="宋体" panose="02010600030101010101" pitchFamily="2" charset="-122"/>
              </a:rPr>
              <a:t>如果没有 </a:t>
            </a:r>
            <a:r>
              <a:rPr lang="en-US" altLang="zh-CN" dirty="0">
                <a:cs typeface="宋体" panose="02010600030101010101" pitchFamily="2" charset="-122"/>
              </a:rPr>
              <a:t>MOS </a:t>
            </a:r>
            <a:r>
              <a:rPr lang="zh-CN" altLang="en-US" dirty="0">
                <a:cs typeface="宋体" panose="02010600030101010101" pitchFamily="2" charset="-122"/>
              </a:rPr>
              <a:t>管，则仅有微量电流经过 </a:t>
            </a:r>
            <a:r>
              <a:rPr lang="en-US" altLang="zh-CN" dirty="0">
                <a:cs typeface="宋体" panose="02010600030101010101" pitchFamily="2" charset="-122"/>
              </a:rPr>
              <a:t>R</a:t>
            </a:r>
            <a:r>
              <a:rPr lang="zh-CN" altLang="en-US" dirty="0">
                <a:cs typeface="宋体" panose="02010600030101010101" pitchFamily="2" charset="-122"/>
              </a:rPr>
              <a:t>，相当于位线接 </a:t>
            </a:r>
            <a:r>
              <a:rPr lang="en-US" altLang="zh-CN" dirty="0">
                <a:cs typeface="宋体" panose="02010600030101010101" pitchFamily="2" charset="-122"/>
              </a:rPr>
              <a:t>V_DD, </a:t>
            </a:r>
            <a:r>
              <a:rPr lang="zh-CN" altLang="en-US" dirty="0">
                <a:cs typeface="宋体" panose="02010600030101010101" pitchFamily="2" charset="-122"/>
              </a:rPr>
              <a:t>读出 </a:t>
            </a:r>
            <a:r>
              <a:rPr lang="en-US" altLang="zh-CN" dirty="0">
                <a:cs typeface="宋体" panose="02010600030101010101" pitchFamily="2" charset="-122"/>
              </a:rPr>
              <a:t>1</a:t>
            </a:r>
          </a:p>
          <a:p>
            <a:endParaRPr lang="zh-CN" altLang="en-US" dirty="0"/>
          </a:p>
        </p:txBody>
      </p:sp>
      <p:sp>
        <p:nvSpPr>
          <p:cNvPr id="4" name="灯片编号占位符 3">
            <a:extLst>
              <a:ext uri="{FF2B5EF4-FFF2-40B4-BE49-F238E27FC236}">
                <a16:creationId xmlns:a16="http://schemas.microsoft.com/office/drawing/2014/main" id="{36FFC52B-9547-8D80-D19D-28992F3303E9}"/>
              </a:ext>
            </a:extLst>
          </p:cNvPr>
          <p:cNvSpPr>
            <a:spLocks noGrp="1"/>
          </p:cNvSpPr>
          <p:nvPr>
            <p:ph type="sldNum" sz="quarter" idx="5"/>
          </p:nvPr>
        </p:nvSpPr>
        <p:spPr/>
        <p:txBody>
          <a:bodyPr/>
          <a:lstStyle/>
          <a:p>
            <a:fld id="{6AF8E926-3218-4A05-BE3C-00B734B06F20}" type="slidenum">
              <a:rPr lang="zh-CN" altLang="en-US" smtClean="0"/>
              <a:t>7</a:t>
            </a:fld>
            <a:endParaRPr lang="zh-CN" altLang="en-US"/>
          </a:p>
        </p:txBody>
      </p:sp>
    </p:spTree>
    <p:extLst>
      <p:ext uri="{BB962C8B-B14F-4D97-AF65-F5344CB8AC3E}">
        <p14:creationId xmlns:p14="http://schemas.microsoft.com/office/powerpoint/2010/main" val="32882315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59FDB-DF20-C1C4-5D7A-278CC0F234D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EEBF35D-277D-6B50-83E2-695C01DA057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027F852-7940-6F10-8DB4-76AD25F64D75}"/>
              </a:ext>
            </a:extLst>
          </p:cNvPr>
          <p:cNvSpPr>
            <a:spLocks noGrp="1"/>
          </p:cNvSpPr>
          <p:nvPr>
            <p:ph type="body" idx="1"/>
          </p:nvPr>
        </p:nvSpPr>
        <p:spPr/>
        <p:txBody>
          <a:bodyPr/>
          <a:lstStyle/>
          <a:p>
            <a:r>
              <a:rPr lang="en-US" altLang="zh-CN" dirty="0"/>
              <a:t>ROM </a:t>
            </a:r>
            <a:r>
              <a:rPr lang="zh-CN" altLang="en-US" dirty="0"/>
              <a:t>用于存放运行程序或者固定不变的数据</a:t>
            </a:r>
            <a:endParaRPr lang="en-US" altLang="zh-CN" dirty="0">
              <a:cs typeface="宋体" panose="02010600030101010101" pitchFamily="2" charset="-122"/>
            </a:endParaRPr>
          </a:p>
          <a:p>
            <a:endParaRPr lang="zh-CN" altLang="en-US" dirty="0"/>
          </a:p>
        </p:txBody>
      </p:sp>
      <p:sp>
        <p:nvSpPr>
          <p:cNvPr id="4" name="灯片编号占位符 3">
            <a:extLst>
              <a:ext uri="{FF2B5EF4-FFF2-40B4-BE49-F238E27FC236}">
                <a16:creationId xmlns:a16="http://schemas.microsoft.com/office/drawing/2014/main" id="{41B522CB-4799-46AF-5F1C-E1F8B56138A2}"/>
              </a:ext>
            </a:extLst>
          </p:cNvPr>
          <p:cNvSpPr>
            <a:spLocks noGrp="1"/>
          </p:cNvSpPr>
          <p:nvPr>
            <p:ph type="sldNum" sz="quarter" idx="5"/>
          </p:nvPr>
        </p:nvSpPr>
        <p:spPr/>
        <p:txBody>
          <a:bodyPr/>
          <a:lstStyle/>
          <a:p>
            <a:fld id="{6AF8E926-3218-4A05-BE3C-00B734B06F20}" type="slidenum">
              <a:rPr lang="zh-CN" altLang="en-US" smtClean="0"/>
              <a:t>8</a:t>
            </a:fld>
            <a:endParaRPr lang="zh-CN" altLang="en-US"/>
          </a:p>
        </p:txBody>
      </p:sp>
    </p:spTree>
    <p:extLst>
      <p:ext uri="{BB962C8B-B14F-4D97-AF65-F5344CB8AC3E}">
        <p14:creationId xmlns:p14="http://schemas.microsoft.com/office/powerpoint/2010/main" val="17982329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A4870-C77B-017D-87C5-7B0C66D4F9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6E0FFEA-0977-3B14-590C-47AFC793045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DF38198-83E7-ECD1-A4EE-7622D958976F}"/>
              </a:ext>
            </a:extLst>
          </p:cNvPr>
          <p:cNvSpPr>
            <a:spLocks noGrp="1"/>
          </p:cNvSpPr>
          <p:nvPr>
            <p:ph type="body" idx="1"/>
          </p:nvPr>
        </p:nvSpPr>
        <p:spPr/>
        <p:txBody>
          <a:bodyPr/>
          <a:lstStyle/>
          <a:p>
            <a:r>
              <a:rPr lang="en-US" altLang="zh-CN" dirty="0"/>
              <a:t>ROM </a:t>
            </a:r>
            <a:r>
              <a:rPr lang="zh-CN" altLang="en-US" dirty="0"/>
              <a:t>是一种组合逻辑电路，可以实现各种组合逻辑函数，特别是多输入多输出的逻辑函数</a:t>
            </a:r>
            <a:endParaRPr lang="en-US" altLang="zh-CN" dirty="0"/>
          </a:p>
          <a:p>
            <a:r>
              <a:rPr lang="zh-CN" altLang="en-US" dirty="0"/>
              <a:t>设计时，只需列出真值表，逻辑函数的输入作为地址，输出作为存储内容，将内容按地址写入 </a:t>
            </a:r>
            <a:r>
              <a:rPr lang="en-US" altLang="zh-CN" dirty="0"/>
              <a:t>ROM </a:t>
            </a:r>
            <a:r>
              <a:rPr lang="zh-CN" altLang="en-US" dirty="0"/>
              <a:t>即可</a:t>
            </a:r>
            <a:endParaRPr lang="en-US" altLang="zh-CN" dirty="0"/>
          </a:p>
          <a:p>
            <a:endParaRPr lang="en-US" altLang="zh-CN" dirty="0"/>
          </a:p>
          <a:p>
            <a:r>
              <a:rPr lang="zh-CN" altLang="en-US" dirty="0"/>
              <a:t>该示例至少需要 </a:t>
            </a:r>
            <a:r>
              <a:rPr lang="en-US" altLang="zh-CN" dirty="0"/>
              <a:t>2^5 x 4 </a:t>
            </a:r>
            <a:r>
              <a:rPr lang="zh-CN" altLang="en-US" dirty="0"/>
              <a:t>位容量</a:t>
            </a:r>
            <a:endParaRPr lang="en-US" altLang="zh-CN" dirty="0"/>
          </a:p>
          <a:p>
            <a:endParaRPr lang="zh-CN" altLang="en-US" dirty="0"/>
          </a:p>
        </p:txBody>
      </p:sp>
      <p:sp>
        <p:nvSpPr>
          <p:cNvPr id="4" name="灯片编号占位符 3">
            <a:extLst>
              <a:ext uri="{FF2B5EF4-FFF2-40B4-BE49-F238E27FC236}">
                <a16:creationId xmlns:a16="http://schemas.microsoft.com/office/drawing/2014/main" id="{1B247F3F-6E46-228B-392F-A34DEC76F567}"/>
              </a:ext>
            </a:extLst>
          </p:cNvPr>
          <p:cNvSpPr>
            <a:spLocks noGrp="1"/>
          </p:cNvSpPr>
          <p:nvPr>
            <p:ph type="sldNum" sz="quarter" idx="5"/>
          </p:nvPr>
        </p:nvSpPr>
        <p:spPr/>
        <p:txBody>
          <a:bodyPr/>
          <a:lstStyle/>
          <a:p>
            <a:fld id="{6AF8E926-3218-4A05-BE3C-00B734B06F20}" type="slidenum">
              <a:rPr lang="zh-CN" altLang="en-US" smtClean="0"/>
              <a:t>9</a:t>
            </a:fld>
            <a:endParaRPr lang="zh-CN" altLang="en-US"/>
          </a:p>
        </p:txBody>
      </p:sp>
    </p:spTree>
    <p:extLst>
      <p:ext uri="{BB962C8B-B14F-4D97-AF65-F5344CB8AC3E}">
        <p14:creationId xmlns:p14="http://schemas.microsoft.com/office/powerpoint/2010/main" val="41956053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CF3CE-0AF2-3DA1-5C89-E41F9009E97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799BB00-D9EB-28E7-AE33-EBBC865C8F3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140B907-DF92-5194-3711-17D10EB2CB0F}"/>
              </a:ext>
            </a:extLst>
          </p:cNvPr>
          <p:cNvSpPr>
            <a:spLocks noGrp="1"/>
          </p:cNvSpPr>
          <p:nvPr>
            <p:ph type="body" idx="1"/>
          </p:nvPr>
        </p:nvSpPr>
        <p:spPr/>
        <p:txBody>
          <a:bodyPr/>
          <a:lstStyle/>
          <a:p>
            <a:r>
              <a:rPr lang="en-US" altLang="zh-CN" dirty="0" err="1"/>
              <a:t>T_aa</a:t>
            </a:r>
            <a:r>
              <a:rPr lang="en-US" altLang="zh-CN" dirty="0"/>
              <a:t> </a:t>
            </a:r>
            <a:r>
              <a:rPr lang="zh-CN" altLang="en-US" dirty="0"/>
              <a:t>为地址存取时间，表示从地址信号加到存储器上到数据输出端有稳定信号输出所需要的时间</a:t>
            </a:r>
            <a:endParaRPr lang="en-US" altLang="zh-CN" dirty="0"/>
          </a:p>
          <a:p>
            <a:r>
              <a:rPr lang="en-US" altLang="zh-CN" dirty="0" err="1"/>
              <a:t>T_ce</a:t>
            </a:r>
            <a:r>
              <a:rPr lang="en-US" altLang="zh-CN" dirty="0"/>
              <a:t> </a:t>
            </a:r>
            <a:r>
              <a:rPr lang="zh-CN" altLang="en-US" dirty="0"/>
              <a:t>为片选存取时间，表示从片选信号 </a:t>
            </a:r>
            <a:r>
              <a:rPr lang="en-US" altLang="zh-CN" dirty="0"/>
              <a:t>/CE </a:t>
            </a:r>
            <a:r>
              <a:rPr lang="zh-CN" altLang="en-US" dirty="0"/>
              <a:t>有效到数据稳定输出所需要的时间</a:t>
            </a:r>
            <a:endParaRPr lang="en-US" altLang="zh-CN" dirty="0"/>
          </a:p>
          <a:p>
            <a:r>
              <a:rPr lang="en-US" altLang="zh-CN" dirty="0" err="1"/>
              <a:t>T_oe</a:t>
            </a:r>
            <a:r>
              <a:rPr lang="en-US" altLang="zh-CN" dirty="0"/>
              <a:t> </a:t>
            </a:r>
            <a:r>
              <a:rPr lang="zh-CN" altLang="en-US" dirty="0"/>
              <a:t>为输出使能时间，表示从输出使能信号 </a:t>
            </a:r>
            <a:r>
              <a:rPr lang="en-US" altLang="zh-CN" dirty="0"/>
              <a:t>/OE </a:t>
            </a:r>
            <a:r>
              <a:rPr lang="zh-CN" altLang="en-US" dirty="0"/>
              <a:t>有效到数据稳定输出所需要的时间</a:t>
            </a:r>
            <a:endParaRPr lang="en-US" altLang="zh-CN" dirty="0"/>
          </a:p>
          <a:p>
            <a:endParaRPr lang="en-US" altLang="zh-CN" dirty="0"/>
          </a:p>
          <a:p>
            <a:r>
              <a:rPr lang="zh-CN" altLang="en-US" dirty="0"/>
              <a:t>只有在地址、</a:t>
            </a:r>
            <a:r>
              <a:rPr lang="en-US" altLang="zh-CN" dirty="0"/>
              <a:t>/CE</a:t>
            </a:r>
            <a:r>
              <a:rPr lang="zh-CN" altLang="en-US" dirty="0"/>
              <a:t>、</a:t>
            </a:r>
            <a:r>
              <a:rPr lang="en-US" altLang="zh-CN" dirty="0"/>
              <a:t>/OE </a:t>
            </a:r>
            <a:r>
              <a:rPr lang="zh-CN" altLang="en-US" dirty="0"/>
              <a:t>均有效，且延迟时间满足 </a:t>
            </a:r>
            <a:r>
              <a:rPr lang="en-US" altLang="zh-CN" dirty="0" err="1"/>
              <a:t>T_aa</a:t>
            </a:r>
            <a:r>
              <a:rPr lang="zh-CN" altLang="en-US" dirty="0"/>
              <a:t>、</a:t>
            </a:r>
            <a:r>
              <a:rPr lang="en-US" altLang="zh-CN" dirty="0" err="1"/>
              <a:t>T_ce</a:t>
            </a:r>
            <a:r>
              <a:rPr lang="zh-CN" altLang="en-US" dirty="0"/>
              <a:t>、</a:t>
            </a:r>
            <a:r>
              <a:rPr lang="en-US" altLang="zh-CN" dirty="0" err="1"/>
              <a:t>T_oe</a:t>
            </a:r>
            <a:r>
              <a:rPr lang="en-US" altLang="zh-CN" dirty="0"/>
              <a:t> </a:t>
            </a:r>
            <a:r>
              <a:rPr lang="zh-CN" altLang="en-US" dirty="0"/>
              <a:t>后，被读单元的内容才能稳定地出现在数据输出端</a:t>
            </a:r>
            <a:endParaRPr lang="en-US" altLang="zh-CN" dirty="0"/>
          </a:p>
          <a:p>
            <a:r>
              <a:rPr lang="zh-CN" altLang="en-US" dirty="0"/>
              <a:t>当地址失效后，数据输出端上地数据保持 </a:t>
            </a:r>
            <a:r>
              <a:rPr lang="en-US" altLang="zh-CN" dirty="0" err="1"/>
              <a:t>T_oh</a:t>
            </a:r>
            <a:r>
              <a:rPr lang="en-US" altLang="zh-CN" dirty="0"/>
              <a:t> </a:t>
            </a:r>
            <a:r>
              <a:rPr lang="zh-CN" altLang="en-US" dirty="0"/>
              <a:t>后才失效，</a:t>
            </a:r>
            <a:endParaRPr lang="en-US" altLang="zh-CN" dirty="0"/>
          </a:p>
          <a:p>
            <a:r>
              <a:rPr lang="en-US" altLang="zh-CN" dirty="0"/>
              <a:t>/CE </a:t>
            </a:r>
            <a:r>
              <a:rPr lang="zh-CN" altLang="en-US" dirty="0"/>
              <a:t>或 </a:t>
            </a:r>
            <a:r>
              <a:rPr lang="en-US" altLang="zh-CN" dirty="0"/>
              <a:t>/OE </a:t>
            </a:r>
            <a:r>
              <a:rPr lang="zh-CN" altLang="en-US" dirty="0"/>
              <a:t>失效后，经延迟 </a:t>
            </a:r>
            <a:r>
              <a:rPr lang="en-US" altLang="zh-CN" dirty="0" err="1"/>
              <a:t>T_df</a:t>
            </a:r>
            <a:r>
              <a:rPr lang="zh-CN" altLang="en-US" dirty="0"/>
              <a:t>（输出失效时间）后数据端呈现高阻状态</a:t>
            </a:r>
            <a:endParaRPr lang="en-US" altLang="zh-CN" dirty="0"/>
          </a:p>
          <a:p>
            <a:r>
              <a:rPr lang="en-US" altLang="zh-CN" dirty="0" err="1"/>
              <a:t>T_rc</a:t>
            </a:r>
            <a:r>
              <a:rPr lang="en-US" altLang="zh-CN" dirty="0"/>
              <a:t> </a:t>
            </a:r>
            <a:r>
              <a:rPr lang="zh-CN" altLang="en-US" dirty="0"/>
              <a:t>为读周期</a:t>
            </a:r>
            <a:endParaRPr lang="en-US" altLang="zh-CN" dirty="0"/>
          </a:p>
          <a:p>
            <a:endParaRPr lang="en-US" altLang="zh-CN" dirty="0"/>
          </a:p>
          <a:p>
            <a:r>
              <a:rPr lang="zh-CN" altLang="en-US" dirty="0"/>
              <a:t>对于 </a:t>
            </a:r>
            <a:r>
              <a:rPr lang="en-US" altLang="zh-CN" dirty="0"/>
              <a:t>MX29F300C </a:t>
            </a:r>
            <a:r>
              <a:rPr lang="zh-CN" altLang="en-US" dirty="0"/>
              <a:t>芯片，这些时间的典型最大值约为几十纳秒</a:t>
            </a:r>
          </a:p>
        </p:txBody>
      </p:sp>
      <p:sp>
        <p:nvSpPr>
          <p:cNvPr id="4" name="灯片编号占位符 3">
            <a:extLst>
              <a:ext uri="{FF2B5EF4-FFF2-40B4-BE49-F238E27FC236}">
                <a16:creationId xmlns:a16="http://schemas.microsoft.com/office/drawing/2014/main" id="{4F59C2CA-0ABC-7ADA-6202-BC5B6E7CD7D3}"/>
              </a:ext>
            </a:extLst>
          </p:cNvPr>
          <p:cNvSpPr>
            <a:spLocks noGrp="1"/>
          </p:cNvSpPr>
          <p:nvPr>
            <p:ph type="sldNum" sz="quarter" idx="5"/>
          </p:nvPr>
        </p:nvSpPr>
        <p:spPr/>
        <p:txBody>
          <a:bodyPr/>
          <a:lstStyle/>
          <a:p>
            <a:fld id="{6AF8E926-3218-4A05-BE3C-00B734B06F20}" type="slidenum">
              <a:rPr lang="zh-CN" altLang="en-US" smtClean="0"/>
              <a:t>10</a:t>
            </a:fld>
            <a:endParaRPr lang="zh-CN" altLang="en-US"/>
          </a:p>
        </p:txBody>
      </p:sp>
    </p:spTree>
    <p:extLst>
      <p:ext uri="{BB962C8B-B14F-4D97-AF65-F5344CB8AC3E}">
        <p14:creationId xmlns:p14="http://schemas.microsoft.com/office/powerpoint/2010/main" val="6692091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6366E-121C-33C7-0BC7-2F06CDB2CB2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10E6CB6-ED3F-6AB0-27A4-65B4C3433D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15DA3E9-77D7-2587-BDD7-9FF380D85A0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DACCDD5-5A28-DAFE-85F8-71647D80E44F}"/>
              </a:ext>
            </a:extLst>
          </p:cNvPr>
          <p:cNvSpPr>
            <a:spLocks noGrp="1"/>
          </p:cNvSpPr>
          <p:nvPr>
            <p:ph type="sldNum" sz="quarter" idx="5"/>
          </p:nvPr>
        </p:nvSpPr>
        <p:spPr/>
        <p:txBody>
          <a:bodyPr/>
          <a:lstStyle/>
          <a:p>
            <a:fld id="{6AF8E926-3218-4A05-BE3C-00B734B06F20}" type="slidenum">
              <a:rPr lang="zh-CN" altLang="en-US" smtClean="0"/>
              <a:t>11</a:t>
            </a:fld>
            <a:endParaRPr lang="zh-CN" altLang="en-US"/>
          </a:p>
        </p:txBody>
      </p:sp>
    </p:spTree>
    <p:extLst>
      <p:ext uri="{BB962C8B-B14F-4D97-AF65-F5344CB8AC3E}">
        <p14:creationId xmlns:p14="http://schemas.microsoft.com/office/powerpoint/2010/main" val="28039639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D2F2F-7263-848A-CDDA-2CC6E290628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CDCCE35-225E-EE30-D1F1-849C9FADFEA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ED58911-E496-7258-7580-C71EAD537F68}"/>
              </a:ext>
            </a:extLst>
          </p:cNvPr>
          <p:cNvSpPr>
            <a:spLocks noGrp="1"/>
          </p:cNvSpPr>
          <p:nvPr>
            <p:ph type="body" idx="1"/>
          </p:nvPr>
        </p:nvSpPr>
        <p:spPr/>
        <p:txBody>
          <a:bodyPr/>
          <a:lstStyle/>
          <a:p>
            <a:r>
              <a:rPr lang="zh-CN" altLang="en-US" dirty="0"/>
              <a:t>片选信号用于多芯片扩展，未选中时输出为高阻，避免总线冲突</a:t>
            </a:r>
            <a:endParaRPr lang="en-US" altLang="zh-CN" dirty="0"/>
          </a:p>
          <a:p>
            <a:r>
              <a:rPr lang="en-US" altLang="zh-CN" dirty="0"/>
              <a:t>SRAM </a:t>
            </a:r>
            <a:r>
              <a:rPr lang="zh-CN" altLang="en-US" dirty="0"/>
              <a:t>的基本结构与 </a:t>
            </a:r>
            <a:r>
              <a:rPr lang="en-US" altLang="zh-CN" dirty="0"/>
              <a:t>ROM </a:t>
            </a:r>
            <a:r>
              <a:rPr lang="zh-CN" altLang="en-US" dirty="0"/>
              <a:t>类似，主要区别在于存储单元；只要不断电，数据能永久保存</a:t>
            </a:r>
            <a:endParaRPr lang="en-US" altLang="zh-CN" dirty="0"/>
          </a:p>
          <a:p>
            <a:r>
              <a:rPr lang="en-US" altLang="zh-CN" dirty="0"/>
              <a:t>SRAM </a:t>
            </a:r>
            <a:r>
              <a:rPr lang="zh-CN" altLang="en-US" dirty="0"/>
              <a:t>的存储单元是锁存器，因此属于时序逻辑电路</a:t>
            </a:r>
          </a:p>
        </p:txBody>
      </p:sp>
      <p:sp>
        <p:nvSpPr>
          <p:cNvPr id="4" name="灯片编号占位符 3">
            <a:extLst>
              <a:ext uri="{FF2B5EF4-FFF2-40B4-BE49-F238E27FC236}">
                <a16:creationId xmlns:a16="http://schemas.microsoft.com/office/drawing/2014/main" id="{0FF144CE-66B9-DAD8-24B6-D2AD6231D810}"/>
              </a:ext>
            </a:extLst>
          </p:cNvPr>
          <p:cNvSpPr>
            <a:spLocks noGrp="1"/>
          </p:cNvSpPr>
          <p:nvPr>
            <p:ph type="sldNum" sz="quarter" idx="5"/>
          </p:nvPr>
        </p:nvSpPr>
        <p:spPr/>
        <p:txBody>
          <a:bodyPr/>
          <a:lstStyle/>
          <a:p>
            <a:fld id="{6AF8E926-3218-4A05-BE3C-00B734B06F20}" type="slidenum">
              <a:rPr lang="zh-CN" altLang="en-US" smtClean="0"/>
              <a:t>12</a:t>
            </a:fld>
            <a:endParaRPr lang="zh-CN" altLang="en-US"/>
          </a:p>
        </p:txBody>
      </p:sp>
    </p:spTree>
    <p:extLst>
      <p:ext uri="{BB962C8B-B14F-4D97-AF65-F5344CB8AC3E}">
        <p14:creationId xmlns:p14="http://schemas.microsoft.com/office/powerpoint/2010/main" val="16902894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71E89-E521-9DCB-9C3F-FFF6A474801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A08CDF1-C928-D140-87FD-61CB499DE62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6273DB8-7500-D376-D18E-73BCAD19F6B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A352AC3-2556-631A-375B-2E0DD16861B3}"/>
              </a:ext>
            </a:extLst>
          </p:cNvPr>
          <p:cNvSpPr>
            <a:spLocks noGrp="1"/>
          </p:cNvSpPr>
          <p:nvPr>
            <p:ph type="sldNum" sz="quarter" idx="5"/>
          </p:nvPr>
        </p:nvSpPr>
        <p:spPr/>
        <p:txBody>
          <a:bodyPr/>
          <a:lstStyle/>
          <a:p>
            <a:fld id="{6AF8E926-3218-4A05-BE3C-00B734B06F20}" type="slidenum">
              <a:rPr lang="zh-CN" altLang="en-US" smtClean="0"/>
              <a:t>13</a:t>
            </a:fld>
            <a:endParaRPr lang="zh-CN" altLang="en-US"/>
          </a:p>
        </p:txBody>
      </p:sp>
    </p:spTree>
    <p:extLst>
      <p:ext uri="{BB962C8B-B14F-4D97-AF65-F5344CB8AC3E}">
        <p14:creationId xmlns:p14="http://schemas.microsoft.com/office/powerpoint/2010/main" val="30593558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F051B-8959-279C-05A2-52B9111FE5D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48C2663-336A-F72E-5015-AD3DD277B99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B0D490B-1067-CFE5-753A-F172F7E26644}"/>
              </a:ext>
            </a:extLst>
          </p:cNvPr>
          <p:cNvSpPr>
            <a:spLocks noGrp="1"/>
          </p:cNvSpPr>
          <p:nvPr>
            <p:ph type="body" idx="1"/>
          </p:nvPr>
        </p:nvSpPr>
        <p:spPr/>
        <p:txBody>
          <a:bodyPr/>
          <a:lstStyle/>
          <a:p>
            <a:r>
              <a:rPr lang="en-US" altLang="zh-CN" dirty="0"/>
              <a:t>NMOS </a:t>
            </a:r>
            <a:r>
              <a:rPr lang="zh-CN" altLang="en-US" dirty="0"/>
              <a:t>增强型和 </a:t>
            </a:r>
            <a:r>
              <a:rPr lang="en-US" altLang="zh-CN" dirty="0"/>
              <a:t>PMOS </a:t>
            </a:r>
            <a:r>
              <a:rPr lang="zh-CN" altLang="en-US" dirty="0"/>
              <a:t>增强型，两个反相器</a:t>
            </a:r>
          </a:p>
        </p:txBody>
      </p:sp>
      <p:sp>
        <p:nvSpPr>
          <p:cNvPr id="4" name="灯片编号占位符 3">
            <a:extLst>
              <a:ext uri="{FF2B5EF4-FFF2-40B4-BE49-F238E27FC236}">
                <a16:creationId xmlns:a16="http://schemas.microsoft.com/office/drawing/2014/main" id="{23AB0A0A-4E36-0CE6-5689-1F01770AE5F6}"/>
              </a:ext>
            </a:extLst>
          </p:cNvPr>
          <p:cNvSpPr>
            <a:spLocks noGrp="1"/>
          </p:cNvSpPr>
          <p:nvPr>
            <p:ph type="sldNum" sz="quarter" idx="5"/>
          </p:nvPr>
        </p:nvSpPr>
        <p:spPr/>
        <p:txBody>
          <a:bodyPr/>
          <a:lstStyle/>
          <a:p>
            <a:fld id="{6AF8E926-3218-4A05-BE3C-00B734B06F20}" type="slidenum">
              <a:rPr lang="zh-CN" altLang="en-US" smtClean="0"/>
              <a:t>14</a:t>
            </a:fld>
            <a:endParaRPr lang="zh-CN" altLang="en-US"/>
          </a:p>
        </p:txBody>
      </p:sp>
    </p:spTree>
    <p:extLst>
      <p:ext uri="{BB962C8B-B14F-4D97-AF65-F5344CB8AC3E}">
        <p14:creationId xmlns:p14="http://schemas.microsoft.com/office/powerpoint/2010/main" val="12536052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78E3D-9581-45D3-9D57-CF7B97CA68F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7A86F88-B5E8-B482-0A83-80A1CBBE29E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422729C-635B-6D85-A46B-1FB07351EB4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30B0BA3-2EFC-FE53-B8A7-29C0E12C8DFC}"/>
              </a:ext>
            </a:extLst>
          </p:cNvPr>
          <p:cNvSpPr>
            <a:spLocks noGrp="1"/>
          </p:cNvSpPr>
          <p:nvPr>
            <p:ph type="sldNum" sz="quarter" idx="5"/>
          </p:nvPr>
        </p:nvSpPr>
        <p:spPr/>
        <p:txBody>
          <a:bodyPr/>
          <a:lstStyle/>
          <a:p>
            <a:fld id="{6AF8E926-3218-4A05-BE3C-00B734B06F20}" type="slidenum">
              <a:rPr lang="zh-CN" altLang="en-US" smtClean="0"/>
              <a:t>15</a:t>
            </a:fld>
            <a:endParaRPr lang="zh-CN" altLang="en-US"/>
          </a:p>
        </p:txBody>
      </p:sp>
    </p:spTree>
    <p:extLst>
      <p:ext uri="{BB962C8B-B14F-4D97-AF65-F5344CB8AC3E}">
        <p14:creationId xmlns:p14="http://schemas.microsoft.com/office/powerpoint/2010/main" val="8118920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72F8F-8199-4E24-6B94-AC498165431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13F580C-D5C1-6337-6BFA-926D883B4C8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3E885B3-BA40-479D-7F13-54BE133657F7}"/>
              </a:ext>
            </a:extLst>
          </p:cNvPr>
          <p:cNvSpPr>
            <a:spLocks noGrp="1"/>
          </p:cNvSpPr>
          <p:nvPr>
            <p:ph type="body" idx="1"/>
          </p:nvPr>
        </p:nvSpPr>
        <p:spPr/>
        <p:txBody>
          <a:bodyPr/>
          <a:lstStyle/>
          <a:p>
            <a:r>
              <a:rPr lang="en-US" altLang="zh-CN" dirty="0"/>
              <a:t>DRAM </a:t>
            </a:r>
            <a:r>
              <a:rPr lang="zh-CN" altLang="en-US" dirty="0"/>
              <a:t>集成度很高</a:t>
            </a:r>
            <a:endParaRPr lang="en-US" altLang="zh-CN" dirty="0"/>
          </a:p>
          <a:p>
            <a:r>
              <a:rPr lang="zh-CN" altLang="en-US" dirty="0"/>
              <a:t>需要刷新，刷新的原因是其存储单元用电容电荷来存储数据</a:t>
            </a:r>
          </a:p>
        </p:txBody>
      </p:sp>
      <p:sp>
        <p:nvSpPr>
          <p:cNvPr id="4" name="灯片编号占位符 3">
            <a:extLst>
              <a:ext uri="{FF2B5EF4-FFF2-40B4-BE49-F238E27FC236}">
                <a16:creationId xmlns:a16="http://schemas.microsoft.com/office/drawing/2014/main" id="{442C5D2D-3425-80FF-84F0-1B3A86E493E2}"/>
              </a:ext>
            </a:extLst>
          </p:cNvPr>
          <p:cNvSpPr>
            <a:spLocks noGrp="1"/>
          </p:cNvSpPr>
          <p:nvPr>
            <p:ph type="sldNum" sz="quarter" idx="5"/>
          </p:nvPr>
        </p:nvSpPr>
        <p:spPr/>
        <p:txBody>
          <a:bodyPr/>
          <a:lstStyle/>
          <a:p>
            <a:fld id="{6AF8E926-3218-4A05-BE3C-00B734B06F20}" type="slidenum">
              <a:rPr lang="zh-CN" altLang="en-US" smtClean="0"/>
              <a:t>16</a:t>
            </a:fld>
            <a:endParaRPr lang="zh-CN" altLang="en-US"/>
          </a:p>
        </p:txBody>
      </p:sp>
    </p:spTree>
    <p:extLst>
      <p:ext uri="{BB962C8B-B14F-4D97-AF65-F5344CB8AC3E}">
        <p14:creationId xmlns:p14="http://schemas.microsoft.com/office/powerpoint/2010/main" val="24960527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355E3-949F-9D6A-5132-76B61F868BD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2684076-D184-4653-B533-96428FB2636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9DA9EE0-C99B-2EC1-3695-8CCB2F20579A}"/>
              </a:ext>
            </a:extLst>
          </p:cNvPr>
          <p:cNvSpPr>
            <a:spLocks noGrp="1"/>
          </p:cNvSpPr>
          <p:nvPr>
            <p:ph type="body" idx="1"/>
          </p:nvPr>
        </p:nvSpPr>
        <p:spPr/>
        <p:txBody>
          <a:bodyPr/>
          <a:lstStyle/>
          <a:p>
            <a:r>
              <a:rPr lang="en-US" altLang="zh-CN" dirty="0"/>
              <a:t>DRAM </a:t>
            </a:r>
            <a:r>
              <a:rPr lang="zh-CN" altLang="en-US" dirty="0"/>
              <a:t>的存储单元比 </a:t>
            </a:r>
            <a:r>
              <a:rPr lang="en-US" altLang="zh-CN" dirty="0"/>
              <a:t>SRAM </a:t>
            </a:r>
            <a:r>
              <a:rPr lang="zh-CN" altLang="en-US" dirty="0"/>
              <a:t>简单，功耗低</a:t>
            </a:r>
            <a:endParaRPr lang="en-US" altLang="zh-CN" dirty="0"/>
          </a:p>
          <a:p>
            <a:r>
              <a:rPr lang="zh-CN" altLang="en-US" dirty="0"/>
              <a:t>所以 </a:t>
            </a:r>
            <a:r>
              <a:rPr lang="en-US" altLang="zh-CN" dirty="0"/>
              <a:t>DRAM </a:t>
            </a:r>
            <a:r>
              <a:rPr lang="zh-CN" altLang="en-US" dirty="0"/>
              <a:t>集成度可以很高</a:t>
            </a:r>
            <a:endParaRPr lang="en-US" altLang="zh-CN" dirty="0"/>
          </a:p>
          <a:p>
            <a:r>
              <a:rPr lang="zh-CN" altLang="en-US" dirty="0"/>
              <a:t>需要刷新，刷新的原因是其存储单元用电容电荷来存储数据</a:t>
            </a:r>
          </a:p>
        </p:txBody>
      </p:sp>
      <p:sp>
        <p:nvSpPr>
          <p:cNvPr id="4" name="灯片编号占位符 3">
            <a:extLst>
              <a:ext uri="{FF2B5EF4-FFF2-40B4-BE49-F238E27FC236}">
                <a16:creationId xmlns:a16="http://schemas.microsoft.com/office/drawing/2014/main" id="{1B5ECABA-11E6-1E5C-9F52-11D8CE7B97B2}"/>
              </a:ext>
            </a:extLst>
          </p:cNvPr>
          <p:cNvSpPr>
            <a:spLocks noGrp="1"/>
          </p:cNvSpPr>
          <p:nvPr>
            <p:ph type="sldNum" sz="quarter" idx="5"/>
          </p:nvPr>
        </p:nvSpPr>
        <p:spPr/>
        <p:txBody>
          <a:bodyPr/>
          <a:lstStyle/>
          <a:p>
            <a:fld id="{6AF8E926-3218-4A05-BE3C-00B734B06F20}" type="slidenum">
              <a:rPr lang="zh-CN" altLang="en-US" smtClean="0"/>
              <a:t>17</a:t>
            </a:fld>
            <a:endParaRPr lang="zh-CN" altLang="en-US"/>
          </a:p>
        </p:txBody>
      </p:sp>
    </p:spTree>
    <p:extLst>
      <p:ext uri="{BB962C8B-B14F-4D97-AF65-F5344CB8AC3E}">
        <p14:creationId xmlns:p14="http://schemas.microsoft.com/office/powerpoint/2010/main" val="29995165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F9094-1342-0CDB-DABB-0322CBF4A57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F48EC53-4E9E-05D3-448E-8582AE3996B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F7AEABB-96D6-2950-09D8-A8E2D39D054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83C9DFC-E3E7-5257-858F-FA6E40EA9039}"/>
              </a:ext>
            </a:extLst>
          </p:cNvPr>
          <p:cNvSpPr>
            <a:spLocks noGrp="1"/>
          </p:cNvSpPr>
          <p:nvPr>
            <p:ph type="sldNum" sz="quarter" idx="5"/>
          </p:nvPr>
        </p:nvSpPr>
        <p:spPr/>
        <p:txBody>
          <a:bodyPr/>
          <a:lstStyle/>
          <a:p>
            <a:fld id="{6AF8E926-3218-4A05-BE3C-00B734B06F20}" type="slidenum">
              <a:rPr lang="zh-CN" altLang="en-US" smtClean="0"/>
              <a:t>18</a:t>
            </a:fld>
            <a:endParaRPr lang="zh-CN" altLang="en-US"/>
          </a:p>
        </p:txBody>
      </p:sp>
    </p:spTree>
    <p:extLst>
      <p:ext uri="{BB962C8B-B14F-4D97-AF65-F5344CB8AC3E}">
        <p14:creationId xmlns:p14="http://schemas.microsoft.com/office/powerpoint/2010/main" val="24195987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835C6-BB5B-E45D-3E55-46DC03C089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CD5DF55-921F-92F1-2254-00E1DA29E2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226FEEE-3817-87EC-A029-9785D0D5FFE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8A8ADB8-D156-0A0E-9D0C-970CF40C086F}"/>
              </a:ext>
            </a:extLst>
          </p:cNvPr>
          <p:cNvSpPr>
            <a:spLocks noGrp="1"/>
          </p:cNvSpPr>
          <p:nvPr>
            <p:ph type="sldNum" sz="quarter" idx="5"/>
          </p:nvPr>
        </p:nvSpPr>
        <p:spPr/>
        <p:txBody>
          <a:bodyPr/>
          <a:lstStyle/>
          <a:p>
            <a:fld id="{6AF8E926-3218-4A05-BE3C-00B734B06F20}" type="slidenum">
              <a:rPr lang="zh-CN" altLang="en-US" smtClean="0"/>
              <a:t>19</a:t>
            </a:fld>
            <a:endParaRPr lang="zh-CN" altLang="en-US"/>
          </a:p>
        </p:txBody>
      </p:sp>
    </p:spTree>
    <p:extLst>
      <p:ext uri="{BB962C8B-B14F-4D97-AF65-F5344CB8AC3E}">
        <p14:creationId xmlns:p14="http://schemas.microsoft.com/office/powerpoint/2010/main" val="29448678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BD4F3-E84C-FE25-B85E-F2B81D01A8D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A8F92F7-43DA-3013-46B7-4D6D2CD571F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CE2FD0C-5789-A32B-00F8-814E4456816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2FB222F-26A8-6A29-5BEF-D81E89A70790}"/>
              </a:ext>
            </a:extLst>
          </p:cNvPr>
          <p:cNvSpPr>
            <a:spLocks noGrp="1"/>
          </p:cNvSpPr>
          <p:nvPr>
            <p:ph type="sldNum" sz="quarter" idx="5"/>
          </p:nvPr>
        </p:nvSpPr>
        <p:spPr/>
        <p:txBody>
          <a:bodyPr/>
          <a:lstStyle/>
          <a:p>
            <a:fld id="{6AF8E926-3218-4A05-BE3C-00B734B06F20}" type="slidenum">
              <a:rPr lang="zh-CN" altLang="en-US" smtClean="0"/>
              <a:t>20</a:t>
            </a:fld>
            <a:endParaRPr lang="zh-CN" altLang="en-US"/>
          </a:p>
        </p:txBody>
      </p:sp>
    </p:spTree>
    <p:extLst>
      <p:ext uri="{BB962C8B-B14F-4D97-AF65-F5344CB8AC3E}">
        <p14:creationId xmlns:p14="http://schemas.microsoft.com/office/powerpoint/2010/main" val="17299906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4043F-0E8F-62E4-B7FE-70B59C264F3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9DBC7C0-2D73-EEEA-BED9-9FFBBFE914C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BAE582F-11AE-5460-2AE3-097648EDF1CA}"/>
              </a:ext>
            </a:extLst>
          </p:cNvPr>
          <p:cNvSpPr>
            <a:spLocks noGrp="1"/>
          </p:cNvSpPr>
          <p:nvPr>
            <p:ph type="body" idx="1"/>
          </p:nvPr>
        </p:nvSpPr>
        <p:spPr/>
        <p:txBody>
          <a:bodyPr/>
          <a:lstStyle/>
          <a:p>
            <a:r>
              <a:rPr lang="zh-CN" altLang="en-US" dirty="0"/>
              <a:t>当输入一个地址码 </a:t>
            </a:r>
            <a:r>
              <a:rPr lang="en-US" altLang="zh-CN" dirty="0"/>
              <a:t>A_14~A_0 </a:t>
            </a:r>
            <a:r>
              <a:rPr lang="zh-CN" altLang="en-US" dirty="0"/>
              <a:t>时，只有一片 </a:t>
            </a:r>
            <a:r>
              <a:rPr lang="en-US" altLang="zh-CN" dirty="0"/>
              <a:t>RAM </a:t>
            </a:r>
            <a:r>
              <a:rPr lang="zh-CN" altLang="en-US" dirty="0"/>
              <a:t>被选中，从而实现了字的扩展</a:t>
            </a:r>
            <a:endParaRPr lang="en-US" altLang="zh-CN" dirty="0"/>
          </a:p>
          <a:p>
            <a:r>
              <a:rPr lang="zh-CN" altLang="en-US" dirty="0"/>
              <a:t>位数扩展和字数扩展可以相结合</a:t>
            </a:r>
          </a:p>
        </p:txBody>
      </p:sp>
      <p:sp>
        <p:nvSpPr>
          <p:cNvPr id="4" name="灯片编号占位符 3">
            <a:extLst>
              <a:ext uri="{FF2B5EF4-FFF2-40B4-BE49-F238E27FC236}">
                <a16:creationId xmlns:a16="http://schemas.microsoft.com/office/drawing/2014/main" id="{07A01D6B-0394-D9C9-4143-13FA3B0E0764}"/>
              </a:ext>
            </a:extLst>
          </p:cNvPr>
          <p:cNvSpPr>
            <a:spLocks noGrp="1"/>
          </p:cNvSpPr>
          <p:nvPr>
            <p:ph type="sldNum" sz="quarter" idx="5"/>
          </p:nvPr>
        </p:nvSpPr>
        <p:spPr/>
        <p:txBody>
          <a:bodyPr/>
          <a:lstStyle/>
          <a:p>
            <a:fld id="{6AF8E926-3218-4A05-BE3C-00B734B06F20}" type="slidenum">
              <a:rPr lang="zh-CN" altLang="en-US" smtClean="0"/>
              <a:t>21</a:t>
            </a:fld>
            <a:endParaRPr lang="zh-CN" altLang="en-US"/>
          </a:p>
        </p:txBody>
      </p:sp>
    </p:spTree>
    <p:extLst>
      <p:ext uri="{BB962C8B-B14F-4D97-AF65-F5344CB8AC3E}">
        <p14:creationId xmlns:p14="http://schemas.microsoft.com/office/powerpoint/2010/main" val="35213215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22</a:t>
            </a:fld>
            <a:endParaRPr lang="zh-CN" altLang="en-US"/>
          </a:p>
        </p:txBody>
      </p:sp>
    </p:spTree>
    <p:extLst>
      <p:ext uri="{BB962C8B-B14F-4D97-AF65-F5344CB8AC3E}">
        <p14:creationId xmlns:p14="http://schemas.microsoft.com/office/powerpoint/2010/main" val="37776462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8" name="Picture 16" descr="bg3">
            <a:extLst>
              <a:ext uri="{FF2B5EF4-FFF2-40B4-BE49-F238E27FC236}">
                <a16:creationId xmlns:a16="http://schemas.microsoft.com/office/drawing/2014/main" id="{3C12D28E-7FDA-416A-89CF-B41CFE8C112F}"/>
              </a:ext>
            </a:extLst>
          </p:cNvPr>
          <p:cNvPicPr>
            <a:picLocks noChangeAspect="1" noChangeArrowheads="1"/>
          </p:cNvPicPr>
          <p:nvPr/>
        </p:nvPicPr>
        <p:blipFill>
          <a:blip r:embed="rId2" cstate="print"/>
          <a:srcRect t="80031" b="16504"/>
          <a:stretch>
            <a:fillRect/>
          </a:stretch>
        </p:blipFill>
        <p:spPr bwMode="auto">
          <a:xfrm flipV="1">
            <a:off x="0" y="1711615"/>
            <a:ext cx="12192000" cy="43788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9525">
            <a:noFill/>
            <a:miter lim="800000"/>
            <a:headEnd/>
            <a:tailEnd/>
          </a:ln>
        </p:spPr>
      </p:pic>
      <p:pic>
        <p:nvPicPr>
          <p:cNvPr id="9" name="Picture 17" descr="bg3">
            <a:extLst>
              <a:ext uri="{FF2B5EF4-FFF2-40B4-BE49-F238E27FC236}">
                <a16:creationId xmlns:a16="http://schemas.microsoft.com/office/drawing/2014/main" id="{6256C6DD-5C6C-4934-AE0F-6E767F3C2F86}"/>
              </a:ext>
            </a:extLst>
          </p:cNvPr>
          <p:cNvPicPr>
            <a:picLocks noChangeAspect="1" noChangeArrowheads="1"/>
          </p:cNvPicPr>
          <p:nvPr/>
        </p:nvPicPr>
        <p:blipFill>
          <a:blip r:embed="rId2" cstate="print"/>
          <a:srcRect t="48767" b="15891"/>
          <a:stretch>
            <a:fillRect/>
          </a:stretch>
        </p:blipFill>
        <p:spPr bwMode="auto">
          <a:xfrm>
            <a:off x="0" y="1930558"/>
            <a:ext cx="12192000" cy="2777943"/>
          </a:xfrm>
          <a:prstGeom prst="rect">
            <a:avLst/>
          </a:prstGeom>
          <a:noFill/>
          <a:ln w="9525">
            <a:noFill/>
            <a:miter lim="800000"/>
            <a:headEnd/>
            <a:tailEnd/>
          </a:ln>
        </p:spPr>
      </p:pic>
      <p:pic>
        <p:nvPicPr>
          <p:cNvPr id="10" name="Picture 10" descr="2">
            <a:extLst>
              <a:ext uri="{FF2B5EF4-FFF2-40B4-BE49-F238E27FC236}">
                <a16:creationId xmlns:a16="http://schemas.microsoft.com/office/drawing/2014/main" id="{12F893B6-5430-4116-B41C-027E149AB2E4}"/>
              </a:ext>
            </a:extLst>
          </p:cNvPr>
          <p:cNvPicPr>
            <a:picLocks noChangeAspect="1" noChangeArrowheads="1"/>
          </p:cNvPicPr>
          <p:nvPr userDrawn="1"/>
        </p:nvPicPr>
        <p:blipFill rotWithShape="1">
          <a:blip r:embed="rId3" cstate="print">
            <a:clrChange>
              <a:clrFrom>
                <a:srgbClr val="E8E8EA"/>
              </a:clrFrom>
              <a:clrTo>
                <a:srgbClr val="E8E8EA">
                  <a:alpha val="0"/>
                </a:srgbClr>
              </a:clrTo>
            </a:clrChange>
          </a:blip>
          <a:srcRect l="3981" t="5824" r="52233" b="80846"/>
          <a:stretch/>
        </p:blipFill>
        <p:spPr bwMode="auto">
          <a:xfrm>
            <a:off x="0" y="278392"/>
            <a:ext cx="4244196" cy="914401"/>
          </a:xfrm>
          <a:prstGeom prst="rect">
            <a:avLst/>
          </a:prstGeom>
          <a:noFill/>
          <a:ln w="9525">
            <a:noFill/>
            <a:miter lim="800000"/>
            <a:headEnd/>
            <a:tailEnd/>
          </a:ln>
        </p:spPr>
      </p:pic>
    </p:spTree>
    <p:extLst>
      <p:ext uri="{BB962C8B-B14F-4D97-AF65-F5344CB8AC3E}">
        <p14:creationId xmlns:p14="http://schemas.microsoft.com/office/powerpoint/2010/main" val="225851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7" name="Picture 14" descr="bg2">
            <a:extLst>
              <a:ext uri="{FF2B5EF4-FFF2-40B4-BE49-F238E27FC236}">
                <a16:creationId xmlns:a16="http://schemas.microsoft.com/office/drawing/2014/main" id="{B5E88CDA-D72A-4EE5-A041-54DDE04C08EC}"/>
              </a:ext>
            </a:extLst>
          </p:cNvPr>
          <p:cNvPicPr>
            <a:picLocks noChangeAspect="1" noChangeArrowheads="1"/>
          </p:cNvPicPr>
          <p:nvPr userDrawn="1"/>
        </p:nvPicPr>
        <p:blipFill rotWithShape="1">
          <a:blip r:embed="rId2" cstate="print"/>
          <a:srcRect r="31108" b="84377"/>
          <a:stretch/>
        </p:blipFill>
        <p:spPr bwMode="auto">
          <a:xfrm>
            <a:off x="0" y="1"/>
            <a:ext cx="12192000" cy="575094"/>
          </a:xfrm>
          <a:prstGeom prst="rect">
            <a:avLst/>
          </a:prstGeom>
          <a:noFill/>
          <a:ln w="9525">
            <a:noFill/>
            <a:miter lim="800000"/>
            <a:headEnd/>
            <a:tailEnd/>
          </a:ln>
        </p:spPr>
      </p:pic>
    </p:spTree>
    <p:extLst>
      <p:ext uri="{BB962C8B-B14F-4D97-AF65-F5344CB8AC3E}">
        <p14:creationId xmlns:p14="http://schemas.microsoft.com/office/powerpoint/2010/main" val="283758906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057589"/>
      </p:ext>
    </p:extLst>
  </p:cSld>
  <p:clrMap bg1="lt1" tx1="dk1" bg2="lt2" tx2="dk2" accent1="accent1" accent2="accent2" accent3="accent3" accent4="accent4" accent5="accent5" accent6="accent6" hlink="hlink" folHlink="folHlink"/>
  <p:sldLayoutIdLst>
    <p:sldLayoutId id="2147483660" r:id="rId1"/>
    <p:sldLayoutId id="214748366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6" Type="http://schemas.openxmlformats.org/officeDocument/2006/relationships/image" Target="../media/image29.png"/><Relationship Id="rId39" Type="http://schemas.openxmlformats.org/officeDocument/2006/relationships/image" Target="../media/image19.png"/><Relationship Id="rId34" Type="http://schemas.openxmlformats.org/officeDocument/2006/relationships/image" Target="../media/image13.png"/><Relationship Id="rId42" Type="http://schemas.openxmlformats.org/officeDocument/2006/relationships/image" Target="../media/image22.png"/><Relationship Id="rId47" Type="http://schemas.openxmlformats.org/officeDocument/2006/relationships/image" Target="../media/image27.png"/><Relationship Id="rId33" Type="http://schemas.openxmlformats.org/officeDocument/2006/relationships/image" Target="../media/image12.png"/><Relationship Id="rId38" Type="http://schemas.openxmlformats.org/officeDocument/2006/relationships/image" Target="../media/image18.png"/><Relationship Id="rId46" Type="http://schemas.openxmlformats.org/officeDocument/2006/relationships/image" Target="../media/image26.png"/><Relationship Id="rId2" Type="http://schemas.openxmlformats.org/officeDocument/2006/relationships/notesSlide" Target="../notesSlides/notesSlide6.xml"/><Relationship Id="rId29" Type="http://schemas.openxmlformats.org/officeDocument/2006/relationships/image" Target="../media/image8.png"/><Relationship Id="rId41" Type="http://schemas.openxmlformats.org/officeDocument/2006/relationships/image" Target="../media/image21.png"/><Relationship Id="rId1" Type="http://schemas.openxmlformats.org/officeDocument/2006/relationships/slideLayout" Target="../slideLayouts/slideLayout2.xml"/><Relationship Id="rId11" Type="http://schemas.openxmlformats.org/officeDocument/2006/relationships/image" Target="../media/image14.png"/><Relationship Id="rId32" Type="http://schemas.openxmlformats.org/officeDocument/2006/relationships/image" Target="../media/image11.png"/><Relationship Id="rId37" Type="http://schemas.openxmlformats.org/officeDocument/2006/relationships/image" Target="../media/image17.png"/><Relationship Id="rId40" Type="http://schemas.openxmlformats.org/officeDocument/2006/relationships/image" Target="../media/image20.png"/><Relationship Id="rId45" Type="http://schemas.openxmlformats.org/officeDocument/2006/relationships/image" Target="../media/image25.png"/><Relationship Id="rId28" Type="http://schemas.openxmlformats.org/officeDocument/2006/relationships/image" Target="../media/image7.png"/><Relationship Id="rId36" Type="http://schemas.openxmlformats.org/officeDocument/2006/relationships/image" Target="../media/image16.png"/><Relationship Id="rId31" Type="http://schemas.openxmlformats.org/officeDocument/2006/relationships/image" Target="../media/image10.png"/><Relationship Id="rId44" Type="http://schemas.openxmlformats.org/officeDocument/2006/relationships/image" Target="../media/image24.png"/><Relationship Id="rId27" Type="http://schemas.openxmlformats.org/officeDocument/2006/relationships/image" Target="../media/image6.png"/><Relationship Id="rId30" Type="http://schemas.openxmlformats.org/officeDocument/2006/relationships/image" Target="../media/image9.png"/><Relationship Id="rId35" Type="http://schemas.openxmlformats.org/officeDocument/2006/relationships/image" Target="../media/image15.png"/><Relationship Id="rId43" Type="http://schemas.openxmlformats.org/officeDocument/2006/relationships/image" Target="../media/image23.png"/><Relationship Id="rId48" Type="http://schemas.openxmlformats.org/officeDocument/2006/relationships/image" Target="../media/image28.png"/></Relationships>
</file>

<file path=ppt/slides/_rels/slide7.xml.rels><?xml version="1.0" encoding="UTF-8" standalone="yes"?>
<Relationships xmlns="http://schemas.openxmlformats.org/package/2006/relationships"><Relationship Id="rId13" Type="http://schemas.openxmlformats.org/officeDocument/2006/relationships/image" Target="../media/image40.png"/><Relationship Id="rId18" Type="http://schemas.openxmlformats.org/officeDocument/2006/relationships/image" Target="../media/image45.png"/><Relationship Id="rId26" Type="http://schemas.openxmlformats.org/officeDocument/2006/relationships/image" Target="../media/image53.png"/><Relationship Id="rId3" Type="http://schemas.openxmlformats.org/officeDocument/2006/relationships/image" Target="../media/image30.png"/><Relationship Id="rId21" Type="http://schemas.openxmlformats.org/officeDocument/2006/relationships/image" Target="../media/image48.png"/><Relationship Id="rId34" Type="http://schemas.openxmlformats.org/officeDocument/2006/relationships/image" Target="../media/image61.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4.png"/><Relationship Id="rId25" Type="http://schemas.openxmlformats.org/officeDocument/2006/relationships/image" Target="../media/image52.png"/><Relationship Id="rId33" Type="http://schemas.openxmlformats.org/officeDocument/2006/relationships/image" Target="../media/image60.png"/><Relationship Id="rId2" Type="http://schemas.openxmlformats.org/officeDocument/2006/relationships/notesSlide" Target="../notesSlides/notesSlide7.xml"/><Relationship Id="rId16" Type="http://schemas.openxmlformats.org/officeDocument/2006/relationships/image" Target="../media/image43.png"/><Relationship Id="rId20" Type="http://schemas.openxmlformats.org/officeDocument/2006/relationships/image" Target="../media/image47.png"/><Relationship Id="rId29"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24" Type="http://schemas.openxmlformats.org/officeDocument/2006/relationships/image" Target="../media/image51.png"/><Relationship Id="rId32" Type="http://schemas.openxmlformats.org/officeDocument/2006/relationships/image" Target="../media/image59.png"/><Relationship Id="rId5" Type="http://schemas.openxmlformats.org/officeDocument/2006/relationships/image" Target="../media/image32.png"/><Relationship Id="rId15" Type="http://schemas.openxmlformats.org/officeDocument/2006/relationships/image" Target="../media/image42.png"/><Relationship Id="rId23" Type="http://schemas.openxmlformats.org/officeDocument/2006/relationships/image" Target="../media/image50.png"/><Relationship Id="rId28" Type="http://schemas.openxmlformats.org/officeDocument/2006/relationships/image" Target="../media/image55.png"/><Relationship Id="rId36" Type="http://schemas.openxmlformats.org/officeDocument/2006/relationships/image" Target="../media/image63.png"/><Relationship Id="rId10" Type="http://schemas.openxmlformats.org/officeDocument/2006/relationships/image" Target="../media/image37.png"/><Relationship Id="rId19" Type="http://schemas.openxmlformats.org/officeDocument/2006/relationships/image" Target="../media/image46.png"/><Relationship Id="rId31" Type="http://schemas.openxmlformats.org/officeDocument/2006/relationships/image" Target="../media/image58.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 Id="rId22" Type="http://schemas.openxmlformats.org/officeDocument/2006/relationships/image" Target="../media/image49.png"/><Relationship Id="rId27" Type="http://schemas.openxmlformats.org/officeDocument/2006/relationships/image" Target="../media/image54.png"/><Relationship Id="rId30" Type="http://schemas.openxmlformats.org/officeDocument/2006/relationships/image" Target="../media/image57.png"/><Relationship Id="rId35" Type="http://schemas.openxmlformats.org/officeDocument/2006/relationships/image" Target="../media/image62.png"/><Relationship Id="rId8" Type="http://schemas.openxmlformats.org/officeDocument/2006/relationships/image" Target="../media/image3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png"/><Relationship Id="rId18" Type="http://schemas.openxmlformats.org/officeDocument/2006/relationships/image" Target="../media/image78.png"/><Relationship Id="rId3" Type="http://schemas.openxmlformats.org/officeDocument/2006/relationships/image" Target="../media/image64.png"/><Relationship Id="rId21" Type="http://schemas.openxmlformats.org/officeDocument/2006/relationships/image" Target="../media/image81.png"/><Relationship Id="rId7" Type="http://schemas.openxmlformats.org/officeDocument/2006/relationships/image" Target="../media/image67.png"/><Relationship Id="rId12" Type="http://schemas.openxmlformats.org/officeDocument/2006/relationships/image" Target="../media/image72.png"/><Relationship Id="rId17" Type="http://schemas.openxmlformats.org/officeDocument/2006/relationships/image" Target="../media/image77.png"/><Relationship Id="rId2" Type="http://schemas.openxmlformats.org/officeDocument/2006/relationships/notesSlide" Target="../notesSlides/notesSlide9.xml"/><Relationship Id="rId16" Type="http://schemas.openxmlformats.org/officeDocument/2006/relationships/image" Target="../media/image76.png"/><Relationship Id="rId20"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66.png"/><Relationship Id="rId11" Type="http://schemas.openxmlformats.org/officeDocument/2006/relationships/image" Target="../media/image71.png"/><Relationship Id="rId24" Type="http://schemas.openxmlformats.org/officeDocument/2006/relationships/image" Target="../media/image830.png"/><Relationship Id="rId5" Type="http://schemas.openxmlformats.org/officeDocument/2006/relationships/image" Target="../media/image65.png"/><Relationship Id="rId15" Type="http://schemas.openxmlformats.org/officeDocument/2006/relationships/image" Target="../media/image75.png"/><Relationship Id="rId23" Type="http://schemas.openxmlformats.org/officeDocument/2006/relationships/image" Target="../media/image83.png"/><Relationship Id="rId10" Type="http://schemas.openxmlformats.org/officeDocument/2006/relationships/image" Target="../media/image70.png"/><Relationship Id="rId19" Type="http://schemas.openxmlformats.org/officeDocument/2006/relationships/image" Target="../media/image79.png"/><Relationship Id="rId4" Type="http://schemas.openxmlformats.org/officeDocument/2006/relationships/image" Target="../media/image640.png"/><Relationship Id="rId9" Type="http://schemas.openxmlformats.org/officeDocument/2006/relationships/image" Target="../media/image69.png"/><Relationship Id="rId14" Type="http://schemas.openxmlformats.org/officeDocument/2006/relationships/image" Target="../media/image74.png"/><Relationship Id="rId22" Type="http://schemas.openxmlformats.org/officeDocument/2006/relationships/image" Target="../media/image82.png"/></Relationships>
</file>

<file path=ppt/slides/_rels/slide10.xml.rels><?xml version="1.0" encoding="UTF-8" standalone="yes"?>
<Relationships xmlns="http://schemas.openxmlformats.org/package/2006/relationships"><Relationship Id="rId13" Type="http://schemas.openxmlformats.org/officeDocument/2006/relationships/image" Target="../media/image640.png"/><Relationship Id="rId18" Type="http://schemas.openxmlformats.org/officeDocument/2006/relationships/image" Target="../media/image69.png"/><Relationship Id="rId26" Type="http://schemas.openxmlformats.org/officeDocument/2006/relationships/image" Target="../media/image77.png"/><Relationship Id="rId39" Type="http://schemas.openxmlformats.org/officeDocument/2006/relationships/image" Target="../media/image90.png"/><Relationship Id="rId21" Type="http://schemas.openxmlformats.org/officeDocument/2006/relationships/image" Target="../media/image72.png"/><Relationship Id="rId34" Type="http://schemas.openxmlformats.org/officeDocument/2006/relationships/image" Target="../media/image85.png"/><Relationship Id="rId42" Type="http://schemas.openxmlformats.org/officeDocument/2006/relationships/image" Target="../media/image93.png"/><Relationship Id="rId17" Type="http://schemas.openxmlformats.org/officeDocument/2006/relationships/image" Target="../media/image68.png"/><Relationship Id="rId25" Type="http://schemas.openxmlformats.org/officeDocument/2006/relationships/image" Target="../media/image76.png"/><Relationship Id="rId33" Type="http://schemas.openxmlformats.org/officeDocument/2006/relationships/image" Target="../media/image84.png"/><Relationship Id="rId38" Type="http://schemas.openxmlformats.org/officeDocument/2006/relationships/image" Target="../media/image89.png"/><Relationship Id="rId2" Type="http://schemas.openxmlformats.org/officeDocument/2006/relationships/notesSlide" Target="../notesSlides/notesSlide10.xml"/><Relationship Id="rId16" Type="http://schemas.openxmlformats.org/officeDocument/2006/relationships/image" Target="../media/image67.png"/><Relationship Id="rId20" Type="http://schemas.openxmlformats.org/officeDocument/2006/relationships/image" Target="../media/image71.png"/><Relationship Id="rId29" Type="http://schemas.openxmlformats.org/officeDocument/2006/relationships/image" Target="../media/image80.png"/><Relationship Id="rId41" Type="http://schemas.openxmlformats.org/officeDocument/2006/relationships/image" Target="../media/image92.png"/><Relationship Id="rId1" Type="http://schemas.openxmlformats.org/officeDocument/2006/relationships/slideLayout" Target="../slideLayouts/slideLayout2.xml"/><Relationship Id="rId24" Type="http://schemas.openxmlformats.org/officeDocument/2006/relationships/image" Target="../media/image75.png"/><Relationship Id="rId32" Type="http://schemas.openxmlformats.org/officeDocument/2006/relationships/image" Target="../media/image83.png"/><Relationship Id="rId37" Type="http://schemas.openxmlformats.org/officeDocument/2006/relationships/image" Target="../media/image88.png"/><Relationship Id="rId40" Type="http://schemas.openxmlformats.org/officeDocument/2006/relationships/image" Target="../media/image91.png"/><Relationship Id="rId15" Type="http://schemas.openxmlformats.org/officeDocument/2006/relationships/image" Target="../media/image66.png"/><Relationship Id="rId23" Type="http://schemas.openxmlformats.org/officeDocument/2006/relationships/image" Target="../media/image74.png"/><Relationship Id="rId28" Type="http://schemas.openxmlformats.org/officeDocument/2006/relationships/image" Target="../media/image79.png"/><Relationship Id="rId36" Type="http://schemas.openxmlformats.org/officeDocument/2006/relationships/image" Target="../media/image87.png"/><Relationship Id="rId19" Type="http://schemas.openxmlformats.org/officeDocument/2006/relationships/image" Target="../media/image70.png"/><Relationship Id="rId31" Type="http://schemas.openxmlformats.org/officeDocument/2006/relationships/image" Target="../media/image82.png"/><Relationship Id="rId14" Type="http://schemas.openxmlformats.org/officeDocument/2006/relationships/image" Target="../media/image65.png"/><Relationship Id="rId22" Type="http://schemas.openxmlformats.org/officeDocument/2006/relationships/image" Target="../media/image73.png"/><Relationship Id="rId27" Type="http://schemas.openxmlformats.org/officeDocument/2006/relationships/image" Target="../media/image78.png"/><Relationship Id="rId30" Type="http://schemas.openxmlformats.org/officeDocument/2006/relationships/image" Target="../media/image81.png"/><Relationship Id="rId35" Type="http://schemas.openxmlformats.org/officeDocument/2006/relationships/image" Target="../media/image8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image" Target="../media/image104.png"/><Relationship Id="rId18" Type="http://schemas.openxmlformats.org/officeDocument/2006/relationships/image" Target="../media/image109.png"/><Relationship Id="rId3" Type="http://schemas.openxmlformats.org/officeDocument/2006/relationships/image" Target="../media/image94.png"/><Relationship Id="rId21" Type="http://schemas.openxmlformats.org/officeDocument/2006/relationships/image" Target="../media/image112.png"/><Relationship Id="rId7" Type="http://schemas.openxmlformats.org/officeDocument/2006/relationships/image" Target="../media/image98.png"/><Relationship Id="rId12" Type="http://schemas.openxmlformats.org/officeDocument/2006/relationships/image" Target="../media/image103.png"/><Relationship Id="rId17" Type="http://schemas.openxmlformats.org/officeDocument/2006/relationships/image" Target="../media/image108.png"/><Relationship Id="rId2" Type="http://schemas.openxmlformats.org/officeDocument/2006/relationships/notesSlide" Target="../notesSlides/notesSlide12.xml"/><Relationship Id="rId16" Type="http://schemas.openxmlformats.org/officeDocument/2006/relationships/image" Target="../media/image107.png"/><Relationship Id="rId20" Type="http://schemas.openxmlformats.org/officeDocument/2006/relationships/image" Target="../media/image111.png"/><Relationship Id="rId1" Type="http://schemas.openxmlformats.org/officeDocument/2006/relationships/slideLayout" Target="../slideLayouts/slideLayout2.xml"/><Relationship Id="rId6" Type="http://schemas.openxmlformats.org/officeDocument/2006/relationships/image" Target="../media/image97.png"/><Relationship Id="rId11" Type="http://schemas.openxmlformats.org/officeDocument/2006/relationships/image" Target="../media/image102.png"/><Relationship Id="rId5" Type="http://schemas.openxmlformats.org/officeDocument/2006/relationships/image" Target="../media/image96.png"/><Relationship Id="rId15" Type="http://schemas.openxmlformats.org/officeDocument/2006/relationships/image" Target="../media/image106.png"/><Relationship Id="rId10" Type="http://schemas.openxmlformats.org/officeDocument/2006/relationships/image" Target="../media/image101.png"/><Relationship Id="rId19" Type="http://schemas.openxmlformats.org/officeDocument/2006/relationships/image" Target="../media/image110.png"/><Relationship Id="rId4" Type="http://schemas.openxmlformats.org/officeDocument/2006/relationships/image" Target="../media/image95.png"/><Relationship Id="rId9" Type="http://schemas.openxmlformats.org/officeDocument/2006/relationships/image" Target="../media/image100.png"/><Relationship Id="rId14" Type="http://schemas.openxmlformats.org/officeDocument/2006/relationships/image" Target="../media/image105.png"/></Relationships>
</file>

<file path=ppt/slides/_rels/slide13.xml.rels><?xml version="1.0" encoding="UTF-8" standalone="yes"?>
<Relationships xmlns="http://schemas.openxmlformats.org/package/2006/relationships"><Relationship Id="rId8" Type="http://schemas.openxmlformats.org/officeDocument/2006/relationships/image" Target="../media/image118.png"/><Relationship Id="rId13" Type="http://schemas.openxmlformats.org/officeDocument/2006/relationships/image" Target="../media/image123.png"/><Relationship Id="rId3" Type="http://schemas.openxmlformats.org/officeDocument/2006/relationships/image" Target="../media/image113.png"/><Relationship Id="rId7" Type="http://schemas.openxmlformats.org/officeDocument/2006/relationships/image" Target="../media/image117.png"/><Relationship Id="rId12" Type="http://schemas.openxmlformats.org/officeDocument/2006/relationships/image" Target="../media/image12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16.png"/><Relationship Id="rId11" Type="http://schemas.openxmlformats.org/officeDocument/2006/relationships/image" Target="../media/image121.png"/><Relationship Id="rId5" Type="http://schemas.openxmlformats.org/officeDocument/2006/relationships/image" Target="../media/image115.png"/><Relationship Id="rId10" Type="http://schemas.openxmlformats.org/officeDocument/2006/relationships/image" Target="../media/image120.png"/><Relationship Id="rId4" Type="http://schemas.openxmlformats.org/officeDocument/2006/relationships/image" Target="../media/image114.png"/><Relationship Id="rId9" Type="http://schemas.openxmlformats.org/officeDocument/2006/relationships/image" Target="../media/image119.png"/><Relationship Id="rId14" Type="http://schemas.openxmlformats.org/officeDocument/2006/relationships/image" Target="../media/image124.png"/></Relationships>
</file>

<file path=ppt/slides/_rels/slide14.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image" Target="../media/image135.png"/><Relationship Id="rId18" Type="http://schemas.openxmlformats.org/officeDocument/2006/relationships/image" Target="../media/image140.png"/><Relationship Id="rId3" Type="http://schemas.openxmlformats.org/officeDocument/2006/relationships/image" Target="../media/image125.png"/><Relationship Id="rId21" Type="http://schemas.openxmlformats.org/officeDocument/2006/relationships/image" Target="../media/image143.png"/><Relationship Id="rId7" Type="http://schemas.openxmlformats.org/officeDocument/2006/relationships/image" Target="../media/image129.png"/><Relationship Id="rId12" Type="http://schemas.openxmlformats.org/officeDocument/2006/relationships/image" Target="../media/image134.png"/><Relationship Id="rId17" Type="http://schemas.openxmlformats.org/officeDocument/2006/relationships/image" Target="../media/image139.png"/><Relationship Id="rId2" Type="http://schemas.openxmlformats.org/officeDocument/2006/relationships/notesSlide" Target="../notesSlides/notesSlide14.xml"/><Relationship Id="rId16" Type="http://schemas.openxmlformats.org/officeDocument/2006/relationships/image" Target="../media/image138.png"/><Relationship Id="rId20" Type="http://schemas.openxmlformats.org/officeDocument/2006/relationships/image" Target="../media/image142.png"/><Relationship Id="rId1" Type="http://schemas.openxmlformats.org/officeDocument/2006/relationships/slideLayout" Target="../slideLayouts/slideLayout2.xml"/><Relationship Id="rId6" Type="http://schemas.openxmlformats.org/officeDocument/2006/relationships/image" Target="../media/image128.png"/><Relationship Id="rId11" Type="http://schemas.openxmlformats.org/officeDocument/2006/relationships/image" Target="../media/image133.png"/><Relationship Id="rId5" Type="http://schemas.openxmlformats.org/officeDocument/2006/relationships/image" Target="../media/image127.png"/><Relationship Id="rId15" Type="http://schemas.openxmlformats.org/officeDocument/2006/relationships/image" Target="../media/image137.png"/><Relationship Id="rId10" Type="http://schemas.openxmlformats.org/officeDocument/2006/relationships/image" Target="../media/image132.png"/><Relationship Id="rId19" Type="http://schemas.openxmlformats.org/officeDocument/2006/relationships/image" Target="../media/image141.png"/><Relationship Id="rId4" Type="http://schemas.openxmlformats.org/officeDocument/2006/relationships/image" Target="../media/image126.png"/><Relationship Id="rId9" Type="http://schemas.openxmlformats.org/officeDocument/2006/relationships/image" Target="../media/image131.png"/><Relationship Id="rId14" Type="http://schemas.openxmlformats.org/officeDocument/2006/relationships/image" Target="../media/image136.png"/></Relationships>
</file>

<file path=ppt/slides/_rels/slide15.xml.rels><?xml version="1.0" encoding="UTF-8" standalone="yes"?>
<Relationships xmlns="http://schemas.openxmlformats.org/package/2006/relationships"><Relationship Id="rId8" Type="http://schemas.openxmlformats.org/officeDocument/2006/relationships/image" Target="../media/image101.png"/><Relationship Id="rId13" Type="http://schemas.openxmlformats.org/officeDocument/2006/relationships/image" Target="../media/image106.png"/><Relationship Id="rId18" Type="http://schemas.openxmlformats.org/officeDocument/2006/relationships/image" Target="../media/image111.png"/><Relationship Id="rId3" Type="http://schemas.openxmlformats.org/officeDocument/2006/relationships/image" Target="../media/image1020.png"/><Relationship Id="rId21" Type="http://schemas.openxmlformats.org/officeDocument/2006/relationships/image" Target="../media/image1340.png"/><Relationship Id="rId7" Type="http://schemas.openxmlformats.org/officeDocument/2006/relationships/image" Target="../media/image100.png"/><Relationship Id="rId12" Type="http://schemas.openxmlformats.org/officeDocument/2006/relationships/image" Target="../media/image105.png"/><Relationship Id="rId17" Type="http://schemas.openxmlformats.org/officeDocument/2006/relationships/image" Target="../media/image110.png"/><Relationship Id="rId2" Type="http://schemas.openxmlformats.org/officeDocument/2006/relationships/notesSlide" Target="../notesSlides/notesSlide15.xml"/><Relationship Id="rId16" Type="http://schemas.openxmlformats.org/officeDocument/2006/relationships/image" Target="../media/image109.png"/><Relationship Id="rId20" Type="http://schemas.openxmlformats.org/officeDocument/2006/relationships/image" Target="../media/image1330.png"/><Relationship Id="rId1" Type="http://schemas.openxmlformats.org/officeDocument/2006/relationships/slideLayout" Target="../slideLayouts/slideLayout2.xml"/><Relationship Id="rId6" Type="http://schemas.openxmlformats.org/officeDocument/2006/relationships/image" Target="../media/image99.png"/><Relationship Id="rId11" Type="http://schemas.openxmlformats.org/officeDocument/2006/relationships/image" Target="../media/image104.png"/><Relationship Id="rId5" Type="http://schemas.openxmlformats.org/officeDocument/2006/relationships/image" Target="../media/image98.png"/><Relationship Id="rId15" Type="http://schemas.openxmlformats.org/officeDocument/2006/relationships/image" Target="../media/image108.png"/><Relationship Id="rId10" Type="http://schemas.openxmlformats.org/officeDocument/2006/relationships/image" Target="../media/image103.png"/><Relationship Id="rId19" Type="http://schemas.openxmlformats.org/officeDocument/2006/relationships/image" Target="../media/image112.png"/><Relationship Id="rId4" Type="http://schemas.openxmlformats.org/officeDocument/2006/relationships/image" Target="../media/image97.png"/><Relationship Id="rId9" Type="http://schemas.openxmlformats.org/officeDocument/2006/relationships/image" Target="../media/image1150.png"/><Relationship Id="rId14" Type="http://schemas.openxmlformats.org/officeDocument/2006/relationships/image" Target="../media/image1320.png"/></Relationships>
</file>

<file path=ppt/slides/_rels/slide16.xml.rels><?xml version="1.0" encoding="UTF-8" standalone="yes"?>
<Relationships xmlns="http://schemas.openxmlformats.org/package/2006/relationships"><Relationship Id="rId3" Type="http://schemas.openxmlformats.org/officeDocument/2006/relationships/image" Target="../media/image144.png"/><Relationship Id="rId7" Type="http://schemas.openxmlformats.org/officeDocument/2006/relationships/image" Target="../media/image148.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47.png"/><Relationship Id="rId5" Type="http://schemas.openxmlformats.org/officeDocument/2006/relationships/image" Target="../media/image146.png"/><Relationship Id="rId4" Type="http://schemas.openxmlformats.org/officeDocument/2006/relationships/image" Target="../media/image145.png"/></Relationships>
</file>

<file path=ppt/slides/_rels/slide17.xml.rels><?xml version="1.0" encoding="UTF-8" standalone="yes"?>
<Relationships xmlns="http://schemas.openxmlformats.org/package/2006/relationships"><Relationship Id="rId8" Type="http://schemas.openxmlformats.org/officeDocument/2006/relationships/image" Target="../media/image152.png"/><Relationship Id="rId3" Type="http://schemas.openxmlformats.org/officeDocument/2006/relationships/image" Target="../media/image149.png"/><Relationship Id="rId7" Type="http://schemas.openxmlformats.org/officeDocument/2006/relationships/image" Target="../media/image151.png"/><Relationship Id="rId12" Type="http://schemas.openxmlformats.org/officeDocument/2006/relationships/image" Target="../media/image156.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500.png"/><Relationship Id="rId11" Type="http://schemas.openxmlformats.org/officeDocument/2006/relationships/image" Target="../media/image155.png"/><Relationship Id="rId5" Type="http://schemas.openxmlformats.org/officeDocument/2006/relationships/image" Target="../media/image1480.png"/><Relationship Id="rId10" Type="http://schemas.openxmlformats.org/officeDocument/2006/relationships/image" Target="../media/image154.png"/><Relationship Id="rId4" Type="http://schemas.openxmlformats.org/officeDocument/2006/relationships/image" Target="../media/image150.png"/><Relationship Id="rId9" Type="http://schemas.openxmlformats.org/officeDocument/2006/relationships/image" Target="../media/image15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60.png"/><Relationship Id="rId5" Type="http://schemas.openxmlformats.org/officeDocument/2006/relationships/image" Target="../media/image159.png"/><Relationship Id="rId4" Type="http://schemas.openxmlformats.org/officeDocument/2006/relationships/image" Target="../media/image158.png"/></Relationships>
</file>

<file path=ppt/slides/_rels/slide20.xml.rels><?xml version="1.0" encoding="UTF-8" standalone="yes"?>
<Relationships xmlns="http://schemas.openxmlformats.org/package/2006/relationships"><Relationship Id="rId13" Type="http://schemas.openxmlformats.org/officeDocument/2006/relationships/image" Target="../media/image170.png"/><Relationship Id="rId18" Type="http://schemas.openxmlformats.org/officeDocument/2006/relationships/image" Target="../media/image175.png"/><Relationship Id="rId26" Type="http://schemas.openxmlformats.org/officeDocument/2006/relationships/image" Target="../media/image1820.png"/><Relationship Id="rId21" Type="http://schemas.openxmlformats.org/officeDocument/2006/relationships/image" Target="../media/image178.png"/><Relationship Id="rId34" Type="http://schemas.openxmlformats.org/officeDocument/2006/relationships/image" Target="../media/image190.png"/><Relationship Id="rId7" Type="http://schemas.openxmlformats.org/officeDocument/2006/relationships/image" Target="../media/image165.png"/><Relationship Id="rId12" Type="http://schemas.openxmlformats.org/officeDocument/2006/relationships/image" Target="../media/image1690.png"/><Relationship Id="rId17" Type="http://schemas.openxmlformats.org/officeDocument/2006/relationships/image" Target="../media/image174.png"/><Relationship Id="rId25" Type="http://schemas.openxmlformats.org/officeDocument/2006/relationships/image" Target="../media/image182.png"/><Relationship Id="rId33" Type="http://schemas.openxmlformats.org/officeDocument/2006/relationships/image" Target="../media/image189.png"/><Relationship Id="rId38" Type="http://schemas.openxmlformats.org/officeDocument/2006/relationships/image" Target="../media/image194.png"/><Relationship Id="rId2" Type="http://schemas.openxmlformats.org/officeDocument/2006/relationships/notesSlide" Target="../notesSlides/notesSlide20.xml"/><Relationship Id="rId16" Type="http://schemas.openxmlformats.org/officeDocument/2006/relationships/image" Target="../media/image173.png"/><Relationship Id="rId20" Type="http://schemas.openxmlformats.org/officeDocument/2006/relationships/image" Target="../media/image177.png"/><Relationship Id="rId29" Type="http://schemas.openxmlformats.org/officeDocument/2006/relationships/image" Target="../media/image185.png"/><Relationship Id="rId1" Type="http://schemas.openxmlformats.org/officeDocument/2006/relationships/slideLayout" Target="../slideLayouts/slideLayout2.xml"/><Relationship Id="rId6" Type="http://schemas.openxmlformats.org/officeDocument/2006/relationships/image" Target="../media/image164.png"/><Relationship Id="rId11" Type="http://schemas.openxmlformats.org/officeDocument/2006/relationships/image" Target="../media/image169.png"/><Relationship Id="rId24" Type="http://schemas.openxmlformats.org/officeDocument/2006/relationships/image" Target="../media/image181.png"/><Relationship Id="rId32" Type="http://schemas.openxmlformats.org/officeDocument/2006/relationships/image" Target="../media/image188.png"/><Relationship Id="rId37" Type="http://schemas.openxmlformats.org/officeDocument/2006/relationships/image" Target="../media/image193.png"/><Relationship Id="rId5" Type="http://schemas.openxmlformats.org/officeDocument/2006/relationships/image" Target="../media/image163.png"/><Relationship Id="rId15" Type="http://schemas.openxmlformats.org/officeDocument/2006/relationships/image" Target="../media/image172.png"/><Relationship Id="rId23" Type="http://schemas.openxmlformats.org/officeDocument/2006/relationships/image" Target="../media/image180.png"/><Relationship Id="rId28" Type="http://schemas.openxmlformats.org/officeDocument/2006/relationships/image" Target="../media/image184.png"/><Relationship Id="rId36" Type="http://schemas.openxmlformats.org/officeDocument/2006/relationships/image" Target="../media/image192.png"/><Relationship Id="rId10" Type="http://schemas.openxmlformats.org/officeDocument/2006/relationships/image" Target="../media/image168.png"/><Relationship Id="rId19" Type="http://schemas.openxmlformats.org/officeDocument/2006/relationships/image" Target="../media/image176.png"/><Relationship Id="rId31" Type="http://schemas.openxmlformats.org/officeDocument/2006/relationships/image" Target="../media/image187.png"/><Relationship Id="rId4" Type="http://schemas.openxmlformats.org/officeDocument/2006/relationships/image" Target="../media/image162.png"/><Relationship Id="rId9" Type="http://schemas.openxmlformats.org/officeDocument/2006/relationships/image" Target="../media/image167.png"/><Relationship Id="rId14" Type="http://schemas.openxmlformats.org/officeDocument/2006/relationships/image" Target="../media/image171.png"/><Relationship Id="rId22" Type="http://schemas.openxmlformats.org/officeDocument/2006/relationships/image" Target="../media/image179.png"/><Relationship Id="rId27" Type="http://schemas.openxmlformats.org/officeDocument/2006/relationships/image" Target="../media/image183.png"/><Relationship Id="rId30" Type="http://schemas.openxmlformats.org/officeDocument/2006/relationships/image" Target="../media/image186.png"/><Relationship Id="rId35" Type="http://schemas.openxmlformats.org/officeDocument/2006/relationships/image" Target="../media/image191.png"/><Relationship Id="rId8" Type="http://schemas.openxmlformats.org/officeDocument/2006/relationships/image" Target="../media/image166.png"/><Relationship Id="rId3" Type="http://schemas.openxmlformats.org/officeDocument/2006/relationships/image" Target="../media/image161.png"/></Relationships>
</file>

<file path=ppt/slides/_rels/slide21.xml.rels><?xml version="1.0" encoding="UTF-8" standalone="yes"?>
<Relationships xmlns="http://schemas.openxmlformats.org/package/2006/relationships"><Relationship Id="rId13" Type="http://schemas.openxmlformats.org/officeDocument/2006/relationships/image" Target="../media/image205.png"/><Relationship Id="rId18" Type="http://schemas.openxmlformats.org/officeDocument/2006/relationships/image" Target="../media/image209.png"/><Relationship Id="rId26" Type="http://schemas.openxmlformats.org/officeDocument/2006/relationships/image" Target="../media/image216.png"/><Relationship Id="rId3" Type="http://schemas.openxmlformats.org/officeDocument/2006/relationships/image" Target="../media/image195.png"/><Relationship Id="rId21" Type="http://schemas.openxmlformats.org/officeDocument/2006/relationships/image" Target="../media/image212.png"/><Relationship Id="rId34" Type="http://schemas.openxmlformats.org/officeDocument/2006/relationships/image" Target="../media/image222.png"/><Relationship Id="rId7" Type="http://schemas.openxmlformats.org/officeDocument/2006/relationships/image" Target="../media/image199.png"/><Relationship Id="rId12" Type="http://schemas.openxmlformats.org/officeDocument/2006/relationships/image" Target="../media/image204.png"/><Relationship Id="rId17" Type="http://schemas.openxmlformats.org/officeDocument/2006/relationships/image" Target="../media/image2080.png"/><Relationship Id="rId25" Type="http://schemas.openxmlformats.org/officeDocument/2006/relationships/image" Target="../media/image215.png"/><Relationship Id="rId33" Type="http://schemas.openxmlformats.org/officeDocument/2006/relationships/image" Target="../media/image221.png"/><Relationship Id="rId2" Type="http://schemas.openxmlformats.org/officeDocument/2006/relationships/notesSlide" Target="../notesSlides/notesSlide21.xml"/><Relationship Id="rId16" Type="http://schemas.openxmlformats.org/officeDocument/2006/relationships/image" Target="../media/image208.png"/><Relationship Id="rId20" Type="http://schemas.openxmlformats.org/officeDocument/2006/relationships/image" Target="../media/image211.png"/><Relationship Id="rId29" Type="http://schemas.openxmlformats.org/officeDocument/2006/relationships/image" Target="../media/image218.png"/><Relationship Id="rId1" Type="http://schemas.openxmlformats.org/officeDocument/2006/relationships/slideLayout" Target="../slideLayouts/slideLayout2.xml"/><Relationship Id="rId6" Type="http://schemas.openxmlformats.org/officeDocument/2006/relationships/image" Target="../media/image198.png"/><Relationship Id="rId11" Type="http://schemas.openxmlformats.org/officeDocument/2006/relationships/image" Target="../media/image203.png"/><Relationship Id="rId24" Type="http://schemas.openxmlformats.org/officeDocument/2006/relationships/image" Target="../media/image214.png"/><Relationship Id="rId32" Type="http://schemas.openxmlformats.org/officeDocument/2006/relationships/image" Target="../media/image2200.png"/><Relationship Id="rId5" Type="http://schemas.openxmlformats.org/officeDocument/2006/relationships/image" Target="../media/image197.png"/><Relationship Id="rId15" Type="http://schemas.openxmlformats.org/officeDocument/2006/relationships/image" Target="../media/image207.png"/><Relationship Id="rId23" Type="http://schemas.openxmlformats.org/officeDocument/2006/relationships/image" Target="../media/image213.png"/><Relationship Id="rId28" Type="http://schemas.openxmlformats.org/officeDocument/2006/relationships/image" Target="../media/image217.png"/><Relationship Id="rId10" Type="http://schemas.openxmlformats.org/officeDocument/2006/relationships/image" Target="../media/image202.png"/><Relationship Id="rId19" Type="http://schemas.openxmlformats.org/officeDocument/2006/relationships/image" Target="../media/image210.png"/><Relationship Id="rId31" Type="http://schemas.openxmlformats.org/officeDocument/2006/relationships/image" Target="../media/image220.png"/><Relationship Id="rId4" Type="http://schemas.openxmlformats.org/officeDocument/2006/relationships/image" Target="../media/image196.png"/><Relationship Id="rId9" Type="http://schemas.openxmlformats.org/officeDocument/2006/relationships/image" Target="../media/image201.png"/><Relationship Id="rId14" Type="http://schemas.openxmlformats.org/officeDocument/2006/relationships/image" Target="../media/image206.png"/><Relationship Id="rId22" Type="http://schemas.openxmlformats.org/officeDocument/2006/relationships/image" Target="../media/image2120.png"/><Relationship Id="rId27" Type="http://schemas.openxmlformats.org/officeDocument/2006/relationships/image" Target="../media/image2160.png"/><Relationship Id="rId30" Type="http://schemas.openxmlformats.org/officeDocument/2006/relationships/image" Target="../media/image219.png"/><Relationship Id="rId35" Type="http://schemas.openxmlformats.org/officeDocument/2006/relationships/image" Target="../media/image223.png"/><Relationship Id="rId8" Type="http://schemas.openxmlformats.org/officeDocument/2006/relationships/image" Target="../media/image20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89073248-787E-5D40-AE5E-610E41D0A30C}"/>
              </a:ext>
            </a:extLst>
          </p:cNvPr>
          <p:cNvSpPr txBox="1">
            <a:spLocks/>
          </p:cNvSpPr>
          <p:nvPr/>
        </p:nvSpPr>
        <p:spPr>
          <a:xfrm>
            <a:off x="0" y="2817091"/>
            <a:ext cx="12191999" cy="1226516"/>
          </a:xfrm>
          <a:prstGeom prst="rect">
            <a:avLst/>
          </a:prstGeom>
        </p:spPr>
        <p:txBody>
          <a:bodyPr lIns="0" tIns="0" rIns="0" bIns="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20000"/>
              </a:lnSpc>
            </a:pPr>
            <a:r>
              <a:rPr lang="zh-CN" altLang="en-US" sz="5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charset="-122"/>
              </a:rPr>
              <a:t>存储器</a:t>
            </a:r>
            <a:endParaRPr lang="en-US" altLang="zh-CN" sz="5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charset="-122"/>
            </a:endParaRPr>
          </a:p>
        </p:txBody>
      </p:sp>
      <p:sp>
        <p:nvSpPr>
          <p:cNvPr id="6" name="矩形 5">
            <a:extLst>
              <a:ext uri="{FF2B5EF4-FFF2-40B4-BE49-F238E27FC236}">
                <a16:creationId xmlns:a16="http://schemas.microsoft.com/office/drawing/2014/main" id="{9D42438B-9455-BCBC-7490-250107AE8BAC}"/>
              </a:ext>
            </a:extLst>
          </p:cNvPr>
          <p:cNvSpPr/>
          <p:nvPr/>
        </p:nvSpPr>
        <p:spPr>
          <a:xfrm>
            <a:off x="0" y="252787"/>
            <a:ext cx="4271375"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1C03BB9C-92C3-DE18-5792-0E22FDDAA0A4}"/>
              </a:ext>
            </a:extLst>
          </p:cNvPr>
          <p:cNvSpPr/>
          <p:nvPr/>
        </p:nvSpPr>
        <p:spPr>
          <a:xfrm>
            <a:off x="4115280" y="5040000"/>
            <a:ext cx="3961438" cy="523220"/>
          </a:xfrm>
          <a:prstGeom prst="rect">
            <a:avLst/>
          </a:prstGeom>
        </p:spPr>
        <p:txBody>
          <a:bodyPr wrap="square">
            <a:spAutoFit/>
          </a:bodyPr>
          <a:lstStyle/>
          <a:p>
            <a:pPr algn="ctr">
              <a:spcAft>
                <a:spcPts val="1200"/>
              </a:spcAft>
            </a:pPr>
            <a:r>
              <a:rPr lang="zh-CN" altLang="en-US" sz="2800" dirty="0">
                <a:solidFill>
                  <a:prstClr val="black"/>
                </a:solidFill>
                <a:latin typeface="微软雅黑" panose="020B0503020204020204" pitchFamily="34" charset="-122"/>
                <a:ea typeface="微软雅黑" panose="020B0503020204020204" pitchFamily="34" charset="-122"/>
              </a:rPr>
              <a:t>数电 </a:t>
            </a:r>
            <a:r>
              <a:rPr lang="en-US" altLang="zh-CN" sz="2800" dirty="0">
                <a:solidFill>
                  <a:prstClr val="black"/>
                </a:solidFill>
                <a:latin typeface="微软雅黑" panose="020B0503020204020204" pitchFamily="34" charset="-122"/>
                <a:ea typeface="微软雅黑" panose="020B0503020204020204" pitchFamily="34" charset="-122"/>
              </a:rPr>
              <a:t>P333 – 351</a:t>
            </a:r>
          </a:p>
        </p:txBody>
      </p:sp>
      <p:pic>
        <p:nvPicPr>
          <p:cNvPr id="12" name="图片 11" descr="图片包含 图形用户界面&#10;&#10;描述已自动生成">
            <a:extLst>
              <a:ext uri="{FF2B5EF4-FFF2-40B4-BE49-F238E27FC236}">
                <a16:creationId xmlns:a16="http://schemas.microsoft.com/office/drawing/2014/main" id="{36B95622-439B-2F01-3763-4744D210F1DF}"/>
              </a:ext>
            </a:extLst>
          </p:cNvPr>
          <p:cNvPicPr>
            <a:picLocks noChangeAspect="1"/>
          </p:cNvPicPr>
          <p:nvPr/>
        </p:nvPicPr>
        <p:blipFill>
          <a:blip r:embed="rId3">
            <a:extLst>
              <a:ext uri="{28A0092B-C50C-407E-A947-70E740481C1C}">
                <a14:useLocalDpi xmlns:a14="http://schemas.microsoft.com/office/drawing/2010/main" val="0"/>
              </a:ext>
            </a:extLst>
          </a:blip>
          <a:srcRect l="12638" t="27915" r="8682" b="26692"/>
          <a:stretch/>
        </p:blipFill>
        <p:spPr>
          <a:xfrm>
            <a:off x="0" y="0"/>
            <a:ext cx="4405745" cy="998424"/>
          </a:xfrm>
          <a:prstGeom prst="rect">
            <a:avLst/>
          </a:prstGeom>
        </p:spPr>
      </p:pic>
      <p:sp>
        <p:nvSpPr>
          <p:cNvPr id="3" name="文本框 2">
            <a:extLst>
              <a:ext uri="{FF2B5EF4-FFF2-40B4-BE49-F238E27FC236}">
                <a16:creationId xmlns:a16="http://schemas.microsoft.com/office/drawing/2014/main" id="{93570352-420A-0C13-044B-FD4A338CD6AA}"/>
              </a:ext>
            </a:extLst>
          </p:cNvPr>
          <p:cNvSpPr txBox="1"/>
          <p:nvPr/>
        </p:nvSpPr>
        <p:spPr>
          <a:xfrm>
            <a:off x="0" y="1931813"/>
            <a:ext cx="9531927" cy="584775"/>
          </a:xfrm>
          <a:prstGeom prst="rect">
            <a:avLst/>
          </a:prstGeom>
          <a:noFill/>
        </p:spPr>
        <p:txBody>
          <a:bodyPr wrap="square">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rPr>
              <a:t>模拟与数字电路 </a:t>
            </a:r>
            <a:r>
              <a:rPr lang="en-US" altLang="zh-CN" sz="3200" b="1" dirty="0">
                <a:solidFill>
                  <a:schemeClr val="bg1"/>
                </a:solidFill>
                <a:latin typeface="微软雅黑" panose="020B0503020204020204" pitchFamily="34" charset="-122"/>
                <a:ea typeface="微软雅黑" panose="020B0503020204020204" pitchFamily="34" charset="-122"/>
              </a:rPr>
              <a:t>(Analog and Digital Circuits)</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37EF3C51-ACC3-CEB4-0CD3-FB5FA64AEC1C}"/>
              </a:ext>
            </a:extLst>
          </p:cNvPr>
          <p:cNvSpPr/>
          <p:nvPr/>
        </p:nvSpPr>
        <p:spPr>
          <a:xfrm>
            <a:off x="0" y="6352426"/>
            <a:ext cx="12192000" cy="5055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b="1" dirty="0">
                <a:latin typeface="微软雅黑" panose="020B0503020204020204" pitchFamily="34" charset="-122"/>
                <a:ea typeface="微软雅黑" panose="020B0503020204020204" pitchFamily="34" charset="-122"/>
              </a:rPr>
              <a:t>计算机科学与技术学院本科课程</a:t>
            </a:r>
          </a:p>
        </p:txBody>
      </p:sp>
    </p:spTree>
    <p:extLst>
      <p:ext uri="{BB962C8B-B14F-4D97-AF65-F5344CB8AC3E}">
        <p14:creationId xmlns:p14="http://schemas.microsoft.com/office/powerpoint/2010/main" val="2533195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24A8A429-A57A-A971-5B68-36C274978AD5}"/>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内容提纲</a:t>
            </a:r>
          </a:p>
        </p:txBody>
      </p:sp>
      <p:grpSp>
        <p:nvGrpSpPr>
          <p:cNvPr id="4" name="组合 3">
            <a:extLst>
              <a:ext uri="{FF2B5EF4-FFF2-40B4-BE49-F238E27FC236}">
                <a16:creationId xmlns:a16="http://schemas.microsoft.com/office/drawing/2014/main" id="{F45B4BAD-F1AF-DA8F-D325-2AEA13223897}"/>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84CADB5B-DD68-FB6B-CE4A-4D568A53302E}"/>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D9CA2CB5-31A5-2271-2D0D-B793AF350D1F}"/>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015BBDD1-4572-5612-26B6-27B8BA888977}"/>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98A25324-8856-1585-AC55-264ACE01D509}"/>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a:t>
              </a:fld>
              <a:endParaRPr lang="zh-CN" altLang="en-US" sz="3200" dirty="0">
                <a:solidFill>
                  <a:schemeClr val="bg1"/>
                </a:solidFill>
                <a:latin typeface="Candara"/>
                <a:ea typeface="微软雅黑"/>
              </a:endParaRPr>
            </a:p>
          </p:txBody>
        </p:sp>
      </p:grpSp>
      <p:sp>
        <p:nvSpPr>
          <p:cNvPr id="2" name="文本框 1">
            <a:extLst>
              <a:ext uri="{FF2B5EF4-FFF2-40B4-BE49-F238E27FC236}">
                <a16:creationId xmlns:a16="http://schemas.microsoft.com/office/drawing/2014/main" id="{4C17C55F-85E8-B1AE-FF41-F3981F8076C8}"/>
              </a:ext>
            </a:extLst>
          </p:cNvPr>
          <p:cNvSpPr txBox="1"/>
          <p:nvPr/>
        </p:nvSpPr>
        <p:spPr>
          <a:xfrm>
            <a:off x="1296000" y="1296000"/>
            <a:ext cx="8571144" cy="2935227"/>
          </a:xfrm>
          <a:prstGeom prst="rect">
            <a:avLst/>
          </a:prstGeom>
          <a:noFill/>
        </p:spPr>
        <p:txBody>
          <a:bodyPr wrap="square">
            <a:spAutoFit/>
          </a:bodyPr>
          <a:lstStyle/>
          <a:p>
            <a:pPr marL="571500" indent="-571500">
              <a:lnSpc>
                <a:spcPct val="120000"/>
              </a:lnSpc>
              <a:spcBef>
                <a:spcPts val="600"/>
              </a:spcBef>
              <a:spcAft>
                <a:spcPts val="600"/>
              </a:spcAft>
              <a:buFont typeface="Arial" panose="020B0604020202020204" pitchFamily="34" charset="0"/>
              <a:buChar char="•"/>
            </a:pPr>
            <a:r>
              <a:rPr lang="zh-CN" altLang="en-US" sz="3600" dirty="0">
                <a:solidFill>
                  <a:srgbClr val="002060"/>
                </a:solidFill>
                <a:latin typeface="微软雅黑" panose="020B0503020204020204" pitchFamily="34" charset="-122"/>
                <a:ea typeface="微软雅黑" panose="020B0503020204020204" pitchFamily="34" charset="-122"/>
              </a:rPr>
              <a:t>半导体存储器</a:t>
            </a:r>
            <a:endParaRPr lang="en-US" altLang="zh-CN" sz="3600" dirty="0">
              <a:solidFill>
                <a:srgbClr val="002060"/>
              </a:solidFill>
              <a:latin typeface="微软雅黑" panose="020B0503020204020204" pitchFamily="34" charset="-122"/>
              <a:ea typeface="微软雅黑" panose="020B0503020204020204" pitchFamily="34" charset="-122"/>
            </a:endParaRPr>
          </a:p>
          <a:p>
            <a:pPr marL="1028700" lvl="1" indent="-571500">
              <a:lnSpc>
                <a:spcPct val="120000"/>
              </a:lnSpc>
              <a:spcBef>
                <a:spcPts val="600"/>
              </a:spcBef>
              <a:spcAft>
                <a:spcPts val="600"/>
              </a:spcAft>
              <a:buFont typeface="Wingdings" panose="05000000000000000000" pitchFamily="2" charset="2"/>
              <a:buChar char="Ø"/>
            </a:pPr>
            <a:r>
              <a:rPr lang="zh-CN" altLang="en-US" sz="3000" dirty="0">
                <a:solidFill>
                  <a:schemeClr val="accent5">
                    <a:lumMod val="75000"/>
                  </a:schemeClr>
                </a:solidFill>
                <a:latin typeface="微软雅黑" panose="020B0503020204020204" pitchFamily="34" charset="-122"/>
                <a:ea typeface="微软雅黑" panose="020B0503020204020204" pitchFamily="34" charset="-122"/>
              </a:rPr>
              <a:t>只读存储器（</a:t>
            </a:r>
            <a:r>
              <a:rPr lang="en-US" altLang="zh-CN" sz="3000" dirty="0">
                <a:solidFill>
                  <a:schemeClr val="accent5">
                    <a:lumMod val="75000"/>
                  </a:schemeClr>
                </a:solidFill>
                <a:latin typeface="微软雅黑" panose="020B0503020204020204" pitchFamily="34" charset="-122"/>
                <a:ea typeface="微软雅黑" panose="020B0503020204020204" pitchFamily="34" charset="-122"/>
              </a:rPr>
              <a:t>ROM</a:t>
            </a:r>
            <a:r>
              <a:rPr lang="zh-CN" altLang="en-US" sz="3000" dirty="0">
                <a:solidFill>
                  <a:schemeClr val="accent5">
                    <a:lumMod val="75000"/>
                  </a:schemeClr>
                </a:solidFill>
                <a:latin typeface="微软雅黑" panose="020B0503020204020204" pitchFamily="34" charset="-122"/>
                <a:ea typeface="微软雅黑" panose="020B0503020204020204" pitchFamily="34" charset="-122"/>
              </a:rPr>
              <a:t>）</a:t>
            </a:r>
            <a:endParaRPr lang="en-US" altLang="zh-CN" sz="3000" dirty="0">
              <a:solidFill>
                <a:schemeClr val="accent5">
                  <a:lumMod val="75000"/>
                </a:schemeClr>
              </a:solidFill>
              <a:latin typeface="微软雅黑" panose="020B0503020204020204" pitchFamily="34" charset="-122"/>
              <a:ea typeface="微软雅黑" panose="020B0503020204020204" pitchFamily="34" charset="-122"/>
            </a:endParaRPr>
          </a:p>
          <a:p>
            <a:pPr marL="1028700" lvl="1" indent="-571500">
              <a:lnSpc>
                <a:spcPct val="120000"/>
              </a:lnSpc>
              <a:spcBef>
                <a:spcPts val="600"/>
              </a:spcBef>
              <a:spcAft>
                <a:spcPts val="600"/>
              </a:spcAft>
              <a:buFont typeface="Wingdings" panose="05000000000000000000" pitchFamily="2" charset="2"/>
              <a:buChar char="Ø"/>
            </a:pPr>
            <a:r>
              <a:rPr lang="zh-CN" altLang="en-US" sz="3000" dirty="0">
                <a:solidFill>
                  <a:schemeClr val="accent5">
                    <a:lumMod val="75000"/>
                  </a:schemeClr>
                </a:solidFill>
                <a:latin typeface="微软雅黑" panose="020B0503020204020204" pitchFamily="34" charset="-122"/>
                <a:ea typeface="微软雅黑" panose="020B0503020204020204" pitchFamily="34" charset="-122"/>
              </a:rPr>
              <a:t>随机存取存储器（</a:t>
            </a:r>
            <a:r>
              <a:rPr lang="en-US" altLang="zh-CN" sz="3000" dirty="0">
                <a:solidFill>
                  <a:schemeClr val="accent5">
                    <a:lumMod val="75000"/>
                  </a:schemeClr>
                </a:solidFill>
                <a:latin typeface="微软雅黑" panose="020B0503020204020204" pitchFamily="34" charset="-122"/>
                <a:ea typeface="微软雅黑" panose="020B0503020204020204" pitchFamily="34" charset="-122"/>
              </a:rPr>
              <a:t>RAM</a:t>
            </a:r>
            <a:r>
              <a:rPr lang="zh-CN" altLang="en-US" sz="3000" dirty="0">
                <a:solidFill>
                  <a:schemeClr val="accent5">
                    <a:lumMod val="75000"/>
                  </a:schemeClr>
                </a:solidFill>
                <a:latin typeface="微软雅黑" panose="020B0503020204020204" pitchFamily="34" charset="-122"/>
                <a:ea typeface="微软雅黑" panose="020B0503020204020204" pitchFamily="34" charset="-122"/>
              </a:rPr>
              <a:t>）</a:t>
            </a:r>
            <a:endParaRPr lang="en-US" altLang="zh-CN" sz="3600" dirty="0">
              <a:solidFill>
                <a:srgbClr val="002060"/>
              </a:solidFill>
              <a:latin typeface="微软雅黑" panose="020B0503020204020204" pitchFamily="34" charset="-122"/>
              <a:ea typeface="微软雅黑" panose="020B0503020204020204" pitchFamily="34" charset="-122"/>
            </a:endParaRPr>
          </a:p>
          <a:p>
            <a:pPr marL="571500" indent="-571500">
              <a:lnSpc>
                <a:spcPct val="120000"/>
              </a:lnSpc>
              <a:spcBef>
                <a:spcPts val="600"/>
              </a:spcBef>
              <a:spcAft>
                <a:spcPts val="600"/>
              </a:spcAft>
              <a:buFont typeface="Arial" panose="020B0604020202020204" pitchFamily="34" charset="0"/>
              <a:buChar char="•"/>
            </a:pPr>
            <a:r>
              <a:rPr lang="zh-CN" altLang="en-US" sz="3600" dirty="0">
                <a:solidFill>
                  <a:srgbClr val="002060"/>
                </a:solidFill>
                <a:latin typeface="微软雅黑" panose="020B0503020204020204" pitchFamily="34" charset="-122"/>
                <a:ea typeface="微软雅黑" panose="020B0503020204020204" pitchFamily="34" charset="-122"/>
              </a:rPr>
              <a:t>存储器的容量扩展</a:t>
            </a:r>
            <a:endParaRPr lang="en-US" altLang="zh-CN" sz="3600" dirty="0">
              <a:solidFill>
                <a:schemeClr val="accent5">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6743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09E84CE-2EF2-E42A-A40E-3DB8B14E0BC2}"/>
                  </a:ext>
                </a:extLst>
              </p:cNvPr>
              <p:cNvSpPr txBox="1"/>
              <p:nvPr/>
            </p:nvSpPr>
            <p:spPr>
              <a:xfrm>
                <a:off x="360000" y="828000"/>
                <a:ext cx="10718652" cy="3375989"/>
              </a:xfrm>
              <a:prstGeom prst="rect">
                <a:avLst/>
              </a:prstGeom>
              <a:noFill/>
            </p:spPr>
            <p:txBody>
              <a:bodyPr wrap="square">
                <a:spAutoFit/>
              </a:bodyPr>
              <a:lstStyle/>
              <a:p>
                <a:pPr>
                  <a:lnSpc>
                    <a:spcPct val="120000"/>
                  </a:lnSpc>
                  <a:spcAft>
                    <a:spcPts val="600"/>
                  </a:spcAft>
                </a:pPr>
                <a:r>
                  <a:rPr kumimoji="1" lang="zh-CN" altLang="en-US" sz="2800" b="1" dirty="0">
                    <a:solidFill>
                      <a:srgbClr val="002060"/>
                    </a:solidFill>
                    <a:latin typeface="微软雅黑" panose="020B0503020204020204" pitchFamily="34" charset="-122"/>
                    <a:ea typeface="微软雅黑" panose="020B0503020204020204" pitchFamily="34" charset="-122"/>
                  </a:rPr>
                  <a:t>半导体存储器</a:t>
                </a:r>
                <a:r>
                  <a:rPr kumimoji="1" lang="zh-CN" altLang="en-US" sz="2800" dirty="0">
                    <a:solidFill>
                      <a:srgbClr val="002060"/>
                    </a:solidFill>
                    <a:latin typeface="微软雅黑" panose="020B0503020204020204" pitchFamily="34" charset="-122"/>
                    <a:ea typeface="微软雅黑" panose="020B0503020204020204" pitchFamily="34" charset="-122"/>
                  </a:rPr>
                  <a:t>：用来存储大量的二值数据，属于大规模集成电路</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存储容量 </a:t>
                </a:r>
                <a:r>
                  <a:rPr kumimoji="1" lang="en-US" altLang="zh-CN" sz="2800" dirty="0">
                    <a:solidFill>
                      <a:srgbClr val="002060"/>
                    </a:solidFill>
                    <a:latin typeface="微软雅黑" panose="020B0503020204020204" pitchFamily="34" charset="-122"/>
                    <a:ea typeface="微软雅黑" panose="020B0503020204020204" pitchFamily="34" charset="-122"/>
                  </a:rPr>
                  <a:t>= </a:t>
                </a:r>
                <a:r>
                  <a:rPr kumimoji="1" lang="zh-CN" altLang="en-US" sz="2800" dirty="0">
                    <a:solidFill>
                      <a:srgbClr val="002060"/>
                    </a:solidFill>
                    <a:latin typeface="微软雅黑" panose="020B0503020204020204" pitchFamily="34" charset="-122"/>
                    <a:ea typeface="微软雅黑" panose="020B0503020204020204" pitchFamily="34" charset="-122"/>
                  </a:rPr>
                  <a:t>字数 </a:t>
                </a:r>
                <a14:m>
                  <m:oMath xmlns:m="http://schemas.openxmlformats.org/officeDocument/2006/math">
                    <m:r>
                      <a:rPr kumimoji="1" lang="en-US" altLang="zh-CN" sz="2800" i="1" smtClean="0">
                        <a:solidFill>
                          <a:srgbClr val="002060"/>
                        </a:solidFill>
                        <a:latin typeface="Cambria Math" panose="02040503050406030204" pitchFamily="18" charset="0"/>
                        <a:ea typeface="Cambria Math" panose="02040503050406030204" pitchFamily="18" charset="0"/>
                      </a:rPr>
                      <m:t>×</m:t>
                    </m:r>
                  </m:oMath>
                </a14:m>
                <a:r>
                  <a:rPr kumimoji="1" lang="en-US" altLang="zh-CN" sz="2800" dirty="0">
                    <a:solidFill>
                      <a:srgbClr val="002060"/>
                    </a:solidFill>
                    <a:latin typeface="微软雅黑" panose="020B0503020204020204" pitchFamily="34" charset="-122"/>
                    <a:ea typeface="微软雅黑" panose="020B0503020204020204" pitchFamily="34" charset="-122"/>
                  </a:rPr>
                  <a:t> </a:t>
                </a:r>
                <a:r>
                  <a:rPr kumimoji="1" lang="zh-CN" altLang="en-US" sz="2800" dirty="0">
                    <a:solidFill>
                      <a:srgbClr val="002060"/>
                    </a:solidFill>
                    <a:latin typeface="微软雅黑" panose="020B0503020204020204" pitchFamily="34" charset="-122"/>
                    <a:ea typeface="微软雅黑" panose="020B0503020204020204" pitchFamily="34" charset="-122"/>
                  </a:rPr>
                  <a:t>每字对应的位数</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例如：</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8G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存储卡，容量为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8G Byte </a:t>
                </a:r>
                <a14:m>
                  <m:oMath xmlns:m="http://schemas.openxmlformats.org/officeDocument/2006/math">
                    <m:r>
                      <a:rPr kumimoji="1" lang="en-US" altLang="zh-CN" sz="2400" i="1">
                        <a:solidFill>
                          <a:schemeClr val="accent5">
                            <a:lumMod val="75000"/>
                          </a:schemeClr>
                        </a:solidFill>
                        <a:latin typeface="Cambria Math" panose="02040503050406030204" pitchFamily="18" charset="0"/>
                        <a:ea typeface="Cambria Math" panose="02040503050406030204" pitchFamily="18" charset="0"/>
                      </a:rPr>
                      <m:t>×</m:t>
                    </m:r>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8 bits/Byte = 64 G bits</a:t>
                </a: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每个字具有唯一的编号，称为地址</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a:lnSpc>
                    <a:spcPct val="120000"/>
                  </a:lnSpc>
                  <a:spcAft>
                    <a:spcPts val="600"/>
                  </a:spcAft>
                </a:pP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一般结构如下：</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109E84CE-2EF2-E42A-A40E-3DB8B14E0BC2}"/>
                  </a:ext>
                </a:extLst>
              </p:cNvPr>
              <p:cNvSpPr txBox="1">
                <a:spLocks noRot="1" noChangeAspect="1" noMove="1" noResize="1" noEditPoints="1" noAdjustHandles="1" noChangeArrowheads="1" noChangeShapeType="1" noTextEdit="1"/>
              </p:cNvSpPr>
              <p:nvPr/>
            </p:nvSpPr>
            <p:spPr>
              <a:xfrm>
                <a:off x="360000" y="828000"/>
                <a:ext cx="10718652" cy="3375989"/>
              </a:xfrm>
              <a:prstGeom prst="rect">
                <a:avLst/>
              </a:prstGeom>
              <a:blipFill>
                <a:blip r:embed="rId3"/>
                <a:stretch>
                  <a:fillRect l="-1138" t="-722" b="-2347"/>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36DD4D54-301A-1D9C-205E-7C1A5A06E2FA}"/>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2AB34872-72FF-82FC-368C-7797662E36AF}"/>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2D5F5EA4-C572-D8E3-5ADE-85B3AEDEB3C3}"/>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B1410301-984B-86B2-BFB6-B338A57DF1C7}"/>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E841CF6D-CC3E-8640-EC9D-39653CA2047B}"/>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a:t>
              </a:fld>
              <a:endParaRPr lang="zh-CN" altLang="en-US" sz="3200" dirty="0">
                <a:solidFill>
                  <a:schemeClr val="bg1"/>
                </a:solidFill>
                <a:latin typeface="Candara"/>
                <a:ea typeface="微软雅黑"/>
              </a:endParaRPr>
            </a:p>
          </p:txBody>
        </p:sp>
      </p:grpSp>
      <p:grpSp>
        <p:nvGrpSpPr>
          <p:cNvPr id="30" name="组合 29">
            <a:extLst>
              <a:ext uri="{FF2B5EF4-FFF2-40B4-BE49-F238E27FC236}">
                <a16:creationId xmlns:a16="http://schemas.microsoft.com/office/drawing/2014/main" id="{69BBD287-6E34-C770-5485-9556016C11C6}"/>
              </a:ext>
            </a:extLst>
          </p:cNvPr>
          <p:cNvGrpSpPr/>
          <p:nvPr/>
        </p:nvGrpSpPr>
        <p:grpSpPr>
          <a:xfrm>
            <a:off x="1980000" y="4320000"/>
            <a:ext cx="8523769" cy="1943694"/>
            <a:chOff x="2002488" y="4243738"/>
            <a:chExt cx="8523769" cy="1943694"/>
          </a:xfrm>
        </p:grpSpPr>
        <p:sp>
          <p:nvSpPr>
            <p:cNvPr id="9" name="矩形 8">
              <a:extLst>
                <a:ext uri="{FF2B5EF4-FFF2-40B4-BE49-F238E27FC236}">
                  <a16:creationId xmlns:a16="http://schemas.microsoft.com/office/drawing/2014/main" id="{6E4DC1CE-9776-575A-8021-A4710A9887E8}"/>
                </a:ext>
              </a:extLst>
            </p:cNvPr>
            <p:cNvSpPr/>
            <p:nvPr/>
          </p:nvSpPr>
          <p:spPr>
            <a:xfrm>
              <a:off x="3693212" y="4243738"/>
              <a:ext cx="1093509" cy="1055802"/>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400" dirty="0">
                  <a:latin typeface="微软雅黑" panose="020B0503020204020204" pitchFamily="34" charset="-122"/>
                  <a:ea typeface="微软雅黑" panose="020B0503020204020204" pitchFamily="34" charset="-122"/>
                </a:rPr>
                <a:t>地址译码</a:t>
              </a:r>
            </a:p>
          </p:txBody>
        </p:sp>
        <p:sp>
          <p:nvSpPr>
            <p:cNvPr id="10" name="矩形 9">
              <a:extLst>
                <a:ext uri="{FF2B5EF4-FFF2-40B4-BE49-F238E27FC236}">
                  <a16:creationId xmlns:a16="http://schemas.microsoft.com/office/drawing/2014/main" id="{D86C1575-D760-5C54-57A3-5D108A8EFB13}"/>
                </a:ext>
              </a:extLst>
            </p:cNvPr>
            <p:cNvSpPr/>
            <p:nvPr/>
          </p:nvSpPr>
          <p:spPr>
            <a:xfrm>
              <a:off x="5495303" y="4243738"/>
              <a:ext cx="1093509" cy="1055802"/>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400" dirty="0">
                  <a:latin typeface="微软雅黑" panose="020B0503020204020204" pitchFamily="34" charset="-122"/>
                  <a:ea typeface="微软雅黑" panose="020B0503020204020204" pitchFamily="34" charset="-122"/>
                </a:rPr>
                <a:t>存储阵列</a:t>
              </a:r>
            </a:p>
          </p:txBody>
        </p:sp>
        <p:sp>
          <p:nvSpPr>
            <p:cNvPr id="11" name="矩形 10">
              <a:extLst>
                <a:ext uri="{FF2B5EF4-FFF2-40B4-BE49-F238E27FC236}">
                  <a16:creationId xmlns:a16="http://schemas.microsoft.com/office/drawing/2014/main" id="{02BE7B41-854F-9A12-5A6E-3FA2209EAFFC}"/>
                </a:ext>
              </a:extLst>
            </p:cNvPr>
            <p:cNvSpPr/>
            <p:nvPr/>
          </p:nvSpPr>
          <p:spPr>
            <a:xfrm>
              <a:off x="7514210" y="4243738"/>
              <a:ext cx="1093509" cy="1055802"/>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400" dirty="0">
                  <a:latin typeface="微软雅黑" panose="020B0503020204020204" pitchFamily="34" charset="-122"/>
                  <a:ea typeface="微软雅黑" panose="020B0503020204020204" pitchFamily="34" charset="-122"/>
                </a:rPr>
                <a:t>读</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写控制</a:t>
              </a:r>
            </a:p>
          </p:txBody>
        </p:sp>
        <p:cxnSp>
          <p:nvCxnSpPr>
            <p:cNvPr id="13" name="直接箭头连接符 12">
              <a:extLst>
                <a:ext uri="{FF2B5EF4-FFF2-40B4-BE49-F238E27FC236}">
                  <a16:creationId xmlns:a16="http://schemas.microsoft.com/office/drawing/2014/main" id="{82B578F2-4A9C-4D19-8B55-C0C1ED33D720}"/>
                </a:ext>
              </a:extLst>
            </p:cNvPr>
            <p:cNvCxnSpPr>
              <a:cxnSpLocks/>
              <a:endCxn id="9" idx="1"/>
            </p:cNvCxnSpPr>
            <p:nvPr/>
          </p:nvCxnSpPr>
          <p:spPr>
            <a:xfrm>
              <a:off x="2995628" y="4771639"/>
              <a:ext cx="697584" cy="0"/>
            </a:xfrm>
            <a:prstGeom prst="straightConnector1">
              <a:avLst/>
            </a:prstGeom>
            <a:ln w="508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3DFA4460-8249-81A6-11AD-6A1A27FBFB2A}"/>
                </a:ext>
              </a:extLst>
            </p:cNvPr>
            <p:cNvCxnSpPr>
              <a:cxnSpLocks/>
              <a:stCxn id="9" idx="3"/>
              <a:endCxn id="10" idx="1"/>
            </p:cNvCxnSpPr>
            <p:nvPr/>
          </p:nvCxnSpPr>
          <p:spPr>
            <a:xfrm>
              <a:off x="4786721" y="4771639"/>
              <a:ext cx="708582" cy="0"/>
            </a:xfrm>
            <a:prstGeom prst="straightConnector1">
              <a:avLst/>
            </a:prstGeom>
            <a:ln w="508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81633493-07D1-7BC2-474D-E1BD4F9CBE9E}"/>
                </a:ext>
              </a:extLst>
            </p:cNvPr>
            <p:cNvCxnSpPr>
              <a:cxnSpLocks/>
              <a:stCxn id="10" idx="3"/>
              <a:endCxn id="11" idx="1"/>
            </p:cNvCxnSpPr>
            <p:nvPr/>
          </p:nvCxnSpPr>
          <p:spPr>
            <a:xfrm>
              <a:off x="6588812" y="4771639"/>
              <a:ext cx="925398" cy="0"/>
            </a:xfrm>
            <a:prstGeom prst="straightConnector1">
              <a:avLst/>
            </a:prstGeom>
            <a:ln w="5080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E2F44194-2AB9-16A0-4C40-1221075CD4CA}"/>
                </a:ext>
              </a:extLst>
            </p:cNvPr>
            <p:cNvCxnSpPr>
              <a:cxnSpLocks/>
              <a:stCxn id="11" idx="3"/>
            </p:cNvCxnSpPr>
            <p:nvPr/>
          </p:nvCxnSpPr>
          <p:spPr>
            <a:xfrm>
              <a:off x="8607719" y="4771639"/>
              <a:ext cx="925398" cy="0"/>
            </a:xfrm>
            <a:prstGeom prst="straightConnector1">
              <a:avLst/>
            </a:prstGeom>
            <a:ln w="5080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4" name="连接符: 肘形 23">
              <a:extLst>
                <a:ext uri="{FF2B5EF4-FFF2-40B4-BE49-F238E27FC236}">
                  <a16:creationId xmlns:a16="http://schemas.microsoft.com/office/drawing/2014/main" id="{2F02B1A5-2FB5-EE71-1183-9C7D87834E06}"/>
                </a:ext>
              </a:extLst>
            </p:cNvPr>
            <p:cNvCxnSpPr>
              <a:cxnSpLocks/>
              <a:endCxn id="11" idx="2"/>
            </p:cNvCxnSpPr>
            <p:nvPr/>
          </p:nvCxnSpPr>
          <p:spPr>
            <a:xfrm flipV="1">
              <a:off x="2995628" y="5299540"/>
              <a:ext cx="5065337" cy="645511"/>
            </a:xfrm>
            <a:prstGeom prst="bentConnector2">
              <a:avLst/>
            </a:prstGeom>
            <a:ln w="508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B0EE2A38-66CA-FB65-FB3F-D495E5CA335B}"/>
                </a:ext>
              </a:extLst>
            </p:cNvPr>
            <p:cNvSpPr txBox="1"/>
            <p:nvPr/>
          </p:nvSpPr>
          <p:spPr>
            <a:xfrm>
              <a:off x="2002488" y="5713869"/>
              <a:ext cx="993140" cy="473563"/>
            </a:xfrm>
            <a:prstGeom prst="rect">
              <a:avLst/>
            </a:prstGeom>
            <a:noFill/>
          </p:spPr>
          <p:txBody>
            <a:bodyPr wrap="square">
              <a:spAutoFit/>
            </a:bodyPr>
            <a:lstStyle/>
            <a:p>
              <a:pPr algn="ct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控制</a:t>
              </a:r>
              <a:endParaRPr lang="zh-CN" altLang="en-US" sz="2400" dirty="0">
                <a:solidFill>
                  <a:schemeClr val="accent5">
                    <a:lumMod val="75000"/>
                  </a:schemeClr>
                </a:solidFill>
              </a:endParaRPr>
            </a:p>
          </p:txBody>
        </p:sp>
        <p:sp>
          <p:nvSpPr>
            <p:cNvPr id="28" name="文本框 27">
              <a:extLst>
                <a:ext uri="{FF2B5EF4-FFF2-40B4-BE49-F238E27FC236}">
                  <a16:creationId xmlns:a16="http://schemas.microsoft.com/office/drawing/2014/main" id="{F8254BC4-6F32-DB46-78A3-8CD6215C4572}"/>
                </a:ext>
              </a:extLst>
            </p:cNvPr>
            <p:cNvSpPr txBox="1"/>
            <p:nvPr/>
          </p:nvSpPr>
          <p:spPr>
            <a:xfrm>
              <a:off x="2002488" y="4532410"/>
              <a:ext cx="993140" cy="473563"/>
            </a:xfrm>
            <a:prstGeom prst="rect">
              <a:avLst/>
            </a:prstGeom>
            <a:noFill/>
          </p:spPr>
          <p:txBody>
            <a:bodyPr wrap="square">
              <a:spAutoFit/>
            </a:bodyPr>
            <a:lstStyle/>
            <a:p>
              <a:pPr algn="ct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地址</a:t>
              </a:r>
              <a:endParaRPr lang="zh-CN" altLang="en-US" sz="2400" dirty="0">
                <a:solidFill>
                  <a:schemeClr val="accent5">
                    <a:lumMod val="75000"/>
                  </a:schemeClr>
                </a:solidFill>
              </a:endParaRPr>
            </a:p>
          </p:txBody>
        </p:sp>
        <p:sp>
          <p:nvSpPr>
            <p:cNvPr id="29" name="文本框 28">
              <a:extLst>
                <a:ext uri="{FF2B5EF4-FFF2-40B4-BE49-F238E27FC236}">
                  <a16:creationId xmlns:a16="http://schemas.microsoft.com/office/drawing/2014/main" id="{03D4978C-B73C-17A1-5354-26FE7EF0C68B}"/>
                </a:ext>
              </a:extLst>
            </p:cNvPr>
            <p:cNvSpPr txBox="1"/>
            <p:nvPr/>
          </p:nvSpPr>
          <p:spPr>
            <a:xfrm>
              <a:off x="9533117" y="4532410"/>
              <a:ext cx="993140" cy="461665"/>
            </a:xfrm>
            <a:prstGeom prst="rect">
              <a:avLst/>
            </a:prstGeom>
            <a:noFill/>
          </p:spPr>
          <p:txBody>
            <a:bodyPr wrap="square">
              <a:spAutoFit/>
            </a:bodyPr>
            <a:lstStyle/>
            <a:p>
              <a:pPr algn="ct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数据</a:t>
              </a:r>
              <a:endParaRPr lang="zh-CN" altLang="en-US" sz="2400" dirty="0">
                <a:solidFill>
                  <a:schemeClr val="accent5">
                    <a:lumMod val="75000"/>
                  </a:schemeClr>
                </a:solidFill>
              </a:endParaRPr>
            </a:p>
          </p:txBody>
        </p:sp>
      </p:grpSp>
      <p:sp>
        <p:nvSpPr>
          <p:cNvPr id="12" name="标题 1">
            <a:extLst>
              <a:ext uri="{FF2B5EF4-FFF2-40B4-BE49-F238E27FC236}">
                <a16:creationId xmlns:a16="http://schemas.microsoft.com/office/drawing/2014/main" id="{EEB0DD42-A73B-63EA-983C-06862D00DEC4}"/>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半导体存储器</a:t>
            </a:r>
            <a:endParaRPr lang="en-US" altLang="zh-CN" sz="3000" dirty="0"/>
          </a:p>
        </p:txBody>
      </p:sp>
    </p:spTree>
    <p:extLst>
      <p:ext uri="{BB962C8B-B14F-4D97-AF65-F5344CB8AC3E}">
        <p14:creationId xmlns:p14="http://schemas.microsoft.com/office/powerpoint/2010/main" val="2888472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0BAA3-4F29-27D5-6A6E-C95702EB9BD2}"/>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8E4F72A3-503C-B130-847C-817578836768}"/>
              </a:ext>
            </a:extLst>
          </p:cNvPr>
          <p:cNvSpPr txBox="1"/>
          <p:nvPr/>
        </p:nvSpPr>
        <p:spPr>
          <a:xfrm>
            <a:off x="360000" y="828000"/>
            <a:ext cx="10718652" cy="4206664"/>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半导体存储器分为两大类：</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只读存储器（</a:t>
            </a:r>
            <a:r>
              <a:rPr kumimoji="1" lang="en-US" altLang="zh-CN" sz="2800" dirty="0">
                <a:solidFill>
                  <a:srgbClr val="002060"/>
                </a:solidFill>
                <a:latin typeface="微软雅黑" panose="020B0503020204020204" pitchFamily="34" charset="-122"/>
                <a:ea typeface="微软雅黑" panose="020B0503020204020204" pitchFamily="34" charset="-122"/>
              </a:rPr>
              <a:t>Read-Only Memory</a:t>
            </a:r>
            <a:r>
              <a:rPr kumimoji="1" lang="zh-CN" altLang="en-US" sz="2800" dirty="0">
                <a:solidFill>
                  <a:srgbClr val="002060"/>
                </a:solidFill>
                <a:latin typeface="微软雅黑" panose="020B0503020204020204" pitchFamily="34" charset="-122"/>
                <a:ea typeface="微软雅黑" panose="020B0503020204020204" pitchFamily="34" charset="-122"/>
              </a:rPr>
              <a:t>，</a:t>
            </a:r>
            <a:r>
              <a:rPr kumimoji="1" lang="en-US" altLang="zh-CN" sz="2800" dirty="0">
                <a:solidFill>
                  <a:srgbClr val="002060"/>
                </a:solidFill>
                <a:latin typeface="微软雅黑" panose="020B0503020204020204" pitchFamily="34" charset="-122"/>
                <a:ea typeface="微软雅黑" panose="020B0503020204020204" pitchFamily="34" charset="-122"/>
              </a:rPr>
              <a:t>ROM</a:t>
            </a:r>
            <a:r>
              <a:rPr kumimoji="1" lang="zh-CN" altLang="en-US" sz="2800" dirty="0">
                <a:solidFill>
                  <a:srgbClr val="002060"/>
                </a:solidFill>
                <a:latin typeface="微软雅黑" panose="020B0503020204020204" pitchFamily="34" charset="-122"/>
                <a:ea typeface="微软雅黑" panose="020B0503020204020204" pitchFamily="34" charset="-122"/>
              </a:rPr>
              <a:t>）</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正常工作状态仅为读出信息，断电后信息不会丢失，用于存放固定信息（如程序、常数等）</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a:lnSpc>
                <a:spcPct val="120000"/>
              </a:lnSpc>
              <a:spcAft>
                <a:spcPts val="600"/>
              </a:spcAft>
            </a:pP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随机存储器（</a:t>
            </a:r>
            <a:r>
              <a:rPr kumimoji="1" lang="en-US" altLang="zh-CN" sz="2800" dirty="0">
                <a:solidFill>
                  <a:srgbClr val="002060"/>
                </a:solidFill>
                <a:latin typeface="微软雅黑" panose="020B0503020204020204" pitchFamily="34" charset="-122"/>
                <a:ea typeface="微软雅黑" panose="020B0503020204020204" pitchFamily="34" charset="-122"/>
              </a:rPr>
              <a:t>Random Access Memory</a:t>
            </a:r>
            <a:r>
              <a:rPr kumimoji="1" lang="zh-CN" altLang="en-US" sz="2800" dirty="0">
                <a:solidFill>
                  <a:srgbClr val="002060"/>
                </a:solidFill>
                <a:latin typeface="微软雅黑" panose="020B0503020204020204" pitchFamily="34" charset="-122"/>
                <a:ea typeface="微软雅黑" panose="020B0503020204020204" pitchFamily="34" charset="-122"/>
              </a:rPr>
              <a:t>，</a:t>
            </a:r>
            <a:r>
              <a:rPr kumimoji="1" lang="en-US" altLang="zh-CN" sz="2800" dirty="0">
                <a:solidFill>
                  <a:srgbClr val="002060"/>
                </a:solidFill>
                <a:latin typeface="微软雅黑" panose="020B0503020204020204" pitchFamily="34" charset="-122"/>
                <a:ea typeface="微软雅黑" panose="020B0503020204020204" pitchFamily="34" charset="-122"/>
              </a:rPr>
              <a:t>RAM</a:t>
            </a:r>
            <a:r>
              <a:rPr kumimoji="1" lang="zh-CN" altLang="en-US" sz="2800" dirty="0">
                <a:solidFill>
                  <a:srgbClr val="002060"/>
                </a:solidFill>
                <a:latin typeface="微软雅黑" panose="020B0503020204020204" pitchFamily="34" charset="-122"/>
                <a:ea typeface="微软雅黑" panose="020B0503020204020204" pitchFamily="34" charset="-122"/>
              </a:rPr>
              <a:t>）</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在运行状态可以随时进行读出或写入操作，存储信息须有电源供应才能保存，一旦掉电，信息全部丢失</a:t>
            </a:r>
          </a:p>
        </p:txBody>
      </p:sp>
      <p:grpSp>
        <p:nvGrpSpPr>
          <p:cNvPr id="4" name="组合 3">
            <a:extLst>
              <a:ext uri="{FF2B5EF4-FFF2-40B4-BE49-F238E27FC236}">
                <a16:creationId xmlns:a16="http://schemas.microsoft.com/office/drawing/2014/main" id="{55E83293-3774-3D20-1142-A16DDB0E7389}"/>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126EC46D-09EE-152F-918F-55C61AFC3CB8}"/>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CD30AEDB-2766-D28F-CE88-1745FD079C4A}"/>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81358E83-594C-9875-E236-68E46371791D}"/>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E881EE19-015B-9997-96B7-549DE8DD9A08}"/>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4</a:t>
              </a:fld>
              <a:endParaRPr lang="zh-CN" altLang="en-US" sz="3200" dirty="0">
                <a:solidFill>
                  <a:schemeClr val="bg1"/>
                </a:solidFill>
                <a:latin typeface="Candara"/>
                <a:ea typeface="微软雅黑"/>
              </a:endParaRPr>
            </a:p>
          </p:txBody>
        </p:sp>
      </p:grpSp>
      <p:sp>
        <p:nvSpPr>
          <p:cNvPr id="9" name="标题 1">
            <a:extLst>
              <a:ext uri="{FF2B5EF4-FFF2-40B4-BE49-F238E27FC236}">
                <a16:creationId xmlns:a16="http://schemas.microsoft.com/office/drawing/2014/main" id="{10E4F1B2-4868-B896-90B8-1E92BA23EBD7}"/>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半导体存储器</a:t>
            </a:r>
            <a:endParaRPr lang="en-US" altLang="zh-CN" sz="3000" dirty="0"/>
          </a:p>
        </p:txBody>
      </p:sp>
    </p:spTree>
    <p:extLst>
      <p:ext uri="{BB962C8B-B14F-4D97-AF65-F5344CB8AC3E}">
        <p14:creationId xmlns:p14="http://schemas.microsoft.com/office/powerpoint/2010/main" val="222400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54C09-DC17-DA7E-4FD5-3C27518225B0}"/>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F13BDE55-95D0-F404-5811-7F19292B5F7C}"/>
              </a:ext>
            </a:extLst>
          </p:cNvPr>
          <p:cNvSpPr txBox="1"/>
          <p:nvPr/>
        </p:nvSpPr>
        <p:spPr>
          <a:xfrm>
            <a:off x="360000" y="828000"/>
            <a:ext cx="8640000" cy="4360553"/>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只读存储器（</a:t>
            </a:r>
            <a:r>
              <a:rPr kumimoji="1" lang="en-US" altLang="zh-CN" sz="2800" dirty="0">
                <a:solidFill>
                  <a:srgbClr val="002060"/>
                </a:solidFill>
                <a:latin typeface="微软雅黑" panose="020B0503020204020204" pitchFamily="34" charset="-122"/>
                <a:ea typeface="微软雅黑" panose="020B0503020204020204" pitchFamily="34" charset="-122"/>
              </a:rPr>
              <a:t>Read-Only Memory</a:t>
            </a:r>
            <a:r>
              <a:rPr kumimoji="1" lang="zh-CN" altLang="en-US" sz="2800" dirty="0">
                <a:solidFill>
                  <a:srgbClr val="002060"/>
                </a:solidFill>
                <a:latin typeface="微软雅黑" panose="020B0503020204020204" pitchFamily="34" charset="-122"/>
                <a:ea typeface="微软雅黑" panose="020B0503020204020204" pitchFamily="34" charset="-122"/>
              </a:rPr>
              <a:t>，</a:t>
            </a:r>
            <a:r>
              <a:rPr kumimoji="1" lang="en-US" altLang="zh-CN" sz="2800" dirty="0">
                <a:solidFill>
                  <a:srgbClr val="002060"/>
                </a:solidFill>
                <a:latin typeface="微软雅黑" panose="020B0503020204020204" pitchFamily="34" charset="-122"/>
                <a:ea typeface="微软雅黑" panose="020B0503020204020204" pitchFamily="34" charset="-122"/>
              </a:rPr>
              <a:t>ROM</a:t>
            </a:r>
            <a:r>
              <a:rPr kumimoji="1" lang="zh-CN" altLang="en-US" sz="2800" dirty="0">
                <a:solidFill>
                  <a:srgbClr val="002060"/>
                </a:solidFill>
                <a:latin typeface="微软雅黑" panose="020B0503020204020204" pitchFamily="34" charset="-122"/>
                <a:ea typeface="微软雅黑" panose="020B0503020204020204" pitchFamily="34" charset="-122"/>
              </a:rPr>
              <a:t>）：</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掩模存储器（</a:t>
            </a:r>
            <a:r>
              <a:rPr kumimoji="1" lang="en-US" altLang="zh-CN" sz="2800" dirty="0">
                <a:solidFill>
                  <a:srgbClr val="002060"/>
                </a:solidFill>
                <a:latin typeface="微软雅黑" panose="020B0503020204020204" pitchFamily="34" charset="-122"/>
                <a:ea typeface="微软雅黑" panose="020B0503020204020204" pitchFamily="34" charset="-122"/>
              </a:rPr>
              <a:t>Masked</a:t>
            </a:r>
            <a:r>
              <a:rPr kumimoji="1" lang="zh-CN" altLang="en-US" sz="2800" dirty="0">
                <a:solidFill>
                  <a:srgbClr val="002060"/>
                </a:solidFill>
                <a:latin typeface="微软雅黑" panose="020B0503020204020204" pitchFamily="34" charset="-122"/>
                <a:ea typeface="微软雅黑" panose="020B0503020204020204" pitchFamily="34" charset="-122"/>
              </a:rPr>
              <a:t> </a:t>
            </a:r>
            <a:r>
              <a:rPr kumimoji="1" lang="en-US" altLang="zh-CN" sz="2800" dirty="0">
                <a:solidFill>
                  <a:srgbClr val="002060"/>
                </a:solidFill>
                <a:latin typeface="微软雅黑" panose="020B0503020204020204" pitchFamily="34" charset="-122"/>
                <a:ea typeface="微软雅黑" panose="020B0503020204020204" pitchFamily="34" charset="-122"/>
              </a:rPr>
              <a:t>ROM</a:t>
            </a:r>
            <a:r>
              <a:rPr kumimoji="1" lang="zh-CN" altLang="en-US" sz="2800" dirty="0">
                <a:solidFill>
                  <a:srgbClr val="002060"/>
                </a:solidFill>
                <a:latin typeface="微软雅黑" panose="020B0503020204020204" pitchFamily="34" charset="-122"/>
                <a:ea typeface="微软雅黑" panose="020B0503020204020204" pitchFamily="34" charset="-122"/>
              </a:rPr>
              <a:t>，</a:t>
            </a:r>
            <a:r>
              <a:rPr kumimoji="1" lang="en-US" altLang="zh-CN" sz="2800" dirty="0">
                <a:solidFill>
                  <a:srgbClr val="002060"/>
                </a:solidFill>
                <a:latin typeface="微软雅黑" panose="020B0503020204020204" pitchFamily="34" charset="-122"/>
                <a:ea typeface="微软雅黑" panose="020B0503020204020204" pitchFamily="34" charset="-122"/>
              </a:rPr>
              <a:t>MROM</a:t>
            </a:r>
            <a:r>
              <a:rPr kumimoji="1" lang="zh-CN" altLang="en-US" sz="2800" dirty="0">
                <a:solidFill>
                  <a:srgbClr val="002060"/>
                </a:solidFill>
                <a:latin typeface="微软雅黑" panose="020B0503020204020204" pitchFamily="34" charset="-122"/>
                <a:ea typeface="微软雅黑" panose="020B0503020204020204" pitchFamily="34" charset="-122"/>
              </a:rPr>
              <a:t>）</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不可改写</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可编程存储器（</a:t>
            </a:r>
            <a:r>
              <a:rPr kumimoji="1" lang="en-US" altLang="zh-CN" sz="2800" dirty="0">
                <a:solidFill>
                  <a:srgbClr val="002060"/>
                </a:solidFill>
                <a:latin typeface="微软雅黑" panose="020B0503020204020204" pitchFamily="34" charset="-122"/>
                <a:ea typeface="微软雅黑" panose="020B0503020204020204" pitchFamily="34" charset="-122"/>
              </a:rPr>
              <a:t>Programmable</a:t>
            </a:r>
            <a:r>
              <a:rPr kumimoji="1" lang="zh-CN" altLang="en-US" sz="2800" dirty="0">
                <a:solidFill>
                  <a:srgbClr val="002060"/>
                </a:solidFill>
                <a:latin typeface="微软雅黑" panose="020B0503020204020204" pitchFamily="34" charset="-122"/>
                <a:ea typeface="微软雅黑" panose="020B0503020204020204" pitchFamily="34" charset="-122"/>
              </a:rPr>
              <a:t> </a:t>
            </a:r>
            <a:r>
              <a:rPr kumimoji="1" lang="en-US" altLang="zh-CN" sz="2800" dirty="0">
                <a:solidFill>
                  <a:srgbClr val="002060"/>
                </a:solidFill>
                <a:latin typeface="微软雅黑" panose="020B0503020204020204" pitchFamily="34" charset="-122"/>
                <a:ea typeface="微软雅黑" panose="020B0503020204020204" pitchFamily="34" charset="-122"/>
              </a:rPr>
              <a:t>ROM</a:t>
            </a:r>
            <a:r>
              <a:rPr kumimoji="1" lang="zh-CN" altLang="en-US" sz="2800" dirty="0">
                <a:solidFill>
                  <a:srgbClr val="002060"/>
                </a:solidFill>
                <a:latin typeface="微软雅黑" panose="020B0503020204020204" pitchFamily="34" charset="-122"/>
                <a:ea typeface="微软雅黑" panose="020B0503020204020204" pitchFamily="34" charset="-122"/>
              </a:rPr>
              <a:t>，</a:t>
            </a:r>
            <a:r>
              <a:rPr kumimoji="1" lang="en-US" altLang="zh-CN" sz="2800" dirty="0">
                <a:solidFill>
                  <a:srgbClr val="002060"/>
                </a:solidFill>
                <a:latin typeface="微软雅黑" panose="020B0503020204020204" pitchFamily="34" charset="-122"/>
                <a:ea typeface="微软雅黑" panose="020B0503020204020204" pitchFamily="34" charset="-122"/>
              </a:rPr>
              <a:t>PROM</a:t>
            </a:r>
            <a:r>
              <a:rPr kumimoji="1" lang="zh-CN" altLang="en-US" sz="2800" dirty="0">
                <a:solidFill>
                  <a:srgbClr val="002060"/>
                </a:solidFill>
                <a:latin typeface="微软雅黑" panose="020B0503020204020204" pitchFamily="34" charset="-122"/>
                <a:ea typeface="微软雅黑" panose="020B0503020204020204" pitchFamily="34" charset="-122"/>
              </a:rPr>
              <a:t>）</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一次性可编程</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ROM</a:t>
            </a: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光可擦除可编程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ROM</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Erasable PROM</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EPROM</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电可擦除可编程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ROM</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Electrical EPRM</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E</a:t>
            </a:r>
            <a:r>
              <a:rPr kumimoji="1" lang="en-US" altLang="zh-CN" sz="2400" baseline="30000" dirty="0">
                <a:solidFill>
                  <a:schemeClr val="accent5">
                    <a:lumMod val="75000"/>
                  </a:schemeClr>
                </a:solidFill>
                <a:latin typeface="微软雅黑" panose="020B0503020204020204" pitchFamily="34" charset="-122"/>
                <a:ea typeface="微软雅黑" panose="020B0503020204020204" pitchFamily="34" charset="-122"/>
              </a:rPr>
              <a:t>2</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PROM</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闪存存储器（</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Flash Memory</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，一种特殊的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E</a:t>
            </a:r>
            <a:r>
              <a:rPr kumimoji="1" lang="en-US" altLang="zh-CN" sz="2400" baseline="30000" dirty="0">
                <a:solidFill>
                  <a:schemeClr val="accent5">
                    <a:lumMod val="75000"/>
                  </a:schemeClr>
                </a:solidFill>
                <a:latin typeface="微软雅黑" panose="020B0503020204020204" pitchFamily="34" charset="-122"/>
                <a:ea typeface="微软雅黑" panose="020B0503020204020204" pitchFamily="34" charset="-122"/>
              </a:rPr>
              <a:t>2</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PROM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4" name="组合 3">
            <a:extLst>
              <a:ext uri="{FF2B5EF4-FFF2-40B4-BE49-F238E27FC236}">
                <a16:creationId xmlns:a16="http://schemas.microsoft.com/office/drawing/2014/main" id="{15EC25B1-2921-222E-EEDE-67CC1BADA6F0}"/>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9CB5C148-27ED-0934-0AED-0016B1FC36AD}"/>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D0534A37-E99C-3654-CE43-030574D76E26}"/>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26431992-2614-FDB6-D36B-E7CCBAA92B22}"/>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30C4FA15-8F79-322D-CFDF-23AF568051B2}"/>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5</a:t>
              </a:fld>
              <a:endParaRPr lang="zh-CN" altLang="en-US" sz="3200" dirty="0">
                <a:solidFill>
                  <a:schemeClr val="bg1"/>
                </a:solidFill>
                <a:latin typeface="Candara"/>
                <a:ea typeface="微软雅黑"/>
              </a:endParaRPr>
            </a:p>
          </p:txBody>
        </p:sp>
      </p:grpSp>
      <p:sp>
        <p:nvSpPr>
          <p:cNvPr id="10" name="AutoShape 5">
            <a:extLst>
              <a:ext uri="{FF2B5EF4-FFF2-40B4-BE49-F238E27FC236}">
                <a16:creationId xmlns:a16="http://schemas.microsoft.com/office/drawing/2014/main" id="{48471AE3-838E-E6FC-7341-CB6120ACE5D2}"/>
              </a:ext>
            </a:extLst>
          </p:cNvPr>
          <p:cNvSpPr>
            <a:spLocks/>
          </p:cNvSpPr>
          <p:nvPr/>
        </p:nvSpPr>
        <p:spPr bwMode="auto">
          <a:xfrm>
            <a:off x="9000000" y="1800000"/>
            <a:ext cx="431800" cy="1656000"/>
          </a:xfrm>
          <a:prstGeom prst="rightBrace">
            <a:avLst>
              <a:gd name="adj1" fmla="val 34743"/>
              <a:gd name="adj2" fmla="val 50000"/>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MS PGothic" panose="020B0600070205080204" pitchFamily="34" charset="-128"/>
                <a:cs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spcAft>
                <a:spcPct val="0"/>
              </a:spcAft>
              <a:buFontTx/>
              <a:buNone/>
            </a:pPr>
            <a:endParaRPr lang="zh-CN" altLang="en-US" b="0">
              <a:solidFill>
                <a:srgbClr val="0000FF"/>
              </a:solidFill>
              <a:latin typeface="微软雅黑" panose="020B0503020204020204" pitchFamily="34" charset="-122"/>
              <a:ea typeface="微软雅黑" panose="020B0503020204020204" pitchFamily="34" charset="-122"/>
            </a:endParaRPr>
          </a:p>
        </p:txBody>
      </p:sp>
      <p:sp>
        <p:nvSpPr>
          <p:cNvPr id="11" name="Text Box 6">
            <a:extLst>
              <a:ext uri="{FF2B5EF4-FFF2-40B4-BE49-F238E27FC236}">
                <a16:creationId xmlns:a16="http://schemas.microsoft.com/office/drawing/2014/main" id="{DA30A0D7-E85F-14CF-7D55-C14E83767EE4}"/>
              </a:ext>
            </a:extLst>
          </p:cNvPr>
          <p:cNvSpPr txBox="1">
            <a:spLocks noChangeArrowheads="1"/>
          </p:cNvSpPr>
          <p:nvPr/>
        </p:nvSpPr>
        <p:spPr bwMode="auto">
          <a:xfrm>
            <a:off x="9720000" y="2160000"/>
            <a:ext cx="898525" cy="945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MS PGothic" panose="020B0600070205080204" pitchFamily="34" charset="-128"/>
                <a:cs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spcAft>
                <a:spcPct val="0"/>
              </a:spcAft>
              <a:buFontTx/>
              <a:buNone/>
            </a:pPr>
            <a:r>
              <a:rPr lang="zh-CN" altLang="en-US" b="0" dirty="0">
                <a:solidFill>
                  <a:srgbClr val="0000FF"/>
                </a:solidFill>
                <a:latin typeface="微软雅黑" panose="020B0503020204020204" pitchFamily="34" charset="-122"/>
                <a:ea typeface="微软雅黑" panose="020B0503020204020204" pitchFamily="34" charset="-122"/>
              </a:rPr>
              <a:t>离线</a:t>
            </a:r>
          </a:p>
          <a:p>
            <a:pPr eaLnBrk="1" hangingPunct="1">
              <a:spcAft>
                <a:spcPct val="0"/>
              </a:spcAft>
              <a:buFontTx/>
              <a:buNone/>
            </a:pPr>
            <a:r>
              <a:rPr lang="zh-CN" altLang="en-US" b="0" dirty="0">
                <a:solidFill>
                  <a:srgbClr val="0000FF"/>
                </a:solidFill>
                <a:latin typeface="微软雅黑" panose="020B0503020204020204" pitchFamily="34" charset="-122"/>
                <a:ea typeface="微软雅黑" panose="020B0503020204020204" pitchFamily="34" charset="-122"/>
              </a:rPr>
              <a:t>编程</a:t>
            </a:r>
          </a:p>
        </p:txBody>
      </p:sp>
      <p:sp>
        <p:nvSpPr>
          <p:cNvPr id="13" name="Text Box 6">
            <a:extLst>
              <a:ext uri="{FF2B5EF4-FFF2-40B4-BE49-F238E27FC236}">
                <a16:creationId xmlns:a16="http://schemas.microsoft.com/office/drawing/2014/main" id="{60A9FB84-B05A-E7D3-72F4-C5BFEAED11C4}"/>
              </a:ext>
            </a:extLst>
          </p:cNvPr>
          <p:cNvSpPr txBox="1">
            <a:spLocks noChangeArrowheads="1"/>
          </p:cNvSpPr>
          <p:nvPr/>
        </p:nvSpPr>
        <p:spPr bwMode="auto">
          <a:xfrm>
            <a:off x="9720000" y="3888000"/>
            <a:ext cx="9000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MS PGothic" panose="020B0600070205080204" pitchFamily="34" charset="-128"/>
                <a:cs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spcAft>
                <a:spcPct val="0"/>
              </a:spcAft>
              <a:buFontTx/>
              <a:buNone/>
            </a:pPr>
            <a:r>
              <a:rPr lang="zh-CN" altLang="en-US" b="0" dirty="0">
                <a:solidFill>
                  <a:srgbClr val="0000FF"/>
                </a:solidFill>
                <a:latin typeface="微软雅黑" panose="020B0503020204020204" pitchFamily="34" charset="-122"/>
                <a:ea typeface="微软雅黑" panose="020B0503020204020204" pitchFamily="34" charset="-122"/>
              </a:rPr>
              <a:t>在线</a:t>
            </a:r>
          </a:p>
          <a:p>
            <a:pPr eaLnBrk="1" hangingPunct="1">
              <a:spcAft>
                <a:spcPct val="0"/>
              </a:spcAft>
              <a:buFontTx/>
              <a:buNone/>
            </a:pPr>
            <a:r>
              <a:rPr lang="zh-CN" altLang="en-US" b="0" dirty="0">
                <a:solidFill>
                  <a:srgbClr val="0000FF"/>
                </a:solidFill>
                <a:latin typeface="微软雅黑" panose="020B0503020204020204" pitchFamily="34" charset="-122"/>
                <a:ea typeface="微软雅黑" panose="020B0503020204020204" pitchFamily="34" charset="-122"/>
              </a:rPr>
              <a:t>编程</a:t>
            </a:r>
          </a:p>
        </p:txBody>
      </p:sp>
      <p:sp>
        <p:nvSpPr>
          <p:cNvPr id="9" name="标题 1">
            <a:extLst>
              <a:ext uri="{FF2B5EF4-FFF2-40B4-BE49-F238E27FC236}">
                <a16:creationId xmlns:a16="http://schemas.microsoft.com/office/drawing/2014/main" id="{830A019D-FA51-3BE9-261D-6FD0F59C3B74}"/>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半导体存储器 </a:t>
            </a:r>
            <a:r>
              <a:rPr lang="en-US" altLang="zh-CN" sz="3000" dirty="0"/>
              <a:t>—— </a:t>
            </a:r>
            <a:r>
              <a:rPr lang="zh-CN" altLang="en-US" sz="3000" dirty="0">
                <a:solidFill>
                  <a:srgbClr val="FFFF00"/>
                </a:solidFill>
              </a:rPr>
              <a:t>只读存储器（</a:t>
            </a:r>
            <a:r>
              <a:rPr lang="en-US" altLang="zh-CN" sz="3000" dirty="0">
                <a:solidFill>
                  <a:srgbClr val="FFFF00"/>
                </a:solidFill>
              </a:rPr>
              <a:t>ROM</a:t>
            </a:r>
            <a:r>
              <a:rPr lang="zh-CN" altLang="en-US" sz="3000" dirty="0">
                <a:solidFill>
                  <a:srgbClr val="FFFF00"/>
                </a:solidFill>
              </a:rPr>
              <a:t>）</a:t>
            </a:r>
            <a:endParaRPr lang="en-US" altLang="zh-CN" sz="3000" dirty="0"/>
          </a:p>
        </p:txBody>
      </p:sp>
      <p:sp>
        <p:nvSpPr>
          <p:cNvPr id="14" name="AutoShape 5">
            <a:extLst>
              <a:ext uri="{FF2B5EF4-FFF2-40B4-BE49-F238E27FC236}">
                <a16:creationId xmlns:a16="http://schemas.microsoft.com/office/drawing/2014/main" id="{D6A7943B-4DD0-75EA-8C41-B65C82BFF326}"/>
              </a:ext>
            </a:extLst>
          </p:cNvPr>
          <p:cNvSpPr>
            <a:spLocks/>
          </p:cNvSpPr>
          <p:nvPr/>
        </p:nvSpPr>
        <p:spPr bwMode="auto">
          <a:xfrm>
            <a:off x="9000000" y="3708000"/>
            <a:ext cx="431800" cy="1332000"/>
          </a:xfrm>
          <a:prstGeom prst="rightBrace">
            <a:avLst>
              <a:gd name="adj1" fmla="val 34743"/>
              <a:gd name="adj2" fmla="val 50000"/>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MS PGothic" panose="020B0600070205080204" pitchFamily="34" charset="-128"/>
                <a:cs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eaLnBrk="1" hangingPunct="1">
              <a:spcAft>
                <a:spcPct val="0"/>
              </a:spcAft>
              <a:buFontTx/>
              <a:buNone/>
            </a:pPr>
            <a:endParaRPr lang="zh-CN" altLang="en-US" b="0">
              <a:solidFill>
                <a:srgbClr val="0000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5633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randombar(horizont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randombar(horizontal)">
                                      <p:cBhvr>
                                        <p:cTn id="15" dur="500"/>
                                        <p:tgtEl>
                                          <p:spTgt spid="13"/>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randombar(horizontal)">
                                      <p:cBhvr>
                                        <p:cTn id="1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3" grpId="0"/>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C44E8-AED3-953F-93AB-7D395026D4E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3489A6E0-F69F-45E8-1E61-5589B3EFD050}"/>
                  </a:ext>
                </a:extLst>
              </p:cNvPr>
              <p:cNvSpPr txBox="1"/>
              <p:nvPr/>
            </p:nvSpPr>
            <p:spPr>
              <a:xfrm>
                <a:off x="360000" y="828000"/>
                <a:ext cx="5525097" cy="3234475"/>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只读存储器基本结构示意</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400" dirty="0">
                    <a:solidFill>
                      <a:srgbClr val="002060"/>
                    </a:solidFill>
                    <a:latin typeface="微软雅黑" panose="020B0503020204020204" pitchFamily="34" charset="-122"/>
                    <a:ea typeface="微软雅黑" panose="020B0503020204020204" pitchFamily="34" charset="-122"/>
                  </a:rPr>
                  <a:t>存储容量：</a:t>
                </a:r>
                <a:r>
                  <a:rPr kumimoji="1" lang="en-US" altLang="zh-CN" sz="2400" dirty="0">
                    <a:solidFill>
                      <a:srgbClr val="002060"/>
                    </a:solidFill>
                    <a:latin typeface="微软雅黑" panose="020B0503020204020204" pitchFamily="34" charset="-122"/>
                    <a:ea typeface="微软雅黑" panose="020B0503020204020204" pitchFamily="34" charset="-122"/>
                  </a:rPr>
                  <a:t>4 </a:t>
                </a:r>
                <a14:m>
                  <m:oMath xmlns:m="http://schemas.openxmlformats.org/officeDocument/2006/math">
                    <m:r>
                      <a:rPr kumimoji="1" lang="en-US" altLang="zh-CN" sz="2400" i="1">
                        <a:solidFill>
                          <a:srgbClr val="002060"/>
                        </a:solidFill>
                        <a:latin typeface="Cambria Math" panose="02040503050406030204" pitchFamily="18" charset="0"/>
                        <a:ea typeface="Cambria Math" panose="02040503050406030204" pitchFamily="18" charset="0"/>
                      </a:rPr>
                      <m:t>×</m:t>
                    </m:r>
                  </m:oMath>
                </a14:m>
                <a:r>
                  <a:rPr kumimoji="1" lang="zh-CN" altLang="en-US" sz="2400" dirty="0">
                    <a:solidFill>
                      <a:srgbClr val="002060"/>
                    </a:solidFill>
                    <a:latin typeface="微软雅黑" panose="020B0503020204020204" pitchFamily="34" charset="-122"/>
                    <a:ea typeface="微软雅黑" panose="020B0503020204020204" pitchFamily="34" charset="-122"/>
                  </a:rPr>
                  <a:t> </a:t>
                </a:r>
                <a:r>
                  <a:rPr kumimoji="1" lang="en-US" altLang="zh-CN" sz="2400" dirty="0">
                    <a:solidFill>
                      <a:srgbClr val="002060"/>
                    </a:solidFill>
                    <a:latin typeface="微软雅黑" panose="020B0503020204020204" pitchFamily="34" charset="-122"/>
                    <a:ea typeface="微软雅黑" panose="020B0503020204020204" pitchFamily="34" charset="-122"/>
                  </a:rPr>
                  <a:t>4 </a:t>
                </a:r>
                <a:r>
                  <a:rPr kumimoji="1" lang="zh-CN" altLang="en-US" sz="2400" dirty="0">
                    <a:solidFill>
                      <a:srgbClr val="002060"/>
                    </a:solidFill>
                    <a:latin typeface="微软雅黑" panose="020B0503020204020204" pitchFamily="34" charset="-122"/>
                    <a:ea typeface="微软雅黑" panose="020B0503020204020204" pitchFamily="34" charset="-122"/>
                  </a:rPr>
                  <a:t>（位）</a:t>
                </a:r>
                <a:endParaRPr kumimoji="1" lang="en-US" altLang="zh-CN" sz="24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2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位地址，</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4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个字，每字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4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位</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400" dirty="0">
                    <a:solidFill>
                      <a:srgbClr val="002060"/>
                    </a:solidFill>
                    <a:latin typeface="微软雅黑" panose="020B0503020204020204" pitchFamily="34" charset="-122"/>
                    <a:ea typeface="微软雅黑" panose="020B0503020204020204" pitchFamily="34" charset="-122"/>
                  </a:rPr>
                  <a:t>字线与位线的交点是一个存储单元</a:t>
                </a:r>
                <a:endParaRPr kumimoji="1" lang="en-US" altLang="zh-CN" sz="24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有二极管相当于存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1 </a:t>
                </a: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无二极管相当于存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0</a:t>
                </a:r>
              </a:p>
            </p:txBody>
          </p:sp>
        </mc:Choice>
        <mc:Fallback xmlns="">
          <p:sp>
            <p:nvSpPr>
              <p:cNvPr id="3" name="文本框 2">
                <a:extLst>
                  <a:ext uri="{FF2B5EF4-FFF2-40B4-BE49-F238E27FC236}">
                    <a16:creationId xmlns:a16="http://schemas.microsoft.com/office/drawing/2014/main" id="{3489A6E0-F69F-45E8-1E61-5589B3EFD050}"/>
                  </a:ext>
                </a:extLst>
              </p:cNvPr>
              <p:cNvSpPr txBox="1">
                <a:spLocks noRot="1" noChangeAspect="1" noMove="1" noResize="1" noEditPoints="1" noAdjustHandles="1" noChangeArrowheads="1" noChangeShapeType="1" noTextEdit="1"/>
              </p:cNvSpPr>
              <p:nvPr/>
            </p:nvSpPr>
            <p:spPr>
              <a:xfrm>
                <a:off x="360000" y="828000"/>
                <a:ext cx="5525097" cy="3234475"/>
              </a:xfrm>
              <a:prstGeom prst="rect">
                <a:avLst/>
              </a:prstGeom>
              <a:blipFill>
                <a:blip r:embed="rId11"/>
                <a:stretch>
                  <a:fillRect l="-2208" t="-755" b="-1698"/>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D986FD8B-3516-98A7-1293-D926D11F2771}"/>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8D65F76F-3E22-B5F5-A8BF-BD2F55FB0548}"/>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2C022C5C-ACB4-066D-8FEE-306FB83D2DD9}"/>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AB5240F4-2B42-31AE-1FF7-508C6D194601}"/>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885C5697-5914-3202-749B-C0D343755AAD}"/>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6</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graphicFrame>
            <p:nvGraphicFramePr>
              <p:cNvPr id="11" name="表格 10">
                <a:extLst>
                  <a:ext uri="{FF2B5EF4-FFF2-40B4-BE49-F238E27FC236}">
                    <a16:creationId xmlns:a16="http://schemas.microsoft.com/office/drawing/2014/main" id="{03455B40-A887-11B0-71C5-031B6AE364AD}"/>
                  </a:ext>
                </a:extLst>
              </p:cNvPr>
              <p:cNvGraphicFramePr>
                <a:graphicFrameLocks noGrp="1"/>
              </p:cNvGraphicFramePr>
              <p:nvPr>
                <p:extLst>
                  <p:ext uri="{D42A27DB-BD31-4B8C-83A1-F6EECF244321}">
                    <p14:modId xmlns:p14="http://schemas.microsoft.com/office/powerpoint/2010/main" val="249047738"/>
                  </p:ext>
                </p:extLst>
              </p:nvPr>
            </p:nvGraphicFramePr>
            <p:xfrm>
              <a:off x="1080000" y="4536000"/>
              <a:ext cx="4075043" cy="1981200"/>
            </p:xfrm>
            <a:graphic>
              <a:graphicData uri="http://schemas.openxmlformats.org/drawingml/2006/table">
                <a:tbl>
                  <a:tblPr firstRow="1" bandRow="1">
                    <a:tableStyleId>{5940675A-B579-460E-94D1-54222C63F5DA}</a:tableStyleId>
                  </a:tblPr>
                  <a:tblGrid>
                    <a:gridCol w="1609987">
                      <a:extLst>
                        <a:ext uri="{9D8B030D-6E8A-4147-A177-3AD203B41FA5}">
                          <a16:colId xmlns:a16="http://schemas.microsoft.com/office/drawing/2014/main" val="3258845932"/>
                        </a:ext>
                      </a:extLst>
                    </a:gridCol>
                    <a:gridCol w="2465056">
                      <a:extLst>
                        <a:ext uri="{9D8B030D-6E8A-4147-A177-3AD203B41FA5}">
                          <a16:colId xmlns:a16="http://schemas.microsoft.com/office/drawing/2014/main" val="1678563562"/>
                        </a:ext>
                      </a:extLst>
                    </a:gridCol>
                  </a:tblGrid>
                  <a:tr h="356446">
                    <a:tc>
                      <a:txBody>
                        <a:bodyPr/>
                        <a:lstStyle/>
                        <a:p>
                          <a:pPr algn="ctr"/>
                          <a:r>
                            <a:rPr lang="zh-CN" altLang="en-US" sz="2000" dirty="0">
                              <a:latin typeface="微软雅黑" panose="020B0503020204020204" pitchFamily="34" charset="-122"/>
                              <a:ea typeface="微软雅黑" panose="020B0503020204020204" pitchFamily="34" charset="-122"/>
                            </a:rPr>
                            <a:t>地址 </a:t>
                          </a:r>
                          <a14:m>
                            <m:oMath xmlns:m="http://schemas.openxmlformats.org/officeDocument/2006/math">
                              <m:sSub>
                                <m:sSubPr>
                                  <m:ctrlPr>
                                    <a:rPr lang="en-US" altLang="zh-CN" sz="2000" i="1" smtClean="0">
                                      <a:solidFill>
                                        <a:schemeClr val="accent5">
                                          <a:lumMod val="75000"/>
                                        </a:schemeClr>
                                      </a:solidFill>
                                      <a:latin typeface="Cambria Math" panose="02040503050406030204" pitchFamily="18" charset="0"/>
                                    </a:rPr>
                                  </m:ctrlPr>
                                </m:sSubPr>
                                <m:e>
                                  <m:r>
                                    <m:rPr>
                                      <m:sty m:val="p"/>
                                    </m:rPr>
                                    <a:rPr lang="en-US" altLang="zh-CN" sz="2000" b="0" i="0" smtClean="0">
                                      <a:solidFill>
                                        <a:schemeClr val="accent5">
                                          <a:lumMod val="75000"/>
                                        </a:schemeClr>
                                      </a:solidFill>
                                      <a:latin typeface="Cambria Math" panose="02040503050406030204" pitchFamily="18" charset="0"/>
                                    </a:rPr>
                                    <m:t>A</m:t>
                                  </m:r>
                                </m:e>
                                <m:sub>
                                  <m:r>
                                    <a:rPr lang="en-US" altLang="zh-CN" sz="2000" b="0" i="1" smtClean="0">
                                      <a:solidFill>
                                        <a:schemeClr val="accent5">
                                          <a:lumMod val="75000"/>
                                        </a:schemeClr>
                                      </a:solidFill>
                                      <a:latin typeface="Cambria Math" panose="02040503050406030204" pitchFamily="18" charset="0"/>
                                    </a:rPr>
                                    <m:t>1</m:t>
                                  </m:r>
                                </m:sub>
                              </m:sSub>
                              <m:sSub>
                                <m:sSubPr>
                                  <m:ctrlPr>
                                    <a:rPr lang="en-US" altLang="zh-CN" sz="2000" i="1" smtClean="0">
                                      <a:solidFill>
                                        <a:schemeClr val="accent5">
                                          <a:lumMod val="75000"/>
                                        </a:schemeClr>
                                      </a:solidFill>
                                      <a:latin typeface="Cambria Math" panose="02040503050406030204" pitchFamily="18" charset="0"/>
                                    </a:rPr>
                                  </m:ctrlPr>
                                </m:sSubPr>
                                <m:e>
                                  <m:r>
                                    <m:rPr>
                                      <m:sty m:val="p"/>
                                    </m:rPr>
                                    <a:rPr lang="en-US" altLang="zh-CN" sz="2000" b="0" i="0" smtClean="0">
                                      <a:solidFill>
                                        <a:schemeClr val="accent5">
                                          <a:lumMod val="75000"/>
                                        </a:schemeClr>
                                      </a:solidFill>
                                      <a:latin typeface="Cambria Math" panose="02040503050406030204" pitchFamily="18" charset="0"/>
                                    </a:rPr>
                                    <m:t>A</m:t>
                                  </m:r>
                                </m:e>
                                <m:sub>
                                  <m:r>
                                    <a:rPr lang="en-US" altLang="zh-CN" sz="2000" b="0" i="1" smtClean="0">
                                      <a:solidFill>
                                        <a:schemeClr val="accent5">
                                          <a:lumMod val="75000"/>
                                        </a:schemeClr>
                                      </a:solidFill>
                                      <a:latin typeface="Cambria Math" panose="02040503050406030204" pitchFamily="18" charset="0"/>
                                    </a:rPr>
                                    <m:t>0</m:t>
                                  </m:r>
                                </m:sub>
                              </m:sSub>
                            </m:oMath>
                          </a14:m>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内容 </a:t>
                          </a:r>
                          <a14:m>
                            <m:oMath xmlns:m="http://schemas.openxmlformats.org/officeDocument/2006/math">
                              <m:sSub>
                                <m:sSubPr>
                                  <m:ctrlPr>
                                    <a:rPr lang="en-US" altLang="zh-CN" sz="2000" i="1" smtClean="0">
                                      <a:solidFill>
                                        <a:schemeClr val="accent5">
                                          <a:lumMod val="75000"/>
                                        </a:schemeClr>
                                      </a:solidFill>
                                      <a:latin typeface="Cambria Math" panose="02040503050406030204" pitchFamily="18" charset="0"/>
                                    </a:rPr>
                                  </m:ctrlPr>
                                </m:sSubPr>
                                <m:e>
                                  <m:r>
                                    <m:rPr>
                                      <m:sty m:val="p"/>
                                    </m:rPr>
                                    <a:rPr lang="en-US" altLang="zh-CN" sz="2000" b="0" i="0" smtClean="0">
                                      <a:solidFill>
                                        <a:schemeClr val="accent5">
                                          <a:lumMod val="75000"/>
                                        </a:schemeClr>
                                      </a:solidFill>
                                      <a:latin typeface="Cambria Math" panose="02040503050406030204" pitchFamily="18" charset="0"/>
                                    </a:rPr>
                                    <m:t>D</m:t>
                                  </m:r>
                                </m:e>
                                <m:sub>
                                  <m:r>
                                    <a:rPr lang="en-US" altLang="zh-CN" sz="2000" b="0" i="1" smtClean="0">
                                      <a:solidFill>
                                        <a:schemeClr val="accent5">
                                          <a:lumMod val="75000"/>
                                        </a:schemeClr>
                                      </a:solidFill>
                                      <a:latin typeface="Cambria Math" panose="02040503050406030204" pitchFamily="18" charset="0"/>
                                    </a:rPr>
                                    <m:t>3</m:t>
                                  </m:r>
                                </m:sub>
                              </m:sSub>
                              <m:sSub>
                                <m:sSubPr>
                                  <m:ctrlPr>
                                    <a:rPr lang="en-US" altLang="zh-CN" sz="2000" i="1" smtClean="0">
                                      <a:solidFill>
                                        <a:schemeClr val="accent5">
                                          <a:lumMod val="75000"/>
                                        </a:schemeClr>
                                      </a:solidFill>
                                      <a:latin typeface="Cambria Math" panose="02040503050406030204" pitchFamily="18" charset="0"/>
                                    </a:rPr>
                                  </m:ctrlPr>
                                </m:sSubPr>
                                <m:e>
                                  <m:r>
                                    <m:rPr>
                                      <m:sty m:val="p"/>
                                    </m:rPr>
                                    <a:rPr lang="en-US" altLang="zh-CN" sz="2000" b="0" i="0" smtClean="0">
                                      <a:solidFill>
                                        <a:schemeClr val="accent5">
                                          <a:lumMod val="75000"/>
                                        </a:schemeClr>
                                      </a:solidFill>
                                      <a:latin typeface="Cambria Math" panose="02040503050406030204" pitchFamily="18" charset="0"/>
                                    </a:rPr>
                                    <m:t>D</m:t>
                                  </m:r>
                                </m:e>
                                <m:sub>
                                  <m:r>
                                    <a:rPr lang="en-US" altLang="zh-CN" sz="2000" b="0" i="1" smtClean="0">
                                      <a:solidFill>
                                        <a:schemeClr val="accent5">
                                          <a:lumMod val="75000"/>
                                        </a:schemeClr>
                                      </a:solidFill>
                                      <a:latin typeface="Cambria Math" panose="02040503050406030204" pitchFamily="18" charset="0"/>
                                    </a:rPr>
                                    <m:t>2</m:t>
                                  </m:r>
                                </m:sub>
                              </m:sSub>
                              <m:sSub>
                                <m:sSubPr>
                                  <m:ctrlPr>
                                    <a:rPr lang="en-US" altLang="zh-CN" sz="2000" i="1" smtClean="0">
                                      <a:solidFill>
                                        <a:schemeClr val="accent5">
                                          <a:lumMod val="75000"/>
                                        </a:schemeClr>
                                      </a:solidFill>
                                      <a:latin typeface="Cambria Math" panose="02040503050406030204" pitchFamily="18" charset="0"/>
                                    </a:rPr>
                                  </m:ctrlPr>
                                </m:sSubPr>
                                <m:e>
                                  <m:r>
                                    <m:rPr>
                                      <m:sty m:val="p"/>
                                    </m:rPr>
                                    <a:rPr lang="en-US" altLang="zh-CN" sz="2000" b="0" i="0" smtClean="0">
                                      <a:solidFill>
                                        <a:schemeClr val="accent5">
                                          <a:lumMod val="75000"/>
                                        </a:schemeClr>
                                      </a:solidFill>
                                      <a:latin typeface="Cambria Math" panose="02040503050406030204" pitchFamily="18" charset="0"/>
                                    </a:rPr>
                                    <m:t>D</m:t>
                                  </m:r>
                                </m:e>
                                <m:sub>
                                  <m:r>
                                    <a:rPr lang="en-US" altLang="zh-CN" sz="2000" b="0" i="1" smtClean="0">
                                      <a:solidFill>
                                        <a:schemeClr val="accent5">
                                          <a:lumMod val="75000"/>
                                        </a:schemeClr>
                                      </a:solidFill>
                                      <a:latin typeface="Cambria Math" panose="02040503050406030204" pitchFamily="18" charset="0"/>
                                    </a:rPr>
                                    <m:t>1</m:t>
                                  </m:r>
                                </m:sub>
                              </m:sSub>
                              <m:sSub>
                                <m:sSubPr>
                                  <m:ctrlPr>
                                    <a:rPr lang="en-US" altLang="zh-CN" sz="2000" i="1" smtClean="0">
                                      <a:solidFill>
                                        <a:schemeClr val="accent5">
                                          <a:lumMod val="75000"/>
                                        </a:schemeClr>
                                      </a:solidFill>
                                      <a:latin typeface="Cambria Math" panose="02040503050406030204" pitchFamily="18" charset="0"/>
                                    </a:rPr>
                                  </m:ctrlPr>
                                </m:sSubPr>
                                <m:e>
                                  <m:r>
                                    <m:rPr>
                                      <m:sty m:val="p"/>
                                    </m:rPr>
                                    <a:rPr lang="en-US" altLang="zh-CN" sz="2000" b="0" i="0" smtClean="0">
                                      <a:solidFill>
                                        <a:schemeClr val="accent5">
                                          <a:lumMod val="75000"/>
                                        </a:schemeClr>
                                      </a:solidFill>
                                      <a:latin typeface="Cambria Math" panose="02040503050406030204" pitchFamily="18" charset="0"/>
                                    </a:rPr>
                                    <m:t>D</m:t>
                                  </m:r>
                                </m:e>
                                <m:sub>
                                  <m:r>
                                    <a:rPr lang="en-US" altLang="zh-CN" sz="2000" b="0" i="1" smtClean="0">
                                      <a:solidFill>
                                        <a:schemeClr val="accent5">
                                          <a:lumMod val="75000"/>
                                        </a:schemeClr>
                                      </a:solidFill>
                                      <a:latin typeface="Cambria Math" panose="02040503050406030204" pitchFamily="18" charset="0"/>
                                    </a:rPr>
                                    <m:t>0</m:t>
                                  </m:r>
                                </m:sub>
                              </m:sSub>
                            </m:oMath>
                          </a14:m>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596480811"/>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1    0    1    1</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8757871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1    1    0    1</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71872421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0    1    0    0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922556004"/>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1      1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1    1    1    0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138773587"/>
                      </a:ext>
                    </a:extLst>
                  </a:tr>
                </a:tbl>
              </a:graphicData>
            </a:graphic>
          </p:graphicFrame>
        </mc:Choice>
        <mc:Fallback xmlns="">
          <p:graphicFrame>
            <p:nvGraphicFramePr>
              <p:cNvPr id="11" name="表格 10">
                <a:extLst>
                  <a:ext uri="{FF2B5EF4-FFF2-40B4-BE49-F238E27FC236}">
                    <a16:creationId xmlns:a16="http://schemas.microsoft.com/office/drawing/2014/main" id="{03455B40-A887-11B0-71C5-031B6AE364AD}"/>
                  </a:ext>
                </a:extLst>
              </p:cNvPr>
              <p:cNvGraphicFramePr>
                <a:graphicFrameLocks noGrp="1"/>
              </p:cNvGraphicFramePr>
              <p:nvPr>
                <p:extLst>
                  <p:ext uri="{D42A27DB-BD31-4B8C-83A1-F6EECF244321}">
                    <p14:modId xmlns:p14="http://schemas.microsoft.com/office/powerpoint/2010/main" val="249047738"/>
                  </p:ext>
                </p:extLst>
              </p:nvPr>
            </p:nvGraphicFramePr>
            <p:xfrm>
              <a:off x="1080000" y="4536000"/>
              <a:ext cx="4075043" cy="1981200"/>
            </p:xfrm>
            <a:graphic>
              <a:graphicData uri="http://schemas.openxmlformats.org/drawingml/2006/table">
                <a:tbl>
                  <a:tblPr firstRow="1" bandRow="1">
                    <a:tableStyleId>{5940675A-B579-460E-94D1-54222C63F5DA}</a:tableStyleId>
                  </a:tblPr>
                  <a:tblGrid>
                    <a:gridCol w="1609987">
                      <a:extLst>
                        <a:ext uri="{9D8B030D-6E8A-4147-A177-3AD203B41FA5}">
                          <a16:colId xmlns:a16="http://schemas.microsoft.com/office/drawing/2014/main" val="3258845932"/>
                        </a:ext>
                      </a:extLst>
                    </a:gridCol>
                    <a:gridCol w="2465056">
                      <a:extLst>
                        <a:ext uri="{9D8B030D-6E8A-4147-A177-3AD203B41FA5}">
                          <a16:colId xmlns:a16="http://schemas.microsoft.com/office/drawing/2014/main" val="1678563562"/>
                        </a:ext>
                      </a:extLst>
                    </a:gridCol>
                  </a:tblGrid>
                  <a:tr h="396240">
                    <a:tc>
                      <a:txBody>
                        <a:bodyPr/>
                        <a:lstStyle/>
                        <a:p>
                          <a:endParaRPr lang="zh-CN"/>
                        </a:p>
                      </a:txBody>
                      <a:tcPr anchor="ctr">
                        <a:blipFill>
                          <a:blip r:embed="rId26"/>
                          <a:stretch>
                            <a:fillRect l="-379" t="-7692" r="-154167" b="-427692"/>
                          </a:stretch>
                        </a:blipFill>
                      </a:tcPr>
                    </a:tc>
                    <a:tc>
                      <a:txBody>
                        <a:bodyPr/>
                        <a:lstStyle/>
                        <a:p>
                          <a:endParaRPr lang="zh-CN"/>
                        </a:p>
                      </a:txBody>
                      <a:tcPr anchor="ctr">
                        <a:blipFill>
                          <a:blip r:embed="rId26"/>
                          <a:stretch>
                            <a:fillRect l="-65432" t="-7692" r="-494" b="-427692"/>
                          </a:stretch>
                        </a:blipFill>
                      </a:tcPr>
                    </a:tc>
                    <a:extLst>
                      <a:ext uri="{0D108BD9-81ED-4DB2-BD59-A6C34878D82A}">
                        <a16:rowId xmlns:a16="http://schemas.microsoft.com/office/drawing/2014/main" val="1596480811"/>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1    0    1    1</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875787152"/>
                      </a:ext>
                    </a:extLst>
                  </a:tr>
                  <a:tr h="3962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1    1    0    1</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718724215"/>
                      </a:ext>
                    </a:extLst>
                  </a:tr>
                  <a:tr h="3962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0    1    0    0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922556004"/>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1      1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1    1    1    0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138773587"/>
                      </a:ext>
                    </a:extLst>
                  </a:tr>
                </a:tbl>
              </a:graphicData>
            </a:graphic>
          </p:graphicFrame>
        </mc:Fallback>
      </mc:AlternateContent>
      <p:sp>
        <p:nvSpPr>
          <p:cNvPr id="13" name="文本框 12">
            <a:extLst>
              <a:ext uri="{FF2B5EF4-FFF2-40B4-BE49-F238E27FC236}">
                <a16:creationId xmlns:a16="http://schemas.microsoft.com/office/drawing/2014/main" id="{585C436A-CDFE-DB28-C043-AA0FFFD3CE81}"/>
              </a:ext>
            </a:extLst>
          </p:cNvPr>
          <p:cNvSpPr txBox="1"/>
          <p:nvPr/>
        </p:nvSpPr>
        <p:spPr>
          <a:xfrm>
            <a:off x="1080000" y="4068000"/>
            <a:ext cx="4075043" cy="461665"/>
          </a:xfrm>
          <a:prstGeom prst="rect">
            <a:avLst/>
          </a:prstGeom>
          <a:noFill/>
        </p:spPr>
        <p:txBody>
          <a:bodyPr wrap="square">
            <a:spAutoFit/>
          </a:bodyPr>
          <a:lstStyle/>
          <a:p>
            <a:pPr algn="ctr"/>
            <a:r>
              <a:rPr kumimoji="1" lang="zh-CN" altLang="en-US" sz="2400" dirty="0">
                <a:solidFill>
                  <a:srgbClr val="002060"/>
                </a:solidFill>
                <a:latin typeface="微软雅黑" panose="020B0503020204020204" pitchFamily="34" charset="-122"/>
                <a:ea typeface="微软雅黑" panose="020B0503020204020204" pitchFamily="34" charset="-122"/>
              </a:rPr>
              <a:t>存储的内容</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
        <p:nvSpPr>
          <p:cNvPr id="10" name="标题 1">
            <a:extLst>
              <a:ext uri="{FF2B5EF4-FFF2-40B4-BE49-F238E27FC236}">
                <a16:creationId xmlns:a16="http://schemas.microsoft.com/office/drawing/2014/main" id="{AFFFDACD-9FC5-7E0D-8DDF-3D8AC02E37B9}"/>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半导体存储器 </a:t>
            </a:r>
            <a:r>
              <a:rPr lang="en-US" altLang="zh-CN" sz="3000" dirty="0"/>
              <a:t>—— </a:t>
            </a:r>
            <a:r>
              <a:rPr lang="zh-CN" altLang="en-US" sz="3000" dirty="0">
                <a:solidFill>
                  <a:srgbClr val="FFFF00"/>
                </a:solidFill>
              </a:rPr>
              <a:t>只读存储器（</a:t>
            </a:r>
            <a:r>
              <a:rPr lang="en-US" altLang="zh-CN" sz="3000" dirty="0">
                <a:solidFill>
                  <a:srgbClr val="FFFF00"/>
                </a:solidFill>
              </a:rPr>
              <a:t>ROM</a:t>
            </a:r>
            <a:r>
              <a:rPr lang="zh-CN" altLang="en-US" sz="3000" dirty="0">
                <a:solidFill>
                  <a:srgbClr val="FFFF00"/>
                </a:solidFill>
              </a:rPr>
              <a:t>）</a:t>
            </a:r>
            <a:endParaRPr lang="en-US" altLang="zh-CN" sz="3000" dirty="0"/>
          </a:p>
        </p:txBody>
      </p:sp>
      <p:grpSp>
        <p:nvGrpSpPr>
          <p:cNvPr id="12" name="组合 11">
            <a:extLst>
              <a:ext uri="{FF2B5EF4-FFF2-40B4-BE49-F238E27FC236}">
                <a16:creationId xmlns:a16="http://schemas.microsoft.com/office/drawing/2014/main" id="{FE049EA8-BBB7-44D9-B551-058CDCAFAD1B}"/>
              </a:ext>
            </a:extLst>
          </p:cNvPr>
          <p:cNvGrpSpPr/>
          <p:nvPr/>
        </p:nvGrpSpPr>
        <p:grpSpPr>
          <a:xfrm>
            <a:off x="5760000" y="648000"/>
            <a:ext cx="6300000" cy="5688000"/>
            <a:chOff x="5760000" y="648000"/>
            <a:chExt cx="6300000" cy="5688000"/>
          </a:xfrm>
        </p:grpSpPr>
        <mc:AlternateContent xmlns:mc="http://schemas.openxmlformats.org/markup-compatibility/2006" xmlns:a14="http://schemas.microsoft.com/office/drawing/2010/main">
          <mc:Choice Requires="a14">
            <p:sp>
              <p:nvSpPr>
                <p:cNvPr id="261" name="文本框 260">
                  <a:extLst>
                    <a:ext uri="{FF2B5EF4-FFF2-40B4-BE49-F238E27FC236}">
                      <a16:creationId xmlns:a16="http://schemas.microsoft.com/office/drawing/2014/main" id="{536070F5-EC29-D69A-20A6-8EC1CC48EB0A}"/>
                    </a:ext>
                  </a:extLst>
                </p:cNvPr>
                <p:cNvSpPr txBox="1"/>
                <p:nvPr/>
              </p:nvSpPr>
              <p:spPr>
                <a:xfrm>
                  <a:off x="7236000" y="2412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Y</m:t>
                            </m:r>
                          </m:e>
                          <m:sub>
                            <m:r>
                              <a:rPr lang="en-US" altLang="zh-CN" sz="2400" b="0" i="1" smtClean="0">
                                <a:solidFill>
                                  <a:schemeClr val="tx1"/>
                                </a:solidFill>
                                <a:latin typeface="Cambria Math" panose="02040503050406030204" pitchFamily="18" charset="0"/>
                              </a:rPr>
                              <m:t>0</m:t>
                            </m:r>
                          </m:sub>
                        </m:sSub>
                      </m:oMath>
                    </m:oMathPara>
                  </a14:m>
                  <a:endParaRPr lang="zh-CN" altLang="en-US" sz="2400" dirty="0">
                    <a:solidFill>
                      <a:schemeClr val="tx1"/>
                    </a:solidFill>
                  </a:endParaRPr>
                </a:p>
              </p:txBody>
            </p:sp>
          </mc:Choice>
          <mc:Fallback xmlns="">
            <p:sp>
              <p:nvSpPr>
                <p:cNvPr id="261" name="文本框 260">
                  <a:extLst>
                    <a:ext uri="{FF2B5EF4-FFF2-40B4-BE49-F238E27FC236}">
                      <a16:creationId xmlns:a16="http://schemas.microsoft.com/office/drawing/2014/main" id="{536070F5-EC29-D69A-20A6-8EC1CC48EB0A}"/>
                    </a:ext>
                  </a:extLst>
                </p:cNvPr>
                <p:cNvSpPr txBox="1">
                  <a:spLocks noRot="1" noChangeAspect="1" noMove="1" noResize="1" noEditPoints="1" noAdjustHandles="1" noChangeArrowheads="1" noChangeShapeType="1" noTextEdit="1"/>
                </p:cNvSpPr>
                <p:nvPr/>
              </p:nvSpPr>
              <p:spPr>
                <a:xfrm>
                  <a:off x="7236000" y="2412000"/>
                  <a:ext cx="538560" cy="360000"/>
                </a:xfrm>
                <a:prstGeom prst="rect">
                  <a:avLst/>
                </a:prstGeom>
                <a:blipFill>
                  <a:blip r:embed="rId27"/>
                  <a:stretch>
                    <a:fillRect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2" name="文本框 261">
                  <a:extLst>
                    <a:ext uri="{FF2B5EF4-FFF2-40B4-BE49-F238E27FC236}">
                      <a16:creationId xmlns:a16="http://schemas.microsoft.com/office/drawing/2014/main" id="{D6B1FAA0-070C-9022-5BA1-AA592AB63316}"/>
                    </a:ext>
                  </a:extLst>
                </p:cNvPr>
                <p:cNvSpPr txBox="1"/>
                <p:nvPr/>
              </p:nvSpPr>
              <p:spPr>
                <a:xfrm>
                  <a:off x="7236000" y="3060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a:latin typeface="Cambria Math" panose="02040503050406030204" pitchFamily="18" charset="0"/>
                              </a:rPr>
                              <m:t>Y</m:t>
                            </m:r>
                          </m:e>
                          <m:sub>
                            <m:r>
                              <a:rPr lang="en-US" altLang="zh-CN" sz="2400" b="0" i="1" smtClean="0">
                                <a:solidFill>
                                  <a:schemeClr val="tx1"/>
                                </a:solidFill>
                                <a:latin typeface="Cambria Math" panose="02040503050406030204" pitchFamily="18" charset="0"/>
                              </a:rPr>
                              <m:t>1</m:t>
                            </m:r>
                          </m:sub>
                        </m:sSub>
                      </m:oMath>
                    </m:oMathPara>
                  </a14:m>
                  <a:endParaRPr lang="zh-CN" altLang="en-US" sz="2400" dirty="0">
                    <a:solidFill>
                      <a:schemeClr val="tx1"/>
                    </a:solidFill>
                  </a:endParaRPr>
                </a:p>
              </p:txBody>
            </p:sp>
          </mc:Choice>
          <mc:Fallback xmlns="">
            <p:sp>
              <p:nvSpPr>
                <p:cNvPr id="262" name="文本框 261">
                  <a:extLst>
                    <a:ext uri="{FF2B5EF4-FFF2-40B4-BE49-F238E27FC236}">
                      <a16:creationId xmlns:a16="http://schemas.microsoft.com/office/drawing/2014/main" id="{D6B1FAA0-070C-9022-5BA1-AA592AB63316}"/>
                    </a:ext>
                  </a:extLst>
                </p:cNvPr>
                <p:cNvSpPr txBox="1">
                  <a:spLocks noRot="1" noChangeAspect="1" noMove="1" noResize="1" noEditPoints="1" noAdjustHandles="1" noChangeArrowheads="1" noChangeShapeType="1" noTextEdit="1"/>
                </p:cNvSpPr>
                <p:nvPr/>
              </p:nvSpPr>
              <p:spPr>
                <a:xfrm>
                  <a:off x="7236000" y="3060000"/>
                  <a:ext cx="538560" cy="360000"/>
                </a:xfrm>
                <a:prstGeom prst="rect">
                  <a:avLst/>
                </a:prstGeom>
                <a:blipFill>
                  <a:blip r:embed="rId28"/>
                  <a:stretch>
                    <a:fillRect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3" name="文本框 262">
                  <a:extLst>
                    <a:ext uri="{FF2B5EF4-FFF2-40B4-BE49-F238E27FC236}">
                      <a16:creationId xmlns:a16="http://schemas.microsoft.com/office/drawing/2014/main" id="{76410322-781B-9E68-E543-508DB8CE29C6}"/>
                    </a:ext>
                  </a:extLst>
                </p:cNvPr>
                <p:cNvSpPr txBox="1"/>
                <p:nvPr/>
              </p:nvSpPr>
              <p:spPr>
                <a:xfrm>
                  <a:off x="7236000" y="3708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a:latin typeface="Cambria Math" panose="02040503050406030204" pitchFamily="18" charset="0"/>
                              </a:rPr>
                              <m:t>Y</m:t>
                            </m:r>
                          </m:e>
                          <m:sub>
                            <m:r>
                              <a:rPr lang="en-US" altLang="zh-CN" sz="2400" b="0" i="1" smtClean="0">
                                <a:solidFill>
                                  <a:schemeClr val="tx1"/>
                                </a:solidFill>
                                <a:latin typeface="Cambria Math" panose="02040503050406030204" pitchFamily="18" charset="0"/>
                              </a:rPr>
                              <m:t>2</m:t>
                            </m:r>
                          </m:sub>
                        </m:sSub>
                      </m:oMath>
                    </m:oMathPara>
                  </a14:m>
                  <a:endParaRPr lang="zh-CN" altLang="en-US" sz="2400" dirty="0">
                    <a:solidFill>
                      <a:schemeClr val="tx1"/>
                    </a:solidFill>
                  </a:endParaRPr>
                </a:p>
              </p:txBody>
            </p:sp>
          </mc:Choice>
          <mc:Fallback xmlns="">
            <p:sp>
              <p:nvSpPr>
                <p:cNvPr id="263" name="文本框 262">
                  <a:extLst>
                    <a:ext uri="{FF2B5EF4-FFF2-40B4-BE49-F238E27FC236}">
                      <a16:creationId xmlns:a16="http://schemas.microsoft.com/office/drawing/2014/main" id="{76410322-781B-9E68-E543-508DB8CE29C6}"/>
                    </a:ext>
                  </a:extLst>
                </p:cNvPr>
                <p:cNvSpPr txBox="1">
                  <a:spLocks noRot="1" noChangeAspect="1" noMove="1" noResize="1" noEditPoints="1" noAdjustHandles="1" noChangeArrowheads="1" noChangeShapeType="1" noTextEdit="1"/>
                </p:cNvSpPr>
                <p:nvPr/>
              </p:nvSpPr>
              <p:spPr>
                <a:xfrm>
                  <a:off x="7236000" y="3708000"/>
                  <a:ext cx="538560" cy="360000"/>
                </a:xfrm>
                <a:prstGeom prst="rect">
                  <a:avLst/>
                </a:prstGeom>
                <a:blipFill>
                  <a:blip r:embed="rId29"/>
                  <a:stretch>
                    <a:fillRect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4" name="文本框 263">
                  <a:extLst>
                    <a:ext uri="{FF2B5EF4-FFF2-40B4-BE49-F238E27FC236}">
                      <a16:creationId xmlns:a16="http://schemas.microsoft.com/office/drawing/2014/main" id="{2FB94FEA-95B1-C949-0DEC-01D573E0E473}"/>
                    </a:ext>
                  </a:extLst>
                </p:cNvPr>
                <p:cNvSpPr txBox="1"/>
                <p:nvPr/>
              </p:nvSpPr>
              <p:spPr>
                <a:xfrm>
                  <a:off x="7236000" y="4356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a:latin typeface="Cambria Math" panose="02040503050406030204" pitchFamily="18" charset="0"/>
                              </a:rPr>
                              <m:t>Y</m:t>
                            </m:r>
                          </m:e>
                          <m:sub>
                            <m:r>
                              <a:rPr lang="en-US" altLang="zh-CN" sz="2400" b="0" i="1" smtClean="0">
                                <a:solidFill>
                                  <a:schemeClr val="tx1"/>
                                </a:solidFill>
                                <a:latin typeface="Cambria Math" panose="02040503050406030204" pitchFamily="18" charset="0"/>
                              </a:rPr>
                              <m:t>3</m:t>
                            </m:r>
                          </m:sub>
                        </m:sSub>
                      </m:oMath>
                    </m:oMathPara>
                  </a14:m>
                  <a:endParaRPr lang="zh-CN" altLang="en-US" sz="2400" dirty="0">
                    <a:solidFill>
                      <a:schemeClr val="tx1"/>
                    </a:solidFill>
                  </a:endParaRPr>
                </a:p>
              </p:txBody>
            </p:sp>
          </mc:Choice>
          <mc:Fallback xmlns="">
            <p:sp>
              <p:nvSpPr>
                <p:cNvPr id="264" name="文本框 263">
                  <a:extLst>
                    <a:ext uri="{FF2B5EF4-FFF2-40B4-BE49-F238E27FC236}">
                      <a16:creationId xmlns:a16="http://schemas.microsoft.com/office/drawing/2014/main" id="{2FB94FEA-95B1-C949-0DEC-01D573E0E473}"/>
                    </a:ext>
                  </a:extLst>
                </p:cNvPr>
                <p:cNvSpPr txBox="1">
                  <a:spLocks noRot="1" noChangeAspect="1" noMove="1" noResize="1" noEditPoints="1" noAdjustHandles="1" noChangeArrowheads="1" noChangeShapeType="1" noTextEdit="1"/>
                </p:cNvSpPr>
                <p:nvPr/>
              </p:nvSpPr>
              <p:spPr>
                <a:xfrm>
                  <a:off x="7236000" y="4356000"/>
                  <a:ext cx="538560" cy="360000"/>
                </a:xfrm>
                <a:prstGeom prst="rect">
                  <a:avLst/>
                </a:prstGeom>
                <a:blipFill>
                  <a:blip r:embed="rId30"/>
                  <a:stretch>
                    <a:fillRect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5" name="文本框 234">
                  <a:extLst>
                    <a:ext uri="{FF2B5EF4-FFF2-40B4-BE49-F238E27FC236}">
                      <a16:creationId xmlns:a16="http://schemas.microsoft.com/office/drawing/2014/main" id="{AC6293F7-B0E4-43C0-039E-4FF7397483EF}"/>
                    </a:ext>
                  </a:extLst>
                </p:cNvPr>
                <p:cNvSpPr txBox="1"/>
                <p:nvPr/>
              </p:nvSpPr>
              <p:spPr>
                <a:xfrm>
                  <a:off x="7668000" y="2232000"/>
                  <a:ext cx="54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b="0" i="0" smtClean="0">
                                    <a:solidFill>
                                      <a:schemeClr val="accent5">
                                        <a:lumMod val="75000"/>
                                      </a:schemeClr>
                                    </a:solidFill>
                                    <a:latin typeface="Cambria Math" panose="02040503050406030204" pitchFamily="18" charset="0"/>
                                  </a:rPr>
                                  <m:t>Y</m:t>
                                </m:r>
                              </m:e>
                            </m:acc>
                          </m:e>
                          <m:sub>
                            <m:r>
                              <a:rPr lang="en-US" altLang="zh-CN" sz="2400" b="0" i="1" smtClean="0">
                                <a:solidFill>
                                  <a:schemeClr val="accent5">
                                    <a:lumMod val="75000"/>
                                  </a:schemeClr>
                                </a:solidFill>
                                <a:latin typeface="Cambria Math" panose="02040503050406030204" pitchFamily="18" charset="0"/>
                              </a:rPr>
                              <m:t>0</m:t>
                            </m:r>
                          </m:sub>
                        </m:sSub>
                      </m:oMath>
                    </m:oMathPara>
                  </a14:m>
                  <a:endParaRPr lang="zh-CN" altLang="en-US" sz="2400" dirty="0">
                    <a:solidFill>
                      <a:schemeClr val="accent5">
                        <a:lumMod val="75000"/>
                      </a:schemeClr>
                    </a:solidFill>
                  </a:endParaRPr>
                </a:p>
              </p:txBody>
            </p:sp>
          </mc:Choice>
          <mc:Fallback xmlns="">
            <p:sp>
              <p:nvSpPr>
                <p:cNvPr id="235" name="文本框 234">
                  <a:extLst>
                    <a:ext uri="{FF2B5EF4-FFF2-40B4-BE49-F238E27FC236}">
                      <a16:creationId xmlns:a16="http://schemas.microsoft.com/office/drawing/2014/main" id="{AC6293F7-B0E4-43C0-039E-4FF7397483EF}"/>
                    </a:ext>
                  </a:extLst>
                </p:cNvPr>
                <p:cNvSpPr txBox="1">
                  <a:spLocks noRot="1" noChangeAspect="1" noMove="1" noResize="1" noEditPoints="1" noAdjustHandles="1" noChangeArrowheads="1" noChangeShapeType="1" noTextEdit="1"/>
                </p:cNvSpPr>
                <p:nvPr/>
              </p:nvSpPr>
              <p:spPr>
                <a:xfrm>
                  <a:off x="7668000" y="2232000"/>
                  <a:ext cx="540000" cy="360000"/>
                </a:xfrm>
                <a:prstGeom prst="rect">
                  <a:avLst/>
                </a:prstGeom>
                <a:blipFill>
                  <a:blip r:embed="rId31"/>
                  <a:stretch>
                    <a:fillRect t="-3390" r="-30682"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6" name="文本框 235">
                  <a:extLst>
                    <a:ext uri="{FF2B5EF4-FFF2-40B4-BE49-F238E27FC236}">
                      <a16:creationId xmlns:a16="http://schemas.microsoft.com/office/drawing/2014/main" id="{AF131AB3-3307-2C4A-F8F6-9FEAADE74E46}"/>
                    </a:ext>
                  </a:extLst>
                </p:cNvPr>
                <p:cNvSpPr txBox="1"/>
                <p:nvPr/>
              </p:nvSpPr>
              <p:spPr>
                <a:xfrm>
                  <a:off x="7668000" y="2880000"/>
                  <a:ext cx="54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b="0" i="0" smtClean="0">
                                    <a:solidFill>
                                      <a:schemeClr val="accent5">
                                        <a:lumMod val="75000"/>
                                      </a:schemeClr>
                                    </a:solidFill>
                                    <a:latin typeface="Cambria Math" panose="02040503050406030204" pitchFamily="18" charset="0"/>
                                  </a:rPr>
                                  <m:t>Y</m:t>
                                </m:r>
                              </m:e>
                            </m:acc>
                          </m:e>
                          <m:sub>
                            <m:r>
                              <a:rPr lang="en-US" altLang="zh-CN" sz="2400" b="0" i="1" smtClean="0">
                                <a:solidFill>
                                  <a:schemeClr val="accent5">
                                    <a:lumMod val="75000"/>
                                  </a:schemeClr>
                                </a:solidFill>
                                <a:latin typeface="Cambria Math" panose="02040503050406030204" pitchFamily="18" charset="0"/>
                              </a:rPr>
                              <m:t>1</m:t>
                            </m:r>
                          </m:sub>
                        </m:sSub>
                      </m:oMath>
                    </m:oMathPara>
                  </a14:m>
                  <a:endParaRPr lang="zh-CN" altLang="en-US" sz="2400" dirty="0">
                    <a:solidFill>
                      <a:schemeClr val="accent5">
                        <a:lumMod val="75000"/>
                      </a:schemeClr>
                    </a:solidFill>
                  </a:endParaRPr>
                </a:p>
              </p:txBody>
            </p:sp>
          </mc:Choice>
          <mc:Fallback xmlns="">
            <p:sp>
              <p:nvSpPr>
                <p:cNvPr id="236" name="文本框 235">
                  <a:extLst>
                    <a:ext uri="{FF2B5EF4-FFF2-40B4-BE49-F238E27FC236}">
                      <a16:creationId xmlns:a16="http://schemas.microsoft.com/office/drawing/2014/main" id="{AF131AB3-3307-2C4A-F8F6-9FEAADE74E46}"/>
                    </a:ext>
                  </a:extLst>
                </p:cNvPr>
                <p:cNvSpPr txBox="1">
                  <a:spLocks noRot="1" noChangeAspect="1" noMove="1" noResize="1" noEditPoints="1" noAdjustHandles="1" noChangeArrowheads="1" noChangeShapeType="1" noTextEdit="1"/>
                </p:cNvSpPr>
                <p:nvPr/>
              </p:nvSpPr>
              <p:spPr>
                <a:xfrm>
                  <a:off x="7668000" y="2880000"/>
                  <a:ext cx="540000" cy="360000"/>
                </a:xfrm>
                <a:prstGeom prst="rect">
                  <a:avLst/>
                </a:prstGeom>
                <a:blipFill>
                  <a:blip r:embed="rId32"/>
                  <a:stretch>
                    <a:fillRect t="-3390" r="-31818"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7" name="文本框 236">
                  <a:extLst>
                    <a:ext uri="{FF2B5EF4-FFF2-40B4-BE49-F238E27FC236}">
                      <a16:creationId xmlns:a16="http://schemas.microsoft.com/office/drawing/2014/main" id="{4C3D0056-A0A0-423E-D0AD-2C447C4D1518}"/>
                    </a:ext>
                  </a:extLst>
                </p:cNvPr>
                <p:cNvSpPr txBox="1"/>
                <p:nvPr/>
              </p:nvSpPr>
              <p:spPr>
                <a:xfrm>
                  <a:off x="7668000" y="3492000"/>
                  <a:ext cx="54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b="0" i="0" smtClean="0">
                                    <a:solidFill>
                                      <a:schemeClr val="accent5">
                                        <a:lumMod val="75000"/>
                                      </a:schemeClr>
                                    </a:solidFill>
                                    <a:latin typeface="Cambria Math" panose="02040503050406030204" pitchFamily="18" charset="0"/>
                                  </a:rPr>
                                  <m:t>Y</m:t>
                                </m:r>
                              </m:e>
                            </m:acc>
                          </m:e>
                          <m:sub>
                            <m:r>
                              <a:rPr lang="en-US" altLang="zh-CN" sz="2400" b="0" i="1" smtClean="0">
                                <a:solidFill>
                                  <a:schemeClr val="accent5">
                                    <a:lumMod val="75000"/>
                                  </a:schemeClr>
                                </a:solidFill>
                                <a:latin typeface="Cambria Math" panose="02040503050406030204" pitchFamily="18" charset="0"/>
                              </a:rPr>
                              <m:t>2</m:t>
                            </m:r>
                          </m:sub>
                        </m:sSub>
                      </m:oMath>
                    </m:oMathPara>
                  </a14:m>
                  <a:endParaRPr lang="zh-CN" altLang="en-US" sz="2400" dirty="0">
                    <a:solidFill>
                      <a:schemeClr val="accent5">
                        <a:lumMod val="75000"/>
                      </a:schemeClr>
                    </a:solidFill>
                  </a:endParaRPr>
                </a:p>
              </p:txBody>
            </p:sp>
          </mc:Choice>
          <mc:Fallback xmlns="">
            <p:sp>
              <p:nvSpPr>
                <p:cNvPr id="237" name="文本框 236">
                  <a:extLst>
                    <a:ext uri="{FF2B5EF4-FFF2-40B4-BE49-F238E27FC236}">
                      <a16:creationId xmlns:a16="http://schemas.microsoft.com/office/drawing/2014/main" id="{4C3D0056-A0A0-423E-D0AD-2C447C4D1518}"/>
                    </a:ext>
                  </a:extLst>
                </p:cNvPr>
                <p:cNvSpPr txBox="1">
                  <a:spLocks noRot="1" noChangeAspect="1" noMove="1" noResize="1" noEditPoints="1" noAdjustHandles="1" noChangeArrowheads="1" noChangeShapeType="1" noTextEdit="1"/>
                </p:cNvSpPr>
                <p:nvPr/>
              </p:nvSpPr>
              <p:spPr>
                <a:xfrm>
                  <a:off x="7668000" y="3492000"/>
                  <a:ext cx="540000" cy="360000"/>
                </a:xfrm>
                <a:prstGeom prst="rect">
                  <a:avLst/>
                </a:prstGeom>
                <a:blipFill>
                  <a:blip r:embed="rId33"/>
                  <a:stretch>
                    <a:fillRect t="-5085" r="-30682"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8" name="文本框 237">
                  <a:extLst>
                    <a:ext uri="{FF2B5EF4-FFF2-40B4-BE49-F238E27FC236}">
                      <a16:creationId xmlns:a16="http://schemas.microsoft.com/office/drawing/2014/main" id="{35BC3772-3428-2F44-E3EB-FAA73CAFF040}"/>
                    </a:ext>
                  </a:extLst>
                </p:cNvPr>
                <p:cNvSpPr txBox="1"/>
                <p:nvPr/>
              </p:nvSpPr>
              <p:spPr>
                <a:xfrm>
                  <a:off x="7668000" y="4104000"/>
                  <a:ext cx="54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b="0" i="0" smtClean="0">
                                    <a:solidFill>
                                      <a:schemeClr val="accent5">
                                        <a:lumMod val="75000"/>
                                      </a:schemeClr>
                                    </a:solidFill>
                                    <a:latin typeface="Cambria Math" panose="02040503050406030204" pitchFamily="18" charset="0"/>
                                  </a:rPr>
                                  <m:t>Y</m:t>
                                </m:r>
                              </m:e>
                            </m:acc>
                          </m:e>
                          <m:sub>
                            <m:r>
                              <a:rPr lang="en-US" altLang="zh-CN" sz="2400" b="0" i="1" smtClean="0">
                                <a:solidFill>
                                  <a:schemeClr val="accent5">
                                    <a:lumMod val="75000"/>
                                  </a:schemeClr>
                                </a:solidFill>
                                <a:latin typeface="Cambria Math" panose="02040503050406030204" pitchFamily="18" charset="0"/>
                              </a:rPr>
                              <m:t>3</m:t>
                            </m:r>
                          </m:sub>
                        </m:sSub>
                      </m:oMath>
                    </m:oMathPara>
                  </a14:m>
                  <a:endParaRPr lang="zh-CN" altLang="en-US" sz="2400" dirty="0">
                    <a:solidFill>
                      <a:schemeClr val="accent5">
                        <a:lumMod val="75000"/>
                      </a:schemeClr>
                    </a:solidFill>
                  </a:endParaRPr>
                </a:p>
              </p:txBody>
            </p:sp>
          </mc:Choice>
          <mc:Fallback xmlns="">
            <p:sp>
              <p:nvSpPr>
                <p:cNvPr id="238" name="文本框 237">
                  <a:extLst>
                    <a:ext uri="{FF2B5EF4-FFF2-40B4-BE49-F238E27FC236}">
                      <a16:creationId xmlns:a16="http://schemas.microsoft.com/office/drawing/2014/main" id="{35BC3772-3428-2F44-E3EB-FAA73CAFF040}"/>
                    </a:ext>
                  </a:extLst>
                </p:cNvPr>
                <p:cNvSpPr txBox="1">
                  <a:spLocks noRot="1" noChangeAspect="1" noMove="1" noResize="1" noEditPoints="1" noAdjustHandles="1" noChangeArrowheads="1" noChangeShapeType="1" noTextEdit="1"/>
                </p:cNvSpPr>
                <p:nvPr/>
              </p:nvSpPr>
              <p:spPr>
                <a:xfrm>
                  <a:off x="7668000" y="4104000"/>
                  <a:ext cx="540000" cy="360000"/>
                </a:xfrm>
                <a:prstGeom prst="rect">
                  <a:avLst/>
                </a:prstGeom>
                <a:blipFill>
                  <a:blip r:embed="rId34"/>
                  <a:stretch>
                    <a:fillRect t="-3390" r="-30682"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1" name="文本框 230">
                  <a:extLst>
                    <a:ext uri="{FF2B5EF4-FFF2-40B4-BE49-F238E27FC236}">
                      <a16:creationId xmlns:a16="http://schemas.microsoft.com/office/drawing/2014/main" id="{3F2A871D-7CF8-015D-B8A9-93693367F585}"/>
                    </a:ext>
                  </a:extLst>
                </p:cNvPr>
                <p:cNvSpPr txBox="1"/>
                <p:nvPr/>
              </p:nvSpPr>
              <p:spPr>
                <a:xfrm>
                  <a:off x="8964000" y="1404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schemeClr val="tx1"/>
                            </a:solidFill>
                            <a:latin typeface="Cambria Math" panose="02040503050406030204" pitchFamily="18" charset="0"/>
                          </a:rPr>
                          <m:t>𝑅</m:t>
                        </m:r>
                      </m:oMath>
                    </m:oMathPara>
                  </a14:m>
                  <a:endParaRPr lang="zh-CN" altLang="en-US" sz="2400" dirty="0">
                    <a:solidFill>
                      <a:schemeClr val="tx1"/>
                    </a:solidFill>
                  </a:endParaRPr>
                </a:p>
              </p:txBody>
            </p:sp>
          </mc:Choice>
          <mc:Fallback xmlns="">
            <p:sp>
              <p:nvSpPr>
                <p:cNvPr id="231" name="文本框 230">
                  <a:extLst>
                    <a:ext uri="{FF2B5EF4-FFF2-40B4-BE49-F238E27FC236}">
                      <a16:creationId xmlns:a16="http://schemas.microsoft.com/office/drawing/2014/main" id="{3F2A871D-7CF8-015D-B8A9-93693367F585}"/>
                    </a:ext>
                  </a:extLst>
                </p:cNvPr>
                <p:cNvSpPr txBox="1">
                  <a:spLocks noRot="1" noChangeAspect="1" noMove="1" noResize="1" noEditPoints="1" noAdjustHandles="1" noChangeArrowheads="1" noChangeShapeType="1" noTextEdit="1"/>
                </p:cNvSpPr>
                <p:nvPr/>
              </p:nvSpPr>
              <p:spPr>
                <a:xfrm>
                  <a:off x="8964000" y="1404000"/>
                  <a:ext cx="538560" cy="360000"/>
                </a:xfrm>
                <a:prstGeom prst="rect">
                  <a:avLst/>
                </a:prstGeom>
                <a:blipFill>
                  <a:blip r:embed="rId35"/>
                  <a:stretch>
                    <a:fillRect b="-101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2" name="文本框 231">
                  <a:extLst>
                    <a:ext uri="{FF2B5EF4-FFF2-40B4-BE49-F238E27FC236}">
                      <a16:creationId xmlns:a16="http://schemas.microsoft.com/office/drawing/2014/main" id="{031CAC36-6876-8731-8E84-471863B8C573}"/>
                    </a:ext>
                  </a:extLst>
                </p:cNvPr>
                <p:cNvSpPr txBox="1"/>
                <p:nvPr/>
              </p:nvSpPr>
              <p:spPr>
                <a:xfrm>
                  <a:off x="9612000" y="1404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schemeClr val="tx1"/>
                            </a:solidFill>
                            <a:latin typeface="Cambria Math" panose="02040503050406030204" pitchFamily="18" charset="0"/>
                          </a:rPr>
                          <m:t>𝑅</m:t>
                        </m:r>
                      </m:oMath>
                    </m:oMathPara>
                  </a14:m>
                  <a:endParaRPr lang="zh-CN" altLang="en-US" sz="2400" dirty="0">
                    <a:solidFill>
                      <a:schemeClr val="tx1"/>
                    </a:solidFill>
                  </a:endParaRPr>
                </a:p>
              </p:txBody>
            </p:sp>
          </mc:Choice>
          <mc:Fallback xmlns="">
            <p:sp>
              <p:nvSpPr>
                <p:cNvPr id="232" name="文本框 231">
                  <a:extLst>
                    <a:ext uri="{FF2B5EF4-FFF2-40B4-BE49-F238E27FC236}">
                      <a16:creationId xmlns:a16="http://schemas.microsoft.com/office/drawing/2014/main" id="{031CAC36-6876-8731-8E84-471863B8C573}"/>
                    </a:ext>
                  </a:extLst>
                </p:cNvPr>
                <p:cNvSpPr txBox="1">
                  <a:spLocks noRot="1" noChangeAspect="1" noMove="1" noResize="1" noEditPoints="1" noAdjustHandles="1" noChangeArrowheads="1" noChangeShapeType="1" noTextEdit="1"/>
                </p:cNvSpPr>
                <p:nvPr/>
              </p:nvSpPr>
              <p:spPr>
                <a:xfrm>
                  <a:off x="9612000" y="1404000"/>
                  <a:ext cx="538560" cy="360000"/>
                </a:xfrm>
                <a:prstGeom prst="rect">
                  <a:avLst/>
                </a:prstGeom>
                <a:blipFill>
                  <a:blip r:embed="rId36"/>
                  <a:stretch>
                    <a:fillRect b="-101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3" name="文本框 232">
                  <a:extLst>
                    <a:ext uri="{FF2B5EF4-FFF2-40B4-BE49-F238E27FC236}">
                      <a16:creationId xmlns:a16="http://schemas.microsoft.com/office/drawing/2014/main" id="{7F23594C-5744-F355-4E38-EE84B42B43F6}"/>
                    </a:ext>
                  </a:extLst>
                </p:cNvPr>
                <p:cNvSpPr txBox="1"/>
                <p:nvPr/>
              </p:nvSpPr>
              <p:spPr>
                <a:xfrm>
                  <a:off x="10260000" y="1404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schemeClr val="tx1"/>
                            </a:solidFill>
                            <a:latin typeface="Cambria Math" panose="02040503050406030204" pitchFamily="18" charset="0"/>
                          </a:rPr>
                          <m:t>𝑅</m:t>
                        </m:r>
                      </m:oMath>
                    </m:oMathPara>
                  </a14:m>
                  <a:endParaRPr lang="zh-CN" altLang="en-US" sz="2400" dirty="0">
                    <a:solidFill>
                      <a:schemeClr val="tx1"/>
                    </a:solidFill>
                  </a:endParaRPr>
                </a:p>
              </p:txBody>
            </p:sp>
          </mc:Choice>
          <mc:Fallback xmlns="">
            <p:sp>
              <p:nvSpPr>
                <p:cNvPr id="233" name="文本框 232">
                  <a:extLst>
                    <a:ext uri="{FF2B5EF4-FFF2-40B4-BE49-F238E27FC236}">
                      <a16:creationId xmlns:a16="http://schemas.microsoft.com/office/drawing/2014/main" id="{7F23594C-5744-F355-4E38-EE84B42B43F6}"/>
                    </a:ext>
                  </a:extLst>
                </p:cNvPr>
                <p:cNvSpPr txBox="1">
                  <a:spLocks noRot="1" noChangeAspect="1" noMove="1" noResize="1" noEditPoints="1" noAdjustHandles="1" noChangeArrowheads="1" noChangeShapeType="1" noTextEdit="1"/>
                </p:cNvSpPr>
                <p:nvPr/>
              </p:nvSpPr>
              <p:spPr>
                <a:xfrm>
                  <a:off x="10260000" y="1404000"/>
                  <a:ext cx="538560" cy="360000"/>
                </a:xfrm>
                <a:prstGeom prst="rect">
                  <a:avLst/>
                </a:prstGeom>
                <a:blipFill>
                  <a:blip r:embed="rId37"/>
                  <a:stretch>
                    <a:fillRect b="-101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4" name="文本框 233">
                  <a:extLst>
                    <a:ext uri="{FF2B5EF4-FFF2-40B4-BE49-F238E27FC236}">
                      <a16:creationId xmlns:a16="http://schemas.microsoft.com/office/drawing/2014/main" id="{0633BE39-633B-DAF4-B330-8BE449DC3720}"/>
                    </a:ext>
                  </a:extLst>
                </p:cNvPr>
                <p:cNvSpPr txBox="1"/>
                <p:nvPr/>
              </p:nvSpPr>
              <p:spPr>
                <a:xfrm>
                  <a:off x="10908000" y="1404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schemeClr val="tx1"/>
                            </a:solidFill>
                            <a:latin typeface="Cambria Math" panose="02040503050406030204" pitchFamily="18" charset="0"/>
                          </a:rPr>
                          <m:t>𝑅</m:t>
                        </m:r>
                      </m:oMath>
                    </m:oMathPara>
                  </a14:m>
                  <a:endParaRPr lang="zh-CN" altLang="en-US" sz="2400" dirty="0">
                    <a:solidFill>
                      <a:schemeClr val="tx1"/>
                    </a:solidFill>
                  </a:endParaRPr>
                </a:p>
              </p:txBody>
            </p:sp>
          </mc:Choice>
          <mc:Fallback xmlns="">
            <p:sp>
              <p:nvSpPr>
                <p:cNvPr id="234" name="文本框 233">
                  <a:extLst>
                    <a:ext uri="{FF2B5EF4-FFF2-40B4-BE49-F238E27FC236}">
                      <a16:creationId xmlns:a16="http://schemas.microsoft.com/office/drawing/2014/main" id="{0633BE39-633B-DAF4-B330-8BE449DC3720}"/>
                    </a:ext>
                  </a:extLst>
                </p:cNvPr>
                <p:cNvSpPr txBox="1">
                  <a:spLocks noRot="1" noChangeAspect="1" noMove="1" noResize="1" noEditPoints="1" noAdjustHandles="1" noChangeArrowheads="1" noChangeShapeType="1" noTextEdit="1"/>
                </p:cNvSpPr>
                <p:nvPr/>
              </p:nvSpPr>
              <p:spPr>
                <a:xfrm>
                  <a:off x="10908000" y="1404000"/>
                  <a:ext cx="538560" cy="360000"/>
                </a:xfrm>
                <a:prstGeom prst="rect">
                  <a:avLst/>
                </a:prstGeom>
                <a:blipFill>
                  <a:blip r:embed="rId38"/>
                  <a:stretch>
                    <a:fillRect b="-10169"/>
                  </a:stretch>
                </a:blipFill>
              </p:spPr>
              <p:txBody>
                <a:bodyPr/>
                <a:lstStyle/>
                <a:p>
                  <a:r>
                    <a:rPr lang="zh-CN" altLang="en-US">
                      <a:noFill/>
                    </a:rPr>
                    <a:t> </a:t>
                  </a:r>
                </a:p>
              </p:txBody>
            </p:sp>
          </mc:Fallback>
        </mc:AlternateContent>
        <p:sp>
          <p:nvSpPr>
            <p:cNvPr id="23" name="矩形 22">
              <a:extLst>
                <a:ext uri="{FF2B5EF4-FFF2-40B4-BE49-F238E27FC236}">
                  <a16:creationId xmlns:a16="http://schemas.microsoft.com/office/drawing/2014/main" id="{6A7A8B61-C204-E003-5476-178856CF9D3E}"/>
                </a:ext>
              </a:extLst>
            </p:cNvPr>
            <p:cNvSpPr/>
            <p:nvPr/>
          </p:nvSpPr>
          <p:spPr>
            <a:xfrm>
              <a:off x="6444000" y="2160000"/>
              <a:ext cx="1224000" cy="2880000"/>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panose="020B0503020204020204" pitchFamily="34" charset="-122"/>
                  <a:ea typeface="微软雅黑" panose="020B0503020204020204" pitchFamily="34" charset="-122"/>
                </a:rPr>
                <a:t>2</a:t>
              </a:r>
            </a:p>
            <a:p>
              <a:pPr algn="ctr"/>
              <a:r>
                <a:rPr lang="zh-CN" altLang="en-US" dirty="0">
                  <a:solidFill>
                    <a:schemeClr val="tx1"/>
                  </a:solidFill>
                  <a:latin typeface="微软雅黑" panose="020B0503020204020204" pitchFamily="34" charset="-122"/>
                  <a:ea typeface="微软雅黑" panose="020B0503020204020204" pitchFamily="34" charset="-122"/>
                </a:rPr>
                <a:t>线</a:t>
              </a:r>
              <a:endParaRPr lang="en-US" altLang="zh-CN" dirty="0">
                <a:solidFill>
                  <a:schemeClr val="tx1"/>
                </a:solidFill>
                <a:latin typeface="微软雅黑" panose="020B0503020204020204" pitchFamily="34" charset="-122"/>
                <a:ea typeface="微软雅黑" panose="020B0503020204020204" pitchFamily="34" charset="-122"/>
              </a:endParaRPr>
            </a:p>
            <a:p>
              <a:pPr algn="ctr"/>
              <a:r>
                <a:rPr lang="en-US" altLang="zh-CN" dirty="0">
                  <a:solidFill>
                    <a:schemeClr val="tx1"/>
                  </a:solidFill>
                  <a:latin typeface="微软雅黑" panose="020B0503020204020204" pitchFamily="34" charset="-122"/>
                  <a:ea typeface="微软雅黑" panose="020B0503020204020204" pitchFamily="34" charset="-122"/>
                </a:rPr>
                <a:t>|</a:t>
              </a:r>
            </a:p>
            <a:p>
              <a:pPr algn="ctr"/>
              <a:r>
                <a:rPr lang="en-US" altLang="zh-CN" dirty="0">
                  <a:solidFill>
                    <a:schemeClr val="tx1"/>
                  </a:solidFill>
                  <a:latin typeface="微软雅黑" panose="020B0503020204020204" pitchFamily="34" charset="-122"/>
                  <a:ea typeface="微软雅黑" panose="020B0503020204020204" pitchFamily="34" charset="-122"/>
                </a:rPr>
                <a:t>4</a:t>
              </a:r>
            </a:p>
            <a:p>
              <a:pPr algn="ctr"/>
              <a:r>
                <a:rPr lang="zh-CN" altLang="en-US" dirty="0">
                  <a:solidFill>
                    <a:schemeClr val="tx1"/>
                  </a:solidFill>
                  <a:latin typeface="微软雅黑" panose="020B0503020204020204" pitchFamily="34" charset="-122"/>
                  <a:ea typeface="微软雅黑" panose="020B0503020204020204" pitchFamily="34" charset="-122"/>
                </a:rPr>
                <a:t>线</a:t>
              </a:r>
              <a:endParaRPr lang="en-US" altLang="zh-CN" dirty="0">
                <a:solidFill>
                  <a:schemeClr val="tx1"/>
                </a:solidFill>
                <a:latin typeface="微软雅黑" panose="020B0503020204020204" pitchFamily="34" charset="-122"/>
                <a:ea typeface="微软雅黑" panose="020B0503020204020204" pitchFamily="34" charset="-122"/>
              </a:endParaRPr>
            </a:p>
            <a:p>
              <a:pPr algn="ctr"/>
              <a:r>
                <a:rPr lang="zh-CN" altLang="en-US" dirty="0">
                  <a:solidFill>
                    <a:schemeClr val="tx1"/>
                  </a:solidFill>
                  <a:latin typeface="微软雅黑" panose="020B0503020204020204" pitchFamily="34" charset="-122"/>
                  <a:ea typeface="微软雅黑" panose="020B0503020204020204" pitchFamily="34" charset="-122"/>
                </a:rPr>
                <a:t>译</a:t>
              </a:r>
              <a:endParaRPr lang="en-US" altLang="zh-CN" dirty="0">
                <a:solidFill>
                  <a:schemeClr val="tx1"/>
                </a:solidFill>
                <a:latin typeface="微软雅黑" panose="020B0503020204020204" pitchFamily="34" charset="-122"/>
                <a:ea typeface="微软雅黑" panose="020B0503020204020204" pitchFamily="34" charset="-122"/>
              </a:endParaRPr>
            </a:p>
            <a:p>
              <a:pPr algn="ctr"/>
              <a:r>
                <a:rPr lang="zh-CN" altLang="en-US" dirty="0">
                  <a:solidFill>
                    <a:schemeClr val="tx1"/>
                  </a:solidFill>
                  <a:latin typeface="微软雅黑" panose="020B0503020204020204" pitchFamily="34" charset="-122"/>
                  <a:ea typeface="微软雅黑" panose="020B0503020204020204" pitchFamily="34" charset="-122"/>
                </a:rPr>
                <a:t>码</a:t>
              </a:r>
              <a:endParaRPr lang="en-US" altLang="zh-CN" dirty="0">
                <a:solidFill>
                  <a:schemeClr val="tx1"/>
                </a:solidFill>
                <a:latin typeface="微软雅黑" panose="020B0503020204020204" pitchFamily="34" charset="-122"/>
                <a:ea typeface="微软雅黑" panose="020B0503020204020204" pitchFamily="34" charset="-122"/>
              </a:endParaRPr>
            </a:p>
            <a:p>
              <a:pPr algn="ctr"/>
              <a:r>
                <a:rPr lang="zh-CN" altLang="en-US" dirty="0">
                  <a:solidFill>
                    <a:schemeClr val="tx1"/>
                  </a:solidFill>
                  <a:latin typeface="微软雅黑" panose="020B0503020204020204" pitchFamily="34" charset="-122"/>
                  <a:ea typeface="微软雅黑" panose="020B0503020204020204" pitchFamily="34" charset="-122"/>
                </a:rPr>
                <a:t>器</a:t>
              </a:r>
            </a:p>
          </p:txBody>
        </p:sp>
        <p:cxnSp>
          <p:nvCxnSpPr>
            <p:cNvPr id="25" name="直接连接符 24">
              <a:extLst>
                <a:ext uri="{FF2B5EF4-FFF2-40B4-BE49-F238E27FC236}">
                  <a16:creationId xmlns:a16="http://schemas.microsoft.com/office/drawing/2014/main" id="{6A353570-09CC-1AA7-03E6-FC96E1E9CFEB}"/>
                </a:ext>
              </a:extLst>
            </p:cNvPr>
            <p:cNvCxnSpPr>
              <a:cxnSpLocks/>
            </p:cNvCxnSpPr>
            <p:nvPr/>
          </p:nvCxnSpPr>
          <p:spPr>
            <a:xfrm>
              <a:off x="7685999" y="2610000"/>
              <a:ext cx="370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53F9923A-2827-B283-743C-A4C19CBC88AC}"/>
                </a:ext>
              </a:extLst>
            </p:cNvPr>
            <p:cNvCxnSpPr>
              <a:cxnSpLocks/>
            </p:cNvCxnSpPr>
            <p:nvPr/>
          </p:nvCxnSpPr>
          <p:spPr>
            <a:xfrm>
              <a:off x="7686000" y="3258000"/>
              <a:ext cx="370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59B1BC5C-C08D-63C2-0370-83D92E814E6D}"/>
                </a:ext>
              </a:extLst>
            </p:cNvPr>
            <p:cNvCxnSpPr>
              <a:cxnSpLocks/>
            </p:cNvCxnSpPr>
            <p:nvPr/>
          </p:nvCxnSpPr>
          <p:spPr>
            <a:xfrm>
              <a:off x="7686000" y="3906000"/>
              <a:ext cx="370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E5570D74-4D68-35D8-F41E-39C8E1215BCA}"/>
                </a:ext>
              </a:extLst>
            </p:cNvPr>
            <p:cNvCxnSpPr>
              <a:cxnSpLocks/>
            </p:cNvCxnSpPr>
            <p:nvPr/>
          </p:nvCxnSpPr>
          <p:spPr>
            <a:xfrm>
              <a:off x="7686000" y="4554000"/>
              <a:ext cx="370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30EB64A7-3602-0560-316D-C80FCB7EC200}"/>
                </a:ext>
              </a:extLst>
            </p:cNvPr>
            <p:cNvCxnSpPr>
              <a:cxnSpLocks/>
            </p:cNvCxnSpPr>
            <p:nvPr/>
          </p:nvCxnSpPr>
          <p:spPr>
            <a:xfrm flipV="1">
              <a:off x="9036000" y="1260000"/>
              <a:ext cx="0" cy="468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6" name="组合 35">
              <a:extLst>
                <a:ext uri="{FF2B5EF4-FFF2-40B4-BE49-F238E27FC236}">
                  <a16:creationId xmlns:a16="http://schemas.microsoft.com/office/drawing/2014/main" id="{9361FCEA-C544-CD6E-0035-647337A2A525}"/>
                </a:ext>
              </a:extLst>
            </p:cNvPr>
            <p:cNvGrpSpPr/>
            <p:nvPr/>
          </p:nvGrpSpPr>
          <p:grpSpPr>
            <a:xfrm>
              <a:off x="8442000" y="2016000"/>
              <a:ext cx="648000" cy="648000"/>
              <a:chOff x="8442000" y="2016000"/>
              <a:chExt cx="648000" cy="648000"/>
            </a:xfrm>
          </p:grpSpPr>
          <p:grpSp>
            <p:nvGrpSpPr>
              <p:cNvPr id="29" name="组合 28">
                <a:extLst>
                  <a:ext uri="{FF2B5EF4-FFF2-40B4-BE49-F238E27FC236}">
                    <a16:creationId xmlns:a16="http://schemas.microsoft.com/office/drawing/2014/main" id="{7B2491B3-D8C7-BC14-AACB-09DEAC60CD89}"/>
                  </a:ext>
                </a:extLst>
              </p:cNvPr>
              <p:cNvGrpSpPr/>
              <p:nvPr/>
            </p:nvGrpSpPr>
            <p:grpSpPr>
              <a:xfrm rot="-8100000">
                <a:off x="8586000" y="2232000"/>
                <a:ext cx="360000" cy="216000"/>
                <a:chOff x="8604000" y="2178000"/>
                <a:chExt cx="360000" cy="198000"/>
              </a:xfrm>
            </p:grpSpPr>
            <p:sp>
              <p:nvSpPr>
                <p:cNvPr id="9" name="等腰三角形 8">
                  <a:extLst>
                    <a:ext uri="{FF2B5EF4-FFF2-40B4-BE49-F238E27FC236}">
                      <a16:creationId xmlns:a16="http://schemas.microsoft.com/office/drawing/2014/main" id="{AF4C8CFD-0E0C-A8E4-9DFA-EC3CBA43469E}"/>
                    </a:ext>
                  </a:extLst>
                </p:cNvPr>
                <p:cNvSpPr/>
                <p:nvPr/>
              </p:nvSpPr>
              <p:spPr>
                <a:xfrm>
                  <a:off x="8640000" y="2196000"/>
                  <a:ext cx="288000" cy="180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15" name="直接连接符 14">
                  <a:extLst>
                    <a:ext uri="{FF2B5EF4-FFF2-40B4-BE49-F238E27FC236}">
                      <a16:creationId xmlns:a16="http://schemas.microsoft.com/office/drawing/2014/main" id="{08FD07F9-3C6D-1C3A-A878-C9E9BBF8C3B0}"/>
                    </a:ext>
                  </a:extLst>
                </p:cNvPr>
                <p:cNvCxnSpPr>
                  <a:cxnSpLocks/>
                </p:cNvCxnSpPr>
                <p:nvPr/>
              </p:nvCxnSpPr>
              <p:spPr>
                <a:xfrm>
                  <a:off x="8604000" y="2178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 name="直接连接符 16">
                <a:extLst>
                  <a:ext uri="{FF2B5EF4-FFF2-40B4-BE49-F238E27FC236}">
                    <a16:creationId xmlns:a16="http://schemas.microsoft.com/office/drawing/2014/main" id="{2940AA39-FE96-9659-E1A7-2A9EB8C650AA}"/>
                  </a:ext>
                </a:extLst>
              </p:cNvPr>
              <p:cNvCxnSpPr>
                <a:cxnSpLocks/>
              </p:cNvCxnSpPr>
              <p:nvPr/>
            </p:nvCxnSpPr>
            <p:spPr>
              <a:xfrm flipV="1">
                <a:off x="8496000" y="2070000"/>
                <a:ext cx="540000" cy="5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4" name="椭圆 93">
                <a:extLst>
                  <a:ext uri="{FF2B5EF4-FFF2-40B4-BE49-F238E27FC236}">
                    <a16:creationId xmlns:a16="http://schemas.microsoft.com/office/drawing/2014/main" id="{AD7107B3-E879-DF18-95E1-2A613F545839}"/>
                  </a:ext>
                </a:extLst>
              </p:cNvPr>
              <p:cNvSpPr/>
              <p:nvPr/>
            </p:nvSpPr>
            <p:spPr>
              <a:xfrm>
                <a:off x="8442000" y="255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椭圆 94">
                <a:extLst>
                  <a:ext uri="{FF2B5EF4-FFF2-40B4-BE49-F238E27FC236}">
                    <a16:creationId xmlns:a16="http://schemas.microsoft.com/office/drawing/2014/main" id="{2E3B1B50-1F78-2CAD-46A0-F55D43542EA9}"/>
                  </a:ext>
                </a:extLst>
              </p:cNvPr>
              <p:cNvSpPr/>
              <p:nvPr/>
            </p:nvSpPr>
            <p:spPr>
              <a:xfrm>
                <a:off x="8982000" y="201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4" name="矩形 163">
              <a:extLst>
                <a:ext uri="{FF2B5EF4-FFF2-40B4-BE49-F238E27FC236}">
                  <a16:creationId xmlns:a16="http://schemas.microsoft.com/office/drawing/2014/main" id="{F4753AE4-7315-9542-177C-9A4603FA22B0}"/>
                </a:ext>
              </a:extLst>
            </p:cNvPr>
            <p:cNvSpPr/>
            <p:nvPr/>
          </p:nvSpPr>
          <p:spPr>
            <a:xfrm>
              <a:off x="8352000" y="1944000"/>
              <a:ext cx="2952000" cy="2736000"/>
            </a:xfrm>
            <a:prstGeom prst="rect">
              <a:avLst/>
            </a:prstGeom>
            <a:noFill/>
            <a:ln w="25400">
              <a:solidFill>
                <a:srgbClr val="0000F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矩形 164">
              <a:extLst>
                <a:ext uri="{FF2B5EF4-FFF2-40B4-BE49-F238E27FC236}">
                  <a16:creationId xmlns:a16="http://schemas.microsoft.com/office/drawing/2014/main" id="{7CE9FD1B-E9BA-D9FF-2929-A0ACC743342B}"/>
                </a:ext>
              </a:extLst>
            </p:cNvPr>
            <p:cNvSpPr/>
            <p:nvPr/>
          </p:nvSpPr>
          <p:spPr>
            <a:xfrm>
              <a:off x="8964000" y="1368000"/>
              <a:ext cx="144000" cy="432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169" name="直接连接符 168">
              <a:extLst>
                <a:ext uri="{FF2B5EF4-FFF2-40B4-BE49-F238E27FC236}">
                  <a16:creationId xmlns:a16="http://schemas.microsoft.com/office/drawing/2014/main" id="{EE2C2D84-3485-44F7-F26A-82D1973AEB4B}"/>
                </a:ext>
              </a:extLst>
            </p:cNvPr>
            <p:cNvCxnSpPr>
              <a:cxnSpLocks/>
            </p:cNvCxnSpPr>
            <p:nvPr/>
          </p:nvCxnSpPr>
          <p:spPr>
            <a:xfrm>
              <a:off x="9035999" y="1260000"/>
              <a:ext cx="194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71" name="椭圆 170">
              <a:extLst>
                <a:ext uri="{FF2B5EF4-FFF2-40B4-BE49-F238E27FC236}">
                  <a16:creationId xmlns:a16="http://schemas.microsoft.com/office/drawing/2014/main" id="{9970EF27-422D-19DC-AA8D-85C7C38D008D}"/>
                </a:ext>
              </a:extLst>
            </p:cNvPr>
            <p:cNvSpPr/>
            <p:nvPr/>
          </p:nvSpPr>
          <p:spPr>
            <a:xfrm>
              <a:off x="9630000" y="120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2" name="椭圆 171">
              <a:extLst>
                <a:ext uri="{FF2B5EF4-FFF2-40B4-BE49-F238E27FC236}">
                  <a16:creationId xmlns:a16="http://schemas.microsoft.com/office/drawing/2014/main" id="{FC3C2717-033B-ED37-A47C-396B91DD2713}"/>
                </a:ext>
              </a:extLst>
            </p:cNvPr>
            <p:cNvSpPr/>
            <p:nvPr/>
          </p:nvSpPr>
          <p:spPr>
            <a:xfrm>
              <a:off x="10278000" y="120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3" name="直接连接符 172">
              <a:extLst>
                <a:ext uri="{FF2B5EF4-FFF2-40B4-BE49-F238E27FC236}">
                  <a16:creationId xmlns:a16="http://schemas.microsoft.com/office/drawing/2014/main" id="{F31EFB8A-86EF-952E-E971-C79FE0340DEA}"/>
                </a:ext>
              </a:extLst>
            </p:cNvPr>
            <p:cNvCxnSpPr>
              <a:cxnSpLocks/>
            </p:cNvCxnSpPr>
            <p:nvPr/>
          </p:nvCxnSpPr>
          <p:spPr>
            <a:xfrm>
              <a:off x="10008000" y="1008000"/>
              <a:ext cx="0" cy="252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77" name="椭圆 176">
              <a:extLst>
                <a:ext uri="{FF2B5EF4-FFF2-40B4-BE49-F238E27FC236}">
                  <a16:creationId xmlns:a16="http://schemas.microsoft.com/office/drawing/2014/main" id="{D8672E23-C070-CA86-7F51-EB8681019185}"/>
                </a:ext>
              </a:extLst>
            </p:cNvPr>
            <p:cNvSpPr/>
            <p:nvPr/>
          </p:nvSpPr>
          <p:spPr>
            <a:xfrm>
              <a:off x="9954000" y="120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5" name="直接连接符 204">
              <a:extLst>
                <a:ext uri="{FF2B5EF4-FFF2-40B4-BE49-F238E27FC236}">
                  <a16:creationId xmlns:a16="http://schemas.microsoft.com/office/drawing/2014/main" id="{D282AE4D-39EC-092B-345C-4C396E60FF35}"/>
                </a:ext>
              </a:extLst>
            </p:cNvPr>
            <p:cNvCxnSpPr>
              <a:cxnSpLocks/>
            </p:cNvCxnSpPr>
            <p:nvPr/>
          </p:nvCxnSpPr>
          <p:spPr>
            <a:xfrm>
              <a:off x="6408000" y="5724000"/>
              <a:ext cx="43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3" name="组合 142">
              <a:extLst>
                <a:ext uri="{FF2B5EF4-FFF2-40B4-BE49-F238E27FC236}">
                  <a16:creationId xmlns:a16="http://schemas.microsoft.com/office/drawing/2014/main" id="{D553FFCF-C194-56B8-9D39-ABCCCFF4A289}"/>
                </a:ext>
              </a:extLst>
            </p:cNvPr>
            <p:cNvGrpSpPr/>
            <p:nvPr/>
          </p:nvGrpSpPr>
          <p:grpSpPr>
            <a:xfrm>
              <a:off x="8715600" y="5040000"/>
              <a:ext cx="572400" cy="738000"/>
              <a:chOff x="8715600" y="5040000"/>
              <a:chExt cx="572400" cy="738000"/>
            </a:xfrm>
          </p:grpSpPr>
          <p:sp>
            <p:nvSpPr>
              <p:cNvPr id="178" name="等腰三角形 177">
                <a:extLst>
                  <a:ext uri="{FF2B5EF4-FFF2-40B4-BE49-F238E27FC236}">
                    <a16:creationId xmlns:a16="http://schemas.microsoft.com/office/drawing/2014/main" id="{49171432-83AC-8158-35F4-B732A82929F1}"/>
                  </a:ext>
                </a:extLst>
              </p:cNvPr>
              <p:cNvSpPr/>
              <p:nvPr/>
            </p:nvSpPr>
            <p:spPr>
              <a:xfrm flipV="1">
                <a:off x="8784000" y="5040000"/>
                <a:ext cx="504000" cy="432000"/>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椭圆 178">
                <a:extLst>
                  <a:ext uri="{FF2B5EF4-FFF2-40B4-BE49-F238E27FC236}">
                    <a16:creationId xmlns:a16="http://schemas.microsoft.com/office/drawing/2014/main" id="{764CC6F2-E580-315C-8F53-F6CECE014C35}"/>
                  </a:ext>
                </a:extLst>
              </p:cNvPr>
              <p:cNvSpPr/>
              <p:nvPr/>
            </p:nvSpPr>
            <p:spPr>
              <a:xfrm>
                <a:off x="8820000" y="5256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椭圆 179">
                <a:extLst>
                  <a:ext uri="{FF2B5EF4-FFF2-40B4-BE49-F238E27FC236}">
                    <a16:creationId xmlns:a16="http://schemas.microsoft.com/office/drawing/2014/main" id="{DEF812D0-5A39-7E2E-E086-027079497C0A}"/>
                  </a:ext>
                </a:extLst>
              </p:cNvPr>
              <p:cNvSpPr/>
              <p:nvPr/>
            </p:nvSpPr>
            <p:spPr>
              <a:xfrm>
                <a:off x="8982000" y="5472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2" name="直接连接符 181">
                <a:extLst>
                  <a:ext uri="{FF2B5EF4-FFF2-40B4-BE49-F238E27FC236}">
                    <a16:creationId xmlns:a16="http://schemas.microsoft.com/office/drawing/2014/main" id="{B0DF54E9-014C-9B1A-4BAA-A92B92182A8A}"/>
                  </a:ext>
                </a:extLst>
              </p:cNvPr>
              <p:cNvCxnSpPr>
                <a:cxnSpLocks/>
              </p:cNvCxnSpPr>
              <p:nvPr/>
            </p:nvCxnSpPr>
            <p:spPr>
              <a:xfrm flipH="1">
                <a:off x="8766000" y="5346000"/>
                <a:ext cx="72000" cy="72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直接连接符 183">
                <a:extLst>
                  <a:ext uri="{FF2B5EF4-FFF2-40B4-BE49-F238E27FC236}">
                    <a16:creationId xmlns:a16="http://schemas.microsoft.com/office/drawing/2014/main" id="{E9694AB4-3544-1C30-4021-1123698416A0}"/>
                  </a:ext>
                </a:extLst>
              </p:cNvPr>
              <p:cNvCxnSpPr>
                <a:cxnSpLocks/>
              </p:cNvCxnSpPr>
              <p:nvPr/>
            </p:nvCxnSpPr>
            <p:spPr>
              <a:xfrm>
                <a:off x="8769600" y="5410800"/>
                <a:ext cx="0" cy="30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6" name="椭圆 205">
                <a:extLst>
                  <a:ext uri="{FF2B5EF4-FFF2-40B4-BE49-F238E27FC236}">
                    <a16:creationId xmlns:a16="http://schemas.microsoft.com/office/drawing/2014/main" id="{0BA4FDE4-C66D-2372-9574-C1BB36BECE9A}"/>
                  </a:ext>
                </a:extLst>
              </p:cNvPr>
              <p:cNvSpPr/>
              <p:nvPr/>
            </p:nvSpPr>
            <p:spPr>
              <a:xfrm>
                <a:off x="8715600" y="5670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0" name="矩形 209">
              <a:extLst>
                <a:ext uri="{FF2B5EF4-FFF2-40B4-BE49-F238E27FC236}">
                  <a16:creationId xmlns:a16="http://schemas.microsoft.com/office/drawing/2014/main" id="{30A87779-546A-1274-8066-FDC8C55ABCD2}"/>
                </a:ext>
              </a:extLst>
            </p:cNvPr>
            <p:cNvSpPr/>
            <p:nvPr/>
          </p:nvSpPr>
          <p:spPr>
            <a:xfrm>
              <a:off x="8352000" y="4897023"/>
              <a:ext cx="2952000" cy="936000"/>
            </a:xfrm>
            <a:prstGeom prst="rect">
              <a:avLst/>
            </a:prstGeom>
            <a:noFill/>
            <a:ln w="25400">
              <a:solidFill>
                <a:srgbClr val="0000F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1" name="椭圆 210">
              <a:extLst>
                <a:ext uri="{FF2B5EF4-FFF2-40B4-BE49-F238E27FC236}">
                  <a16:creationId xmlns:a16="http://schemas.microsoft.com/office/drawing/2014/main" id="{8743883F-5B2B-1815-8CE9-C0E6B4C8D6C1}"/>
                </a:ext>
              </a:extLst>
            </p:cNvPr>
            <p:cNvSpPr/>
            <p:nvPr/>
          </p:nvSpPr>
          <p:spPr>
            <a:xfrm>
              <a:off x="7668000" y="2556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2" name="椭圆 211">
              <a:extLst>
                <a:ext uri="{FF2B5EF4-FFF2-40B4-BE49-F238E27FC236}">
                  <a16:creationId xmlns:a16="http://schemas.microsoft.com/office/drawing/2014/main" id="{49BE3E97-A7FD-3FBC-074C-E66BA70B595E}"/>
                </a:ext>
              </a:extLst>
            </p:cNvPr>
            <p:cNvSpPr/>
            <p:nvPr/>
          </p:nvSpPr>
          <p:spPr>
            <a:xfrm>
              <a:off x="7668000" y="3204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3" name="椭圆 212">
              <a:extLst>
                <a:ext uri="{FF2B5EF4-FFF2-40B4-BE49-F238E27FC236}">
                  <a16:creationId xmlns:a16="http://schemas.microsoft.com/office/drawing/2014/main" id="{5EF5DF84-AE1E-16D5-DDBD-5DC55DF0C3F3}"/>
                </a:ext>
              </a:extLst>
            </p:cNvPr>
            <p:cNvSpPr/>
            <p:nvPr/>
          </p:nvSpPr>
          <p:spPr>
            <a:xfrm>
              <a:off x="7668000" y="3852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4" name="椭圆 213">
              <a:extLst>
                <a:ext uri="{FF2B5EF4-FFF2-40B4-BE49-F238E27FC236}">
                  <a16:creationId xmlns:a16="http://schemas.microsoft.com/office/drawing/2014/main" id="{7CFD81DB-B85B-4817-0162-CE530B426DD9}"/>
                </a:ext>
              </a:extLst>
            </p:cNvPr>
            <p:cNvSpPr/>
            <p:nvPr/>
          </p:nvSpPr>
          <p:spPr>
            <a:xfrm>
              <a:off x="7668000" y="4500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5" name="直接连接符 214">
              <a:extLst>
                <a:ext uri="{FF2B5EF4-FFF2-40B4-BE49-F238E27FC236}">
                  <a16:creationId xmlns:a16="http://schemas.microsoft.com/office/drawing/2014/main" id="{0FE7F810-B22B-ABDA-6A13-C4CD208209F7}"/>
                </a:ext>
              </a:extLst>
            </p:cNvPr>
            <p:cNvCxnSpPr>
              <a:cxnSpLocks/>
            </p:cNvCxnSpPr>
            <p:nvPr/>
          </p:nvCxnSpPr>
          <p:spPr>
            <a:xfrm>
              <a:off x="6228000" y="3162814"/>
              <a:ext cx="2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8" name="直接连接符 217">
              <a:extLst>
                <a:ext uri="{FF2B5EF4-FFF2-40B4-BE49-F238E27FC236}">
                  <a16:creationId xmlns:a16="http://schemas.microsoft.com/office/drawing/2014/main" id="{26FE795A-45C8-A8BA-B3C1-BEE8314B5B42}"/>
                </a:ext>
              </a:extLst>
            </p:cNvPr>
            <p:cNvCxnSpPr>
              <a:cxnSpLocks/>
            </p:cNvCxnSpPr>
            <p:nvPr/>
          </p:nvCxnSpPr>
          <p:spPr>
            <a:xfrm>
              <a:off x="6228000" y="3982967"/>
              <a:ext cx="2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3" name="文本框 222">
                  <a:extLst>
                    <a:ext uri="{FF2B5EF4-FFF2-40B4-BE49-F238E27FC236}">
                      <a16:creationId xmlns:a16="http://schemas.microsoft.com/office/drawing/2014/main" id="{B0BD2E0F-F116-ED7F-5ADE-8EC99D037737}"/>
                    </a:ext>
                  </a:extLst>
                </p:cNvPr>
                <p:cNvSpPr txBox="1"/>
                <p:nvPr/>
              </p:nvSpPr>
              <p:spPr>
                <a:xfrm>
                  <a:off x="5760000" y="2952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A</m:t>
                            </m:r>
                          </m:e>
                          <m:sub>
                            <m:r>
                              <a:rPr lang="en-US" altLang="zh-CN" sz="2400" b="0" i="1" smtClean="0">
                                <a:solidFill>
                                  <a:schemeClr val="accent5">
                                    <a:lumMod val="75000"/>
                                  </a:schemeClr>
                                </a:solidFill>
                                <a:latin typeface="Cambria Math" panose="02040503050406030204" pitchFamily="18" charset="0"/>
                              </a:rPr>
                              <m:t>1</m:t>
                            </m:r>
                          </m:sub>
                        </m:sSub>
                      </m:oMath>
                    </m:oMathPara>
                  </a14:m>
                  <a:endParaRPr lang="zh-CN" altLang="en-US" sz="2400" dirty="0">
                    <a:solidFill>
                      <a:schemeClr val="accent5">
                        <a:lumMod val="75000"/>
                      </a:schemeClr>
                    </a:solidFill>
                  </a:endParaRPr>
                </a:p>
              </p:txBody>
            </p:sp>
          </mc:Choice>
          <mc:Fallback xmlns="">
            <p:sp>
              <p:nvSpPr>
                <p:cNvPr id="223" name="文本框 222">
                  <a:extLst>
                    <a:ext uri="{FF2B5EF4-FFF2-40B4-BE49-F238E27FC236}">
                      <a16:creationId xmlns:a16="http://schemas.microsoft.com/office/drawing/2014/main" id="{B0BD2E0F-F116-ED7F-5ADE-8EC99D037737}"/>
                    </a:ext>
                  </a:extLst>
                </p:cNvPr>
                <p:cNvSpPr txBox="1">
                  <a:spLocks noRot="1" noChangeAspect="1" noMove="1" noResize="1" noEditPoints="1" noAdjustHandles="1" noChangeArrowheads="1" noChangeShapeType="1" noTextEdit="1"/>
                </p:cNvSpPr>
                <p:nvPr/>
              </p:nvSpPr>
              <p:spPr>
                <a:xfrm>
                  <a:off x="5760000" y="2952000"/>
                  <a:ext cx="538560" cy="360000"/>
                </a:xfrm>
                <a:prstGeom prst="rect">
                  <a:avLst/>
                </a:prstGeom>
                <a:blipFill>
                  <a:blip r:embed="rId39"/>
                  <a:stretch>
                    <a:fillRect l="-1136"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4" name="文本框 223">
                  <a:extLst>
                    <a:ext uri="{FF2B5EF4-FFF2-40B4-BE49-F238E27FC236}">
                      <a16:creationId xmlns:a16="http://schemas.microsoft.com/office/drawing/2014/main" id="{71D6A917-9172-E3B2-59BC-1332D8ECFEAE}"/>
                    </a:ext>
                  </a:extLst>
                </p:cNvPr>
                <p:cNvSpPr txBox="1"/>
                <p:nvPr/>
              </p:nvSpPr>
              <p:spPr>
                <a:xfrm>
                  <a:off x="5760000" y="3780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A</m:t>
                            </m:r>
                          </m:e>
                          <m:sub>
                            <m:r>
                              <a:rPr lang="en-US" altLang="zh-CN" sz="2400" i="1">
                                <a:solidFill>
                                  <a:schemeClr val="accent5">
                                    <a:lumMod val="75000"/>
                                  </a:schemeClr>
                                </a:solidFill>
                                <a:latin typeface="Cambria Math" panose="02040503050406030204" pitchFamily="18" charset="0"/>
                              </a:rPr>
                              <m:t>0</m:t>
                            </m:r>
                          </m:sub>
                        </m:sSub>
                      </m:oMath>
                    </m:oMathPara>
                  </a14:m>
                  <a:endParaRPr lang="zh-CN" altLang="en-US" sz="2400" dirty="0">
                    <a:solidFill>
                      <a:schemeClr val="accent5">
                        <a:lumMod val="75000"/>
                      </a:schemeClr>
                    </a:solidFill>
                  </a:endParaRPr>
                </a:p>
              </p:txBody>
            </p:sp>
          </mc:Choice>
          <mc:Fallback xmlns="">
            <p:sp>
              <p:nvSpPr>
                <p:cNvPr id="224" name="文本框 223">
                  <a:extLst>
                    <a:ext uri="{FF2B5EF4-FFF2-40B4-BE49-F238E27FC236}">
                      <a16:creationId xmlns:a16="http://schemas.microsoft.com/office/drawing/2014/main" id="{71D6A917-9172-E3B2-59BC-1332D8ECFEAE}"/>
                    </a:ext>
                  </a:extLst>
                </p:cNvPr>
                <p:cNvSpPr txBox="1">
                  <a:spLocks noRot="1" noChangeAspect="1" noMove="1" noResize="1" noEditPoints="1" noAdjustHandles="1" noChangeArrowheads="1" noChangeShapeType="1" noTextEdit="1"/>
                </p:cNvSpPr>
                <p:nvPr/>
              </p:nvSpPr>
              <p:spPr>
                <a:xfrm>
                  <a:off x="5760000" y="3780000"/>
                  <a:ext cx="538560" cy="360000"/>
                </a:xfrm>
                <a:prstGeom prst="rect">
                  <a:avLst/>
                </a:prstGeom>
                <a:blipFill>
                  <a:blip r:embed="rId40"/>
                  <a:stretch>
                    <a:fillRect l="-2273"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 name="文本框 224">
                  <a:extLst>
                    <a:ext uri="{FF2B5EF4-FFF2-40B4-BE49-F238E27FC236}">
                      <a16:creationId xmlns:a16="http://schemas.microsoft.com/office/drawing/2014/main" id="{0C98822E-BCE7-3575-5A4F-4665307C6005}"/>
                    </a:ext>
                  </a:extLst>
                </p:cNvPr>
                <p:cNvSpPr txBox="1"/>
                <p:nvPr/>
              </p:nvSpPr>
              <p:spPr>
                <a:xfrm>
                  <a:off x="5760000" y="5544000"/>
                  <a:ext cx="54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i="1" smtClean="0">
                                <a:solidFill>
                                  <a:schemeClr val="accent5">
                                    <a:lumMod val="75000"/>
                                  </a:schemeClr>
                                </a:solidFill>
                                <a:latin typeface="Cambria Math" panose="02040503050406030204" pitchFamily="18" charset="0"/>
                              </a:rPr>
                            </m:ctrlPr>
                          </m:accPr>
                          <m:e>
                            <m:r>
                              <m:rPr>
                                <m:sty m:val="p"/>
                              </m:rPr>
                              <a:rPr lang="en-US" altLang="zh-CN" sz="2400" b="0" i="0" smtClean="0">
                                <a:solidFill>
                                  <a:schemeClr val="accent5">
                                    <a:lumMod val="75000"/>
                                  </a:schemeClr>
                                </a:solidFill>
                                <a:latin typeface="Cambria Math" panose="02040503050406030204" pitchFamily="18" charset="0"/>
                              </a:rPr>
                              <m:t>OE</m:t>
                            </m:r>
                          </m:e>
                        </m:acc>
                      </m:oMath>
                    </m:oMathPara>
                  </a14:m>
                  <a:endParaRPr lang="zh-CN" altLang="en-US" sz="2400" dirty="0">
                    <a:solidFill>
                      <a:schemeClr val="accent5">
                        <a:lumMod val="75000"/>
                      </a:schemeClr>
                    </a:solidFill>
                  </a:endParaRPr>
                </a:p>
              </p:txBody>
            </p:sp>
          </mc:Choice>
          <mc:Fallback xmlns="">
            <p:sp>
              <p:nvSpPr>
                <p:cNvPr id="225" name="文本框 224">
                  <a:extLst>
                    <a:ext uri="{FF2B5EF4-FFF2-40B4-BE49-F238E27FC236}">
                      <a16:creationId xmlns:a16="http://schemas.microsoft.com/office/drawing/2014/main" id="{0C98822E-BCE7-3575-5A4F-4665307C6005}"/>
                    </a:ext>
                  </a:extLst>
                </p:cNvPr>
                <p:cNvSpPr txBox="1">
                  <a:spLocks noRot="1" noChangeAspect="1" noMove="1" noResize="1" noEditPoints="1" noAdjustHandles="1" noChangeArrowheads="1" noChangeShapeType="1" noTextEdit="1"/>
                </p:cNvSpPr>
                <p:nvPr/>
              </p:nvSpPr>
              <p:spPr>
                <a:xfrm>
                  <a:off x="5760000" y="5544000"/>
                  <a:ext cx="540000" cy="360000"/>
                </a:xfrm>
                <a:prstGeom prst="rect">
                  <a:avLst/>
                </a:prstGeom>
                <a:blipFill>
                  <a:blip r:embed="rId41"/>
                  <a:stretch>
                    <a:fillRect l="-4545" r="-5682" b="-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7" name="文本框 226">
                  <a:extLst>
                    <a:ext uri="{FF2B5EF4-FFF2-40B4-BE49-F238E27FC236}">
                      <a16:creationId xmlns:a16="http://schemas.microsoft.com/office/drawing/2014/main" id="{BFCB5C9F-A343-13E1-E4AE-0B01A4AFD2CE}"/>
                    </a:ext>
                  </a:extLst>
                </p:cNvPr>
                <p:cNvSpPr txBox="1"/>
                <p:nvPr/>
              </p:nvSpPr>
              <p:spPr>
                <a:xfrm>
                  <a:off x="10692000" y="5976000"/>
                  <a:ext cx="576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D</m:t>
                            </m:r>
                          </m:e>
                          <m:sub>
                            <m:r>
                              <a:rPr lang="en-US" altLang="zh-CN" sz="2400" i="1">
                                <a:solidFill>
                                  <a:schemeClr val="accent5">
                                    <a:lumMod val="75000"/>
                                  </a:schemeClr>
                                </a:solidFill>
                                <a:latin typeface="Cambria Math" panose="02040503050406030204" pitchFamily="18" charset="0"/>
                              </a:rPr>
                              <m:t>0</m:t>
                            </m:r>
                          </m:sub>
                        </m:sSub>
                      </m:oMath>
                    </m:oMathPara>
                  </a14:m>
                  <a:endParaRPr lang="zh-CN" altLang="en-US" sz="2400" dirty="0">
                    <a:solidFill>
                      <a:schemeClr val="accent5">
                        <a:lumMod val="75000"/>
                      </a:schemeClr>
                    </a:solidFill>
                  </a:endParaRPr>
                </a:p>
              </p:txBody>
            </p:sp>
          </mc:Choice>
          <mc:Fallback xmlns="">
            <p:sp>
              <p:nvSpPr>
                <p:cNvPr id="227" name="文本框 226">
                  <a:extLst>
                    <a:ext uri="{FF2B5EF4-FFF2-40B4-BE49-F238E27FC236}">
                      <a16:creationId xmlns:a16="http://schemas.microsoft.com/office/drawing/2014/main" id="{BFCB5C9F-A343-13E1-E4AE-0B01A4AFD2CE}"/>
                    </a:ext>
                  </a:extLst>
                </p:cNvPr>
                <p:cNvSpPr txBox="1">
                  <a:spLocks noRot="1" noChangeAspect="1" noMove="1" noResize="1" noEditPoints="1" noAdjustHandles="1" noChangeArrowheads="1" noChangeShapeType="1" noTextEdit="1"/>
                </p:cNvSpPr>
                <p:nvPr/>
              </p:nvSpPr>
              <p:spPr>
                <a:xfrm>
                  <a:off x="10692000" y="5976000"/>
                  <a:ext cx="576000" cy="360000"/>
                </a:xfrm>
                <a:prstGeom prst="rect">
                  <a:avLst/>
                </a:prstGeom>
                <a:blipFill>
                  <a:blip r:embed="rId42"/>
                  <a:stretch>
                    <a:fillRect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8" name="文本框 227">
                  <a:extLst>
                    <a:ext uri="{FF2B5EF4-FFF2-40B4-BE49-F238E27FC236}">
                      <a16:creationId xmlns:a16="http://schemas.microsoft.com/office/drawing/2014/main" id="{2D79B4BA-D9C8-998D-F04F-067043B9B63B}"/>
                    </a:ext>
                  </a:extLst>
                </p:cNvPr>
                <p:cNvSpPr txBox="1"/>
                <p:nvPr/>
              </p:nvSpPr>
              <p:spPr>
                <a:xfrm>
                  <a:off x="10044000" y="5976000"/>
                  <a:ext cx="576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D</m:t>
                            </m:r>
                          </m:e>
                          <m:sub>
                            <m:r>
                              <a:rPr lang="en-US" altLang="zh-CN" sz="2400" i="1">
                                <a:solidFill>
                                  <a:schemeClr val="accent5">
                                    <a:lumMod val="75000"/>
                                  </a:schemeClr>
                                </a:solidFill>
                                <a:latin typeface="Cambria Math" panose="02040503050406030204" pitchFamily="18" charset="0"/>
                              </a:rPr>
                              <m:t>1</m:t>
                            </m:r>
                          </m:sub>
                        </m:sSub>
                      </m:oMath>
                    </m:oMathPara>
                  </a14:m>
                  <a:endParaRPr lang="zh-CN" altLang="en-US" sz="2400" dirty="0">
                    <a:solidFill>
                      <a:schemeClr val="accent5">
                        <a:lumMod val="75000"/>
                      </a:schemeClr>
                    </a:solidFill>
                  </a:endParaRPr>
                </a:p>
              </p:txBody>
            </p:sp>
          </mc:Choice>
          <mc:Fallback xmlns="">
            <p:sp>
              <p:nvSpPr>
                <p:cNvPr id="228" name="文本框 227">
                  <a:extLst>
                    <a:ext uri="{FF2B5EF4-FFF2-40B4-BE49-F238E27FC236}">
                      <a16:creationId xmlns:a16="http://schemas.microsoft.com/office/drawing/2014/main" id="{2D79B4BA-D9C8-998D-F04F-067043B9B63B}"/>
                    </a:ext>
                  </a:extLst>
                </p:cNvPr>
                <p:cNvSpPr txBox="1">
                  <a:spLocks noRot="1" noChangeAspect="1" noMove="1" noResize="1" noEditPoints="1" noAdjustHandles="1" noChangeArrowheads="1" noChangeShapeType="1" noTextEdit="1"/>
                </p:cNvSpPr>
                <p:nvPr/>
              </p:nvSpPr>
              <p:spPr>
                <a:xfrm>
                  <a:off x="10044000" y="5976000"/>
                  <a:ext cx="576000" cy="360000"/>
                </a:xfrm>
                <a:prstGeom prst="rect">
                  <a:avLst/>
                </a:prstGeom>
                <a:blipFill>
                  <a:blip r:embed="rId43"/>
                  <a:stretch>
                    <a:fillRect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9" name="文本框 228">
                  <a:extLst>
                    <a:ext uri="{FF2B5EF4-FFF2-40B4-BE49-F238E27FC236}">
                      <a16:creationId xmlns:a16="http://schemas.microsoft.com/office/drawing/2014/main" id="{9AFDFCA0-8F7D-CCAE-56B3-81982820F71D}"/>
                    </a:ext>
                  </a:extLst>
                </p:cNvPr>
                <p:cNvSpPr txBox="1"/>
                <p:nvPr/>
              </p:nvSpPr>
              <p:spPr>
                <a:xfrm>
                  <a:off x="9396000" y="5976000"/>
                  <a:ext cx="576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D</m:t>
                            </m:r>
                          </m:e>
                          <m:sub>
                            <m:r>
                              <a:rPr lang="en-US" altLang="zh-CN" sz="2400" i="1">
                                <a:solidFill>
                                  <a:schemeClr val="accent5">
                                    <a:lumMod val="75000"/>
                                  </a:schemeClr>
                                </a:solidFill>
                                <a:latin typeface="Cambria Math" panose="02040503050406030204" pitchFamily="18" charset="0"/>
                              </a:rPr>
                              <m:t>2</m:t>
                            </m:r>
                          </m:sub>
                        </m:sSub>
                      </m:oMath>
                    </m:oMathPara>
                  </a14:m>
                  <a:endParaRPr lang="zh-CN" altLang="en-US" sz="2400" dirty="0">
                    <a:solidFill>
                      <a:schemeClr val="accent5">
                        <a:lumMod val="75000"/>
                      </a:schemeClr>
                    </a:solidFill>
                  </a:endParaRPr>
                </a:p>
              </p:txBody>
            </p:sp>
          </mc:Choice>
          <mc:Fallback xmlns="">
            <p:sp>
              <p:nvSpPr>
                <p:cNvPr id="229" name="文本框 228">
                  <a:extLst>
                    <a:ext uri="{FF2B5EF4-FFF2-40B4-BE49-F238E27FC236}">
                      <a16:creationId xmlns:a16="http://schemas.microsoft.com/office/drawing/2014/main" id="{9AFDFCA0-8F7D-CCAE-56B3-81982820F71D}"/>
                    </a:ext>
                  </a:extLst>
                </p:cNvPr>
                <p:cNvSpPr txBox="1">
                  <a:spLocks noRot="1" noChangeAspect="1" noMove="1" noResize="1" noEditPoints="1" noAdjustHandles="1" noChangeArrowheads="1" noChangeShapeType="1" noTextEdit="1"/>
                </p:cNvSpPr>
                <p:nvPr/>
              </p:nvSpPr>
              <p:spPr>
                <a:xfrm>
                  <a:off x="9396000" y="5976000"/>
                  <a:ext cx="576000" cy="360000"/>
                </a:xfrm>
                <a:prstGeom prst="rect">
                  <a:avLst/>
                </a:prstGeom>
                <a:blipFill>
                  <a:blip r:embed="rId44"/>
                  <a:stretch>
                    <a:fillRect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0" name="文本框 229">
                  <a:extLst>
                    <a:ext uri="{FF2B5EF4-FFF2-40B4-BE49-F238E27FC236}">
                      <a16:creationId xmlns:a16="http://schemas.microsoft.com/office/drawing/2014/main" id="{1FD12503-E32E-44A8-1A0C-C5D74C0EB4DD}"/>
                    </a:ext>
                  </a:extLst>
                </p:cNvPr>
                <p:cNvSpPr txBox="1"/>
                <p:nvPr/>
              </p:nvSpPr>
              <p:spPr>
                <a:xfrm>
                  <a:off x="8748000" y="5976000"/>
                  <a:ext cx="576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D</m:t>
                            </m:r>
                          </m:e>
                          <m:sub>
                            <m:r>
                              <a:rPr lang="en-US" altLang="zh-CN" sz="2400" i="1">
                                <a:solidFill>
                                  <a:schemeClr val="accent5">
                                    <a:lumMod val="75000"/>
                                  </a:schemeClr>
                                </a:solidFill>
                                <a:latin typeface="Cambria Math" panose="02040503050406030204" pitchFamily="18" charset="0"/>
                              </a:rPr>
                              <m:t>3</m:t>
                            </m:r>
                          </m:sub>
                        </m:sSub>
                      </m:oMath>
                    </m:oMathPara>
                  </a14:m>
                  <a:endParaRPr lang="zh-CN" altLang="en-US" sz="2400" dirty="0">
                    <a:solidFill>
                      <a:schemeClr val="accent5">
                        <a:lumMod val="75000"/>
                      </a:schemeClr>
                    </a:solidFill>
                  </a:endParaRPr>
                </a:p>
              </p:txBody>
            </p:sp>
          </mc:Choice>
          <mc:Fallback xmlns="">
            <p:sp>
              <p:nvSpPr>
                <p:cNvPr id="230" name="文本框 229">
                  <a:extLst>
                    <a:ext uri="{FF2B5EF4-FFF2-40B4-BE49-F238E27FC236}">
                      <a16:creationId xmlns:a16="http://schemas.microsoft.com/office/drawing/2014/main" id="{1FD12503-E32E-44A8-1A0C-C5D74C0EB4DD}"/>
                    </a:ext>
                  </a:extLst>
                </p:cNvPr>
                <p:cNvSpPr txBox="1">
                  <a:spLocks noRot="1" noChangeAspect="1" noMove="1" noResize="1" noEditPoints="1" noAdjustHandles="1" noChangeArrowheads="1" noChangeShapeType="1" noTextEdit="1"/>
                </p:cNvSpPr>
                <p:nvPr/>
              </p:nvSpPr>
              <p:spPr>
                <a:xfrm>
                  <a:off x="8748000" y="5976000"/>
                  <a:ext cx="576000" cy="360000"/>
                </a:xfrm>
                <a:prstGeom prst="rect">
                  <a:avLst/>
                </a:prstGeom>
                <a:blipFill>
                  <a:blip r:embed="rId45"/>
                  <a:stretch>
                    <a:fillRect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9" name="文本框 238">
                  <a:extLst>
                    <a:ext uri="{FF2B5EF4-FFF2-40B4-BE49-F238E27FC236}">
                      <a16:creationId xmlns:a16="http://schemas.microsoft.com/office/drawing/2014/main" id="{3E4C95D9-4059-EFD4-38D9-3B9E4F58E866}"/>
                    </a:ext>
                  </a:extLst>
                </p:cNvPr>
                <p:cNvSpPr txBox="1"/>
                <p:nvPr/>
              </p:nvSpPr>
              <p:spPr>
                <a:xfrm>
                  <a:off x="9720000" y="648000"/>
                  <a:ext cx="576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5 </m:t>
                        </m:r>
                        <m:r>
                          <m:rPr>
                            <m:sty m:val="p"/>
                          </m:rPr>
                          <a:rPr lang="en-US" altLang="zh-CN" sz="2400" b="0" i="0" smtClean="0">
                            <a:solidFill>
                              <a:schemeClr val="accent5">
                                <a:lumMod val="75000"/>
                              </a:schemeClr>
                            </a:solidFill>
                            <a:latin typeface="Cambria Math" panose="02040503050406030204" pitchFamily="18" charset="0"/>
                          </a:rPr>
                          <m:t>V</m:t>
                        </m:r>
                      </m:oMath>
                    </m:oMathPara>
                  </a14:m>
                  <a:endParaRPr lang="zh-CN" altLang="en-US" sz="2400" dirty="0">
                    <a:solidFill>
                      <a:schemeClr val="accent5">
                        <a:lumMod val="75000"/>
                      </a:schemeClr>
                    </a:solidFill>
                  </a:endParaRPr>
                </a:p>
              </p:txBody>
            </p:sp>
          </mc:Choice>
          <mc:Fallback xmlns="">
            <p:sp>
              <p:nvSpPr>
                <p:cNvPr id="239" name="文本框 238">
                  <a:extLst>
                    <a:ext uri="{FF2B5EF4-FFF2-40B4-BE49-F238E27FC236}">
                      <a16:creationId xmlns:a16="http://schemas.microsoft.com/office/drawing/2014/main" id="{3E4C95D9-4059-EFD4-38D9-3B9E4F58E866}"/>
                    </a:ext>
                  </a:extLst>
                </p:cNvPr>
                <p:cNvSpPr txBox="1">
                  <a:spLocks noRot="1" noChangeAspect="1" noMove="1" noResize="1" noEditPoints="1" noAdjustHandles="1" noChangeArrowheads="1" noChangeShapeType="1" noTextEdit="1"/>
                </p:cNvSpPr>
                <p:nvPr/>
              </p:nvSpPr>
              <p:spPr>
                <a:xfrm>
                  <a:off x="9720000" y="648000"/>
                  <a:ext cx="576000" cy="360000"/>
                </a:xfrm>
                <a:prstGeom prst="rect">
                  <a:avLst/>
                </a:prstGeom>
                <a:blipFill>
                  <a:blip r:embed="rId46"/>
                  <a:stretch>
                    <a:fillRect l="-5263" r="-5263" b="-11864"/>
                  </a:stretch>
                </a:blipFill>
              </p:spPr>
              <p:txBody>
                <a:bodyPr/>
                <a:lstStyle/>
                <a:p>
                  <a:r>
                    <a:rPr lang="zh-CN" altLang="en-US">
                      <a:noFill/>
                    </a:rPr>
                    <a:t> </a:t>
                  </a:r>
                </a:p>
              </p:txBody>
            </p:sp>
          </mc:Fallback>
        </mc:AlternateContent>
        <p:sp>
          <p:nvSpPr>
            <p:cNvPr id="241" name="文本框 240">
              <a:extLst>
                <a:ext uri="{FF2B5EF4-FFF2-40B4-BE49-F238E27FC236}">
                  <a16:creationId xmlns:a16="http://schemas.microsoft.com/office/drawing/2014/main" id="{6C36D9A7-8CCE-4B43-35CA-68110BE915A6}"/>
                </a:ext>
              </a:extLst>
            </p:cNvPr>
            <p:cNvSpPr txBox="1"/>
            <p:nvPr/>
          </p:nvSpPr>
          <p:spPr>
            <a:xfrm>
              <a:off x="11412000" y="2448000"/>
              <a:ext cx="648000" cy="646331"/>
            </a:xfrm>
            <a:prstGeom prst="rect">
              <a:avLst/>
            </a:prstGeom>
            <a:noFill/>
          </p:spPr>
          <p:txBody>
            <a:bodyPr wrap="square">
              <a:spAutoFit/>
            </a:bodyPr>
            <a:lstStyle/>
            <a:p>
              <a:pPr algn="ctr"/>
              <a:r>
                <a:rPr kumimoji="1" lang="zh-CN" altLang="en-US" dirty="0">
                  <a:solidFill>
                    <a:srgbClr val="0000FF"/>
                  </a:solidFill>
                  <a:latin typeface="微软雅黑" panose="020B0503020204020204" pitchFamily="34" charset="-122"/>
                  <a:ea typeface="微软雅黑" panose="020B0503020204020204" pitchFamily="34" charset="-122"/>
                </a:rPr>
                <a:t>存储</a:t>
              </a:r>
              <a:endParaRPr kumimoji="1" lang="en-US" altLang="zh-CN" dirty="0">
                <a:solidFill>
                  <a:srgbClr val="0000FF"/>
                </a:solidFill>
                <a:latin typeface="微软雅黑" panose="020B0503020204020204" pitchFamily="34" charset="-122"/>
                <a:ea typeface="微软雅黑" panose="020B0503020204020204" pitchFamily="34" charset="-122"/>
              </a:endParaRPr>
            </a:p>
            <a:p>
              <a:pPr algn="ctr"/>
              <a:r>
                <a:rPr kumimoji="1" lang="zh-CN" altLang="en-US" dirty="0">
                  <a:solidFill>
                    <a:srgbClr val="0000FF"/>
                  </a:solidFill>
                  <a:latin typeface="微软雅黑" panose="020B0503020204020204" pitchFamily="34" charset="-122"/>
                  <a:ea typeface="微软雅黑" panose="020B0503020204020204" pitchFamily="34" charset="-122"/>
                </a:rPr>
                <a:t>阵列</a:t>
              </a:r>
              <a:endParaRPr lang="zh-CN" altLang="en-US" dirty="0">
                <a:solidFill>
                  <a:srgbClr val="0000FF"/>
                </a:solidFill>
              </a:endParaRPr>
            </a:p>
          </p:txBody>
        </p:sp>
        <p:cxnSp>
          <p:nvCxnSpPr>
            <p:cNvPr id="243" name="直接连接符 242">
              <a:extLst>
                <a:ext uri="{FF2B5EF4-FFF2-40B4-BE49-F238E27FC236}">
                  <a16:creationId xmlns:a16="http://schemas.microsoft.com/office/drawing/2014/main" id="{CFB1BE53-46FC-504A-3227-047C501BF42C}"/>
                </a:ext>
              </a:extLst>
            </p:cNvPr>
            <p:cNvCxnSpPr>
              <a:cxnSpLocks/>
            </p:cNvCxnSpPr>
            <p:nvPr/>
          </p:nvCxnSpPr>
          <p:spPr>
            <a:xfrm flipH="1">
              <a:off x="11340000" y="2916000"/>
              <a:ext cx="144000" cy="10800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sp>
          <p:nvSpPr>
            <p:cNvPr id="245" name="文本框 244">
              <a:extLst>
                <a:ext uri="{FF2B5EF4-FFF2-40B4-BE49-F238E27FC236}">
                  <a16:creationId xmlns:a16="http://schemas.microsoft.com/office/drawing/2014/main" id="{54B6178D-1859-91F1-2208-0C2061CC1A4D}"/>
                </a:ext>
              </a:extLst>
            </p:cNvPr>
            <p:cNvSpPr txBox="1"/>
            <p:nvPr/>
          </p:nvSpPr>
          <p:spPr>
            <a:xfrm>
              <a:off x="11412000" y="4608000"/>
              <a:ext cx="648000" cy="900000"/>
            </a:xfrm>
            <a:prstGeom prst="rect">
              <a:avLst/>
            </a:prstGeom>
            <a:noFill/>
          </p:spPr>
          <p:txBody>
            <a:bodyPr wrap="square">
              <a:spAutoFit/>
            </a:bodyPr>
            <a:lstStyle/>
            <a:p>
              <a:pPr algn="ctr"/>
              <a:r>
                <a:rPr kumimoji="1" lang="zh-CN" altLang="en-US" dirty="0">
                  <a:solidFill>
                    <a:srgbClr val="0000FF"/>
                  </a:solidFill>
                  <a:latin typeface="微软雅黑" panose="020B0503020204020204" pitchFamily="34" charset="-122"/>
                  <a:ea typeface="微软雅黑" panose="020B0503020204020204" pitchFamily="34" charset="-122"/>
                </a:rPr>
                <a:t>输出控制电路</a:t>
              </a:r>
              <a:endParaRPr lang="zh-CN" altLang="en-US" dirty="0">
                <a:solidFill>
                  <a:srgbClr val="0000FF"/>
                </a:solidFill>
              </a:endParaRPr>
            </a:p>
          </p:txBody>
        </p:sp>
        <p:cxnSp>
          <p:nvCxnSpPr>
            <p:cNvPr id="246" name="直接连接符 245">
              <a:extLst>
                <a:ext uri="{FF2B5EF4-FFF2-40B4-BE49-F238E27FC236}">
                  <a16:creationId xmlns:a16="http://schemas.microsoft.com/office/drawing/2014/main" id="{544E8B0C-3A8E-D268-9B17-E02037097C94}"/>
                </a:ext>
              </a:extLst>
            </p:cNvPr>
            <p:cNvCxnSpPr>
              <a:cxnSpLocks/>
            </p:cNvCxnSpPr>
            <p:nvPr/>
          </p:nvCxnSpPr>
          <p:spPr>
            <a:xfrm flipH="1">
              <a:off x="11340000" y="5148000"/>
              <a:ext cx="144000" cy="14400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sp>
          <p:nvSpPr>
            <p:cNvPr id="248" name="文本框 247">
              <a:extLst>
                <a:ext uri="{FF2B5EF4-FFF2-40B4-BE49-F238E27FC236}">
                  <a16:creationId xmlns:a16="http://schemas.microsoft.com/office/drawing/2014/main" id="{0B6607A3-3B02-27B8-3CE2-F9AA5E72A02D}"/>
                </a:ext>
              </a:extLst>
            </p:cNvPr>
            <p:cNvSpPr txBox="1"/>
            <p:nvPr/>
          </p:nvSpPr>
          <p:spPr>
            <a:xfrm>
              <a:off x="7307999" y="1332000"/>
              <a:ext cx="720000" cy="360000"/>
            </a:xfrm>
            <a:prstGeom prst="rect">
              <a:avLst/>
            </a:prstGeom>
            <a:noFill/>
          </p:spPr>
          <p:txBody>
            <a:bodyPr wrap="square">
              <a:spAutoFit/>
            </a:bodyPr>
            <a:lstStyle/>
            <a:p>
              <a:pPr algn="ctr"/>
              <a:r>
                <a:rPr kumimoji="1" lang="zh-CN" altLang="en-US" dirty="0">
                  <a:solidFill>
                    <a:srgbClr val="0000FF"/>
                  </a:solidFill>
                  <a:latin typeface="微软雅黑" panose="020B0503020204020204" pitchFamily="34" charset="-122"/>
                  <a:ea typeface="微软雅黑" panose="020B0503020204020204" pitchFamily="34" charset="-122"/>
                </a:rPr>
                <a:t>字线</a:t>
              </a:r>
              <a:endParaRPr lang="zh-CN" altLang="en-US" dirty="0">
                <a:solidFill>
                  <a:srgbClr val="0000FF"/>
                </a:solidFill>
              </a:endParaRPr>
            </a:p>
          </p:txBody>
        </p:sp>
        <p:sp>
          <p:nvSpPr>
            <p:cNvPr id="249" name="弧形 248">
              <a:extLst>
                <a:ext uri="{FF2B5EF4-FFF2-40B4-BE49-F238E27FC236}">
                  <a16:creationId xmlns:a16="http://schemas.microsoft.com/office/drawing/2014/main" id="{DDDF26C2-98A3-292A-10AB-EE399A27FBCD}"/>
                </a:ext>
              </a:extLst>
            </p:cNvPr>
            <p:cNvSpPr/>
            <p:nvPr/>
          </p:nvSpPr>
          <p:spPr>
            <a:xfrm rot="20968556">
              <a:off x="7576717" y="1566199"/>
              <a:ext cx="653841" cy="2248933"/>
            </a:xfrm>
            <a:prstGeom prst="arc">
              <a:avLst>
                <a:gd name="adj1" fmla="val 16632329"/>
                <a:gd name="adj2" fmla="val 20871880"/>
              </a:avLst>
            </a:prstGeom>
            <a:ln w="127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0" name="文本框 249">
              <a:extLst>
                <a:ext uri="{FF2B5EF4-FFF2-40B4-BE49-F238E27FC236}">
                  <a16:creationId xmlns:a16="http://schemas.microsoft.com/office/drawing/2014/main" id="{C1B196D9-399B-8741-97CD-F7B5084CD914}"/>
                </a:ext>
              </a:extLst>
            </p:cNvPr>
            <p:cNvSpPr txBox="1"/>
            <p:nvPr/>
          </p:nvSpPr>
          <p:spPr>
            <a:xfrm>
              <a:off x="8028000" y="1260000"/>
              <a:ext cx="720000" cy="360000"/>
            </a:xfrm>
            <a:prstGeom prst="rect">
              <a:avLst/>
            </a:prstGeom>
            <a:noFill/>
          </p:spPr>
          <p:txBody>
            <a:bodyPr wrap="square">
              <a:spAutoFit/>
            </a:bodyPr>
            <a:lstStyle/>
            <a:p>
              <a:pPr algn="ctr"/>
              <a:r>
                <a:rPr kumimoji="1" lang="zh-CN" altLang="en-US" dirty="0">
                  <a:solidFill>
                    <a:srgbClr val="0000FF"/>
                  </a:solidFill>
                  <a:latin typeface="微软雅黑" panose="020B0503020204020204" pitchFamily="34" charset="-122"/>
                  <a:ea typeface="微软雅黑" panose="020B0503020204020204" pitchFamily="34" charset="-122"/>
                </a:rPr>
                <a:t>位线</a:t>
              </a:r>
              <a:endParaRPr lang="zh-CN" altLang="en-US" dirty="0">
                <a:solidFill>
                  <a:srgbClr val="0000FF"/>
                </a:solidFill>
              </a:endParaRPr>
            </a:p>
          </p:txBody>
        </p:sp>
        <p:sp>
          <p:nvSpPr>
            <p:cNvPr id="251" name="弧形 250">
              <a:extLst>
                <a:ext uri="{FF2B5EF4-FFF2-40B4-BE49-F238E27FC236}">
                  <a16:creationId xmlns:a16="http://schemas.microsoft.com/office/drawing/2014/main" id="{FA8B0988-BB59-64CF-5139-09A016A6EC3D}"/>
                </a:ext>
              </a:extLst>
            </p:cNvPr>
            <p:cNvSpPr/>
            <p:nvPr/>
          </p:nvSpPr>
          <p:spPr>
            <a:xfrm rot="19275396" flipH="1">
              <a:off x="8496000" y="900000"/>
              <a:ext cx="653841" cy="1056765"/>
            </a:xfrm>
            <a:prstGeom prst="arc">
              <a:avLst>
                <a:gd name="adj1" fmla="val 20563246"/>
                <a:gd name="adj2" fmla="val 4314086"/>
              </a:avLst>
            </a:prstGeom>
            <a:ln w="127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57" name="文本框 256">
                  <a:extLst>
                    <a:ext uri="{FF2B5EF4-FFF2-40B4-BE49-F238E27FC236}">
                      <a16:creationId xmlns:a16="http://schemas.microsoft.com/office/drawing/2014/main" id="{C8B5851F-4ED6-D2D9-BD83-4E8F6050CE5B}"/>
                    </a:ext>
                  </a:extLst>
                </p:cNvPr>
                <p:cNvSpPr txBox="1"/>
                <p:nvPr/>
              </p:nvSpPr>
              <p:spPr>
                <a:xfrm>
                  <a:off x="6372000" y="2952000"/>
                  <a:ext cx="53856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b="0" i="1" smtClean="0">
                                <a:solidFill>
                                  <a:schemeClr val="tx1"/>
                                </a:solidFill>
                                <a:latin typeface="Cambria Math" panose="02040503050406030204" pitchFamily="18" charset="0"/>
                              </a:rPr>
                              <m:t>1</m:t>
                            </m:r>
                          </m:sub>
                        </m:sSub>
                      </m:oMath>
                    </m:oMathPara>
                  </a14:m>
                  <a:endParaRPr lang="zh-CN" altLang="en-US" sz="2400" dirty="0">
                    <a:solidFill>
                      <a:schemeClr val="tx1"/>
                    </a:solidFill>
                  </a:endParaRPr>
                </a:p>
              </p:txBody>
            </p:sp>
          </mc:Choice>
          <mc:Fallback xmlns="">
            <p:sp>
              <p:nvSpPr>
                <p:cNvPr id="257" name="文本框 256">
                  <a:extLst>
                    <a:ext uri="{FF2B5EF4-FFF2-40B4-BE49-F238E27FC236}">
                      <a16:creationId xmlns:a16="http://schemas.microsoft.com/office/drawing/2014/main" id="{C8B5851F-4ED6-D2D9-BD83-4E8F6050CE5B}"/>
                    </a:ext>
                  </a:extLst>
                </p:cNvPr>
                <p:cNvSpPr txBox="1">
                  <a:spLocks noRot="1" noChangeAspect="1" noMove="1" noResize="1" noEditPoints="1" noAdjustHandles="1" noChangeArrowheads="1" noChangeShapeType="1" noTextEdit="1"/>
                </p:cNvSpPr>
                <p:nvPr/>
              </p:nvSpPr>
              <p:spPr>
                <a:xfrm>
                  <a:off x="6372000" y="2952000"/>
                  <a:ext cx="538560" cy="369332"/>
                </a:xfrm>
                <a:prstGeom prst="rect">
                  <a:avLst/>
                </a:prstGeom>
                <a:blipFill>
                  <a:blip r:embed="rId47"/>
                  <a:stretch>
                    <a:fillRect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0" name="文本框 259">
                  <a:extLst>
                    <a:ext uri="{FF2B5EF4-FFF2-40B4-BE49-F238E27FC236}">
                      <a16:creationId xmlns:a16="http://schemas.microsoft.com/office/drawing/2014/main" id="{72AC44B2-DB1E-02E9-91E2-5CCDD39E36D2}"/>
                    </a:ext>
                  </a:extLst>
                </p:cNvPr>
                <p:cNvSpPr txBox="1"/>
                <p:nvPr/>
              </p:nvSpPr>
              <p:spPr>
                <a:xfrm>
                  <a:off x="6372000" y="3780000"/>
                  <a:ext cx="53856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b="0" i="1" smtClean="0">
                                <a:solidFill>
                                  <a:schemeClr val="tx1"/>
                                </a:solidFill>
                                <a:latin typeface="Cambria Math" panose="02040503050406030204" pitchFamily="18" charset="0"/>
                              </a:rPr>
                              <m:t>0</m:t>
                            </m:r>
                          </m:sub>
                        </m:sSub>
                      </m:oMath>
                    </m:oMathPara>
                  </a14:m>
                  <a:endParaRPr lang="zh-CN" altLang="en-US" sz="2400" dirty="0">
                    <a:solidFill>
                      <a:schemeClr val="tx1"/>
                    </a:solidFill>
                  </a:endParaRPr>
                </a:p>
              </p:txBody>
            </p:sp>
          </mc:Choice>
          <mc:Fallback xmlns="">
            <p:sp>
              <p:nvSpPr>
                <p:cNvPr id="260" name="文本框 259">
                  <a:extLst>
                    <a:ext uri="{FF2B5EF4-FFF2-40B4-BE49-F238E27FC236}">
                      <a16:creationId xmlns:a16="http://schemas.microsoft.com/office/drawing/2014/main" id="{72AC44B2-DB1E-02E9-91E2-5CCDD39E36D2}"/>
                    </a:ext>
                  </a:extLst>
                </p:cNvPr>
                <p:cNvSpPr txBox="1">
                  <a:spLocks noRot="1" noChangeAspect="1" noMove="1" noResize="1" noEditPoints="1" noAdjustHandles="1" noChangeArrowheads="1" noChangeShapeType="1" noTextEdit="1"/>
                </p:cNvSpPr>
                <p:nvPr/>
              </p:nvSpPr>
              <p:spPr>
                <a:xfrm>
                  <a:off x="6372000" y="3780000"/>
                  <a:ext cx="538560" cy="369332"/>
                </a:xfrm>
                <a:prstGeom prst="rect">
                  <a:avLst/>
                </a:prstGeom>
                <a:blipFill>
                  <a:blip r:embed="rId48"/>
                  <a:stretch>
                    <a:fillRect l="-1124" b="-13115"/>
                  </a:stretch>
                </a:blipFill>
              </p:spPr>
              <p:txBody>
                <a:bodyPr/>
                <a:lstStyle/>
                <a:p>
                  <a:r>
                    <a:rPr lang="zh-CN" altLang="en-US">
                      <a:noFill/>
                    </a:rPr>
                    <a:t> </a:t>
                  </a:r>
                </a:p>
              </p:txBody>
            </p:sp>
          </mc:Fallback>
        </mc:AlternateContent>
        <p:sp>
          <p:nvSpPr>
            <p:cNvPr id="396" name="文本框 395">
              <a:extLst>
                <a:ext uri="{FF2B5EF4-FFF2-40B4-BE49-F238E27FC236}">
                  <a16:creationId xmlns:a16="http://schemas.microsoft.com/office/drawing/2014/main" id="{2542EC5C-E81A-1F2F-6698-26C8EA31C351}"/>
                </a:ext>
              </a:extLst>
            </p:cNvPr>
            <p:cNvSpPr txBox="1"/>
            <p:nvPr/>
          </p:nvSpPr>
          <p:spPr>
            <a:xfrm>
              <a:off x="6444000" y="1800000"/>
              <a:ext cx="1224000" cy="360000"/>
            </a:xfrm>
            <a:prstGeom prst="rect">
              <a:avLst/>
            </a:prstGeom>
            <a:noFill/>
          </p:spPr>
          <p:txBody>
            <a:bodyPr wrap="square">
              <a:spAutoFit/>
            </a:bodyPr>
            <a:lstStyle/>
            <a:p>
              <a:pPr algn="ctr"/>
              <a:r>
                <a:rPr kumimoji="1" lang="zh-CN" altLang="en-US" dirty="0">
                  <a:solidFill>
                    <a:srgbClr val="0000FF"/>
                  </a:solidFill>
                  <a:latin typeface="微软雅黑" panose="020B0503020204020204" pitchFamily="34" charset="-122"/>
                  <a:ea typeface="微软雅黑" panose="020B0503020204020204" pitchFamily="34" charset="-122"/>
                </a:rPr>
                <a:t>地址译码</a:t>
              </a:r>
              <a:endParaRPr lang="zh-CN" altLang="en-US" dirty="0">
                <a:solidFill>
                  <a:srgbClr val="0000FF"/>
                </a:solidFill>
              </a:endParaRPr>
            </a:p>
          </p:txBody>
        </p:sp>
        <p:cxnSp>
          <p:nvCxnSpPr>
            <p:cNvPr id="22" name="直接连接符 21">
              <a:extLst>
                <a:ext uri="{FF2B5EF4-FFF2-40B4-BE49-F238E27FC236}">
                  <a16:creationId xmlns:a16="http://schemas.microsoft.com/office/drawing/2014/main" id="{49EAB7D0-7247-3960-0CDA-7BD30B8D34DD}"/>
                </a:ext>
              </a:extLst>
            </p:cNvPr>
            <p:cNvCxnSpPr>
              <a:cxnSpLocks/>
            </p:cNvCxnSpPr>
            <p:nvPr/>
          </p:nvCxnSpPr>
          <p:spPr>
            <a:xfrm flipV="1">
              <a:off x="9684000" y="1260000"/>
              <a:ext cx="0" cy="468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66" name="矩形 165">
              <a:extLst>
                <a:ext uri="{FF2B5EF4-FFF2-40B4-BE49-F238E27FC236}">
                  <a16:creationId xmlns:a16="http://schemas.microsoft.com/office/drawing/2014/main" id="{9774EA5B-6699-C389-D576-D488DB44BA18}"/>
                </a:ext>
              </a:extLst>
            </p:cNvPr>
            <p:cNvSpPr/>
            <p:nvPr/>
          </p:nvSpPr>
          <p:spPr>
            <a:xfrm>
              <a:off x="9612000" y="1368000"/>
              <a:ext cx="144000" cy="432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24" name="直接连接符 23">
              <a:extLst>
                <a:ext uri="{FF2B5EF4-FFF2-40B4-BE49-F238E27FC236}">
                  <a16:creationId xmlns:a16="http://schemas.microsoft.com/office/drawing/2014/main" id="{5D43F1F1-DF8B-4A59-1C21-7989B3647716}"/>
                </a:ext>
              </a:extLst>
            </p:cNvPr>
            <p:cNvCxnSpPr>
              <a:cxnSpLocks/>
            </p:cNvCxnSpPr>
            <p:nvPr/>
          </p:nvCxnSpPr>
          <p:spPr>
            <a:xfrm flipV="1">
              <a:off x="10332000" y="1260000"/>
              <a:ext cx="0" cy="468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67" name="矩形 166">
              <a:extLst>
                <a:ext uri="{FF2B5EF4-FFF2-40B4-BE49-F238E27FC236}">
                  <a16:creationId xmlns:a16="http://schemas.microsoft.com/office/drawing/2014/main" id="{D8E6507F-2C43-48C1-9E0C-73EAE57F17FF}"/>
                </a:ext>
              </a:extLst>
            </p:cNvPr>
            <p:cNvSpPr/>
            <p:nvPr/>
          </p:nvSpPr>
          <p:spPr>
            <a:xfrm>
              <a:off x="10260000" y="1368000"/>
              <a:ext cx="144000" cy="432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26" name="直接连接符 25">
              <a:extLst>
                <a:ext uri="{FF2B5EF4-FFF2-40B4-BE49-F238E27FC236}">
                  <a16:creationId xmlns:a16="http://schemas.microsoft.com/office/drawing/2014/main" id="{14CC6BDE-80A4-4AB8-4B47-58D18F49F857}"/>
                </a:ext>
              </a:extLst>
            </p:cNvPr>
            <p:cNvCxnSpPr>
              <a:cxnSpLocks/>
            </p:cNvCxnSpPr>
            <p:nvPr/>
          </p:nvCxnSpPr>
          <p:spPr>
            <a:xfrm flipV="1">
              <a:off x="10980000" y="1260000"/>
              <a:ext cx="0" cy="468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68" name="矩形 167">
              <a:extLst>
                <a:ext uri="{FF2B5EF4-FFF2-40B4-BE49-F238E27FC236}">
                  <a16:creationId xmlns:a16="http://schemas.microsoft.com/office/drawing/2014/main" id="{A9F35F52-030D-5BE8-511E-0C8A46EFB8BB}"/>
                </a:ext>
              </a:extLst>
            </p:cNvPr>
            <p:cNvSpPr/>
            <p:nvPr/>
          </p:nvSpPr>
          <p:spPr>
            <a:xfrm>
              <a:off x="10908000" y="1368000"/>
              <a:ext cx="144000" cy="432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nvGrpSpPr>
            <p:cNvPr id="37" name="组合 36">
              <a:extLst>
                <a:ext uri="{FF2B5EF4-FFF2-40B4-BE49-F238E27FC236}">
                  <a16:creationId xmlns:a16="http://schemas.microsoft.com/office/drawing/2014/main" id="{C6025BFA-CD13-FFF8-D06C-337F76A151D4}"/>
                </a:ext>
              </a:extLst>
            </p:cNvPr>
            <p:cNvGrpSpPr/>
            <p:nvPr/>
          </p:nvGrpSpPr>
          <p:grpSpPr>
            <a:xfrm>
              <a:off x="9738000" y="2016000"/>
              <a:ext cx="648000" cy="648000"/>
              <a:chOff x="8442000" y="2016000"/>
              <a:chExt cx="648000" cy="648000"/>
            </a:xfrm>
          </p:grpSpPr>
          <p:grpSp>
            <p:nvGrpSpPr>
              <p:cNvPr id="38" name="组合 37">
                <a:extLst>
                  <a:ext uri="{FF2B5EF4-FFF2-40B4-BE49-F238E27FC236}">
                    <a16:creationId xmlns:a16="http://schemas.microsoft.com/office/drawing/2014/main" id="{AC3E21CA-379C-BC14-A0B1-5BD8CFDECF7F}"/>
                  </a:ext>
                </a:extLst>
              </p:cNvPr>
              <p:cNvGrpSpPr/>
              <p:nvPr/>
            </p:nvGrpSpPr>
            <p:grpSpPr>
              <a:xfrm rot="-8100000">
                <a:off x="8586000" y="2232000"/>
                <a:ext cx="360000" cy="216000"/>
                <a:chOff x="8604000" y="2178000"/>
                <a:chExt cx="360000" cy="198000"/>
              </a:xfrm>
            </p:grpSpPr>
            <p:sp>
              <p:nvSpPr>
                <p:cNvPr id="42" name="等腰三角形 41">
                  <a:extLst>
                    <a:ext uri="{FF2B5EF4-FFF2-40B4-BE49-F238E27FC236}">
                      <a16:creationId xmlns:a16="http://schemas.microsoft.com/office/drawing/2014/main" id="{263AB5C3-B12C-8870-E301-815D36D474A0}"/>
                    </a:ext>
                  </a:extLst>
                </p:cNvPr>
                <p:cNvSpPr/>
                <p:nvPr/>
              </p:nvSpPr>
              <p:spPr>
                <a:xfrm>
                  <a:off x="8640000" y="2196000"/>
                  <a:ext cx="288000" cy="180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43" name="直接连接符 42">
                  <a:extLst>
                    <a:ext uri="{FF2B5EF4-FFF2-40B4-BE49-F238E27FC236}">
                      <a16:creationId xmlns:a16="http://schemas.microsoft.com/office/drawing/2014/main" id="{FE082F5E-3F3D-C037-28DA-5881610CDD38}"/>
                    </a:ext>
                  </a:extLst>
                </p:cNvPr>
                <p:cNvCxnSpPr>
                  <a:cxnSpLocks/>
                </p:cNvCxnSpPr>
                <p:nvPr/>
              </p:nvCxnSpPr>
              <p:spPr>
                <a:xfrm>
                  <a:off x="8604000" y="2178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9" name="直接连接符 38">
                <a:extLst>
                  <a:ext uri="{FF2B5EF4-FFF2-40B4-BE49-F238E27FC236}">
                    <a16:creationId xmlns:a16="http://schemas.microsoft.com/office/drawing/2014/main" id="{14D52D43-E517-CE64-7507-5F1AF5E8FE4E}"/>
                  </a:ext>
                </a:extLst>
              </p:cNvPr>
              <p:cNvCxnSpPr>
                <a:cxnSpLocks/>
              </p:cNvCxnSpPr>
              <p:nvPr/>
            </p:nvCxnSpPr>
            <p:spPr>
              <a:xfrm flipV="1">
                <a:off x="8496000" y="2070000"/>
                <a:ext cx="540000" cy="5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椭圆 39">
                <a:extLst>
                  <a:ext uri="{FF2B5EF4-FFF2-40B4-BE49-F238E27FC236}">
                    <a16:creationId xmlns:a16="http://schemas.microsoft.com/office/drawing/2014/main" id="{5085E2A8-1DC1-2BAA-EF31-AB7FA142390C}"/>
                  </a:ext>
                </a:extLst>
              </p:cNvPr>
              <p:cNvSpPr/>
              <p:nvPr/>
            </p:nvSpPr>
            <p:spPr>
              <a:xfrm>
                <a:off x="8442000" y="255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73C89AAC-AFED-BD47-D28C-57F6AAB72DA4}"/>
                  </a:ext>
                </a:extLst>
              </p:cNvPr>
              <p:cNvSpPr/>
              <p:nvPr/>
            </p:nvSpPr>
            <p:spPr>
              <a:xfrm>
                <a:off x="8982000" y="201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43">
              <a:extLst>
                <a:ext uri="{FF2B5EF4-FFF2-40B4-BE49-F238E27FC236}">
                  <a16:creationId xmlns:a16="http://schemas.microsoft.com/office/drawing/2014/main" id="{FCC448E8-5A76-1249-8178-5D903074A7A7}"/>
                </a:ext>
              </a:extLst>
            </p:cNvPr>
            <p:cNvGrpSpPr/>
            <p:nvPr/>
          </p:nvGrpSpPr>
          <p:grpSpPr>
            <a:xfrm>
              <a:off x="10386000" y="2016000"/>
              <a:ext cx="648000" cy="648000"/>
              <a:chOff x="8442000" y="2016000"/>
              <a:chExt cx="648000" cy="648000"/>
            </a:xfrm>
          </p:grpSpPr>
          <p:grpSp>
            <p:nvGrpSpPr>
              <p:cNvPr id="45" name="组合 44">
                <a:extLst>
                  <a:ext uri="{FF2B5EF4-FFF2-40B4-BE49-F238E27FC236}">
                    <a16:creationId xmlns:a16="http://schemas.microsoft.com/office/drawing/2014/main" id="{152FD508-6509-B00A-6026-F812EE5DAC4A}"/>
                  </a:ext>
                </a:extLst>
              </p:cNvPr>
              <p:cNvGrpSpPr/>
              <p:nvPr/>
            </p:nvGrpSpPr>
            <p:grpSpPr>
              <a:xfrm rot="-8100000">
                <a:off x="8586000" y="2232000"/>
                <a:ext cx="360000" cy="216000"/>
                <a:chOff x="8604000" y="2178000"/>
                <a:chExt cx="360000" cy="198000"/>
              </a:xfrm>
            </p:grpSpPr>
            <p:sp>
              <p:nvSpPr>
                <p:cNvPr id="53" name="等腰三角形 52">
                  <a:extLst>
                    <a:ext uri="{FF2B5EF4-FFF2-40B4-BE49-F238E27FC236}">
                      <a16:creationId xmlns:a16="http://schemas.microsoft.com/office/drawing/2014/main" id="{0FEA8146-DBAD-2C88-473E-B90A1D28DDE5}"/>
                    </a:ext>
                  </a:extLst>
                </p:cNvPr>
                <p:cNvSpPr/>
                <p:nvPr/>
              </p:nvSpPr>
              <p:spPr>
                <a:xfrm>
                  <a:off x="8640000" y="2196000"/>
                  <a:ext cx="288000" cy="180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54" name="直接连接符 53">
                  <a:extLst>
                    <a:ext uri="{FF2B5EF4-FFF2-40B4-BE49-F238E27FC236}">
                      <a16:creationId xmlns:a16="http://schemas.microsoft.com/office/drawing/2014/main" id="{329974F8-F5C5-C8E8-3544-9305969CAD64}"/>
                    </a:ext>
                  </a:extLst>
                </p:cNvPr>
                <p:cNvCxnSpPr>
                  <a:cxnSpLocks/>
                </p:cNvCxnSpPr>
                <p:nvPr/>
              </p:nvCxnSpPr>
              <p:spPr>
                <a:xfrm>
                  <a:off x="8604000" y="2178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9" name="直接连接符 48">
                <a:extLst>
                  <a:ext uri="{FF2B5EF4-FFF2-40B4-BE49-F238E27FC236}">
                    <a16:creationId xmlns:a16="http://schemas.microsoft.com/office/drawing/2014/main" id="{F7D254BF-58DA-C334-C94F-73157A3CFDE5}"/>
                  </a:ext>
                </a:extLst>
              </p:cNvPr>
              <p:cNvCxnSpPr>
                <a:cxnSpLocks/>
              </p:cNvCxnSpPr>
              <p:nvPr/>
            </p:nvCxnSpPr>
            <p:spPr>
              <a:xfrm flipV="1">
                <a:off x="8496000" y="2070000"/>
                <a:ext cx="540000" cy="5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椭圆 50">
                <a:extLst>
                  <a:ext uri="{FF2B5EF4-FFF2-40B4-BE49-F238E27FC236}">
                    <a16:creationId xmlns:a16="http://schemas.microsoft.com/office/drawing/2014/main" id="{2904560D-E2D7-92C0-6D3A-EB203E61294D}"/>
                  </a:ext>
                </a:extLst>
              </p:cNvPr>
              <p:cNvSpPr/>
              <p:nvPr/>
            </p:nvSpPr>
            <p:spPr>
              <a:xfrm>
                <a:off x="8442000" y="255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a:extLst>
                  <a:ext uri="{FF2B5EF4-FFF2-40B4-BE49-F238E27FC236}">
                    <a16:creationId xmlns:a16="http://schemas.microsoft.com/office/drawing/2014/main" id="{C768DB89-DB92-8F88-D44E-50361CEDCE29}"/>
                  </a:ext>
                </a:extLst>
              </p:cNvPr>
              <p:cNvSpPr/>
              <p:nvPr/>
            </p:nvSpPr>
            <p:spPr>
              <a:xfrm>
                <a:off x="8982000" y="201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 name="组合 54">
              <a:extLst>
                <a:ext uri="{FF2B5EF4-FFF2-40B4-BE49-F238E27FC236}">
                  <a16:creationId xmlns:a16="http://schemas.microsoft.com/office/drawing/2014/main" id="{2F787834-D39E-891C-454E-93D90003CD3C}"/>
                </a:ext>
              </a:extLst>
            </p:cNvPr>
            <p:cNvGrpSpPr/>
            <p:nvPr/>
          </p:nvGrpSpPr>
          <p:grpSpPr>
            <a:xfrm>
              <a:off x="10386000" y="2664000"/>
              <a:ext cx="648000" cy="648000"/>
              <a:chOff x="8442000" y="2016000"/>
              <a:chExt cx="648000" cy="648000"/>
            </a:xfrm>
          </p:grpSpPr>
          <p:grpSp>
            <p:nvGrpSpPr>
              <p:cNvPr id="56" name="组合 55">
                <a:extLst>
                  <a:ext uri="{FF2B5EF4-FFF2-40B4-BE49-F238E27FC236}">
                    <a16:creationId xmlns:a16="http://schemas.microsoft.com/office/drawing/2014/main" id="{A2788E2C-D971-620C-3CAA-601DDFB4AA97}"/>
                  </a:ext>
                </a:extLst>
              </p:cNvPr>
              <p:cNvGrpSpPr/>
              <p:nvPr/>
            </p:nvGrpSpPr>
            <p:grpSpPr>
              <a:xfrm rot="-8100000">
                <a:off x="8586000" y="2232000"/>
                <a:ext cx="360000" cy="216000"/>
                <a:chOff x="8604000" y="2178000"/>
                <a:chExt cx="360000" cy="198000"/>
              </a:xfrm>
            </p:grpSpPr>
            <p:sp>
              <p:nvSpPr>
                <p:cNvPr id="60" name="等腰三角形 59">
                  <a:extLst>
                    <a:ext uri="{FF2B5EF4-FFF2-40B4-BE49-F238E27FC236}">
                      <a16:creationId xmlns:a16="http://schemas.microsoft.com/office/drawing/2014/main" id="{D52A5A0B-A53F-56BE-C5D2-D0570F219D9E}"/>
                    </a:ext>
                  </a:extLst>
                </p:cNvPr>
                <p:cNvSpPr/>
                <p:nvPr/>
              </p:nvSpPr>
              <p:spPr>
                <a:xfrm>
                  <a:off x="8640000" y="2196000"/>
                  <a:ext cx="288000" cy="180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61" name="直接连接符 60">
                  <a:extLst>
                    <a:ext uri="{FF2B5EF4-FFF2-40B4-BE49-F238E27FC236}">
                      <a16:creationId xmlns:a16="http://schemas.microsoft.com/office/drawing/2014/main" id="{C7C4F629-D070-EAA5-AD1F-21E466EAF1E2}"/>
                    </a:ext>
                  </a:extLst>
                </p:cNvPr>
                <p:cNvCxnSpPr>
                  <a:cxnSpLocks/>
                </p:cNvCxnSpPr>
                <p:nvPr/>
              </p:nvCxnSpPr>
              <p:spPr>
                <a:xfrm>
                  <a:off x="8604000" y="2178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7" name="直接连接符 56">
                <a:extLst>
                  <a:ext uri="{FF2B5EF4-FFF2-40B4-BE49-F238E27FC236}">
                    <a16:creationId xmlns:a16="http://schemas.microsoft.com/office/drawing/2014/main" id="{30914298-4010-AECF-D828-5AAC7FC8C33C}"/>
                  </a:ext>
                </a:extLst>
              </p:cNvPr>
              <p:cNvCxnSpPr>
                <a:cxnSpLocks/>
              </p:cNvCxnSpPr>
              <p:nvPr/>
            </p:nvCxnSpPr>
            <p:spPr>
              <a:xfrm flipV="1">
                <a:off x="8496000" y="2070000"/>
                <a:ext cx="540000" cy="5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椭圆 57">
                <a:extLst>
                  <a:ext uri="{FF2B5EF4-FFF2-40B4-BE49-F238E27FC236}">
                    <a16:creationId xmlns:a16="http://schemas.microsoft.com/office/drawing/2014/main" id="{AD3CF831-AAAB-44DE-F823-B9AF65DAED81}"/>
                  </a:ext>
                </a:extLst>
              </p:cNvPr>
              <p:cNvSpPr/>
              <p:nvPr/>
            </p:nvSpPr>
            <p:spPr>
              <a:xfrm>
                <a:off x="8442000" y="255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a:extLst>
                  <a:ext uri="{FF2B5EF4-FFF2-40B4-BE49-F238E27FC236}">
                    <a16:creationId xmlns:a16="http://schemas.microsoft.com/office/drawing/2014/main" id="{1ED19842-A48F-ADA6-C5C1-E8F4A0CF1AFB}"/>
                  </a:ext>
                </a:extLst>
              </p:cNvPr>
              <p:cNvSpPr/>
              <p:nvPr/>
            </p:nvSpPr>
            <p:spPr>
              <a:xfrm>
                <a:off x="8982000" y="201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2" name="组合 61">
              <a:extLst>
                <a:ext uri="{FF2B5EF4-FFF2-40B4-BE49-F238E27FC236}">
                  <a16:creationId xmlns:a16="http://schemas.microsoft.com/office/drawing/2014/main" id="{13D03514-B843-3DA1-2346-CAC28EC21E3D}"/>
                </a:ext>
              </a:extLst>
            </p:cNvPr>
            <p:cNvGrpSpPr/>
            <p:nvPr/>
          </p:nvGrpSpPr>
          <p:grpSpPr>
            <a:xfrm>
              <a:off x="9090000" y="2664000"/>
              <a:ext cx="648000" cy="648000"/>
              <a:chOff x="8442000" y="2016000"/>
              <a:chExt cx="648000" cy="648000"/>
            </a:xfrm>
          </p:grpSpPr>
          <p:grpSp>
            <p:nvGrpSpPr>
              <p:cNvPr id="63" name="组合 62">
                <a:extLst>
                  <a:ext uri="{FF2B5EF4-FFF2-40B4-BE49-F238E27FC236}">
                    <a16:creationId xmlns:a16="http://schemas.microsoft.com/office/drawing/2014/main" id="{834E81E3-5BA7-7D75-B98F-D978AC678F1C}"/>
                  </a:ext>
                </a:extLst>
              </p:cNvPr>
              <p:cNvGrpSpPr/>
              <p:nvPr/>
            </p:nvGrpSpPr>
            <p:grpSpPr>
              <a:xfrm rot="-8100000">
                <a:off x="8586000" y="2232000"/>
                <a:ext cx="360000" cy="216000"/>
                <a:chOff x="8604000" y="2178000"/>
                <a:chExt cx="360000" cy="198000"/>
              </a:xfrm>
            </p:grpSpPr>
            <p:sp>
              <p:nvSpPr>
                <p:cNvPr id="67" name="等腰三角形 66">
                  <a:extLst>
                    <a:ext uri="{FF2B5EF4-FFF2-40B4-BE49-F238E27FC236}">
                      <a16:creationId xmlns:a16="http://schemas.microsoft.com/office/drawing/2014/main" id="{2CD53499-537F-EA8F-F9E6-500E57893800}"/>
                    </a:ext>
                  </a:extLst>
                </p:cNvPr>
                <p:cNvSpPr/>
                <p:nvPr/>
              </p:nvSpPr>
              <p:spPr>
                <a:xfrm>
                  <a:off x="8640000" y="2196000"/>
                  <a:ext cx="288000" cy="180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68" name="直接连接符 67">
                  <a:extLst>
                    <a:ext uri="{FF2B5EF4-FFF2-40B4-BE49-F238E27FC236}">
                      <a16:creationId xmlns:a16="http://schemas.microsoft.com/office/drawing/2014/main" id="{4B9DB85E-EC7D-A39F-070F-EC8BC99BDA78}"/>
                    </a:ext>
                  </a:extLst>
                </p:cNvPr>
                <p:cNvCxnSpPr>
                  <a:cxnSpLocks/>
                </p:cNvCxnSpPr>
                <p:nvPr/>
              </p:nvCxnSpPr>
              <p:spPr>
                <a:xfrm>
                  <a:off x="8604000" y="2178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4" name="直接连接符 63">
                <a:extLst>
                  <a:ext uri="{FF2B5EF4-FFF2-40B4-BE49-F238E27FC236}">
                    <a16:creationId xmlns:a16="http://schemas.microsoft.com/office/drawing/2014/main" id="{71BBEBB9-C308-8186-E3DB-A166D729BFD7}"/>
                  </a:ext>
                </a:extLst>
              </p:cNvPr>
              <p:cNvCxnSpPr>
                <a:cxnSpLocks/>
              </p:cNvCxnSpPr>
              <p:nvPr/>
            </p:nvCxnSpPr>
            <p:spPr>
              <a:xfrm flipV="1">
                <a:off x="8496000" y="2070000"/>
                <a:ext cx="540000" cy="5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椭圆 64">
                <a:extLst>
                  <a:ext uri="{FF2B5EF4-FFF2-40B4-BE49-F238E27FC236}">
                    <a16:creationId xmlns:a16="http://schemas.microsoft.com/office/drawing/2014/main" id="{E44A725A-0DDC-E062-F91E-D75A6D73CF72}"/>
                  </a:ext>
                </a:extLst>
              </p:cNvPr>
              <p:cNvSpPr/>
              <p:nvPr/>
            </p:nvSpPr>
            <p:spPr>
              <a:xfrm>
                <a:off x="8442000" y="255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a:extLst>
                  <a:ext uri="{FF2B5EF4-FFF2-40B4-BE49-F238E27FC236}">
                    <a16:creationId xmlns:a16="http://schemas.microsoft.com/office/drawing/2014/main" id="{F09A8EE0-8826-0820-BC99-404A13335A54}"/>
                  </a:ext>
                </a:extLst>
              </p:cNvPr>
              <p:cNvSpPr/>
              <p:nvPr/>
            </p:nvSpPr>
            <p:spPr>
              <a:xfrm>
                <a:off x="8982000" y="201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9" name="组合 68">
              <a:extLst>
                <a:ext uri="{FF2B5EF4-FFF2-40B4-BE49-F238E27FC236}">
                  <a16:creationId xmlns:a16="http://schemas.microsoft.com/office/drawing/2014/main" id="{05EFB02F-B59F-283D-414E-6895A3DC2DC6}"/>
                </a:ext>
              </a:extLst>
            </p:cNvPr>
            <p:cNvGrpSpPr/>
            <p:nvPr/>
          </p:nvGrpSpPr>
          <p:grpSpPr>
            <a:xfrm>
              <a:off x="8442000" y="2664000"/>
              <a:ext cx="648000" cy="648000"/>
              <a:chOff x="8442000" y="2016000"/>
              <a:chExt cx="648000" cy="648000"/>
            </a:xfrm>
          </p:grpSpPr>
          <p:grpSp>
            <p:nvGrpSpPr>
              <p:cNvPr id="70" name="组合 69">
                <a:extLst>
                  <a:ext uri="{FF2B5EF4-FFF2-40B4-BE49-F238E27FC236}">
                    <a16:creationId xmlns:a16="http://schemas.microsoft.com/office/drawing/2014/main" id="{4559E8EF-1C3F-442B-4EC6-AF2C89D56725}"/>
                  </a:ext>
                </a:extLst>
              </p:cNvPr>
              <p:cNvGrpSpPr/>
              <p:nvPr/>
            </p:nvGrpSpPr>
            <p:grpSpPr>
              <a:xfrm rot="-8100000">
                <a:off x="8586000" y="2232000"/>
                <a:ext cx="360000" cy="216000"/>
                <a:chOff x="8604000" y="2178000"/>
                <a:chExt cx="360000" cy="198000"/>
              </a:xfrm>
            </p:grpSpPr>
            <p:sp>
              <p:nvSpPr>
                <p:cNvPr id="74" name="等腰三角形 73">
                  <a:extLst>
                    <a:ext uri="{FF2B5EF4-FFF2-40B4-BE49-F238E27FC236}">
                      <a16:creationId xmlns:a16="http://schemas.microsoft.com/office/drawing/2014/main" id="{EF9C028D-627C-6190-2EBB-2ADA881CD1FC}"/>
                    </a:ext>
                  </a:extLst>
                </p:cNvPr>
                <p:cNvSpPr/>
                <p:nvPr/>
              </p:nvSpPr>
              <p:spPr>
                <a:xfrm>
                  <a:off x="8640000" y="2196000"/>
                  <a:ext cx="288000" cy="180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75" name="直接连接符 74">
                  <a:extLst>
                    <a:ext uri="{FF2B5EF4-FFF2-40B4-BE49-F238E27FC236}">
                      <a16:creationId xmlns:a16="http://schemas.microsoft.com/office/drawing/2014/main" id="{855A0044-E7AD-B6E1-0B4F-8C99A9D8D7D0}"/>
                    </a:ext>
                  </a:extLst>
                </p:cNvPr>
                <p:cNvCxnSpPr>
                  <a:cxnSpLocks/>
                </p:cNvCxnSpPr>
                <p:nvPr/>
              </p:nvCxnSpPr>
              <p:spPr>
                <a:xfrm>
                  <a:off x="8604000" y="2178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1" name="直接连接符 70">
                <a:extLst>
                  <a:ext uri="{FF2B5EF4-FFF2-40B4-BE49-F238E27FC236}">
                    <a16:creationId xmlns:a16="http://schemas.microsoft.com/office/drawing/2014/main" id="{B81A48B8-A8B6-DAB0-DB86-B6F2D4E7B1AA}"/>
                  </a:ext>
                </a:extLst>
              </p:cNvPr>
              <p:cNvCxnSpPr>
                <a:cxnSpLocks/>
              </p:cNvCxnSpPr>
              <p:nvPr/>
            </p:nvCxnSpPr>
            <p:spPr>
              <a:xfrm flipV="1">
                <a:off x="8496000" y="2070000"/>
                <a:ext cx="540000" cy="5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椭圆 71">
                <a:extLst>
                  <a:ext uri="{FF2B5EF4-FFF2-40B4-BE49-F238E27FC236}">
                    <a16:creationId xmlns:a16="http://schemas.microsoft.com/office/drawing/2014/main" id="{5C391BB1-5C9C-FC60-3003-B5A39DBD3F9C}"/>
                  </a:ext>
                </a:extLst>
              </p:cNvPr>
              <p:cNvSpPr/>
              <p:nvPr/>
            </p:nvSpPr>
            <p:spPr>
              <a:xfrm>
                <a:off x="8442000" y="255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a:extLst>
                  <a:ext uri="{FF2B5EF4-FFF2-40B4-BE49-F238E27FC236}">
                    <a16:creationId xmlns:a16="http://schemas.microsoft.com/office/drawing/2014/main" id="{96F7E643-8C02-253B-DC3E-2F894ABB51BD}"/>
                  </a:ext>
                </a:extLst>
              </p:cNvPr>
              <p:cNvSpPr/>
              <p:nvPr/>
            </p:nvSpPr>
            <p:spPr>
              <a:xfrm>
                <a:off x="8982000" y="201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6" name="组合 75">
              <a:extLst>
                <a:ext uri="{FF2B5EF4-FFF2-40B4-BE49-F238E27FC236}">
                  <a16:creationId xmlns:a16="http://schemas.microsoft.com/office/drawing/2014/main" id="{BF594CA4-E966-618D-26B6-9635B6F4C3F0}"/>
                </a:ext>
              </a:extLst>
            </p:cNvPr>
            <p:cNvGrpSpPr/>
            <p:nvPr/>
          </p:nvGrpSpPr>
          <p:grpSpPr>
            <a:xfrm>
              <a:off x="9090000" y="3312000"/>
              <a:ext cx="648000" cy="648000"/>
              <a:chOff x="8442000" y="2016000"/>
              <a:chExt cx="648000" cy="648000"/>
            </a:xfrm>
          </p:grpSpPr>
          <p:grpSp>
            <p:nvGrpSpPr>
              <p:cNvPr id="77" name="组合 76">
                <a:extLst>
                  <a:ext uri="{FF2B5EF4-FFF2-40B4-BE49-F238E27FC236}">
                    <a16:creationId xmlns:a16="http://schemas.microsoft.com/office/drawing/2014/main" id="{6BBA5E88-EA78-9670-D7CB-E62D32A23AF4}"/>
                  </a:ext>
                </a:extLst>
              </p:cNvPr>
              <p:cNvGrpSpPr/>
              <p:nvPr/>
            </p:nvGrpSpPr>
            <p:grpSpPr>
              <a:xfrm rot="-8100000">
                <a:off x="8586000" y="2232000"/>
                <a:ext cx="360000" cy="216000"/>
                <a:chOff x="8604000" y="2178000"/>
                <a:chExt cx="360000" cy="198000"/>
              </a:xfrm>
            </p:grpSpPr>
            <p:sp>
              <p:nvSpPr>
                <p:cNvPr id="81" name="等腰三角形 80">
                  <a:extLst>
                    <a:ext uri="{FF2B5EF4-FFF2-40B4-BE49-F238E27FC236}">
                      <a16:creationId xmlns:a16="http://schemas.microsoft.com/office/drawing/2014/main" id="{81B60EAD-E4FC-205C-5D74-7FB6BC242F0F}"/>
                    </a:ext>
                  </a:extLst>
                </p:cNvPr>
                <p:cNvSpPr/>
                <p:nvPr/>
              </p:nvSpPr>
              <p:spPr>
                <a:xfrm>
                  <a:off x="8640000" y="2196000"/>
                  <a:ext cx="288000" cy="180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82" name="直接连接符 81">
                  <a:extLst>
                    <a:ext uri="{FF2B5EF4-FFF2-40B4-BE49-F238E27FC236}">
                      <a16:creationId xmlns:a16="http://schemas.microsoft.com/office/drawing/2014/main" id="{EE39BCF7-58A2-E65F-C8AB-53BC3C979F5B}"/>
                    </a:ext>
                  </a:extLst>
                </p:cNvPr>
                <p:cNvCxnSpPr>
                  <a:cxnSpLocks/>
                </p:cNvCxnSpPr>
                <p:nvPr/>
              </p:nvCxnSpPr>
              <p:spPr>
                <a:xfrm>
                  <a:off x="8604000" y="2178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8" name="直接连接符 77">
                <a:extLst>
                  <a:ext uri="{FF2B5EF4-FFF2-40B4-BE49-F238E27FC236}">
                    <a16:creationId xmlns:a16="http://schemas.microsoft.com/office/drawing/2014/main" id="{4DF51877-7AAA-B1DB-5FC4-4F7F26700500}"/>
                  </a:ext>
                </a:extLst>
              </p:cNvPr>
              <p:cNvCxnSpPr>
                <a:cxnSpLocks/>
              </p:cNvCxnSpPr>
              <p:nvPr/>
            </p:nvCxnSpPr>
            <p:spPr>
              <a:xfrm flipV="1">
                <a:off x="8496000" y="2070000"/>
                <a:ext cx="540000" cy="5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椭圆 78">
                <a:extLst>
                  <a:ext uri="{FF2B5EF4-FFF2-40B4-BE49-F238E27FC236}">
                    <a16:creationId xmlns:a16="http://schemas.microsoft.com/office/drawing/2014/main" id="{1173E169-D1D7-1BCA-F2D7-8F69ABE36346}"/>
                  </a:ext>
                </a:extLst>
              </p:cNvPr>
              <p:cNvSpPr/>
              <p:nvPr/>
            </p:nvSpPr>
            <p:spPr>
              <a:xfrm>
                <a:off x="8442000" y="255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a:extLst>
                  <a:ext uri="{FF2B5EF4-FFF2-40B4-BE49-F238E27FC236}">
                    <a16:creationId xmlns:a16="http://schemas.microsoft.com/office/drawing/2014/main" id="{3C556DA2-788B-7E01-3FB5-A5DCA693299F}"/>
                  </a:ext>
                </a:extLst>
              </p:cNvPr>
              <p:cNvSpPr/>
              <p:nvPr/>
            </p:nvSpPr>
            <p:spPr>
              <a:xfrm>
                <a:off x="8982000" y="201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3" name="组合 82">
              <a:extLst>
                <a:ext uri="{FF2B5EF4-FFF2-40B4-BE49-F238E27FC236}">
                  <a16:creationId xmlns:a16="http://schemas.microsoft.com/office/drawing/2014/main" id="{EBE61CAA-BCFF-640C-1ABC-41EA2710EA44}"/>
                </a:ext>
              </a:extLst>
            </p:cNvPr>
            <p:cNvGrpSpPr/>
            <p:nvPr/>
          </p:nvGrpSpPr>
          <p:grpSpPr>
            <a:xfrm>
              <a:off x="8442000" y="3960000"/>
              <a:ext cx="648000" cy="648000"/>
              <a:chOff x="8442000" y="2016000"/>
              <a:chExt cx="648000" cy="648000"/>
            </a:xfrm>
          </p:grpSpPr>
          <p:grpSp>
            <p:nvGrpSpPr>
              <p:cNvPr id="84" name="组合 83">
                <a:extLst>
                  <a:ext uri="{FF2B5EF4-FFF2-40B4-BE49-F238E27FC236}">
                    <a16:creationId xmlns:a16="http://schemas.microsoft.com/office/drawing/2014/main" id="{70BDDED9-B8F2-3C37-6772-D836998C29FB}"/>
                  </a:ext>
                </a:extLst>
              </p:cNvPr>
              <p:cNvGrpSpPr/>
              <p:nvPr/>
            </p:nvGrpSpPr>
            <p:grpSpPr>
              <a:xfrm rot="-8100000">
                <a:off x="8586000" y="2232000"/>
                <a:ext cx="360000" cy="216000"/>
                <a:chOff x="8604000" y="2178000"/>
                <a:chExt cx="360000" cy="198000"/>
              </a:xfrm>
            </p:grpSpPr>
            <p:sp>
              <p:nvSpPr>
                <p:cNvPr id="88" name="等腰三角形 87">
                  <a:extLst>
                    <a:ext uri="{FF2B5EF4-FFF2-40B4-BE49-F238E27FC236}">
                      <a16:creationId xmlns:a16="http://schemas.microsoft.com/office/drawing/2014/main" id="{1509F9CD-E2AC-F3A6-683C-A5978DEBF405}"/>
                    </a:ext>
                  </a:extLst>
                </p:cNvPr>
                <p:cNvSpPr/>
                <p:nvPr/>
              </p:nvSpPr>
              <p:spPr>
                <a:xfrm>
                  <a:off x="8640000" y="2196000"/>
                  <a:ext cx="288000" cy="180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89" name="直接连接符 88">
                  <a:extLst>
                    <a:ext uri="{FF2B5EF4-FFF2-40B4-BE49-F238E27FC236}">
                      <a16:creationId xmlns:a16="http://schemas.microsoft.com/office/drawing/2014/main" id="{131CC671-1BE9-7893-15BE-EEE6DBF2FC8A}"/>
                    </a:ext>
                  </a:extLst>
                </p:cNvPr>
                <p:cNvCxnSpPr>
                  <a:cxnSpLocks/>
                </p:cNvCxnSpPr>
                <p:nvPr/>
              </p:nvCxnSpPr>
              <p:spPr>
                <a:xfrm>
                  <a:off x="8604000" y="2178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5" name="直接连接符 84">
                <a:extLst>
                  <a:ext uri="{FF2B5EF4-FFF2-40B4-BE49-F238E27FC236}">
                    <a16:creationId xmlns:a16="http://schemas.microsoft.com/office/drawing/2014/main" id="{78B8A4A0-B0D5-2F9C-1432-A294B2445258}"/>
                  </a:ext>
                </a:extLst>
              </p:cNvPr>
              <p:cNvCxnSpPr>
                <a:cxnSpLocks/>
              </p:cNvCxnSpPr>
              <p:nvPr/>
            </p:nvCxnSpPr>
            <p:spPr>
              <a:xfrm flipV="1">
                <a:off x="8496000" y="2070000"/>
                <a:ext cx="540000" cy="5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椭圆 85">
                <a:extLst>
                  <a:ext uri="{FF2B5EF4-FFF2-40B4-BE49-F238E27FC236}">
                    <a16:creationId xmlns:a16="http://schemas.microsoft.com/office/drawing/2014/main" id="{976E7397-5D0E-17A8-6DA3-BA4835AC530A}"/>
                  </a:ext>
                </a:extLst>
              </p:cNvPr>
              <p:cNvSpPr/>
              <p:nvPr/>
            </p:nvSpPr>
            <p:spPr>
              <a:xfrm>
                <a:off x="8442000" y="255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60E05726-3D57-B6EA-7C37-CAC82BA0840E}"/>
                  </a:ext>
                </a:extLst>
              </p:cNvPr>
              <p:cNvSpPr/>
              <p:nvPr/>
            </p:nvSpPr>
            <p:spPr>
              <a:xfrm>
                <a:off x="8982000" y="201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a:extLst>
                <a:ext uri="{FF2B5EF4-FFF2-40B4-BE49-F238E27FC236}">
                  <a16:creationId xmlns:a16="http://schemas.microsoft.com/office/drawing/2014/main" id="{2994B81E-0726-8B17-F463-2E5E21475575}"/>
                </a:ext>
              </a:extLst>
            </p:cNvPr>
            <p:cNvGrpSpPr/>
            <p:nvPr/>
          </p:nvGrpSpPr>
          <p:grpSpPr>
            <a:xfrm>
              <a:off x="9090000" y="3960000"/>
              <a:ext cx="648000" cy="648000"/>
              <a:chOff x="8442000" y="2016000"/>
              <a:chExt cx="648000" cy="648000"/>
            </a:xfrm>
          </p:grpSpPr>
          <p:grpSp>
            <p:nvGrpSpPr>
              <p:cNvPr id="91" name="组合 90">
                <a:extLst>
                  <a:ext uri="{FF2B5EF4-FFF2-40B4-BE49-F238E27FC236}">
                    <a16:creationId xmlns:a16="http://schemas.microsoft.com/office/drawing/2014/main" id="{97774474-2E06-2A3F-7E6B-5BB6536246E6}"/>
                  </a:ext>
                </a:extLst>
              </p:cNvPr>
              <p:cNvGrpSpPr/>
              <p:nvPr/>
            </p:nvGrpSpPr>
            <p:grpSpPr>
              <a:xfrm rot="-8100000">
                <a:off x="8586000" y="2232000"/>
                <a:ext cx="360000" cy="216000"/>
                <a:chOff x="8604000" y="2178000"/>
                <a:chExt cx="360000" cy="198000"/>
              </a:xfrm>
            </p:grpSpPr>
            <p:sp>
              <p:nvSpPr>
                <p:cNvPr id="97" name="等腰三角形 96">
                  <a:extLst>
                    <a:ext uri="{FF2B5EF4-FFF2-40B4-BE49-F238E27FC236}">
                      <a16:creationId xmlns:a16="http://schemas.microsoft.com/office/drawing/2014/main" id="{FAF55DDD-E5BE-8924-333B-1B8C741F4171}"/>
                    </a:ext>
                  </a:extLst>
                </p:cNvPr>
                <p:cNvSpPr/>
                <p:nvPr/>
              </p:nvSpPr>
              <p:spPr>
                <a:xfrm>
                  <a:off x="8640000" y="2196000"/>
                  <a:ext cx="288000" cy="180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98" name="直接连接符 97">
                  <a:extLst>
                    <a:ext uri="{FF2B5EF4-FFF2-40B4-BE49-F238E27FC236}">
                      <a16:creationId xmlns:a16="http://schemas.microsoft.com/office/drawing/2014/main" id="{086A0E1D-6492-D3D4-4DA0-BFA5B4D86231}"/>
                    </a:ext>
                  </a:extLst>
                </p:cNvPr>
                <p:cNvCxnSpPr>
                  <a:cxnSpLocks/>
                </p:cNvCxnSpPr>
                <p:nvPr/>
              </p:nvCxnSpPr>
              <p:spPr>
                <a:xfrm>
                  <a:off x="8604000" y="2178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2" name="直接连接符 91">
                <a:extLst>
                  <a:ext uri="{FF2B5EF4-FFF2-40B4-BE49-F238E27FC236}">
                    <a16:creationId xmlns:a16="http://schemas.microsoft.com/office/drawing/2014/main" id="{9A70C603-C670-EF0F-8712-F1BCC7C19BD4}"/>
                  </a:ext>
                </a:extLst>
              </p:cNvPr>
              <p:cNvCxnSpPr>
                <a:cxnSpLocks/>
              </p:cNvCxnSpPr>
              <p:nvPr/>
            </p:nvCxnSpPr>
            <p:spPr>
              <a:xfrm flipV="1">
                <a:off x="8496000" y="2070000"/>
                <a:ext cx="540000" cy="5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椭圆 92">
                <a:extLst>
                  <a:ext uri="{FF2B5EF4-FFF2-40B4-BE49-F238E27FC236}">
                    <a16:creationId xmlns:a16="http://schemas.microsoft.com/office/drawing/2014/main" id="{472AF1E6-70AF-CCCC-1E4C-2586D473CFA1}"/>
                  </a:ext>
                </a:extLst>
              </p:cNvPr>
              <p:cNvSpPr/>
              <p:nvPr/>
            </p:nvSpPr>
            <p:spPr>
              <a:xfrm>
                <a:off x="8442000" y="255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a:extLst>
                  <a:ext uri="{FF2B5EF4-FFF2-40B4-BE49-F238E27FC236}">
                    <a16:creationId xmlns:a16="http://schemas.microsoft.com/office/drawing/2014/main" id="{660E7F4F-F8D5-EADD-3507-81F8AB9BA90F}"/>
                  </a:ext>
                </a:extLst>
              </p:cNvPr>
              <p:cNvSpPr/>
              <p:nvPr/>
            </p:nvSpPr>
            <p:spPr>
              <a:xfrm>
                <a:off x="8982000" y="201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0" name="组合 99">
              <a:extLst>
                <a:ext uri="{FF2B5EF4-FFF2-40B4-BE49-F238E27FC236}">
                  <a16:creationId xmlns:a16="http://schemas.microsoft.com/office/drawing/2014/main" id="{4AF6313A-6635-5E0A-593A-B03F553CA67A}"/>
                </a:ext>
              </a:extLst>
            </p:cNvPr>
            <p:cNvGrpSpPr/>
            <p:nvPr/>
          </p:nvGrpSpPr>
          <p:grpSpPr>
            <a:xfrm>
              <a:off x="9738000" y="3960000"/>
              <a:ext cx="648000" cy="648000"/>
              <a:chOff x="8442000" y="2016000"/>
              <a:chExt cx="648000" cy="648000"/>
            </a:xfrm>
          </p:grpSpPr>
          <p:grpSp>
            <p:nvGrpSpPr>
              <p:cNvPr id="101" name="组合 100">
                <a:extLst>
                  <a:ext uri="{FF2B5EF4-FFF2-40B4-BE49-F238E27FC236}">
                    <a16:creationId xmlns:a16="http://schemas.microsoft.com/office/drawing/2014/main" id="{86463296-6FEE-FDD4-E29B-A9C88C0FB84C}"/>
                  </a:ext>
                </a:extLst>
              </p:cNvPr>
              <p:cNvGrpSpPr/>
              <p:nvPr/>
            </p:nvGrpSpPr>
            <p:grpSpPr>
              <a:xfrm rot="-8100000">
                <a:off x="8586000" y="2232000"/>
                <a:ext cx="360000" cy="216000"/>
                <a:chOff x="8604000" y="2178000"/>
                <a:chExt cx="360000" cy="198000"/>
              </a:xfrm>
            </p:grpSpPr>
            <p:sp>
              <p:nvSpPr>
                <p:cNvPr id="115" name="等腰三角形 114">
                  <a:extLst>
                    <a:ext uri="{FF2B5EF4-FFF2-40B4-BE49-F238E27FC236}">
                      <a16:creationId xmlns:a16="http://schemas.microsoft.com/office/drawing/2014/main" id="{04A46B22-027D-15DB-9DDE-EBE05A8B9A2F}"/>
                    </a:ext>
                  </a:extLst>
                </p:cNvPr>
                <p:cNvSpPr/>
                <p:nvPr/>
              </p:nvSpPr>
              <p:spPr>
                <a:xfrm>
                  <a:off x="8640000" y="2196000"/>
                  <a:ext cx="288000" cy="180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116" name="直接连接符 115">
                  <a:extLst>
                    <a:ext uri="{FF2B5EF4-FFF2-40B4-BE49-F238E27FC236}">
                      <a16:creationId xmlns:a16="http://schemas.microsoft.com/office/drawing/2014/main" id="{624BA657-AEEA-A05F-969F-9BCC566F4F6F}"/>
                    </a:ext>
                  </a:extLst>
                </p:cNvPr>
                <p:cNvCxnSpPr>
                  <a:cxnSpLocks/>
                </p:cNvCxnSpPr>
                <p:nvPr/>
              </p:nvCxnSpPr>
              <p:spPr>
                <a:xfrm>
                  <a:off x="8604000" y="2178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2" name="直接连接符 101">
                <a:extLst>
                  <a:ext uri="{FF2B5EF4-FFF2-40B4-BE49-F238E27FC236}">
                    <a16:creationId xmlns:a16="http://schemas.microsoft.com/office/drawing/2014/main" id="{FC860718-24E9-D4A2-F068-3E53233FF6F2}"/>
                  </a:ext>
                </a:extLst>
              </p:cNvPr>
              <p:cNvCxnSpPr>
                <a:cxnSpLocks/>
              </p:cNvCxnSpPr>
              <p:nvPr/>
            </p:nvCxnSpPr>
            <p:spPr>
              <a:xfrm flipV="1">
                <a:off x="8496000" y="2070000"/>
                <a:ext cx="540000" cy="5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8" name="椭圆 107">
                <a:extLst>
                  <a:ext uri="{FF2B5EF4-FFF2-40B4-BE49-F238E27FC236}">
                    <a16:creationId xmlns:a16="http://schemas.microsoft.com/office/drawing/2014/main" id="{D0C0F0F4-905B-16D3-424F-133CD8E20A09}"/>
                  </a:ext>
                </a:extLst>
              </p:cNvPr>
              <p:cNvSpPr/>
              <p:nvPr/>
            </p:nvSpPr>
            <p:spPr>
              <a:xfrm>
                <a:off x="8442000" y="255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108">
                <a:extLst>
                  <a:ext uri="{FF2B5EF4-FFF2-40B4-BE49-F238E27FC236}">
                    <a16:creationId xmlns:a16="http://schemas.microsoft.com/office/drawing/2014/main" id="{2F8182D2-D155-B81A-EB9B-8168533AE390}"/>
                  </a:ext>
                </a:extLst>
              </p:cNvPr>
              <p:cNvSpPr/>
              <p:nvPr/>
            </p:nvSpPr>
            <p:spPr>
              <a:xfrm>
                <a:off x="8982000" y="201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4" name="组合 143">
              <a:extLst>
                <a:ext uri="{FF2B5EF4-FFF2-40B4-BE49-F238E27FC236}">
                  <a16:creationId xmlns:a16="http://schemas.microsoft.com/office/drawing/2014/main" id="{140264DC-B9BB-5F7C-AEDB-0B3FF220F935}"/>
                </a:ext>
              </a:extLst>
            </p:cNvPr>
            <p:cNvGrpSpPr/>
            <p:nvPr/>
          </p:nvGrpSpPr>
          <p:grpSpPr>
            <a:xfrm>
              <a:off x="9363600" y="5040000"/>
              <a:ext cx="572400" cy="738000"/>
              <a:chOff x="8715600" y="5040000"/>
              <a:chExt cx="572400" cy="738000"/>
            </a:xfrm>
          </p:grpSpPr>
          <p:sp>
            <p:nvSpPr>
              <p:cNvPr id="150" name="等腰三角形 149">
                <a:extLst>
                  <a:ext uri="{FF2B5EF4-FFF2-40B4-BE49-F238E27FC236}">
                    <a16:creationId xmlns:a16="http://schemas.microsoft.com/office/drawing/2014/main" id="{0B7259CF-85B2-93BD-72C8-CCA95B16C30E}"/>
                  </a:ext>
                </a:extLst>
              </p:cNvPr>
              <p:cNvSpPr/>
              <p:nvPr/>
            </p:nvSpPr>
            <p:spPr>
              <a:xfrm flipV="1">
                <a:off x="8784000" y="5040000"/>
                <a:ext cx="504000" cy="432000"/>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椭圆 150">
                <a:extLst>
                  <a:ext uri="{FF2B5EF4-FFF2-40B4-BE49-F238E27FC236}">
                    <a16:creationId xmlns:a16="http://schemas.microsoft.com/office/drawing/2014/main" id="{70D7D6E5-6ABF-C38F-52C6-2299FDDFD209}"/>
                  </a:ext>
                </a:extLst>
              </p:cNvPr>
              <p:cNvSpPr/>
              <p:nvPr/>
            </p:nvSpPr>
            <p:spPr>
              <a:xfrm>
                <a:off x="8820000" y="5256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椭圆 156">
                <a:extLst>
                  <a:ext uri="{FF2B5EF4-FFF2-40B4-BE49-F238E27FC236}">
                    <a16:creationId xmlns:a16="http://schemas.microsoft.com/office/drawing/2014/main" id="{6597B28A-6A6D-9A31-11AF-BF1E3D1E5E86}"/>
                  </a:ext>
                </a:extLst>
              </p:cNvPr>
              <p:cNvSpPr/>
              <p:nvPr/>
            </p:nvSpPr>
            <p:spPr>
              <a:xfrm>
                <a:off x="8982000" y="5472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8" name="直接连接符 157">
                <a:extLst>
                  <a:ext uri="{FF2B5EF4-FFF2-40B4-BE49-F238E27FC236}">
                    <a16:creationId xmlns:a16="http://schemas.microsoft.com/office/drawing/2014/main" id="{1202F2DD-15A3-B95F-D6AE-17FDA1A6C7CC}"/>
                  </a:ext>
                </a:extLst>
              </p:cNvPr>
              <p:cNvCxnSpPr>
                <a:cxnSpLocks/>
              </p:cNvCxnSpPr>
              <p:nvPr/>
            </p:nvCxnSpPr>
            <p:spPr>
              <a:xfrm flipH="1">
                <a:off x="8766000" y="5346000"/>
                <a:ext cx="72000" cy="72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接连接符 169">
                <a:extLst>
                  <a:ext uri="{FF2B5EF4-FFF2-40B4-BE49-F238E27FC236}">
                    <a16:creationId xmlns:a16="http://schemas.microsoft.com/office/drawing/2014/main" id="{8699D0C2-4EBF-984C-D995-4D6DBF2AC816}"/>
                  </a:ext>
                </a:extLst>
              </p:cNvPr>
              <p:cNvCxnSpPr>
                <a:cxnSpLocks/>
              </p:cNvCxnSpPr>
              <p:nvPr/>
            </p:nvCxnSpPr>
            <p:spPr>
              <a:xfrm>
                <a:off x="8769600" y="5410800"/>
                <a:ext cx="0" cy="30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74" name="椭圆 173">
                <a:extLst>
                  <a:ext uri="{FF2B5EF4-FFF2-40B4-BE49-F238E27FC236}">
                    <a16:creationId xmlns:a16="http://schemas.microsoft.com/office/drawing/2014/main" id="{D6FD0396-ACE7-13EE-3B71-B8113CAFC7DE}"/>
                  </a:ext>
                </a:extLst>
              </p:cNvPr>
              <p:cNvSpPr/>
              <p:nvPr/>
            </p:nvSpPr>
            <p:spPr>
              <a:xfrm>
                <a:off x="8715600" y="5670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5" name="组合 174">
              <a:extLst>
                <a:ext uri="{FF2B5EF4-FFF2-40B4-BE49-F238E27FC236}">
                  <a16:creationId xmlns:a16="http://schemas.microsoft.com/office/drawing/2014/main" id="{0FAD51C6-2E7B-0179-94CE-AFA4A922A183}"/>
                </a:ext>
              </a:extLst>
            </p:cNvPr>
            <p:cNvGrpSpPr/>
            <p:nvPr/>
          </p:nvGrpSpPr>
          <p:grpSpPr>
            <a:xfrm>
              <a:off x="10011600" y="5040000"/>
              <a:ext cx="572400" cy="738000"/>
              <a:chOff x="8715600" y="5040000"/>
              <a:chExt cx="572400" cy="738000"/>
            </a:xfrm>
          </p:grpSpPr>
          <p:sp>
            <p:nvSpPr>
              <p:cNvPr id="176" name="等腰三角形 175">
                <a:extLst>
                  <a:ext uri="{FF2B5EF4-FFF2-40B4-BE49-F238E27FC236}">
                    <a16:creationId xmlns:a16="http://schemas.microsoft.com/office/drawing/2014/main" id="{AA690C4B-2115-D4D8-D818-C8E34D9CFB2C}"/>
                  </a:ext>
                </a:extLst>
              </p:cNvPr>
              <p:cNvSpPr/>
              <p:nvPr/>
            </p:nvSpPr>
            <p:spPr>
              <a:xfrm flipV="1">
                <a:off x="8784000" y="5040000"/>
                <a:ext cx="504000" cy="432000"/>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椭圆 180">
                <a:extLst>
                  <a:ext uri="{FF2B5EF4-FFF2-40B4-BE49-F238E27FC236}">
                    <a16:creationId xmlns:a16="http://schemas.microsoft.com/office/drawing/2014/main" id="{5514DA34-A4FB-C69C-D710-1A0C36A08206}"/>
                  </a:ext>
                </a:extLst>
              </p:cNvPr>
              <p:cNvSpPr/>
              <p:nvPr/>
            </p:nvSpPr>
            <p:spPr>
              <a:xfrm>
                <a:off x="8820000" y="5256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3" name="椭圆 182">
                <a:extLst>
                  <a:ext uri="{FF2B5EF4-FFF2-40B4-BE49-F238E27FC236}">
                    <a16:creationId xmlns:a16="http://schemas.microsoft.com/office/drawing/2014/main" id="{84965501-C190-A976-5469-2A78513206AA}"/>
                  </a:ext>
                </a:extLst>
              </p:cNvPr>
              <p:cNvSpPr/>
              <p:nvPr/>
            </p:nvSpPr>
            <p:spPr>
              <a:xfrm>
                <a:off x="8982000" y="5472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5" name="直接连接符 184">
                <a:extLst>
                  <a:ext uri="{FF2B5EF4-FFF2-40B4-BE49-F238E27FC236}">
                    <a16:creationId xmlns:a16="http://schemas.microsoft.com/office/drawing/2014/main" id="{52248E38-4BB7-F2A9-03F4-DCD58B4826A0}"/>
                  </a:ext>
                </a:extLst>
              </p:cNvPr>
              <p:cNvCxnSpPr>
                <a:cxnSpLocks/>
              </p:cNvCxnSpPr>
              <p:nvPr/>
            </p:nvCxnSpPr>
            <p:spPr>
              <a:xfrm flipH="1">
                <a:off x="8766000" y="5346000"/>
                <a:ext cx="72000" cy="72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直接连接符 185">
                <a:extLst>
                  <a:ext uri="{FF2B5EF4-FFF2-40B4-BE49-F238E27FC236}">
                    <a16:creationId xmlns:a16="http://schemas.microsoft.com/office/drawing/2014/main" id="{414496A0-5DF6-B700-811C-8EBCD5E6A9FA}"/>
                  </a:ext>
                </a:extLst>
              </p:cNvPr>
              <p:cNvCxnSpPr>
                <a:cxnSpLocks/>
              </p:cNvCxnSpPr>
              <p:nvPr/>
            </p:nvCxnSpPr>
            <p:spPr>
              <a:xfrm>
                <a:off x="8769600" y="5410800"/>
                <a:ext cx="0" cy="30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7" name="椭圆 186">
                <a:extLst>
                  <a:ext uri="{FF2B5EF4-FFF2-40B4-BE49-F238E27FC236}">
                    <a16:creationId xmlns:a16="http://schemas.microsoft.com/office/drawing/2014/main" id="{02DDAD11-2410-2A70-E2E2-2D874D53F0EA}"/>
                  </a:ext>
                </a:extLst>
              </p:cNvPr>
              <p:cNvSpPr/>
              <p:nvPr/>
            </p:nvSpPr>
            <p:spPr>
              <a:xfrm>
                <a:off x="8715600" y="5670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1" name="组合 220">
              <a:extLst>
                <a:ext uri="{FF2B5EF4-FFF2-40B4-BE49-F238E27FC236}">
                  <a16:creationId xmlns:a16="http://schemas.microsoft.com/office/drawing/2014/main" id="{619B5B76-8F05-6DE1-6A1D-E506B5F9947D}"/>
                </a:ext>
              </a:extLst>
            </p:cNvPr>
            <p:cNvGrpSpPr/>
            <p:nvPr/>
          </p:nvGrpSpPr>
          <p:grpSpPr>
            <a:xfrm>
              <a:off x="10710000" y="5040000"/>
              <a:ext cx="522000" cy="676800"/>
              <a:chOff x="8766000" y="5040000"/>
              <a:chExt cx="522000" cy="676800"/>
            </a:xfrm>
          </p:grpSpPr>
          <p:sp>
            <p:nvSpPr>
              <p:cNvPr id="222" name="等腰三角形 221">
                <a:extLst>
                  <a:ext uri="{FF2B5EF4-FFF2-40B4-BE49-F238E27FC236}">
                    <a16:creationId xmlns:a16="http://schemas.microsoft.com/office/drawing/2014/main" id="{0351C74D-95F7-8012-5BC5-1E62D82C1327}"/>
                  </a:ext>
                </a:extLst>
              </p:cNvPr>
              <p:cNvSpPr/>
              <p:nvPr/>
            </p:nvSpPr>
            <p:spPr>
              <a:xfrm flipV="1">
                <a:off x="8784000" y="5040000"/>
                <a:ext cx="504000" cy="432000"/>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6" name="椭圆 225">
                <a:extLst>
                  <a:ext uri="{FF2B5EF4-FFF2-40B4-BE49-F238E27FC236}">
                    <a16:creationId xmlns:a16="http://schemas.microsoft.com/office/drawing/2014/main" id="{78D447E7-8BA9-0317-D9D6-70509F3C202A}"/>
                  </a:ext>
                </a:extLst>
              </p:cNvPr>
              <p:cNvSpPr/>
              <p:nvPr/>
            </p:nvSpPr>
            <p:spPr>
              <a:xfrm>
                <a:off x="8820000" y="5256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0" name="椭圆 239">
                <a:extLst>
                  <a:ext uri="{FF2B5EF4-FFF2-40B4-BE49-F238E27FC236}">
                    <a16:creationId xmlns:a16="http://schemas.microsoft.com/office/drawing/2014/main" id="{567A79F1-748D-C4E3-DCFD-4F52EA06DC73}"/>
                  </a:ext>
                </a:extLst>
              </p:cNvPr>
              <p:cNvSpPr/>
              <p:nvPr/>
            </p:nvSpPr>
            <p:spPr>
              <a:xfrm>
                <a:off x="8982000" y="5472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2" name="直接连接符 241">
                <a:extLst>
                  <a:ext uri="{FF2B5EF4-FFF2-40B4-BE49-F238E27FC236}">
                    <a16:creationId xmlns:a16="http://schemas.microsoft.com/office/drawing/2014/main" id="{C43F55C2-934A-6223-614B-5C6F4A5A4F32}"/>
                  </a:ext>
                </a:extLst>
              </p:cNvPr>
              <p:cNvCxnSpPr>
                <a:cxnSpLocks/>
              </p:cNvCxnSpPr>
              <p:nvPr/>
            </p:nvCxnSpPr>
            <p:spPr>
              <a:xfrm flipH="1">
                <a:off x="8766000" y="5346000"/>
                <a:ext cx="72000" cy="72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4" name="直接连接符 243">
                <a:extLst>
                  <a:ext uri="{FF2B5EF4-FFF2-40B4-BE49-F238E27FC236}">
                    <a16:creationId xmlns:a16="http://schemas.microsoft.com/office/drawing/2014/main" id="{F9B78D35-3C2A-9954-98FC-7B5D1A4A24A8}"/>
                  </a:ext>
                </a:extLst>
              </p:cNvPr>
              <p:cNvCxnSpPr>
                <a:cxnSpLocks/>
              </p:cNvCxnSpPr>
              <p:nvPr/>
            </p:nvCxnSpPr>
            <p:spPr>
              <a:xfrm>
                <a:off x="8769600" y="5410800"/>
                <a:ext cx="0" cy="30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867751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29EBC-EA49-DCE2-3F5E-126C8D895544}"/>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8E1350B5-8EE2-1188-AB2A-47E14497AA5A}"/>
              </a:ext>
            </a:extLst>
          </p:cNvPr>
          <p:cNvSpPr txBox="1"/>
          <p:nvPr/>
        </p:nvSpPr>
        <p:spPr>
          <a:xfrm>
            <a:off x="360000" y="828000"/>
            <a:ext cx="5046285" cy="3615733"/>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只读存储器的地址二维译码</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400" dirty="0">
                <a:solidFill>
                  <a:srgbClr val="002060"/>
                </a:solidFill>
                <a:latin typeface="微软雅黑" panose="020B0503020204020204" pitchFamily="34" charset="-122"/>
                <a:ea typeface="微软雅黑" panose="020B0503020204020204" pitchFamily="34" charset="-122"/>
              </a:rPr>
              <a:t>高位地址译码：</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选行</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400" dirty="0">
                <a:solidFill>
                  <a:srgbClr val="002060"/>
                </a:solidFill>
                <a:latin typeface="微软雅黑" panose="020B0503020204020204" pitchFamily="34" charset="-122"/>
                <a:ea typeface="微软雅黑" panose="020B0503020204020204" pitchFamily="34" charset="-122"/>
              </a:rPr>
              <a:t>地位地址译码：</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选列</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400" dirty="0">
                <a:solidFill>
                  <a:srgbClr val="002060"/>
                </a:solidFill>
                <a:latin typeface="微软雅黑" panose="020B0503020204020204" pitchFamily="34" charset="-122"/>
                <a:ea typeface="微软雅黑" panose="020B0503020204020204" pitchFamily="34" charset="-122"/>
              </a:rPr>
              <a:t>字线与位线的每个交点都是一个存储单元</a:t>
            </a:r>
            <a:endParaRPr kumimoji="1" lang="en-US" altLang="zh-CN" sz="24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有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MOS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管，相当于存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0</a:t>
            </a: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无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MOS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管，相当于存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1</a:t>
            </a:r>
          </a:p>
        </p:txBody>
      </p:sp>
      <p:grpSp>
        <p:nvGrpSpPr>
          <p:cNvPr id="4" name="组合 3">
            <a:extLst>
              <a:ext uri="{FF2B5EF4-FFF2-40B4-BE49-F238E27FC236}">
                <a16:creationId xmlns:a16="http://schemas.microsoft.com/office/drawing/2014/main" id="{E1BD0AFF-57A3-989E-BB18-DF71CFD0CC95}"/>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ADF2C839-2CD0-DE79-8F08-FCF16DF27C9B}"/>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41EC8194-06E3-44B7-1575-256C505FC5C4}"/>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97C7823B-DB06-FD6A-505E-6A04494B2B8C}"/>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EFCE9768-3802-12BD-E60D-0B1A82C6BF6E}"/>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7</a:t>
              </a:fld>
              <a:endParaRPr lang="zh-CN" altLang="en-US" sz="3200" dirty="0">
                <a:solidFill>
                  <a:schemeClr val="bg1"/>
                </a:solidFill>
                <a:latin typeface="Candara"/>
                <a:ea typeface="微软雅黑"/>
              </a:endParaRPr>
            </a:p>
          </p:txBody>
        </p:sp>
      </p:grpSp>
      <p:sp>
        <p:nvSpPr>
          <p:cNvPr id="9" name="标题 1">
            <a:extLst>
              <a:ext uri="{FF2B5EF4-FFF2-40B4-BE49-F238E27FC236}">
                <a16:creationId xmlns:a16="http://schemas.microsoft.com/office/drawing/2014/main" id="{320E23E4-5896-9F71-B663-8A6D3C075786}"/>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半导体存储器 </a:t>
            </a:r>
            <a:r>
              <a:rPr lang="en-US" altLang="zh-CN" sz="3000" dirty="0"/>
              <a:t>—— </a:t>
            </a:r>
            <a:r>
              <a:rPr lang="zh-CN" altLang="en-US" sz="3000" dirty="0">
                <a:solidFill>
                  <a:srgbClr val="FFFF00"/>
                </a:solidFill>
              </a:rPr>
              <a:t>只读存储器（</a:t>
            </a:r>
            <a:r>
              <a:rPr lang="en-US" altLang="zh-CN" sz="3000" dirty="0">
                <a:solidFill>
                  <a:srgbClr val="FFFF00"/>
                </a:solidFill>
              </a:rPr>
              <a:t>ROM</a:t>
            </a:r>
            <a:r>
              <a:rPr lang="zh-CN" altLang="en-US" sz="3000" dirty="0">
                <a:solidFill>
                  <a:srgbClr val="FFFF00"/>
                </a:solidFill>
              </a:rPr>
              <a:t>）</a:t>
            </a:r>
            <a:endParaRPr lang="en-US" altLang="zh-CN" sz="3000" dirty="0"/>
          </a:p>
        </p:txBody>
      </p:sp>
      <p:grpSp>
        <p:nvGrpSpPr>
          <p:cNvPr id="11" name="组合 10">
            <a:extLst>
              <a:ext uri="{FF2B5EF4-FFF2-40B4-BE49-F238E27FC236}">
                <a16:creationId xmlns:a16="http://schemas.microsoft.com/office/drawing/2014/main" id="{3A1AC1A7-2B7E-BFD1-CA59-BE165AF04715}"/>
              </a:ext>
            </a:extLst>
          </p:cNvPr>
          <p:cNvGrpSpPr/>
          <p:nvPr/>
        </p:nvGrpSpPr>
        <p:grpSpPr>
          <a:xfrm>
            <a:off x="5580000" y="576000"/>
            <a:ext cx="6118560" cy="6192000"/>
            <a:chOff x="5580000" y="576000"/>
            <a:chExt cx="6118560" cy="6192000"/>
          </a:xfrm>
        </p:grpSpPr>
        <mc:AlternateContent xmlns:mc="http://schemas.openxmlformats.org/markup-compatibility/2006" xmlns:a14="http://schemas.microsoft.com/office/drawing/2010/main">
          <mc:Choice Requires="a14">
            <p:sp>
              <p:nvSpPr>
                <p:cNvPr id="311" name="文本框 310">
                  <a:extLst>
                    <a:ext uri="{FF2B5EF4-FFF2-40B4-BE49-F238E27FC236}">
                      <a16:creationId xmlns:a16="http://schemas.microsoft.com/office/drawing/2014/main" id="{DD27C8E9-3C8E-D4F2-65F4-E55E2F7D4C32}"/>
                    </a:ext>
                  </a:extLst>
                </p:cNvPr>
                <p:cNvSpPr txBox="1"/>
                <p:nvPr/>
              </p:nvSpPr>
              <p:spPr>
                <a:xfrm>
                  <a:off x="8532000" y="1404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schemeClr val="tx1"/>
                            </a:solidFill>
                            <a:latin typeface="Cambria Math" panose="02040503050406030204" pitchFamily="18" charset="0"/>
                          </a:rPr>
                          <m:t>𝑅</m:t>
                        </m:r>
                      </m:oMath>
                    </m:oMathPara>
                  </a14:m>
                  <a:endParaRPr lang="zh-CN" altLang="en-US" sz="2400" dirty="0">
                    <a:solidFill>
                      <a:schemeClr val="tx1"/>
                    </a:solidFill>
                  </a:endParaRPr>
                </a:p>
              </p:txBody>
            </p:sp>
          </mc:Choice>
          <mc:Fallback xmlns="">
            <p:sp>
              <p:nvSpPr>
                <p:cNvPr id="311" name="文本框 310">
                  <a:extLst>
                    <a:ext uri="{FF2B5EF4-FFF2-40B4-BE49-F238E27FC236}">
                      <a16:creationId xmlns:a16="http://schemas.microsoft.com/office/drawing/2014/main" id="{DD27C8E9-3C8E-D4F2-65F4-E55E2F7D4C32}"/>
                    </a:ext>
                  </a:extLst>
                </p:cNvPr>
                <p:cNvSpPr txBox="1">
                  <a:spLocks noRot="1" noChangeAspect="1" noMove="1" noResize="1" noEditPoints="1" noAdjustHandles="1" noChangeArrowheads="1" noChangeShapeType="1" noTextEdit="1"/>
                </p:cNvSpPr>
                <p:nvPr/>
              </p:nvSpPr>
              <p:spPr>
                <a:xfrm>
                  <a:off x="8532000" y="1404000"/>
                  <a:ext cx="538560" cy="360000"/>
                </a:xfrm>
                <a:prstGeom prst="rect">
                  <a:avLst/>
                </a:prstGeom>
                <a:blipFill>
                  <a:blip r:embed="rId3"/>
                  <a:stretch>
                    <a:fillRect b="-101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2" name="文本框 311">
                  <a:extLst>
                    <a:ext uri="{FF2B5EF4-FFF2-40B4-BE49-F238E27FC236}">
                      <a16:creationId xmlns:a16="http://schemas.microsoft.com/office/drawing/2014/main" id="{5584503D-7B34-8B39-C886-6F005350E41D}"/>
                    </a:ext>
                  </a:extLst>
                </p:cNvPr>
                <p:cNvSpPr txBox="1"/>
                <p:nvPr/>
              </p:nvSpPr>
              <p:spPr>
                <a:xfrm>
                  <a:off x="9252000" y="1404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schemeClr val="tx1"/>
                            </a:solidFill>
                            <a:latin typeface="Cambria Math" panose="02040503050406030204" pitchFamily="18" charset="0"/>
                          </a:rPr>
                          <m:t>𝑅</m:t>
                        </m:r>
                      </m:oMath>
                    </m:oMathPara>
                  </a14:m>
                  <a:endParaRPr lang="zh-CN" altLang="en-US" sz="2400" dirty="0">
                    <a:solidFill>
                      <a:schemeClr val="tx1"/>
                    </a:solidFill>
                  </a:endParaRPr>
                </a:p>
              </p:txBody>
            </p:sp>
          </mc:Choice>
          <mc:Fallback xmlns="">
            <p:sp>
              <p:nvSpPr>
                <p:cNvPr id="312" name="文本框 311">
                  <a:extLst>
                    <a:ext uri="{FF2B5EF4-FFF2-40B4-BE49-F238E27FC236}">
                      <a16:creationId xmlns:a16="http://schemas.microsoft.com/office/drawing/2014/main" id="{5584503D-7B34-8B39-C886-6F005350E41D}"/>
                    </a:ext>
                  </a:extLst>
                </p:cNvPr>
                <p:cNvSpPr txBox="1">
                  <a:spLocks noRot="1" noChangeAspect="1" noMove="1" noResize="1" noEditPoints="1" noAdjustHandles="1" noChangeArrowheads="1" noChangeShapeType="1" noTextEdit="1"/>
                </p:cNvSpPr>
                <p:nvPr/>
              </p:nvSpPr>
              <p:spPr>
                <a:xfrm>
                  <a:off x="9252000" y="1404000"/>
                  <a:ext cx="538560" cy="360000"/>
                </a:xfrm>
                <a:prstGeom prst="rect">
                  <a:avLst/>
                </a:prstGeom>
                <a:blipFill>
                  <a:blip r:embed="rId4"/>
                  <a:stretch>
                    <a:fillRect b="-101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3" name="文本框 312">
                  <a:extLst>
                    <a:ext uri="{FF2B5EF4-FFF2-40B4-BE49-F238E27FC236}">
                      <a16:creationId xmlns:a16="http://schemas.microsoft.com/office/drawing/2014/main" id="{D4257E59-4FEC-34EC-4436-A1C989EA9318}"/>
                    </a:ext>
                  </a:extLst>
                </p:cNvPr>
                <p:cNvSpPr txBox="1"/>
                <p:nvPr/>
              </p:nvSpPr>
              <p:spPr>
                <a:xfrm>
                  <a:off x="10440000" y="1404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schemeClr val="tx1"/>
                            </a:solidFill>
                            <a:latin typeface="Cambria Math" panose="02040503050406030204" pitchFamily="18" charset="0"/>
                          </a:rPr>
                          <m:t>𝑅</m:t>
                        </m:r>
                      </m:oMath>
                    </m:oMathPara>
                  </a14:m>
                  <a:endParaRPr lang="zh-CN" altLang="en-US" sz="2400" dirty="0">
                    <a:solidFill>
                      <a:schemeClr val="tx1"/>
                    </a:solidFill>
                  </a:endParaRPr>
                </a:p>
              </p:txBody>
            </p:sp>
          </mc:Choice>
          <mc:Fallback xmlns="">
            <p:sp>
              <p:nvSpPr>
                <p:cNvPr id="313" name="文本框 312">
                  <a:extLst>
                    <a:ext uri="{FF2B5EF4-FFF2-40B4-BE49-F238E27FC236}">
                      <a16:creationId xmlns:a16="http://schemas.microsoft.com/office/drawing/2014/main" id="{D4257E59-4FEC-34EC-4436-A1C989EA9318}"/>
                    </a:ext>
                  </a:extLst>
                </p:cNvPr>
                <p:cNvSpPr txBox="1">
                  <a:spLocks noRot="1" noChangeAspect="1" noMove="1" noResize="1" noEditPoints="1" noAdjustHandles="1" noChangeArrowheads="1" noChangeShapeType="1" noTextEdit="1"/>
                </p:cNvSpPr>
                <p:nvPr/>
              </p:nvSpPr>
              <p:spPr>
                <a:xfrm>
                  <a:off x="10440000" y="1404000"/>
                  <a:ext cx="538560" cy="360000"/>
                </a:xfrm>
                <a:prstGeom prst="rect">
                  <a:avLst/>
                </a:prstGeom>
                <a:blipFill>
                  <a:blip r:embed="rId5"/>
                  <a:stretch>
                    <a:fillRect b="-101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4" name="文本框 313">
                  <a:extLst>
                    <a:ext uri="{FF2B5EF4-FFF2-40B4-BE49-F238E27FC236}">
                      <a16:creationId xmlns:a16="http://schemas.microsoft.com/office/drawing/2014/main" id="{62D74617-4EC7-3CF9-93DB-9618DCCF95A0}"/>
                    </a:ext>
                  </a:extLst>
                </p:cNvPr>
                <p:cNvSpPr txBox="1"/>
                <p:nvPr/>
              </p:nvSpPr>
              <p:spPr>
                <a:xfrm>
                  <a:off x="11160000" y="1404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schemeClr val="tx1"/>
                            </a:solidFill>
                            <a:latin typeface="Cambria Math" panose="02040503050406030204" pitchFamily="18" charset="0"/>
                          </a:rPr>
                          <m:t>𝑅</m:t>
                        </m:r>
                      </m:oMath>
                    </m:oMathPara>
                  </a14:m>
                  <a:endParaRPr lang="zh-CN" altLang="en-US" sz="2400" dirty="0">
                    <a:solidFill>
                      <a:schemeClr val="tx1"/>
                    </a:solidFill>
                  </a:endParaRPr>
                </a:p>
              </p:txBody>
            </p:sp>
          </mc:Choice>
          <mc:Fallback xmlns="">
            <p:sp>
              <p:nvSpPr>
                <p:cNvPr id="314" name="文本框 313">
                  <a:extLst>
                    <a:ext uri="{FF2B5EF4-FFF2-40B4-BE49-F238E27FC236}">
                      <a16:creationId xmlns:a16="http://schemas.microsoft.com/office/drawing/2014/main" id="{62D74617-4EC7-3CF9-93DB-9618DCCF95A0}"/>
                    </a:ext>
                  </a:extLst>
                </p:cNvPr>
                <p:cNvSpPr txBox="1">
                  <a:spLocks noRot="1" noChangeAspect="1" noMove="1" noResize="1" noEditPoints="1" noAdjustHandles="1" noChangeArrowheads="1" noChangeShapeType="1" noTextEdit="1"/>
                </p:cNvSpPr>
                <p:nvPr/>
              </p:nvSpPr>
              <p:spPr>
                <a:xfrm>
                  <a:off x="11160000" y="1404000"/>
                  <a:ext cx="538560" cy="360000"/>
                </a:xfrm>
                <a:prstGeom prst="rect">
                  <a:avLst/>
                </a:prstGeom>
                <a:blipFill>
                  <a:blip r:embed="rId6"/>
                  <a:stretch>
                    <a:fillRect b="-10169"/>
                  </a:stretch>
                </a:blipFill>
              </p:spPr>
              <p:txBody>
                <a:bodyPr/>
                <a:lstStyle/>
                <a:p>
                  <a:r>
                    <a:rPr lang="zh-CN" altLang="en-US">
                      <a:noFill/>
                    </a:rPr>
                    <a:t> </a:t>
                  </a:r>
                </a:p>
              </p:txBody>
            </p:sp>
          </mc:Fallback>
        </mc:AlternateContent>
        <p:cxnSp>
          <p:nvCxnSpPr>
            <p:cNvPr id="276" name="直接连接符 275">
              <a:extLst>
                <a:ext uri="{FF2B5EF4-FFF2-40B4-BE49-F238E27FC236}">
                  <a16:creationId xmlns:a16="http://schemas.microsoft.com/office/drawing/2014/main" id="{3282CCDC-61DD-417E-5BFB-9B9DDB39EC97}"/>
                </a:ext>
              </a:extLst>
            </p:cNvPr>
            <p:cNvCxnSpPr>
              <a:cxnSpLocks/>
            </p:cNvCxnSpPr>
            <p:nvPr/>
          </p:nvCxnSpPr>
          <p:spPr>
            <a:xfrm>
              <a:off x="6047999" y="2304000"/>
              <a:ext cx="2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0" name="直接连接符 279">
              <a:extLst>
                <a:ext uri="{FF2B5EF4-FFF2-40B4-BE49-F238E27FC236}">
                  <a16:creationId xmlns:a16="http://schemas.microsoft.com/office/drawing/2014/main" id="{DAA391CB-2694-9FF6-A2AB-E36AB49E2642}"/>
                </a:ext>
              </a:extLst>
            </p:cNvPr>
            <p:cNvCxnSpPr>
              <a:cxnSpLocks/>
            </p:cNvCxnSpPr>
            <p:nvPr/>
          </p:nvCxnSpPr>
          <p:spPr>
            <a:xfrm>
              <a:off x="6047999" y="2880000"/>
              <a:ext cx="2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2" name="直接连接符 281">
              <a:extLst>
                <a:ext uri="{FF2B5EF4-FFF2-40B4-BE49-F238E27FC236}">
                  <a16:creationId xmlns:a16="http://schemas.microsoft.com/office/drawing/2014/main" id="{94728C3B-69CC-D5B7-CD19-CA09DDE7EEBC}"/>
                </a:ext>
              </a:extLst>
            </p:cNvPr>
            <p:cNvCxnSpPr>
              <a:cxnSpLocks/>
            </p:cNvCxnSpPr>
            <p:nvPr/>
          </p:nvCxnSpPr>
          <p:spPr>
            <a:xfrm>
              <a:off x="6047999" y="3456000"/>
              <a:ext cx="2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4" name="直接连接符 283">
              <a:extLst>
                <a:ext uri="{FF2B5EF4-FFF2-40B4-BE49-F238E27FC236}">
                  <a16:creationId xmlns:a16="http://schemas.microsoft.com/office/drawing/2014/main" id="{F0C005F2-8819-345A-B792-B387053A5AB3}"/>
                </a:ext>
              </a:extLst>
            </p:cNvPr>
            <p:cNvCxnSpPr>
              <a:cxnSpLocks/>
            </p:cNvCxnSpPr>
            <p:nvPr/>
          </p:nvCxnSpPr>
          <p:spPr>
            <a:xfrm>
              <a:off x="6047999" y="4032000"/>
              <a:ext cx="2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75" name="矩形 274">
              <a:extLst>
                <a:ext uri="{FF2B5EF4-FFF2-40B4-BE49-F238E27FC236}">
                  <a16:creationId xmlns:a16="http://schemas.microsoft.com/office/drawing/2014/main" id="{7813096A-1996-6303-2013-201AB0BD6934}"/>
                </a:ext>
              </a:extLst>
            </p:cNvPr>
            <p:cNvSpPr/>
            <p:nvPr/>
          </p:nvSpPr>
          <p:spPr>
            <a:xfrm>
              <a:off x="6270591" y="1741738"/>
              <a:ext cx="1188000" cy="2808000"/>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微软雅黑" panose="020B0503020204020204" pitchFamily="34" charset="-122"/>
                  <a:ea typeface="微软雅黑" panose="020B0503020204020204" pitchFamily="34" charset="-122"/>
                </a:rPr>
                <a:t>     </a:t>
              </a:r>
              <a:r>
                <a:rPr lang="en-US" altLang="zh-CN" dirty="0">
                  <a:solidFill>
                    <a:schemeClr val="tx1"/>
                  </a:solidFill>
                  <a:latin typeface="微软雅黑" panose="020B0503020204020204" pitchFamily="34" charset="-122"/>
                  <a:ea typeface="微软雅黑" panose="020B0503020204020204" pitchFamily="34" charset="-122"/>
                </a:rPr>
                <a:t>4</a:t>
              </a:r>
            </a:p>
            <a:p>
              <a:pPr algn="ctr"/>
              <a:r>
                <a:rPr lang="zh-CN" altLang="en-US" dirty="0">
                  <a:solidFill>
                    <a:schemeClr val="tx1"/>
                  </a:solidFill>
                  <a:latin typeface="微软雅黑" panose="020B0503020204020204" pitchFamily="34" charset="-122"/>
                  <a:ea typeface="微软雅黑" panose="020B0503020204020204" pitchFamily="34" charset="-122"/>
                </a:rPr>
                <a:t>     线</a:t>
              </a:r>
              <a:endParaRPr lang="en-US" altLang="zh-CN" dirty="0">
                <a:solidFill>
                  <a:schemeClr val="tx1"/>
                </a:solidFill>
                <a:latin typeface="微软雅黑" panose="020B0503020204020204" pitchFamily="34" charset="-122"/>
                <a:ea typeface="微软雅黑" panose="020B0503020204020204" pitchFamily="34" charset="-122"/>
              </a:endParaRPr>
            </a:p>
            <a:p>
              <a:pPr algn="ctr"/>
              <a:r>
                <a:rPr lang="en-US" altLang="zh-CN" dirty="0">
                  <a:solidFill>
                    <a:schemeClr val="tx1"/>
                  </a:solidFill>
                  <a:latin typeface="微软雅黑" panose="020B0503020204020204" pitchFamily="34" charset="-122"/>
                  <a:ea typeface="微软雅黑" panose="020B0503020204020204" pitchFamily="34" charset="-122"/>
                </a:rPr>
                <a:t>     |</a:t>
              </a:r>
            </a:p>
            <a:p>
              <a:pPr algn="ctr"/>
              <a:r>
                <a:rPr lang="en-US" altLang="zh-CN" dirty="0">
                  <a:solidFill>
                    <a:schemeClr val="tx1"/>
                  </a:solidFill>
                  <a:latin typeface="微软雅黑" panose="020B0503020204020204" pitchFamily="34" charset="-122"/>
                  <a:ea typeface="微软雅黑" panose="020B0503020204020204" pitchFamily="34" charset="-122"/>
                </a:rPr>
                <a:t>     16</a:t>
              </a:r>
            </a:p>
            <a:p>
              <a:pPr algn="ctr"/>
              <a:r>
                <a:rPr lang="zh-CN" altLang="en-US" dirty="0">
                  <a:solidFill>
                    <a:schemeClr val="tx1"/>
                  </a:solidFill>
                  <a:latin typeface="微软雅黑" panose="020B0503020204020204" pitchFamily="34" charset="-122"/>
                  <a:ea typeface="微软雅黑" panose="020B0503020204020204" pitchFamily="34" charset="-122"/>
                </a:rPr>
                <a:t>     线</a:t>
              </a:r>
              <a:endParaRPr lang="en-US" altLang="zh-CN" dirty="0">
                <a:solidFill>
                  <a:schemeClr val="tx1"/>
                </a:solidFill>
                <a:latin typeface="微软雅黑" panose="020B0503020204020204" pitchFamily="34" charset="-122"/>
                <a:ea typeface="微软雅黑" panose="020B0503020204020204" pitchFamily="34" charset="-122"/>
              </a:endParaRPr>
            </a:p>
            <a:p>
              <a:pPr algn="ctr"/>
              <a:r>
                <a:rPr lang="zh-CN" altLang="en-US" dirty="0">
                  <a:solidFill>
                    <a:schemeClr val="tx1"/>
                  </a:solidFill>
                  <a:latin typeface="微软雅黑" panose="020B0503020204020204" pitchFamily="34" charset="-122"/>
                  <a:ea typeface="微软雅黑" panose="020B0503020204020204" pitchFamily="34" charset="-122"/>
                </a:rPr>
                <a:t>     译</a:t>
              </a:r>
              <a:endParaRPr lang="en-US" altLang="zh-CN" dirty="0">
                <a:solidFill>
                  <a:schemeClr val="tx1"/>
                </a:solidFill>
                <a:latin typeface="微软雅黑" panose="020B0503020204020204" pitchFamily="34" charset="-122"/>
                <a:ea typeface="微软雅黑" panose="020B0503020204020204" pitchFamily="34" charset="-122"/>
              </a:endParaRPr>
            </a:p>
            <a:p>
              <a:pPr algn="ctr"/>
              <a:r>
                <a:rPr lang="zh-CN" altLang="en-US" dirty="0">
                  <a:solidFill>
                    <a:schemeClr val="tx1"/>
                  </a:solidFill>
                  <a:latin typeface="微软雅黑" panose="020B0503020204020204" pitchFamily="34" charset="-122"/>
                  <a:ea typeface="微软雅黑" panose="020B0503020204020204" pitchFamily="34" charset="-122"/>
                </a:rPr>
                <a:t>     码</a:t>
              </a:r>
              <a:endParaRPr lang="en-US" altLang="zh-CN" dirty="0">
                <a:solidFill>
                  <a:schemeClr val="tx1"/>
                </a:solidFill>
                <a:latin typeface="微软雅黑" panose="020B0503020204020204" pitchFamily="34" charset="-122"/>
                <a:ea typeface="微软雅黑" panose="020B0503020204020204" pitchFamily="34" charset="-122"/>
              </a:endParaRPr>
            </a:p>
            <a:p>
              <a:pPr algn="ctr"/>
              <a:r>
                <a:rPr lang="zh-CN" altLang="en-US" dirty="0">
                  <a:solidFill>
                    <a:schemeClr val="tx1"/>
                  </a:solidFill>
                  <a:latin typeface="微软雅黑" panose="020B0503020204020204" pitchFamily="34" charset="-122"/>
                  <a:ea typeface="微软雅黑" panose="020B0503020204020204" pitchFamily="34" charset="-122"/>
                </a:rPr>
                <a:t>     器</a:t>
              </a:r>
            </a:p>
          </p:txBody>
        </p:sp>
        <mc:AlternateContent xmlns:mc="http://schemas.openxmlformats.org/markup-compatibility/2006" xmlns:a14="http://schemas.microsoft.com/office/drawing/2010/main">
          <mc:Choice Requires="a14">
            <p:sp>
              <p:nvSpPr>
                <p:cNvPr id="286" name="文本框 285">
                  <a:extLst>
                    <a:ext uri="{FF2B5EF4-FFF2-40B4-BE49-F238E27FC236}">
                      <a16:creationId xmlns:a16="http://schemas.microsoft.com/office/drawing/2014/main" id="{6EF54CBD-0EA9-9915-E504-3C380A870504}"/>
                    </a:ext>
                  </a:extLst>
                </p:cNvPr>
                <p:cNvSpPr txBox="1"/>
                <p:nvPr/>
              </p:nvSpPr>
              <p:spPr>
                <a:xfrm>
                  <a:off x="6228000" y="2088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i="1">
                                <a:latin typeface="Cambria Math" panose="02040503050406030204" pitchFamily="18" charset="0"/>
                              </a:rPr>
                              <m:t>3</m:t>
                            </m:r>
                          </m:sub>
                        </m:sSub>
                      </m:oMath>
                    </m:oMathPara>
                  </a14:m>
                  <a:endParaRPr lang="zh-CN" altLang="en-US" sz="2400" dirty="0">
                    <a:solidFill>
                      <a:schemeClr val="tx1"/>
                    </a:solidFill>
                  </a:endParaRPr>
                </a:p>
              </p:txBody>
            </p:sp>
          </mc:Choice>
          <mc:Fallback xmlns="">
            <p:sp>
              <p:nvSpPr>
                <p:cNvPr id="286" name="文本框 285">
                  <a:extLst>
                    <a:ext uri="{FF2B5EF4-FFF2-40B4-BE49-F238E27FC236}">
                      <a16:creationId xmlns:a16="http://schemas.microsoft.com/office/drawing/2014/main" id="{6EF54CBD-0EA9-9915-E504-3C380A870504}"/>
                    </a:ext>
                  </a:extLst>
                </p:cNvPr>
                <p:cNvSpPr txBox="1">
                  <a:spLocks noRot="1" noChangeAspect="1" noMove="1" noResize="1" noEditPoints="1" noAdjustHandles="1" noChangeArrowheads="1" noChangeShapeType="1" noTextEdit="1"/>
                </p:cNvSpPr>
                <p:nvPr/>
              </p:nvSpPr>
              <p:spPr>
                <a:xfrm>
                  <a:off x="6228000" y="2088000"/>
                  <a:ext cx="538560" cy="360000"/>
                </a:xfrm>
                <a:prstGeom prst="rect">
                  <a:avLst/>
                </a:prstGeom>
                <a:blipFill>
                  <a:blip r:embed="rId7"/>
                  <a:stretch>
                    <a:fillRect l="-2273"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7" name="文本框 286">
                  <a:extLst>
                    <a:ext uri="{FF2B5EF4-FFF2-40B4-BE49-F238E27FC236}">
                      <a16:creationId xmlns:a16="http://schemas.microsoft.com/office/drawing/2014/main" id="{09F7D462-38C4-7BB8-D80D-680B03F2666D}"/>
                    </a:ext>
                  </a:extLst>
                </p:cNvPr>
                <p:cNvSpPr txBox="1"/>
                <p:nvPr/>
              </p:nvSpPr>
              <p:spPr>
                <a:xfrm>
                  <a:off x="6228000" y="2664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b="0" i="1" smtClean="0">
                                <a:solidFill>
                                  <a:schemeClr val="tx1"/>
                                </a:solidFill>
                                <a:latin typeface="Cambria Math" panose="02040503050406030204" pitchFamily="18" charset="0"/>
                              </a:rPr>
                              <m:t>2</m:t>
                            </m:r>
                          </m:sub>
                        </m:sSub>
                      </m:oMath>
                    </m:oMathPara>
                  </a14:m>
                  <a:endParaRPr lang="zh-CN" altLang="en-US" sz="2400" dirty="0">
                    <a:solidFill>
                      <a:schemeClr val="tx1"/>
                    </a:solidFill>
                  </a:endParaRPr>
                </a:p>
              </p:txBody>
            </p:sp>
          </mc:Choice>
          <mc:Fallback xmlns="">
            <p:sp>
              <p:nvSpPr>
                <p:cNvPr id="287" name="文本框 286">
                  <a:extLst>
                    <a:ext uri="{FF2B5EF4-FFF2-40B4-BE49-F238E27FC236}">
                      <a16:creationId xmlns:a16="http://schemas.microsoft.com/office/drawing/2014/main" id="{09F7D462-38C4-7BB8-D80D-680B03F2666D}"/>
                    </a:ext>
                  </a:extLst>
                </p:cNvPr>
                <p:cNvSpPr txBox="1">
                  <a:spLocks noRot="1" noChangeAspect="1" noMove="1" noResize="1" noEditPoints="1" noAdjustHandles="1" noChangeArrowheads="1" noChangeShapeType="1" noTextEdit="1"/>
                </p:cNvSpPr>
                <p:nvPr/>
              </p:nvSpPr>
              <p:spPr>
                <a:xfrm>
                  <a:off x="6228000" y="2664000"/>
                  <a:ext cx="538560" cy="360000"/>
                </a:xfrm>
                <a:prstGeom prst="rect">
                  <a:avLst/>
                </a:prstGeom>
                <a:blipFill>
                  <a:blip r:embed="rId8"/>
                  <a:stretch>
                    <a:fillRect l="-2273"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8" name="文本框 287">
                  <a:extLst>
                    <a:ext uri="{FF2B5EF4-FFF2-40B4-BE49-F238E27FC236}">
                      <a16:creationId xmlns:a16="http://schemas.microsoft.com/office/drawing/2014/main" id="{D99E5EC5-503B-CEF2-AC77-78718ABE2B92}"/>
                    </a:ext>
                  </a:extLst>
                </p:cNvPr>
                <p:cNvSpPr txBox="1"/>
                <p:nvPr/>
              </p:nvSpPr>
              <p:spPr>
                <a:xfrm>
                  <a:off x="6228000" y="3240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b="0" i="1" smtClean="0">
                                <a:solidFill>
                                  <a:schemeClr val="tx1"/>
                                </a:solidFill>
                                <a:latin typeface="Cambria Math" panose="02040503050406030204" pitchFamily="18" charset="0"/>
                              </a:rPr>
                              <m:t>1</m:t>
                            </m:r>
                          </m:sub>
                        </m:sSub>
                      </m:oMath>
                    </m:oMathPara>
                  </a14:m>
                  <a:endParaRPr lang="zh-CN" altLang="en-US" sz="2400" dirty="0">
                    <a:solidFill>
                      <a:schemeClr val="tx1"/>
                    </a:solidFill>
                  </a:endParaRPr>
                </a:p>
              </p:txBody>
            </p:sp>
          </mc:Choice>
          <mc:Fallback xmlns="">
            <p:sp>
              <p:nvSpPr>
                <p:cNvPr id="288" name="文本框 287">
                  <a:extLst>
                    <a:ext uri="{FF2B5EF4-FFF2-40B4-BE49-F238E27FC236}">
                      <a16:creationId xmlns:a16="http://schemas.microsoft.com/office/drawing/2014/main" id="{D99E5EC5-503B-CEF2-AC77-78718ABE2B92}"/>
                    </a:ext>
                  </a:extLst>
                </p:cNvPr>
                <p:cNvSpPr txBox="1">
                  <a:spLocks noRot="1" noChangeAspect="1" noMove="1" noResize="1" noEditPoints="1" noAdjustHandles="1" noChangeArrowheads="1" noChangeShapeType="1" noTextEdit="1"/>
                </p:cNvSpPr>
                <p:nvPr/>
              </p:nvSpPr>
              <p:spPr>
                <a:xfrm>
                  <a:off x="6228000" y="3240000"/>
                  <a:ext cx="538560" cy="360000"/>
                </a:xfrm>
                <a:prstGeom prst="rect">
                  <a:avLst/>
                </a:prstGeom>
                <a:blipFill>
                  <a:blip r:embed="rId9"/>
                  <a:stretch>
                    <a:fillRect l="-1136"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9" name="文本框 288">
                  <a:extLst>
                    <a:ext uri="{FF2B5EF4-FFF2-40B4-BE49-F238E27FC236}">
                      <a16:creationId xmlns:a16="http://schemas.microsoft.com/office/drawing/2014/main" id="{6E48F9CE-ABE0-6A05-7CB9-7D440F2E8F19}"/>
                    </a:ext>
                  </a:extLst>
                </p:cNvPr>
                <p:cNvSpPr txBox="1"/>
                <p:nvPr/>
              </p:nvSpPr>
              <p:spPr>
                <a:xfrm>
                  <a:off x="6228000" y="3816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i="1">
                                <a:latin typeface="Cambria Math" panose="02040503050406030204" pitchFamily="18" charset="0"/>
                              </a:rPr>
                              <m:t>0</m:t>
                            </m:r>
                          </m:sub>
                        </m:sSub>
                      </m:oMath>
                    </m:oMathPara>
                  </a14:m>
                  <a:endParaRPr lang="zh-CN" altLang="en-US" sz="2400" dirty="0">
                    <a:solidFill>
                      <a:schemeClr val="tx1"/>
                    </a:solidFill>
                  </a:endParaRPr>
                </a:p>
              </p:txBody>
            </p:sp>
          </mc:Choice>
          <mc:Fallback xmlns="">
            <p:sp>
              <p:nvSpPr>
                <p:cNvPr id="289" name="文本框 288">
                  <a:extLst>
                    <a:ext uri="{FF2B5EF4-FFF2-40B4-BE49-F238E27FC236}">
                      <a16:creationId xmlns:a16="http://schemas.microsoft.com/office/drawing/2014/main" id="{6E48F9CE-ABE0-6A05-7CB9-7D440F2E8F19}"/>
                    </a:ext>
                  </a:extLst>
                </p:cNvPr>
                <p:cNvSpPr txBox="1">
                  <a:spLocks noRot="1" noChangeAspect="1" noMove="1" noResize="1" noEditPoints="1" noAdjustHandles="1" noChangeArrowheads="1" noChangeShapeType="1" noTextEdit="1"/>
                </p:cNvSpPr>
                <p:nvPr/>
              </p:nvSpPr>
              <p:spPr>
                <a:xfrm>
                  <a:off x="6228000" y="3816000"/>
                  <a:ext cx="538560" cy="360000"/>
                </a:xfrm>
                <a:prstGeom prst="rect">
                  <a:avLst/>
                </a:prstGeom>
                <a:blipFill>
                  <a:blip r:embed="rId10"/>
                  <a:stretch>
                    <a:fillRect l="-2273"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0" name="文本框 289">
                  <a:extLst>
                    <a:ext uri="{FF2B5EF4-FFF2-40B4-BE49-F238E27FC236}">
                      <a16:creationId xmlns:a16="http://schemas.microsoft.com/office/drawing/2014/main" id="{273C83FC-A7A1-4E7B-9CB2-69BFB6769F6C}"/>
                    </a:ext>
                  </a:extLst>
                </p:cNvPr>
                <p:cNvSpPr txBox="1"/>
                <p:nvPr/>
              </p:nvSpPr>
              <p:spPr>
                <a:xfrm>
                  <a:off x="5580000" y="2088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A</m:t>
                            </m:r>
                          </m:e>
                          <m:sub>
                            <m:r>
                              <a:rPr lang="en-US" altLang="zh-CN" sz="2400" i="1">
                                <a:solidFill>
                                  <a:schemeClr val="accent5">
                                    <a:lumMod val="75000"/>
                                  </a:schemeClr>
                                </a:solidFill>
                                <a:latin typeface="Cambria Math" panose="02040503050406030204" pitchFamily="18" charset="0"/>
                              </a:rPr>
                              <m:t>7</m:t>
                            </m:r>
                          </m:sub>
                        </m:sSub>
                      </m:oMath>
                    </m:oMathPara>
                  </a14:m>
                  <a:endParaRPr lang="zh-CN" altLang="en-US" sz="2400" dirty="0">
                    <a:solidFill>
                      <a:schemeClr val="accent5">
                        <a:lumMod val="75000"/>
                      </a:schemeClr>
                    </a:solidFill>
                  </a:endParaRPr>
                </a:p>
              </p:txBody>
            </p:sp>
          </mc:Choice>
          <mc:Fallback xmlns="">
            <p:sp>
              <p:nvSpPr>
                <p:cNvPr id="290" name="文本框 289">
                  <a:extLst>
                    <a:ext uri="{FF2B5EF4-FFF2-40B4-BE49-F238E27FC236}">
                      <a16:creationId xmlns:a16="http://schemas.microsoft.com/office/drawing/2014/main" id="{273C83FC-A7A1-4E7B-9CB2-69BFB6769F6C}"/>
                    </a:ext>
                  </a:extLst>
                </p:cNvPr>
                <p:cNvSpPr txBox="1">
                  <a:spLocks noRot="1" noChangeAspect="1" noMove="1" noResize="1" noEditPoints="1" noAdjustHandles="1" noChangeArrowheads="1" noChangeShapeType="1" noTextEdit="1"/>
                </p:cNvSpPr>
                <p:nvPr/>
              </p:nvSpPr>
              <p:spPr>
                <a:xfrm>
                  <a:off x="5580000" y="2088000"/>
                  <a:ext cx="538560" cy="360000"/>
                </a:xfrm>
                <a:prstGeom prst="rect">
                  <a:avLst/>
                </a:prstGeom>
                <a:blipFill>
                  <a:blip r:embed="rId11"/>
                  <a:stretch>
                    <a:fillRect l="-1124"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1" name="文本框 290">
                  <a:extLst>
                    <a:ext uri="{FF2B5EF4-FFF2-40B4-BE49-F238E27FC236}">
                      <a16:creationId xmlns:a16="http://schemas.microsoft.com/office/drawing/2014/main" id="{C61CAA68-BBE2-D848-4B70-08E1689DA9D1}"/>
                    </a:ext>
                  </a:extLst>
                </p:cNvPr>
                <p:cNvSpPr txBox="1"/>
                <p:nvPr/>
              </p:nvSpPr>
              <p:spPr>
                <a:xfrm>
                  <a:off x="5580000" y="2664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A</m:t>
                            </m:r>
                          </m:e>
                          <m:sub>
                            <m:r>
                              <a:rPr lang="en-US" altLang="zh-CN" sz="2400" i="1">
                                <a:solidFill>
                                  <a:schemeClr val="accent5">
                                    <a:lumMod val="75000"/>
                                  </a:schemeClr>
                                </a:solidFill>
                                <a:latin typeface="Cambria Math" panose="02040503050406030204" pitchFamily="18" charset="0"/>
                              </a:rPr>
                              <m:t>6</m:t>
                            </m:r>
                          </m:sub>
                        </m:sSub>
                      </m:oMath>
                    </m:oMathPara>
                  </a14:m>
                  <a:endParaRPr lang="zh-CN" altLang="en-US" sz="2400" dirty="0">
                    <a:solidFill>
                      <a:schemeClr val="accent5">
                        <a:lumMod val="75000"/>
                      </a:schemeClr>
                    </a:solidFill>
                  </a:endParaRPr>
                </a:p>
              </p:txBody>
            </p:sp>
          </mc:Choice>
          <mc:Fallback xmlns="">
            <p:sp>
              <p:nvSpPr>
                <p:cNvPr id="291" name="文本框 290">
                  <a:extLst>
                    <a:ext uri="{FF2B5EF4-FFF2-40B4-BE49-F238E27FC236}">
                      <a16:creationId xmlns:a16="http://schemas.microsoft.com/office/drawing/2014/main" id="{C61CAA68-BBE2-D848-4B70-08E1689DA9D1}"/>
                    </a:ext>
                  </a:extLst>
                </p:cNvPr>
                <p:cNvSpPr txBox="1">
                  <a:spLocks noRot="1" noChangeAspect="1" noMove="1" noResize="1" noEditPoints="1" noAdjustHandles="1" noChangeArrowheads="1" noChangeShapeType="1" noTextEdit="1"/>
                </p:cNvSpPr>
                <p:nvPr/>
              </p:nvSpPr>
              <p:spPr>
                <a:xfrm>
                  <a:off x="5580000" y="2664000"/>
                  <a:ext cx="538560" cy="360000"/>
                </a:xfrm>
                <a:prstGeom prst="rect">
                  <a:avLst/>
                </a:prstGeom>
                <a:blipFill>
                  <a:blip r:embed="rId12"/>
                  <a:stretch>
                    <a:fillRect l="-1124"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2" name="文本框 291">
                  <a:extLst>
                    <a:ext uri="{FF2B5EF4-FFF2-40B4-BE49-F238E27FC236}">
                      <a16:creationId xmlns:a16="http://schemas.microsoft.com/office/drawing/2014/main" id="{2D814F53-8CB3-6AC0-BA5F-ACE0BC8FB8C7}"/>
                    </a:ext>
                  </a:extLst>
                </p:cNvPr>
                <p:cNvSpPr txBox="1"/>
                <p:nvPr/>
              </p:nvSpPr>
              <p:spPr>
                <a:xfrm>
                  <a:off x="5580000" y="3240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A</m:t>
                            </m:r>
                          </m:e>
                          <m:sub>
                            <m:r>
                              <a:rPr lang="en-US" altLang="zh-CN" sz="2400" i="1">
                                <a:solidFill>
                                  <a:schemeClr val="accent5">
                                    <a:lumMod val="75000"/>
                                  </a:schemeClr>
                                </a:solidFill>
                                <a:latin typeface="Cambria Math" panose="02040503050406030204" pitchFamily="18" charset="0"/>
                              </a:rPr>
                              <m:t>5</m:t>
                            </m:r>
                          </m:sub>
                        </m:sSub>
                      </m:oMath>
                    </m:oMathPara>
                  </a14:m>
                  <a:endParaRPr lang="zh-CN" altLang="en-US" sz="2400" dirty="0">
                    <a:solidFill>
                      <a:schemeClr val="accent5">
                        <a:lumMod val="75000"/>
                      </a:schemeClr>
                    </a:solidFill>
                  </a:endParaRPr>
                </a:p>
              </p:txBody>
            </p:sp>
          </mc:Choice>
          <mc:Fallback xmlns="">
            <p:sp>
              <p:nvSpPr>
                <p:cNvPr id="292" name="文本框 291">
                  <a:extLst>
                    <a:ext uri="{FF2B5EF4-FFF2-40B4-BE49-F238E27FC236}">
                      <a16:creationId xmlns:a16="http://schemas.microsoft.com/office/drawing/2014/main" id="{2D814F53-8CB3-6AC0-BA5F-ACE0BC8FB8C7}"/>
                    </a:ext>
                  </a:extLst>
                </p:cNvPr>
                <p:cNvSpPr txBox="1">
                  <a:spLocks noRot="1" noChangeAspect="1" noMove="1" noResize="1" noEditPoints="1" noAdjustHandles="1" noChangeArrowheads="1" noChangeShapeType="1" noTextEdit="1"/>
                </p:cNvSpPr>
                <p:nvPr/>
              </p:nvSpPr>
              <p:spPr>
                <a:xfrm>
                  <a:off x="5580000" y="3240000"/>
                  <a:ext cx="538560" cy="360000"/>
                </a:xfrm>
                <a:prstGeom prst="rect">
                  <a:avLst/>
                </a:prstGeom>
                <a:blipFill>
                  <a:blip r:embed="rId13"/>
                  <a:stretch>
                    <a:fillRect l="-1124"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3" name="文本框 292">
                  <a:extLst>
                    <a:ext uri="{FF2B5EF4-FFF2-40B4-BE49-F238E27FC236}">
                      <a16:creationId xmlns:a16="http://schemas.microsoft.com/office/drawing/2014/main" id="{5CDEAEBE-3E65-CF89-1F2F-731104DFE80B}"/>
                    </a:ext>
                  </a:extLst>
                </p:cNvPr>
                <p:cNvSpPr txBox="1"/>
                <p:nvPr/>
              </p:nvSpPr>
              <p:spPr>
                <a:xfrm>
                  <a:off x="5580000" y="3816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A</m:t>
                            </m:r>
                          </m:e>
                          <m:sub>
                            <m:r>
                              <a:rPr lang="en-US" altLang="zh-CN" sz="2400" i="1">
                                <a:solidFill>
                                  <a:schemeClr val="accent5">
                                    <a:lumMod val="75000"/>
                                  </a:schemeClr>
                                </a:solidFill>
                                <a:latin typeface="Cambria Math" panose="02040503050406030204" pitchFamily="18" charset="0"/>
                              </a:rPr>
                              <m:t>4</m:t>
                            </m:r>
                          </m:sub>
                        </m:sSub>
                      </m:oMath>
                    </m:oMathPara>
                  </a14:m>
                  <a:endParaRPr lang="zh-CN" altLang="en-US" sz="2400" dirty="0">
                    <a:solidFill>
                      <a:schemeClr val="accent5">
                        <a:lumMod val="75000"/>
                      </a:schemeClr>
                    </a:solidFill>
                  </a:endParaRPr>
                </a:p>
              </p:txBody>
            </p:sp>
          </mc:Choice>
          <mc:Fallback xmlns="">
            <p:sp>
              <p:nvSpPr>
                <p:cNvPr id="293" name="文本框 292">
                  <a:extLst>
                    <a:ext uri="{FF2B5EF4-FFF2-40B4-BE49-F238E27FC236}">
                      <a16:creationId xmlns:a16="http://schemas.microsoft.com/office/drawing/2014/main" id="{5CDEAEBE-3E65-CF89-1F2F-731104DFE80B}"/>
                    </a:ext>
                  </a:extLst>
                </p:cNvPr>
                <p:cNvSpPr txBox="1">
                  <a:spLocks noRot="1" noChangeAspect="1" noMove="1" noResize="1" noEditPoints="1" noAdjustHandles="1" noChangeArrowheads="1" noChangeShapeType="1" noTextEdit="1"/>
                </p:cNvSpPr>
                <p:nvPr/>
              </p:nvSpPr>
              <p:spPr>
                <a:xfrm>
                  <a:off x="5580000" y="3816000"/>
                  <a:ext cx="538560" cy="360000"/>
                </a:xfrm>
                <a:prstGeom prst="rect">
                  <a:avLst/>
                </a:prstGeom>
                <a:blipFill>
                  <a:blip r:embed="rId14"/>
                  <a:stretch>
                    <a:fillRect l="-1124" b="-16949"/>
                  </a:stretch>
                </a:blipFill>
              </p:spPr>
              <p:txBody>
                <a:bodyPr/>
                <a:lstStyle/>
                <a:p>
                  <a:r>
                    <a:rPr lang="zh-CN" altLang="en-US">
                      <a:noFill/>
                    </a:rPr>
                    <a:t> </a:t>
                  </a:r>
                </a:p>
              </p:txBody>
            </p:sp>
          </mc:Fallback>
        </mc:AlternateContent>
        <p:cxnSp>
          <p:nvCxnSpPr>
            <p:cNvPr id="294" name="直接连接符 293">
              <a:extLst>
                <a:ext uri="{FF2B5EF4-FFF2-40B4-BE49-F238E27FC236}">
                  <a16:creationId xmlns:a16="http://schemas.microsoft.com/office/drawing/2014/main" id="{1DD9C941-0C37-FA0C-2298-86EC332867A6}"/>
                </a:ext>
              </a:extLst>
            </p:cNvPr>
            <p:cNvCxnSpPr>
              <a:cxnSpLocks/>
            </p:cNvCxnSpPr>
            <p:nvPr/>
          </p:nvCxnSpPr>
          <p:spPr>
            <a:xfrm>
              <a:off x="7452000" y="1944000"/>
              <a:ext cx="410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6" name="直接连接符 295">
              <a:extLst>
                <a:ext uri="{FF2B5EF4-FFF2-40B4-BE49-F238E27FC236}">
                  <a16:creationId xmlns:a16="http://schemas.microsoft.com/office/drawing/2014/main" id="{74BAB309-33D3-B68B-06D0-3448C7FF7CBD}"/>
                </a:ext>
              </a:extLst>
            </p:cNvPr>
            <p:cNvCxnSpPr>
              <a:cxnSpLocks/>
            </p:cNvCxnSpPr>
            <p:nvPr/>
          </p:nvCxnSpPr>
          <p:spPr>
            <a:xfrm>
              <a:off x="7451999" y="2592000"/>
              <a:ext cx="410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7" name="直接连接符 296">
              <a:extLst>
                <a:ext uri="{FF2B5EF4-FFF2-40B4-BE49-F238E27FC236}">
                  <a16:creationId xmlns:a16="http://schemas.microsoft.com/office/drawing/2014/main" id="{6C5073DC-0BB5-41BD-36D6-8EEF1BE82130}"/>
                </a:ext>
              </a:extLst>
            </p:cNvPr>
            <p:cNvCxnSpPr>
              <a:cxnSpLocks/>
            </p:cNvCxnSpPr>
            <p:nvPr/>
          </p:nvCxnSpPr>
          <p:spPr>
            <a:xfrm>
              <a:off x="7452000" y="3636000"/>
              <a:ext cx="410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8" name="直接连接符 297">
              <a:extLst>
                <a:ext uri="{FF2B5EF4-FFF2-40B4-BE49-F238E27FC236}">
                  <a16:creationId xmlns:a16="http://schemas.microsoft.com/office/drawing/2014/main" id="{137C3D1D-30A3-0D84-EADD-810EBB482B0D}"/>
                </a:ext>
              </a:extLst>
            </p:cNvPr>
            <p:cNvCxnSpPr>
              <a:cxnSpLocks/>
            </p:cNvCxnSpPr>
            <p:nvPr/>
          </p:nvCxnSpPr>
          <p:spPr>
            <a:xfrm>
              <a:off x="7451999" y="4284000"/>
              <a:ext cx="410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9" name="文本框 298">
                  <a:extLst>
                    <a:ext uri="{FF2B5EF4-FFF2-40B4-BE49-F238E27FC236}">
                      <a16:creationId xmlns:a16="http://schemas.microsoft.com/office/drawing/2014/main" id="{70A6114D-5611-37E3-6F62-B37EAC79FE00}"/>
                    </a:ext>
                  </a:extLst>
                </p:cNvPr>
                <p:cNvSpPr txBox="1"/>
                <p:nvPr/>
              </p:nvSpPr>
              <p:spPr>
                <a:xfrm>
                  <a:off x="7452000" y="1548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Y</m:t>
                            </m:r>
                          </m:e>
                          <m:sub>
                            <m:r>
                              <a:rPr lang="en-US" altLang="zh-CN" sz="2400" b="0" i="1" smtClean="0">
                                <a:solidFill>
                                  <a:schemeClr val="accent5">
                                    <a:lumMod val="75000"/>
                                  </a:schemeClr>
                                </a:solidFill>
                                <a:latin typeface="Cambria Math" panose="02040503050406030204" pitchFamily="18" charset="0"/>
                              </a:rPr>
                              <m:t>0</m:t>
                            </m:r>
                          </m:sub>
                        </m:sSub>
                      </m:oMath>
                    </m:oMathPara>
                  </a14:m>
                  <a:endParaRPr lang="zh-CN" altLang="en-US" sz="2400" dirty="0">
                    <a:solidFill>
                      <a:schemeClr val="accent5">
                        <a:lumMod val="75000"/>
                      </a:schemeClr>
                    </a:solidFill>
                  </a:endParaRPr>
                </a:p>
              </p:txBody>
            </p:sp>
          </mc:Choice>
          <mc:Fallback xmlns="">
            <p:sp>
              <p:nvSpPr>
                <p:cNvPr id="299" name="文本框 298">
                  <a:extLst>
                    <a:ext uri="{FF2B5EF4-FFF2-40B4-BE49-F238E27FC236}">
                      <a16:creationId xmlns:a16="http://schemas.microsoft.com/office/drawing/2014/main" id="{70A6114D-5611-37E3-6F62-B37EAC79FE00}"/>
                    </a:ext>
                  </a:extLst>
                </p:cNvPr>
                <p:cNvSpPr txBox="1">
                  <a:spLocks noRot="1" noChangeAspect="1" noMove="1" noResize="1" noEditPoints="1" noAdjustHandles="1" noChangeArrowheads="1" noChangeShapeType="1" noTextEdit="1"/>
                </p:cNvSpPr>
                <p:nvPr/>
              </p:nvSpPr>
              <p:spPr>
                <a:xfrm>
                  <a:off x="7452000" y="1548000"/>
                  <a:ext cx="538560" cy="360000"/>
                </a:xfrm>
                <a:prstGeom prst="rect">
                  <a:avLst/>
                </a:prstGeom>
                <a:blipFill>
                  <a:blip r:embed="rId15"/>
                  <a:stretch>
                    <a:fillRect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0" name="文本框 299">
                  <a:extLst>
                    <a:ext uri="{FF2B5EF4-FFF2-40B4-BE49-F238E27FC236}">
                      <a16:creationId xmlns:a16="http://schemas.microsoft.com/office/drawing/2014/main" id="{53AAB57F-FA9C-EBB2-958C-BB0920E1558E}"/>
                    </a:ext>
                  </a:extLst>
                </p:cNvPr>
                <p:cNvSpPr txBox="1"/>
                <p:nvPr/>
              </p:nvSpPr>
              <p:spPr>
                <a:xfrm>
                  <a:off x="7452000" y="2196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Y</m:t>
                            </m:r>
                          </m:e>
                          <m:sub>
                            <m:r>
                              <a:rPr lang="en-US" altLang="zh-CN" sz="2400" b="0" i="1" smtClean="0">
                                <a:solidFill>
                                  <a:schemeClr val="accent5">
                                    <a:lumMod val="75000"/>
                                  </a:schemeClr>
                                </a:solidFill>
                                <a:latin typeface="Cambria Math" panose="02040503050406030204" pitchFamily="18" charset="0"/>
                              </a:rPr>
                              <m:t>1</m:t>
                            </m:r>
                          </m:sub>
                        </m:sSub>
                      </m:oMath>
                    </m:oMathPara>
                  </a14:m>
                  <a:endParaRPr lang="zh-CN" altLang="en-US" sz="2400" dirty="0">
                    <a:solidFill>
                      <a:schemeClr val="accent5">
                        <a:lumMod val="75000"/>
                      </a:schemeClr>
                    </a:solidFill>
                  </a:endParaRPr>
                </a:p>
              </p:txBody>
            </p:sp>
          </mc:Choice>
          <mc:Fallback xmlns="">
            <p:sp>
              <p:nvSpPr>
                <p:cNvPr id="300" name="文本框 299">
                  <a:extLst>
                    <a:ext uri="{FF2B5EF4-FFF2-40B4-BE49-F238E27FC236}">
                      <a16:creationId xmlns:a16="http://schemas.microsoft.com/office/drawing/2014/main" id="{53AAB57F-FA9C-EBB2-958C-BB0920E1558E}"/>
                    </a:ext>
                  </a:extLst>
                </p:cNvPr>
                <p:cNvSpPr txBox="1">
                  <a:spLocks noRot="1" noChangeAspect="1" noMove="1" noResize="1" noEditPoints="1" noAdjustHandles="1" noChangeArrowheads="1" noChangeShapeType="1" noTextEdit="1"/>
                </p:cNvSpPr>
                <p:nvPr/>
              </p:nvSpPr>
              <p:spPr>
                <a:xfrm>
                  <a:off x="7452000" y="2196000"/>
                  <a:ext cx="538560" cy="360000"/>
                </a:xfrm>
                <a:prstGeom prst="rect">
                  <a:avLst/>
                </a:prstGeom>
                <a:blipFill>
                  <a:blip r:embed="rId16"/>
                  <a:stretch>
                    <a:fillRect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1" name="文本框 300">
                  <a:extLst>
                    <a:ext uri="{FF2B5EF4-FFF2-40B4-BE49-F238E27FC236}">
                      <a16:creationId xmlns:a16="http://schemas.microsoft.com/office/drawing/2014/main" id="{BB6CBA14-36BD-811F-CE9B-99B1F1F3BACD}"/>
                    </a:ext>
                  </a:extLst>
                </p:cNvPr>
                <p:cNvSpPr txBox="1"/>
                <p:nvPr/>
              </p:nvSpPr>
              <p:spPr>
                <a:xfrm>
                  <a:off x="7452000" y="3240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Y</m:t>
                            </m:r>
                          </m:e>
                          <m:sub>
                            <m:r>
                              <a:rPr lang="en-US" altLang="zh-CN" sz="2400" b="0" i="1" smtClean="0">
                                <a:solidFill>
                                  <a:schemeClr val="accent5">
                                    <a:lumMod val="75000"/>
                                  </a:schemeClr>
                                </a:solidFill>
                                <a:latin typeface="Cambria Math" panose="02040503050406030204" pitchFamily="18" charset="0"/>
                              </a:rPr>
                              <m:t>14</m:t>
                            </m:r>
                          </m:sub>
                        </m:sSub>
                      </m:oMath>
                    </m:oMathPara>
                  </a14:m>
                  <a:endParaRPr lang="zh-CN" altLang="en-US" sz="2400" dirty="0">
                    <a:solidFill>
                      <a:schemeClr val="accent5">
                        <a:lumMod val="75000"/>
                      </a:schemeClr>
                    </a:solidFill>
                  </a:endParaRPr>
                </a:p>
              </p:txBody>
            </p:sp>
          </mc:Choice>
          <mc:Fallback xmlns="">
            <p:sp>
              <p:nvSpPr>
                <p:cNvPr id="301" name="文本框 300">
                  <a:extLst>
                    <a:ext uri="{FF2B5EF4-FFF2-40B4-BE49-F238E27FC236}">
                      <a16:creationId xmlns:a16="http://schemas.microsoft.com/office/drawing/2014/main" id="{BB6CBA14-36BD-811F-CE9B-99B1F1F3BACD}"/>
                    </a:ext>
                  </a:extLst>
                </p:cNvPr>
                <p:cNvSpPr txBox="1">
                  <a:spLocks noRot="1" noChangeAspect="1" noMove="1" noResize="1" noEditPoints="1" noAdjustHandles="1" noChangeArrowheads="1" noChangeShapeType="1" noTextEdit="1"/>
                </p:cNvSpPr>
                <p:nvPr/>
              </p:nvSpPr>
              <p:spPr>
                <a:xfrm>
                  <a:off x="7452000" y="3240000"/>
                  <a:ext cx="538560" cy="360000"/>
                </a:xfrm>
                <a:prstGeom prst="rect">
                  <a:avLst/>
                </a:prstGeom>
                <a:blipFill>
                  <a:blip r:embed="rId17"/>
                  <a:stretch>
                    <a:fillRect l="-7865"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2" name="文本框 301">
                  <a:extLst>
                    <a:ext uri="{FF2B5EF4-FFF2-40B4-BE49-F238E27FC236}">
                      <a16:creationId xmlns:a16="http://schemas.microsoft.com/office/drawing/2014/main" id="{BD6291DA-FE9B-0C6F-8C21-7CE5165DEBB9}"/>
                    </a:ext>
                  </a:extLst>
                </p:cNvPr>
                <p:cNvSpPr txBox="1"/>
                <p:nvPr/>
              </p:nvSpPr>
              <p:spPr>
                <a:xfrm>
                  <a:off x="7452000" y="3888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Y</m:t>
                            </m:r>
                          </m:e>
                          <m:sub>
                            <m:r>
                              <a:rPr lang="en-US" altLang="zh-CN" sz="2400" b="0" i="1" smtClean="0">
                                <a:solidFill>
                                  <a:schemeClr val="accent5">
                                    <a:lumMod val="75000"/>
                                  </a:schemeClr>
                                </a:solidFill>
                                <a:latin typeface="Cambria Math" panose="02040503050406030204" pitchFamily="18" charset="0"/>
                              </a:rPr>
                              <m:t>15</m:t>
                            </m:r>
                          </m:sub>
                        </m:sSub>
                      </m:oMath>
                    </m:oMathPara>
                  </a14:m>
                  <a:endParaRPr lang="zh-CN" altLang="en-US" sz="2400" dirty="0">
                    <a:solidFill>
                      <a:schemeClr val="accent5">
                        <a:lumMod val="75000"/>
                      </a:schemeClr>
                    </a:solidFill>
                  </a:endParaRPr>
                </a:p>
              </p:txBody>
            </p:sp>
          </mc:Choice>
          <mc:Fallback xmlns="">
            <p:sp>
              <p:nvSpPr>
                <p:cNvPr id="302" name="文本框 301">
                  <a:extLst>
                    <a:ext uri="{FF2B5EF4-FFF2-40B4-BE49-F238E27FC236}">
                      <a16:creationId xmlns:a16="http://schemas.microsoft.com/office/drawing/2014/main" id="{BD6291DA-FE9B-0C6F-8C21-7CE5165DEBB9}"/>
                    </a:ext>
                  </a:extLst>
                </p:cNvPr>
                <p:cNvSpPr txBox="1">
                  <a:spLocks noRot="1" noChangeAspect="1" noMove="1" noResize="1" noEditPoints="1" noAdjustHandles="1" noChangeArrowheads="1" noChangeShapeType="1" noTextEdit="1"/>
                </p:cNvSpPr>
                <p:nvPr/>
              </p:nvSpPr>
              <p:spPr>
                <a:xfrm>
                  <a:off x="7452000" y="3888000"/>
                  <a:ext cx="538560" cy="360000"/>
                </a:xfrm>
                <a:prstGeom prst="rect">
                  <a:avLst/>
                </a:prstGeom>
                <a:blipFill>
                  <a:blip r:embed="rId18"/>
                  <a:stretch>
                    <a:fillRect l="-7865" b="-16949"/>
                  </a:stretch>
                </a:blipFill>
              </p:spPr>
              <p:txBody>
                <a:bodyPr/>
                <a:lstStyle/>
                <a:p>
                  <a:r>
                    <a:rPr lang="zh-CN" altLang="en-US">
                      <a:noFill/>
                    </a:rPr>
                    <a:t> </a:t>
                  </a:r>
                </a:p>
              </p:txBody>
            </p:sp>
          </mc:Fallback>
        </mc:AlternateContent>
        <p:cxnSp>
          <p:nvCxnSpPr>
            <p:cNvPr id="303" name="直接连接符 302">
              <a:extLst>
                <a:ext uri="{FF2B5EF4-FFF2-40B4-BE49-F238E27FC236}">
                  <a16:creationId xmlns:a16="http://schemas.microsoft.com/office/drawing/2014/main" id="{904CB6AA-A44C-C825-F365-A8FBDA93708C}"/>
                </a:ext>
              </a:extLst>
            </p:cNvPr>
            <p:cNvCxnSpPr>
              <a:cxnSpLocks/>
            </p:cNvCxnSpPr>
            <p:nvPr/>
          </p:nvCxnSpPr>
          <p:spPr>
            <a:xfrm>
              <a:off x="10512000" y="1173098"/>
              <a:ext cx="0" cy="38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4" name="直接连接符 303">
              <a:extLst>
                <a:ext uri="{FF2B5EF4-FFF2-40B4-BE49-F238E27FC236}">
                  <a16:creationId xmlns:a16="http://schemas.microsoft.com/office/drawing/2014/main" id="{427D1169-50BE-1299-91F6-8DD63573D0AE}"/>
                </a:ext>
              </a:extLst>
            </p:cNvPr>
            <p:cNvCxnSpPr>
              <a:cxnSpLocks/>
            </p:cNvCxnSpPr>
            <p:nvPr/>
          </p:nvCxnSpPr>
          <p:spPr>
            <a:xfrm>
              <a:off x="9324000" y="1187999"/>
              <a:ext cx="0" cy="38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5" name="直接连接符 304">
              <a:extLst>
                <a:ext uri="{FF2B5EF4-FFF2-40B4-BE49-F238E27FC236}">
                  <a16:creationId xmlns:a16="http://schemas.microsoft.com/office/drawing/2014/main" id="{F60DC79B-C4DD-8A6D-A195-68486C57A9DF}"/>
                </a:ext>
              </a:extLst>
            </p:cNvPr>
            <p:cNvCxnSpPr>
              <a:cxnSpLocks/>
            </p:cNvCxnSpPr>
            <p:nvPr/>
          </p:nvCxnSpPr>
          <p:spPr>
            <a:xfrm>
              <a:off x="8604000" y="1188000"/>
              <a:ext cx="0" cy="38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6" name="直接连接符 305">
              <a:extLst>
                <a:ext uri="{FF2B5EF4-FFF2-40B4-BE49-F238E27FC236}">
                  <a16:creationId xmlns:a16="http://schemas.microsoft.com/office/drawing/2014/main" id="{0F1AB653-840D-8C6E-4F22-F2FFF4B09C15}"/>
                </a:ext>
              </a:extLst>
            </p:cNvPr>
            <p:cNvCxnSpPr>
              <a:cxnSpLocks/>
            </p:cNvCxnSpPr>
            <p:nvPr/>
          </p:nvCxnSpPr>
          <p:spPr>
            <a:xfrm>
              <a:off x="11232000" y="1188000"/>
              <a:ext cx="0" cy="38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07" name="矩形 306">
              <a:extLst>
                <a:ext uri="{FF2B5EF4-FFF2-40B4-BE49-F238E27FC236}">
                  <a16:creationId xmlns:a16="http://schemas.microsoft.com/office/drawing/2014/main" id="{C500BDE9-7109-316D-B55B-A8E194C6C2E4}"/>
                </a:ext>
              </a:extLst>
            </p:cNvPr>
            <p:cNvSpPr/>
            <p:nvPr/>
          </p:nvSpPr>
          <p:spPr>
            <a:xfrm>
              <a:off x="8532000" y="1332000"/>
              <a:ext cx="144000" cy="432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308" name="矩形 307">
              <a:extLst>
                <a:ext uri="{FF2B5EF4-FFF2-40B4-BE49-F238E27FC236}">
                  <a16:creationId xmlns:a16="http://schemas.microsoft.com/office/drawing/2014/main" id="{2631331F-B8CB-2F2F-5609-FAA099F7CE93}"/>
                </a:ext>
              </a:extLst>
            </p:cNvPr>
            <p:cNvSpPr/>
            <p:nvPr/>
          </p:nvSpPr>
          <p:spPr>
            <a:xfrm>
              <a:off x="9252000" y="1332000"/>
              <a:ext cx="144000" cy="432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309" name="矩形 308">
              <a:extLst>
                <a:ext uri="{FF2B5EF4-FFF2-40B4-BE49-F238E27FC236}">
                  <a16:creationId xmlns:a16="http://schemas.microsoft.com/office/drawing/2014/main" id="{4748CC86-D357-FD73-22ED-B0920531B9AA}"/>
                </a:ext>
              </a:extLst>
            </p:cNvPr>
            <p:cNvSpPr/>
            <p:nvPr/>
          </p:nvSpPr>
          <p:spPr>
            <a:xfrm>
              <a:off x="10440000" y="1332000"/>
              <a:ext cx="144000" cy="432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310" name="矩形 309">
              <a:extLst>
                <a:ext uri="{FF2B5EF4-FFF2-40B4-BE49-F238E27FC236}">
                  <a16:creationId xmlns:a16="http://schemas.microsoft.com/office/drawing/2014/main" id="{23D67282-0DE1-E2EB-5EC8-8DB659798FC6}"/>
                </a:ext>
              </a:extLst>
            </p:cNvPr>
            <p:cNvSpPr/>
            <p:nvPr/>
          </p:nvSpPr>
          <p:spPr>
            <a:xfrm>
              <a:off x="11160000" y="1332000"/>
              <a:ext cx="144000" cy="432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2FCEA498-0B11-3FCD-393B-FF3BC76EF1E9}"/>
                </a:ext>
              </a:extLst>
            </p:cNvPr>
            <p:cNvGrpSpPr/>
            <p:nvPr/>
          </p:nvGrpSpPr>
          <p:grpSpPr>
            <a:xfrm>
              <a:off x="8082000" y="1918800"/>
              <a:ext cx="547200" cy="547200"/>
              <a:chOff x="8074800" y="1965600"/>
              <a:chExt cx="547200" cy="547200"/>
            </a:xfrm>
          </p:grpSpPr>
          <p:cxnSp>
            <p:nvCxnSpPr>
              <p:cNvPr id="342" name="直接连接符 341">
                <a:extLst>
                  <a:ext uri="{FF2B5EF4-FFF2-40B4-BE49-F238E27FC236}">
                    <a16:creationId xmlns:a16="http://schemas.microsoft.com/office/drawing/2014/main" id="{5D11AA9E-21B1-2AAC-72F3-9066A5726835}"/>
                  </a:ext>
                </a:extLst>
              </p:cNvPr>
              <p:cNvCxnSpPr>
                <a:cxnSpLocks/>
              </p:cNvCxnSpPr>
              <p:nvPr/>
            </p:nvCxnSpPr>
            <p:spPr>
              <a:xfrm>
                <a:off x="8388761" y="2512800"/>
                <a:ext cx="144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3" name="直接连接符 342">
                <a:extLst>
                  <a:ext uri="{FF2B5EF4-FFF2-40B4-BE49-F238E27FC236}">
                    <a16:creationId xmlns:a16="http://schemas.microsoft.com/office/drawing/2014/main" id="{1DB0B0D2-7C07-E68A-1B08-E216C0F06EC4}"/>
                  </a:ext>
                </a:extLst>
              </p:cNvPr>
              <p:cNvCxnSpPr>
                <a:cxnSpLocks/>
              </p:cNvCxnSpPr>
              <p:nvPr/>
            </p:nvCxnSpPr>
            <p:spPr>
              <a:xfrm>
                <a:off x="8100000" y="1988946"/>
                <a:ext cx="0" cy="39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4" name="直接连接符 343">
                <a:extLst>
                  <a:ext uri="{FF2B5EF4-FFF2-40B4-BE49-F238E27FC236}">
                    <a16:creationId xmlns:a16="http://schemas.microsoft.com/office/drawing/2014/main" id="{91130343-9DA9-7B24-8958-EE148C946E91}"/>
                  </a:ext>
                </a:extLst>
              </p:cNvPr>
              <p:cNvCxnSpPr>
                <a:cxnSpLocks/>
              </p:cNvCxnSpPr>
              <p:nvPr/>
            </p:nvCxnSpPr>
            <p:spPr>
              <a:xfrm flipV="1">
                <a:off x="8460000" y="2242800"/>
                <a:ext cx="0" cy="27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5" name="直接连接符 344">
                <a:extLst>
                  <a:ext uri="{FF2B5EF4-FFF2-40B4-BE49-F238E27FC236}">
                    <a16:creationId xmlns:a16="http://schemas.microsoft.com/office/drawing/2014/main" id="{3E6B4258-314E-3E84-3536-EC11BF76101A}"/>
                  </a:ext>
                </a:extLst>
              </p:cNvPr>
              <p:cNvCxnSpPr>
                <a:cxnSpLocks/>
              </p:cNvCxnSpPr>
              <p:nvPr/>
            </p:nvCxnSpPr>
            <p:spPr>
              <a:xfrm>
                <a:off x="8100000" y="2386800"/>
                <a:ext cx="9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6" name="直接箭头连接符 345">
                <a:extLst>
                  <a:ext uri="{FF2B5EF4-FFF2-40B4-BE49-F238E27FC236}">
                    <a16:creationId xmlns:a16="http://schemas.microsoft.com/office/drawing/2014/main" id="{1589D469-6589-CB32-F6D8-1D6841B8E484}"/>
                  </a:ext>
                </a:extLst>
              </p:cNvPr>
              <p:cNvCxnSpPr>
                <a:cxnSpLocks/>
              </p:cNvCxnSpPr>
              <p:nvPr/>
            </p:nvCxnSpPr>
            <p:spPr>
              <a:xfrm flipH="1">
                <a:off x="8280000" y="2242800"/>
                <a:ext cx="180000" cy="0"/>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347" name="直接连接符 346">
                <a:extLst>
                  <a:ext uri="{FF2B5EF4-FFF2-40B4-BE49-F238E27FC236}">
                    <a16:creationId xmlns:a16="http://schemas.microsoft.com/office/drawing/2014/main" id="{DBBD8490-0AF9-9EDA-D634-F16FC9DDC6CD}"/>
                  </a:ext>
                </a:extLst>
              </p:cNvPr>
              <p:cNvCxnSpPr>
                <a:cxnSpLocks/>
              </p:cNvCxnSpPr>
              <p:nvPr/>
            </p:nvCxnSpPr>
            <p:spPr>
              <a:xfrm flipV="1">
                <a:off x="8190000" y="20988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8" name="直接连接符 347">
                <a:extLst>
                  <a:ext uri="{FF2B5EF4-FFF2-40B4-BE49-F238E27FC236}">
                    <a16:creationId xmlns:a16="http://schemas.microsoft.com/office/drawing/2014/main" id="{41183936-DDBD-B3D4-2E96-C85D0A41A9E0}"/>
                  </a:ext>
                </a:extLst>
              </p:cNvPr>
              <p:cNvCxnSpPr>
                <a:cxnSpLocks/>
              </p:cNvCxnSpPr>
              <p:nvPr/>
            </p:nvCxnSpPr>
            <p:spPr>
              <a:xfrm flipV="1">
                <a:off x="8280000" y="2386800"/>
                <a:ext cx="18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9" name="直接连接符 348">
                <a:extLst>
                  <a:ext uri="{FF2B5EF4-FFF2-40B4-BE49-F238E27FC236}">
                    <a16:creationId xmlns:a16="http://schemas.microsoft.com/office/drawing/2014/main" id="{38322777-0650-CEF9-C5BE-96ADDCB2016F}"/>
                  </a:ext>
                </a:extLst>
              </p:cNvPr>
              <p:cNvCxnSpPr>
                <a:cxnSpLocks/>
              </p:cNvCxnSpPr>
              <p:nvPr/>
            </p:nvCxnSpPr>
            <p:spPr>
              <a:xfrm>
                <a:off x="8280000" y="2098800"/>
                <a:ext cx="32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0" name="直接连接符 349">
                <a:extLst>
                  <a:ext uri="{FF2B5EF4-FFF2-40B4-BE49-F238E27FC236}">
                    <a16:creationId xmlns:a16="http://schemas.microsoft.com/office/drawing/2014/main" id="{FA047C93-23BD-FFBD-EFD0-D53C24D84E48}"/>
                  </a:ext>
                </a:extLst>
              </p:cNvPr>
              <p:cNvCxnSpPr>
                <a:cxnSpLocks/>
              </p:cNvCxnSpPr>
              <p:nvPr/>
            </p:nvCxnSpPr>
            <p:spPr>
              <a:xfrm flipV="1">
                <a:off x="8280000" y="2347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1" name="直接连接符 350">
                <a:extLst>
                  <a:ext uri="{FF2B5EF4-FFF2-40B4-BE49-F238E27FC236}">
                    <a16:creationId xmlns:a16="http://schemas.microsoft.com/office/drawing/2014/main" id="{2A46773C-2C5C-DB28-B837-CDD9E0AC5FD2}"/>
                  </a:ext>
                </a:extLst>
              </p:cNvPr>
              <p:cNvCxnSpPr>
                <a:cxnSpLocks/>
              </p:cNvCxnSpPr>
              <p:nvPr/>
            </p:nvCxnSpPr>
            <p:spPr>
              <a:xfrm flipV="1">
                <a:off x="8280000" y="2203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2" name="直接连接符 351">
                <a:extLst>
                  <a:ext uri="{FF2B5EF4-FFF2-40B4-BE49-F238E27FC236}">
                    <a16:creationId xmlns:a16="http://schemas.microsoft.com/office/drawing/2014/main" id="{ACC5180A-F212-397A-EE43-A107C571C701}"/>
                  </a:ext>
                </a:extLst>
              </p:cNvPr>
              <p:cNvCxnSpPr>
                <a:cxnSpLocks/>
              </p:cNvCxnSpPr>
              <p:nvPr/>
            </p:nvCxnSpPr>
            <p:spPr>
              <a:xfrm flipV="1">
                <a:off x="8280000" y="2059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95" name="椭圆 394">
                <a:extLst>
                  <a:ext uri="{FF2B5EF4-FFF2-40B4-BE49-F238E27FC236}">
                    <a16:creationId xmlns:a16="http://schemas.microsoft.com/office/drawing/2014/main" id="{06DB734A-FB2A-FB5A-EADA-9E233B1691E8}"/>
                  </a:ext>
                </a:extLst>
              </p:cNvPr>
              <p:cNvSpPr/>
              <p:nvPr/>
            </p:nvSpPr>
            <p:spPr>
              <a:xfrm flipH="1">
                <a:off x="8434800" y="2361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96" name="椭圆 395">
                <a:extLst>
                  <a:ext uri="{FF2B5EF4-FFF2-40B4-BE49-F238E27FC236}">
                    <a16:creationId xmlns:a16="http://schemas.microsoft.com/office/drawing/2014/main" id="{48DA0D81-4277-7F06-6397-D50F7E90EC35}"/>
                  </a:ext>
                </a:extLst>
              </p:cNvPr>
              <p:cNvSpPr/>
              <p:nvPr/>
            </p:nvSpPr>
            <p:spPr>
              <a:xfrm flipH="1">
                <a:off x="8571600" y="2073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97" name="椭圆 396">
                <a:extLst>
                  <a:ext uri="{FF2B5EF4-FFF2-40B4-BE49-F238E27FC236}">
                    <a16:creationId xmlns:a16="http://schemas.microsoft.com/office/drawing/2014/main" id="{A60D8DD9-1943-EB27-EA02-20EA5E9BC124}"/>
                  </a:ext>
                </a:extLst>
              </p:cNvPr>
              <p:cNvSpPr/>
              <p:nvPr/>
            </p:nvSpPr>
            <p:spPr>
              <a:xfrm flipH="1">
                <a:off x="8074800" y="1965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cxnSp>
          <p:nvCxnSpPr>
            <p:cNvPr id="545" name="直接连接符 544">
              <a:extLst>
                <a:ext uri="{FF2B5EF4-FFF2-40B4-BE49-F238E27FC236}">
                  <a16:creationId xmlns:a16="http://schemas.microsoft.com/office/drawing/2014/main" id="{1752CD4D-0EA6-5479-C5CD-BD0D9F127115}"/>
                </a:ext>
              </a:extLst>
            </p:cNvPr>
            <p:cNvCxnSpPr>
              <a:cxnSpLocks/>
            </p:cNvCxnSpPr>
            <p:nvPr/>
          </p:nvCxnSpPr>
          <p:spPr>
            <a:xfrm>
              <a:off x="8604000" y="1188000"/>
              <a:ext cx="262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51" name="椭圆 550">
              <a:extLst>
                <a:ext uri="{FF2B5EF4-FFF2-40B4-BE49-F238E27FC236}">
                  <a16:creationId xmlns:a16="http://schemas.microsoft.com/office/drawing/2014/main" id="{032C3536-D925-DCD7-3259-6B96802AE141}"/>
                </a:ext>
              </a:extLst>
            </p:cNvPr>
            <p:cNvSpPr/>
            <p:nvPr/>
          </p:nvSpPr>
          <p:spPr>
            <a:xfrm flipH="1">
              <a:off x="9298800" y="11628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552" name="椭圆 551">
              <a:extLst>
                <a:ext uri="{FF2B5EF4-FFF2-40B4-BE49-F238E27FC236}">
                  <a16:creationId xmlns:a16="http://schemas.microsoft.com/office/drawing/2014/main" id="{FCC58FEC-F71B-7A5D-93E0-B277B8E1560C}"/>
                </a:ext>
              </a:extLst>
            </p:cNvPr>
            <p:cNvSpPr/>
            <p:nvPr/>
          </p:nvSpPr>
          <p:spPr>
            <a:xfrm flipH="1">
              <a:off x="10486800" y="11628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553" name="椭圆 552">
              <a:extLst>
                <a:ext uri="{FF2B5EF4-FFF2-40B4-BE49-F238E27FC236}">
                  <a16:creationId xmlns:a16="http://schemas.microsoft.com/office/drawing/2014/main" id="{13C80B14-EE27-A609-5A0C-35EFB6EA9FA2}"/>
                </a:ext>
              </a:extLst>
            </p:cNvPr>
            <p:cNvSpPr/>
            <p:nvPr/>
          </p:nvSpPr>
          <p:spPr>
            <a:xfrm flipH="1">
              <a:off x="9892800" y="11628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554" name="直接连接符 553">
              <a:extLst>
                <a:ext uri="{FF2B5EF4-FFF2-40B4-BE49-F238E27FC236}">
                  <a16:creationId xmlns:a16="http://schemas.microsoft.com/office/drawing/2014/main" id="{F89F92CA-A515-D64E-AD89-E37C40BB8D08}"/>
                </a:ext>
              </a:extLst>
            </p:cNvPr>
            <p:cNvCxnSpPr>
              <a:cxnSpLocks/>
            </p:cNvCxnSpPr>
            <p:nvPr/>
          </p:nvCxnSpPr>
          <p:spPr>
            <a:xfrm flipV="1">
              <a:off x="9918000" y="972000"/>
              <a:ext cx="0" cy="21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8" name="文本框 557">
                  <a:extLst>
                    <a:ext uri="{FF2B5EF4-FFF2-40B4-BE49-F238E27FC236}">
                      <a16:creationId xmlns:a16="http://schemas.microsoft.com/office/drawing/2014/main" id="{7A4B2FC8-20F8-7AAC-2996-2EBD4D12014E}"/>
                    </a:ext>
                  </a:extLst>
                </p:cNvPr>
                <p:cNvSpPr txBox="1"/>
                <p:nvPr/>
              </p:nvSpPr>
              <p:spPr>
                <a:xfrm>
                  <a:off x="9630000" y="576000"/>
                  <a:ext cx="576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𝑉</m:t>
                            </m:r>
                          </m:e>
                          <m:sub>
                            <m:r>
                              <m:rPr>
                                <m:sty m:val="p"/>
                              </m:rPr>
                              <a:rPr lang="en-US" altLang="zh-CN" sz="2400" b="0" i="0" smtClean="0">
                                <a:solidFill>
                                  <a:schemeClr val="accent5">
                                    <a:lumMod val="75000"/>
                                  </a:schemeClr>
                                </a:solidFill>
                                <a:latin typeface="Cambria Math" panose="02040503050406030204" pitchFamily="18" charset="0"/>
                              </a:rPr>
                              <m:t>DD</m:t>
                            </m:r>
                          </m:sub>
                        </m:sSub>
                      </m:oMath>
                    </m:oMathPara>
                  </a14:m>
                  <a:endParaRPr lang="zh-CN" altLang="en-US" sz="2400" dirty="0">
                    <a:solidFill>
                      <a:schemeClr val="accent5">
                        <a:lumMod val="75000"/>
                      </a:schemeClr>
                    </a:solidFill>
                  </a:endParaRPr>
                </a:p>
              </p:txBody>
            </p:sp>
          </mc:Choice>
          <mc:Fallback xmlns="">
            <p:sp>
              <p:nvSpPr>
                <p:cNvPr id="558" name="文本框 557">
                  <a:extLst>
                    <a:ext uri="{FF2B5EF4-FFF2-40B4-BE49-F238E27FC236}">
                      <a16:creationId xmlns:a16="http://schemas.microsoft.com/office/drawing/2014/main" id="{7A4B2FC8-20F8-7AAC-2996-2EBD4D12014E}"/>
                    </a:ext>
                  </a:extLst>
                </p:cNvPr>
                <p:cNvSpPr txBox="1">
                  <a:spLocks noRot="1" noChangeAspect="1" noMove="1" noResize="1" noEditPoints="1" noAdjustHandles="1" noChangeArrowheads="1" noChangeShapeType="1" noTextEdit="1"/>
                </p:cNvSpPr>
                <p:nvPr/>
              </p:nvSpPr>
              <p:spPr>
                <a:xfrm>
                  <a:off x="9630000" y="576000"/>
                  <a:ext cx="576000" cy="360000"/>
                </a:xfrm>
                <a:prstGeom prst="rect">
                  <a:avLst/>
                </a:prstGeom>
                <a:blipFill>
                  <a:blip r:embed="rId19"/>
                  <a:stretch>
                    <a:fillRect l="-11702" r="-4255"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7" name="文本框 566">
                  <a:extLst>
                    <a:ext uri="{FF2B5EF4-FFF2-40B4-BE49-F238E27FC236}">
                      <a16:creationId xmlns:a16="http://schemas.microsoft.com/office/drawing/2014/main" id="{62C4F790-DF2E-2404-FA61-3F7E7F95B63D}"/>
                    </a:ext>
                  </a:extLst>
                </p:cNvPr>
                <p:cNvSpPr txBox="1"/>
                <p:nvPr/>
              </p:nvSpPr>
              <p:spPr>
                <a:xfrm>
                  <a:off x="9684000" y="1332000"/>
                  <a:ext cx="538560" cy="432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3200" b="1" i="1" smtClean="0">
                            <a:solidFill>
                              <a:schemeClr val="accent5">
                                <a:lumMod val="75000"/>
                              </a:schemeClr>
                            </a:solidFill>
                            <a:latin typeface="Cambria Math" panose="02040503050406030204" pitchFamily="18" charset="0"/>
                          </a:rPr>
                          <m:t>⋯</m:t>
                        </m:r>
                      </m:oMath>
                    </m:oMathPara>
                  </a14:m>
                  <a:endParaRPr lang="zh-CN" altLang="en-US" sz="3200" b="1" dirty="0">
                    <a:solidFill>
                      <a:schemeClr val="accent5">
                        <a:lumMod val="75000"/>
                      </a:schemeClr>
                    </a:solidFill>
                  </a:endParaRPr>
                </a:p>
              </p:txBody>
            </p:sp>
          </mc:Choice>
          <mc:Fallback xmlns="">
            <p:sp>
              <p:nvSpPr>
                <p:cNvPr id="567" name="文本框 566">
                  <a:extLst>
                    <a:ext uri="{FF2B5EF4-FFF2-40B4-BE49-F238E27FC236}">
                      <a16:creationId xmlns:a16="http://schemas.microsoft.com/office/drawing/2014/main" id="{62C4F790-DF2E-2404-FA61-3F7E7F95B63D}"/>
                    </a:ext>
                  </a:extLst>
                </p:cNvPr>
                <p:cNvSpPr txBox="1">
                  <a:spLocks noRot="1" noChangeAspect="1" noMove="1" noResize="1" noEditPoints="1" noAdjustHandles="1" noChangeArrowheads="1" noChangeShapeType="1" noTextEdit="1"/>
                </p:cNvSpPr>
                <p:nvPr/>
              </p:nvSpPr>
              <p:spPr>
                <a:xfrm>
                  <a:off x="9684000" y="1332000"/>
                  <a:ext cx="538560" cy="432000"/>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8" name="文本框 567">
                  <a:extLst>
                    <a:ext uri="{FF2B5EF4-FFF2-40B4-BE49-F238E27FC236}">
                      <a16:creationId xmlns:a16="http://schemas.microsoft.com/office/drawing/2014/main" id="{5D367C57-1015-3C06-8FBD-65BFC6943BD7}"/>
                    </a:ext>
                  </a:extLst>
                </p:cNvPr>
                <p:cNvSpPr txBox="1"/>
                <p:nvPr/>
              </p:nvSpPr>
              <p:spPr>
                <a:xfrm>
                  <a:off x="9375114" y="4325739"/>
                  <a:ext cx="538560" cy="432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3200" b="1" i="1" smtClean="0">
                            <a:solidFill>
                              <a:schemeClr val="accent5">
                                <a:lumMod val="75000"/>
                              </a:schemeClr>
                            </a:solidFill>
                            <a:latin typeface="Cambria Math" panose="02040503050406030204" pitchFamily="18" charset="0"/>
                          </a:rPr>
                          <m:t>⋯</m:t>
                        </m:r>
                      </m:oMath>
                    </m:oMathPara>
                  </a14:m>
                  <a:endParaRPr lang="zh-CN" altLang="en-US" sz="3200" b="1" dirty="0">
                    <a:solidFill>
                      <a:schemeClr val="accent5">
                        <a:lumMod val="75000"/>
                      </a:schemeClr>
                    </a:solidFill>
                  </a:endParaRPr>
                </a:p>
              </p:txBody>
            </p:sp>
          </mc:Choice>
          <mc:Fallback xmlns="">
            <p:sp>
              <p:nvSpPr>
                <p:cNvPr id="568" name="文本框 567">
                  <a:extLst>
                    <a:ext uri="{FF2B5EF4-FFF2-40B4-BE49-F238E27FC236}">
                      <a16:creationId xmlns:a16="http://schemas.microsoft.com/office/drawing/2014/main" id="{5D367C57-1015-3C06-8FBD-65BFC6943BD7}"/>
                    </a:ext>
                  </a:extLst>
                </p:cNvPr>
                <p:cNvSpPr txBox="1">
                  <a:spLocks noRot="1" noChangeAspect="1" noMove="1" noResize="1" noEditPoints="1" noAdjustHandles="1" noChangeArrowheads="1" noChangeShapeType="1" noTextEdit="1"/>
                </p:cNvSpPr>
                <p:nvPr/>
              </p:nvSpPr>
              <p:spPr>
                <a:xfrm>
                  <a:off x="9375114" y="4325739"/>
                  <a:ext cx="538560" cy="432000"/>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9" name="文本框 568">
                  <a:extLst>
                    <a:ext uri="{FF2B5EF4-FFF2-40B4-BE49-F238E27FC236}">
                      <a16:creationId xmlns:a16="http://schemas.microsoft.com/office/drawing/2014/main" id="{BE1DDCC4-FF3E-85E2-FA50-E75D0BDAA9F7}"/>
                    </a:ext>
                  </a:extLst>
                </p:cNvPr>
                <p:cNvSpPr txBox="1"/>
                <p:nvPr/>
              </p:nvSpPr>
              <p:spPr>
                <a:xfrm>
                  <a:off x="7452000" y="2736000"/>
                  <a:ext cx="538560" cy="468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3200" b="1" i="1" smtClean="0">
                            <a:solidFill>
                              <a:schemeClr val="accent5">
                                <a:lumMod val="75000"/>
                              </a:schemeClr>
                            </a:solidFill>
                            <a:latin typeface="Cambria Math" panose="02040503050406030204" pitchFamily="18" charset="0"/>
                          </a:rPr>
                          <m:t>⋮</m:t>
                        </m:r>
                      </m:oMath>
                    </m:oMathPara>
                  </a14:m>
                  <a:endParaRPr lang="zh-CN" altLang="en-US" sz="3200" b="1" dirty="0">
                    <a:solidFill>
                      <a:schemeClr val="accent5">
                        <a:lumMod val="75000"/>
                      </a:schemeClr>
                    </a:solidFill>
                  </a:endParaRPr>
                </a:p>
              </p:txBody>
            </p:sp>
          </mc:Choice>
          <mc:Fallback xmlns="">
            <p:sp>
              <p:nvSpPr>
                <p:cNvPr id="569" name="文本框 568">
                  <a:extLst>
                    <a:ext uri="{FF2B5EF4-FFF2-40B4-BE49-F238E27FC236}">
                      <a16:creationId xmlns:a16="http://schemas.microsoft.com/office/drawing/2014/main" id="{BE1DDCC4-FF3E-85E2-FA50-E75D0BDAA9F7}"/>
                    </a:ext>
                  </a:extLst>
                </p:cNvPr>
                <p:cNvSpPr txBox="1">
                  <a:spLocks noRot="1" noChangeAspect="1" noMove="1" noResize="1" noEditPoints="1" noAdjustHandles="1" noChangeArrowheads="1" noChangeShapeType="1" noTextEdit="1"/>
                </p:cNvSpPr>
                <p:nvPr/>
              </p:nvSpPr>
              <p:spPr>
                <a:xfrm>
                  <a:off x="7452000" y="2736000"/>
                  <a:ext cx="538560" cy="468000"/>
                </a:xfrm>
                <a:prstGeom prst="rect">
                  <a:avLst/>
                </a:prstGeom>
                <a:blipFill>
                  <a:blip r:embed="rId22"/>
                  <a:stretch>
                    <a:fillRect/>
                  </a:stretch>
                </a:blipFill>
              </p:spPr>
              <p:txBody>
                <a:bodyPr/>
                <a:lstStyle/>
                <a:p>
                  <a:r>
                    <a:rPr lang="zh-CN" altLang="en-US">
                      <a:noFill/>
                    </a:rPr>
                    <a:t> </a:t>
                  </a:r>
                </a:p>
              </p:txBody>
            </p:sp>
          </mc:Fallback>
        </mc:AlternateContent>
        <p:sp>
          <p:nvSpPr>
            <p:cNvPr id="544" name="矩形 543">
              <a:extLst>
                <a:ext uri="{FF2B5EF4-FFF2-40B4-BE49-F238E27FC236}">
                  <a16:creationId xmlns:a16="http://schemas.microsoft.com/office/drawing/2014/main" id="{6BCC5966-9406-D57B-355D-3E3E9C2FB0CD}"/>
                </a:ext>
              </a:extLst>
            </p:cNvPr>
            <p:cNvSpPr/>
            <p:nvPr/>
          </p:nvSpPr>
          <p:spPr>
            <a:xfrm>
              <a:off x="7992000" y="5004000"/>
              <a:ext cx="3528000" cy="1260000"/>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微软雅黑" panose="020B0503020204020204" pitchFamily="34" charset="-122"/>
                  <a:ea typeface="微软雅黑" panose="020B0503020204020204" pitchFamily="34" charset="-122"/>
                </a:rPr>
                <a:t>16 </a:t>
              </a:r>
              <a:r>
                <a:rPr lang="zh-CN" altLang="en-US" sz="1600" dirty="0">
                  <a:solidFill>
                    <a:schemeClr val="tx1"/>
                  </a:solidFill>
                  <a:latin typeface="微软雅黑" panose="020B0503020204020204" pitchFamily="34" charset="-122"/>
                  <a:ea typeface="微软雅黑" panose="020B0503020204020204" pitchFamily="34" charset="-122"/>
                </a:rPr>
                <a:t>线 </a:t>
              </a:r>
              <a:r>
                <a:rPr lang="en-US" altLang="zh-CN" sz="1600" dirty="0">
                  <a:solidFill>
                    <a:schemeClr val="tx1"/>
                  </a:solidFill>
                  <a:latin typeface="微软雅黑" panose="020B0503020204020204" pitchFamily="34" charset="-122"/>
                  <a:ea typeface="微软雅黑" panose="020B0503020204020204" pitchFamily="34" charset="-122"/>
                </a:rPr>
                <a:t>– 1 </a:t>
              </a:r>
              <a:r>
                <a:rPr lang="zh-CN" altLang="en-US" sz="1600" dirty="0">
                  <a:solidFill>
                    <a:schemeClr val="tx1"/>
                  </a:solidFill>
                  <a:latin typeface="微软雅黑" panose="020B0503020204020204" pitchFamily="34" charset="-122"/>
                  <a:ea typeface="微软雅黑" panose="020B0503020204020204" pitchFamily="34" charset="-122"/>
                </a:rPr>
                <a:t>线数据选择器</a:t>
              </a:r>
            </a:p>
          </p:txBody>
        </p:sp>
        <mc:AlternateContent xmlns:mc="http://schemas.openxmlformats.org/markup-compatibility/2006" xmlns:a14="http://schemas.microsoft.com/office/drawing/2010/main">
          <mc:Choice Requires="a14">
            <p:sp>
              <p:nvSpPr>
                <p:cNvPr id="591" name="文本框 590">
                  <a:extLst>
                    <a:ext uri="{FF2B5EF4-FFF2-40B4-BE49-F238E27FC236}">
                      <a16:creationId xmlns:a16="http://schemas.microsoft.com/office/drawing/2014/main" id="{73369397-AB33-2E07-5CF1-7F6D543ED277}"/>
                    </a:ext>
                  </a:extLst>
                </p:cNvPr>
                <p:cNvSpPr txBox="1"/>
                <p:nvPr/>
              </p:nvSpPr>
              <p:spPr>
                <a:xfrm>
                  <a:off x="7992000" y="5040000"/>
                  <a:ext cx="360000" cy="288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S</m:t>
                            </m:r>
                          </m:e>
                          <m:sub>
                            <m:r>
                              <a:rPr lang="en-US" altLang="zh-CN" b="0" i="1" smtClean="0">
                                <a:solidFill>
                                  <a:schemeClr val="tx1"/>
                                </a:solidFill>
                                <a:latin typeface="Cambria Math" panose="02040503050406030204" pitchFamily="18" charset="0"/>
                              </a:rPr>
                              <m:t>3</m:t>
                            </m:r>
                          </m:sub>
                        </m:sSub>
                      </m:oMath>
                    </m:oMathPara>
                  </a14:m>
                  <a:endParaRPr lang="zh-CN" altLang="en-US" dirty="0">
                    <a:solidFill>
                      <a:schemeClr val="tx1"/>
                    </a:solidFill>
                  </a:endParaRPr>
                </a:p>
              </p:txBody>
            </p:sp>
          </mc:Choice>
          <mc:Fallback xmlns="">
            <p:sp>
              <p:nvSpPr>
                <p:cNvPr id="591" name="文本框 590">
                  <a:extLst>
                    <a:ext uri="{FF2B5EF4-FFF2-40B4-BE49-F238E27FC236}">
                      <a16:creationId xmlns:a16="http://schemas.microsoft.com/office/drawing/2014/main" id="{73369397-AB33-2E07-5CF1-7F6D543ED277}"/>
                    </a:ext>
                  </a:extLst>
                </p:cNvPr>
                <p:cNvSpPr txBox="1">
                  <a:spLocks noRot="1" noChangeAspect="1" noMove="1" noResize="1" noEditPoints="1" noAdjustHandles="1" noChangeArrowheads="1" noChangeShapeType="1" noTextEdit="1"/>
                </p:cNvSpPr>
                <p:nvPr/>
              </p:nvSpPr>
              <p:spPr>
                <a:xfrm>
                  <a:off x="7992000" y="5040000"/>
                  <a:ext cx="360000" cy="288000"/>
                </a:xfrm>
                <a:prstGeom prst="rect">
                  <a:avLst/>
                </a:prstGeom>
                <a:blipFill>
                  <a:blip r:embed="rId23"/>
                  <a:stretch>
                    <a:fillRect l="-3390" b="-106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2" name="文本框 591">
                  <a:extLst>
                    <a:ext uri="{FF2B5EF4-FFF2-40B4-BE49-F238E27FC236}">
                      <a16:creationId xmlns:a16="http://schemas.microsoft.com/office/drawing/2014/main" id="{E1868758-E8FC-BFB0-D4F0-AA395B23FBE7}"/>
                    </a:ext>
                  </a:extLst>
                </p:cNvPr>
                <p:cNvSpPr txBox="1"/>
                <p:nvPr/>
              </p:nvSpPr>
              <p:spPr>
                <a:xfrm>
                  <a:off x="7992000" y="5346000"/>
                  <a:ext cx="360000" cy="288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S</m:t>
                            </m:r>
                          </m:e>
                          <m:sub>
                            <m:r>
                              <a:rPr lang="en-US" altLang="zh-CN" b="0" i="1" smtClean="0">
                                <a:solidFill>
                                  <a:schemeClr val="tx1"/>
                                </a:solidFill>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592" name="文本框 591">
                  <a:extLst>
                    <a:ext uri="{FF2B5EF4-FFF2-40B4-BE49-F238E27FC236}">
                      <a16:creationId xmlns:a16="http://schemas.microsoft.com/office/drawing/2014/main" id="{E1868758-E8FC-BFB0-D4F0-AA395B23FBE7}"/>
                    </a:ext>
                  </a:extLst>
                </p:cNvPr>
                <p:cNvSpPr txBox="1">
                  <a:spLocks noRot="1" noChangeAspect="1" noMove="1" noResize="1" noEditPoints="1" noAdjustHandles="1" noChangeArrowheads="1" noChangeShapeType="1" noTextEdit="1"/>
                </p:cNvSpPr>
                <p:nvPr/>
              </p:nvSpPr>
              <p:spPr>
                <a:xfrm>
                  <a:off x="7992000" y="5346000"/>
                  <a:ext cx="360000" cy="288000"/>
                </a:xfrm>
                <a:prstGeom prst="rect">
                  <a:avLst/>
                </a:prstGeom>
                <a:blipFill>
                  <a:blip r:embed="rId24"/>
                  <a:stretch>
                    <a:fillRect l="-3390" b="-106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3" name="文本框 592">
                  <a:extLst>
                    <a:ext uri="{FF2B5EF4-FFF2-40B4-BE49-F238E27FC236}">
                      <a16:creationId xmlns:a16="http://schemas.microsoft.com/office/drawing/2014/main" id="{C204A0EE-C39E-9819-4D0D-534EFCE5B9BA}"/>
                    </a:ext>
                  </a:extLst>
                </p:cNvPr>
                <p:cNvSpPr txBox="1"/>
                <p:nvPr/>
              </p:nvSpPr>
              <p:spPr>
                <a:xfrm>
                  <a:off x="7992000" y="5652000"/>
                  <a:ext cx="360000" cy="288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S</m:t>
                            </m:r>
                          </m:e>
                          <m:sub>
                            <m:r>
                              <a:rPr lang="en-US" altLang="zh-CN" b="0" i="1" smtClean="0">
                                <a:solidFill>
                                  <a:schemeClr val="tx1"/>
                                </a:solidFill>
                                <a:latin typeface="Cambria Math" panose="02040503050406030204" pitchFamily="18" charset="0"/>
                              </a:rPr>
                              <m:t>1</m:t>
                            </m:r>
                          </m:sub>
                        </m:sSub>
                      </m:oMath>
                    </m:oMathPara>
                  </a14:m>
                  <a:endParaRPr lang="zh-CN" altLang="en-US" dirty="0">
                    <a:solidFill>
                      <a:schemeClr val="tx1"/>
                    </a:solidFill>
                  </a:endParaRPr>
                </a:p>
              </p:txBody>
            </p:sp>
          </mc:Choice>
          <mc:Fallback xmlns="">
            <p:sp>
              <p:nvSpPr>
                <p:cNvPr id="593" name="文本框 592">
                  <a:extLst>
                    <a:ext uri="{FF2B5EF4-FFF2-40B4-BE49-F238E27FC236}">
                      <a16:creationId xmlns:a16="http://schemas.microsoft.com/office/drawing/2014/main" id="{C204A0EE-C39E-9819-4D0D-534EFCE5B9BA}"/>
                    </a:ext>
                  </a:extLst>
                </p:cNvPr>
                <p:cNvSpPr txBox="1">
                  <a:spLocks noRot="1" noChangeAspect="1" noMove="1" noResize="1" noEditPoints="1" noAdjustHandles="1" noChangeArrowheads="1" noChangeShapeType="1" noTextEdit="1"/>
                </p:cNvSpPr>
                <p:nvPr/>
              </p:nvSpPr>
              <p:spPr>
                <a:xfrm>
                  <a:off x="7992000" y="5652000"/>
                  <a:ext cx="360000" cy="288000"/>
                </a:xfrm>
                <a:prstGeom prst="rect">
                  <a:avLst/>
                </a:prstGeom>
                <a:blipFill>
                  <a:blip r:embed="rId25"/>
                  <a:stretch>
                    <a:fillRect l="-1695" b="-106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4" name="文本框 593">
                  <a:extLst>
                    <a:ext uri="{FF2B5EF4-FFF2-40B4-BE49-F238E27FC236}">
                      <a16:creationId xmlns:a16="http://schemas.microsoft.com/office/drawing/2014/main" id="{A9C42170-CCC3-5B43-27BB-3CC2BF86D853}"/>
                    </a:ext>
                  </a:extLst>
                </p:cNvPr>
                <p:cNvSpPr txBox="1"/>
                <p:nvPr/>
              </p:nvSpPr>
              <p:spPr>
                <a:xfrm>
                  <a:off x="7992000" y="5958000"/>
                  <a:ext cx="360000" cy="288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S</m:t>
                            </m:r>
                          </m:e>
                          <m:sub>
                            <m:r>
                              <a:rPr lang="en-US" altLang="zh-CN" b="0" i="1" smtClean="0">
                                <a:solidFill>
                                  <a:schemeClr val="tx1"/>
                                </a:solidFill>
                                <a:latin typeface="Cambria Math" panose="02040503050406030204" pitchFamily="18" charset="0"/>
                              </a:rPr>
                              <m:t>0</m:t>
                            </m:r>
                          </m:sub>
                        </m:sSub>
                      </m:oMath>
                    </m:oMathPara>
                  </a14:m>
                  <a:endParaRPr lang="zh-CN" altLang="en-US" dirty="0">
                    <a:solidFill>
                      <a:schemeClr val="tx1"/>
                    </a:solidFill>
                  </a:endParaRPr>
                </a:p>
              </p:txBody>
            </p:sp>
          </mc:Choice>
          <mc:Fallback xmlns="">
            <p:sp>
              <p:nvSpPr>
                <p:cNvPr id="594" name="文本框 593">
                  <a:extLst>
                    <a:ext uri="{FF2B5EF4-FFF2-40B4-BE49-F238E27FC236}">
                      <a16:creationId xmlns:a16="http://schemas.microsoft.com/office/drawing/2014/main" id="{A9C42170-CCC3-5B43-27BB-3CC2BF86D853}"/>
                    </a:ext>
                  </a:extLst>
                </p:cNvPr>
                <p:cNvSpPr txBox="1">
                  <a:spLocks noRot="1" noChangeAspect="1" noMove="1" noResize="1" noEditPoints="1" noAdjustHandles="1" noChangeArrowheads="1" noChangeShapeType="1" noTextEdit="1"/>
                </p:cNvSpPr>
                <p:nvPr/>
              </p:nvSpPr>
              <p:spPr>
                <a:xfrm>
                  <a:off x="7992000" y="5958000"/>
                  <a:ext cx="360000" cy="288000"/>
                </a:xfrm>
                <a:prstGeom prst="rect">
                  <a:avLst/>
                </a:prstGeom>
                <a:blipFill>
                  <a:blip r:embed="rId26"/>
                  <a:stretch>
                    <a:fillRect l="-3390" b="-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5" name="文本框 594">
                  <a:extLst>
                    <a:ext uri="{FF2B5EF4-FFF2-40B4-BE49-F238E27FC236}">
                      <a16:creationId xmlns:a16="http://schemas.microsoft.com/office/drawing/2014/main" id="{DD84178C-3A99-3653-0AB3-72C4A87A18B7}"/>
                    </a:ext>
                  </a:extLst>
                </p:cNvPr>
                <p:cNvSpPr txBox="1"/>
                <p:nvPr/>
              </p:nvSpPr>
              <p:spPr>
                <a:xfrm>
                  <a:off x="8424000" y="5004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I</m:t>
                            </m:r>
                          </m:e>
                          <m:sub>
                            <m:r>
                              <a:rPr lang="en-US" altLang="zh-CN" b="0" i="1" smtClean="0">
                                <a:solidFill>
                                  <a:schemeClr val="tx1"/>
                                </a:solidFill>
                                <a:latin typeface="Cambria Math" panose="02040503050406030204" pitchFamily="18" charset="0"/>
                              </a:rPr>
                              <m:t>0</m:t>
                            </m:r>
                          </m:sub>
                        </m:sSub>
                      </m:oMath>
                    </m:oMathPara>
                  </a14:m>
                  <a:endParaRPr lang="zh-CN" altLang="en-US" dirty="0">
                    <a:solidFill>
                      <a:schemeClr val="tx1"/>
                    </a:solidFill>
                  </a:endParaRPr>
                </a:p>
              </p:txBody>
            </p:sp>
          </mc:Choice>
          <mc:Fallback xmlns="">
            <p:sp>
              <p:nvSpPr>
                <p:cNvPr id="595" name="文本框 594">
                  <a:extLst>
                    <a:ext uri="{FF2B5EF4-FFF2-40B4-BE49-F238E27FC236}">
                      <a16:creationId xmlns:a16="http://schemas.microsoft.com/office/drawing/2014/main" id="{DD84178C-3A99-3653-0AB3-72C4A87A18B7}"/>
                    </a:ext>
                  </a:extLst>
                </p:cNvPr>
                <p:cNvSpPr txBox="1">
                  <a:spLocks noRot="1" noChangeAspect="1" noMove="1" noResize="1" noEditPoints="1" noAdjustHandles="1" noChangeArrowheads="1" noChangeShapeType="1" noTextEdit="1"/>
                </p:cNvSpPr>
                <p:nvPr/>
              </p:nvSpPr>
              <p:spPr>
                <a:xfrm>
                  <a:off x="8424000" y="5004000"/>
                  <a:ext cx="360000" cy="360000"/>
                </a:xfrm>
                <a:prstGeom prst="rect">
                  <a:avLst/>
                </a:prstGeom>
                <a:blipFill>
                  <a:blip r:embed="rId2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8" name="文本框 597">
                  <a:extLst>
                    <a:ext uri="{FF2B5EF4-FFF2-40B4-BE49-F238E27FC236}">
                      <a16:creationId xmlns:a16="http://schemas.microsoft.com/office/drawing/2014/main" id="{8B10389B-E308-24A7-E903-CA41B8F96E6F}"/>
                    </a:ext>
                  </a:extLst>
                </p:cNvPr>
                <p:cNvSpPr txBox="1"/>
                <p:nvPr/>
              </p:nvSpPr>
              <p:spPr>
                <a:xfrm>
                  <a:off x="11052000" y="5004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I</m:t>
                            </m:r>
                          </m:e>
                          <m:sub>
                            <m:r>
                              <a:rPr lang="en-US" altLang="zh-CN" b="0" i="1" smtClean="0">
                                <a:solidFill>
                                  <a:schemeClr val="tx1"/>
                                </a:solidFill>
                                <a:latin typeface="Cambria Math" panose="02040503050406030204" pitchFamily="18" charset="0"/>
                              </a:rPr>
                              <m:t>1</m:t>
                            </m:r>
                            <m:r>
                              <a:rPr lang="en-US" altLang="zh-CN" i="1">
                                <a:latin typeface="Cambria Math" panose="02040503050406030204" pitchFamily="18" charset="0"/>
                              </a:rPr>
                              <m:t>5</m:t>
                            </m:r>
                          </m:sub>
                        </m:sSub>
                      </m:oMath>
                    </m:oMathPara>
                  </a14:m>
                  <a:endParaRPr lang="zh-CN" altLang="en-US" dirty="0">
                    <a:solidFill>
                      <a:schemeClr val="tx1"/>
                    </a:solidFill>
                  </a:endParaRPr>
                </a:p>
              </p:txBody>
            </p:sp>
          </mc:Choice>
          <mc:Fallback xmlns="">
            <p:sp>
              <p:nvSpPr>
                <p:cNvPr id="598" name="文本框 597">
                  <a:extLst>
                    <a:ext uri="{FF2B5EF4-FFF2-40B4-BE49-F238E27FC236}">
                      <a16:creationId xmlns:a16="http://schemas.microsoft.com/office/drawing/2014/main" id="{8B10389B-E308-24A7-E903-CA41B8F96E6F}"/>
                    </a:ext>
                  </a:extLst>
                </p:cNvPr>
                <p:cNvSpPr txBox="1">
                  <a:spLocks noRot="1" noChangeAspect="1" noMove="1" noResize="1" noEditPoints="1" noAdjustHandles="1" noChangeArrowheads="1" noChangeShapeType="1" noTextEdit="1"/>
                </p:cNvSpPr>
                <p:nvPr/>
              </p:nvSpPr>
              <p:spPr>
                <a:xfrm>
                  <a:off x="11052000" y="5004000"/>
                  <a:ext cx="360000" cy="360000"/>
                </a:xfrm>
                <a:prstGeom prst="rect">
                  <a:avLst/>
                </a:prstGeom>
                <a:blipFill>
                  <a:blip r:embed="rId28"/>
                  <a:stretch>
                    <a:fillRect l="-118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9" name="文本框 598">
                  <a:extLst>
                    <a:ext uri="{FF2B5EF4-FFF2-40B4-BE49-F238E27FC236}">
                      <a16:creationId xmlns:a16="http://schemas.microsoft.com/office/drawing/2014/main" id="{FAB447BB-D1F0-9BBA-3C5E-0255596BE819}"/>
                    </a:ext>
                  </a:extLst>
                </p:cNvPr>
                <p:cNvSpPr txBox="1"/>
                <p:nvPr/>
              </p:nvSpPr>
              <p:spPr>
                <a:xfrm>
                  <a:off x="9576000" y="5976000"/>
                  <a:ext cx="360000" cy="288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pitchFamily="18" charset="0"/>
                          </a:rPr>
                          <m:t>Y</m:t>
                        </m:r>
                      </m:oMath>
                    </m:oMathPara>
                  </a14:m>
                  <a:endParaRPr lang="zh-CN" altLang="en-US" dirty="0">
                    <a:solidFill>
                      <a:schemeClr val="tx1"/>
                    </a:solidFill>
                  </a:endParaRPr>
                </a:p>
              </p:txBody>
            </p:sp>
          </mc:Choice>
          <mc:Fallback xmlns="">
            <p:sp>
              <p:nvSpPr>
                <p:cNvPr id="599" name="文本框 598">
                  <a:extLst>
                    <a:ext uri="{FF2B5EF4-FFF2-40B4-BE49-F238E27FC236}">
                      <a16:creationId xmlns:a16="http://schemas.microsoft.com/office/drawing/2014/main" id="{FAB447BB-D1F0-9BBA-3C5E-0255596BE819}"/>
                    </a:ext>
                  </a:extLst>
                </p:cNvPr>
                <p:cNvSpPr txBox="1">
                  <a:spLocks noRot="1" noChangeAspect="1" noMove="1" noResize="1" noEditPoints="1" noAdjustHandles="1" noChangeArrowheads="1" noChangeShapeType="1" noTextEdit="1"/>
                </p:cNvSpPr>
                <p:nvPr/>
              </p:nvSpPr>
              <p:spPr>
                <a:xfrm>
                  <a:off x="9576000" y="5976000"/>
                  <a:ext cx="360000" cy="288000"/>
                </a:xfrm>
                <a:prstGeom prst="rect">
                  <a:avLst/>
                </a:prstGeom>
                <a:blipFill>
                  <a:blip r:embed="rId29"/>
                  <a:stretch>
                    <a:fillRect b="-2083"/>
                  </a:stretch>
                </a:blipFill>
              </p:spPr>
              <p:txBody>
                <a:bodyPr/>
                <a:lstStyle/>
                <a:p>
                  <a:r>
                    <a:rPr lang="zh-CN" altLang="en-US">
                      <a:noFill/>
                    </a:rPr>
                    <a:t> </a:t>
                  </a:r>
                </a:p>
              </p:txBody>
            </p:sp>
          </mc:Fallback>
        </mc:AlternateContent>
        <p:cxnSp>
          <p:nvCxnSpPr>
            <p:cNvPr id="600" name="直接连接符 599">
              <a:extLst>
                <a:ext uri="{FF2B5EF4-FFF2-40B4-BE49-F238E27FC236}">
                  <a16:creationId xmlns:a16="http://schemas.microsoft.com/office/drawing/2014/main" id="{6870C1BA-96B9-8D82-0AEE-C3D1DF9BF9FE}"/>
                </a:ext>
              </a:extLst>
            </p:cNvPr>
            <p:cNvCxnSpPr>
              <a:cxnSpLocks/>
            </p:cNvCxnSpPr>
            <p:nvPr/>
          </p:nvCxnSpPr>
          <p:spPr>
            <a:xfrm>
              <a:off x="6120000" y="5184000"/>
              <a:ext cx="187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3" name="直接连接符 602">
              <a:extLst>
                <a:ext uri="{FF2B5EF4-FFF2-40B4-BE49-F238E27FC236}">
                  <a16:creationId xmlns:a16="http://schemas.microsoft.com/office/drawing/2014/main" id="{51ECABCB-85B1-9601-E73F-C6E80371096C}"/>
                </a:ext>
              </a:extLst>
            </p:cNvPr>
            <p:cNvCxnSpPr>
              <a:cxnSpLocks/>
            </p:cNvCxnSpPr>
            <p:nvPr/>
          </p:nvCxnSpPr>
          <p:spPr>
            <a:xfrm>
              <a:off x="6120000" y="5490000"/>
              <a:ext cx="187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4" name="直接连接符 603">
              <a:extLst>
                <a:ext uri="{FF2B5EF4-FFF2-40B4-BE49-F238E27FC236}">
                  <a16:creationId xmlns:a16="http://schemas.microsoft.com/office/drawing/2014/main" id="{3AAE0D1E-9930-9AB0-D56E-45EBD22B4F36}"/>
                </a:ext>
              </a:extLst>
            </p:cNvPr>
            <p:cNvCxnSpPr>
              <a:cxnSpLocks/>
            </p:cNvCxnSpPr>
            <p:nvPr/>
          </p:nvCxnSpPr>
          <p:spPr>
            <a:xfrm>
              <a:off x="6120000" y="5796000"/>
              <a:ext cx="187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5" name="直接连接符 604">
              <a:extLst>
                <a:ext uri="{FF2B5EF4-FFF2-40B4-BE49-F238E27FC236}">
                  <a16:creationId xmlns:a16="http://schemas.microsoft.com/office/drawing/2014/main" id="{E452D730-3628-42B9-769F-2599AFD5AD2D}"/>
                </a:ext>
              </a:extLst>
            </p:cNvPr>
            <p:cNvCxnSpPr>
              <a:cxnSpLocks/>
            </p:cNvCxnSpPr>
            <p:nvPr/>
          </p:nvCxnSpPr>
          <p:spPr>
            <a:xfrm>
              <a:off x="6120000" y="6102000"/>
              <a:ext cx="187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07" name="文本框 606">
                  <a:extLst>
                    <a:ext uri="{FF2B5EF4-FFF2-40B4-BE49-F238E27FC236}">
                      <a16:creationId xmlns:a16="http://schemas.microsoft.com/office/drawing/2014/main" id="{0D72C87A-F733-8754-9058-CE97282055AA}"/>
                    </a:ext>
                  </a:extLst>
                </p:cNvPr>
                <p:cNvSpPr txBox="1"/>
                <p:nvPr/>
              </p:nvSpPr>
              <p:spPr>
                <a:xfrm>
                  <a:off x="5580000" y="4968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A</m:t>
                            </m:r>
                          </m:e>
                          <m:sub>
                            <m:r>
                              <a:rPr lang="en-US" altLang="zh-CN" sz="2400" i="1">
                                <a:solidFill>
                                  <a:schemeClr val="accent5">
                                    <a:lumMod val="75000"/>
                                  </a:schemeClr>
                                </a:solidFill>
                                <a:latin typeface="Cambria Math" panose="02040503050406030204" pitchFamily="18" charset="0"/>
                              </a:rPr>
                              <m:t>3</m:t>
                            </m:r>
                          </m:sub>
                        </m:sSub>
                      </m:oMath>
                    </m:oMathPara>
                  </a14:m>
                  <a:endParaRPr lang="zh-CN" altLang="en-US" sz="2400" dirty="0">
                    <a:solidFill>
                      <a:schemeClr val="accent5">
                        <a:lumMod val="75000"/>
                      </a:schemeClr>
                    </a:solidFill>
                  </a:endParaRPr>
                </a:p>
              </p:txBody>
            </p:sp>
          </mc:Choice>
          <mc:Fallback xmlns="">
            <p:sp>
              <p:nvSpPr>
                <p:cNvPr id="607" name="文本框 606">
                  <a:extLst>
                    <a:ext uri="{FF2B5EF4-FFF2-40B4-BE49-F238E27FC236}">
                      <a16:creationId xmlns:a16="http://schemas.microsoft.com/office/drawing/2014/main" id="{0D72C87A-F733-8754-9058-CE97282055AA}"/>
                    </a:ext>
                  </a:extLst>
                </p:cNvPr>
                <p:cNvSpPr txBox="1">
                  <a:spLocks noRot="1" noChangeAspect="1" noMove="1" noResize="1" noEditPoints="1" noAdjustHandles="1" noChangeArrowheads="1" noChangeShapeType="1" noTextEdit="1"/>
                </p:cNvSpPr>
                <p:nvPr/>
              </p:nvSpPr>
              <p:spPr>
                <a:xfrm>
                  <a:off x="5580000" y="4968000"/>
                  <a:ext cx="538560" cy="360000"/>
                </a:xfrm>
                <a:prstGeom prst="rect">
                  <a:avLst/>
                </a:prstGeom>
                <a:blipFill>
                  <a:blip r:embed="rId30"/>
                  <a:stretch>
                    <a:fillRect l="-1124"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8" name="文本框 607">
                  <a:extLst>
                    <a:ext uri="{FF2B5EF4-FFF2-40B4-BE49-F238E27FC236}">
                      <a16:creationId xmlns:a16="http://schemas.microsoft.com/office/drawing/2014/main" id="{16959A8A-25C5-F588-674C-27730AA1533A}"/>
                    </a:ext>
                  </a:extLst>
                </p:cNvPr>
                <p:cNvSpPr txBox="1"/>
                <p:nvPr/>
              </p:nvSpPr>
              <p:spPr>
                <a:xfrm>
                  <a:off x="5580000" y="5274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A</m:t>
                            </m:r>
                          </m:e>
                          <m:sub>
                            <m:r>
                              <a:rPr lang="en-US" altLang="zh-CN" sz="2400" b="0" i="1" smtClean="0">
                                <a:solidFill>
                                  <a:schemeClr val="accent5">
                                    <a:lumMod val="75000"/>
                                  </a:schemeClr>
                                </a:solidFill>
                                <a:latin typeface="Cambria Math" panose="02040503050406030204" pitchFamily="18" charset="0"/>
                              </a:rPr>
                              <m:t>2</m:t>
                            </m:r>
                          </m:sub>
                        </m:sSub>
                      </m:oMath>
                    </m:oMathPara>
                  </a14:m>
                  <a:endParaRPr lang="zh-CN" altLang="en-US" sz="2400" dirty="0">
                    <a:solidFill>
                      <a:schemeClr val="accent5">
                        <a:lumMod val="75000"/>
                      </a:schemeClr>
                    </a:solidFill>
                  </a:endParaRPr>
                </a:p>
              </p:txBody>
            </p:sp>
          </mc:Choice>
          <mc:Fallback xmlns="">
            <p:sp>
              <p:nvSpPr>
                <p:cNvPr id="608" name="文本框 607">
                  <a:extLst>
                    <a:ext uri="{FF2B5EF4-FFF2-40B4-BE49-F238E27FC236}">
                      <a16:creationId xmlns:a16="http://schemas.microsoft.com/office/drawing/2014/main" id="{16959A8A-25C5-F588-674C-27730AA1533A}"/>
                    </a:ext>
                  </a:extLst>
                </p:cNvPr>
                <p:cNvSpPr txBox="1">
                  <a:spLocks noRot="1" noChangeAspect="1" noMove="1" noResize="1" noEditPoints="1" noAdjustHandles="1" noChangeArrowheads="1" noChangeShapeType="1" noTextEdit="1"/>
                </p:cNvSpPr>
                <p:nvPr/>
              </p:nvSpPr>
              <p:spPr>
                <a:xfrm>
                  <a:off x="5580000" y="5274000"/>
                  <a:ext cx="538560" cy="360000"/>
                </a:xfrm>
                <a:prstGeom prst="rect">
                  <a:avLst/>
                </a:prstGeom>
                <a:blipFill>
                  <a:blip r:embed="rId31"/>
                  <a:stretch>
                    <a:fillRect l="-1124"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9" name="文本框 608">
                  <a:extLst>
                    <a:ext uri="{FF2B5EF4-FFF2-40B4-BE49-F238E27FC236}">
                      <a16:creationId xmlns:a16="http://schemas.microsoft.com/office/drawing/2014/main" id="{E6172D15-C2CA-E816-8DD5-EF907EA6964F}"/>
                    </a:ext>
                  </a:extLst>
                </p:cNvPr>
                <p:cNvSpPr txBox="1"/>
                <p:nvPr/>
              </p:nvSpPr>
              <p:spPr>
                <a:xfrm>
                  <a:off x="5580000" y="5580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A</m:t>
                            </m:r>
                          </m:e>
                          <m:sub>
                            <m:r>
                              <a:rPr lang="en-US" altLang="zh-CN" sz="2400" b="0" i="1" smtClean="0">
                                <a:solidFill>
                                  <a:schemeClr val="accent5">
                                    <a:lumMod val="75000"/>
                                  </a:schemeClr>
                                </a:solidFill>
                                <a:latin typeface="Cambria Math" panose="02040503050406030204" pitchFamily="18" charset="0"/>
                              </a:rPr>
                              <m:t>1</m:t>
                            </m:r>
                          </m:sub>
                        </m:sSub>
                      </m:oMath>
                    </m:oMathPara>
                  </a14:m>
                  <a:endParaRPr lang="zh-CN" altLang="en-US" sz="2400" dirty="0">
                    <a:solidFill>
                      <a:schemeClr val="accent5">
                        <a:lumMod val="75000"/>
                      </a:schemeClr>
                    </a:solidFill>
                  </a:endParaRPr>
                </a:p>
              </p:txBody>
            </p:sp>
          </mc:Choice>
          <mc:Fallback xmlns="">
            <p:sp>
              <p:nvSpPr>
                <p:cNvPr id="609" name="文本框 608">
                  <a:extLst>
                    <a:ext uri="{FF2B5EF4-FFF2-40B4-BE49-F238E27FC236}">
                      <a16:creationId xmlns:a16="http://schemas.microsoft.com/office/drawing/2014/main" id="{E6172D15-C2CA-E816-8DD5-EF907EA6964F}"/>
                    </a:ext>
                  </a:extLst>
                </p:cNvPr>
                <p:cNvSpPr txBox="1">
                  <a:spLocks noRot="1" noChangeAspect="1" noMove="1" noResize="1" noEditPoints="1" noAdjustHandles="1" noChangeArrowheads="1" noChangeShapeType="1" noTextEdit="1"/>
                </p:cNvSpPr>
                <p:nvPr/>
              </p:nvSpPr>
              <p:spPr>
                <a:xfrm>
                  <a:off x="5580000" y="5580000"/>
                  <a:ext cx="538560" cy="360000"/>
                </a:xfrm>
                <a:prstGeom prst="rect">
                  <a:avLst/>
                </a:prstGeom>
                <a:blipFill>
                  <a:blip r:embed="rId32"/>
                  <a:stretch>
                    <a:fillRect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0" name="文本框 609">
                  <a:extLst>
                    <a:ext uri="{FF2B5EF4-FFF2-40B4-BE49-F238E27FC236}">
                      <a16:creationId xmlns:a16="http://schemas.microsoft.com/office/drawing/2014/main" id="{A9647660-A4B2-33E8-0486-89878C47B54A}"/>
                    </a:ext>
                  </a:extLst>
                </p:cNvPr>
                <p:cNvSpPr txBox="1"/>
                <p:nvPr/>
              </p:nvSpPr>
              <p:spPr>
                <a:xfrm>
                  <a:off x="5580000" y="5886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A</m:t>
                            </m:r>
                          </m:e>
                          <m:sub>
                            <m:r>
                              <a:rPr lang="en-US" altLang="zh-CN" sz="2400" i="1">
                                <a:solidFill>
                                  <a:schemeClr val="accent5">
                                    <a:lumMod val="75000"/>
                                  </a:schemeClr>
                                </a:solidFill>
                                <a:latin typeface="Cambria Math" panose="02040503050406030204" pitchFamily="18" charset="0"/>
                              </a:rPr>
                              <m:t>0</m:t>
                            </m:r>
                          </m:sub>
                        </m:sSub>
                      </m:oMath>
                    </m:oMathPara>
                  </a14:m>
                  <a:endParaRPr lang="zh-CN" altLang="en-US" sz="2400" dirty="0">
                    <a:solidFill>
                      <a:schemeClr val="accent5">
                        <a:lumMod val="75000"/>
                      </a:schemeClr>
                    </a:solidFill>
                  </a:endParaRPr>
                </a:p>
              </p:txBody>
            </p:sp>
          </mc:Choice>
          <mc:Fallback xmlns="">
            <p:sp>
              <p:nvSpPr>
                <p:cNvPr id="610" name="文本框 609">
                  <a:extLst>
                    <a:ext uri="{FF2B5EF4-FFF2-40B4-BE49-F238E27FC236}">
                      <a16:creationId xmlns:a16="http://schemas.microsoft.com/office/drawing/2014/main" id="{A9647660-A4B2-33E8-0486-89878C47B54A}"/>
                    </a:ext>
                  </a:extLst>
                </p:cNvPr>
                <p:cNvSpPr txBox="1">
                  <a:spLocks noRot="1" noChangeAspect="1" noMove="1" noResize="1" noEditPoints="1" noAdjustHandles="1" noChangeArrowheads="1" noChangeShapeType="1" noTextEdit="1"/>
                </p:cNvSpPr>
                <p:nvPr/>
              </p:nvSpPr>
              <p:spPr>
                <a:xfrm>
                  <a:off x="5580000" y="5886000"/>
                  <a:ext cx="538560" cy="360000"/>
                </a:xfrm>
                <a:prstGeom prst="rect">
                  <a:avLst/>
                </a:prstGeom>
                <a:blipFill>
                  <a:blip r:embed="rId33"/>
                  <a:stretch>
                    <a:fillRect l="-1124" b="-16949"/>
                  </a:stretch>
                </a:blipFill>
              </p:spPr>
              <p:txBody>
                <a:bodyPr/>
                <a:lstStyle/>
                <a:p>
                  <a:r>
                    <a:rPr lang="zh-CN" altLang="en-US">
                      <a:noFill/>
                    </a:rPr>
                    <a:t> </a:t>
                  </a:r>
                </a:p>
              </p:txBody>
            </p:sp>
          </mc:Fallback>
        </mc:AlternateContent>
        <p:cxnSp>
          <p:nvCxnSpPr>
            <p:cNvPr id="611" name="直接连接符 610">
              <a:extLst>
                <a:ext uri="{FF2B5EF4-FFF2-40B4-BE49-F238E27FC236}">
                  <a16:creationId xmlns:a16="http://schemas.microsoft.com/office/drawing/2014/main" id="{DF2881A8-9C77-0F76-5C24-1496B5247795}"/>
                </a:ext>
              </a:extLst>
            </p:cNvPr>
            <p:cNvCxnSpPr>
              <a:cxnSpLocks/>
            </p:cNvCxnSpPr>
            <p:nvPr/>
          </p:nvCxnSpPr>
          <p:spPr>
            <a:xfrm flipV="1">
              <a:off x="9756000" y="6264000"/>
              <a:ext cx="0" cy="15927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3" name="文本框 612">
                  <a:extLst>
                    <a:ext uri="{FF2B5EF4-FFF2-40B4-BE49-F238E27FC236}">
                      <a16:creationId xmlns:a16="http://schemas.microsoft.com/office/drawing/2014/main" id="{A7E92B51-8841-641E-B45F-504116DBE9FF}"/>
                    </a:ext>
                  </a:extLst>
                </p:cNvPr>
                <p:cNvSpPr txBox="1"/>
                <p:nvPr/>
              </p:nvSpPr>
              <p:spPr>
                <a:xfrm>
                  <a:off x="9468000" y="6408000"/>
                  <a:ext cx="576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D</m:t>
                            </m:r>
                          </m:e>
                          <m:sub>
                            <m:r>
                              <a:rPr lang="en-US" altLang="zh-CN" sz="2400" i="1">
                                <a:solidFill>
                                  <a:schemeClr val="accent5">
                                    <a:lumMod val="75000"/>
                                  </a:schemeClr>
                                </a:solidFill>
                                <a:latin typeface="Cambria Math" panose="02040503050406030204" pitchFamily="18" charset="0"/>
                              </a:rPr>
                              <m:t>0</m:t>
                            </m:r>
                          </m:sub>
                        </m:sSub>
                      </m:oMath>
                    </m:oMathPara>
                  </a14:m>
                  <a:endParaRPr lang="zh-CN" altLang="en-US" sz="2400" dirty="0">
                    <a:solidFill>
                      <a:schemeClr val="accent5">
                        <a:lumMod val="75000"/>
                      </a:schemeClr>
                    </a:solidFill>
                  </a:endParaRPr>
                </a:p>
              </p:txBody>
            </p:sp>
          </mc:Choice>
          <mc:Fallback xmlns="">
            <p:sp>
              <p:nvSpPr>
                <p:cNvPr id="613" name="文本框 612">
                  <a:extLst>
                    <a:ext uri="{FF2B5EF4-FFF2-40B4-BE49-F238E27FC236}">
                      <a16:creationId xmlns:a16="http://schemas.microsoft.com/office/drawing/2014/main" id="{A7E92B51-8841-641E-B45F-504116DBE9FF}"/>
                    </a:ext>
                  </a:extLst>
                </p:cNvPr>
                <p:cNvSpPr txBox="1">
                  <a:spLocks noRot="1" noChangeAspect="1" noMove="1" noResize="1" noEditPoints="1" noAdjustHandles="1" noChangeArrowheads="1" noChangeShapeType="1" noTextEdit="1"/>
                </p:cNvSpPr>
                <p:nvPr/>
              </p:nvSpPr>
              <p:spPr>
                <a:xfrm>
                  <a:off x="9468000" y="6408000"/>
                  <a:ext cx="576000" cy="360000"/>
                </a:xfrm>
                <a:prstGeom prst="rect">
                  <a:avLst/>
                </a:prstGeom>
                <a:blipFill>
                  <a:blip r:embed="rId34"/>
                  <a:stretch>
                    <a:fillRect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2" name="文本框 621">
                  <a:extLst>
                    <a:ext uri="{FF2B5EF4-FFF2-40B4-BE49-F238E27FC236}">
                      <a16:creationId xmlns:a16="http://schemas.microsoft.com/office/drawing/2014/main" id="{31BAD569-C0CD-DF98-CCCF-F67310C804D3}"/>
                    </a:ext>
                  </a:extLst>
                </p:cNvPr>
                <p:cNvSpPr txBox="1"/>
                <p:nvPr/>
              </p:nvSpPr>
              <p:spPr>
                <a:xfrm>
                  <a:off x="9144000" y="5004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I</m:t>
                            </m:r>
                          </m:e>
                          <m:sub>
                            <m:r>
                              <a:rPr lang="en-US" altLang="zh-CN" b="0" i="1" smtClean="0">
                                <a:solidFill>
                                  <a:schemeClr val="tx1"/>
                                </a:solidFill>
                                <a:latin typeface="Cambria Math" panose="02040503050406030204" pitchFamily="18" charset="0"/>
                              </a:rPr>
                              <m:t>1</m:t>
                            </m:r>
                          </m:sub>
                        </m:sSub>
                      </m:oMath>
                    </m:oMathPara>
                  </a14:m>
                  <a:endParaRPr lang="zh-CN" altLang="en-US" dirty="0">
                    <a:solidFill>
                      <a:schemeClr val="tx1"/>
                    </a:solidFill>
                  </a:endParaRPr>
                </a:p>
              </p:txBody>
            </p:sp>
          </mc:Choice>
          <mc:Fallback xmlns="">
            <p:sp>
              <p:nvSpPr>
                <p:cNvPr id="622" name="文本框 621">
                  <a:extLst>
                    <a:ext uri="{FF2B5EF4-FFF2-40B4-BE49-F238E27FC236}">
                      <a16:creationId xmlns:a16="http://schemas.microsoft.com/office/drawing/2014/main" id="{31BAD569-C0CD-DF98-CCCF-F67310C804D3}"/>
                    </a:ext>
                  </a:extLst>
                </p:cNvPr>
                <p:cNvSpPr txBox="1">
                  <a:spLocks noRot="1" noChangeAspect="1" noMove="1" noResize="1" noEditPoints="1" noAdjustHandles="1" noChangeArrowheads="1" noChangeShapeType="1" noTextEdit="1"/>
                </p:cNvSpPr>
                <p:nvPr/>
              </p:nvSpPr>
              <p:spPr>
                <a:xfrm>
                  <a:off x="9144000" y="5004000"/>
                  <a:ext cx="360000" cy="360000"/>
                </a:xfrm>
                <a:prstGeom prst="rect">
                  <a:avLst/>
                </a:prstGeom>
                <a:blipFill>
                  <a:blip r:embed="rId3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4" name="文本框 623">
                  <a:extLst>
                    <a:ext uri="{FF2B5EF4-FFF2-40B4-BE49-F238E27FC236}">
                      <a16:creationId xmlns:a16="http://schemas.microsoft.com/office/drawing/2014/main" id="{6476F007-3604-5139-DE21-9D361A0A7599}"/>
                    </a:ext>
                  </a:extLst>
                </p:cNvPr>
                <p:cNvSpPr txBox="1"/>
                <p:nvPr/>
              </p:nvSpPr>
              <p:spPr>
                <a:xfrm>
                  <a:off x="10332000" y="5004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I</m:t>
                            </m:r>
                          </m:e>
                          <m:sub>
                            <m:r>
                              <a:rPr lang="en-US" altLang="zh-CN" b="0" i="1" smtClean="0">
                                <a:solidFill>
                                  <a:schemeClr val="tx1"/>
                                </a:solidFill>
                                <a:latin typeface="Cambria Math" panose="02040503050406030204" pitchFamily="18" charset="0"/>
                              </a:rPr>
                              <m:t>1</m:t>
                            </m:r>
                            <m:r>
                              <a:rPr lang="en-US" altLang="zh-CN" i="1">
                                <a:latin typeface="Cambria Math" panose="02040503050406030204" pitchFamily="18" charset="0"/>
                              </a:rPr>
                              <m:t>4</m:t>
                            </m:r>
                          </m:sub>
                        </m:sSub>
                      </m:oMath>
                    </m:oMathPara>
                  </a14:m>
                  <a:endParaRPr lang="zh-CN" altLang="en-US" dirty="0">
                    <a:solidFill>
                      <a:schemeClr val="tx1"/>
                    </a:solidFill>
                  </a:endParaRPr>
                </a:p>
              </p:txBody>
            </p:sp>
          </mc:Choice>
          <mc:Fallback xmlns="">
            <p:sp>
              <p:nvSpPr>
                <p:cNvPr id="624" name="文本框 623">
                  <a:extLst>
                    <a:ext uri="{FF2B5EF4-FFF2-40B4-BE49-F238E27FC236}">
                      <a16:creationId xmlns:a16="http://schemas.microsoft.com/office/drawing/2014/main" id="{6476F007-3604-5139-DE21-9D361A0A7599}"/>
                    </a:ext>
                  </a:extLst>
                </p:cNvPr>
                <p:cNvSpPr txBox="1">
                  <a:spLocks noRot="1" noChangeAspect="1" noMove="1" noResize="1" noEditPoints="1" noAdjustHandles="1" noChangeArrowheads="1" noChangeShapeType="1" noTextEdit="1"/>
                </p:cNvSpPr>
                <p:nvPr/>
              </p:nvSpPr>
              <p:spPr>
                <a:xfrm>
                  <a:off x="10332000" y="5004000"/>
                  <a:ext cx="360000" cy="360000"/>
                </a:xfrm>
                <a:prstGeom prst="rect">
                  <a:avLst/>
                </a:prstGeom>
                <a:blipFill>
                  <a:blip r:embed="rId36"/>
                  <a:stretch>
                    <a:fillRect l="-11864"/>
                  </a:stretch>
                </a:blipFill>
              </p:spPr>
              <p:txBody>
                <a:bodyPr/>
                <a:lstStyle/>
                <a:p>
                  <a:r>
                    <a:rPr lang="zh-CN" altLang="en-US">
                      <a:noFill/>
                    </a:rPr>
                    <a:t> </a:t>
                  </a:r>
                </a:p>
              </p:txBody>
            </p:sp>
          </mc:Fallback>
        </mc:AlternateContent>
        <p:grpSp>
          <p:nvGrpSpPr>
            <p:cNvPr id="25" name="组合 24">
              <a:extLst>
                <a:ext uri="{FF2B5EF4-FFF2-40B4-BE49-F238E27FC236}">
                  <a16:creationId xmlns:a16="http://schemas.microsoft.com/office/drawing/2014/main" id="{6904B736-7638-63A1-A5F7-03D0037DB9C9}"/>
                </a:ext>
              </a:extLst>
            </p:cNvPr>
            <p:cNvGrpSpPr/>
            <p:nvPr/>
          </p:nvGrpSpPr>
          <p:grpSpPr>
            <a:xfrm>
              <a:off x="8802000" y="1918800"/>
              <a:ext cx="547200" cy="547200"/>
              <a:chOff x="8074800" y="1965600"/>
              <a:chExt cx="547200" cy="547200"/>
            </a:xfrm>
          </p:grpSpPr>
          <p:cxnSp>
            <p:nvCxnSpPr>
              <p:cNvPr id="26" name="直接连接符 25">
                <a:extLst>
                  <a:ext uri="{FF2B5EF4-FFF2-40B4-BE49-F238E27FC236}">
                    <a16:creationId xmlns:a16="http://schemas.microsoft.com/office/drawing/2014/main" id="{A5E89429-1337-4072-4F86-6B28E17F40B8}"/>
                  </a:ext>
                </a:extLst>
              </p:cNvPr>
              <p:cNvCxnSpPr>
                <a:cxnSpLocks/>
              </p:cNvCxnSpPr>
              <p:nvPr/>
            </p:nvCxnSpPr>
            <p:spPr>
              <a:xfrm>
                <a:off x="8388761" y="2512800"/>
                <a:ext cx="144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8397659A-7C8C-EB93-C7D8-D445DD06506A}"/>
                  </a:ext>
                </a:extLst>
              </p:cNvPr>
              <p:cNvCxnSpPr>
                <a:cxnSpLocks/>
              </p:cNvCxnSpPr>
              <p:nvPr/>
            </p:nvCxnSpPr>
            <p:spPr>
              <a:xfrm>
                <a:off x="8100000" y="1988946"/>
                <a:ext cx="0" cy="39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CC77D802-178D-F961-69D6-8B59C3144616}"/>
                  </a:ext>
                </a:extLst>
              </p:cNvPr>
              <p:cNvCxnSpPr>
                <a:cxnSpLocks/>
              </p:cNvCxnSpPr>
              <p:nvPr/>
            </p:nvCxnSpPr>
            <p:spPr>
              <a:xfrm flipV="1">
                <a:off x="8460000" y="2242800"/>
                <a:ext cx="0" cy="27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0E63632F-CA8C-8289-2FD3-B0C0C3786E12}"/>
                  </a:ext>
                </a:extLst>
              </p:cNvPr>
              <p:cNvCxnSpPr>
                <a:cxnSpLocks/>
              </p:cNvCxnSpPr>
              <p:nvPr/>
            </p:nvCxnSpPr>
            <p:spPr>
              <a:xfrm>
                <a:off x="8100000" y="2386800"/>
                <a:ext cx="9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05AA04F8-D64E-B42E-9692-EA313914D9D8}"/>
                  </a:ext>
                </a:extLst>
              </p:cNvPr>
              <p:cNvCxnSpPr>
                <a:cxnSpLocks/>
              </p:cNvCxnSpPr>
              <p:nvPr/>
            </p:nvCxnSpPr>
            <p:spPr>
              <a:xfrm flipH="1">
                <a:off x="8280000" y="2242800"/>
                <a:ext cx="180000" cy="0"/>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3A81C0F8-4C02-480A-C9EE-340E12916003}"/>
                  </a:ext>
                </a:extLst>
              </p:cNvPr>
              <p:cNvCxnSpPr>
                <a:cxnSpLocks/>
              </p:cNvCxnSpPr>
              <p:nvPr/>
            </p:nvCxnSpPr>
            <p:spPr>
              <a:xfrm flipV="1">
                <a:off x="8190000" y="20988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810E5C86-3EC5-557C-263C-9470520EB616}"/>
                  </a:ext>
                </a:extLst>
              </p:cNvPr>
              <p:cNvCxnSpPr>
                <a:cxnSpLocks/>
              </p:cNvCxnSpPr>
              <p:nvPr/>
            </p:nvCxnSpPr>
            <p:spPr>
              <a:xfrm flipV="1">
                <a:off x="8280000" y="2386800"/>
                <a:ext cx="18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8508FD60-0915-AD75-D74D-A34E865472F6}"/>
                  </a:ext>
                </a:extLst>
              </p:cNvPr>
              <p:cNvCxnSpPr>
                <a:cxnSpLocks/>
              </p:cNvCxnSpPr>
              <p:nvPr/>
            </p:nvCxnSpPr>
            <p:spPr>
              <a:xfrm>
                <a:off x="8280000" y="2098800"/>
                <a:ext cx="32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8FE8075-41C3-0935-5CFF-0607614E0056}"/>
                  </a:ext>
                </a:extLst>
              </p:cNvPr>
              <p:cNvCxnSpPr>
                <a:cxnSpLocks/>
              </p:cNvCxnSpPr>
              <p:nvPr/>
            </p:nvCxnSpPr>
            <p:spPr>
              <a:xfrm flipV="1">
                <a:off x="8280000" y="2347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1FDEA235-AD73-BD6F-849D-C51C246A122D}"/>
                  </a:ext>
                </a:extLst>
              </p:cNvPr>
              <p:cNvCxnSpPr>
                <a:cxnSpLocks/>
              </p:cNvCxnSpPr>
              <p:nvPr/>
            </p:nvCxnSpPr>
            <p:spPr>
              <a:xfrm flipV="1">
                <a:off x="8280000" y="2203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C51123E2-E335-DEA3-B11D-375B281DA26D}"/>
                  </a:ext>
                </a:extLst>
              </p:cNvPr>
              <p:cNvCxnSpPr>
                <a:cxnSpLocks/>
              </p:cNvCxnSpPr>
              <p:nvPr/>
            </p:nvCxnSpPr>
            <p:spPr>
              <a:xfrm flipV="1">
                <a:off x="8280000" y="2059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椭圆 36">
                <a:extLst>
                  <a:ext uri="{FF2B5EF4-FFF2-40B4-BE49-F238E27FC236}">
                    <a16:creationId xmlns:a16="http://schemas.microsoft.com/office/drawing/2014/main" id="{D4FE9216-BA0C-7D70-1EAE-9E59A34E79C9}"/>
                  </a:ext>
                </a:extLst>
              </p:cNvPr>
              <p:cNvSpPr/>
              <p:nvPr/>
            </p:nvSpPr>
            <p:spPr>
              <a:xfrm flipH="1">
                <a:off x="8434800" y="2361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8" name="椭圆 37">
                <a:extLst>
                  <a:ext uri="{FF2B5EF4-FFF2-40B4-BE49-F238E27FC236}">
                    <a16:creationId xmlns:a16="http://schemas.microsoft.com/office/drawing/2014/main" id="{C2729B0E-8EC4-4012-4DD7-03560BFB45A2}"/>
                  </a:ext>
                </a:extLst>
              </p:cNvPr>
              <p:cNvSpPr/>
              <p:nvPr/>
            </p:nvSpPr>
            <p:spPr>
              <a:xfrm flipH="1">
                <a:off x="8571600" y="2073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9" name="椭圆 38">
                <a:extLst>
                  <a:ext uri="{FF2B5EF4-FFF2-40B4-BE49-F238E27FC236}">
                    <a16:creationId xmlns:a16="http://schemas.microsoft.com/office/drawing/2014/main" id="{B60EA6EB-8D35-18DA-9008-361F6937ECC3}"/>
                  </a:ext>
                </a:extLst>
              </p:cNvPr>
              <p:cNvSpPr/>
              <p:nvPr/>
            </p:nvSpPr>
            <p:spPr>
              <a:xfrm flipH="1">
                <a:off x="8074800" y="1965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grpSp>
          <p:nvGrpSpPr>
            <p:cNvPr id="40" name="组合 39">
              <a:extLst>
                <a:ext uri="{FF2B5EF4-FFF2-40B4-BE49-F238E27FC236}">
                  <a16:creationId xmlns:a16="http://schemas.microsoft.com/office/drawing/2014/main" id="{CC3E5EE2-86BC-5027-4500-B94672ED9819}"/>
                </a:ext>
              </a:extLst>
            </p:cNvPr>
            <p:cNvGrpSpPr/>
            <p:nvPr/>
          </p:nvGrpSpPr>
          <p:grpSpPr>
            <a:xfrm>
              <a:off x="10710000" y="1918800"/>
              <a:ext cx="547200" cy="547200"/>
              <a:chOff x="8074800" y="1965600"/>
              <a:chExt cx="547200" cy="547200"/>
            </a:xfrm>
          </p:grpSpPr>
          <p:cxnSp>
            <p:nvCxnSpPr>
              <p:cNvPr id="41" name="直接连接符 40">
                <a:extLst>
                  <a:ext uri="{FF2B5EF4-FFF2-40B4-BE49-F238E27FC236}">
                    <a16:creationId xmlns:a16="http://schemas.microsoft.com/office/drawing/2014/main" id="{47BEAE35-2E15-7ADB-C641-E555DC15BB7B}"/>
                  </a:ext>
                </a:extLst>
              </p:cNvPr>
              <p:cNvCxnSpPr>
                <a:cxnSpLocks/>
              </p:cNvCxnSpPr>
              <p:nvPr/>
            </p:nvCxnSpPr>
            <p:spPr>
              <a:xfrm>
                <a:off x="8388761" y="2512800"/>
                <a:ext cx="144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FA94EC9F-78F7-D865-0ACA-98629BF6BE5B}"/>
                  </a:ext>
                </a:extLst>
              </p:cNvPr>
              <p:cNvCxnSpPr>
                <a:cxnSpLocks/>
              </p:cNvCxnSpPr>
              <p:nvPr/>
            </p:nvCxnSpPr>
            <p:spPr>
              <a:xfrm>
                <a:off x="8100000" y="1988946"/>
                <a:ext cx="0" cy="39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BDCEDE7B-5AB2-DFC2-FCD4-8AEB98F6AF0A}"/>
                  </a:ext>
                </a:extLst>
              </p:cNvPr>
              <p:cNvCxnSpPr>
                <a:cxnSpLocks/>
              </p:cNvCxnSpPr>
              <p:nvPr/>
            </p:nvCxnSpPr>
            <p:spPr>
              <a:xfrm flipV="1">
                <a:off x="8460000" y="2242800"/>
                <a:ext cx="0" cy="27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B52FA4BD-4B8B-3C4F-2E28-8B727EC2A7DB}"/>
                  </a:ext>
                </a:extLst>
              </p:cNvPr>
              <p:cNvCxnSpPr>
                <a:cxnSpLocks/>
              </p:cNvCxnSpPr>
              <p:nvPr/>
            </p:nvCxnSpPr>
            <p:spPr>
              <a:xfrm>
                <a:off x="8100000" y="2386800"/>
                <a:ext cx="9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539BBF90-52AE-67EA-3DAF-18CEBBA89DBA}"/>
                  </a:ext>
                </a:extLst>
              </p:cNvPr>
              <p:cNvCxnSpPr>
                <a:cxnSpLocks/>
              </p:cNvCxnSpPr>
              <p:nvPr/>
            </p:nvCxnSpPr>
            <p:spPr>
              <a:xfrm flipH="1">
                <a:off x="8280000" y="2242800"/>
                <a:ext cx="180000" cy="0"/>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D62305BE-FF2A-2A22-2B98-67D29E5DCDC2}"/>
                  </a:ext>
                </a:extLst>
              </p:cNvPr>
              <p:cNvCxnSpPr>
                <a:cxnSpLocks/>
              </p:cNvCxnSpPr>
              <p:nvPr/>
            </p:nvCxnSpPr>
            <p:spPr>
              <a:xfrm flipV="1">
                <a:off x="8190000" y="20988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0AD4516D-769C-9CC4-BD35-43B7D6150595}"/>
                  </a:ext>
                </a:extLst>
              </p:cNvPr>
              <p:cNvCxnSpPr>
                <a:cxnSpLocks/>
              </p:cNvCxnSpPr>
              <p:nvPr/>
            </p:nvCxnSpPr>
            <p:spPr>
              <a:xfrm flipV="1">
                <a:off x="8280000" y="2386800"/>
                <a:ext cx="18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DBD28819-A921-A8C8-B7DD-1753F9B9E7C2}"/>
                  </a:ext>
                </a:extLst>
              </p:cNvPr>
              <p:cNvCxnSpPr>
                <a:cxnSpLocks/>
              </p:cNvCxnSpPr>
              <p:nvPr/>
            </p:nvCxnSpPr>
            <p:spPr>
              <a:xfrm>
                <a:off x="8280000" y="2098800"/>
                <a:ext cx="32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3659C821-8C1F-BD91-E946-0AE2E6F1DB91}"/>
                  </a:ext>
                </a:extLst>
              </p:cNvPr>
              <p:cNvCxnSpPr>
                <a:cxnSpLocks/>
              </p:cNvCxnSpPr>
              <p:nvPr/>
            </p:nvCxnSpPr>
            <p:spPr>
              <a:xfrm flipV="1">
                <a:off x="8280000" y="2347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707E6B4D-3C89-5E2A-2388-55EC2CCC794B}"/>
                  </a:ext>
                </a:extLst>
              </p:cNvPr>
              <p:cNvCxnSpPr>
                <a:cxnSpLocks/>
              </p:cNvCxnSpPr>
              <p:nvPr/>
            </p:nvCxnSpPr>
            <p:spPr>
              <a:xfrm flipV="1">
                <a:off x="8280000" y="2203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E09C3AC9-E3EB-F0EE-66DA-F90E8905C66B}"/>
                  </a:ext>
                </a:extLst>
              </p:cNvPr>
              <p:cNvCxnSpPr>
                <a:cxnSpLocks/>
              </p:cNvCxnSpPr>
              <p:nvPr/>
            </p:nvCxnSpPr>
            <p:spPr>
              <a:xfrm flipV="1">
                <a:off x="8280000" y="2059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椭圆 51">
                <a:extLst>
                  <a:ext uri="{FF2B5EF4-FFF2-40B4-BE49-F238E27FC236}">
                    <a16:creationId xmlns:a16="http://schemas.microsoft.com/office/drawing/2014/main" id="{3095C34D-54F8-F04F-CF31-7976DCFFAEE1}"/>
                  </a:ext>
                </a:extLst>
              </p:cNvPr>
              <p:cNvSpPr/>
              <p:nvPr/>
            </p:nvSpPr>
            <p:spPr>
              <a:xfrm flipH="1">
                <a:off x="8434800" y="2361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53" name="椭圆 52">
                <a:extLst>
                  <a:ext uri="{FF2B5EF4-FFF2-40B4-BE49-F238E27FC236}">
                    <a16:creationId xmlns:a16="http://schemas.microsoft.com/office/drawing/2014/main" id="{09AC74A9-4D2C-B6AA-DB7F-E08D637DB50B}"/>
                  </a:ext>
                </a:extLst>
              </p:cNvPr>
              <p:cNvSpPr/>
              <p:nvPr/>
            </p:nvSpPr>
            <p:spPr>
              <a:xfrm flipH="1">
                <a:off x="8571600" y="2073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54" name="椭圆 53">
                <a:extLst>
                  <a:ext uri="{FF2B5EF4-FFF2-40B4-BE49-F238E27FC236}">
                    <a16:creationId xmlns:a16="http://schemas.microsoft.com/office/drawing/2014/main" id="{540DE20C-1F80-6348-F7F5-23EB5282F1A2}"/>
                  </a:ext>
                </a:extLst>
              </p:cNvPr>
              <p:cNvSpPr/>
              <p:nvPr/>
            </p:nvSpPr>
            <p:spPr>
              <a:xfrm flipH="1">
                <a:off x="8074800" y="1965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grpSp>
          <p:nvGrpSpPr>
            <p:cNvPr id="55" name="组合 54">
              <a:extLst>
                <a:ext uri="{FF2B5EF4-FFF2-40B4-BE49-F238E27FC236}">
                  <a16:creationId xmlns:a16="http://schemas.microsoft.com/office/drawing/2014/main" id="{6D517379-09F2-C9E5-DC1A-460C93E41E27}"/>
                </a:ext>
              </a:extLst>
            </p:cNvPr>
            <p:cNvGrpSpPr/>
            <p:nvPr/>
          </p:nvGrpSpPr>
          <p:grpSpPr>
            <a:xfrm>
              <a:off x="8802000" y="2566800"/>
              <a:ext cx="547200" cy="547200"/>
              <a:chOff x="8074800" y="1965600"/>
              <a:chExt cx="547200" cy="547200"/>
            </a:xfrm>
          </p:grpSpPr>
          <p:cxnSp>
            <p:nvCxnSpPr>
              <p:cNvPr id="56" name="直接连接符 55">
                <a:extLst>
                  <a:ext uri="{FF2B5EF4-FFF2-40B4-BE49-F238E27FC236}">
                    <a16:creationId xmlns:a16="http://schemas.microsoft.com/office/drawing/2014/main" id="{37CC77AE-E853-7CF3-C7AD-E127879AAE26}"/>
                  </a:ext>
                </a:extLst>
              </p:cNvPr>
              <p:cNvCxnSpPr>
                <a:cxnSpLocks/>
              </p:cNvCxnSpPr>
              <p:nvPr/>
            </p:nvCxnSpPr>
            <p:spPr>
              <a:xfrm>
                <a:off x="8388761" y="2512800"/>
                <a:ext cx="144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E7C720C8-4FD2-C7DA-3892-867F316F7961}"/>
                  </a:ext>
                </a:extLst>
              </p:cNvPr>
              <p:cNvCxnSpPr>
                <a:cxnSpLocks/>
              </p:cNvCxnSpPr>
              <p:nvPr/>
            </p:nvCxnSpPr>
            <p:spPr>
              <a:xfrm>
                <a:off x="8100000" y="1988946"/>
                <a:ext cx="0" cy="39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49802201-E92E-64AC-74C5-A3F51AD3D609}"/>
                  </a:ext>
                </a:extLst>
              </p:cNvPr>
              <p:cNvCxnSpPr>
                <a:cxnSpLocks/>
              </p:cNvCxnSpPr>
              <p:nvPr/>
            </p:nvCxnSpPr>
            <p:spPr>
              <a:xfrm flipV="1">
                <a:off x="8460000" y="2242800"/>
                <a:ext cx="0" cy="27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DE82946C-EAD3-819A-8A56-156493EB1E4C}"/>
                  </a:ext>
                </a:extLst>
              </p:cNvPr>
              <p:cNvCxnSpPr>
                <a:cxnSpLocks/>
              </p:cNvCxnSpPr>
              <p:nvPr/>
            </p:nvCxnSpPr>
            <p:spPr>
              <a:xfrm>
                <a:off x="8100000" y="2386800"/>
                <a:ext cx="9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6916E945-AE21-A26D-2ED0-630429861CE0}"/>
                  </a:ext>
                </a:extLst>
              </p:cNvPr>
              <p:cNvCxnSpPr>
                <a:cxnSpLocks/>
              </p:cNvCxnSpPr>
              <p:nvPr/>
            </p:nvCxnSpPr>
            <p:spPr>
              <a:xfrm flipH="1">
                <a:off x="8280000" y="2242800"/>
                <a:ext cx="180000" cy="0"/>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37BAA7A4-E190-7500-AC6B-C492D044D780}"/>
                  </a:ext>
                </a:extLst>
              </p:cNvPr>
              <p:cNvCxnSpPr>
                <a:cxnSpLocks/>
              </p:cNvCxnSpPr>
              <p:nvPr/>
            </p:nvCxnSpPr>
            <p:spPr>
              <a:xfrm flipV="1">
                <a:off x="8190000" y="20988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8B725919-CA13-15A2-A806-1299153C26C4}"/>
                  </a:ext>
                </a:extLst>
              </p:cNvPr>
              <p:cNvCxnSpPr>
                <a:cxnSpLocks/>
              </p:cNvCxnSpPr>
              <p:nvPr/>
            </p:nvCxnSpPr>
            <p:spPr>
              <a:xfrm flipV="1">
                <a:off x="8280000" y="2386800"/>
                <a:ext cx="18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58966F40-6417-F30B-15F6-EB69976397FD}"/>
                  </a:ext>
                </a:extLst>
              </p:cNvPr>
              <p:cNvCxnSpPr>
                <a:cxnSpLocks/>
              </p:cNvCxnSpPr>
              <p:nvPr/>
            </p:nvCxnSpPr>
            <p:spPr>
              <a:xfrm>
                <a:off x="8280000" y="2098800"/>
                <a:ext cx="32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6" name="直接连接符 535">
                <a:extLst>
                  <a:ext uri="{FF2B5EF4-FFF2-40B4-BE49-F238E27FC236}">
                    <a16:creationId xmlns:a16="http://schemas.microsoft.com/office/drawing/2014/main" id="{84B39728-71BA-511F-B866-2C79B482BC97}"/>
                  </a:ext>
                </a:extLst>
              </p:cNvPr>
              <p:cNvCxnSpPr>
                <a:cxnSpLocks/>
              </p:cNvCxnSpPr>
              <p:nvPr/>
            </p:nvCxnSpPr>
            <p:spPr>
              <a:xfrm flipV="1">
                <a:off x="8280000" y="2347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7" name="直接连接符 536">
                <a:extLst>
                  <a:ext uri="{FF2B5EF4-FFF2-40B4-BE49-F238E27FC236}">
                    <a16:creationId xmlns:a16="http://schemas.microsoft.com/office/drawing/2014/main" id="{D86FFDD0-0FA2-7F32-D766-E66E92B65C0C}"/>
                  </a:ext>
                </a:extLst>
              </p:cNvPr>
              <p:cNvCxnSpPr>
                <a:cxnSpLocks/>
              </p:cNvCxnSpPr>
              <p:nvPr/>
            </p:nvCxnSpPr>
            <p:spPr>
              <a:xfrm flipV="1">
                <a:off x="8280000" y="2203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8" name="直接连接符 537">
                <a:extLst>
                  <a:ext uri="{FF2B5EF4-FFF2-40B4-BE49-F238E27FC236}">
                    <a16:creationId xmlns:a16="http://schemas.microsoft.com/office/drawing/2014/main" id="{DD815795-E198-D0D3-A0BA-BD8D0101BB37}"/>
                  </a:ext>
                </a:extLst>
              </p:cNvPr>
              <p:cNvCxnSpPr>
                <a:cxnSpLocks/>
              </p:cNvCxnSpPr>
              <p:nvPr/>
            </p:nvCxnSpPr>
            <p:spPr>
              <a:xfrm flipV="1">
                <a:off x="8280000" y="2059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39" name="椭圆 538">
                <a:extLst>
                  <a:ext uri="{FF2B5EF4-FFF2-40B4-BE49-F238E27FC236}">
                    <a16:creationId xmlns:a16="http://schemas.microsoft.com/office/drawing/2014/main" id="{BAE6F58B-5F25-1706-8468-7B2BE34339BE}"/>
                  </a:ext>
                </a:extLst>
              </p:cNvPr>
              <p:cNvSpPr/>
              <p:nvPr/>
            </p:nvSpPr>
            <p:spPr>
              <a:xfrm flipH="1">
                <a:off x="8434800" y="2361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540" name="椭圆 539">
                <a:extLst>
                  <a:ext uri="{FF2B5EF4-FFF2-40B4-BE49-F238E27FC236}">
                    <a16:creationId xmlns:a16="http://schemas.microsoft.com/office/drawing/2014/main" id="{755D91BE-B4C2-FC64-405F-0E73CAFE2F8E}"/>
                  </a:ext>
                </a:extLst>
              </p:cNvPr>
              <p:cNvSpPr/>
              <p:nvPr/>
            </p:nvSpPr>
            <p:spPr>
              <a:xfrm flipH="1">
                <a:off x="8571600" y="2073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541" name="椭圆 540">
                <a:extLst>
                  <a:ext uri="{FF2B5EF4-FFF2-40B4-BE49-F238E27FC236}">
                    <a16:creationId xmlns:a16="http://schemas.microsoft.com/office/drawing/2014/main" id="{12C14450-74B1-1691-0BC9-C5DE19D873F2}"/>
                  </a:ext>
                </a:extLst>
              </p:cNvPr>
              <p:cNvSpPr/>
              <p:nvPr/>
            </p:nvSpPr>
            <p:spPr>
              <a:xfrm flipH="1">
                <a:off x="8074800" y="1965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grpSp>
          <p:nvGrpSpPr>
            <p:cNvPr id="542" name="组合 541">
              <a:extLst>
                <a:ext uri="{FF2B5EF4-FFF2-40B4-BE49-F238E27FC236}">
                  <a16:creationId xmlns:a16="http://schemas.microsoft.com/office/drawing/2014/main" id="{333D65C1-3EE7-9F98-2D58-53A5773AEF35}"/>
                </a:ext>
              </a:extLst>
            </p:cNvPr>
            <p:cNvGrpSpPr/>
            <p:nvPr/>
          </p:nvGrpSpPr>
          <p:grpSpPr>
            <a:xfrm>
              <a:off x="9990000" y="2566800"/>
              <a:ext cx="547200" cy="547200"/>
              <a:chOff x="8074800" y="1965600"/>
              <a:chExt cx="547200" cy="547200"/>
            </a:xfrm>
          </p:grpSpPr>
          <p:cxnSp>
            <p:nvCxnSpPr>
              <p:cNvPr id="543" name="直接连接符 542">
                <a:extLst>
                  <a:ext uri="{FF2B5EF4-FFF2-40B4-BE49-F238E27FC236}">
                    <a16:creationId xmlns:a16="http://schemas.microsoft.com/office/drawing/2014/main" id="{EB93D89A-094F-53B3-E491-19A695E0961E}"/>
                  </a:ext>
                </a:extLst>
              </p:cNvPr>
              <p:cNvCxnSpPr>
                <a:cxnSpLocks/>
              </p:cNvCxnSpPr>
              <p:nvPr/>
            </p:nvCxnSpPr>
            <p:spPr>
              <a:xfrm>
                <a:off x="8388761" y="2512800"/>
                <a:ext cx="144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6" name="直接连接符 545">
                <a:extLst>
                  <a:ext uri="{FF2B5EF4-FFF2-40B4-BE49-F238E27FC236}">
                    <a16:creationId xmlns:a16="http://schemas.microsoft.com/office/drawing/2014/main" id="{5C19B212-EA0F-F6FA-1BAA-DD8BA0123321}"/>
                  </a:ext>
                </a:extLst>
              </p:cNvPr>
              <p:cNvCxnSpPr>
                <a:cxnSpLocks/>
              </p:cNvCxnSpPr>
              <p:nvPr/>
            </p:nvCxnSpPr>
            <p:spPr>
              <a:xfrm>
                <a:off x="8100000" y="1988946"/>
                <a:ext cx="0" cy="39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7" name="直接连接符 546">
                <a:extLst>
                  <a:ext uri="{FF2B5EF4-FFF2-40B4-BE49-F238E27FC236}">
                    <a16:creationId xmlns:a16="http://schemas.microsoft.com/office/drawing/2014/main" id="{ACB0B69D-11F7-D11F-DC7F-29A475659F9D}"/>
                  </a:ext>
                </a:extLst>
              </p:cNvPr>
              <p:cNvCxnSpPr>
                <a:cxnSpLocks/>
              </p:cNvCxnSpPr>
              <p:nvPr/>
            </p:nvCxnSpPr>
            <p:spPr>
              <a:xfrm flipV="1">
                <a:off x="8460000" y="2242800"/>
                <a:ext cx="0" cy="27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8" name="直接连接符 547">
                <a:extLst>
                  <a:ext uri="{FF2B5EF4-FFF2-40B4-BE49-F238E27FC236}">
                    <a16:creationId xmlns:a16="http://schemas.microsoft.com/office/drawing/2014/main" id="{AB54EDC9-CAF1-0602-3D7C-179416A35026}"/>
                  </a:ext>
                </a:extLst>
              </p:cNvPr>
              <p:cNvCxnSpPr>
                <a:cxnSpLocks/>
              </p:cNvCxnSpPr>
              <p:nvPr/>
            </p:nvCxnSpPr>
            <p:spPr>
              <a:xfrm>
                <a:off x="8100000" y="2386800"/>
                <a:ext cx="9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9" name="直接箭头连接符 548">
                <a:extLst>
                  <a:ext uri="{FF2B5EF4-FFF2-40B4-BE49-F238E27FC236}">
                    <a16:creationId xmlns:a16="http://schemas.microsoft.com/office/drawing/2014/main" id="{3F2F540D-C456-E188-53B8-ADD80EC1A8C1}"/>
                  </a:ext>
                </a:extLst>
              </p:cNvPr>
              <p:cNvCxnSpPr>
                <a:cxnSpLocks/>
              </p:cNvCxnSpPr>
              <p:nvPr/>
            </p:nvCxnSpPr>
            <p:spPr>
              <a:xfrm flipH="1">
                <a:off x="8280000" y="2242800"/>
                <a:ext cx="180000" cy="0"/>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550" name="直接连接符 549">
                <a:extLst>
                  <a:ext uri="{FF2B5EF4-FFF2-40B4-BE49-F238E27FC236}">
                    <a16:creationId xmlns:a16="http://schemas.microsoft.com/office/drawing/2014/main" id="{D56BEC85-7EF2-9E97-92DD-C639E6240038}"/>
                  </a:ext>
                </a:extLst>
              </p:cNvPr>
              <p:cNvCxnSpPr>
                <a:cxnSpLocks/>
              </p:cNvCxnSpPr>
              <p:nvPr/>
            </p:nvCxnSpPr>
            <p:spPr>
              <a:xfrm flipV="1">
                <a:off x="8190000" y="20988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5" name="直接连接符 554">
                <a:extLst>
                  <a:ext uri="{FF2B5EF4-FFF2-40B4-BE49-F238E27FC236}">
                    <a16:creationId xmlns:a16="http://schemas.microsoft.com/office/drawing/2014/main" id="{DF066D1C-0373-6EF6-AE43-CF5E9CAB1C68}"/>
                  </a:ext>
                </a:extLst>
              </p:cNvPr>
              <p:cNvCxnSpPr>
                <a:cxnSpLocks/>
              </p:cNvCxnSpPr>
              <p:nvPr/>
            </p:nvCxnSpPr>
            <p:spPr>
              <a:xfrm flipV="1">
                <a:off x="8280000" y="2386800"/>
                <a:ext cx="18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6" name="直接连接符 555">
                <a:extLst>
                  <a:ext uri="{FF2B5EF4-FFF2-40B4-BE49-F238E27FC236}">
                    <a16:creationId xmlns:a16="http://schemas.microsoft.com/office/drawing/2014/main" id="{4AC4AF03-F18D-59BC-9227-E3FD11970815}"/>
                  </a:ext>
                </a:extLst>
              </p:cNvPr>
              <p:cNvCxnSpPr>
                <a:cxnSpLocks/>
              </p:cNvCxnSpPr>
              <p:nvPr/>
            </p:nvCxnSpPr>
            <p:spPr>
              <a:xfrm>
                <a:off x="8280000" y="2098800"/>
                <a:ext cx="32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9" name="直接连接符 558">
                <a:extLst>
                  <a:ext uri="{FF2B5EF4-FFF2-40B4-BE49-F238E27FC236}">
                    <a16:creationId xmlns:a16="http://schemas.microsoft.com/office/drawing/2014/main" id="{85234F2B-7D42-CE71-FE2F-61F630022BD8}"/>
                  </a:ext>
                </a:extLst>
              </p:cNvPr>
              <p:cNvCxnSpPr>
                <a:cxnSpLocks/>
              </p:cNvCxnSpPr>
              <p:nvPr/>
            </p:nvCxnSpPr>
            <p:spPr>
              <a:xfrm flipV="1">
                <a:off x="8280000" y="2347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0" name="直接连接符 559">
                <a:extLst>
                  <a:ext uri="{FF2B5EF4-FFF2-40B4-BE49-F238E27FC236}">
                    <a16:creationId xmlns:a16="http://schemas.microsoft.com/office/drawing/2014/main" id="{81F8ABC4-1173-A6BD-E71E-C8B74BA6EA04}"/>
                  </a:ext>
                </a:extLst>
              </p:cNvPr>
              <p:cNvCxnSpPr>
                <a:cxnSpLocks/>
              </p:cNvCxnSpPr>
              <p:nvPr/>
            </p:nvCxnSpPr>
            <p:spPr>
              <a:xfrm flipV="1">
                <a:off x="8280000" y="2203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1" name="直接连接符 560">
                <a:extLst>
                  <a:ext uri="{FF2B5EF4-FFF2-40B4-BE49-F238E27FC236}">
                    <a16:creationId xmlns:a16="http://schemas.microsoft.com/office/drawing/2014/main" id="{55E6E9B9-98F6-1D77-3DB2-3CDCA9EF1D70}"/>
                  </a:ext>
                </a:extLst>
              </p:cNvPr>
              <p:cNvCxnSpPr>
                <a:cxnSpLocks/>
              </p:cNvCxnSpPr>
              <p:nvPr/>
            </p:nvCxnSpPr>
            <p:spPr>
              <a:xfrm flipV="1">
                <a:off x="8280000" y="2059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62" name="椭圆 561">
                <a:extLst>
                  <a:ext uri="{FF2B5EF4-FFF2-40B4-BE49-F238E27FC236}">
                    <a16:creationId xmlns:a16="http://schemas.microsoft.com/office/drawing/2014/main" id="{2904204A-3B80-D455-335C-7F646D055394}"/>
                  </a:ext>
                </a:extLst>
              </p:cNvPr>
              <p:cNvSpPr/>
              <p:nvPr/>
            </p:nvSpPr>
            <p:spPr>
              <a:xfrm flipH="1">
                <a:off x="8434800" y="2361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563" name="椭圆 562">
                <a:extLst>
                  <a:ext uri="{FF2B5EF4-FFF2-40B4-BE49-F238E27FC236}">
                    <a16:creationId xmlns:a16="http://schemas.microsoft.com/office/drawing/2014/main" id="{864BAB28-4E3D-2741-0C7A-75FFB5DE0AEF}"/>
                  </a:ext>
                </a:extLst>
              </p:cNvPr>
              <p:cNvSpPr/>
              <p:nvPr/>
            </p:nvSpPr>
            <p:spPr>
              <a:xfrm flipH="1">
                <a:off x="8571600" y="2073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564" name="椭圆 563">
                <a:extLst>
                  <a:ext uri="{FF2B5EF4-FFF2-40B4-BE49-F238E27FC236}">
                    <a16:creationId xmlns:a16="http://schemas.microsoft.com/office/drawing/2014/main" id="{57A86A7C-55F7-BC7F-2AA9-F757A550CD32}"/>
                  </a:ext>
                </a:extLst>
              </p:cNvPr>
              <p:cNvSpPr/>
              <p:nvPr/>
            </p:nvSpPr>
            <p:spPr>
              <a:xfrm flipH="1">
                <a:off x="8074800" y="1965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grpSp>
          <p:nvGrpSpPr>
            <p:cNvPr id="565" name="组合 564">
              <a:extLst>
                <a:ext uri="{FF2B5EF4-FFF2-40B4-BE49-F238E27FC236}">
                  <a16:creationId xmlns:a16="http://schemas.microsoft.com/office/drawing/2014/main" id="{70B24361-1C93-3EAF-31FC-6C9F8E9D65F1}"/>
                </a:ext>
              </a:extLst>
            </p:cNvPr>
            <p:cNvGrpSpPr/>
            <p:nvPr/>
          </p:nvGrpSpPr>
          <p:grpSpPr>
            <a:xfrm>
              <a:off x="10710000" y="3610800"/>
              <a:ext cx="547200" cy="547200"/>
              <a:chOff x="8074800" y="1965600"/>
              <a:chExt cx="547200" cy="547200"/>
            </a:xfrm>
          </p:grpSpPr>
          <p:cxnSp>
            <p:nvCxnSpPr>
              <p:cNvPr id="566" name="直接连接符 565">
                <a:extLst>
                  <a:ext uri="{FF2B5EF4-FFF2-40B4-BE49-F238E27FC236}">
                    <a16:creationId xmlns:a16="http://schemas.microsoft.com/office/drawing/2014/main" id="{B41EE977-B7F3-6EE8-391C-66B963CCF742}"/>
                  </a:ext>
                </a:extLst>
              </p:cNvPr>
              <p:cNvCxnSpPr>
                <a:cxnSpLocks/>
              </p:cNvCxnSpPr>
              <p:nvPr/>
            </p:nvCxnSpPr>
            <p:spPr>
              <a:xfrm>
                <a:off x="8388761" y="2512800"/>
                <a:ext cx="144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0" name="直接连接符 569">
                <a:extLst>
                  <a:ext uri="{FF2B5EF4-FFF2-40B4-BE49-F238E27FC236}">
                    <a16:creationId xmlns:a16="http://schemas.microsoft.com/office/drawing/2014/main" id="{B630E21D-7CB5-3A8C-DC9F-11D3E2472FAB}"/>
                  </a:ext>
                </a:extLst>
              </p:cNvPr>
              <p:cNvCxnSpPr>
                <a:cxnSpLocks/>
              </p:cNvCxnSpPr>
              <p:nvPr/>
            </p:nvCxnSpPr>
            <p:spPr>
              <a:xfrm>
                <a:off x="8100000" y="1988946"/>
                <a:ext cx="0" cy="39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1" name="直接连接符 570">
                <a:extLst>
                  <a:ext uri="{FF2B5EF4-FFF2-40B4-BE49-F238E27FC236}">
                    <a16:creationId xmlns:a16="http://schemas.microsoft.com/office/drawing/2014/main" id="{E6E45B81-867C-B53E-C16A-DA1FDCFC77EC}"/>
                  </a:ext>
                </a:extLst>
              </p:cNvPr>
              <p:cNvCxnSpPr>
                <a:cxnSpLocks/>
              </p:cNvCxnSpPr>
              <p:nvPr/>
            </p:nvCxnSpPr>
            <p:spPr>
              <a:xfrm flipV="1">
                <a:off x="8460000" y="2242800"/>
                <a:ext cx="0" cy="27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2" name="直接连接符 571">
                <a:extLst>
                  <a:ext uri="{FF2B5EF4-FFF2-40B4-BE49-F238E27FC236}">
                    <a16:creationId xmlns:a16="http://schemas.microsoft.com/office/drawing/2014/main" id="{07A1860B-F151-855D-4AAE-BA939A337C98}"/>
                  </a:ext>
                </a:extLst>
              </p:cNvPr>
              <p:cNvCxnSpPr>
                <a:cxnSpLocks/>
              </p:cNvCxnSpPr>
              <p:nvPr/>
            </p:nvCxnSpPr>
            <p:spPr>
              <a:xfrm>
                <a:off x="8100000" y="2386800"/>
                <a:ext cx="9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3" name="直接箭头连接符 572">
                <a:extLst>
                  <a:ext uri="{FF2B5EF4-FFF2-40B4-BE49-F238E27FC236}">
                    <a16:creationId xmlns:a16="http://schemas.microsoft.com/office/drawing/2014/main" id="{15A2BB9E-0B7E-8B83-A617-3360BCCC4899}"/>
                  </a:ext>
                </a:extLst>
              </p:cNvPr>
              <p:cNvCxnSpPr>
                <a:cxnSpLocks/>
              </p:cNvCxnSpPr>
              <p:nvPr/>
            </p:nvCxnSpPr>
            <p:spPr>
              <a:xfrm flipH="1">
                <a:off x="8280000" y="2242800"/>
                <a:ext cx="180000" cy="0"/>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574" name="直接连接符 573">
                <a:extLst>
                  <a:ext uri="{FF2B5EF4-FFF2-40B4-BE49-F238E27FC236}">
                    <a16:creationId xmlns:a16="http://schemas.microsoft.com/office/drawing/2014/main" id="{31EF7177-EB2F-725D-870F-AD750F2D2AF3}"/>
                  </a:ext>
                </a:extLst>
              </p:cNvPr>
              <p:cNvCxnSpPr>
                <a:cxnSpLocks/>
              </p:cNvCxnSpPr>
              <p:nvPr/>
            </p:nvCxnSpPr>
            <p:spPr>
              <a:xfrm flipV="1">
                <a:off x="8190000" y="20988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5" name="直接连接符 574">
                <a:extLst>
                  <a:ext uri="{FF2B5EF4-FFF2-40B4-BE49-F238E27FC236}">
                    <a16:creationId xmlns:a16="http://schemas.microsoft.com/office/drawing/2014/main" id="{B920E549-AA13-6278-E825-92752408174E}"/>
                  </a:ext>
                </a:extLst>
              </p:cNvPr>
              <p:cNvCxnSpPr>
                <a:cxnSpLocks/>
              </p:cNvCxnSpPr>
              <p:nvPr/>
            </p:nvCxnSpPr>
            <p:spPr>
              <a:xfrm flipV="1">
                <a:off x="8280000" y="2386800"/>
                <a:ext cx="18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6" name="直接连接符 575">
                <a:extLst>
                  <a:ext uri="{FF2B5EF4-FFF2-40B4-BE49-F238E27FC236}">
                    <a16:creationId xmlns:a16="http://schemas.microsoft.com/office/drawing/2014/main" id="{7DF1AECA-EBCE-BC75-7990-9442B06000D4}"/>
                  </a:ext>
                </a:extLst>
              </p:cNvPr>
              <p:cNvCxnSpPr>
                <a:cxnSpLocks/>
              </p:cNvCxnSpPr>
              <p:nvPr/>
            </p:nvCxnSpPr>
            <p:spPr>
              <a:xfrm>
                <a:off x="8280000" y="2098800"/>
                <a:ext cx="32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7" name="直接连接符 576">
                <a:extLst>
                  <a:ext uri="{FF2B5EF4-FFF2-40B4-BE49-F238E27FC236}">
                    <a16:creationId xmlns:a16="http://schemas.microsoft.com/office/drawing/2014/main" id="{45C327A8-459B-CCEA-D897-2405AD248219}"/>
                  </a:ext>
                </a:extLst>
              </p:cNvPr>
              <p:cNvCxnSpPr>
                <a:cxnSpLocks/>
              </p:cNvCxnSpPr>
              <p:nvPr/>
            </p:nvCxnSpPr>
            <p:spPr>
              <a:xfrm flipV="1">
                <a:off x="8280000" y="2347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8" name="直接连接符 577">
                <a:extLst>
                  <a:ext uri="{FF2B5EF4-FFF2-40B4-BE49-F238E27FC236}">
                    <a16:creationId xmlns:a16="http://schemas.microsoft.com/office/drawing/2014/main" id="{BCD2E8AA-3F09-11C5-0F34-59009264439D}"/>
                  </a:ext>
                </a:extLst>
              </p:cNvPr>
              <p:cNvCxnSpPr>
                <a:cxnSpLocks/>
              </p:cNvCxnSpPr>
              <p:nvPr/>
            </p:nvCxnSpPr>
            <p:spPr>
              <a:xfrm flipV="1">
                <a:off x="8280000" y="2203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9" name="直接连接符 578">
                <a:extLst>
                  <a:ext uri="{FF2B5EF4-FFF2-40B4-BE49-F238E27FC236}">
                    <a16:creationId xmlns:a16="http://schemas.microsoft.com/office/drawing/2014/main" id="{12F57F95-0187-EB2E-C924-E668FD5F2113}"/>
                  </a:ext>
                </a:extLst>
              </p:cNvPr>
              <p:cNvCxnSpPr>
                <a:cxnSpLocks/>
              </p:cNvCxnSpPr>
              <p:nvPr/>
            </p:nvCxnSpPr>
            <p:spPr>
              <a:xfrm flipV="1">
                <a:off x="8280000" y="2059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80" name="椭圆 579">
                <a:extLst>
                  <a:ext uri="{FF2B5EF4-FFF2-40B4-BE49-F238E27FC236}">
                    <a16:creationId xmlns:a16="http://schemas.microsoft.com/office/drawing/2014/main" id="{DAE0EA23-2846-6975-23EB-AEDEE282364E}"/>
                  </a:ext>
                </a:extLst>
              </p:cNvPr>
              <p:cNvSpPr/>
              <p:nvPr/>
            </p:nvSpPr>
            <p:spPr>
              <a:xfrm flipH="1">
                <a:off x="8434800" y="2361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581" name="椭圆 580">
                <a:extLst>
                  <a:ext uri="{FF2B5EF4-FFF2-40B4-BE49-F238E27FC236}">
                    <a16:creationId xmlns:a16="http://schemas.microsoft.com/office/drawing/2014/main" id="{FAC0E499-66ED-792F-E681-D6138E039F64}"/>
                  </a:ext>
                </a:extLst>
              </p:cNvPr>
              <p:cNvSpPr/>
              <p:nvPr/>
            </p:nvSpPr>
            <p:spPr>
              <a:xfrm flipH="1">
                <a:off x="8571600" y="2073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582" name="椭圆 581">
                <a:extLst>
                  <a:ext uri="{FF2B5EF4-FFF2-40B4-BE49-F238E27FC236}">
                    <a16:creationId xmlns:a16="http://schemas.microsoft.com/office/drawing/2014/main" id="{7E3C674A-67BC-225C-5295-973538865C05}"/>
                  </a:ext>
                </a:extLst>
              </p:cNvPr>
              <p:cNvSpPr/>
              <p:nvPr/>
            </p:nvSpPr>
            <p:spPr>
              <a:xfrm flipH="1">
                <a:off x="8074800" y="1965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grpSp>
          <p:nvGrpSpPr>
            <p:cNvPr id="583" name="组合 582">
              <a:extLst>
                <a:ext uri="{FF2B5EF4-FFF2-40B4-BE49-F238E27FC236}">
                  <a16:creationId xmlns:a16="http://schemas.microsoft.com/office/drawing/2014/main" id="{AF7BDE08-BD2D-88B8-EFA8-261BB2D9A1EE}"/>
                </a:ext>
              </a:extLst>
            </p:cNvPr>
            <p:cNvGrpSpPr/>
            <p:nvPr/>
          </p:nvGrpSpPr>
          <p:grpSpPr>
            <a:xfrm>
              <a:off x="8802000" y="3610800"/>
              <a:ext cx="547200" cy="547200"/>
              <a:chOff x="8074800" y="1965600"/>
              <a:chExt cx="547200" cy="547200"/>
            </a:xfrm>
          </p:grpSpPr>
          <p:cxnSp>
            <p:nvCxnSpPr>
              <p:cNvPr id="584" name="直接连接符 583">
                <a:extLst>
                  <a:ext uri="{FF2B5EF4-FFF2-40B4-BE49-F238E27FC236}">
                    <a16:creationId xmlns:a16="http://schemas.microsoft.com/office/drawing/2014/main" id="{DF496F73-DAAE-7B83-6D92-650AA0A03601}"/>
                  </a:ext>
                </a:extLst>
              </p:cNvPr>
              <p:cNvCxnSpPr>
                <a:cxnSpLocks/>
              </p:cNvCxnSpPr>
              <p:nvPr/>
            </p:nvCxnSpPr>
            <p:spPr>
              <a:xfrm>
                <a:off x="8388761" y="2512800"/>
                <a:ext cx="144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5" name="直接连接符 584">
                <a:extLst>
                  <a:ext uri="{FF2B5EF4-FFF2-40B4-BE49-F238E27FC236}">
                    <a16:creationId xmlns:a16="http://schemas.microsoft.com/office/drawing/2014/main" id="{1C65E9FB-6763-C72A-6B67-C1A93E0F92BB}"/>
                  </a:ext>
                </a:extLst>
              </p:cNvPr>
              <p:cNvCxnSpPr>
                <a:cxnSpLocks/>
              </p:cNvCxnSpPr>
              <p:nvPr/>
            </p:nvCxnSpPr>
            <p:spPr>
              <a:xfrm>
                <a:off x="8100000" y="1988946"/>
                <a:ext cx="0" cy="39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6" name="直接连接符 585">
                <a:extLst>
                  <a:ext uri="{FF2B5EF4-FFF2-40B4-BE49-F238E27FC236}">
                    <a16:creationId xmlns:a16="http://schemas.microsoft.com/office/drawing/2014/main" id="{9B4D14AA-8C83-FD9B-E89A-2E74DDFA79E4}"/>
                  </a:ext>
                </a:extLst>
              </p:cNvPr>
              <p:cNvCxnSpPr>
                <a:cxnSpLocks/>
              </p:cNvCxnSpPr>
              <p:nvPr/>
            </p:nvCxnSpPr>
            <p:spPr>
              <a:xfrm flipV="1">
                <a:off x="8460000" y="2242800"/>
                <a:ext cx="0" cy="27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7" name="直接连接符 586">
                <a:extLst>
                  <a:ext uri="{FF2B5EF4-FFF2-40B4-BE49-F238E27FC236}">
                    <a16:creationId xmlns:a16="http://schemas.microsoft.com/office/drawing/2014/main" id="{D5AC32F2-A383-F43B-B302-FFDA2E1327B3}"/>
                  </a:ext>
                </a:extLst>
              </p:cNvPr>
              <p:cNvCxnSpPr>
                <a:cxnSpLocks/>
              </p:cNvCxnSpPr>
              <p:nvPr/>
            </p:nvCxnSpPr>
            <p:spPr>
              <a:xfrm>
                <a:off x="8100000" y="2386800"/>
                <a:ext cx="9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8" name="直接箭头连接符 587">
                <a:extLst>
                  <a:ext uri="{FF2B5EF4-FFF2-40B4-BE49-F238E27FC236}">
                    <a16:creationId xmlns:a16="http://schemas.microsoft.com/office/drawing/2014/main" id="{CD61B5F3-E589-B788-94B0-AB8795716C56}"/>
                  </a:ext>
                </a:extLst>
              </p:cNvPr>
              <p:cNvCxnSpPr>
                <a:cxnSpLocks/>
              </p:cNvCxnSpPr>
              <p:nvPr/>
            </p:nvCxnSpPr>
            <p:spPr>
              <a:xfrm flipH="1">
                <a:off x="8280000" y="2242800"/>
                <a:ext cx="180000" cy="0"/>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589" name="直接连接符 588">
                <a:extLst>
                  <a:ext uri="{FF2B5EF4-FFF2-40B4-BE49-F238E27FC236}">
                    <a16:creationId xmlns:a16="http://schemas.microsoft.com/office/drawing/2014/main" id="{F0C0DFF9-3A0D-2F67-66C8-9DBDCE862DF8}"/>
                  </a:ext>
                </a:extLst>
              </p:cNvPr>
              <p:cNvCxnSpPr>
                <a:cxnSpLocks/>
              </p:cNvCxnSpPr>
              <p:nvPr/>
            </p:nvCxnSpPr>
            <p:spPr>
              <a:xfrm flipV="1">
                <a:off x="8190000" y="20988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0" name="直接连接符 589">
                <a:extLst>
                  <a:ext uri="{FF2B5EF4-FFF2-40B4-BE49-F238E27FC236}">
                    <a16:creationId xmlns:a16="http://schemas.microsoft.com/office/drawing/2014/main" id="{48E078FD-5DAE-AA67-5985-5F26B45F58E0}"/>
                  </a:ext>
                </a:extLst>
              </p:cNvPr>
              <p:cNvCxnSpPr>
                <a:cxnSpLocks/>
              </p:cNvCxnSpPr>
              <p:nvPr/>
            </p:nvCxnSpPr>
            <p:spPr>
              <a:xfrm flipV="1">
                <a:off x="8280000" y="2386800"/>
                <a:ext cx="18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6" name="直接连接符 595">
                <a:extLst>
                  <a:ext uri="{FF2B5EF4-FFF2-40B4-BE49-F238E27FC236}">
                    <a16:creationId xmlns:a16="http://schemas.microsoft.com/office/drawing/2014/main" id="{F9BD9C4E-8DC9-298D-73E9-4666CCA44A95}"/>
                  </a:ext>
                </a:extLst>
              </p:cNvPr>
              <p:cNvCxnSpPr>
                <a:cxnSpLocks/>
              </p:cNvCxnSpPr>
              <p:nvPr/>
            </p:nvCxnSpPr>
            <p:spPr>
              <a:xfrm>
                <a:off x="8280000" y="2098800"/>
                <a:ext cx="32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7" name="直接连接符 596">
                <a:extLst>
                  <a:ext uri="{FF2B5EF4-FFF2-40B4-BE49-F238E27FC236}">
                    <a16:creationId xmlns:a16="http://schemas.microsoft.com/office/drawing/2014/main" id="{DE828678-24A5-6053-E0B0-6C6BDD4A596D}"/>
                  </a:ext>
                </a:extLst>
              </p:cNvPr>
              <p:cNvCxnSpPr>
                <a:cxnSpLocks/>
              </p:cNvCxnSpPr>
              <p:nvPr/>
            </p:nvCxnSpPr>
            <p:spPr>
              <a:xfrm flipV="1">
                <a:off x="8280000" y="2347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1" name="直接连接符 600">
                <a:extLst>
                  <a:ext uri="{FF2B5EF4-FFF2-40B4-BE49-F238E27FC236}">
                    <a16:creationId xmlns:a16="http://schemas.microsoft.com/office/drawing/2014/main" id="{FFBD3E94-8FA8-A757-4992-BF3190E52D8E}"/>
                  </a:ext>
                </a:extLst>
              </p:cNvPr>
              <p:cNvCxnSpPr>
                <a:cxnSpLocks/>
              </p:cNvCxnSpPr>
              <p:nvPr/>
            </p:nvCxnSpPr>
            <p:spPr>
              <a:xfrm flipV="1">
                <a:off x="8280000" y="2203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2" name="直接连接符 601">
                <a:extLst>
                  <a:ext uri="{FF2B5EF4-FFF2-40B4-BE49-F238E27FC236}">
                    <a16:creationId xmlns:a16="http://schemas.microsoft.com/office/drawing/2014/main" id="{A29AF0E3-5991-0A0E-625B-3ABFE83FF305}"/>
                  </a:ext>
                </a:extLst>
              </p:cNvPr>
              <p:cNvCxnSpPr>
                <a:cxnSpLocks/>
              </p:cNvCxnSpPr>
              <p:nvPr/>
            </p:nvCxnSpPr>
            <p:spPr>
              <a:xfrm flipV="1">
                <a:off x="8280000" y="2059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06" name="椭圆 605">
                <a:extLst>
                  <a:ext uri="{FF2B5EF4-FFF2-40B4-BE49-F238E27FC236}">
                    <a16:creationId xmlns:a16="http://schemas.microsoft.com/office/drawing/2014/main" id="{A4851D09-FF41-0996-0C44-B2A73F216BC7}"/>
                  </a:ext>
                </a:extLst>
              </p:cNvPr>
              <p:cNvSpPr/>
              <p:nvPr/>
            </p:nvSpPr>
            <p:spPr>
              <a:xfrm flipH="1">
                <a:off x="8434800" y="2361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612" name="椭圆 611">
                <a:extLst>
                  <a:ext uri="{FF2B5EF4-FFF2-40B4-BE49-F238E27FC236}">
                    <a16:creationId xmlns:a16="http://schemas.microsoft.com/office/drawing/2014/main" id="{9D5CEA74-4C66-89D5-0B0B-7AB790710AA1}"/>
                  </a:ext>
                </a:extLst>
              </p:cNvPr>
              <p:cNvSpPr/>
              <p:nvPr/>
            </p:nvSpPr>
            <p:spPr>
              <a:xfrm flipH="1">
                <a:off x="8571600" y="2073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614" name="椭圆 613">
                <a:extLst>
                  <a:ext uri="{FF2B5EF4-FFF2-40B4-BE49-F238E27FC236}">
                    <a16:creationId xmlns:a16="http://schemas.microsoft.com/office/drawing/2014/main" id="{2CA72596-4FCF-D152-DE36-09D6E9DF5444}"/>
                  </a:ext>
                </a:extLst>
              </p:cNvPr>
              <p:cNvSpPr/>
              <p:nvPr/>
            </p:nvSpPr>
            <p:spPr>
              <a:xfrm flipH="1">
                <a:off x="8074800" y="1965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grpSp>
          <p:nvGrpSpPr>
            <p:cNvPr id="615" name="组合 614">
              <a:extLst>
                <a:ext uri="{FF2B5EF4-FFF2-40B4-BE49-F238E27FC236}">
                  <a16:creationId xmlns:a16="http://schemas.microsoft.com/office/drawing/2014/main" id="{EAD807CE-43DD-D145-684D-B2F393DBE24B}"/>
                </a:ext>
              </a:extLst>
            </p:cNvPr>
            <p:cNvGrpSpPr/>
            <p:nvPr/>
          </p:nvGrpSpPr>
          <p:grpSpPr>
            <a:xfrm>
              <a:off x="8082000" y="4258800"/>
              <a:ext cx="547200" cy="547200"/>
              <a:chOff x="8074800" y="1965600"/>
              <a:chExt cx="547200" cy="547200"/>
            </a:xfrm>
          </p:grpSpPr>
          <p:cxnSp>
            <p:nvCxnSpPr>
              <p:cNvPr id="616" name="直接连接符 615">
                <a:extLst>
                  <a:ext uri="{FF2B5EF4-FFF2-40B4-BE49-F238E27FC236}">
                    <a16:creationId xmlns:a16="http://schemas.microsoft.com/office/drawing/2014/main" id="{44CD9814-F753-DF46-8EB2-752672F3C656}"/>
                  </a:ext>
                </a:extLst>
              </p:cNvPr>
              <p:cNvCxnSpPr>
                <a:cxnSpLocks/>
              </p:cNvCxnSpPr>
              <p:nvPr/>
            </p:nvCxnSpPr>
            <p:spPr>
              <a:xfrm>
                <a:off x="8388761" y="2512800"/>
                <a:ext cx="144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7" name="直接连接符 616">
                <a:extLst>
                  <a:ext uri="{FF2B5EF4-FFF2-40B4-BE49-F238E27FC236}">
                    <a16:creationId xmlns:a16="http://schemas.microsoft.com/office/drawing/2014/main" id="{2D956C74-1A53-1D55-E0C1-192494413E29}"/>
                  </a:ext>
                </a:extLst>
              </p:cNvPr>
              <p:cNvCxnSpPr>
                <a:cxnSpLocks/>
              </p:cNvCxnSpPr>
              <p:nvPr/>
            </p:nvCxnSpPr>
            <p:spPr>
              <a:xfrm>
                <a:off x="8100000" y="1988946"/>
                <a:ext cx="0" cy="39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8" name="直接连接符 617">
                <a:extLst>
                  <a:ext uri="{FF2B5EF4-FFF2-40B4-BE49-F238E27FC236}">
                    <a16:creationId xmlns:a16="http://schemas.microsoft.com/office/drawing/2014/main" id="{9DF4AB74-3D25-F409-6543-F1F546D9677B}"/>
                  </a:ext>
                </a:extLst>
              </p:cNvPr>
              <p:cNvCxnSpPr>
                <a:cxnSpLocks/>
              </p:cNvCxnSpPr>
              <p:nvPr/>
            </p:nvCxnSpPr>
            <p:spPr>
              <a:xfrm flipV="1">
                <a:off x="8460000" y="2242800"/>
                <a:ext cx="0" cy="27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9" name="直接连接符 618">
                <a:extLst>
                  <a:ext uri="{FF2B5EF4-FFF2-40B4-BE49-F238E27FC236}">
                    <a16:creationId xmlns:a16="http://schemas.microsoft.com/office/drawing/2014/main" id="{4357EA23-3C59-3642-8B5A-66F8373F446B}"/>
                  </a:ext>
                </a:extLst>
              </p:cNvPr>
              <p:cNvCxnSpPr>
                <a:cxnSpLocks/>
              </p:cNvCxnSpPr>
              <p:nvPr/>
            </p:nvCxnSpPr>
            <p:spPr>
              <a:xfrm>
                <a:off x="8100000" y="2386800"/>
                <a:ext cx="9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0" name="直接箭头连接符 619">
                <a:extLst>
                  <a:ext uri="{FF2B5EF4-FFF2-40B4-BE49-F238E27FC236}">
                    <a16:creationId xmlns:a16="http://schemas.microsoft.com/office/drawing/2014/main" id="{538ED4FB-DD4D-45ED-5892-DAAAC7A7C39C}"/>
                  </a:ext>
                </a:extLst>
              </p:cNvPr>
              <p:cNvCxnSpPr>
                <a:cxnSpLocks/>
              </p:cNvCxnSpPr>
              <p:nvPr/>
            </p:nvCxnSpPr>
            <p:spPr>
              <a:xfrm flipH="1">
                <a:off x="8280000" y="2242800"/>
                <a:ext cx="180000" cy="0"/>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621" name="直接连接符 620">
                <a:extLst>
                  <a:ext uri="{FF2B5EF4-FFF2-40B4-BE49-F238E27FC236}">
                    <a16:creationId xmlns:a16="http://schemas.microsoft.com/office/drawing/2014/main" id="{06778472-28C6-8D9B-ADE4-6A07C7A996FB}"/>
                  </a:ext>
                </a:extLst>
              </p:cNvPr>
              <p:cNvCxnSpPr>
                <a:cxnSpLocks/>
              </p:cNvCxnSpPr>
              <p:nvPr/>
            </p:nvCxnSpPr>
            <p:spPr>
              <a:xfrm flipV="1">
                <a:off x="8190000" y="20988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3" name="直接连接符 622">
                <a:extLst>
                  <a:ext uri="{FF2B5EF4-FFF2-40B4-BE49-F238E27FC236}">
                    <a16:creationId xmlns:a16="http://schemas.microsoft.com/office/drawing/2014/main" id="{73F10A6D-E4A2-B47F-A2DA-E37EB4645D4B}"/>
                  </a:ext>
                </a:extLst>
              </p:cNvPr>
              <p:cNvCxnSpPr>
                <a:cxnSpLocks/>
              </p:cNvCxnSpPr>
              <p:nvPr/>
            </p:nvCxnSpPr>
            <p:spPr>
              <a:xfrm flipV="1">
                <a:off x="8280000" y="2386800"/>
                <a:ext cx="18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6" name="直接连接符 625">
                <a:extLst>
                  <a:ext uri="{FF2B5EF4-FFF2-40B4-BE49-F238E27FC236}">
                    <a16:creationId xmlns:a16="http://schemas.microsoft.com/office/drawing/2014/main" id="{345578D9-75C0-E37F-E354-B3548131FF51}"/>
                  </a:ext>
                </a:extLst>
              </p:cNvPr>
              <p:cNvCxnSpPr>
                <a:cxnSpLocks/>
              </p:cNvCxnSpPr>
              <p:nvPr/>
            </p:nvCxnSpPr>
            <p:spPr>
              <a:xfrm>
                <a:off x="8280000" y="2098800"/>
                <a:ext cx="32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7" name="直接连接符 626">
                <a:extLst>
                  <a:ext uri="{FF2B5EF4-FFF2-40B4-BE49-F238E27FC236}">
                    <a16:creationId xmlns:a16="http://schemas.microsoft.com/office/drawing/2014/main" id="{8AD1731C-04A9-5F1D-0AB8-D64A1D077D22}"/>
                  </a:ext>
                </a:extLst>
              </p:cNvPr>
              <p:cNvCxnSpPr>
                <a:cxnSpLocks/>
              </p:cNvCxnSpPr>
              <p:nvPr/>
            </p:nvCxnSpPr>
            <p:spPr>
              <a:xfrm flipV="1">
                <a:off x="8280000" y="2347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8" name="直接连接符 627">
                <a:extLst>
                  <a:ext uri="{FF2B5EF4-FFF2-40B4-BE49-F238E27FC236}">
                    <a16:creationId xmlns:a16="http://schemas.microsoft.com/office/drawing/2014/main" id="{0238CC56-1BC0-3737-DD7D-CC95D2ABE2DC}"/>
                  </a:ext>
                </a:extLst>
              </p:cNvPr>
              <p:cNvCxnSpPr>
                <a:cxnSpLocks/>
              </p:cNvCxnSpPr>
              <p:nvPr/>
            </p:nvCxnSpPr>
            <p:spPr>
              <a:xfrm flipV="1">
                <a:off x="8280000" y="2203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9" name="直接连接符 628">
                <a:extLst>
                  <a:ext uri="{FF2B5EF4-FFF2-40B4-BE49-F238E27FC236}">
                    <a16:creationId xmlns:a16="http://schemas.microsoft.com/office/drawing/2014/main" id="{00E74AE4-A9BD-C3AF-E727-6C83C97B2BC5}"/>
                  </a:ext>
                </a:extLst>
              </p:cNvPr>
              <p:cNvCxnSpPr>
                <a:cxnSpLocks/>
              </p:cNvCxnSpPr>
              <p:nvPr/>
            </p:nvCxnSpPr>
            <p:spPr>
              <a:xfrm flipV="1">
                <a:off x="8280000" y="2059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30" name="椭圆 629">
                <a:extLst>
                  <a:ext uri="{FF2B5EF4-FFF2-40B4-BE49-F238E27FC236}">
                    <a16:creationId xmlns:a16="http://schemas.microsoft.com/office/drawing/2014/main" id="{0F38ABFB-A8B0-ADB2-8A7D-DA5D7BF2D357}"/>
                  </a:ext>
                </a:extLst>
              </p:cNvPr>
              <p:cNvSpPr/>
              <p:nvPr/>
            </p:nvSpPr>
            <p:spPr>
              <a:xfrm flipH="1">
                <a:off x="8434800" y="2361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631" name="椭圆 630">
                <a:extLst>
                  <a:ext uri="{FF2B5EF4-FFF2-40B4-BE49-F238E27FC236}">
                    <a16:creationId xmlns:a16="http://schemas.microsoft.com/office/drawing/2014/main" id="{C1F0C385-0693-E2B3-C385-69C2EAE9978B}"/>
                  </a:ext>
                </a:extLst>
              </p:cNvPr>
              <p:cNvSpPr/>
              <p:nvPr/>
            </p:nvSpPr>
            <p:spPr>
              <a:xfrm flipH="1">
                <a:off x="8571600" y="2073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632" name="椭圆 631">
                <a:extLst>
                  <a:ext uri="{FF2B5EF4-FFF2-40B4-BE49-F238E27FC236}">
                    <a16:creationId xmlns:a16="http://schemas.microsoft.com/office/drawing/2014/main" id="{8B3F4685-5C67-42AC-4864-02E7A010F452}"/>
                  </a:ext>
                </a:extLst>
              </p:cNvPr>
              <p:cNvSpPr/>
              <p:nvPr/>
            </p:nvSpPr>
            <p:spPr>
              <a:xfrm flipH="1">
                <a:off x="8074800" y="1965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grpSp>
          <p:nvGrpSpPr>
            <p:cNvPr id="633" name="组合 632">
              <a:extLst>
                <a:ext uri="{FF2B5EF4-FFF2-40B4-BE49-F238E27FC236}">
                  <a16:creationId xmlns:a16="http://schemas.microsoft.com/office/drawing/2014/main" id="{CB685F15-B6B5-E960-822B-F957B5020916}"/>
                </a:ext>
              </a:extLst>
            </p:cNvPr>
            <p:cNvGrpSpPr/>
            <p:nvPr/>
          </p:nvGrpSpPr>
          <p:grpSpPr>
            <a:xfrm>
              <a:off x="8802000" y="4258800"/>
              <a:ext cx="547200" cy="547200"/>
              <a:chOff x="8074800" y="1965600"/>
              <a:chExt cx="547200" cy="547200"/>
            </a:xfrm>
          </p:grpSpPr>
          <p:cxnSp>
            <p:nvCxnSpPr>
              <p:cNvPr id="634" name="直接连接符 633">
                <a:extLst>
                  <a:ext uri="{FF2B5EF4-FFF2-40B4-BE49-F238E27FC236}">
                    <a16:creationId xmlns:a16="http://schemas.microsoft.com/office/drawing/2014/main" id="{1A210CA2-7243-9B20-219A-1C45A12DCFFA}"/>
                  </a:ext>
                </a:extLst>
              </p:cNvPr>
              <p:cNvCxnSpPr>
                <a:cxnSpLocks/>
              </p:cNvCxnSpPr>
              <p:nvPr/>
            </p:nvCxnSpPr>
            <p:spPr>
              <a:xfrm>
                <a:off x="8388761" y="2512800"/>
                <a:ext cx="144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5" name="直接连接符 634">
                <a:extLst>
                  <a:ext uri="{FF2B5EF4-FFF2-40B4-BE49-F238E27FC236}">
                    <a16:creationId xmlns:a16="http://schemas.microsoft.com/office/drawing/2014/main" id="{56154403-3C95-02B7-4DB8-36906BFFC2C4}"/>
                  </a:ext>
                </a:extLst>
              </p:cNvPr>
              <p:cNvCxnSpPr>
                <a:cxnSpLocks/>
              </p:cNvCxnSpPr>
              <p:nvPr/>
            </p:nvCxnSpPr>
            <p:spPr>
              <a:xfrm>
                <a:off x="8100000" y="1988946"/>
                <a:ext cx="0" cy="39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6" name="直接连接符 635">
                <a:extLst>
                  <a:ext uri="{FF2B5EF4-FFF2-40B4-BE49-F238E27FC236}">
                    <a16:creationId xmlns:a16="http://schemas.microsoft.com/office/drawing/2014/main" id="{941EF044-57BE-D231-5817-08F6CF5910A1}"/>
                  </a:ext>
                </a:extLst>
              </p:cNvPr>
              <p:cNvCxnSpPr>
                <a:cxnSpLocks/>
              </p:cNvCxnSpPr>
              <p:nvPr/>
            </p:nvCxnSpPr>
            <p:spPr>
              <a:xfrm flipV="1">
                <a:off x="8460000" y="2242800"/>
                <a:ext cx="0" cy="27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7" name="直接连接符 636">
                <a:extLst>
                  <a:ext uri="{FF2B5EF4-FFF2-40B4-BE49-F238E27FC236}">
                    <a16:creationId xmlns:a16="http://schemas.microsoft.com/office/drawing/2014/main" id="{7B5CB893-4664-8D00-B663-E4BF214CEAED}"/>
                  </a:ext>
                </a:extLst>
              </p:cNvPr>
              <p:cNvCxnSpPr>
                <a:cxnSpLocks/>
              </p:cNvCxnSpPr>
              <p:nvPr/>
            </p:nvCxnSpPr>
            <p:spPr>
              <a:xfrm>
                <a:off x="8100000" y="2386800"/>
                <a:ext cx="9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8" name="直接箭头连接符 637">
                <a:extLst>
                  <a:ext uri="{FF2B5EF4-FFF2-40B4-BE49-F238E27FC236}">
                    <a16:creationId xmlns:a16="http://schemas.microsoft.com/office/drawing/2014/main" id="{50CB22CC-FCD0-269F-2446-7070741D48CB}"/>
                  </a:ext>
                </a:extLst>
              </p:cNvPr>
              <p:cNvCxnSpPr>
                <a:cxnSpLocks/>
              </p:cNvCxnSpPr>
              <p:nvPr/>
            </p:nvCxnSpPr>
            <p:spPr>
              <a:xfrm flipH="1">
                <a:off x="8280000" y="2242800"/>
                <a:ext cx="180000" cy="0"/>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639" name="直接连接符 638">
                <a:extLst>
                  <a:ext uri="{FF2B5EF4-FFF2-40B4-BE49-F238E27FC236}">
                    <a16:creationId xmlns:a16="http://schemas.microsoft.com/office/drawing/2014/main" id="{16EF3ACC-5A31-0FAE-3798-A588C0E5E1F0}"/>
                  </a:ext>
                </a:extLst>
              </p:cNvPr>
              <p:cNvCxnSpPr>
                <a:cxnSpLocks/>
              </p:cNvCxnSpPr>
              <p:nvPr/>
            </p:nvCxnSpPr>
            <p:spPr>
              <a:xfrm flipV="1">
                <a:off x="8190000" y="20988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6" name="直接连接符 255">
                <a:extLst>
                  <a:ext uri="{FF2B5EF4-FFF2-40B4-BE49-F238E27FC236}">
                    <a16:creationId xmlns:a16="http://schemas.microsoft.com/office/drawing/2014/main" id="{FDF36331-EC1A-0239-E292-3F94235553A2}"/>
                  </a:ext>
                </a:extLst>
              </p:cNvPr>
              <p:cNvCxnSpPr>
                <a:cxnSpLocks/>
              </p:cNvCxnSpPr>
              <p:nvPr/>
            </p:nvCxnSpPr>
            <p:spPr>
              <a:xfrm flipV="1">
                <a:off x="8280000" y="2386800"/>
                <a:ext cx="18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7" name="直接连接符 256">
                <a:extLst>
                  <a:ext uri="{FF2B5EF4-FFF2-40B4-BE49-F238E27FC236}">
                    <a16:creationId xmlns:a16="http://schemas.microsoft.com/office/drawing/2014/main" id="{A1816CD4-DB8E-1EBE-056D-6F8030E1A779}"/>
                  </a:ext>
                </a:extLst>
              </p:cNvPr>
              <p:cNvCxnSpPr>
                <a:cxnSpLocks/>
              </p:cNvCxnSpPr>
              <p:nvPr/>
            </p:nvCxnSpPr>
            <p:spPr>
              <a:xfrm>
                <a:off x="8280000" y="2098800"/>
                <a:ext cx="32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8" name="直接连接符 257">
                <a:extLst>
                  <a:ext uri="{FF2B5EF4-FFF2-40B4-BE49-F238E27FC236}">
                    <a16:creationId xmlns:a16="http://schemas.microsoft.com/office/drawing/2014/main" id="{4C179A58-ADEE-4E39-9A07-2C303A339C44}"/>
                  </a:ext>
                </a:extLst>
              </p:cNvPr>
              <p:cNvCxnSpPr>
                <a:cxnSpLocks/>
              </p:cNvCxnSpPr>
              <p:nvPr/>
            </p:nvCxnSpPr>
            <p:spPr>
              <a:xfrm flipV="1">
                <a:off x="8280000" y="2347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9" name="直接连接符 258">
                <a:extLst>
                  <a:ext uri="{FF2B5EF4-FFF2-40B4-BE49-F238E27FC236}">
                    <a16:creationId xmlns:a16="http://schemas.microsoft.com/office/drawing/2014/main" id="{CE19C648-EB13-D862-D5FC-DF21614AD339}"/>
                  </a:ext>
                </a:extLst>
              </p:cNvPr>
              <p:cNvCxnSpPr>
                <a:cxnSpLocks/>
              </p:cNvCxnSpPr>
              <p:nvPr/>
            </p:nvCxnSpPr>
            <p:spPr>
              <a:xfrm flipV="1">
                <a:off x="8280000" y="2203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0" name="直接连接符 259">
                <a:extLst>
                  <a:ext uri="{FF2B5EF4-FFF2-40B4-BE49-F238E27FC236}">
                    <a16:creationId xmlns:a16="http://schemas.microsoft.com/office/drawing/2014/main" id="{11F59528-8D07-D808-B66F-4BED62E39F18}"/>
                  </a:ext>
                </a:extLst>
              </p:cNvPr>
              <p:cNvCxnSpPr>
                <a:cxnSpLocks/>
              </p:cNvCxnSpPr>
              <p:nvPr/>
            </p:nvCxnSpPr>
            <p:spPr>
              <a:xfrm flipV="1">
                <a:off x="8280000" y="2059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61" name="椭圆 260">
                <a:extLst>
                  <a:ext uri="{FF2B5EF4-FFF2-40B4-BE49-F238E27FC236}">
                    <a16:creationId xmlns:a16="http://schemas.microsoft.com/office/drawing/2014/main" id="{B1E16A86-FE38-A93F-66D5-CACA0F99CF46}"/>
                  </a:ext>
                </a:extLst>
              </p:cNvPr>
              <p:cNvSpPr/>
              <p:nvPr/>
            </p:nvSpPr>
            <p:spPr>
              <a:xfrm flipH="1">
                <a:off x="8434800" y="2361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262" name="椭圆 261">
                <a:extLst>
                  <a:ext uri="{FF2B5EF4-FFF2-40B4-BE49-F238E27FC236}">
                    <a16:creationId xmlns:a16="http://schemas.microsoft.com/office/drawing/2014/main" id="{7C61506D-3CB9-7087-2751-B1FD11EF4924}"/>
                  </a:ext>
                </a:extLst>
              </p:cNvPr>
              <p:cNvSpPr/>
              <p:nvPr/>
            </p:nvSpPr>
            <p:spPr>
              <a:xfrm flipH="1">
                <a:off x="8571600" y="2073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263" name="椭圆 262">
                <a:extLst>
                  <a:ext uri="{FF2B5EF4-FFF2-40B4-BE49-F238E27FC236}">
                    <a16:creationId xmlns:a16="http://schemas.microsoft.com/office/drawing/2014/main" id="{0363622F-ECF6-E9FE-3569-C9FCFDD5C55E}"/>
                  </a:ext>
                </a:extLst>
              </p:cNvPr>
              <p:cNvSpPr/>
              <p:nvPr/>
            </p:nvSpPr>
            <p:spPr>
              <a:xfrm flipH="1">
                <a:off x="8074800" y="1965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grpSp>
          <p:nvGrpSpPr>
            <p:cNvPr id="264" name="组合 263">
              <a:extLst>
                <a:ext uri="{FF2B5EF4-FFF2-40B4-BE49-F238E27FC236}">
                  <a16:creationId xmlns:a16="http://schemas.microsoft.com/office/drawing/2014/main" id="{DB2F9EE7-3554-32A8-F5B6-BED7478A5BE9}"/>
                </a:ext>
              </a:extLst>
            </p:cNvPr>
            <p:cNvGrpSpPr/>
            <p:nvPr/>
          </p:nvGrpSpPr>
          <p:grpSpPr>
            <a:xfrm>
              <a:off x="9990000" y="4258800"/>
              <a:ext cx="547200" cy="547200"/>
              <a:chOff x="8074800" y="1965600"/>
              <a:chExt cx="547200" cy="547200"/>
            </a:xfrm>
          </p:grpSpPr>
          <p:cxnSp>
            <p:nvCxnSpPr>
              <p:cNvPr id="265" name="直接连接符 264">
                <a:extLst>
                  <a:ext uri="{FF2B5EF4-FFF2-40B4-BE49-F238E27FC236}">
                    <a16:creationId xmlns:a16="http://schemas.microsoft.com/office/drawing/2014/main" id="{7E6FEF44-531D-D715-039F-0944606D54DE}"/>
                  </a:ext>
                </a:extLst>
              </p:cNvPr>
              <p:cNvCxnSpPr>
                <a:cxnSpLocks/>
              </p:cNvCxnSpPr>
              <p:nvPr/>
            </p:nvCxnSpPr>
            <p:spPr>
              <a:xfrm>
                <a:off x="8388761" y="2512800"/>
                <a:ext cx="144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6" name="直接连接符 265">
                <a:extLst>
                  <a:ext uri="{FF2B5EF4-FFF2-40B4-BE49-F238E27FC236}">
                    <a16:creationId xmlns:a16="http://schemas.microsoft.com/office/drawing/2014/main" id="{AB1E6C4B-C658-EC01-B0C2-CE7058AB0FBC}"/>
                  </a:ext>
                </a:extLst>
              </p:cNvPr>
              <p:cNvCxnSpPr>
                <a:cxnSpLocks/>
              </p:cNvCxnSpPr>
              <p:nvPr/>
            </p:nvCxnSpPr>
            <p:spPr>
              <a:xfrm>
                <a:off x="8100000" y="1988946"/>
                <a:ext cx="0" cy="39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7" name="直接连接符 266">
                <a:extLst>
                  <a:ext uri="{FF2B5EF4-FFF2-40B4-BE49-F238E27FC236}">
                    <a16:creationId xmlns:a16="http://schemas.microsoft.com/office/drawing/2014/main" id="{703AAC8F-6C0C-3711-AF5C-D085AD815EC0}"/>
                  </a:ext>
                </a:extLst>
              </p:cNvPr>
              <p:cNvCxnSpPr>
                <a:cxnSpLocks/>
              </p:cNvCxnSpPr>
              <p:nvPr/>
            </p:nvCxnSpPr>
            <p:spPr>
              <a:xfrm flipV="1">
                <a:off x="8460000" y="2242800"/>
                <a:ext cx="0" cy="27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8" name="直接连接符 267">
                <a:extLst>
                  <a:ext uri="{FF2B5EF4-FFF2-40B4-BE49-F238E27FC236}">
                    <a16:creationId xmlns:a16="http://schemas.microsoft.com/office/drawing/2014/main" id="{62CC3A6C-7408-66B3-9EB1-97D6AADB464B}"/>
                  </a:ext>
                </a:extLst>
              </p:cNvPr>
              <p:cNvCxnSpPr>
                <a:cxnSpLocks/>
              </p:cNvCxnSpPr>
              <p:nvPr/>
            </p:nvCxnSpPr>
            <p:spPr>
              <a:xfrm>
                <a:off x="8100000" y="2386800"/>
                <a:ext cx="9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9" name="直接箭头连接符 268">
                <a:extLst>
                  <a:ext uri="{FF2B5EF4-FFF2-40B4-BE49-F238E27FC236}">
                    <a16:creationId xmlns:a16="http://schemas.microsoft.com/office/drawing/2014/main" id="{4E9B8088-A32B-E3FB-46B8-68600191F8DE}"/>
                  </a:ext>
                </a:extLst>
              </p:cNvPr>
              <p:cNvCxnSpPr>
                <a:cxnSpLocks/>
              </p:cNvCxnSpPr>
              <p:nvPr/>
            </p:nvCxnSpPr>
            <p:spPr>
              <a:xfrm flipH="1">
                <a:off x="8280000" y="2242800"/>
                <a:ext cx="180000" cy="0"/>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70" name="直接连接符 269">
                <a:extLst>
                  <a:ext uri="{FF2B5EF4-FFF2-40B4-BE49-F238E27FC236}">
                    <a16:creationId xmlns:a16="http://schemas.microsoft.com/office/drawing/2014/main" id="{98D0139B-7D88-4EA7-EBEB-7B5E5639714E}"/>
                  </a:ext>
                </a:extLst>
              </p:cNvPr>
              <p:cNvCxnSpPr>
                <a:cxnSpLocks/>
              </p:cNvCxnSpPr>
              <p:nvPr/>
            </p:nvCxnSpPr>
            <p:spPr>
              <a:xfrm flipV="1">
                <a:off x="8190000" y="20988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1" name="直接连接符 270">
                <a:extLst>
                  <a:ext uri="{FF2B5EF4-FFF2-40B4-BE49-F238E27FC236}">
                    <a16:creationId xmlns:a16="http://schemas.microsoft.com/office/drawing/2014/main" id="{164B756F-4BD0-9A2B-FB70-D26BA59404D7}"/>
                  </a:ext>
                </a:extLst>
              </p:cNvPr>
              <p:cNvCxnSpPr>
                <a:cxnSpLocks/>
              </p:cNvCxnSpPr>
              <p:nvPr/>
            </p:nvCxnSpPr>
            <p:spPr>
              <a:xfrm flipV="1">
                <a:off x="8280000" y="2386800"/>
                <a:ext cx="18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2" name="直接连接符 271">
                <a:extLst>
                  <a:ext uri="{FF2B5EF4-FFF2-40B4-BE49-F238E27FC236}">
                    <a16:creationId xmlns:a16="http://schemas.microsoft.com/office/drawing/2014/main" id="{55B007FF-B3CE-B7D8-7647-90755C84DB10}"/>
                  </a:ext>
                </a:extLst>
              </p:cNvPr>
              <p:cNvCxnSpPr>
                <a:cxnSpLocks/>
              </p:cNvCxnSpPr>
              <p:nvPr/>
            </p:nvCxnSpPr>
            <p:spPr>
              <a:xfrm>
                <a:off x="8280000" y="2098800"/>
                <a:ext cx="32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3" name="直接连接符 272">
                <a:extLst>
                  <a:ext uri="{FF2B5EF4-FFF2-40B4-BE49-F238E27FC236}">
                    <a16:creationId xmlns:a16="http://schemas.microsoft.com/office/drawing/2014/main" id="{01E60DAF-62D1-DF19-F68C-49132C97F0B3}"/>
                  </a:ext>
                </a:extLst>
              </p:cNvPr>
              <p:cNvCxnSpPr>
                <a:cxnSpLocks/>
              </p:cNvCxnSpPr>
              <p:nvPr/>
            </p:nvCxnSpPr>
            <p:spPr>
              <a:xfrm flipV="1">
                <a:off x="8280000" y="2347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4" name="直接连接符 273">
                <a:extLst>
                  <a:ext uri="{FF2B5EF4-FFF2-40B4-BE49-F238E27FC236}">
                    <a16:creationId xmlns:a16="http://schemas.microsoft.com/office/drawing/2014/main" id="{B961D09D-EDB8-FBDF-FA7D-68A4F7AEE3E3}"/>
                  </a:ext>
                </a:extLst>
              </p:cNvPr>
              <p:cNvCxnSpPr>
                <a:cxnSpLocks/>
              </p:cNvCxnSpPr>
              <p:nvPr/>
            </p:nvCxnSpPr>
            <p:spPr>
              <a:xfrm flipV="1">
                <a:off x="8280000" y="2203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7" name="直接连接符 276">
                <a:extLst>
                  <a:ext uri="{FF2B5EF4-FFF2-40B4-BE49-F238E27FC236}">
                    <a16:creationId xmlns:a16="http://schemas.microsoft.com/office/drawing/2014/main" id="{F034197F-2B8A-258C-A711-9A2887757216}"/>
                  </a:ext>
                </a:extLst>
              </p:cNvPr>
              <p:cNvCxnSpPr>
                <a:cxnSpLocks/>
              </p:cNvCxnSpPr>
              <p:nvPr/>
            </p:nvCxnSpPr>
            <p:spPr>
              <a:xfrm flipV="1">
                <a:off x="8280000" y="2059200"/>
                <a:ext cx="0" cy="79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78" name="椭圆 277">
                <a:extLst>
                  <a:ext uri="{FF2B5EF4-FFF2-40B4-BE49-F238E27FC236}">
                    <a16:creationId xmlns:a16="http://schemas.microsoft.com/office/drawing/2014/main" id="{3446609F-6B6C-7A0C-120D-394AA1D7D749}"/>
                  </a:ext>
                </a:extLst>
              </p:cNvPr>
              <p:cNvSpPr/>
              <p:nvPr/>
            </p:nvSpPr>
            <p:spPr>
              <a:xfrm flipH="1">
                <a:off x="8434800" y="2361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279" name="椭圆 278">
                <a:extLst>
                  <a:ext uri="{FF2B5EF4-FFF2-40B4-BE49-F238E27FC236}">
                    <a16:creationId xmlns:a16="http://schemas.microsoft.com/office/drawing/2014/main" id="{F0FBFDCA-785D-58D3-A788-B32D8EA8D3D8}"/>
                  </a:ext>
                </a:extLst>
              </p:cNvPr>
              <p:cNvSpPr/>
              <p:nvPr/>
            </p:nvSpPr>
            <p:spPr>
              <a:xfrm flipH="1">
                <a:off x="8571600" y="2073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281" name="椭圆 280">
                <a:extLst>
                  <a:ext uri="{FF2B5EF4-FFF2-40B4-BE49-F238E27FC236}">
                    <a16:creationId xmlns:a16="http://schemas.microsoft.com/office/drawing/2014/main" id="{C81E5967-BB8F-262E-058D-753F3FD0AB98}"/>
                  </a:ext>
                </a:extLst>
              </p:cNvPr>
              <p:cNvSpPr/>
              <p:nvPr/>
            </p:nvSpPr>
            <p:spPr>
              <a:xfrm flipH="1">
                <a:off x="8074800" y="1965600"/>
                <a:ext cx="50400" cy="50400"/>
              </a:xfrm>
              <a:prstGeom prst="ellipse">
                <a:avLst/>
              </a:prstGeom>
              <a:solidFill>
                <a:schemeClr val="tx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grpSp>
    </p:spTree>
    <p:extLst>
      <p:ext uri="{BB962C8B-B14F-4D97-AF65-F5344CB8AC3E}">
        <p14:creationId xmlns:p14="http://schemas.microsoft.com/office/powerpoint/2010/main" val="4274690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5DF17-8F0D-893F-3326-7F41DBDAAF68}"/>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C5E5B32F-E7A8-5895-08D8-C5519138574B}"/>
              </a:ext>
            </a:extLst>
          </p:cNvPr>
          <p:cNvSpPr txBox="1"/>
          <p:nvPr/>
        </p:nvSpPr>
        <p:spPr>
          <a:xfrm>
            <a:off x="360000" y="828000"/>
            <a:ext cx="10363845" cy="565604"/>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示例：利用 </a:t>
            </a:r>
            <a:r>
              <a:rPr kumimoji="1" lang="en-US" altLang="zh-CN" sz="2800" dirty="0">
                <a:solidFill>
                  <a:srgbClr val="002060"/>
                </a:solidFill>
                <a:latin typeface="微软雅黑" panose="020B0503020204020204" pitchFamily="34" charset="-122"/>
                <a:ea typeface="微软雅黑" panose="020B0503020204020204" pitchFamily="34" charset="-122"/>
              </a:rPr>
              <a:t>ROM </a:t>
            </a:r>
            <a:r>
              <a:rPr kumimoji="1" lang="zh-CN" altLang="en-US" sz="2800" dirty="0">
                <a:solidFill>
                  <a:srgbClr val="002060"/>
                </a:solidFill>
                <a:latin typeface="微软雅黑" panose="020B0503020204020204" pitchFamily="34" charset="-122"/>
                <a:ea typeface="微软雅黑" panose="020B0503020204020204" pitchFamily="34" charset="-122"/>
              </a:rPr>
              <a:t>实现二进制码与格雷码相互转换</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4" name="组合 3">
            <a:extLst>
              <a:ext uri="{FF2B5EF4-FFF2-40B4-BE49-F238E27FC236}">
                <a16:creationId xmlns:a16="http://schemas.microsoft.com/office/drawing/2014/main" id="{9585C291-00D5-44AE-C104-7C2D3FE90413}"/>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614EEBA8-0597-92F9-C57D-C666AF255EBC}"/>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ED52E5C9-D038-8852-E862-FCB30ED64D7D}"/>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63681C9E-B952-54BF-3D78-209BC1B2463F}"/>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299EB97C-0742-8FB7-0DA7-7E2A3C070DFF}"/>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8</a:t>
              </a:fld>
              <a:endParaRPr lang="zh-CN" altLang="en-US" sz="3200" dirty="0">
                <a:solidFill>
                  <a:schemeClr val="bg1"/>
                </a:solidFill>
                <a:latin typeface="Candara"/>
                <a:ea typeface="微软雅黑"/>
              </a:endParaRPr>
            </a:p>
          </p:txBody>
        </p:sp>
      </p:grpSp>
      <p:graphicFrame>
        <p:nvGraphicFramePr>
          <p:cNvPr id="9" name="Group 4">
            <a:extLst>
              <a:ext uri="{FF2B5EF4-FFF2-40B4-BE49-F238E27FC236}">
                <a16:creationId xmlns:a16="http://schemas.microsoft.com/office/drawing/2014/main" id="{EA780334-C9AF-3921-8B57-3D95F0315299}"/>
              </a:ext>
            </a:extLst>
          </p:cNvPr>
          <p:cNvGraphicFramePr>
            <a:graphicFrameLocks noGrp="1"/>
          </p:cNvGraphicFramePr>
          <p:nvPr>
            <p:extLst>
              <p:ext uri="{D42A27DB-BD31-4B8C-83A1-F6EECF244321}">
                <p14:modId xmlns:p14="http://schemas.microsoft.com/office/powerpoint/2010/main" val="4081763758"/>
              </p:ext>
            </p:extLst>
          </p:nvPr>
        </p:nvGraphicFramePr>
        <p:xfrm>
          <a:off x="1135678" y="1800000"/>
          <a:ext cx="4722074" cy="4298196"/>
        </p:xfrm>
        <a:graphic>
          <a:graphicData uri="http://schemas.openxmlformats.org/drawingml/2006/table">
            <a:tbl>
              <a:tblPr/>
              <a:tblGrid>
                <a:gridCol w="1462240">
                  <a:extLst>
                    <a:ext uri="{9D8B030D-6E8A-4147-A177-3AD203B41FA5}">
                      <a16:colId xmlns:a16="http://schemas.microsoft.com/office/drawing/2014/main" val="20000"/>
                    </a:ext>
                  </a:extLst>
                </a:gridCol>
                <a:gridCol w="1558056">
                  <a:extLst>
                    <a:ext uri="{9D8B030D-6E8A-4147-A177-3AD203B41FA5}">
                      <a16:colId xmlns:a16="http://schemas.microsoft.com/office/drawing/2014/main" val="20001"/>
                    </a:ext>
                  </a:extLst>
                </a:gridCol>
                <a:gridCol w="1701778">
                  <a:extLst>
                    <a:ext uri="{9D8B030D-6E8A-4147-A177-3AD203B41FA5}">
                      <a16:colId xmlns:a16="http://schemas.microsoft.com/office/drawing/2014/main" val="20002"/>
                    </a:ext>
                  </a:extLst>
                </a:gridCol>
              </a:tblGrid>
              <a:tr h="614363">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编码顺序</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二进制码</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格雷码</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8313">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0000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0000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5925">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0001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0001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0336">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2</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0010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0011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5925">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3</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0011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0010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5925">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4</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0100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0110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5925">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5</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0101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0111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5925">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6</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0110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0101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15925">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7</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0111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0100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aphicFrame>
        <p:nvGraphicFramePr>
          <p:cNvPr id="11" name="Group 4">
            <a:extLst>
              <a:ext uri="{FF2B5EF4-FFF2-40B4-BE49-F238E27FC236}">
                <a16:creationId xmlns:a16="http://schemas.microsoft.com/office/drawing/2014/main" id="{96CB6D74-D637-B88D-BC03-EE24BFB09541}"/>
              </a:ext>
            </a:extLst>
          </p:cNvPr>
          <p:cNvGraphicFramePr>
            <a:graphicFrameLocks noGrp="1"/>
          </p:cNvGraphicFramePr>
          <p:nvPr>
            <p:extLst>
              <p:ext uri="{D42A27DB-BD31-4B8C-83A1-F6EECF244321}">
                <p14:modId xmlns:p14="http://schemas.microsoft.com/office/powerpoint/2010/main" val="802598761"/>
              </p:ext>
            </p:extLst>
          </p:nvPr>
        </p:nvGraphicFramePr>
        <p:xfrm>
          <a:off x="5951034" y="1800000"/>
          <a:ext cx="5196990" cy="4298196"/>
        </p:xfrm>
        <a:graphic>
          <a:graphicData uri="http://schemas.openxmlformats.org/drawingml/2006/table">
            <a:tbl>
              <a:tblPr/>
              <a:tblGrid>
                <a:gridCol w="1699697">
                  <a:extLst>
                    <a:ext uri="{9D8B030D-6E8A-4147-A177-3AD203B41FA5}">
                      <a16:colId xmlns:a16="http://schemas.microsoft.com/office/drawing/2014/main" val="20003"/>
                    </a:ext>
                  </a:extLst>
                </a:gridCol>
                <a:gridCol w="1749687">
                  <a:extLst>
                    <a:ext uri="{9D8B030D-6E8A-4147-A177-3AD203B41FA5}">
                      <a16:colId xmlns:a16="http://schemas.microsoft.com/office/drawing/2014/main" val="20004"/>
                    </a:ext>
                  </a:extLst>
                </a:gridCol>
                <a:gridCol w="1747606">
                  <a:extLst>
                    <a:ext uri="{9D8B030D-6E8A-4147-A177-3AD203B41FA5}">
                      <a16:colId xmlns:a16="http://schemas.microsoft.com/office/drawing/2014/main" val="20005"/>
                    </a:ext>
                  </a:extLst>
                </a:gridCol>
              </a:tblGrid>
              <a:tr h="614363">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编码顺序</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二进制码</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zh-CN" altLang="en-US"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格雷码</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8313">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8</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1000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1100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5925">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9</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1001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1101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0336">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10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1010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1111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5925">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11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1011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1110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5925">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12</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1100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1010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5925">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13</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1101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1011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5925">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14</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1110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1001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15925">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15</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1111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MS PGothic" panose="020B0600070205080204" pitchFamily="34" charset="-128"/>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cs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cs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1000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10" name="标题 1">
            <a:extLst>
              <a:ext uri="{FF2B5EF4-FFF2-40B4-BE49-F238E27FC236}">
                <a16:creationId xmlns:a16="http://schemas.microsoft.com/office/drawing/2014/main" id="{49522B5A-F795-B8B9-2DAD-F881522DED0A}"/>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半导体存储器 </a:t>
            </a:r>
            <a:r>
              <a:rPr lang="en-US" altLang="zh-CN" sz="3000" dirty="0"/>
              <a:t>—— </a:t>
            </a:r>
            <a:r>
              <a:rPr lang="zh-CN" altLang="en-US" sz="3000" dirty="0">
                <a:solidFill>
                  <a:srgbClr val="FFFF00"/>
                </a:solidFill>
              </a:rPr>
              <a:t>只读存储器（</a:t>
            </a:r>
            <a:r>
              <a:rPr lang="en-US" altLang="zh-CN" sz="3000" dirty="0">
                <a:solidFill>
                  <a:srgbClr val="FFFF00"/>
                </a:solidFill>
              </a:rPr>
              <a:t>ROM</a:t>
            </a:r>
            <a:r>
              <a:rPr lang="zh-CN" altLang="en-US" sz="3000" dirty="0">
                <a:solidFill>
                  <a:srgbClr val="FFFF00"/>
                </a:solidFill>
              </a:rPr>
              <a:t>）</a:t>
            </a:r>
            <a:endParaRPr lang="en-US" altLang="zh-CN" sz="3000" dirty="0"/>
          </a:p>
        </p:txBody>
      </p:sp>
    </p:spTree>
    <p:extLst>
      <p:ext uri="{BB962C8B-B14F-4D97-AF65-F5344CB8AC3E}">
        <p14:creationId xmlns:p14="http://schemas.microsoft.com/office/powerpoint/2010/main" val="3834542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B88C8-2AE5-2039-3759-E7D7000E82E0}"/>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AF619063-523F-CE63-4568-8A350727E0D1}"/>
              </a:ext>
            </a:extLst>
          </p:cNvPr>
          <p:cNvSpPr txBox="1"/>
          <p:nvPr/>
        </p:nvSpPr>
        <p:spPr>
          <a:xfrm>
            <a:off x="360000" y="828000"/>
            <a:ext cx="11327459" cy="565604"/>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示例：利用 </a:t>
            </a:r>
            <a:r>
              <a:rPr kumimoji="1" lang="en-US" altLang="zh-CN" sz="2800" dirty="0">
                <a:solidFill>
                  <a:srgbClr val="002060"/>
                </a:solidFill>
                <a:latin typeface="微软雅黑" panose="020B0503020204020204" pitchFamily="34" charset="-122"/>
                <a:ea typeface="微软雅黑" panose="020B0503020204020204" pitchFamily="34" charset="-122"/>
              </a:rPr>
              <a:t>ROM </a:t>
            </a:r>
            <a:r>
              <a:rPr kumimoji="1" lang="zh-CN" altLang="en-US" sz="2800" dirty="0">
                <a:solidFill>
                  <a:srgbClr val="002060"/>
                </a:solidFill>
                <a:latin typeface="微软雅黑" panose="020B0503020204020204" pitchFamily="34" charset="-122"/>
                <a:ea typeface="微软雅黑" panose="020B0503020204020204" pitchFamily="34" charset="-122"/>
              </a:rPr>
              <a:t>实现二进制码与格雷码相互转换</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4" name="组合 3">
            <a:extLst>
              <a:ext uri="{FF2B5EF4-FFF2-40B4-BE49-F238E27FC236}">
                <a16:creationId xmlns:a16="http://schemas.microsoft.com/office/drawing/2014/main" id="{6ACEC63E-463B-CF32-E88E-05A3963172D3}"/>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4DB698AC-65C4-5F89-CDA1-2E710B85ACDF}"/>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ABBC51EA-7CF2-C219-0FDE-EDD36B7E0C3C}"/>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5F007020-0A2D-CD85-4995-35494EED2955}"/>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09F1BA05-52A7-0BF9-7FE4-2EADE4F3C136}"/>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9</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A84570EA-5FEB-C9B5-EDA5-D09E5238995B}"/>
                  </a:ext>
                </a:extLst>
              </p:cNvPr>
              <p:cNvSpPr txBox="1"/>
              <p:nvPr/>
            </p:nvSpPr>
            <p:spPr>
              <a:xfrm>
                <a:off x="360000" y="1440000"/>
                <a:ext cx="5040000" cy="175695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14:m>
                  <m:oMath xmlns:m="http://schemas.openxmlformats.org/officeDocument/2006/math">
                    <m:r>
                      <m:rPr>
                        <m:sty m:val="p"/>
                      </m:rPr>
                      <a:rPr kumimoji="1" lang="en-US" altLang="zh-CN" sz="2800" b="0" i="0" smtClean="0">
                        <a:solidFill>
                          <a:srgbClr val="002060"/>
                        </a:solidFill>
                        <a:latin typeface="Cambria Math" panose="02040503050406030204" pitchFamily="18" charset="0"/>
                        <a:ea typeface="微软雅黑" panose="020B0503020204020204" pitchFamily="34" charset="-122"/>
                      </a:rPr>
                      <m:t>C</m:t>
                    </m:r>
                    <m:r>
                      <a:rPr kumimoji="1" lang="en-US" altLang="zh-CN" sz="2800" b="0" i="0" smtClean="0">
                        <a:solidFill>
                          <a:srgbClr val="002060"/>
                        </a:solidFill>
                        <a:latin typeface="Cambria Math" panose="02040503050406030204" pitchFamily="18" charset="0"/>
                        <a:ea typeface="微软雅黑" panose="020B0503020204020204" pitchFamily="34" charset="-122"/>
                      </a:rPr>
                      <m:t>=0</m:t>
                    </m:r>
                  </m:oMath>
                </a14:m>
                <a:r>
                  <a:rPr kumimoji="1" lang="zh-CN" altLang="en-US" sz="2800" dirty="0">
                    <a:solidFill>
                      <a:srgbClr val="002060"/>
                    </a:solidFill>
                    <a:latin typeface="微软雅黑" panose="020B0503020204020204" pitchFamily="34" charset="-122"/>
                    <a:ea typeface="微软雅黑" panose="020B0503020204020204" pitchFamily="34" charset="-122"/>
                  </a:rPr>
                  <a:t>：二进制码 </a:t>
                </a:r>
                <a:r>
                  <a:rPr kumimoji="1" lang="en-US" altLang="zh-CN" sz="2800" dirty="0">
                    <a:solidFill>
                      <a:srgbClr val="002060"/>
                    </a:solidFill>
                    <a:latin typeface="微软雅黑" panose="020B0503020204020204" pitchFamily="34" charset="-122"/>
                    <a:ea typeface="微软雅黑" panose="020B0503020204020204" pitchFamily="34" charset="-122"/>
                    <a:sym typeface="Wingdings" panose="05000000000000000000" pitchFamily="2" charset="2"/>
                  </a:rPr>
                  <a:t>→</a:t>
                </a:r>
                <a:r>
                  <a:rPr kumimoji="1" lang="en-US" altLang="zh-CN" sz="2800" dirty="0">
                    <a:solidFill>
                      <a:srgbClr val="002060"/>
                    </a:solidFill>
                    <a:latin typeface="微软雅黑" panose="020B0503020204020204" pitchFamily="34" charset="-122"/>
                    <a:ea typeface="微软雅黑" panose="020B0503020204020204" pitchFamily="34" charset="-122"/>
                  </a:rPr>
                  <a:t> </a:t>
                </a:r>
                <a:r>
                  <a:rPr kumimoji="1" lang="zh-CN" altLang="en-US" sz="2800" dirty="0">
                    <a:solidFill>
                      <a:srgbClr val="002060"/>
                    </a:solidFill>
                    <a:latin typeface="微软雅黑" panose="020B0503020204020204" pitchFamily="34" charset="-122"/>
                    <a:ea typeface="微软雅黑" panose="020B0503020204020204" pitchFamily="34" charset="-122"/>
                  </a:rPr>
                  <a:t>格雷码</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14:m>
                  <m:oMath xmlns:m="http://schemas.openxmlformats.org/officeDocument/2006/math">
                    <m:r>
                      <m:rPr>
                        <m:sty m:val="p"/>
                      </m:rPr>
                      <a:rPr kumimoji="1" lang="en-US" altLang="zh-CN" sz="2800">
                        <a:solidFill>
                          <a:srgbClr val="002060"/>
                        </a:solidFill>
                        <a:latin typeface="Cambria Math" panose="02040503050406030204" pitchFamily="18" charset="0"/>
                        <a:ea typeface="微软雅黑" panose="020B0503020204020204" pitchFamily="34" charset="-122"/>
                      </a:rPr>
                      <m:t>C</m:t>
                    </m:r>
                    <m:r>
                      <a:rPr kumimoji="1" lang="en-US" altLang="zh-CN" sz="2800">
                        <a:solidFill>
                          <a:srgbClr val="002060"/>
                        </a:solidFill>
                        <a:latin typeface="Cambria Math" panose="02040503050406030204" pitchFamily="18" charset="0"/>
                        <a:ea typeface="微软雅黑" panose="020B0503020204020204" pitchFamily="34" charset="-122"/>
                      </a:rPr>
                      <m:t>=</m:t>
                    </m:r>
                    <m:r>
                      <a:rPr kumimoji="1" lang="en-US" altLang="zh-CN" sz="2800" i="1" smtClean="0">
                        <a:solidFill>
                          <a:srgbClr val="002060"/>
                        </a:solidFill>
                        <a:latin typeface="Cambria Math" panose="02040503050406030204" pitchFamily="18" charset="0"/>
                        <a:ea typeface="微软雅黑" panose="020B0503020204020204" pitchFamily="34" charset="-122"/>
                      </a:rPr>
                      <m:t>1</m:t>
                    </m:r>
                  </m:oMath>
                </a14:m>
                <a:r>
                  <a:rPr kumimoji="1" lang="zh-CN" altLang="en-US" sz="2800" dirty="0">
                    <a:solidFill>
                      <a:srgbClr val="002060"/>
                    </a:solidFill>
                    <a:latin typeface="微软雅黑" panose="020B0503020204020204" pitchFamily="34" charset="-122"/>
                    <a:ea typeface="微软雅黑" panose="020B0503020204020204" pitchFamily="34" charset="-122"/>
                  </a:rPr>
                  <a:t>：格雷码 </a:t>
                </a:r>
                <a:r>
                  <a:rPr kumimoji="1" lang="en-US" altLang="zh-CN" sz="2800" dirty="0">
                    <a:solidFill>
                      <a:srgbClr val="002060"/>
                    </a:solidFill>
                    <a:latin typeface="微软雅黑" panose="020B0503020204020204" pitchFamily="34" charset="-122"/>
                    <a:ea typeface="微软雅黑" panose="020B0503020204020204" pitchFamily="34" charset="-122"/>
                    <a:sym typeface="Wingdings" panose="05000000000000000000" pitchFamily="2" charset="2"/>
                  </a:rPr>
                  <a:t>→</a:t>
                </a:r>
                <a:r>
                  <a:rPr kumimoji="1" lang="en-US" altLang="zh-CN" sz="2800" dirty="0">
                    <a:solidFill>
                      <a:srgbClr val="002060"/>
                    </a:solidFill>
                    <a:latin typeface="微软雅黑" panose="020B0503020204020204" pitchFamily="34" charset="-122"/>
                    <a:ea typeface="微软雅黑" panose="020B0503020204020204" pitchFamily="34" charset="-122"/>
                  </a:rPr>
                  <a:t> </a:t>
                </a:r>
                <a:r>
                  <a:rPr kumimoji="1" lang="zh-CN" altLang="en-US" sz="2800" dirty="0">
                    <a:solidFill>
                      <a:srgbClr val="002060"/>
                    </a:solidFill>
                    <a:latin typeface="微软雅黑" panose="020B0503020204020204" pitchFamily="34" charset="-122"/>
                    <a:ea typeface="微软雅黑" panose="020B0503020204020204" pitchFamily="34" charset="-122"/>
                  </a:rPr>
                  <a:t>二进制码</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至少为 </a:t>
                </a:r>
                <a14:m>
                  <m:oMath xmlns:m="http://schemas.openxmlformats.org/officeDocument/2006/math">
                    <m:sSup>
                      <m:sSupPr>
                        <m:ctrlPr>
                          <a:rPr kumimoji="1" lang="en-US" altLang="zh-CN" sz="2800" i="1" smtClean="0">
                            <a:solidFill>
                              <a:srgbClr val="002060"/>
                            </a:solidFill>
                            <a:latin typeface="Cambria Math" panose="02040503050406030204" pitchFamily="18" charset="0"/>
                            <a:ea typeface="微软雅黑" panose="020B0503020204020204" pitchFamily="34" charset="-122"/>
                          </a:rPr>
                        </m:ctrlPr>
                      </m:sSupPr>
                      <m:e>
                        <m:r>
                          <a:rPr kumimoji="1" lang="en-US" altLang="zh-CN" sz="2800" i="1">
                            <a:solidFill>
                              <a:srgbClr val="002060"/>
                            </a:solidFill>
                            <a:latin typeface="Cambria Math" panose="02040503050406030204" pitchFamily="18" charset="0"/>
                            <a:ea typeface="微软雅黑" panose="020B0503020204020204" pitchFamily="34" charset="-122"/>
                          </a:rPr>
                          <m:t>2</m:t>
                        </m:r>
                      </m:e>
                      <m:sup>
                        <m:r>
                          <a:rPr kumimoji="1" lang="en-US" altLang="zh-CN" sz="2800" i="1">
                            <a:solidFill>
                              <a:srgbClr val="002060"/>
                            </a:solidFill>
                            <a:latin typeface="Cambria Math" panose="02040503050406030204" pitchFamily="18" charset="0"/>
                            <a:ea typeface="微软雅黑" panose="020B0503020204020204" pitchFamily="34" charset="-122"/>
                          </a:rPr>
                          <m:t>5</m:t>
                        </m:r>
                      </m:sup>
                    </m:sSup>
                    <m:r>
                      <a:rPr kumimoji="1" lang="en-US" altLang="zh-CN" sz="2800" i="1" smtClean="0">
                        <a:solidFill>
                          <a:srgbClr val="002060"/>
                        </a:solidFill>
                        <a:latin typeface="Cambria Math" panose="02040503050406030204" pitchFamily="18" charset="0"/>
                        <a:ea typeface="Cambria Math" panose="02040503050406030204" pitchFamily="18" charset="0"/>
                      </a:rPr>
                      <m:t>×</m:t>
                    </m:r>
                    <m:r>
                      <a:rPr kumimoji="1" lang="en-US" altLang="zh-CN" sz="2800" i="1">
                        <a:solidFill>
                          <a:srgbClr val="002060"/>
                        </a:solidFill>
                        <a:latin typeface="Cambria Math" panose="02040503050406030204" pitchFamily="18" charset="0"/>
                        <a:ea typeface="Cambria Math" panose="02040503050406030204" pitchFamily="18" charset="0"/>
                      </a:rPr>
                      <m:t>4</m:t>
                    </m:r>
                  </m:oMath>
                </a14:m>
                <a:r>
                  <a:rPr kumimoji="1" lang="en-US" altLang="zh-CN" sz="2800" dirty="0">
                    <a:solidFill>
                      <a:srgbClr val="002060"/>
                    </a:solidFill>
                    <a:latin typeface="微软雅黑" panose="020B0503020204020204" pitchFamily="34" charset="-122"/>
                    <a:ea typeface="微软雅黑" panose="020B0503020204020204" pitchFamily="34" charset="-122"/>
                  </a:rPr>
                  <a:t> </a:t>
                </a:r>
                <a:r>
                  <a:rPr kumimoji="1" lang="zh-CN" altLang="en-US" sz="2800" dirty="0">
                    <a:solidFill>
                      <a:srgbClr val="002060"/>
                    </a:solidFill>
                    <a:latin typeface="微软雅黑" panose="020B0503020204020204" pitchFamily="34" charset="-122"/>
                    <a:ea typeface="微软雅黑" panose="020B0503020204020204" pitchFamily="34" charset="-122"/>
                  </a:rPr>
                  <a:t>位容量</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10" name="文本框 9">
                <a:extLst>
                  <a:ext uri="{FF2B5EF4-FFF2-40B4-BE49-F238E27FC236}">
                    <a16:creationId xmlns:a16="http://schemas.microsoft.com/office/drawing/2014/main" id="{A84570EA-5FEB-C9B5-EDA5-D09E5238995B}"/>
                  </a:ext>
                </a:extLst>
              </p:cNvPr>
              <p:cNvSpPr txBox="1">
                <a:spLocks noRot="1" noChangeAspect="1" noMove="1" noResize="1" noEditPoints="1" noAdjustHandles="1" noChangeArrowheads="1" noChangeShapeType="1" noTextEdit="1"/>
              </p:cNvSpPr>
              <p:nvPr/>
            </p:nvSpPr>
            <p:spPr>
              <a:xfrm>
                <a:off x="360000" y="1440000"/>
                <a:ext cx="5040000" cy="1756956"/>
              </a:xfrm>
              <a:prstGeom prst="rect">
                <a:avLst/>
              </a:prstGeom>
              <a:blipFill>
                <a:blip r:embed="rId3"/>
                <a:stretch>
                  <a:fillRect l="-2177" t="-1042" b="-9028"/>
                </a:stretch>
              </a:blipFill>
            </p:spPr>
            <p:txBody>
              <a:bodyPr/>
              <a:lstStyle/>
              <a:p>
                <a:r>
                  <a:rPr lang="zh-CN" altLang="en-US">
                    <a:noFill/>
                  </a:rPr>
                  <a:t> </a:t>
                </a:r>
              </a:p>
            </p:txBody>
          </p:sp>
        </mc:Fallback>
      </mc:AlternateContent>
      <p:grpSp>
        <p:nvGrpSpPr>
          <p:cNvPr id="11" name="组合 10">
            <a:extLst>
              <a:ext uri="{FF2B5EF4-FFF2-40B4-BE49-F238E27FC236}">
                <a16:creationId xmlns:a16="http://schemas.microsoft.com/office/drawing/2014/main" id="{A5D1BA3C-E069-7AD5-8B70-8A7B5F3A2CD5}"/>
              </a:ext>
            </a:extLst>
          </p:cNvPr>
          <p:cNvGrpSpPr/>
          <p:nvPr/>
        </p:nvGrpSpPr>
        <p:grpSpPr>
          <a:xfrm>
            <a:off x="360000" y="3492000"/>
            <a:ext cx="3024000" cy="3168000"/>
            <a:chOff x="864000" y="3419999"/>
            <a:chExt cx="3024000" cy="3168000"/>
          </a:xfrm>
        </p:grpSpPr>
        <p:cxnSp>
          <p:nvCxnSpPr>
            <p:cNvPr id="15" name="直接连接符 14">
              <a:extLst>
                <a:ext uri="{FF2B5EF4-FFF2-40B4-BE49-F238E27FC236}">
                  <a16:creationId xmlns:a16="http://schemas.microsoft.com/office/drawing/2014/main" id="{67FA5CD4-251C-9655-282E-B6AE97484C5F}"/>
                </a:ext>
              </a:extLst>
            </p:cNvPr>
            <p:cNvCxnSpPr>
              <a:cxnSpLocks/>
            </p:cNvCxnSpPr>
            <p:nvPr/>
          </p:nvCxnSpPr>
          <p:spPr>
            <a:xfrm>
              <a:off x="3060000" y="4140000"/>
              <a:ext cx="39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DF9000E7-DEA3-3370-8533-D29ADD6FB88A}"/>
                </a:ext>
              </a:extLst>
            </p:cNvPr>
            <p:cNvCxnSpPr>
              <a:cxnSpLocks/>
            </p:cNvCxnSpPr>
            <p:nvPr/>
          </p:nvCxnSpPr>
          <p:spPr>
            <a:xfrm>
              <a:off x="3060000" y="4752000"/>
              <a:ext cx="39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36F8FB85-6360-8CC8-719C-1EF217C8ED54}"/>
                </a:ext>
              </a:extLst>
            </p:cNvPr>
            <p:cNvCxnSpPr>
              <a:cxnSpLocks/>
            </p:cNvCxnSpPr>
            <p:nvPr/>
          </p:nvCxnSpPr>
          <p:spPr>
            <a:xfrm>
              <a:off x="3060000" y="5364000"/>
              <a:ext cx="39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15D45769-ED4E-59BA-7C70-A73D6647AD90}"/>
                </a:ext>
              </a:extLst>
            </p:cNvPr>
            <p:cNvCxnSpPr>
              <a:cxnSpLocks/>
            </p:cNvCxnSpPr>
            <p:nvPr/>
          </p:nvCxnSpPr>
          <p:spPr>
            <a:xfrm>
              <a:off x="3060000" y="5976000"/>
              <a:ext cx="39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03E94092-0D24-5CA6-BDE1-8E2AE2B2D799}"/>
                </a:ext>
              </a:extLst>
            </p:cNvPr>
            <p:cNvCxnSpPr>
              <a:cxnSpLocks/>
            </p:cNvCxnSpPr>
            <p:nvPr/>
          </p:nvCxnSpPr>
          <p:spPr>
            <a:xfrm>
              <a:off x="1224000" y="3672000"/>
              <a:ext cx="2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D7388C24-668C-00DD-0286-24A93CA1D867}"/>
                </a:ext>
              </a:extLst>
            </p:cNvPr>
            <p:cNvCxnSpPr>
              <a:cxnSpLocks/>
            </p:cNvCxnSpPr>
            <p:nvPr/>
          </p:nvCxnSpPr>
          <p:spPr>
            <a:xfrm>
              <a:off x="1224000" y="4752000"/>
              <a:ext cx="2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直接连接符 149">
              <a:extLst>
                <a:ext uri="{FF2B5EF4-FFF2-40B4-BE49-F238E27FC236}">
                  <a16:creationId xmlns:a16="http://schemas.microsoft.com/office/drawing/2014/main" id="{853F725F-0CF7-F141-6F47-E9EDE03C24B4}"/>
                </a:ext>
              </a:extLst>
            </p:cNvPr>
            <p:cNvCxnSpPr>
              <a:cxnSpLocks/>
            </p:cNvCxnSpPr>
            <p:nvPr/>
          </p:nvCxnSpPr>
          <p:spPr>
            <a:xfrm>
              <a:off x="1224000" y="4032000"/>
              <a:ext cx="2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直接连接符 151">
              <a:extLst>
                <a:ext uri="{FF2B5EF4-FFF2-40B4-BE49-F238E27FC236}">
                  <a16:creationId xmlns:a16="http://schemas.microsoft.com/office/drawing/2014/main" id="{CEB5B942-0D8F-11FD-52C7-F93C1CAB8933}"/>
                </a:ext>
              </a:extLst>
            </p:cNvPr>
            <p:cNvCxnSpPr>
              <a:cxnSpLocks/>
            </p:cNvCxnSpPr>
            <p:nvPr/>
          </p:nvCxnSpPr>
          <p:spPr>
            <a:xfrm>
              <a:off x="1224000" y="4392000"/>
              <a:ext cx="2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接连接符 169">
              <a:extLst>
                <a:ext uri="{FF2B5EF4-FFF2-40B4-BE49-F238E27FC236}">
                  <a16:creationId xmlns:a16="http://schemas.microsoft.com/office/drawing/2014/main" id="{02609C87-B6E0-892F-1771-FCBB5D2267BB}"/>
                </a:ext>
              </a:extLst>
            </p:cNvPr>
            <p:cNvCxnSpPr>
              <a:cxnSpLocks/>
            </p:cNvCxnSpPr>
            <p:nvPr/>
          </p:nvCxnSpPr>
          <p:spPr>
            <a:xfrm>
              <a:off x="1224000" y="5112000"/>
              <a:ext cx="2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85AC11A7-59E2-8B6C-C37B-C433E71AAF93}"/>
                </a:ext>
              </a:extLst>
            </p:cNvPr>
            <p:cNvSpPr/>
            <p:nvPr/>
          </p:nvSpPr>
          <p:spPr>
            <a:xfrm>
              <a:off x="1470768" y="3419999"/>
              <a:ext cx="1620000" cy="3168000"/>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panose="020B0503020204020204" pitchFamily="34" charset="-122"/>
                  <a:ea typeface="微软雅黑" panose="020B0503020204020204" pitchFamily="34" charset="-122"/>
                </a:rPr>
                <a:t>ROM</a:t>
              </a:r>
              <a:endParaRPr lang="zh-CN" altLang="en-US"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28" name="文本框 127">
                  <a:extLst>
                    <a:ext uri="{FF2B5EF4-FFF2-40B4-BE49-F238E27FC236}">
                      <a16:creationId xmlns:a16="http://schemas.microsoft.com/office/drawing/2014/main" id="{ACA3318C-FE22-91E7-3B7F-F318564E0F3A}"/>
                    </a:ext>
                  </a:extLst>
                </p:cNvPr>
                <p:cNvSpPr txBox="1"/>
                <p:nvPr/>
              </p:nvSpPr>
              <p:spPr>
                <a:xfrm>
                  <a:off x="3528000" y="3960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O</m:t>
                            </m:r>
                          </m:e>
                          <m:sub>
                            <m:r>
                              <a:rPr lang="en-US" altLang="zh-CN" sz="2400" b="0" i="1" smtClean="0">
                                <a:solidFill>
                                  <a:schemeClr val="accent5">
                                    <a:lumMod val="75000"/>
                                  </a:schemeClr>
                                </a:solidFill>
                                <a:latin typeface="Cambria Math" panose="02040503050406030204" pitchFamily="18" charset="0"/>
                              </a:rPr>
                              <m:t>3</m:t>
                            </m:r>
                          </m:sub>
                        </m:sSub>
                      </m:oMath>
                    </m:oMathPara>
                  </a14:m>
                  <a:endParaRPr lang="zh-CN" altLang="en-US" sz="2400" dirty="0">
                    <a:solidFill>
                      <a:schemeClr val="accent5">
                        <a:lumMod val="75000"/>
                      </a:schemeClr>
                    </a:solidFill>
                  </a:endParaRPr>
                </a:p>
              </p:txBody>
            </p:sp>
          </mc:Choice>
          <mc:Fallback xmlns="">
            <p:sp>
              <p:nvSpPr>
                <p:cNvPr id="128" name="文本框 127">
                  <a:extLst>
                    <a:ext uri="{FF2B5EF4-FFF2-40B4-BE49-F238E27FC236}">
                      <a16:creationId xmlns:a16="http://schemas.microsoft.com/office/drawing/2014/main" id="{ACA3318C-FE22-91E7-3B7F-F318564E0F3A}"/>
                    </a:ext>
                  </a:extLst>
                </p:cNvPr>
                <p:cNvSpPr txBox="1">
                  <a:spLocks noRot="1" noChangeAspect="1" noMove="1" noResize="1" noEditPoints="1" noAdjustHandles="1" noChangeArrowheads="1" noChangeShapeType="1" noTextEdit="1"/>
                </p:cNvSpPr>
                <p:nvPr/>
              </p:nvSpPr>
              <p:spPr>
                <a:xfrm>
                  <a:off x="3528000" y="3960000"/>
                  <a:ext cx="360000" cy="360000"/>
                </a:xfrm>
                <a:prstGeom prst="rect">
                  <a:avLst/>
                </a:prstGeom>
                <a:blipFill>
                  <a:blip r:embed="rId4"/>
                  <a:stretch>
                    <a:fillRect l="-25424" r="-15254"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0" name="文本框 139">
                  <a:extLst>
                    <a:ext uri="{FF2B5EF4-FFF2-40B4-BE49-F238E27FC236}">
                      <a16:creationId xmlns:a16="http://schemas.microsoft.com/office/drawing/2014/main" id="{B04CBB1B-B695-8D7F-D653-AC052CBD84EF}"/>
                    </a:ext>
                  </a:extLst>
                </p:cNvPr>
                <p:cNvSpPr txBox="1"/>
                <p:nvPr/>
              </p:nvSpPr>
              <p:spPr>
                <a:xfrm>
                  <a:off x="2700000" y="3960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D</m:t>
                            </m:r>
                          </m:e>
                          <m:sub>
                            <m:r>
                              <a:rPr lang="en-US" altLang="zh-CN" sz="2400" b="0" i="1" smtClean="0">
                                <a:solidFill>
                                  <a:schemeClr val="tx1"/>
                                </a:solidFill>
                                <a:latin typeface="Cambria Math" panose="02040503050406030204" pitchFamily="18" charset="0"/>
                              </a:rPr>
                              <m:t>3</m:t>
                            </m:r>
                          </m:sub>
                        </m:sSub>
                      </m:oMath>
                    </m:oMathPara>
                  </a14:m>
                  <a:endParaRPr lang="zh-CN" altLang="en-US" sz="2400" dirty="0">
                    <a:solidFill>
                      <a:schemeClr val="tx1"/>
                    </a:solidFill>
                  </a:endParaRPr>
                </a:p>
              </p:txBody>
            </p:sp>
          </mc:Choice>
          <mc:Fallback xmlns="">
            <p:sp>
              <p:nvSpPr>
                <p:cNvPr id="140" name="文本框 139">
                  <a:extLst>
                    <a:ext uri="{FF2B5EF4-FFF2-40B4-BE49-F238E27FC236}">
                      <a16:creationId xmlns:a16="http://schemas.microsoft.com/office/drawing/2014/main" id="{B04CBB1B-B695-8D7F-D653-AC052CBD84EF}"/>
                    </a:ext>
                  </a:extLst>
                </p:cNvPr>
                <p:cNvSpPr txBox="1">
                  <a:spLocks noRot="1" noChangeAspect="1" noMove="1" noResize="1" noEditPoints="1" noAdjustHandles="1" noChangeArrowheads="1" noChangeShapeType="1" noTextEdit="1"/>
                </p:cNvSpPr>
                <p:nvPr/>
              </p:nvSpPr>
              <p:spPr>
                <a:xfrm>
                  <a:off x="2700000" y="3960000"/>
                  <a:ext cx="360000" cy="360000"/>
                </a:xfrm>
                <a:prstGeom prst="rect">
                  <a:avLst/>
                </a:prstGeom>
                <a:blipFill>
                  <a:blip r:embed="rId5"/>
                  <a:stretch>
                    <a:fillRect l="-27119" r="-13559"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1" name="文本框 140">
                  <a:extLst>
                    <a:ext uri="{FF2B5EF4-FFF2-40B4-BE49-F238E27FC236}">
                      <a16:creationId xmlns:a16="http://schemas.microsoft.com/office/drawing/2014/main" id="{59D44545-E85F-14FF-3D7E-E81C0F1CFEF7}"/>
                    </a:ext>
                  </a:extLst>
                </p:cNvPr>
                <p:cNvSpPr txBox="1"/>
                <p:nvPr/>
              </p:nvSpPr>
              <p:spPr>
                <a:xfrm>
                  <a:off x="2700000" y="4572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D</m:t>
                            </m:r>
                          </m:e>
                          <m:sub>
                            <m:r>
                              <a:rPr lang="en-US" altLang="zh-CN" sz="2400" b="0" i="1" smtClean="0">
                                <a:latin typeface="Cambria Math" panose="02040503050406030204" pitchFamily="18" charset="0"/>
                              </a:rPr>
                              <m:t>2</m:t>
                            </m:r>
                          </m:sub>
                        </m:sSub>
                      </m:oMath>
                    </m:oMathPara>
                  </a14:m>
                  <a:endParaRPr lang="zh-CN" altLang="en-US" sz="2400" dirty="0">
                    <a:solidFill>
                      <a:schemeClr val="tx1"/>
                    </a:solidFill>
                  </a:endParaRPr>
                </a:p>
              </p:txBody>
            </p:sp>
          </mc:Choice>
          <mc:Fallback xmlns="">
            <p:sp>
              <p:nvSpPr>
                <p:cNvPr id="141" name="文本框 140">
                  <a:extLst>
                    <a:ext uri="{FF2B5EF4-FFF2-40B4-BE49-F238E27FC236}">
                      <a16:creationId xmlns:a16="http://schemas.microsoft.com/office/drawing/2014/main" id="{59D44545-E85F-14FF-3D7E-E81C0F1CFEF7}"/>
                    </a:ext>
                  </a:extLst>
                </p:cNvPr>
                <p:cNvSpPr txBox="1">
                  <a:spLocks noRot="1" noChangeAspect="1" noMove="1" noResize="1" noEditPoints="1" noAdjustHandles="1" noChangeArrowheads="1" noChangeShapeType="1" noTextEdit="1"/>
                </p:cNvSpPr>
                <p:nvPr/>
              </p:nvSpPr>
              <p:spPr>
                <a:xfrm>
                  <a:off x="2700000" y="4572000"/>
                  <a:ext cx="360000" cy="360000"/>
                </a:xfrm>
                <a:prstGeom prst="rect">
                  <a:avLst/>
                </a:prstGeom>
                <a:blipFill>
                  <a:blip r:embed="rId6"/>
                  <a:stretch>
                    <a:fillRect l="-27119" r="-13559"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2" name="文本框 141">
                  <a:extLst>
                    <a:ext uri="{FF2B5EF4-FFF2-40B4-BE49-F238E27FC236}">
                      <a16:creationId xmlns:a16="http://schemas.microsoft.com/office/drawing/2014/main" id="{9C5A8528-0D71-57CD-BCD8-8027A9C1F43A}"/>
                    </a:ext>
                  </a:extLst>
                </p:cNvPr>
                <p:cNvSpPr txBox="1"/>
                <p:nvPr/>
              </p:nvSpPr>
              <p:spPr>
                <a:xfrm>
                  <a:off x="2700000" y="5184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latin typeface="Cambria Math" panose="02040503050406030204" pitchFamily="18" charset="0"/>
                              </a:rPr>
                              <m:t>D</m:t>
                            </m:r>
                          </m:e>
                          <m:sub>
                            <m:r>
                              <a:rPr lang="en-US" altLang="zh-CN" sz="2400" b="0" i="1" smtClean="0">
                                <a:latin typeface="Cambria Math" panose="02040503050406030204" pitchFamily="18" charset="0"/>
                              </a:rPr>
                              <m:t>1</m:t>
                            </m:r>
                          </m:sub>
                        </m:sSub>
                      </m:oMath>
                    </m:oMathPara>
                  </a14:m>
                  <a:endParaRPr lang="zh-CN" altLang="en-US" sz="2400" dirty="0">
                    <a:solidFill>
                      <a:schemeClr val="tx1"/>
                    </a:solidFill>
                  </a:endParaRPr>
                </a:p>
              </p:txBody>
            </p:sp>
          </mc:Choice>
          <mc:Fallback xmlns="">
            <p:sp>
              <p:nvSpPr>
                <p:cNvPr id="142" name="文本框 141">
                  <a:extLst>
                    <a:ext uri="{FF2B5EF4-FFF2-40B4-BE49-F238E27FC236}">
                      <a16:creationId xmlns:a16="http://schemas.microsoft.com/office/drawing/2014/main" id="{9C5A8528-0D71-57CD-BCD8-8027A9C1F43A}"/>
                    </a:ext>
                  </a:extLst>
                </p:cNvPr>
                <p:cNvSpPr txBox="1">
                  <a:spLocks noRot="1" noChangeAspect="1" noMove="1" noResize="1" noEditPoints="1" noAdjustHandles="1" noChangeArrowheads="1" noChangeShapeType="1" noTextEdit="1"/>
                </p:cNvSpPr>
                <p:nvPr/>
              </p:nvSpPr>
              <p:spPr>
                <a:xfrm>
                  <a:off x="2700000" y="5184000"/>
                  <a:ext cx="360000" cy="360000"/>
                </a:xfrm>
                <a:prstGeom prst="rect">
                  <a:avLst/>
                </a:prstGeom>
                <a:blipFill>
                  <a:blip r:embed="rId7"/>
                  <a:stretch>
                    <a:fillRect l="-25424" r="-13559"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3" name="文本框 142">
                  <a:extLst>
                    <a:ext uri="{FF2B5EF4-FFF2-40B4-BE49-F238E27FC236}">
                      <a16:creationId xmlns:a16="http://schemas.microsoft.com/office/drawing/2014/main" id="{148F0820-69C8-4BE4-BD4F-1C5A40DDBB00}"/>
                    </a:ext>
                  </a:extLst>
                </p:cNvPr>
                <p:cNvSpPr txBox="1"/>
                <p:nvPr/>
              </p:nvSpPr>
              <p:spPr>
                <a:xfrm>
                  <a:off x="2700000" y="5796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latin typeface="Cambria Math" panose="02040503050406030204" pitchFamily="18" charset="0"/>
                              </a:rPr>
                              <m:t>D</m:t>
                            </m:r>
                          </m:e>
                          <m:sub>
                            <m:r>
                              <a:rPr lang="en-US" altLang="zh-CN" sz="2400" b="0" i="1" smtClean="0">
                                <a:latin typeface="Cambria Math" panose="02040503050406030204" pitchFamily="18" charset="0"/>
                              </a:rPr>
                              <m:t>0</m:t>
                            </m:r>
                          </m:sub>
                        </m:sSub>
                      </m:oMath>
                    </m:oMathPara>
                  </a14:m>
                  <a:endParaRPr lang="zh-CN" altLang="en-US" sz="2400" dirty="0">
                    <a:solidFill>
                      <a:schemeClr val="tx1"/>
                    </a:solidFill>
                  </a:endParaRPr>
                </a:p>
              </p:txBody>
            </p:sp>
          </mc:Choice>
          <mc:Fallback xmlns="">
            <p:sp>
              <p:nvSpPr>
                <p:cNvPr id="143" name="文本框 142">
                  <a:extLst>
                    <a:ext uri="{FF2B5EF4-FFF2-40B4-BE49-F238E27FC236}">
                      <a16:creationId xmlns:a16="http://schemas.microsoft.com/office/drawing/2014/main" id="{148F0820-69C8-4BE4-BD4F-1C5A40DDBB00}"/>
                    </a:ext>
                  </a:extLst>
                </p:cNvPr>
                <p:cNvSpPr txBox="1">
                  <a:spLocks noRot="1" noChangeAspect="1" noMove="1" noResize="1" noEditPoints="1" noAdjustHandles="1" noChangeArrowheads="1" noChangeShapeType="1" noTextEdit="1"/>
                </p:cNvSpPr>
                <p:nvPr/>
              </p:nvSpPr>
              <p:spPr>
                <a:xfrm>
                  <a:off x="2700000" y="5796000"/>
                  <a:ext cx="360000" cy="360000"/>
                </a:xfrm>
                <a:prstGeom prst="rect">
                  <a:avLst/>
                </a:prstGeom>
                <a:blipFill>
                  <a:blip r:embed="rId8"/>
                  <a:stretch>
                    <a:fillRect l="-27119" r="-13559"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3" name="文本框 162">
                  <a:extLst>
                    <a:ext uri="{FF2B5EF4-FFF2-40B4-BE49-F238E27FC236}">
                      <a16:creationId xmlns:a16="http://schemas.microsoft.com/office/drawing/2014/main" id="{9CFD85BC-2E9C-B10B-D20F-0FCB22CC164F}"/>
                    </a:ext>
                  </a:extLst>
                </p:cNvPr>
                <p:cNvSpPr txBox="1"/>
                <p:nvPr/>
              </p:nvSpPr>
              <p:spPr>
                <a:xfrm>
                  <a:off x="3528000" y="4572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O</m:t>
                            </m:r>
                          </m:e>
                          <m:sub>
                            <m:r>
                              <a:rPr lang="en-US" altLang="zh-CN" sz="2400" b="0" i="1" smtClean="0">
                                <a:solidFill>
                                  <a:schemeClr val="accent5">
                                    <a:lumMod val="75000"/>
                                  </a:schemeClr>
                                </a:solidFill>
                                <a:latin typeface="Cambria Math" panose="02040503050406030204" pitchFamily="18" charset="0"/>
                              </a:rPr>
                              <m:t>2</m:t>
                            </m:r>
                          </m:sub>
                        </m:sSub>
                      </m:oMath>
                    </m:oMathPara>
                  </a14:m>
                  <a:endParaRPr lang="zh-CN" altLang="en-US" sz="2400" dirty="0">
                    <a:solidFill>
                      <a:schemeClr val="accent5">
                        <a:lumMod val="75000"/>
                      </a:schemeClr>
                    </a:solidFill>
                  </a:endParaRPr>
                </a:p>
              </p:txBody>
            </p:sp>
          </mc:Choice>
          <mc:Fallback xmlns="">
            <p:sp>
              <p:nvSpPr>
                <p:cNvPr id="163" name="文本框 162">
                  <a:extLst>
                    <a:ext uri="{FF2B5EF4-FFF2-40B4-BE49-F238E27FC236}">
                      <a16:creationId xmlns:a16="http://schemas.microsoft.com/office/drawing/2014/main" id="{9CFD85BC-2E9C-B10B-D20F-0FCB22CC164F}"/>
                    </a:ext>
                  </a:extLst>
                </p:cNvPr>
                <p:cNvSpPr txBox="1">
                  <a:spLocks noRot="1" noChangeAspect="1" noMove="1" noResize="1" noEditPoints="1" noAdjustHandles="1" noChangeArrowheads="1" noChangeShapeType="1" noTextEdit="1"/>
                </p:cNvSpPr>
                <p:nvPr/>
              </p:nvSpPr>
              <p:spPr>
                <a:xfrm>
                  <a:off x="3528000" y="4572000"/>
                  <a:ext cx="360000" cy="360000"/>
                </a:xfrm>
                <a:prstGeom prst="rect">
                  <a:avLst/>
                </a:prstGeom>
                <a:blipFill>
                  <a:blip r:embed="rId9"/>
                  <a:stretch>
                    <a:fillRect l="-25424" r="-15254"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4" name="文本框 163">
                  <a:extLst>
                    <a:ext uri="{FF2B5EF4-FFF2-40B4-BE49-F238E27FC236}">
                      <a16:creationId xmlns:a16="http://schemas.microsoft.com/office/drawing/2014/main" id="{D0785034-41B5-1C9F-A344-A85E2B1B3E05}"/>
                    </a:ext>
                  </a:extLst>
                </p:cNvPr>
                <p:cNvSpPr txBox="1"/>
                <p:nvPr/>
              </p:nvSpPr>
              <p:spPr>
                <a:xfrm>
                  <a:off x="3528000" y="5184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O</m:t>
                            </m:r>
                          </m:e>
                          <m:sub>
                            <m:r>
                              <a:rPr lang="en-US" altLang="zh-CN" sz="2400" b="0" i="1" smtClean="0">
                                <a:solidFill>
                                  <a:schemeClr val="accent5">
                                    <a:lumMod val="75000"/>
                                  </a:schemeClr>
                                </a:solidFill>
                                <a:latin typeface="Cambria Math" panose="02040503050406030204" pitchFamily="18" charset="0"/>
                              </a:rPr>
                              <m:t>1</m:t>
                            </m:r>
                          </m:sub>
                        </m:sSub>
                      </m:oMath>
                    </m:oMathPara>
                  </a14:m>
                  <a:endParaRPr lang="zh-CN" altLang="en-US" sz="2400" dirty="0">
                    <a:solidFill>
                      <a:schemeClr val="accent5">
                        <a:lumMod val="75000"/>
                      </a:schemeClr>
                    </a:solidFill>
                  </a:endParaRPr>
                </a:p>
              </p:txBody>
            </p:sp>
          </mc:Choice>
          <mc:Fallback xmlns="">
            <p:sp>
              <p:nvSpPr>
                <p:cNvPr id="164" name="文本框 163">
                  <a:extLst>
                    <a:ext uri="{FF2B5EF4-FFF2-40B4-BE49-F238E27FC236}">
                      <a16:creationId xmlns:a16="http://schemas.microsoft.com/office/drawing/2014/main" id="{D0785034-41B5-1C9F-A344-A85E2B1B3E05}"/>
                    </a:ext>
                  </a:extLst>
                </p:cNvPr>
                <p:cNvSpPr txBox="1">
                  <a:spLocks noRot="1" noChangeAspect="1" noMove="1" noResize="1" noEditPoints="1" noAdjustHandles="1" noChangeArrowheads="1" noChangeShapeType="1" noTextEdit="1"/>
                </p:cNvSpPr>
                <p:nvPr/>
              </p:nvSpPr>
              <p:spPr>
                <a:xfrm>
                  <a:off x="3528000" y="5184000"/>
                  <a:ext cx="360000" cy="360000"/>
                </a:xfrm>
                <a:prstGeom prst="rect">
                  <a:avLst/>
                </a:prstGeom>
                <a:blipFill>
                  <a:blip r:embed="rId10"/>
                  <a:stretch>
                    <a:fillRect l="-25424" r="-13559"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5" name="文本框 164">
                  <a:extLst>
                    <a:ext uri="{FF2B5EF4-FFF2-40B4-BE49-F238E27FC236}">
                      <a16:creationId xmlns:a16="http://schemas.microsoft.com/office/drawing/2014/main" id="{DF7834DC-16E6-FB8F-458C-3798F1D0FE37}"/>
                    </a:ext>
                  </a:extLst>
                </p:cNvPr>
                <p:cNvSpPr txBox="1"/>
                <p:nvPr/>
              </p:nvSpPr>
              <p:spPr>
                <a:xfrm>
                  <a:off x="3528000" y="5796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O</m:t>
                            </m:r>
                          </m:e>
                          <m:sub>
                            <m:r>
                              <a:rPr lang="en-US" altLang="zh-CN" sz="2400" b="0" i="1" smtClean="0">
                                <a:solidFill>
                                  <a:schemeClr val="accent5">
                                    <a:lumMod val="75000"/>
                                  </a:schemeClr>
                                </a:solidFill>
                                <a:latin typeface="Cambria Math" panose="02040503050406030204" pitchFamily="18" charset="0"/>
                              </a:rPr>
                              <m:t>0</m:t>
                            </m:r>
                          </m:sub>
                        </m:sSub>
                      </m:oMath>
                    </m:oMathPara>
                  </a14:m>
                  <a:endParaRPr lang="zh-CN" altLang="en-US" sz="2400" dirty="0">
                    <a:solidFill>
                      <a:schemeClr val="accent5">
                        <a:lumMod val="75000"/>
                      </a:schemeClr>
                    </a:solidFill>
                  </a:endParaRPr>
                </a:p>
              </p:txBody>
            </p:sp>
          </mc:Choice>
          <mc:Fallback xmlns="">
            <p:sp>
              <p:nvSpPr>
                <p:cNvPr id="165" name="文本框 164">
                  <a:extLst>
                    <a:ext uri="{FF2B5EF4-FFF2-40B4-BE49-F238E27FC236}">
                      <a16:creationId xmlns:a16="http://schemas.microsoft.com/office/drawing/2014/main" id="{DF7834DC-16E6-FB8F-458C-3798F1D0FE37}"/>
                    </a:ext>
                  </a:extLst>
                </p:cNvPr>
                <p:cNvSpPr txBox="1">
                  <a:spLocks noRot="1" noChangeAspect="1" noMove="1" noResize="1" noEditPoints="1" noAdjustHandles="1" noChangeArrowheads="1" noChangeShapeType="1" noTextEdit="1"/>
                </p:cNvSpPr>
                <p:nvPr/>
              </p:nvSpPr>
              <p:spPr>
                <a:xfrm>
                  <a:off x="3528000" y="5796000"/>
                  <a:ext cx="360000" cy="360000"/>
                </a:xfrm>
                <a:prstGeom prst="rect">
                  <a:avLst/>
                </a:prstGeom>
                <a:blipFill>
                  <a:blip r:embed="rId11"/>
                  <a:stretch>
                    <a:fillRect l="-25424" r="-15254"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4" name="文本框 113">
                  <a:extLst>
                    <a:ext uri="{FF2B5EF4-FFF2-40B4-BE49-F238E27FC236}">
                      <a16:creationId xmlns:a16="http://schemas.microsoft.com/office/drawing/2014/main" id="{99CD0483-4C03-7861-6AF7-0C24360F05EF}"/>
                    </a:ext>
                  </a:extLst>
                </p:cNvPr>
                <p:cNvSpPr txBox="1"/>
                <p:nvPr/>
              </p:nvSpPr>
              <p:spPr>
                <a:xfrm>
                  <a:off x="900000" y="3492000"/>
                  <a:ext cx="360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C</m:t>
                        </m:r>
                        <m:r>
                          <a:rPr lang="en-US" altLang="zh-CN" sz="2400" b="0" i="0" smtClean="0">
                            <a:solidFill>
                              <a:schemeClr val="accent5">
                                <a:lumMod val="75000"/>
                              </a:schemeClr>
                            </a:solidFill>
                            <a:latin typeface="Cambria Math" panose="02040503050406030204" pitchFamily="18" charset="0"/>
                          </a:rPr>
                          <m:t> </m:t>
                        </m:r>
                      </m:oMath>
                    </m:oMathPara>
                  </a14:m>
                  <a:endParaRPr lang="zh-CN" altLang="en-US" sz="2400" dirty="0">
                    <a:solidFill>
                      <a:schemeClr val="accent5">
                        <a:lumMod val="75000"/>
                      </a:schemeClr>
                    </a:solidFill>
                  </a:endParaRPr>
                </a:p>
              </p:txBody>
            </p:sp>
          </mc:Choice>
          <mc:Fallback xmlns="">
            <p:sp>
              <p:nvSpPr>
                <p:cNvPr id="114" name="文本框 113">
                  <a:extLst>
                    <a:ext uri="{FF2B5EF4-FFF2-40B4-BE49-F238E27FC236}">
                      <a16:creationId xmlns:a16="http://schemas.microsoft.com/office/drawing/2014/main" id="{99CD0483-4C03-7861-6AF7-0C24360F05EF}"/>
                    </a:ext>
                  </a:extLst>
                </p:cNvPr>
                <p:cNvSpPr txBox="1">
                  <a:spLocks noRot="1" noChangeAspect="1" noMove="1" noResize="1" noEditPoints="1" noAdjustHandles="1" noChangeArrowheads="1" noChangeShapeType="1" noTextEdit="1"/>
                </p:cNvSpPr>
                <p:nvPr/>
              </p:nvSpPr>
              <p:spPr>
                <a:xfrm>
                  <a:off x="900000" y="3492000"/>
                  <a:ext cx="360000" cy="369332"/>
                </a:xfrm>
                <a:prstGeom prst="rect">
                  <a:avLst/>
                </a:prstGeom>
                <a:blipFill>
                  <a:blip r:embed="rId12"/>
                  <a:stretch>
                    <a:fillRect l="-13559"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8" name="文本框 137">
                  <a:extLst>
                    <a:ext uri="{FF2B5EF4-FFF2-40B4-BE49-F238E27FC236}">
                      <a16:creationId xmlns:a16="http://schemas.microsoft.com/office/drawing/2014/main" id="{19068900-2FFE-386A-8F4C-D9005C728F22}"/>
                    </a:ext>
                  </a:extLst>
                </p:cNvPr>
                <p:cNvSpPr txBox="1"/>
                <p:nvPr/>
              </p:nvSpPr>
              <p:spPr>
                <a:xfrm>
                  <a:off x="1512000" y="3492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b="0" i="1" smtClean="0">
                                <a:solidFill>
                                  <a:schemeClr val="tx1"/>
                                </a:solidFill>
                                <a:latin typeface="Cambria Math" panose="02040503050406030204" pitchFamily="18" charset="0"/>
                              </a:rPr>
                              <m:t>4</m:t>
                            </m:r>
                          </m:sub>
                        </m:sSub>
                      </m:oMath>
                    </m:oMathPara>
                  </a14:m>
                  <a:endParaRPr lang="zh-CN" altLang="en-US" sz="2400" dirty="0">
                    <a:solidFill>
                      <a:schemeClr val="tx1"/>
                    </a:solidFill>
                  </a:endParaRPr>
                </a:p>
              </p:txBody>
            </p:sp>
          </mc:Choice>
          <mc:Fallback xmlns="">
            <p:sp>
              <p:nvSpPr>
                <p:cNvPr id="138" name="文本框 137">
                  <a:extLst>
                    <a:ext uri="{FF2B5EF4-FFF2-40B4-BE49-F238E27FC236}">
                      <a16:creationId xmlns:a16="http://schemas.microsoft.com/office/drawing/2014/main" id="{19068900-2FFE-386A-8F4C-D9005C728F22}"/>
                    </a:ext>
                  </a:extLst>
                </p:cNvPr>
                <p:cNvSpPr txBox="1">
                  <a:spLocks noRot="1" noChangeAspect="1" noMove="1" noResize="1" noEditPoints="1" noAdjustHandles="1" noChangeArrowheads="1" noChangeShapeType="1" noTextEdit="1"/>
                </p:cNvSpPr>
                <p:nvPr/>
              </p:nvSpPr>
              <p:spPr>
                <a:xfrm>
                  <a:off x="1512000" y="3492000"/>
                  <a:ext cx="360000" cy="360000"/>
                </a:xfrm>
                <a:prstGeom prst="rect">
                  <a:avLst/>
                </a:prstGeom>
                <a:blipFill>
                  <a:blip r:embed="rId13"/>
                  <a:stretch>
                    <a:fillRect l="-25424" r="-13559"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9" name="文本框 138">
                  <a:extLst>
                    <a:ext uri="{FF2B5EF4-FFF2-40B4-BE49-F238E27FC236}">
                      <a16:creationId xmlns:a16="http://schemas.microsoft.com/office/drawing/2014/main" id="{EDE9DDFE-6993-8CAD-C7E7-E02C8C90F711}"/>
                    </a:ext>
                  </a:extLst>
                </p:cNvPr>
                <p:cNvSpPr txBox="1"/>
                <p:nvPr/>
              </p:nvSpPr>
              <p:spPr>
                <a:xfrm>
                  <a:off x="1512000" y="4572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b="0" i="1" smtClean="0">
                                <a:solidFill>
                                  <a:schemeClr val="tx1"/>
                                </a:solidFill>
                                <a:latin typeface="Cambria Math" panose="02040503050406030204" pitchFamily="18" charset="0"/>
                              </a:rPr>
                              <m:t>1</m:t>
                            </m:r>
                          </m:sub>
                        </m:sSub>
                      </m:oMath>
                    </m:oMathPara>
                  </a14:m>
                  <a:endParaRPr lang="zh-CN" altLang="en-US" sz="2400" dirty="0">
                    <a:solidFill>
                      <a:schemeClr val="tx1"/>
                    </a:solidFill>
                  </a:endParaRPr>
                </a:p>
              </p:txBody>
            </p:sp>
          </mc:Choice>
          <mc:Fallback xmlns="">
            <p:sp>
              <p:nvSpPr>
                <p:cNvPr id="139" name="文本框 138">
                  <a:extLst>
                    <a:ext uri="{FF2B5EF4-FFF2-40B4-BE49-F238E27FC236}">
                      <a16:creationId xmlns:a16="http://schemas.microsoft.com/office/drawing/2014/main" id="{EDE9DDFE-6993-8CAD-C7E7-E02C8C90F711}"/>
                    </a:ext>
                  </a:extLst>
                </p:cNvPr>
                <p:cNvSpPr txBox="1">
                  <a:spLocks noRot="1" noChangeAspect="1" noMove="1" noResize="1" noEditPoints="1" noAdjustHandles="1" noChangeArrowheads="1" noChangeShapeType="1" noTextEdit="1"/>
                </p:cNvSpPr>
                <p:nvPr/>
              </p:nvSpPr>
              <p:spPr>
                <a:xfrm>
                  <a:off x="1512000" y="4572000"/>
                  <a:ext cx="360000" cy="360000"/>
                </a:xfrm>
                <a:prstGeom prst="rect">
                  <a:avLst/>
                </a:prstGeom>
                <a:blipFill>
                  <a:blip r:embed="rId14"/>
                  <a:stretch>
                    <a:fillRect l="-25424" r="-11864"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1" name="文本框 150">
                  <a:extLst>
                    <a:ext uri="{FF2B5EF4-FFF2-40B4-BE49-F238E27FC236}">
                      <a16:creationId xmlns:a16="http://schemas.microsoft.com/office/drawing/2014/main" id="{2E357438-4D55-E98B-3F7D-FDAD7FE36647}"/>
                    </a:ext>
                  </a:extLst>
                </p:cNvPr>
                <p:cNvSpPr txBox="1"/>
                <p:nvPr/>
              </p:nvSpPr>
              <p:spPr>
                <a:xfrm>
                  <a:off x="1512000" y="3852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b="0" i="1" smtClean="0">
                                <a:solidFill>
                                  <a:schemeClr val="tx1"/>
                                </a:solidFill>
                                <a:latin typeface="Cambria Math" panose="02040503050406030204" pitchFamily="18" charset="0"/>
                              </a:rPr>
                              <m:t>3</m:t>
                            </m:r>
                          </m:sub>
                        </m:sSub>
                      </m:oMath>
                    </m:oMathPara>
                  </a14:m>
                  <a:endParaRPr lang="zh-CN" altLang="en-US" sz="2400" dirty="0">
                    <a:solidFill>
                      <a:schemeClr val="tx1"/>
                    </a:solidFill>
                  </a:endParaRPr>
                </a:p>
              </p:txBody>
            </p:sp>
          </mc:Choice>
          <mc:Fallback xmlns="">
            <p:sp>
              <p:nvSpPr>
                <p:cNvPr id="151" name="文本框 150">
                  <a:extLst>
                    <a:ext uri="{FF2B5EF4-FFF2-40B4-BE49-F238E27FC236}">
                      <a16:creationId xmlns:a16="http://schemas.microsoft.com/office/drawing/2014/main" id="{2E357438-4D55-E98B-3F7D-FDAD7FE36647}"/>
                    </a:ext>
                  </a:extLst>
                </p:cNvPr>
                <p:cNvSpPr txBox="1">
                  <a:spLocks noRot="1" noChangeAspect="1" noMove="1" noResize="1" noEditPoints="1" noAdjustHandles="1" noChangeArrowheads="1" noChangeShapeType="1" noTextEdit="1"/>
                </p:cNvSpPr>
                <p:nvPr/>
              </p:nvSpPr>
              <p:spPr>
                <a:xfrm>
                  <a:off x="1512000" y="3852000"/>
                  <a:ext cx="360000" cy="360000"/>
                </a:xfrm>
                <a:prstGeom prst="rect">
                  <a:avLst/>
                </a:prstGeom>
                <a:blipFill>
                  <a:blip r:embed="rId15"/>
                  <a:stretch>
                    <a:fillRect l="-25424" r="-13559"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3" name="文本框 152">
                  <a:extLst>
                    <a:ext uri="{FF2B5EF4-FFF2-40B4-BE49-F238E27FC236}">
                      <a16:creationId xmlns:a16="http://schemas.microsoft.com/office/drawing/2014/main" id="{4E89BB7B-CCE0-2E3B-5DAA-5B0CD4460E59}"/>
                    </a:ext>
                  </a:extLst>
                </p:cNvPr>
                <p:cNvSpPr txBox="1"/>
                <p:nvPr/>
              </p:nvSpPr>
              <p:spPr>
                <a:xfrm>
                  <a:off x="1512000" y="4212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b="0" i="1" smtClean="0">
                                <a:solidFill>
                                  <a:schemeClr val="tx1"/>
                                </a:solidFill>
                                <a:latin typeface="Cambria Math" panose="02040503050406030204" pitchFamily="18" charset="0"/>
                              </a:rPr>
                              <m:t>2</m:t>
                            </m:r>
                          </m:sub>
                        </m:sSub>
                      </m:oMath>
                    </m:oMathPara>
                  </a14:m>
                  <a:endParaRPr lang="zh-CN" altLang="en-US" sz="2400" dirty="0">
                    <a:solidFill>
                      <a:schemeClr val="tx1"/>
                    </a:solidFill>
                  </a:endParaRPr>
                </a:p>
              </p:txBody>
            </p:sp>
          </mc:Choice>
          <mc:Fallback xmlns="">
            <p:sp>
              <p:nvSpPr>
                <p:cNvPr id="153" name="文本框 152">
                  <a:extLst>
                    <a:ext uri="{FF2B5EF4-FFF2-40B4-BE49-F238E27FC236}">
                      <a16:creationId xmlns:a16="http://schemas.microsoft.com/office/drawing/2014/main" id="{4E89BB7B-CCE0-2E3B-5DAA-5B0CD4460E59}"/>
                    </a:ext>
                  </a:extLst>
                </p:cNvPr>
                <p:cNvSpPr txBox="1">
                  <a:spLocks noRot="1" noChangeAspect="1" noMove="1" noResize="1" noEditPoints="1" noAdjustHandles="1" noChangeArrowheads="1" noChangeShapeType="1" noTextEdit="1"/>
                </p:cNvSpPr>
                <p:nvPr/>
              </p:nvSpPr>
              <p:spPr>
                <a:xfrm>
                  <a:off x="1512000" y="4212000"/>
                  <a:ext cx="360000" cy="360000"/>
                </a:xfrm>
                <a:prstGeom prst="rect">
                  <a:avLst/>
                </a:prstGeom>
                <a:blipFill>
                  <a:blip r:embed="rId16"/>
                  <a:stretch>
                    <a:fillRect l="-25424" r="-13559" b="-16949"/>
                  </a:stretch>
                </a:blipFill>
              </p:spPr>
              <p:txBody>
                <a:bodyPr/>
                <a:lstStyle/>
                <a:p>
                  <a:r>
                    <a:rPr lang="zh-CN" altLang="en-US">
                      <a:noFill/>
                    </a:rPr>
                    <a:t> </a:t>
                  </a:r>
                </a:p>
              </p:txBody>
            </p:sp>
          </mc:Fallback>
        </mc:AlternateContent>
        <p:cxnSp>
          <p:nvCxnSpPr>
            <p:cNvPr id="154" name="直接连接符 153">
              <a:extLst>
                <a:ext uri="{FF2B5EF4-FFF2-40B4-BE49-F238E27FC236}">
                  <a16:creationId xmlns:a16="http://schemas.microsoft.com/office/drawing/2014/main" id="{35DDB34A-AE11-127D-7F08-544BAA158825}"/>
                </a:ext>
              </a:extLst>
            </p:cNvPr>
            <p:cNvCxnSpPr>
              <a:cxnSpLocks/>
            </p:cNvCxnSpPr>
            <p:nvPr/>
          </p:nvCxnSpPr>
          <p:spPr>
            <a:xfrm>
              <a:off x="972000" y="5778000"/>
              <a:ext cx="50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5" name="文本框 154">
                  <a:extLst>
                    <a:ext uri="{FF2B5EF4-FFF2-40B4-BE49-F238E27FC236}">
                      <a16:creationId xmlns:a16="http://schemas.microsoft.com/office/drawing/2014/main" id="{F10F15A7-9342-8159-CAB6-FA1D52247570}"/>
                    </a:ext>
                  </a:extLst>
                </p:cNvPr>
                <p:cNvSpPr txBox="1"/>
                <p:nvPr/>
              </p:nvSpPr>
              <p:spPr>
                <a:xfrm>
                  <a:off x="1422000" y="5580000"/>
                  <a:ext cx="54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tx1"/>
                            </a:solidFill>
                            <a:latin typeface="Cambria Math" panose="02040503050406030204" pitchFamily="18" charset="0"/>
                          </a:rPr>
                          <m:t>CE</m:t>
                        </m:r>
                      </m:oMath>
                    </m:oMathPara>
                  </a14:m>
                  <a:endParaRPr lang="zh-CN" altLang="en-US" sz="2400" dirty="0">
                    <a:solidFill>
                      <a:schemeClr val="tx1"/>
                    </a:solidFill>
                  </a:endParaRPr>
                </a:p>
              </p:txBody>
            </p:sp>
          </mc:Choice>
          <mc:Fallback xmlns="">
            <p:sp>
              <p:nvSpPr>
                <p:cNvPr id="155" name="文本框 154">
                  <a:extLst>
                    <a:ext uri="{FF2B5EF4-FFF2-40B4-BE49-F238E27FC236}">
                      <a16:creationId xmlns:a16="http://schemas.microsoft.com/office/drawing/2014/main" id="{F10F15A7-9342-8159-CAB6-FA1D52247570}"/>
                    </a:ext>
                  </a:extLst>
                </p:cNvPr>
                <p:cNvSpPr txBox="1">
                  <a:spLocks noRot="1" noChangeAspect="1" noMove="1" noResize="1" noEditPoints="1" noAdjustHandles="1" noChangeArrowheads="1" noChangeShapeType="1" noTextEdit="1"/>
                </p:cNvSpPr>
                <p:nvPr/>
              </p:nvSpPr>
              <p:spPr>
                <a:xfrm>
                  <a:off x="1422000" y="5580000"/>
                  <a:ext cx="540000" cy="360000"/>
                </a:xfrm>
                <a:prstGeom prst="rect">
                  <a:avLst/>
                </a:prstGeom>
                <a:blipFill>
                  <a:blip r:embed="rId17"/>
                  <a:stretch>
                    <a:fillRect l="-2273" r="-2273" b="-10169"/>
                  </a:stretch>
                </a:blipFill>
              </p:spPr>
              <p:txBody>
                <a:bodyPr/>
                <a:lstStyle/>
                <a:p>
                  <a:r>
                    <a:rPr lang="zh-CN" altLang="en-US">
                      <a:noFill/>
                    </a:rPr>
                    <a:t> </a:t>
                  </a:r>
                </a:p>
              </p:txBody>
            </p:sp>
          </mc:Fallback>
        </mc:AlternateContent>
        <p:cxnSp>
          <p:nvCxnSpPr>
            <p:cNvPr id="156" name="直接连接符 155">
              <a:extLst>
                <a:ext uri="{FF2B5EF4-FFF2-40B4-BE49-F238E27FC236}">
                  <a16:creationId xmlns:a16="http://schemas.microsoft.com/office/drawing/2014/main" id="{FF29E8BE-DE12-34CD-F8DB-B70B2FEA54BC}"/>
                </a:ext>
              </a:extLst>
            </p:cNvPr>
            <p:cNvCxnSpPr>
              <a:cxnSpLocks/>
            </p:cNvCxnSpPr>
            <p:nvPr/>
          </p:nvCxnSpPr>
          <p:spPr>
            <a:xfrm>
              <a:off x="972000" y="6174000"/>
              <a:ext cx="50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7" name="文本框 156">
                  <a:extLst>
                    <a:ext uri="{FF2B5EF4-FFF2-40B4-BE49-F238E27FC236}">
                      <a16:creationId xmlns:a16="http://schemas.microsoft.com/office/drawing/2014/main" id="{D2DA3EEF-959F-58B1-ECB4-C27A641FFC9F}"/>
                    </a:ext>
                  </a:extLst>
                </p:cNvPr>
                <p:cNvSpPr txBox="1"/>
                <p:nvPr/>
              </p:nvSpPr>
              <p:spPr>
                <a:xfrm>
                  <a:off x="1422000" y="5976000"/>
                  <a:ext cx="54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tx1"/>
                            </a:solidFill>
                            <a:latin typeface="Cambria Math" panose="02040503050406030204" pitchFamily="18" charset="0"/>
                          </a:rPr>
                          <m:t>OE</m:t>
                        </m:r>
                      </m:oMath>
                    </m:oMathPara>
                  </a14:m>
                  <a:endParaRPr lang="zh-CN" altLang="en-US" sz="2400" dirty="0">
                    <a:solidFill>
                      <a:schemeClr val="tx1"/>
                    </a:solidFill>
                  </a:endParaRPr>
                </a:p>
              </p:txBody>
            </p:sp>
          </mc:Choice>
          <mc:Fallback xmlns="">
            <p:sp>
              <p:nvSpPr>
                <p:cNvPr id="157" name="文本框 156">
                  <a:extLst>
                    <a:ext uri="{FF2B5EF4-FFF2-40B4-BE49-F238E27FC236}">
                      <a16:creationId xmlns:a16="http://schemas.microsoft.com/office/drawing/2014/main" id="{D2DA3EEF-959F-58B1-ECB4-C27A641FFC9F}"/>
                    </a:ext>
                  </a:extLst>
                </p:cNvPr>
                <p:cNvSpPr txBox="1">
                  <a:spLocks noRot="1" noChangeAspect="1" noMove="1" noResize="1" noEditPoints="1" noAdjustHandles="1" noChangeArrowheads="1" noChangeShapeType="1" noTextEdit="1"/>
                </p:cNvSpPr>
                <p:nvPr/>
              </p:nvSpPr>
              <p:spPr>
                <a:xfrm>
                  <a:off x="1422000" y="5976000"/>
                  <a:ext cx="540000" cy="360000"/>
                </a:xfrm>
                <a:prstGeom prst="rect">
                  <a:avLst/>
                </a:prstGeom>
                <a:blipFill>
                  <a:blip r:embed="rId18"/>
                  <a:stretch>
                    <a:fillRect l="-4545" r="-5682" b="-101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6" name="文本框 165">
                  <a:extLst>
                    <a:ext uri="{FF2B5EF4-FFF2-40B4-BE49-F238E27FC236}">
                      <a16:creationId xmlns:a16="http://schemas.microsoft.com/office/drawing/2014/main" id="{1564E044-84AA-B0EC-9759-4419C8138B21}"/>
                    </a:ext>
                  </a:extLst>
                </p:cNvPr>
                <p:cNvSpPr txBox="1"/>
                <p:nvPr/>
              </p:nvSpPr>
              <p:spPr>
                <a:xfrm>
                  <a:off x="900000" y="3852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I</m:t>
                            </m:r>
                          </m:e>
                          <m:sub>
                            <m:r>
                              <a:rPr lang="en-US" altLang="zh-CN" sz="2400" b="0" i="1" smtClean="0">
                                <a:solidFill>
                                  <a:schemeClr val="accent5">
                                    <a:lumMod val="75000"/>
                                  </a:schemeClr>
                                </a:solidFill>
                                <a:latin typeface="Cambria Math" panose="02040503050406030204" pitchFamily="18" charset="0"/>
                              </a:rPr>
                              <m:t>3</m:t>
                            </m:r>
                          </m:sub>
                        </m:sSub>
                      </m:oMath>
                    </m:oMathPara>
                  </a14:m>
                  <a:endParaRPr lang="zh-CN" altLang="en-US" sz="2400" dirty="0">
                    <a:solidFill>
                      <a:schemeClr val="accent5">
                        <a:lumMod val="75000"/>
                      </a:schemeClr>
                    </a:solidFill>
                  </a:endParaRPr>
                </a:p>
              </p:txBody>
            </p:sp>
          </mc:Choice>
          <mc:Fallback xmlns="">
            <p:sp>
              <p:nvSpPr>
                <p:cNvPr id="166" name="文本框 165">
                  <a:extLst>
                    <a:ext uri="{FF2B5EF4-FFF2-40B4-BE49-F238E27FC236}">
                      <a16:creationId xmlns:a16="http://schemas.microsoft.com/office/drawing/2014/main" id="{1564E044-84AA-B0EC-9759-4419C8138B21}"/>
                    </a:ext>
                  </a:extLst>
                </p:cNvPr>
                <p:cNvSpPr txBox="1">
                  <a:spLocks noRot="1" noChangeAspect="1" noMove="1" noResize="1" noEditPoints="1" noAdjustHandles="1" noChangeArrowheads="1" noChangeShapeType="1" noTextEdit="1"/>
                </p:cNvSpPr>
                <p:nvPr/>
              </p:nvSpPr>
              <p:spPr>
                <a:xfrm>
                  <a:off x="900000" y="3852000"/>
                  <a:ext cx="360000" cy="360000"/>
                </a:xfrm>
                <a:prstGeom prst="rect">
                  <a:avLst/>
                </a:prstGeom>
                <a:blipFill>
                  <a:blip r:embed="rId19"/>
                  <a:stretch>
                    <a:fillRect l="-11864"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7" name="文本框 166">
                  <a:extLst>
                    <a:ext uri="{FF2B5EF4-FFF2-40B4-BE49-F238E27FC236}">
                      <a16:creationId xmlns:a16="http://schemas.microsoft.com/office/drawing/2014/main" id="{A81DEC2F-3062-337B-9B11-73AC861570B0}"/>
                    </a:ext>
                  </a:extLst>
                </p:cNvPr>
                <p:cNvSpPr txBox="1"/>
                <p:nvPr/>
              </p:nvSpPr>
              <p:spPr>
                <a:xfrm>
                  <a:off x="900000" y="4212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I</m:t>
                            </m:r>
                          </m:e>
                          <m:sub>
                            <m:r>
                              <a:rPr lang="en-US" altLang="zh-CN" sz="2400" i="1">
                                <a:solidFill>
                                  <a:schemeClr val="accent5">
                                    <a:lumMod val="75000"/>
                                  </a:schemeClr>
                                </a:solidFill>
                                <a:latin typeface="Cambria Math" panose="02040503050406030204" pitchFamily="18" charset="0"/>
                              </a:rPr>
                              <m:t>2</m:t>
                            </m:r>
                          </m:sub>
                        </m:sSub>
                      </m:oMath>
                    </m:oMathPara>
                  </a14:m>
                  <a:endParaRPr lang="zh-CN" altLang="en-US" sz="2400" dirty="0">
                    <a:solidFill>
                      <a:schemeClr val="accent5">
                        <a:lumMod val="75000"/>
                      </a:schemeClr>
                    </a:solidFill>
                  </a:endParaRPr>
                </a:p>
              </p:txBody>
            </p:sp>
          </mc:Choice>
          <mc:Fallback xmlns="">
            <p:sp>
              <p:nvSpPr>
                <p:cNvPr id="167" name="文本框 166">
                  <a:extLst>
                    <a:ext uri="{FF2B5EF4-FFF2-40B4-BE49-F238E27FC236}">
                      <a16:creationId xmlns:a16="http://schemas.microsoft.com/office/drawing/2014/main" id="{A81DEC2F-3062-337B-9B11-73AC861570B0}"/>
                    </a:ext>
                  </a:extLst>
                </p:cNvPr>
                <p:cNvSpPr txBox="1">
                  <a:spLocks noRot="1" noChangeAspect="1" noMove="1" noResize="1" noEditPoints="1" noAdjustHandles="1" noChangeArrowheads="1" noChangeShapeType="1" noTextEdit="1"/>
                </p:cNvSpPr>
                <p:nvPr/>
              </p:nvSpPr>
              <p:spPr>
                <a:xfrm>
                  <a:off x="900000" y="4212000"/>
                  <a:ext cx="360000" cy="360000"/>
                </a:xfrm>
                <a:prstGeom prst="rect">
                  <a:avLst/>
                </a:prstGeom>
                <a:blipFill>
                  <a:blip r:embed="rId20"/>
                  <a:stretch>
                    <a:fillRect l="-11864"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8" name="文本框 167">
                  <a:extLst>
                    <a:ext uri="{FF2B5EF4-FFF2-40B4-BE49-F238E27FC236}">
                      <a16:creationId xmlns:a16="http://schemas.microsoft.com/office/drawing/2014/main" id="{746B8F1C-3B55-64B7-4B92-08928ED45B88}"/>
                    </a:ext>
                  </a:extLst>
                </p:cNvPr>
                <p:cNvSpPr txBox="1"/>
                <p:nvPr/>
              </p:nvSpPr>
              <p:spPr>
                <a:xfrm>
                  <a:off x="900000" y="4572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I</m:t>
                            </m:r>
                          </m:e>
                          <m:sub>
                            <m:r>
                              <a:rPr lang="en-US" altLang="zh-CN" sz="2400" i="1">
                                <a:solidFill>
                                  <a:schemeClr val="accent5">
                                    <a:lumMod val="75000"/>
                                  </a:schemeClr>
                                </a:solidFill>
                                <a:latin typeface="Cambria Math" panose="02040503050406030204" pitchFamily="18" charset="0"/>
                              </a:rPr>
                              <m:t>1</m:t>
                            </m:r>
                          </m:sub>
                        </m:sSub>
                      </m:oMath>
                    </m:oMathPara>
                  </a14:m>
                  <a:endParaRPr lang="zh-CN" altLang="en-US" sz="2400" dirty="0">
                    <a:solidFill>
                      <a:schemeClr val="accent5">
                        <a:lumMod val="75000"/>
                      </a:schemeClr>
                    </a:solidFill>
                  </a:endParaRPr>
                </a:p>
              </p:txBody>
            </p:sp>
          </mc:Choice>
          <mc:Fallback xmlns="">
            <p:sp>
              <p:nvSpPr>
                <p:cNvPr id="168" name="文本框 167">
                  <a:extLst>
                    <a:ext uri="{FF2B5EF4-FFF2-40B4-BE49-F238E27FC236}">
                      <a16:creationId xmlns:a16="http://schemas.microsoft.com/office/drawing/2014/main" id="{746B8F1C-3B55-64B7-4B92-08928ED45B88}"/>
                    </a:ext>
                  </a:extLst>
                </p:cNvPr>
                <p:cNvSpPr txBox="1">
                  <a:spLocks noRot="1" noChangeAspect="1" noMove="1" noResize="1" noEditPoints="1" noAdjustHandles="1" noChangeArrowheads="1" noChangeShapeType="1" noTextEdit="1"/>
                </p:cNvSpPr>
                <p:nvPr/>
              </p:nvSpPr>
              <p:spPr>
                <a:xfrm>
                  <a:off x="900000" y="4572000"/>
                  <a:ext cx="360000" cy="360000"/>
                </a:xfrm>
                <a:prstGeom prst="rect">
                  <a:avLst/>
                </a:prstGeom>
                <a:blipFill>
                  <a:blip r:embed="rId21"/>
                  <a:stretch>
                    <a:fillRect l="-11864"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1" name="文本框 170">
                  <a:extLst>
                    <a:ext uri="{FF2B5EF4-FFF2-40B4-BE49-F238E27FC236}">
                      <a16:creationId xmlns:a16="http://schemas.microsoft.com/office/drawing/2014/main" id="{7DD14F87-11A0-AF27-D21C-6592A2DF3012}"/>
                    </a:ext>
                  </a:extLst>
                </p:cNvPr>
                <p:cNvSpPr txBox="1"/>
                <p:nvPr/>
              </p:nvSpPr>
              <p:spPr>
                <a:xfrm>
                  <a:off x="1512000" y="4932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i="1">
                                <a:latin typeface="Cambria Math" panose="02040503050406030204" pitchFamily="18" charset="0"/>
                              </a:rPr>
                              <m:t>0</m:t>
                            </m:r>
                          </m:sub>
                        </m:sSub>
                      </m:oMath>
                    </m:oMathPara>
                  </a14:m>
                  <a:endParaRPr lang="zh-CN" altLang="en-US" sz="2400" dirty="0">
                    <a:solidFill>
                      <a:schemeClr val="tx1"/>
                    </a:solidFill>
                  </a:endParaRPr>
                </a:p>
              </p:txBody>
            </p:sp>
          </mc:Choice>
          <mc:Fallback xmlns="">
            <p:sp>
              <p:nvSpPr>
                <p:cNvPr id="171" name="文本框 170">
                  <a:extLst>
                    <a:ext uri="{FF2B5EF4-FFF2-40B4-BE49-F238E27FC236}">
                      <a16:creationId xmlns:a16="http://schemas.microsoft.com/office/drawing/2014/main" id="{7DD14F87-11A0-AF27-D21C-6592A2DF3012}"/>
                    </a:ext>
                  </a:extLst>
                </p:cNvPr>
                <p:cNvSpPr txBox="1">
                  <a:spLocks noRot="1" noChangeAspect="1" noMove="1" noResize="1" noEditPoints="1" noAdjustHandles="1" noChangeArrowheads="1" noChangeShapeType="1" noTextEdit="1"/>
                </p:cNvSpPr>
                <p:nvPr/>
              </p:nvSpPr>
              <p:spPr>
                <a:xfrm>
                  <a:off x="1512000" y="4932000"/>
                  <a:ext cx="360000" cy="360000"/>
                </a:xfrm>
                <a:prstGeom prst="rect">
                  <a:avLst/>
                </a:prstGeom>
                <a:blipFill>
                  <a:blip r:embed="rId22"/>
                  <a:stretch>
                    <a:fillRect l="-25424" r="-13559"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2" name="文本框 171">
                  <a:extLst>
                    <a:ext uri="{FF2B5EF4-FFF2-40B4-BE49-F238E27FC236}">
                      <a16:creationId xmlns:a16="http://schemas.microsoft.com/office/drawing/2014/main" id="{F07F5A7B-7510-7825-48D2-C0A97EE36809}"/>
                    </a:ext>
                  </a:extLst>
                </p:cNvPr>
                <p:cNvSpPr txBox="1"/>
                <p:nvPr/>
              </p:nvSpPr>
              <p:spPr>
                <a:xfrm>
                  <a:off x="900000" y="4932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I</m:t>
                            </m:r>
                          </m:e>
                          <m:sub>
                            <m:r>
                              <a:rPr lang="en-US" altLang="zh-CN" sz="2400" i="1">
                                <a:solidFill>
                                  <a:schemeClr val="accent5">
                                    <a:lumMod val="75000"/>
                                  </a:schemeClr>
                                </a:solidFill>
                                <a:latin typeface="Cambria Math" panose="02040503050406030204" pitchFamily="18" charset="0"/>
                              </a:rPr>
                              <m:t>0</m:t>
                            </m:r>
                          </m:sub>
                        </m:sSub>
                      </m:oMath>
                    </m:oMathPara>
                  </a14:m>
                  <a:endParaRPr lang="zh-CN" altLang="en-US" sz="2400" dirty="0">
                    <a:solidFill>
                      <a:schemeClr val="accent5">
                        <a:lumMod val="75000"/>
                      </a:schemeClr>
                    </a:solidFill>
                  </a:endParaRPr>
                </a:p>
              </p:txBody>
            </p:sp>
          </mc:Choice>
          <mc:Fallback xmlns="">
            <p:sp>
              <p:nvSpPr>
                <p:cNvPr id="172" name="文本框 171">
                  <a:extLst>
                    <a:ext uri="{FF2B5EF4-FFF2-40B4-BE49-F238E27FC236}">
                      <a16:creationId xmlns:a16="http://schemas.microsoft.com/office/drawing/2014/main" id="{F07F5A7B-7510-7825-48D2-C0A97EE36809}"/>
                    </a:ext>
                  </a:extLst>
                </p:cNvPr>
                <p:cNvSpPr txBox="1">
                  <a:spLocks noRot="1" noChangeAspect="1" noMove="1" noResize="1" noEditPoints="1" noAdjustHandles="1" noChangeArrowheads="1" noChangeShapeType="1" noTextEdit="1"/>
                </p:cNvSpPr>
                <p:nvPr/>
              </p:nvSpPr>
              <p:spPr>
                <a:xfrm>
                  <a:off x="900000" y="4932000"/>
                  <a:ext cx="360000" cy="360000"/>
                </a:xfrm>
                <a:prstGeom prst="rect">
                  <a:avLst/>
                </a:prstGeom>
                <a:blipFill>
                  <a:blip r:embed="rId23"/>
                  <a:stretch>
                    <a:fillRect l="-11864" b="-16949"/>
                  </a:stretch>
                </a:blipFill>
              </p:spPr>
              <p:txBody>
                <a:bodyPr/>
                <a:lstStyle/>
                <a:p>
                  <a:r>
                    <a:rPr lang="zh-CN" altLang="en-US">
                      <a:noFill/>
                    </a:rPr>
                    <a:t> </a:t>
                  </a:r>
                </a:p>
              </p:txBody>
            </p:sp>
          </mc:Fallback>
        </mc:AlternateContent>
        <p:sp>
          <p:nvSpPr>
            <p:cNvPr id="111" name="椭圆 110">
              <a:extLst>
                <a:ext uri="{FF2B5EF4-FFF2-40B4-BE49-F238E27FC236}">
                  <a16:creationId xmlns:a16="http://schemas.microsoft.com/office/drawing/2014/main" id="{09EBC464-63F0-5FBB-165D-216174EE420A}"/>
                </a:ext>
              </a:extLst>
            </p:cNvPr>
            <p:cNvSpPr/>
            <p:nvPr/>
          </p:nvSpPr>
          <p:spPr>
            <a:xfrm>
              <a:off x="1350000" y="5724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椭圆 176">
              <a:extLst>
                <a:ext uri="{FF2B5EF4-FFF2-40B4-BE49-F238E27FC236}">
                  <a16:creationId xmlns:a16="http://schemas.microsoft.com/office/drawing/2014/main" id="{89D91124-F056-EE45-2EBE-95089E4B2D55}"/>
                </a:ext>
              </a:extLst>
            </p:cNvPr>
            <p:cNvSpPr/>
            <p:nvPr/>
          </p:nvSpPr>
          <p:spPr>
            <a:xfrm>
              <a:off x="1350000" y="6120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0" name="直接连接符 179">
              <a:extLst>
                <a:ext uri="{FF2B5EF4-FFF2-40B4-BE49-F238E27FC236}">
                  <a16:creationId xmlns:a16="http://schemas.microsoft.com/office/drawing/2014/main" id="{264A362B-6AA7-6B66-866E-7F0F1ECD6E44}"/>
                </a:ext>
              </a:extLst>
            </p:cNvPr>
            <p:cNvCxnSpPr>
              <a:cxnSpLocks/>
            </p:cNvCxnSpPr>
            <p:nvPr/>
          </p:nvCxnSpPr>
          <p:spPr>
            <a:xfrm>
              <a:off x="972000" y="5778000"/>
              <a:ext cx="0" cy="75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3" name="椭圆 182">
              <a:extLst>
                <a:ext uri="{FF2B5EF4-FFF2-40B4-BE49-F238E27FC236}">
                  <a16:creationId xmlns:a16="http://schemas.microsoft.com/office/drawing/2014/main" id="{29EE0D09-088E-0524-F9E7-7F826B5FD795}"/>
                </a:ext>
              </a:extLst>
            </p:cNvPr>
            <p:cNvSpPr/>
            <p:nvPr/>
          </p:nvSpPr>
          <p:spPr>
            <a:xfrm>
              <a:off x="925200" y="6127200"/>
              <a:ext cx="93600"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4" name="直接连接符 183">
              <a:extLst>
                <a:ext uri="{FF2B5EF4-FFF2-40B4-BE49-F238E27FC236}">
                  <a16:creationId xmlns:a16="http://schemas.microsoft.com/office/drawing/2014/main" id="{74B66167-08F3-BC73-CDE9-ECC029A5CFB7}"/>
                </a:ext>
              </a:extLst>
            </p:cNvPr>
            <p:cNvCxnSpPr>
              <a:cxnSpLocks/>
            </p:cNvCxnSpPr>
            <p:nvPr/>
          </p:nvCxnSpPr>
          <p:spPr>
            <a:xfrm>
              <a:off x="864000" y="6552000"/>
              <a:ext cx="216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graphicFrame>
            <p:nvGraphicFramePr>
              <p:cNvPr id="186" name="表格 185">
                <a:extLst>
                  <a:ext uri="{FF2B5EF4-FFF2-40B4-BE49-F238E27FC236}">
                    <a16:creationId xmlns:a16="http://schemas.microsoft.com/office/drawing/2014/main" id="{83E6EAFD-3A29-E556-03CD-D9FE1A734C7F}"/>
                  </a:ext>
                </a:extLst>
              </p:cNvPr>
              <p:cNvGraphicFramePr>
                <a:graphicFrameLocks noGrp="1"/>
              </p:cNvGraphicFramePr>
              <p:nvPr>
                <p:extLst>
                  <p:ext uri="{D42A27DB-BD31-4B8C-83A1-F6EECF244321}">
                    <p14:modId xmlns:p14="http://schemas.microsoft.com/office/powerpoint/2010/main" val="3002644109"/>
                  </p:ext>
                </p:extLst>
              </p:nvPr>
            </p:nvGraphicFramePr>
            <p:xfrm>
              <a:off x="5976000" y="1548000"/>
              <a:ext cx="5814839" cy="4572000"/>
            </p:xfrm>
            <a:graphic>
              <a:graphicData uri="http://schemas.openxmlformats.org/drawingml/2006/table">
                <a:tbl>
                  <a:tblPr firstRow="1" bandRow="1">
                    <a:tableStyleId>{5940675A-B579-460E-94D1-54222C63F5DA}</a:tableStyleId>
                  </a:tblPr>
                  <a:tblGrid>
                    <a:gridCol w="551577">
                      <a:extLst>
                        <a:ext uri="{9D8B030D-6E8A-4147-A177-3AD203B41FA5}">
                          <a16:colId xmlns:a16="http://schemas.microsoft.com/office/drawing/2014/main" val="379101483"/>
                        </a:ext>
                      </a:extLst>
                    </a:gridCol>
                    <a:gridCol w="1154109">
                      <a:extLst>
                        <a:ext uri="{9D8B030D-6E8A-4147-A177-3AD203B41FA5}">
                          <a16:colId xmlns:a16="http://schemas.microsoft.com/office/drawing/2014/main" val="163748324"/>
                        </a:ext>
                      </a:extLst>
                    </a:gridCol>
                    <a:gridCol w="1212809">
                      <a:extLst>
                        <a:ext uri="{9D8B030D-6E8A-4147-A177-3AD203B41FA5}">
                          <a16:colId xmlns:a16="http://schemas.microsoft.com/office/drawing/2014/main" val="1096904383"/>
                        </a:ext>
                      </a:extLst>
                    </a:gridCol>
                    <a:gridCol w="542719">
                      <a:extLst>
                        <a:ext uri="{9D8B030D-6E8A-4147-A177-3AD203B41FA5}">
                          <a16:colId xmlns:a16="http://schemas.microsoft.com/office/drawing/2014/main" val="2476943177"/>
                        </a:ext>
                      </a:extLst>
                    </a:gridCol>
                    <a:gridCol w="1157429">
                      <a:extLst>
                        <a:ext uri="{9D8B030D-6E8A-4147-A177-3AD203B41FA5}">
                          <a16:colId xmlns:a16="http://schemas.microsoft.com/office/drawing/2014/main" val="3224398851"/>
                        </a:ext>
                      </a:extLst>
                    </a:gridCol>
                    <a:gridCol w="1196196">
                      <a:extLst>
                        <a:ext uri="{9D8B030D-6E8A-4147-A177-3AD203B41FA5}">
                          <a16:colId xmlns:a16="http://schemas.microsoft.com/office/drawing/2014/main" val="1377374035"/>
                        </a:ext>
                      </a:extLst>
                    </a:gridCol>
                  </a:tblGrid>
                  <a:tr h="28926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altLang="zh-CN" sz="1600" b="0" i="0" smtClean="0">
                                    <a:solidFill>
                                      <a:schemeClr val="accent5">
                                        <a:lumMod val="75000"/>
                                      </a:schemeClr>
                                    </a:solidFill>
                                    <a:latin typeface="Cambria Math" panose="02040503050406030204" pitchFamily="18" charset="0"/>
                                  </a:rPr>
                                  <m:t>C</m:t>
                                </m:r>
                              </m:oMath>
                            </m:oMathPara>
                          </a14:m>
                          <a:endParaRPr lang="en-US" altLang="zh-CN" sz="1600" dirty="0">
                            <a:solidFill>
                              <a:schemeClr val="accent5">
                                <a:lumMod val="75000"/>
                              </a:schemeClr>
                            </a:solidFill>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1600" b="0" i="1" smtClean="0">
                                      <a:solidFill>
                                        <a:schemeClr val="tx1"/>
                                      </a:solidFill>
                                      <a:latin typeface="Cambria Math" panose="02040503050406030204" pitchFamily="18" charset="0"/>
                                    </a:rPr>
                                  </m:ctrlPr>
                                </m:sSubPr>
                                <m:e>
                                  <m:r>
                                    <m:rPr>
                                      <m:sty m:val="p"/>
                                    </m:rPr>
                                    <a:rPr lang="en-US" altLang="zh-CN" sz="1600" b="0" i="0" smtClean="0">
                                      <a:solidFill>
                                        <a:schemeClr val="tx1"/>
                                      </a:solidFill>
                                      <a:latin typeface="Cambria Math" panose="02040503050406030204" pitchFamily="18" charset="0"/>
                                    </a:rPr>
                                    <m:t>A</m:t>
                                  </m:r>
                                </m:e>
                                <m:sub>
                                  <m:r>
                                    <a:rPr lang="en-US" altLang="zh-CN" sz="1600" b="0" i="1" smtClean="0">
                                      <a:solidFill>
                                        <a:schemeClr val="tx1"/>
                                      </a:solidFill>
                                      <a:latin typeface="Cambria Math" panose="02040503050406030204" pitchFamily="18" charset="0"/>
                                    </a:rPr>
                                    <m:t>4</m:t>
                                  </m:r>
                                </m:sub>
                              </m:sSub>
                            </m:oMath>
                          </a14:m>
                          <a:r>
                            <a:rPr lang="en-US" altLang="zh-CN" sz="1600" dirty="0">
                              <a:solidFill>
                                <a:schemeClr val="tx1"/>
                              </a:solidFill>
                              <a:latin typeface="微软雅黑" panose="020B0503020204020204" pitchFamily="34" charset="-122"/>
                              <a:ea typeface="微软雅黑" panose="020B0503020204020204" pitchFamily="34" charset="-122"/>
                            </a:rPr>
                            <a:t>)</a:t>
                          </a:r>
                          <a:endParaRPr lang="zh-CN"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1600" b="0" i="1" smtClean="0">
                                        <a:solidFill>
                                          <a:schemeClr val="accent5">
                                            <a:lumMod val="75000"/>
                                          </a:schemeClr>
                                        </a:solidFill>
                                        <a:latin typeface="Cambria Math" panose="02040503050406030204" pitchFamily="18" charset="0"/>
                                      </a:rPr>
                                    </m:ctrlPr>
                                  </m:sSubPr>
                                  <m:e>
                                    <m:r>
                                      <m:rPr>
                                        <m:sty m:val="p"/>
                                      </m:rPr>
                                      <a:rPr lang="en-US" altLang="zh-CN" sz="1600" b="0" i="0" smtClean="0">
                                        <a:solidFill>
                                          <a:schemeClr val="accent5">
                                            <a:lumMod val="75000"/>
                                          </a:schemeClr>
                                        </a:solidFill>
                                        <a:latin typeface="Cambria Math" panose="02040503050406030204" pitchFamily="18" charset="0"/>
                                      </a:rPr>
                                      <m:t>I</m:t>
                                    </m:r>
                                  </m:e>
                                  <m:sub>
                                    <m:r>
                                      <a:rPr lang="en-US" altLang="zh-CN" sz="1600" b="0" i="1" smtClean="0">
                                        <a:solidFill>
                                          <a:schemeClr val="accent5">
                                            <a:lumMod val="75000"/>
                                          </a:schemeClr>
                                        </a:solidFill>
                                        <a:latin typeface="Cambria Math" panose="02040503050406030204" pitchFamily="18" charset="0"/>
                                      </a:rPr>
                                      <m:t>3</m:t>
                                    </m:r>
                                  </m:sub>
                                </m:sSub>
                                <m:sSub>
                                  <m:sSubPr>
                                    <m:ctrlPr>
                                      <a:rPr lang="en-US" altLang="zh-CN" sz="1600" b="0" i="1" smtClean="0">
                                        <a:solidFill>
                                          <a:schemeClr val="accent5">
                                            <a:lumMod val="75000"/>
                                          </a:schemeClr>
                                        </a:solidFill>
                                        <a:latin typeface="Cambria Math" panose="02040503050406030204" pitchFamily="18" charset="0"/>
                                      </a:rPr>
                                    </m:ctrlPr>
                                  </m:sSubPr>
                                  <m:e>
                                    <m:r>
                                      <m:rPr>
                                        <m:sty m:val="p"/>
                                      </m:rPr>
                                      <a:rPr lang="en-US" altLang="zh-CN" sz="1600" b="0" i="0" smtClean="0">
                                        <a:solidFill>
                                          <a:schemeClr val="accent5">
                                            <a:lumMod val="75000"/>
                                          </a:schemeClr>
                                        </a:solidFill>
                                        <a:latin typeface="Cambria Math" panose="02040503050406030204" pitchFamily="18" charset="0"/>
                                      </a:rPr>
                                      <m:t>I</m:t>
                                    </m:r>
                                  </m:e>
                                  <m:sub>
                                    <m:r>
                                      <a:rPr lang="en-US" altLang="zh-CN" sz="1600" b="0" i="1" smtClean="0">
                                        <a:solidFill>
                                          <a:schemeClr val="accent5">
                                            <a:lumMod val="75000"/>
                                          </a:schemeClr>
                                        </a:solidFill>
                                        <a:latin typeface="Cambria Math" panose="02040503050406030204" pitchFamily="18" charset="0"/>
                                      </a:rPr>
                                      <m:t>2</m:t>
                                    </m:r>
                                  </m:sub>
                                </m:sSub>
                                <m:sSub>
                                  <m:sSubPr>
                                    <m:ctrlPr>
                                      <a:rPr lang="en-US" altLang="zh-CN" sz="1600" b="0" i="1" smtClean="0">
                                        <a:solidFill>
                                          <a:schemeClr val="accent5">
                                            <a:lumMod val="75000"/>
                                          </a:schemeClr>
                                        </a:solidFill>
                                        <a:latin typeface="Cambria Math" panose="02040503050406030204" pitchFamily="18" charset="0"/>
                                      </a:rPr>
                                    </m:ctrlPr>
                                  </m:sSubPr>
                                  <m:e>
                                    <m:r>
                                      <m:rPr>
                                        <m:sty m:val="p"/>
                                      </m:rPr>
                                      <a:rPr lang="en-US" altLang="zh-CN" sz="1600" b="0" i="0" smtClean="0">
                                        <a:solidFill>
                                          <a:schemeClr val="accent5">
                                            <a:lumMod val="75000"/>
                                          </a:schemeClr>
                                        </a:solidFill>
                                        <a:latin typeface="Cambria Math" panose="02040503050406030204" pitchFamily="18" charset="0"/>
                                      </a:rPr>
                                      <m:t>I</m:t>
                                    </m:r>
                                  </m:e>
                                  <m:sub>
                                    <m:r>
                                      <a:rPr lang="en-US" altLang="zh-CN" sz="1600" b="0" i="1" smtClean="0">
                                        <a:solidFill>
                                          <a:schemeClr val="accent5">
                                            <a:lumMod val="75000"/>
                                          </a:schemeClr>
                                        </a:solidFill>
                                        <a:latin typeface="Cambria Math" panose="02040503050406030204" pitchFamily="18" charset="0"/>
                                      </a:rPr>
                                      <m:t>1</m:t>
                                    </m:r>
                                  </m:sub>
                                </m:sSub>
                                <m:sSub>
                                  <m:sSubPr>
                                    <m:ctrlPr>
                                      <a:rPr lang="en-US" altLang="zh-CN" sz="1600" b="0" i="1" smtClean="0">
                                        <a:solidFill>
                                          <a:schemeClr val="accent5">
                                            <a:lumMod val="75000"/>
                                          </a:schemeClr>
                                        </a:solidFill>
                                        <a:latin typeface="Cambria Math" panose="02040503050406030204" pitchFamily="18" charset="0"/>
                                      </a:rPr>
                                    </m:ctrlPr>
                                  </m:sSubPr>
                                  <m:e>
                                    <m:r>
                                      <m:rPr>
                                        <m:sty m:val="p"/>
                                      </m:rPr>
                                      <a:rPr lang="en-US" altLang="zh-CN" sz="1600" b="0" i="0" smtClean="0">
                                        <a:solidFill>
                                          <a:schemeClr val="accent5">
                                            <a:lumMod val="75000"/>
                                          </a:schemeClr>
                                        </a:solidFill>
                                        <a:latin typeface="Cambria Math" panose="02040503050406030204" pitchFamily="18" charset="0"/>
                                      </a:rPr>
                                      <m:t>I</m:t>
                                    </m:r>
                                  </m:e>
                                  <m:sub>
                                    <m:r>
                                      <a:rPr lang="en-US" altLang="zh-CN" sz="1600" b="0" i="1" smtClean="0">
                                        <a:solidFill>
                                          <a:schemeClr val="accent5">
                                            <a:lumMod val="75000"/>
                                          </a:schemeClr>
                                        </a:solidFill>
                                        <a:latin typeface="Cambria Math" panose="02040503050406030204" pitchFamily="18" charset="0"/>
                                      </a:rPr>
                                      <m:t>0</m:t>
                                    </m:r>
                                  </m:sub>
                                </m:sSub>
                              </m:oMath>
                            </m:oMathPara>
                          </a14:m>
                          <a:endParaRPr lang="en-US" altLang="zh-CN" sz="1600" dirty="0">
                            <a:solidFill>
                              <a:schemeClr val="accent5">
                                <a:lumMod val="75000"/>
                              </a:schemeClr>
                            </a:solidFill>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1600" b="0" i="1" smtClean="0">
                                      <a:solidFill>
                                        <a:schemeClr val="tx1"/>
                                      </a:solidFill>
                                      <a:latin typeface="Cambria Math" panose="02040503050406030204" pitchFamily="18" charset="0"/>
                                    </a:rPr>
                                  </m:ctrlPr>
                                </m:sSubPr>
                                <m:e>
                                  <m:r>
                                    <m:rPr>
                                      <m:sty m:val="p"/>
                                    </m:rPr>
                                    <a:rPr lang="en-US" altLang="zh-CN" sz="1600" b="0" i="0" smtClean="0">
                                      <a:solidFill>
                                        <a:schemeClr val="tx1"/>
                                      </a:solidFill>
                                      <a:latin typeface="Cambria Math" panose="02040503050406030204" pitchFamily="18" charset="0"/>
                                    </a:rPr>
                                    <m:t>A</m:t>
                                  </m:r>
                                </m:e>
                                <m:sub>
                                  <m:r>
                                    <a:rPr lang="en-US" altLang="zh-CN" sz="1600" b="0" i="1" smtClean="0">
                                      <a:solidFill>
                                        <a:schemeClr val="tx1"/>
                                      </a:solidFill>
                                      <a:latin typeface="Cambria Math" panose="02040503050406030204" pitchFamily="18" charset="0"/>
                                    </a:rPr>
                                    <m:t>3</m:t>
                                  </m:r>
                                </m:sub>
                              </m:sSub>
                              <m:sSub>
                                <m:sSubPr>
                                  <m:ctrlPr>
                                    <a:rPr lang="en-US" altLang="zh-CN" sz="1600" b="0" i="1" smtClean="0">
                                      <a:solidFill>
                                        <a:schemeClr val="tx1"/>
                                      </a:solidFill>
                                      <a:latin typeface="Cambria Math" panose="02040503050406030204" pitchFamily="18" charset="0"/>
                                    </a:rPr>
                                  </m:ctrlPr>
                                </m:sSubPr>
                                <m:e>
                                  <m:r>
                                    <m:rPr>
                                      <m:sty m:val="p"/>
                                    </m:rPr>
                                    <a:rPr lang="en-US" altLang="zh-CN" sz="1600" b="0" i="0" smtClean="0">
                                      <a:solidFill>
                                        <a:schemeClr val="tx1"/>
                                      </a:solidFill>
                                      <a:latin typeface="Cambria Math" panose="02040503050406030204" pitchFamily="18" charset="0"/>
                                    </a:rPr>
                                    <m:t>A</m:t>
                                  </m:r>
                                </m:e>
                                <m:sub>
                                  <m:r>
                                    <a:rPr lang="en-US" altLang="zh-CN" sz="1600" b="0" i="1" smtClean="0">
                                      <a:solidFill>
                                        <a:schemeClr val="tx1"/>
                                      </a:solidFill>
                                      <a:latin typeface="Cambria Math" panose="02040503050406030204" pitchFamily="18" charset="0"/>
                                    </a:rPr>
                                    <m:t>2</m:t>
                                  </m:r>
                                </m:sub>
                              </m:sSub>
                              <m:sSub>
                                <m:sSubPr>
                                  <m:ctrlPr>
                                    <a:rPr lang="en-US" altLang="zh-CN" sz="1600" b="0" i="1" smtClean="0">
                                      <a:solidFill>
                                        <a:schemeClr val="tx1"/>
                                      </a:solidFill>
                                      <a:latin typeface="Cambria Math" panose="02040503050406030204" pitchFamily="18" charset="0"/>
                                    </a:rPr>
                                  </m:ctrlPr>
                                </m:sSubPr>
                                <m:e>
                                  <m:r>
                                    <m:rPr>
                                      <m:sty m:val="p"/>
                                    </m:rPr>
                                    <a:rPr lang="en-US" altLang="zh-CN" sz="1600" b="0" i="0" smtClean="0">
                                      <a:solidFill>
                                        <a:schemeClr val="tx1"/>
                                      </a:solidFill>
                                      <a:latin typeface="Cambria Math" panose="02040503050406030204" pitchFamily="18" charset="0"/>
                                    </a:rPr>
                                    <m:t>A</m:t>
                                  </m:r>
                                </m:e>
                                <m:sub>
                                  <m:r>
                                    <a:rPr lang="en-US" altLang="zh-CN" sz="1600" b="0" i="1" smtClean="0">
                                      <a:solidFill>
                                        <a:schemeClr val="tx1"/>
                                      </a:solidFill>
                                      <a:latin typeface="Cambria Math" panose="02040503050406030204" pitchFamily="18" charset="0"/>
                                    </a:rPr>
                                    <m:t>1</m:t>
                                  </m:r>
                                </m:sub>
                              </m:sSub>
                              <m:sSub>
                                <m:sSubPr>
                                  <m:ctrlPr>
                                    <a:rPr lang="en-US" altLang="zh-CN" sz="1600" b="0" i="1" smtClean="0">
                                      <a:solidFill>
                                        <a:schemeClr val="tx1"/>
                                      </a:solidFill>
                                      <a:latin typeface="Cambria Math" panose="02040503050406030204" pitchFamily="18" charset="0"/>
                                    </a:rPr>
                                  </m:ctrlPr>
                                </m:sSubPr>
                                <m:e>
                                  <m:r>
                                    <m:rPr>
                                      <m:sty m:val="p"/>
                                    </m:rPr>
                                    <a:rPr lang="en-US" altLang="zh-CN" sz="1600" b="0" i="0" smtClean="0">
                                      <a:solidFill>
                                        <a:schemeClr val="tx1"/>
                                      </a:solidFill>
                                      <a:latin typeface="Cambria Math" panose="02040503050406030204" pitchFamily="18" charset="0"/>
                                    </a:rPr>
                                    <m:t>A</m:t>
                                  </m:r>
                                </m:e>
                                <m:sub>
                                  <m:r>
                                    <a:rPr lang="en-US" altLang="zh-CN" sz="1600" b="0" i="1" smtClean="0">
                                      <a:solidFill>
                                        <a:schemeClr val="tx1"/>
                                      </a:solidFill>
                                      <a:latin typeface="Cambria Math" panose="02040503050406030204" pitchFamily="18" charset="0"/>
                                    </a:rPr>
                                    <m:t>0</m:t>
                                  </m:r>
                                </m:sub>
                              </m:sSub>
                            </m:oMath>
                          </a14:m>
                          <a:r>
                            <a:rPr lang="en-US" altLang="zh-CN" sz="1600" dirty="0">
                              <a:solidFill>
                                <a:schemeClr val="tx1"/>
                              </a:solidFill>
                              <a:latin typeface="微软雅黑" panose="020B0503020204020204" pitchFamily="34" charset="-122"/>
                              <a:ea typeface="微软雅黑" panose="020B0503020204020204" pitchFamily="34" charset="-122"/>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tx1"/>
                              </a:solidFill>
                              <a:latin typeface="微软雅黑" panose="020B0503020204020204" pitchFamily="34" charset="-122"/>
                              <a:ea typeface="微软雅黑" panose="020B0503020204020204" pitchFamily="34" charset="-122"/>
                            </a:rPr>
                            <a:t>二进制码</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1600" b="0" i="1" smtClean="0">
                                        <a:solidFill>
                                          <a:schemeClr val="accent5">
                                            <a:lumMod val="75000"/>
                                          </a:schemeClr>
                                        </a:solidFill>
                                        <a:latin typeface="Cambria Math" panose="02040503050406030204" pitchFamily="18" charset="0"/>
                                      </a:rPr>
                                    </m:ctrlPr>
                                  </m:sSubPr>
                                  <m:e>
                                    <m:r>
                                      <m:rPr>
                                        <m:sty m:val="p"/>
                                      </m:rPr>
                                      <a:rPr lang="en-US" altLang="zh-CN" sz="1600" b="0" i="0" smtClean="0">
                                        <a:solidFill>
                                          <a:schemeClr val="accent5">
                                            <a:lumMod val="75000"/>
                                          </a:schemeClr>
                                        </a:solidFill>
                                        <a:latin typeface="Cambria Math" panose="02040503050406030204" pitchFamily="18" charset="0"/>
                                      </a:rPr>
                                      <m:t>O</m:t>
                                    </m:r>
                                  </m:e>
                                  <m:sub>
                                    <m:r>
                                      <a:rPr lang="en-US" altLang="zh-CN" sz="1600" b="0" i="1" smtClean="0">
                                        <a:solidFill>
                                          <a:schemeClr val="accent5">
                                            <a:lumMod val="75000"/>
                                          </a:schemeClr>
                                        </a:solidFill>
                                        <a:latin typeface="Cambria Math" panose="02040503050406030204" pitchFamily="18" charset="0"/>
                                      </a:rPr>
                                      <m:t>3</m:t>
                                    </m:r>
                                  </m:sub>
                                </m:sSub>
                                <m:sSub>
                                  <m:sSubPr>
                                    <m:ctrlPr>
                                      <a:rPr lang="en-US" altLang="zh-CN" sz="1600" b="0" i="1" smtClean="0">
                                        <a:solidFill>
                                          <a:schemeClr val="accent5">
                                            <a:lumMod val="75000"/>
                                          </a:schemeClr>
                                        </a:solidFill>
                                        <a:latin typeface="Cambria Math" panose="02040503050406030204" pitchFamily="18" charset="0"/>
                                      </a:rPr>
                                    </m:ctrlPr>
                                  </m:sSubPr>
                                  <m:e>
                                    <m:r>
                                      <m:rPr>
                                        <m:sty m:val="p"/>
                                      </m:rPr>
                                      <a:rPr lang="en-US" altLang="zh-CN" sz="1600" b="0" i="0" smtClean="0">
                                        <a:solidFill>
                                          <a:schemeClr val="accent5">
                                            <a:lumMod val="75000"/>
                                          </a:schemeClr>
                                        </a:solidFill>
                                        <a:latin typeface="Cambria Math" panose="02040503050406030204" pitchFamily="18" charset="0"/>
                                      </a:rPr>
                                      <m:t>O</m:t>
                                    </m:r>
                                  </m:e>
                                  <m:sub>
                                    <m:r>
                                      <a:rPr lang="en-US" altLang="zh-CN" sz="1600" b="0" i="1" smtClean="0">
                                        <a:solidFill>
                                          <a:schemeClr val="accent5">
                                            <a:lumMod val="75000"/>
                                          </a:schemeClr>
                                        </a:solidFill>
                                        <a:latin typeface="Cambria Math" panose="02040503050406030204" pitchFamily="18" charset="0"/>
                                      </a:rPr>
                                      <m:t>2</m:t>
                                    </m:r>
                                  </m:sub>
                                </m:sSub>
                                <m:sSub>
                                  <m:sSubPr>
                                    <m:ctrlPr>
                                      <a:rPr lang="en-US" altLang="zh-CN" sz="1600" b="0" i="1" smtClean="0">
                                        <a:solidFill>
                                          <a:schemeClr val="accent5">
                                            <a:lumMod val="75000"/>
                                          </a:schemeClr>
                                        </a:solidFill>
                                        <a:latin typeface="Cambria Math" panose="02040503050406030204" pitchFamily="18" charset="0"/>
                                      </a:rPr>
                                    </m:ctrlPr>
                                  </m:sSubPr>
                                  <m:e>
                                    <m:r>
                                      <m:rPr>
                                        <m:sty m:val="p"/>
                                      </m:rPr>
                                      <a:rPr lang="en-US" altLang="zh-CN" sz="1600" b="0" i="0" smtClean="0">
                                        <a:solidFill>
                                          <a:schemeClr val="accent5">
                                            <a:lumMod val="75000"/>
                                          </a:schemeClr>
                                        </a:solidFill>
                                        <a:latin typeface="Cambria Math" panose="02040503050406030204" pitchFamily="18" charset="0"/>
                                      </a:rPr>
                                      <m:t>O</m:t>
                                    </m:r>
                                  </m:e>
                                  <m:sub>
                                    <m:r>
                                      <a:rPr lang="en-US" altLang="zh-CN" sz="1600" b="0" i="1" smtClean="0">
                                        <a:solidFill>
                                          <a:schemeClr val="accent5">
                                            <a:lumMod val="75000"/>
                                          </a:schemeClr>
                                        </a:solidFill>
                                        <a:latin typeface="Cambria Math" panose="02040503050406030204" pitchFamily="18" charset="0"/>
                                      </a:rPr>
                                      <m:t>1</m:t>
                                    </m:r>
                                  </m:sub>
                                </m:sSub>
                                <m:sSub>
                                  <m:sSubPr>
                                    <m:ctrlPr>
                                      <a:rPr lang="en-US" altLang="zh-CN" sz="1600" b="0" i="1" smtClean="0">
                                        <a:solidFill>
                                          <a:schemeClr val="accent5">
                                            <a:lumMod val="75000"/>
                                          </a:schemeClr>
                                        </a:solidFill>
                                        <a:latin typeface="Cambria Math" panose="02040503050406030204" pitchFamily="18" charset="0"/>
                                      </a:rPr>
                                    </m:ctrlPr>
                                  </m:sSubPr>
                                  <m:e>
                                    <m:r>
                                      <m:rPr>
                                        <m:sty m:val="p"/>
                                      </m:rPr>
                                      <a:rPr lang="en-US" altLang="zh-CN" sz="1600" b="0" i="0" smtClean="0">
                                        <a:solidFill>
                                          <a:schemeClr val="accent5">
                                            <a:lumMod val="75000"/>
                                          </a:schemeClr>
                                        </a:solidFill>
                                        <a:latin typeface="Cambria Math" panose="02040503050406030204" pitchFamily="18" charset="0"/>
                                      </a:rPr>
                                      <m:t>O</m:t>
                                    </m:r>
                                  </m:e>
                                  <m:sub>
                                    <m:r>
                                      <a:rPr lang="en-US" altLang="zh-CN" sz="1600" b="0" i="1" smtClean="0">
                                        <a:solidFill>
                                          <a:schemeClr val="accent5">
                                            <a:lumMod val="75000"/>
                                          </a:schemeClr>
                                        </a:solidFill>
                                        <a:latin typeface="Cambria Math" panose="02040503050406030204" pitchFamily="18" charset="0"/>
                                      </a:rPr>
                                      <m:t>0</m:t>
                                    </m:r>
                                  </m:sub>
                                </m:sSub>
                              </m:oMath>
                            </m:oMathPara>
                          </a14:m>
                          <a:endParaRPr lang="en-US" altLang="zh-CN" sz="1600" dirty="0">
                            <a:solidFill>
                              <a:schemeClr val="accent5">
                                <a:lumMod val="75000"/>
                              </a:schemeClr>
                            </a:solidFill>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1600" b="0" i="1" smtClean="0">
                                      <a:solidFill>
                                        <a:schemeClr val="tx1"/>
                                      </a:solidFill>
                                      <a:latin typeface="Cambria Math" panose="02040503050406030204" pitchFamily="18" charset="0"/>
                                    </a:rPr>
                                  </m:ctrlPr>
                                </m:sSubPr>
                                <m:e>
                                  <m:r>
                                    <m:rPr>
                                      <m:sty m:val="p"/>
                                    </m:rPr>
                                    <a:rPr lang="en-US" altLang="zh-CN" sz="1600" b="0" i="0" smtClean="0">
                                      <a:solidFill>
                                        <a:schemeClr val="tx1"/>
                                      </a:solidFill>
                                      <a:latin typeface="Cambria Math" panose="02040503050406030204" pitchFamily="18" charset="0"/>
                                    </a:rPr>
                                    <m:t>D</m:t>
                                  </m:r>
                                </m:e>
                                <m:sub>
                                  <m:r>
                                    <a:rPr lang="en-US" altLang="zh-CN" sz="1600" b="0" i="1" smtClean="0">
                                      <a:solidFill>
                                        <a:schemeClr val="tx1"/>
                                      </a:solidFill>
                                      <a:latin typeface="Cambria Math" panose="02040503050406030204" pitchFamily="18" charset="0"/>
                                    </a:rPr>
                                    <m:t>3</m:t>
                                  </m:r>
                                </m:sub>
                              </m:sSub>
                              <m:sSub>
                                <m:sSubPr>
                                  <m:ctrlPr>
                                    <a:rPr lang="en-US" altLang="zh-CN" sz="1600" b="0" i="1" smtClean="0">
                                      <a:solidFill>
                                        <a:schemeClr val="tx1"/>
                                      </a:solidFill>
                                      <a:latin typeface="Cambria Math" panose="02040503050406030204" pitchFamily="18" charset="0"/>
                                    </a:rPr>
                                  </m:ctrlPr>
                                </m:sSubPr>
                                <m:e>
                                  <m:r>
                                    <m:rPr>
                                      <m:sty m:val="p"/>
                                    </m:rPr>
                                    <a:rPr lang="en-US" altLang="zh-CN" sz="1600" b="0" i="0" smtClean="0">
                                      <a:solidFill>
                                        <a:schemeClr val="tx1"/>
                                      </a:solidFill>
                                      <a:latin typeface="Cambria Math" panose="02040503050406030204" pitchFamily="18" charset="0"/>
                                    </a:rPr>
                                    <m:t>D</m:t>
                                  </m:r>
                                </m:e>
                                <m:sub>
                                  <m:r>
                                    <a:rPr lang="en-US" altLang="zh-CN" sz="1600" b="0" i="1" smtClean="0">
                                      <a:solidFill>
                                        <a:schemeClr val="tx1"/>
                                      </a:solidFill>
                                      <a:latin typeface="Cambria Math" panose="02040503050406030204" pitchFamily="18" charset="0"/>
                                    </a:rPr>
                                    <m:t>2</m:t>
                                  </m:r>
                                </m:sub>
                              </m:sSub>
                              <m:sSub>
                                <m:sSubPr>
                                  <m:ctrlPr>
                                    <a:rPr lang="en-US" altLang="zh-CN" sz="1600" b="0" i="1" smtClean="0">
                                      <a:solidFill>
                                        <a:schemeClr val="tx1"/>
                                      </a:solidFill>
                                      <a:latin typeface="Cambria Math" panose="02040503050406030204" pitchFamily="18" charset="0"/>
                                    </a:rPr>
                                  </m:ctrlPr>
                                </m:sSubPr>
                                <m:e>
                                  <m:r>
                                    <m:rPr>
                                      <m:sty m:val="p"/>
                                    </m:rPr>
                                    <a:rPr lang="en-US" altLang="zh-CN" sz="1600" b="0" i="0" smtClean="0">
                                      <a:solidFill>
                                        <a:schemeClr val="tx1"/>
                                      </a:solidFill>
                                      <a:latin typeface="Cambria Math" panose="02040503050406030204" pitchFamily="18" charset="0"/>
                                    </a:rPr>
                                    <m:t>D</m:t>
                                  </m:r>
                                </m:e>
                                <m:sub>
                                  <m:r>
                                    <a:rPr lang="en-US" altLang="zh-CN" sz="1600" b="0" i="1" smtClean="0">
                                      <a:solidFill>
                                        <a:schemeClr val="tx1"/>
                                      </a:solidFill>
                                      <a:latin typeface="Cambria Math" panose="02040503050406030204" pitchFamily="18" charset="0"/>
                                    </a:rPr>
                                    <m:t>1</m:t>
                                  </m:r>
                                </m:sub>
                              </m:sSub>
                              <m:sSub>
                                <m:sSubPr>
                                  <m:ctrlPr>
                                    <a:rPr lang="en-US" altLang="zh-CN" sz="1600" b="0" i="1" smtClean="0">
                                      <a:solidFill>
                                        <a:schemeClr val="tx1"/>
                                      </a:solidFill>
                                      <a:latin typeface="Cambria Math" panose="02040503050406030204" pitchFamily="18" charset="0"/>
                                    </a:rPr>
                                  </m:ctrlPr>
                                </m:sSubPr>
                                <m:e>
                                  <m:r>
                                    <m:rPr>
                                      <m:sty m:val="p"/>
                                    </m:rPr>
                                    <a:rPr lang="en-US" altLang="zh-CN" sz="1600" b="0" i="0" smtClean="0">
                                      <a:solidFill>
                                        <a:schemeClr val="tx1"/>
                                      </a:solidFill>
                                      <a:latin typeface="Cambria Math" panose="02040503050406030204" pitchFamily="18" charset="0"/>
                                    </a:rPr>
                                    <m:t>D</m:t>
                                  </m:r>
                                </m:e>
                                <m:sub>
                                  <m:r>
                                    <a:rPr lang="en-US" altLang="zh-CN" sz="1600" b="0" i="1" smtClean="0">
                                      <a:solidFill>
                                        <a:schemeClr val="tx1"/>
                                      </a:solidFill>
                                      <a:latin typeface="Cambria Math" panose="02040503050406030204" pitchFamily="18" charset="0"/>
                                    </a:rPr>
                                    <m:t>0</m:t>
                                  </m:r>
                                </m:sub>
                              </m:sSub>
                            </m:oMath>
                          </a14:m>
                          <a:r>
                            <a:rPr lang="en-US" altLang="zh-CN" sz="1600" dirty="0">
                              <a:solidFill>
                                <a:schemeClr val="tx1"/>
                              </a:solidFill>
                              <a:latin typeface="微软雅黑" panose="020B0503020204020204" pitchFamily="34" charset="-122"/>
                              <a:ea typeface="微软雅黑" panose="020B0503020204020204" pitchFamily="34" charset="-122"/>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tx1"/>
                              </a:solidFill>
                              <a:latin typeface="微软雅黑" panose="020B0503020204020204" pitchFamily="34" charset="-122"/>
                              <a:ea typeface="微软雅黑" panose="020B0503020204020204" pitchFamily="34" charset="-122"/>
                            </a:rPr>
                            <a:t>格雷码</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altLang="zh-CN" sz="1600" b="0" i="0" smtClean="0">
                                    <a:solidFill>
                                      <a:schemeClr val="accent5">
                                        <a:lumMod val="75000"/>
                                      </a:schemeClr>
                                    </a:solidFill>
                                    <a:latin typeface="Cambria Math" panose="02040503050406030204" pitchFamily="18" charset="0"/>
                                  </a:rPr>
                                  <m:t>C</m:t>
                                </m:r>
                              </m:oMath>
                            </m:oMathPara>
                          </a14:m>
                          <a:endParaRPr lang="en-US" altLang="zh-CN" sz="1600" dirty="0">
                            <a:solidFill>
                              <a:schemeClr val="accent5">
                                <a:lumMod val="75000"/>
                              </a:schemeClr>
                            </a:solidFill>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1600" b="0" i="1" smtClean="0">
                                      <a:solidFill>
                                        <a:schemeClr val="tx1"/>
                                      </a:solidFill>
                                      <a:latin typeface="Cambria Math" panose="02040503050406030204" pitchFamily="18" charset="0"/>
                                    </a:rPr>
                                  </m:ctrlPr>
                                </m:sSubPr>
                                <m:e>
                                  <m:r>
                                    <m:rPr>
                                      <m:sty m:val="p"/>
                                    </m:rPr>
                                    <a:rPr lang="en-US" altLang="zh-CN" sz="1600" b="0" i="0" smtClean="0">
                                      <a:solidFill>
                                        <a:schemeClr val="tx1"/>
                                      </a:solidFill>
                                      <a:latin typeface="Cambria Math" panose="02040503050406030204" pitchFamily="18" charset="0"/>
                                    </a:rPr>
                                    <m:t>A</m:t>
                                  </m:r>
                                </m:e>
                                <m:sub>
                                  <m:r>
                                    <a:rPr lang="en-US" altLang="zh-CN" sz="1600" b="0" i="1" smtClean="0">
                                      <a:solidFill>
                                        <a:schemeClr val="tx1"/>
                                      </a:solidFill>
                                      <a:latin typeface="Cambria Math" panose="02040503050406030204" pitchFamily="18" charset="0"/>
                                    </a:rPr>
                                    <m:t>4</m:t>
                                  </m:r>
                                </m:sub>
                              </m:sSub>
                            </m:oMath>
                          </a14:m>
                          <a:r>
                            <a:rPr lang="en-US" altLang="zh-CN" sz="1600" dirty="0">
                              <a:solidFill>
                                <a:schemeClr val="tx1"/>
                              </a:solidFill>
                              <a:latin typeface="微软雅黑" panose="020B0503020204020204" pitchFamily="34" charset="-122"/>
                              <a:ea typeface="微软雅黑" panose="020B0503020204020204" pitchFamily="34" charset="-122"/>
                            </a:rPr>
                            <a:t>)</a:t>
                          </a:r>
                          <a:endParaRPr lang="zh-CN" altLang="en-US" sz="16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1600" b="0" i="1" smtClean="0">
                                        <a:solidFill>
                                          <a:schemeClr val="accent5">
                                            <a:lumMod val="75000"/>
                                          </a:schemeClr>
                                        </a:solidFill>
                                        <a:latin typeface="Cambria Math" panose="02040503050406030204" pitchFamily="18" charset="0"/>
                                      </a:rPr>
                                    </m:ctrlPr>
                                  </m:sSubPr>
                                  <m:e>
                                    <m:r>
                                      <m:rPr>
                                        <m:sty m:val="p"/>
                                      </m:rPr>
                                      <a:rPr lang="en-US" altLang="zh-CN" sz="1600" b="0" i="0" smtClean="0">
                                        <a:solidFill>
                                          <a:schemeClr val="accent5">
                                            <a:lumMod val="75000"/>
                                          </a:schemeClr>
                                        </a:solidFill>
                                        <a:latin typeface="Cambria Math" panose="02040503050406030204" pitchFamily="18" charset="0"/>
                                      </a:rPr>
                                      <m:t>I</m:t>
                                    </m:r>
                                  </m:e>
                                  <m:sub>
                                    <m:r>
                                      <a:rPr lang="en-US" altLang="zh-CN" sz="1600" b="0" i="1" smtClean="0">
                                        <a:solidFill>
                                          <a:schemeClr val="accent5">
                                            <a:lumMod val="75000"/>
                                          </a:schemeClr>
                                        </a:solidFill>
                                        <a:latin typeface="Cambria Math" panose="02040503050406030204" pitchFamily="18" charset="0"/>
                                      </a:rPr>
                                      <m:t>3</m:t>
                                    </m:r>
                                  </m:sub>
                                </m:sSub>
                                <m:sSub>
                                  <m:sSubPr>
                                    <m:ctrlPr>
                                      <a:rPr lang="en-US" altLang="zh-CN" sz="1600" b="0" i="1" smtClean="0">
                                        <a:solidFill>
                                          <a:schemeClr val="accent5">
                                            <a:lumMod val="75000"/>
                                          </a:schemeClr>
                                        </a:solidFill>
                                        <a:latin typeface="Cambria Math" panose="02040503050406030204" pitchFamily="18" charset="0"/>
                                      </a:rPr>
                                    </m:ctrlPr>
                                  </m:sSubPr>
                                  <m:e>
                                    <m:r>
                                      <m:rPr>
                                        <m:sty m:val="p"/>
                                      </m:rPr>
                                      <a:rPr lang="en-US" altLang="zh-CN" sz="1600" b="0" i="0" smtClean="0">
                                        <a:solidFill>
                                          <a:schemeClr val="accent5">
                                            <a:lumMod val="75000"/>
                                          </a:schemeClr>
                                        </a:solidFill>
                                        <a:latin typeface="Cambria Math" panose="02040503050406030204" pitchFamily="18" charset="0"/>
                                      </a:rPr>
                                      <m:t>I</m:t>
                                    </m:r>
                                  </m:e>
                                  <m:sub>
                                    <m:r>
                                      <a:rPr lang="en-US" altLang="zh-CN" sz="1600" b="0" i="1" smtClean="0">
                                        <a:solidFill>
                                          <a:schemeClr val="accent5">
                                            <a:lumMod val="75000"/>
                                          </a:schemeClr>
                                        </a:solidFill>
                                        <a:latin typeface="Cambria Math" panose="02040503050406030204" pitchFamily="18" charset="0"/>
                                      </a:rPr>
                                      <m:t>2</m:t>
                                    </m:r>
                                  </m:sub>
                                </m:sSub>
                                <m:sSub>
                                  <m:sSubPr>
                                    <m:ctrlPr>
                                      <a:rPr lang="en-US" altLang="zh-CN" sz="1600" b="0" i="1" smtClean="0">
                                        <a:solidFill>
                                          <a:schemeClr val="accent5">
                                            <a:lumMod val="75000"/>
                                          </a:schemeClr>
                                        </a:solidFill>
                                        <a:latin typeface="Cambria Math" panose="02040503050406030204" pitchFamily="18" charset="0"/>
                                      </a:rPr>
                                    </m:ctrlPr>
                                  </m:sSubPr>
                                  <m:e>
                                    <m:r>
                                      <m:rPr>
                                        <m:sty m:val="p"/>
                                      </m:rPr>
                                      <a:rPr lang="en-US" altLang="zh-CN" sz="1600" b="0" i="0" smtClean="0">
                                        <a:solidFill>
                                          <a:schemeClr val="accent5">
                                            <a:lumMod val="75000"/>
                                          </a:schemeClr>
                                        </a:solidFill>
                                        <a:latin typeface="Cambria Math" panose="02040503050406030204" pitchFamily="18" charset="0"/>
                                      </a:rPr>
                                      <m:t>I</m:t>
                                    </m:r>
                                  </m:e>
                                  <m:sub>
                                    <m:r>
                                      <a:rPr lang="en-US" altLang="zh-CN" sz="1600" b="0" i="1" smtClean="0">
                                        <a:solidFill>
                                          <a:schemeClr val="accent5">
                                            <a:lumMod val="75000"/>
                                          </a:schemeClr>
                                        </a:solidFill>
                                        <a:latin typeface="Cambria Math" panose="02040503050406030204" pitchFamily="18" charset="0"/>
                                      </a:rPr>
                                      <m:t>1</m:t>
                                    </m:r>
                                  </m:sub>
                                </m:sSub>
                                <m:sSub>
                                  <m:sSubPr>
                                    <m:ctrlPr>
                                      <a:rPr lang="en-US" altLang="zh-CN" sz="1600" b="0" i="1" smtClean="0">
                                        <a:solidFill>
                                          <a:schemeClr val="accent5">
                                            <a:lumMod val="75000"/>
                                          </a:schemeClr>
                                        </a:solidFill>
                                        <a:latin typeface="Cambria Math" panose="02040503050406030204" pitchFamily="18" charset="0"/>
                                      </a:rPr>
                                    </m:ctrlPr>
                                  </m:sSubPr>
                                  <m:e>
                                    <m:r>
                                      <m:rPr>
                                        <m:sty m:val="p"/>
                                      </m:rPr>
                                      <a:rPr lang="en-US" altLang="zh-CN" sz="1600" b="0" i="0" smtClean="0">
                                        <a:solidFill>
                                          <a:schemeClr val="accent5">
                                            <a:lumMod val="75000"/>
                                          </a:schemeClr>
                                        </a:solidFill>
                                        <a:latin typeface="Cambria Math" panose="02040503050406030204" pitchFamily="18" charset="0"/>
                                      </a:rPr>
                                      <m:t>I</m:t>
                                    </m:r>
                                  </m:e>
                                  <m:sub>
                                    <m:r>
                                      <a:rPr lang="en-US" altLang="zh-CN" sz="1600" b="0" i="1" smtClean="0">
                                        <a:solidFill>
                                          <a:schemeClr val="accent5">
                                            <a:lumMod val="75000"/>
                                          </a:schemeClr>
                                        </a:solidFill>
                                        <a:latin typeface="Cambria Math" panose="02040503050406030204" pitchFamily="18" charset="0"/>
                                      </a:rPr>
                                      <m:t>0</m:t>
                                    </m:r>
                                  </m:sub>
                                </m:sSub>
                              </m:oMath>
                            </m:oMathPara>
                          </a14:m>
                          <a:endParaRPr lang="en-US" altLang="zh-CN" sz="1600" dirty="0">
                            <a:solidFill>
                              <a:schemeClr val="accent5">
                                <a:lumMod val="75000"/>
                              </a:schemeClr>
                            </a:solidFill>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1600" b="0" i="1" smtClean="0">
                                      <a:solidFill>
                                        <a:schemeClr val="tx1"/>
                                      </a:solidFill>
                                      <a:latin typeface="Cambria Math" panose="02040503050406030204" pitchFamily="18" charset="0"/>
                                    </a:rPr>
                                  </m:ctrlPr>
                                </m:sSubPr>
                                <m:e>
                                  <m:r>
                                    <m:rPr>
                                      <m:sty m:val="p"/>
                                    </m:rPr>
                                    <a:rPr lang="en-US" altLang="zh-CN" sz="1600" b="0" i="0" smtClean="0">
                                      <a:solidFill>
                                        <a:schemeClr val="tx1"/>
                                      </a:solidFill>
                                      <a:latin typeface="Cambria Math" panose="02040503050406030204" pitchFamily="18" charset="0"/>
                                    </a:rPr>
                                    <m:t>A</m:t>
                                  </m:r>
                                </m:e>
                                <m:sub>
                                  <m:r>
                                    <a:rPr lang="en-US" altLang="zh-CN" sz="1600" b="0" i="1" smtClean="0">
                                      <a:solidFill>
                                        <a:schemeClr val="tx1"/>
                                      </a:solidFill>
                                      <a:latin typeface="Cambria Math" panose="02040503050406030204" pitchFamily="18" charset="0"/>
                                    </a:rPr>
                                    <m:t>3</m:t>
                                  </m:r>
                                </m:sub>
                              </m:sSub>
                              <m:sSub>
                                <m:sSubPr>
                                  <m:ctrlPr>
                                    <a:rPr lang="en-US" altLang="zh-CN" sz="1600" b="0" i="1" smtClean="0">
                                      <a:solidFill>
                                        <a:schemeClr val="tx1"/>
                                      </a:solidFill>
                                      <a:latin typeface="Cambria Math" panose="02040503050406030204" pitchFamily="18" charset="0"/>
                                    </a:rPr>
                                  </m:ctrlPr>
                                </m:sSubPr>
                                <m:e>
                                  <m:r>
                                    <m:rPr>
                                      <m:sty m:val="p"/>
                                    </m:rPr>
                                    <a:rPr lang="en-US" altLang="zh-CN" sz="1600" b="0" i="0" smtClean="0">
                                      <a:solidFill>
                                        <a:schemeClr val="tx1"/>
                                      </a:solidFill>
                                      <a:latin typeface="Cambria Math" panose="02040503050406030204" pitchFamily="18" charset="0"/>
                                    </a:rPr>
                                    <m:t>A</m:t>
                                  </m:r>
                                </m:e>
                                <m:sub>
                                  <m:r>
                                    <a:rPr lang="en-US" altLang="zh-CN" sz="1600" b="0" i="1" smtClean="0">
                                      <a:solidFill>
                                        <a:schemeClr val="tx1"/>
                                      </a:solidFill>
                                      <a:latin typeface="Cambria Math" panose="02040503050406030204" pitchFamily="18" charset="0"/>
                                    </a:rPr>
                                    <m:t>2</m:t>
                                  </m:r>
                                </m:sub>
                              </m:sSub>
                              <m:sSub>
                                <m:sSubPr>
                                  <m:ctrlPr>
                                    <a:rPr lang="en-US" altLang="zh-CN" sz="1600" b="0" i="1" smtClean="0">
                                      <a:solidFill>
                                        <a:schemeClr val="tx1"/>
                                      </a:solidFill>
                                      <a:latin typeface="Cambria Math" panose="02040503050406030204" pitchFamily="18" charset="0"/>
                                    </a:rPr>
                                  </m:ctrlPr>
                                </m:sSubPr>
                                <m:e>
                                  <m:r>
                                    <m:rPr>
                                      <m:sty m:val="p"/>
                                    </m:rPr>
                                    <a:rPr lang="en-US" altLang="zh-CN" sz="1600" b="0" i="0" smtClean="0">
                                      <a:solidFill>
                                        <a:schemeClr val="tx1"/>
                                      </a:solidFill>
                                      <a:latin typeface="Cambria Math" panose="02040503050406030204" pitchFamily="18" charset="0"/>
                                    </a:rPr>
                                    <m:t>A</m:t>
                                  </m:r>
                                </m:e>
                                <m:sub>
                                  <m:r>
                                    <a:rPr lang="en-US" altLang="zh-CN" sz="1600" b="0" i="1" smtClean="0">
                                      <a:solidFill>
                                        <a:schemeClr val="tx1"/>
                                      </a:solidFill>
                                      <a:latin typeface="Cambria Math" panose="02040503050406030204" pitchFamily="18" charset="0"/>
                                    </a:rPr>
                                    <m:t>1</m:t>
                                  </m:r>
                                </m:sub>
                              </m:sSub>
                              <m:sSub>
                                <m:sSubPr>
                                  <m:ctrlPr>
                                    <a:rPr lang="en-US" altLang="zh-CN" sz="1600" b="0" i="1" smtClean="0">
                                      <a:solidFill>
                                        <a:schemeClr val="tx1"/>
                                      </a:solidFill>
                                      <a:latin typeface="Cambria Math" panose="02040503050406030204" pitchFamily="18" charset="0"/>
                                    </a:rPr>
                                  </m:ctrlPr>
                                </m:sSubPr>
                                <m:e>
                                  <m:r>
                                    <m:rPr>
                                      <m:sty m:val="p"/>
                                    </m:rPr>
                                    <a:rPr lang="en-US" altLang="zh-CN" sz="1600" b="0" i="0" smtClean="0">
                                      <a:solidFill>
                                        <a:schemeClr val="tx1"/>
                                      </a:solidFill>
                                      <a:latin typeface="Cambria Math" panose="02040503050406030204" pitchFamily="18" charset="0"/>
                                    </a:rPr>
                                    <m:t>A</m:t>
                                  </m:r>
                                </m:e>
                                <m:sub>
                                  <m:r>
                                    <a:rPr lang="en-US" altLang="zh-CN" sz="1600" b="0" i="1" smtClean="0">
                                      <a:solidFill>
                                        <a:schemeClr val="tx1"/>
                                      </a:solidFill>
                                      <a:latin typeface="Cambria Math" panose="02040503050406030204" pitchFamily="18" charset="0"/>
                                    </a:rPr>
                                    <m:t>0</m:t>
                                  </m:r>
                                </m:sub>
                              </m:sSub>
                            </m:oMath>
                          </a14:m>
                          <a:r>
                            <a:rPr lang="en-US" altLang="zh-CN" sz="1600" dirty="0">
                              <a:solidFill>
                                <a:schemeClr val="tx1"/>
                              </a:solidFill>
                              <a:latin typeface="微软雅黑" panose="020B0503020204020204" pitchFamily="34" charset="-122"/>
                              <a:ea typeface="微软雅黑" panose="020B0503020204020204" pitchFamily="34" charset="-122"/>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tx1"/>
                              </a:solidFill>
                              <a:latin typeface="微软雅黑" panose="020B0503020204020204" pitchFamily="34" charset="-122"/>
                              <a:ea typeface="微软雅黑" panose="020B0503020204020204" pitchFamily="34" charset="-122"/>
                            </a:rPr>
                            <a:t>格雷码</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1600" b="0" i="1" smtClean="0">
                                        <a:solidFill>
                                          <a:schemeClr val="accent5">
                                            <a:lumMod val="75000"/>
                                          </a:schemeClr>
                                        </a:solidFill>
                                        <a:latin typeface="Cambria Math" panose="02040503050406030204" pitchFamily="18" charset="0"/>
                                      </a:rPr>
                                    </m:ctrlPr>
                                  </m:sSubPr>
                                  <m:e>
                                    <m:r>
                                      <m:rPr>
                                        <m:sty m:val="p"/>
                                      </m:rPr>
                                      <a:rPr lang="en-US" altLang="zh-CN" sz="1600" b="0" i="0" smtClean="0">
                                        <a:solidFill>
                                          <a:schemeClr val="accent5">
                                            <a:lumMod val="75000"/>
                                          </a:schemeClr>
                                        </a:solidFill>
                                        <a:latin typeface="Cambria Math" panose="02040503050406030204" pitchFamily="18" charset="0"/>
                                      </a:rPr>
                                      <m:t>O</m:t>
                                    </m:r>
                                  </m:e>
                                  <m:sub>
                                    <m:r>
                                      <a:rPr lang="en-US" altLang="zh-CN" sz="1600" b="0" i="1" smtClean="0">
                                        <a:solidFill>
                                          <a:schemeClr val="accent5">
                                            <a:lumMod val="75000"/>
                                          </a:schemeClr>
                                        </a:solidFill>
                                        <a:latin typeface="Cambria Math" panose="02040503050406030204" pitchFamily="18" charset="0"/>
                                      </a:rPr>
                                      <m:t>3</m:t>
                                    </m:r>
                                  </m:sub>
                                </m:sSub>
                                <m:sSub>
                                  <m:sSubPr>
                                    <m:ctrlPr>
                                      <a:rPr lang="en-US" altLang="zh-CN" sz="1600" b="0" i="1" smtClean="0">
                                        <a:solidFill>
                                          <a:schemeClr val="accent5">
                                            <a:lumMod val="75000"/>
                                          </a:schemeClr>
                                        </a:solidFill>
                                        <a:latin typeface="Cambria Math" panose="02040503050406030204" pitchFamily="18" charset="0"/>
                                      </a:rPr>
                                    </m:ctrlPr>
                                  </m:sSubPr>
                                  <m:e>
                                    <m:r>
                                      <m:rPr>
                                        <m:sty m:val="p"/>
                                      </m:rPr>
                                      <a:rPr lang="en-US" altLang="zh-CN" sz="1600" b="0" i="0" smtClean="0">
                                        <a:solidFill>
                                          <a:schemeClr val="accent5">
                                            <a:lumMod val="75000"/>
                                          </a:schemeClr>
                                        </a:solidFill>
                                        <a:latin typeface="Cambria Math" panose="02040503050406030204" pitchFamily="18" charset="0"/>
                                      </a:rPr>
                                      <m:t>O</m:t>
                                    </m:r>
                                  </m:e>
                                  <m:sub>
                                    <m:r>
                                      <a:rPr lang="en-US" altLang="zh-CN" sz="1600" b="0" i="1" smtClean="0">
                                        <a:solidFill>
                                          <a:schemeClr val="accent5">
                                            <a:lumMod val="75000"/>
                                          </a:schemeClr>
                                        </a:solidFill>
                                        <a:latin typeface="Cambria Math" panose="02040503050406030204" pitchFamily="18" charset="0"/>
                                      </a:rPr>
                                      <m:t>2</m:t>
                                    </m:r>
                                  </m:sub>
                                </m:sSub>
                                <m:sSub>
                                  <m:sSubPr>
                                    <m:ctrlPr>
                                      <a:rPr lang="en-US" altLang="zh-CN" sz="1600" b="0" i="1" smtClean="0">
                                        <a:solidFill>
                                          <a:schemeClr val="accent5">
                                            <a:lumMod val="75000"/>
                                          </a:schemeClr>
                                        </a:solidFill>
                                        <a:latin typeface="Cambria Math" panose="02040503050406030204" pitchFamily="18" charset="0"/>
                                      </a:rPr>
                                    </m:ctrlPr>
                                  </m:sSubPr>
                                  <m:e>
                                    <m:r>
                                      <m:rPr>
                                        <m:sty m:val="p"/>
                                      </m:rPr>
                                      <a:rPr lang="en-US" altLang="zh-CN" sz="1600" b="0" i="0" smtClean="0">
                                        <a:solidFill>
                                          <a:schemeClr val="accent5">
                                            <a:lumMod val="75000"/>
                                          </a:schemeClr>
                                        </a:solidFill>
                                        <a:latin typeface="Cambria Math" panose="02040503050406030204" pitchFamily="18" charset="0"/>
                                      </a:rPr>
                                      <m:t>O</m:t>
                                    </m:r>
                                  </m:e>
                                  <m:sub>
                                    <m:r>
                                      <a:rPr lang="en-US" altLang="zh-CN" sz="1600" b="0" i="1" smtClean="0">
                                        <a:solidFill>
                                          <a:schemeClr val="accent5">
                                            <a:lumMod val="75000"/>
                                          </a:schemeClr>
                                        </a:solidFill>
                                        <a:latin typeface="Cambria Math" panose="02040503050406030204" pitchFamily="18" charset="0"/>
                                      </a:rPr>
                                      <m:t>1</m:t>
                                    </m:r>
                                  </m:sub>
                                </m:sSub>
                                <m:sSub>
                                  <m:sSubPr>
                                    <m:ctrlPr>
                                      <a:rPr lang="en-US" altLang="zh-CN" sz="1600" b="0" i="1" smtClean="0">
                                        <a:solidFill>
                                          <a:schemeClr val="accent5">
                                            <a:lumMod val="75000"/>
                                          </a:schemeClr>
                                        </a:solidFill>
                                        <a:latin typeface="Cambria Math" panose="02040503050406030204" pitchFamily="18" charset="0"/>
                                      </a:rPr>
                                    </m:ctrlPr>
                                  </m:sSubPr>
                                  <m:e>
                                    <m:r>
                                      <m:rPr>
                                        <m:sty m:val="p"/>
                                      </m:rPr>
                                      <a:rPr lang="en-US" altLang="zh-CN" sz="1600" b="0" i="0" smtClean="0">
                                        <a:solidFill>
                                          <a:schemeClr val="accent5">
                                            <a:lumMod val="75000"/>
                                          </a:schemeClr>
                                        </a:solidFill>
                                        <a:latin typeface="Cambria Math" panose="02040503050406030204" pitchFamily="18" charset="0"/>
                                      </a:rPr>
                                      <m:t>O</m:t>
                                    </m:r>
                                  </m:e>
                                  <m:sub>
                                    <m:r>
                                      <a:rPr lang="en-US" altLang="zh-CN" sz="1600" b="0" i="1" smtClean="0">
                                        <a:solidFill>
                                          <a:schemeClr val="accent5">
                                            <a:lumMod val="75000"/>
                                          </a:schemeClr>
                                        </a:solidFill>
                                        <a:latin typeface="Cambria Math" panose="02040503050406030204" pitchFamily="18" charset="0"/>
                                      </a:rPr>
                                      <m:t>0</m:t>
                                    </m:r>
                                  </m:sub>
                                </m:sSub>
                              </m:oMath>
                            </m:oMathPara>
                          </a14:m>
                          <a:endParaRPr lang="en-US" altLang="zh-CN" sz="1600" dirty="0">
                            <a:solidFill>
                              <a:schemeClr val="accent5">
                                <a:lumMod val="75000"/>
                              </a:schemeClr>
                            </a:solidFill>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1600" b="0" i="1" smtClean="0">
                                      <a:solidFill>
                                        <a:schemeClr val="tx1"/>
                                      </a:solidFill>
                                      <a:latin typeface="Cambria Math" panose="02040503050406030204" pitchFamily="18" charset="0"/>
                                    </a:rPr>
                                  </m:ctrlPr>
                                </m:sSubPr>
                                <m:e>
                                  <m:r>
                                    <m:rPr>
                                      <m:sty m:val="p"/>
                                    </m:rPr>
                                    <a:rPr lang="en-US" altLang="zh-CN" sz="1600" b="0" i="0" smtClean="0">
                                      <a:solidFill>
                                        <a:schemeClr val="tx1"/>
                                      </a:solidFill>
                                      <a:latin typeface="Cambria Math" panose="02040503050406030204" pitchFamily="18" charset="0"/>
                                    </a:rPr>
                                    <m:t>D</m:t>
                                  </m:r>
                                </m:e>
                                <m:sub>
                                  <m:r>
                                    <a:rPr lang="en-US" altLang="zh-CN" sz="1600" b="0" i="1" smtClean="0">
                                      <a:solidFill>
                                        <a:schemeClr val="tx1"/>
                                      </a:solidFill>
                                      <a:latin typeface="Cambria Math" panose="02040503050406030204" pitchFamily="18" charset="0"/>
                                    </a:rPr>
                                    <m:t>3</m:t>
                                  </m:r>
                                </m:sub>
                              </m:sSub>
                              <m:sSub>
                                <m:sSubPr>
                                  <m:ctrlPr>
                                    <a:rPr lang="en-US" altLang="zh-CN" sz="1600" b="0" i="1" smtClean="0">
                                      <a:solidFill>
                                        <a:schemeClr val="tx1"/>
                                      </a:solidFill>
                                      <a:latin typeface="Cambria Math" panose="02040503050406030204" pitchFamily="18" charset="0"/>
                                    </a:rPr>
                                  </m:ctrlPr>
                                </m:sSubPr>
                                <m:e>
                                  <m:r>
                                    <m:rPr>
                                      <m:sty m:val="p"/>
                                    </m:rPr>
                                    <a:rPr lang="en-US" altLang="zh-CN" sz="1600" b="0" i="0" smtClean="0">
                                      <a:solidFill>
                                        <a:schemeClr val="tx1"/>
                                      </a:solidFill>
                                      <a:latin typeface="Cambria Math" panose="02040503050406030204" pitchFamily="18" charset="0"/>
                                    </a:rPr>
                                    <m:t>D</m:t>
                                  </m:r>
                                </m:e>
                                <m:sub>
                                  <m:r>
                                    <a:rPr lang="en-US" altLang="zh-CN" sz="1600" b="0" i="1" smtClean="0">
                                      <a:solidFill>
                                        <a:schemeClr val="tx1"/>
                                      </a:solidFill>
                                      <a:latin typeface="Cambria Math" panose="02040503050406030204" pitchFamily="18" charset="0"/>
                                    </a:rPr>
                                    <m:t>2</m:t>
                                  </m:r>
                                </m:sub>
                              </m:sSub>
                              <m:sSub>
                                <m:sSubPr>
                                  <m:ctrlPr>
                                    <a:rPr lang="en-US" altLang="zh-CN" sz="1600" b="0" i="1" smtClean="0">
                                      <a:solidFill>
                                        <a:schemeClr val="tx1"/>
                                      </a:solidFill>
                                      <a:latin typeface="Cambria Math" panose="02040503050406030204" pitchFamily="18" charset="0"/>
                                    </a:rPr>
                                  </m:ctrlPr>
                                </m:sSubPr>
                                <m:e>
                                  <m:r>
                                    <m:rPr>
                                      <m:sty m:val="p"/>
                                    </m:rPr>
                                    <a:rPr lang="en-US" altLang="zh-CN" sz="1600" b="0" i="0" smtClean="0">
                                      <a:solidFill>
                                        <a:schemeClr val="tx1"/>
                                      </a:solidFill>
                                      <a:latin typeface="Cambria Math" panose="02040503050406030204" pitchFamily="18" charset="0"/>
                                    </a:rPr>
                                    <m:t>D</m:t>
                                  </m:r>
                                </m:e>
                                <m:sub>
                                  <m:r>
                                    <a:rPr lang="en-US" altLang="zh-CN" sz="1600" b="0" i="1" smtClean="0">
                                      <a:solidFill>
                                        <a:schemeClr val="tx1"/>
                                      </a:solidFill>
                                      <a:latin typeface="Cambria Math" panose="02040503050406030204" pitchFamily="18" charset="0"/>
                                    </a:rPr>
                                    <m:t>1</m:t>
                                  </m:r>
                                </m:sub>
                              </m:sSub>
                              <m:sSub>
                                <m:sSubPr>
                                  <m:ctrlPr>
                                    <a:rPr lang="en-US" altLang="zh-CN" sz="1600" b="0" i="1" smtClean="0">
                                      <a:solidFill>
                                        <a:schemeClr val="tx1"/>
                                      </a:solidFill>
                                      <a:latin typeface="Cambria Math" panose="02040503050406030204" pitchFamily="18" charset="0"/>
                                    </a:rPr>
                                  </m:ctrlPr>
                                </m:sSubPr>
                                <m:e>
                                  <m:r>
                                    <m:rPr>
                                      <m:sty m:val="p"/>
                                    </m:rPr>
                                    <a:rPr lang="en-US" altLang="zh-CN" sz="1600" b="0" i="0" smtClean="0">
                                      <a:solidFill>
                                        <a:schemeClr val="tx1"/>
                                      </a:solidFill>
                                      <a:latin typeface="Cambria Math" panose="02040503050406030204" pitchFamily="18" charset="0"/>
                                    </a:rPr>
                                    <m:t>D</m:t>
                                  </m:r>
                                </m:e>
                                <m:sub>
                                  <m:r>
                                    <a:rPr lang="en-US" altLang="zh-CN" sz="1600" b="0" i="1" smtClean="0">
                                      <a:solidFill>
                                        <a:schemeClr val="tx1"/>
                                      </a:solidFill>
                                      <a:latin typeface="Cambria Math" panose="02040503050406030204" pitchFamily="18" charset="0"/>
                                    </a:rPr>
                                    <m:t>0</m:t>
                                  </m:r>
                                </m:sub>
                              </m:sSub>
                            </m:oMath>
                          </a14:m>
                          <a:r>
                            <a:rPr lang="en-US" altLang="zh-CN" sz="1600" dirty="0">
                              <a:solidFill>
                                <a:schemeClr val="tx1"/>
                              </a:solidFill>
                              <a:latin typeface="微软雅黑" panose="020B0503020204020204" pitchFamily="34" charset="-122"/>
                              <a:ea typeface="微软雅黑" panose="020B0503020204020204" pitchFamily="34" charset="-122"/>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tx1"/>
                              </a:solidFill>
                              <a:latin typeface="微软雅黑" panose="020B0503020204020204" pitchFamily="34" charset="-122"/>
                              <a:ea typeface="微软雅黑" panose="020B0503020204020204" pitchFamily="34" charset="-122"/>
                            </a:rPr>
                            <a:t>二进制码</a:t>
                          </a:r>
                        </a:p>
                      </a:txBody>
                      <a:tcPr anchor="ctr"/>
                    </a:tc>
                    <a:extLst>
                      <a:ext uri="{0D108BD9-81ED-4DB2-BD59-A6C34878D82A}">
                        <a16:rowId xmlns:a16="http://schemas.microsoft.com/office/drawing/2014/main" val="1571327688"/>
                      </a:ext>
                    </a:extLst>
                  </a:tr>
                  <a:tr h="289262">
                    <a:tc>
                      <a:txBody>
                        <a:bodyPr/>
                        <a:lstStyle/>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endParaRPr lang="zh-CN" altLang="en-US" sz="15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500" dirty="0">
                              <a:latin typeface="微软雅黑" panose="020B0503020204020204" pitchFamily="34" charset="-122"/>
                              <a:ea typeface="微软雅黑" panose="020B0503020204020204" pitchFamily="34" charset="-122"/>
                            </a:rPr>
                            <a:t>0 0 0 0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0 0 0 1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0 0 1 0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0 0 1 1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0 1 0 0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0 1 1 1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1 0 0 0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1 0 1 1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1 1 0 0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1 1 1 1 </a:t>
                          </a:r>
                          <a:endParaRPr lang="zh-CN" altLang="en-US" sz="15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500" dirty="0">
                              <a:latin typeface="微软雅黑" panose="020B0503020204020204" pitchFamily="34" charset="-122"/>
                              <a:ea typeface="微软雅黑" panose="020B0503020204020204" pitchFamily="34" charset="-122"/>
                            </a:rPr>
                            <a:t>0 0 0 0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0 0 0 1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0 0 1 1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0 0 1 0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0 1 1 1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0 1 0 0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1 1 0 0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1 1 1 1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1 0 1 1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1 0 0 0 </a:t>
                          </a:r>
                          <a:endParaRPr lang="zh-CN" altLang="en-US" sz="15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endParaRPr lang="zh-CN" altLang="en-US" sz="15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500" dirty="0">
                              <a:latin typeface="微软雅黑" panose="020B0503020204020204" pitchFamily="34" charset="-122"/>
                              <a:ea typeface="微软雅黑" panose="020B0503020204020204" pitchFamily="34" charset="-122"/>
                            </a:rPr>
                            <a:t>0 0 0 0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0 0 0 1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0 0 1 0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0 0 1 1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0 1 0 0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0 1 1 1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1 0 0 0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1 0 1 1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1 1 0 0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1 1 1 1 </a:t>
                          </a:r>
                          <a:endParaRPr lang="zh-CN" altLang="en-US" sz="15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500" dirty="0">
                              <a:latin typeface="微软雅黑" panose="020B0503020204020204" pitchFamily="34" charset="-122"/>
                              <a:ea typeface="微软雅黑" panose="020B0503020204020204" pitchFamily="34" charset="-122"/>
                            </a:rPr>
                            <a:t>0 0 0 0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0 0 0 1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0 0 1 1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0 0 1 0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0 1 1 1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0 1 0 0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0 1 0 1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1 1 1 1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1 1 0 0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1 0 0 0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1 0 1 1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1 0 1 0 </a:t>
                          </a:r>
                          <a:endParaRPr lang="zh-CN" altLang="en-US" sz="15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475890312"/>
                      </a:ext>
                    </a:extLst>
                  </a:tr>
                </a:tbl>
              </a:graphicData>
            </a:graphic>
          </p:graphicFrame>
        </mc:Choice>
        <mc:Fallback xmlns="">
          <p:graphicFrame>
            <p:nvGraphicFramePr>
              <p:cNvPr id="186" name="表格 185">
                <a:extLst>
                  <a:ext uri="{FF2B5EF4-FFF2-40B4-BE49-F238E27FC236}">
                    <a16:creationId xmlns:a16="http://schemas.microsoft.com/office/drawing/2014/main" id="{83E6EAFD-3A29-E556-03CD-D9FE1A734C7F}"/>
                  </a:ext>
                </a:extLst>
              </p:cNvPr>
              <p:cNvGraphicFramePr>
                <a:graphicFrameLocks noGrp="1"/>
              </p:cNvGraphicFramePr>
              <p:nvPr>
                <p:extLst>
                  <p:ext uri="{D42A27DB-BD31-4B8C-83A1-F6EECF244321}">
                    <p14:modId xmlns:p14="http://schemas.microsoft.com/office/powerpoint/2010/main" val="3002644109"/>
                  </p:ext>
                </p:extLst>
              </p:nvPr>
            </p:nvGraphicFramePr>
            <p:xfrm>
              <a:off x="5976000" y="1548000"/>
              <a:ext cx="5814839" cy="4572000"/>
            </p:xfrm>
            <a:graphic>
              <a:graphicData uri="http://schemas.openxmlformats.org/drawingml/2006/table">
                <a:tbl>
                  <a:tblPr firstRow="1" bandRow="1">
                    <a:tableStyleId>{5940675A-B579-460E-94D1-54222C63F5DA}</a:tableStyleId>
                  </a:tblPr>
                  <a:tblGrid>
                    <a:gridCol w="551577">
                      <a:extLst>
                        <a:ext uri="{9D8B030D-6E8A-4147-A177-3AD203B41FA5}">
                          <a16:colId xmlns:a16="http://schemas.microsoft.com/office/drawing/2014/main" val="379101483"/>
                        </a:ext>
                      </a:extLst>
                    </a:gridCol>
                    <a:gridCol w="1154109">
                      <a:extLst>
                        <a:ext uri="{9D8B030D-6E8A-4147-A177-3AD203B41FA5}">
                          <a16:colId xmlns:a16="http://schemas.microsoft.com/office/drawing/2014/main" val="163748324"/>
                        </a:ext>
                      </a:extLst>
                    </a:gridCol>
                    <a:gridCol w="1212809">
                      <a:extLst>
                        <a:ext uri="{9D8B030D-6E8A-4147-A177-3AD203B41FA5}">
                          <a16:colId xmlns:a16="http://schemas.microsoft.com/office/drawing/2014/main" val="1096904383"/>
                        </a:ext>
                      </a:extLst>
                    </a:gridCol>
                    <a:gridCol w="542719">
                      <a:extLst>
                        <a:ext uri="{9D8B030D-6E8A-4147-A177-3AD203B41FA5}">
                          <a16:colId xmlns:a16="http://schemas.microsoft.com/office/drawing/2014/main" val="2476943177"/>
                        </a:ext>
                      </a:extLst>
                    </a:gridCol>
                    <a:gridCol w="1157429">
                      <a:extLst>
                        <a:ext uri="{9D8B030D-6E8A-4147-A177-3AD203B41FA5}">
                          <a16:colId xmlns:a16="http://schemas.microsoft.com/office/drawing/2014/main" val="3224398851"/>
                        </a:ext>
                      </a:extLst>
                    </a:gridCol>
                    <a:gridCol w="1196196">
                      <a:extLst>
                        <a:ext uri="{9D8B030D-6E8A-4147-A177-3AD203B41FA5}">
                          <a16:colId xmlns:a16="http://schemas.microsoft.com/office/drawing/2014/main" val="1377374035"/>
                        </a:ext>
                      </a:extLst>
                    </a:gridCol>
                  </a:tblGrid>
                  <a:tr h="822960">
                    <a:tc>
                      <a:txBody>
                        <a:bodyPr/>
                        <a:lstStyle/>
                        <a:p>
                          <a:endParaRPr lang="zh-CN"/>
                        </a:p>
                      </a:txBody>
                      <a:tcPr anchor="ctr">
                        <a:blipFill>
                          <a:blip r:embed="rId24"/>
                          <a:stretch>
                            <a:fillRect l="-1099" t="-741" r="-951648" b="-464444"/>
                          </a:stretch>
                        </a:blipFill>
                      </a:tcPr>
                    </a:tc>
                    <a:tc>
                      <a:txBody>
                        <a:bodyPr/>
                        <a:lstStyle/>
                        <a:p>
                          <a:endParaRPr lang="zh-CN"/>
                        </a:p>
                      </a:txBody>
                      <a:tcPr anchor="ctr">
                        <a:blipFill>
                          <a:blip r:embed="rId24"/>
                          <a:stretch>
                            <a:fillRect l="-48677" t="-741" r="-358201" b="-464444"/>
                          </a:stretch>
                        </a:blipFill>
                      </a:tcPr>
                    </a:tc>
                    <a:tc>
                      <a:txBody>
                        <a:bodyPr/>
                        <a:lstStyle/>
                        <a:p>
                          <a:endParaRPr lang="zh-CN"/>
                        </a:p>
                      </a:txBody>
                      <a:tcPr anchor="ctr">
                        <a:blipFill>
                          <a:blip r:embed="rId24"/>
                          <a:stretch>
                            <a:fillRect l="-141206" t="-741" r="-240201" b="-464444"/>
                          </a:stretch>
                        </a:blipFill>
                      </a:tcPr>
                    </a:tc>
                    <a:tc>
                      <a:txBody>
                        <a:bodyPr/>
                        <a:lstStyle/>
                        <a:p>
                          <a:endParaRPr lang="zh-CN"/>
                        </a:p>
                      </a:txBody>
                      <a:tcPr anchor="ctr">
                        <a:blipFill>
                          <a:blip r:embed="rId24"/>
                          <a:stretch>
                            <a:fillRect l="-539326" t="-741" r="-437079" b="-464444"/>
                          </a:stretch>
                        </a:blipFill>
                      </a:tcPr>
                    </a:tc>
                    <a:tc>
                      <a:txBody>
                        <a:bodyPr/>
                        <a:lstStyle/>
                        <a:p>
                          <a:endParaRPr lang="zh-CN"/>
                        </a:p>
                      </a:txBody>
                      <a:tcPr anchor="ctr">
                        <a:blipFill>
                          <a:blip r:embed="rId24"/>
                          <a:stretch>
                            <a:fillRect l="-297906" t="-741" r="-103665" b="-464444"/>
                          </a:stretch>
                        </a:blipFill>
                      </a:tcPr>
                    </a:tc>
                    <a:tc>
                      <a:txBody>
                        <a:bodyPr/>
                        <a:lstStyle/>
                        <a:p>
                          <a:endParaRPr lang="zh-CN"/>
                        </a:p>
                      </a:txBody>
                      <a:tcPr anchor="ctr">
                        <a:blipFill>
                          <a:blip r:embed="rId24"/>
                          <a:stretch>
                            <a:fillRect l="-387755" t="-741" r="-1020" b="-464444"/>
                          </a:stretch>
                        </a:blipFill>
                      </a:tcPr>
                    </a:tc>
                    <a:extLst>
                      <a:ext uri="{0D108BD9-81ED-4DB2-BD59-A6C34878D82A}">
                        <a16:rowId xmlns:a16="http://schemas.microsoft.com/office/drawing/2014/main" val="1571327688"/>
                      </a:ext>
                    </a:extLst>
                  </a:tr>
                  <a:tr h="3749040">
                    <a:tc>
                      <a:txBody>
                        <a:bodyPr/>
                        <a:lstStyle/>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p>
                        <a:p>
                          <a:pPr algn="ctr"/>
                          <a:r>
                            <a:rPr lang="en-US" altLang="zh-CN" sz="1500" dirty="0">
                              <a:latin typeface="微软雅黑" panose="020B0503020204020204" pitchFamily="34" charset="-122"/>
                              <a:ea typeface="微软雅黑" panose="020B0503020204020204" pitchFamily="34" charset="-122"/>
                            </a:rPr>
                            <a:t>0</a:t>
                          </a:r>
                          <a:endParaRPr lang="zh-CN" altLang="en-US" sz="15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500" dirty="0">
                              <a:latin typeface="微软雅黑" panose="020B0503020204020204" pitchFamily="34" charset="-122"/>
                              <a:ea typeface="微软雅黑" panose="020B0503020204020204" pitchFamily="34" charset="-122"/>
                            </a:rPr>
                            <a:t>0 0 0 0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0 0 0 1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0 0 1 0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0 0 1 1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0 1 0 0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0 1 1 1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1 0 0 0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1 0 1 1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1 1 0 0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1 1 1 1 </a:t>
                          </a:r>
                          <a:endParaRPr lang="zh-CN" altLang="en-US" sz="15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500" dirty="0">
                              <a:latin typeface="微软雅黑" panose="020B0503020204020204" pitchFamily="34" charset="-122"/>
                              <a:ea typeface="微软雅黑" panose="020B0503020204020204" pitchFamily="34" charset="-122"/>
                            </a:rPr>
                            <a:t>0 0 0 0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0 0 0 1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0 0 1 1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0 0 1 0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0 1 1 1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0 1 0 0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1 1 0 0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1 1 1 1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1 0 1 1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1 0 0 0 </a:t>
                          </a:r>
                          <a:endParaRPr lang="zh-CN" altLang="en-US" sz="15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p>
                        <a:p>
                          <a:pPr algn="ctr"/>
                          <a:r>
                            <a:rPr lang="en-US" altLang="zh-CN" sz="1500" dirty="0">
                              <a:latin typeface="微软雅黑" panose="020B0503020204020204" pitchFamily="34" charset="-122"/>
                              <a:ea typeface="微软雅黑" panose="020B0503020204020204" pitchFamily="34" charset="-122"/>
                            </a:rPr>
                            <a:t>1</a:t>
                          </a:r>
                          <a:endParaRPr lang="zh-CN" altLang="en-US" sz="15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500" dirty="0">
                              <a:latin typeface="微软雅黑" panose="020B0503020204020204" pitchFamily="34" charset="-122"/>
                              <a:ea typeface="微软雅黑" panose="020B0503020204020204" pitchFamily="34" charset="-122"/>
                            </a:rPr>
                            <a:t>0 0 0 0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0 0 0 1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0 0 1 0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0 0 1 1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0 1 0 0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0 1 1 1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1 0 0 0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1 0 1 1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1 1 0 0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1 1 1 1 </a:t>
                          </a:r>
                          <a:endParaRPr lang="zh-CN" altLang="en-US" sz="15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500" dirty="0">
                              <a:latin typeface="微软雅黑" panose="020B0503020204020204" pitchFamily="34" charset="-122"/>
                              <a:ea typeface="微软雅黑" panose="020B0503020204020204" pitchFamily="34" charset="-122"/>
                            </a:rPr>
                            <a:t>0 0 0 0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0 0 0 1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0 0 1 1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0 0 1 0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0 1 1 1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0 1 0 0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0 1 0 1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1 1 1 1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1 1 1 0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1 1 0 0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1 1 0 1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1 0 0 0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1 0 0 1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1 0 1 1 </a:t>
                          </a:r>
                          <a:endParaRPr lang="zh-CN" altLang="en-US" sz="15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dirty="0">
                              <a:latin typeface="微软雅黑" panose="020B0503020204020204" pitchFamily="34" charset="-122"/>
                              <a:ea typeface="微软雅黑" panose="020B0503020204020204" pitchFamily="34" charset="-122"/>
                            </a:rPr>
                            <a:t>1 0 1 0 </a:t>
                          </a:r>
                          <a:endParaRPr lang="zh-CN" altLang="en-US" sz="15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475890312"/>
                      </a:ext>
                    </a:extLst>
                  </a:tr>
                </a:tbl>
              </a:graphicData>
            </a:graphic>
          </p:graphicFrame>
        </mc:Fallback>
      </mc:AlternateContent>
      <p:sp>
        <p:nvSpPr>
          <p:cNvPr id="9" name="标题 1">
            <a:extLst>
              <a:ext uri="{FF2B5EF4-FFF2-40B4-BE49-F238E27FC236}">
                <a16:creationId xmlns:a16="http://schemas.microsoft.com/office/drawing/2014/main" id="{407BC95D-2F6E-9FF1-0955-B348C30A5CE0}"/>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半导体存储器 </a:t>
            </a:r>
            <a:r>
              <a:rPr lang="en-US" altLang="zh-CN" sz="3000" dirty="0"/>
              <a:t>—— </a:t>
            </a:r>
            <a:r>
              <a:rPr lang="zh-CN" altLang="en-US" sz="3000" dirty="0">
                <a:solidFill>
                  <a:srgbClr val="FFFF00"/>
                </a:solidFill>
              </a:rPr>
              <a:t>只读存储器（</a:t>
            </a:r>
            <a:r>
              <a:rPr lang="en-US" altLang="zh-CN" sz="3000" dirty="0">
                <a:solidFill>
                  <a:srgbClr val="FFFF00"/>
                </a:solidFill>
              </a:rPr>
              <a:t>ROM</a:t>
            </a:r>
            <a:r>
              <a:rPr lang="zh-CN" altLang="en-US" sz="3000" dirty="0">
                <a:solidFill>
                  <a:srgbClr val="FFFF00"/>
                </a:solidFill>
              </a:rPr>
              <a:t>）</a:t>
            </a:r>
            <a:endParaRPr lang="en-US" altLang="zh-CN" sz="3000" dirty="0"/>
          </a:p>
        </p:txBody>
      </p:sp>
    </p:spTree>
    <p:extLst>
      <p:ext uri="{BB962C8B-B14F-4D97-AF65-F5344CB8AC3E}">
        <p14:creationId xmlns:p14="http://schemas.microsoft.com/office/powerpoint/2010/main" val="1224497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F3AC9-C1D1-9411-88C9-A78A7EFC8448}"/>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988628B7-CA7F-25E6-24AD-7A398C28A6E7}"/>
              </a:ext>
            </a:extLst>
          </p:cNvPr>
          <p:cNvSpPr txBox="1"/>
          <p:nvPr/>
        </p:nvSpPr>
        <p:spPr>
          <a:xfrm>
            <a:off x="360000" y="828000"/>
            <a:ext cx="5046285" cy="565604"/>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只读存储器的操作时序图</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p:grpSp>
        <p:nvGrpSpPr>
          <p:cNvPr id="4" name="组合 3">
            <a:extLst>
              <a:ext uri="{FF2B5EF4-FFF2-40B4-BE49-F238E27FC236}">
                <a16:creationId xmlns:a16="http://schemas.microsoft.com/office/drawing/2014/main" id="{CD64765A-E908-7BFF-4501-C7104C26C310}"/>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A79380EB-BDEA-3FF2-D94C-06CCC31BEB1D}"/>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BC0342F0-4483-7190-8D64-ECF592E2FFC4}"/>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162C7649-C802-DFBC-A693-CDB1FCDFEA2C}"/>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F37CE34F-FE0E-84BD-7F6C-E290F0A6AEFA}"/>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10</a:t>
              </a:fld>
              <a:endParaRPr lang="zh-CN" altLang="en-US" sz="3200" dirty="0">
                <a:solidFill>
                  <a:schemeClr val="bg1"/>
                </a:solidFill>
                <a:latin typeface="Candara"/>
                <a:ea typeface="微软雅黑"/>
              </a:endParaRPr>
            </a:p>
          </p:txBody>
        </p:sp>
      </p:grpSp>
      <p:sp>
        <p:nvSpPr>
          <p:cNvPr id="9" name="标题 1">
            <a:extLst>
              <a:ext uri="{FF2B5EF4-FFF2-40B4-BE49-F238E27FC236}">
                <a16:creationId xmlns:a16="http://schemas.microsoft.com/office/drawing/2014/main" id="{F9AAAAA4-63BB-A021-3F0F-7AC52AC8E790}"/>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半导体存储器 </a:t>
            </a:r>
            <a:r>
              <a:rPr lang="en-US" altLang="zh-CN" sz="3000" dirty="0"/>
              <a:t>—— </a:t>
            </a:r>
            <a:r>
              <a:rPr lang="zh-CN" altLang="en-US" sz="3000" dirty="0">
                <a:solidFill>
                  <a:srgbClr val="FFFF00"/>
                </a:solidFill>
              </a:rPr>
              <a:t>只读存储器（</a:t>
            </a:r>
            <a:r>
              <a:rPr lang="en-US" altLang="zh-CN" sz="3000" dirty="0">
                <a:solidFill>
                  <a:srgbClr val="FFFF00"/>
                </a:solidFill>
              </a:rPr>
              <a:t>ROM</a:t>
            </a:r>
            <a:r>
              <a:rPr lang="zh-CN" altLang="en-US" sz="3000" dirty="0">
                <a:solidFill>
                  <a:srgbClr val="FFFF00"/>
                </a:solidFill>
              </a:rPr>
              <a:t>）</a:t>
            </a:r>
            <a:endParaRPr lang="en-US" altLang="zh-CN" sz="3000" dirty="0"/>
          </a:p>
        </p:txBody>
      </p:sp>
      <p:grpSp>
        <p:nvGrpSpPr>
          <p:cNvPr id="10" name="组合 9">
            <a:extLst>
              <a:ext uri="{FF2B5EF4-FFF2-40B4-BE49-F238E27FC236}">
                <a16:creationId xmlns:a16="http://schemas.microsoft.com/office/drawing/2014/main" id="{56989939-3C9B-84A6-6D2D-419EC4130564}"/>
              </a:ext>
            </a:extLst>
          </p:cNvPr>
          <p:cNvGrpSpPr/>
          <p:nvPr/>
        </p:nvGrpSpPr>
        <p:grpSpPr>
          <a:xfrm>
            <a:off x="360000" y="3492000"/>
            <a:ext cx="3024000" cy="3168000"/>
            <a:chOff x="864000" y="3419999"/>
            <a:chExt cx="3024000" cy="3168000"/>
          </a:xfrm>
        </p:grpSpPr>
        <p:cxnSp>
          <p:nvCxnSpPr>
            <p:cNvPr id="11" name="直接连接符 10">
              <a:extLst>
                <a:ext uri="{FF2B5EF4-FFF2-40B4-BE49-F238E27FC236}">
                  <a16:creationId xmlns:a16="http://schemas.microsoft.com/office/drawing/2014/main" id="{D93AF97A-F348-546F-29FD-18BAAF7201CC}"/>
                </a:ext>
              </a:extLst>
            </p:cNvPr>
            <p:cNvCxnSpPr>
              <a:cxnSpLocks/>
            </p:cNvCxnSpPr>
            <p:nvPr/>
          </p:nvCxnSpPr>
          <p:spPr>
            <a:xfrm>
              <a:off x="3060000" y="4140000"/>
              <a:ext cx="39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52EB45DD-649F-7814-3EAD-BA86B9F43635}"/>
                </a:ext>
              </a:extLst>
            </p:cNvPr>
            <p:cNvCxnSpPr>
              <a:cxnSpLocks/>
            </p:cNvCxnSpPr>
            <p:nvPr/>
          </p:nvCxnSpPr>
          <p:spPr>
            <a:xfrm>
              <a:off x="3060000" y="4752000"/>
              <a:ext cx="39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D8645D15-9C7D-CE1E-C358-501DE1FDB77D}"/>
                </a:ext>
              </a:extLst>
            </p:cNvPr>
            <p:cNvCxnSpPr>
              <a:cxnSpLocks/>
            </p:cNvCxnSpPr>
            <p:nvPr/>
          </p:nvCxnSpPr>
          <p:spPr>
            <a:xfrm>
              <a:off x="3060000" y="5364000"/>
              <a:ext cx="39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27246112-633D-CFCD-8DEA-91551E1D6854}"/>
                </a:ext>
              </a:extLst>
            </p:cNvPr>
            <p:cNvCxnSpPr>
              <a:cxnSpLocks/>
            </p:cNvCxnSpPr>
            <p:nvPr/>
          </p:nvCxnSpPr>
          <p:spPr>
            <a:xfrm>
              <a:off x="3060000" y="5976000"/>
              <a:ext cx="39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6E4B289B-B216-D840-657C-2B4A24E39AE2}"/>
                </a:ext>
              </a:extLst>
            </p:cNvPr>
            <p:cNvCxnSpPr>
              <a:cxnSpLocks/>
            </p:cNvCxnSpPr>
            <p:nvPr/>
          </p:nvCxnSpPr>
          <p:spPr>
            <a:xfrm>
              <a:off x="1224000" y="3672000"/>
              <a:ext cx="2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0E420C0D-B48C-A236-FCBA-3C74DB1AFACF}"/>
                </a:ext>
              </a:extLst>
            </p:cNvPr>
            <p:cNvCxnSpPr>
              <a:cxnSpLocks/>
            </p:cNvCxnSpPr>
            <p:nvPr/>
          </p:nvCxnSpPr>
          <p:spPr>
            <a:xfrm>
              <a:off x="1224000" y="4752000"/>
              <a:ext cx="2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C0777BBB-30A6-01C8-79EB-32DD14D83877}"/>
                </a:ext>
              </a:extLst>
            </p:cNvPr>
            <p:cNvCxnSpPr>
              <a:cxnSpLocks/>
            </p:cNvCxnSpPr>
            <p:nvPr/>
          </p:nvCxnSpPr>
          <p:spPr>
            <a:xfrm>
              <a:off x="1224000" y="4032000"/>
              <a:ext cx="2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F0463D4A-CA11-7183-294C-534662104E84}"/>
                </a:ext>
              </a:extLst>
            </p:cNvPr>
            <p:cNvCxnSpPr>
              <a:cxnSpLocks/>
            </p:cNvCxnSpPr>
            <p:nvPr/>
          </p:nvCxnSpPr>
          <p:spPr>
            <a:xfrm>
              <a:off x="1224000" y="4392000"/>
              <a:ext cx="2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59CAA21B-5E65-A27B-ECA9-F3CE08AA0288}"/>
                </a:ext>
              </a:extLst>
            </p:cNvPr>
            <p:cNvCxnSpPr>
              <a:cxnSpLocks/>
            </p:cNvCxnSpPr>
            <p:nvPr/>
          </p:nvCxnSpPr>
          <p:spPr>
            <a:xfrm>
              <a:off x="1224000" y="5112000"/>
              <a:ext cx="2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7C12CB18-32FC-FF83-9AE2-4ED09BC951EF}"/>
                </a:ext>
              </a:extLst>
            </p:cNvPr>
            <p:cNvSpPr/>
            <p:nvPr/>
          </p:nvSpPr>
          <p:spPr>
            <a:xfrm>
              <a:off x="1470768" y="3419999"/>
              <a:ext cx="1620000" cy="3168000"/>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panose="020B0503020204020204" pitchFamily="34" charset="-122"/>
                  <a:ea typeface="微软雅黑" panose="020B0503020204020204" pitchFamily="34" charset="-122"/>
                </a:rPr>
                <a:t>ROM</a:t>
              </a:r>
              <a:endParaRPr lang="zh-CN" altLang="en-US"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D799E0A2-110D-5C43-78FC-B24CA098F132}"/>
                    </a:ext>
                  </a:extLst>
                </p:cNvPr>
                <p:cNvSpPr txBox="1"/>
                <p:nvPr/>
              </p:nvSpPr>
              <p:spPr>
                <a:xfrm>
                  <a:off x="3528000" y="3960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O</m:t>
                            </m:r>
                          </m:e>
                          <m:sub>
                            <m:r>
                              <a:rPr lang="en-US" altLang="zh-CN" sz="2400" b="0" i="1" smtClean="0">
                                <a:solidFill>
                                  <a:schemeClr val="accent5">
                                    <a:lumMod val="75000"/>
                                  </a:schemeClr>
                                </a:solidFill>
                                <a:latin typeface="Cambria Math" panose="02040503050406030204" pitchFamily="18" charset="0"/>
                              </a:rPr>
                              <m:t>3</m:t>
                            </m:r>
                          </m:sub>
                        </m:sSub>
                      </m:oMath>
                    </m:oMathPara>
                  </a14:m>
                  <a:endParaRPr lang="zh-CN" altLang="en-US" sz="2400" dirty="0">
                    <a:solidFill>
                      <a:schemeClr val="accent5">
                        <a:lumMod val="75000"/>
                      </a:schemeClr>
                    </a:solidFill>
                  </a:endParaRPr>
                </a:p>
              </p:txBody>
            </p:sp>
          </mc:Choice>
          <mc:Fallback xmlns="">
            <p:sp>
              <p:nvSpPr>
                <p:cNvPr id="21" name="文本框 20">
                  <a:extLst>
                    <a:ext uri="{FF2B5EF4-FFF2-40B4-BE49-F238E27FC236}">
                      <a16:creationId xmlns:a16="http://schemas.microsoft.com/office/drawing/2014/main" id="{D799E0A2-110D-5C43-78FC-B24CA098F132}"/>
                    </a:ext>
                  </a:extLst>
                </p:cNvPr>
                <p:cNvSpPr txBox="1">
                  <a:spLocks noRot="1" noChangeAspect="1" noMove="1" noResize="1" noEditPoints="1" noAdjustHandles="1" noChangeArrowheads="1" noChangeShapeType="1" noTextEdit="1"/>
                </p:cNvSpPr>
                <p:nvPr/>
              </p:nvSpPr>
              <p:spPr>
                <a:xfrm>
                  <a:off x="3528000" y="3960000"/>
                  <a:ext cx="360000" cy="360000"/>
                </a:xfrm>
                <a:prstGeom prst="rect">
                  <a:avLst/>
                </a:prstGeom>
                <a:blipFill>
                  <a:blip r:embed="rId13"/>
                  <a:stretch>
                    <a:fillRect l="-25424" r="-15254"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3315755D-9C09-8204-8DF0-E7C42F9EA9C3}"/>
                    </a:ext>
                  </a:extLst>
                </p:cNvPr>
                <p:cNvSpPr txBox="1"/>
                <p:nvPr/>
              </p:nvSpPr>
              <p:spPr>
                <a:xfrm>
                  <a:off x="2700000" y="3960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D</m:t>
                            </m:r>
                          </m:e>
                          <m:sub>
                            <m:r>
                              <a:rPr lang="en-US" altLang="zh-CN" sz="2400" b="0" i="1" smtClean="0">
                                <a:solidFill>
                                  <a:schemeClr val="tx1"/>
                                </a:solidFill>
                                <a:latin typeface="Cambria Math" panose="02040503050406030204" pitchFamily="18" charset="0"/>
                              </a:rPr>
                              <m:t>3</m:t>
                            </m:r>
                          </m:sub>
                        </m:sSub>
                      </m:oMath>
                    </m:oMathPara>
                  </a14:m>
                  <a:endParaRPr lang="zh-CN" altLang="en-US" sz="2400" dirty="0">
                    <a:solidFill>
                      <a:schemeClr val="tx1"/>
                    </a:solidFill>
                  </a:endParaRPr>
                </a:p>
              </p:txBody>
            </p:sp>
          </mc:Choice>
          <mc:Fallback xmlns="">
            <p:sp>
              <p:nvSpPr>
                <p:cNvPr id="22" name="文本框 21">
                  <a:extLst>
                    <a:ext uri="{FF2B5EF4-FFF2-40B4-BE49-F238E27FC236}">
                      <a16:creationId xmlns:a16="http://schemas.microsoft.com/office/drawing/2014/main" id="{3315755D-9C09-8204-8DF0-E7C42F9EA9C3}"/>
                    </a:ext>
                  </a:extLst>
                </p:cNvPr>
                <p:cNvSpPr txBox="1">
                  <a:spLocks noRot="1" noChangeAspect="1" noMove="1" noResize="1" noEditPoints="1" noAdjustHandles="1" noChangeArrowheads="1" noChangeShapeType="1" noTextEdit="1"/>
                </p:cNvSpPr>
                <p:nvPr/>
              </p:nvSpPr>
              <p:spPr>
                <a:xfrm>
                  <a:off x="2700000" y="3960000"/>
                  <a:ext cx="360000" cy="360000"/>
                </a:xfrm>
                <a:prstGeom prst="rect">
                  <a:avLst/>
                </a:prstGeom>
                <a:blipFill>
                  <a:blip r:embed="rId14"/>
                  <a:stretch>
                    <a:fillRect l="-27119" r="-13559"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249A95B8-8523-A3AB-CD4B-9D63DF8FBBC9}"/>
                    </a:ext>
                  </a:extLst>
                </p:cNvPr>
                <p:cNvSpPr txBox="1"/>
                <p:nvPr/>
              </p:nvSpPr>
              <p:spPr>
                <a:xfrm>
                  <a:off x="2700000" y="4572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D</m:t>
                            </m:r>
                          </m:e>
                          <m:sub>
                            <m:r>
                              <a:rPr lang="en-US" altLang="zh-CN" sz="2400" b="0" i="1" smtClean="0">
                                <a:latin typeface="Cambria Math" panose="02040503050406030204" pitchFamily="18" charset="0"/>
                              </a:rPr>
                              <m:t>2</m:t>
                            </m:r>
                          </m:sub>
                        </m:sSub>
                      </m:oMath>
                    </m:oMathPara>
                  </a14:m>
                  <a:endParaRPr lang="zh-CN" altLang="en-US" sz="2400" dirty="0">
                    <a:solidFill>
                      <a:schemeClr val="tx1"/>
                    </a:solidFill>
                  </a:endParaRPr>
                </a:p>
              </p:txBody>
            </p:sp>
          </mc:Choice>
          <mc:Fallback xmlns="">
            <p:sp>
              <p:nvSpPr>
                <p:cNvPr id="23" name="文本框 22">
                  <a:extLst>
                    <a:ext uri="{FF2B5EF4-FFF2-40B4-BE49-F238E27FC236}">
                      <a16:creationId xmlns:a16="http://schemas.microsoft.com/office/drawing/2014/main" id="{249A95B8-8523-A3AB-CD4B-9D63DF8FBBC9}"/>
                    </a:ext>
                  </a:extLst>
                </p:cNvPr>
                <p:cNvSpPr txBox="1">
                  <a:spLocks noRot="1" noChangeAspect="1" noMove="1" noResize="1" noEditPoints="1" noAdjustHandles="1" noChangeArrowheads="1" noChangeShapeType="1" noTextEdit="1"/>
                </p:cNvSpPr>
                <p:nvPr/>
              </p:nvSpPr>
              <p:spPr>
                <a:xfrm>
                  <a:off x="2700000" y="4572000"/>
                  <a:ext cx="360000" cy="360000"/>
                </a:xfrm>
                <a:prstGeom prst="rect">
                  <a:avLst/>
                </a:prstGeom>
                <a:blipFill>
                  <a:blip r:embed="rId15"/>
                  <a:stretch>
                    <a:fillRect l="-27119" r="-13559"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553F5ABF-9E5A-7F0C-B53C-1E3D08C2B8C2}"/>
                    </a:ext>
                  </a:extLst>
                </p:cNvPr>
                <p:cNvSpPr txBox="1"/>
                <p:nvPr/>
              </p:nvSpPr>
              <p:spPr>
                <a:xfrm>
                  <a:off x="2700000" y="5184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latin typeface="Cambria Math" panose="02040503050406030204" pitchFamily="18" charset="0"/>
                              </a:rPr>
                              <m:t>D</m:t>
                            </m:r>
                          </m:e>
                          <m:sub>
                            <m:r>
                              <a:rPr lang="en-US" altLang="zh-CN" sz="2400" b="0" i="1" smtClean="0">
                                <a:latin typeface="Cambria Math" panose="02040503050406030204" pitchFamily="18" charset="0"/>
                              </a:rPr>
                              <m:t>1</m:t>
                            </m:r>
                          </m:sub>
                        </m:sSub>
                      </m:oMath>
                    </m:oMathPara>
                  </a14:m>
                  <a:endParaRPr lang="zh-CN" altLang="en-US" sz="2400" dirty="0">
                    <a:solidFill>
                      <a:schemeClr val="tx1"/>
                    </a:solidFill>
                  </a:endParaRPr>
                </a:p>
              </p:txBody>
            </p:sp>
          </mc:Choice>
          <mc:Fallback xmlns="">
            <p:sp>
              <p:nvSpPr>
                <p:cNvPr id="24" name="文本框 23">
                  <a:extLst>
                    <a:ext uri="{FF2B5EF4-FFF2-40B4-BE49-F238E27FC236}">
                      <a16:creationId xmlns:a16="http://schemas.microsoft.com/office/drawing/2014/main" id="{553F5ABF-9E5A-7F0C-B53C-1E3D08C2B8C2}"/>
                    </a:ext>
                  </a:extLst>
                </p:cNvPr>
                <p:cNvSpPr txBox="1">
                  <a:spLocks noRot="1" noChangeAspect="1" noMove="1" noResize="1" noEditPoints="1" noAdjustHandles="1" noChangeArrowheads="1" noChangeShapeType="1" noTextEdit="1"/>
                </p:cNvSpPr>
                <p:nvPr/>
              </p:nvSpPr>
              <p:spPr>
                <a:xfrm>
                  <a:off x="2700000" y="5184000"/>
                  <a:ext cx="360000" cy="360000"/>
                </a:xfrm>
                <a:prstGeom prst="rect">
                  <a:avLst/>
                </a:prstGeom>
                <a:blipFill>
                  <a:blip r:embed="rId16"/>
                  <a:stretch>
                    <a:fillRect l="-25424" r="-13559"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73FCB664-0ED7-7EA9-B810-3C995045F17C}"/>
                    </a:ext>
                  </a:extLst>
                </p:cNvPr>
                <p:cNvSpPr txBox="1"/>
                <p:nvPr/>
              </p:nvSpPr>
              <p:spPr>
                <a:xfrm>
                  <a:off x="2700000" y="5796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latin typeface="Cambria Math" panose="02040503050406030204" pitchFamily="18" charset="0"/>
                              </a:rPr>
                              <m:t>D</m:t>
                            </m:r>
                          </m:e>
                          <m:sub>
                            <m:r>
                              <a:rPr lang="en-US" altLang="zh-CN" sz="2400" b="0" i="1" smtClean="0">
                                <a:latin typeface="Cambria Math" panose="02040503050406030204" pitchFamily="18" charset="0"/>
                              </a:rPr>
                              <m:t>0</m:t>
                            </m:r>
                          </m:sub>
                        </m:sSub>
                      </m:oMath>
                    </m:oMathPara>
                  </a14:m>
                  <a:endParaRPr lang="zh-CN" altLang="en-US" sz="2400" dirty="0">
                    <a:solidFill>
                      <a:schemeClr val="tx1"/>
                    </a:solidFill>
                  </a:endParaRPr>
                </a:p>
              </p:txBody>
            </p:sp>
          </mc:Choice>
          <mc:Fallback xmlns="">
            <p:sp>
              <p:nvSpPr>
                <p:cNvPr id="25" name="文本框 24">
                  <a:extLst>
                    <a:ext uri="{FF2B5EF4-FFF2-40B4-BE49-F238E27FC236}">
                      <a16:creationId xmlns:a16="http://schemas.microsoft.com/office/drawing/2014/main" id="{73FCB664-0ED7-7EA9-B810-3C995045F17C}"/>
                    </a:ext>
                  </a:extLst>
                </p:cNvPr>
                <p:cNvSpPr txBox="1">
                  <a:spLocks noRot="1" noChangeAspect="1" noMove="1" noResize="1" noEditPoints="1" noAdjustHandles="1" noChangeArrowheads="1" noChangeShapeType="1" noTextEdit="1"/>
                </p:cNvSpPr>
                <p:nvPr/>
              </p:nvSpPr>
              <p:spPr>
                <a:xfrm>
                  <a:off x="2700000" y="5796000"/>
                  <a:ext cx="360000" cy="360000"/>
                </a:xfrm>
                <a:prstGeom prst="rect">
                  <a:avLst/>
                </a:prstGeom>
                <a:blipFill>
                  <a:blip r:embed="rId17"/>
                  <a:stretch>
                    <a:fillRect l="-27119" r="-13559"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E17B01C8-FBF5-368C-977E-9E31F168F3D5}"/>
                    </a:ext>
                  </a:extLst>
                </p:cNvPr>
                <p:cNvSpPr txBox="1"/>
                <p:nvPr/>
              </p:nvSpPr>
              <p:spPr>
                <a:xfrm>
                  <a:off x="3528000" y="4572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O</m:t>
                            </m:r>
                          </m:e>
                          <m:sub>
                            <m:r>
                              <a:rPr lang="en-US" altLang="zh-CN" sz="2400" b="0" i="1" smtClean="0">
                                <a:solidFill>
                                  <a:schemeClr val="accent5">
                                    <a:lumMod val="75000"/>
                                  </a:schemeClr>
                                </a:solidFill>
                                <a:latin typeface="Cambria Math" panose="02040503050406030204" pitchFamily="18" charset="0"/>
                              </a:rPr>
                              <m:t>2</m:t>
                            </m:r>
                          </m:sub>
                        </m:sSub>
                      </m:oMath>
                    </m:oMathPara>
                  </a14:m>
                  <a:endParaRPr lang="zh-CN" altLang="en-US" sz="2400" dirty="0">
                    <a:solidFill>
                      <a:schemeClr val="accent5">
                        <a:lumMod val="75000"/>
                      </a:schemeClr>
                    </a:solidFill>
                  </a:endParaRPr>
                </a:p>
              </p:txBody>
            </p:sp>
          </mc:Choice>
          <mc:Fallback xmlns="">
            <p:sp>
              <p:nvSpPr>
                <p:cNvPr id="26" name="文本框 25">
                  <a:extLst>
                    <a:ext uri="{FF2B5EF4-FFF2-40B4-BE49-F238E27FC236}">
                      <a16:creationId xmlns:a16="http://schemas.microsoft.com/office/drawing/2014/main" id="{E17B01C8-FBF5-368C-977E-9E31F168F3D5}"/>
                    </a:ext>
                  </a:extLst>
                </p:cNvPr>
                <p:cNvSpPr txBox="1">
                  <a:spLocks noRot="1" noChangeAspect="1" noMove="1" noResize="1" noEditPoints="1" noAdjustHandles="1" noChangeArrowheads="1" noChangeShapeType="1" noTextEdit="1"/>
                </p:cNvSpPr>
                <p:nvPr/>
              </p:nvSpPr>
              <p:spPr>
                <a:xfrm>
                  <a:off x="3528000" y="4572000"/>
                  <a:ext cx="360000" cy="360000"/>
                </a:xfrm>
                <a:prstGeom prst="rect">
                  <a:avLst/>
                </a:prstGeom>
                <a:blipFill>
                  <a:blip r:embed="rId18"/>
                  <a:stretch>
                    <a:fillRect l="-25424" r="-15254"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A57ACD02-A8DD-B9FE-F684-544FCE6C7F0E}"/>
                    </a:ext>
                  </a:extLst>
                </p:cNvPr>
                <p:cNvSpPr txBox="1"/>
                <p:nvPr/>
              </p:nvSpPr>
              <p:spPr>
                <a:xfrm>
                  <a:off x="3528000" y="5184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O</m:t>
                            </m:r>
                          </m:e>
                          <m:sub>
                            <m:r>
                              <a:rPr lang="en-US" altLang="zh-CN" sz="2400" b="0" i="1" smtClean="0">
                                <a:solidFill>
                                  <a:schemeClr val="accent5">
                                    <a:lumMod val="75000"/>
                                  </a:schemeClr>
                                </a:solidFill>
                                <a:latin typeface="Cambria Math" panose="02040503050406030204" pitchFamily="18" charset="0"/>
                              </a:rPr>
                              <m:t>1</m:t>
                            </m:r>
                          </m:sub>
                        </m:sSub>
                      </m:oMath>
                    </m:oMathPara>
                  </a14:m>
                  <a:endParaRPr lang="zh-CN" altLang="en-US" sz="2400" dirty="0">
                    <a:solidFill>
                      <a:schemeClr val="accent5">
                        <a:lumMod val="75000"/>
                      </a:schemeClr>
                    </a:solidFill>
                  </a:endParaRPr>
                </a:p>
              </p:txBody>
            </p:sp>
          </mc:Choice>
          <mc:Fallback xmlns="">
            <p:sp>
              <p:nvSpPr>
                <p:cNvPr id="27" name="文本框 26">
                  <a:extLst>
                    <a:ext uri="{FF2B5EF4-FFF2-40B4-BE49-F238E27FC236}">
                      <a16:creationId xmlns:a16="http://schemas.microsoft.com/office/drawing/2014/main" id="{A57ACD02-A8DD-B9FE-F684-544FCE6C7F0E}"/>
                    </a:ext>
                  </a:extLst>
                </p:cNvPr>
                <p:cNvSpPr txBox="1">
                  <a:spLocks noRot="1" noChangeAspect="1" noMove="1" noResize="1" noEditPoints="1" noAdjustHandles="1" noChangeArrowheads="1" noChangeShapeType="1" noTextEdit="1"/>
                </p:cNvSpPr>
                <p:nvPr/>
              </p:nvSpPr>
              <p:spPr>
                <a:xfrm>
                  <a:off x="3528000" y="5184000"/>
                  <a:ext cx="360000" cy="360000"/>
                </a:xfrm>
                <a:prstGeom prst="rect">
                  <a:avLst/>
                </a:prstGeom>
                <a:blipFill>
                  <a:blip r:embed="rId19"/>
                  <a:stretch>
                    <a:fillRect l="-25424" r="-13559"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91B2DBC4-B07E-D8F0-94D1-3ADE76863291}"/>
                    </a:ext>
                  </a:extLst>
                </p:cNvPr>
                <p:cNvSpPr txBox="1"/>
                <p:nvPr/>
              </p:nvSpPr>
              <p:spPr>
                <a:xfrm>
                  <a:off x="3528000" y="5796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O</m:t>
                            </m:r>
                          </m:e>
                          <m:sub>
                            <m:r>
                              <a:rPr lang="en-US" altLang="zh-CN" sz="2400" b="0" i="1" smtClean="0">
                                <a:solidFill>
                                  <a:schemeClr val="accent5">
                                    <a:lumMod val="75000"/>
                                  </a:schemeClr>
                                </a:solidFill>
                                <a:latin typeface="Cambria Math" panose="02040503050406030204" pitchFamily="18" charset="0"/>
                              </a:rPr>
                              <m:t>0</m:t>
                            </m:r>
                          </m:sub>
                        </m:sSub>
                      </m:oMath>
                    </m:oMathPara>
                  </a14:m>
                  <a:endParaRPr lang="zh-CN" altLang="en-US" sz="2400" dirty="0">
                    <a:solidFill>
                      <a:schemeClr val="accent5">
                        <a:lumMod val="75000"/>
                      </a:schemeClr>
                    </a:solidFill>
                  </a:endParaRPr>
                </a:p>
              </p:txBody>
            </p:sp>
          </mc:Choice>
          <mc:Fallback xmlns="">
            <p:sp>
              <p:nvSpPr>
                <p:cNvPr id="28" name="文本框 27">
                  <a:extLst>
                    <a:ext uri="{FF2B5EF4-FFF2-40B4-BE49-F238E27FC236}">
                      <a16:creationId xmlns:a16="http://schemas.microsoft.com/office/drawing/2014/main" id="{91B2DBC4-B07E-D8F0-94D1-3ADE76863291}"/>
                    </a:ext>
                  </a:extLst>
                </p:cNvPr>
                <p:cNvSpPr txBox="1">
                  <a:spLocks noRot="1" noChangeAspect="1" noMove="1" noResize="1" noEditPoints="1" noAdjustHandles="1" noChangeArrowheads="1" noChangeShapeType="1" noTextEdit="1"/>
                </p:cNvSpPr>
                <p:nvPr/>
              </p:nvSpPr>
              <p:spPr>
                <a:xfrm>
                  <a:off x="3528000" y="5796000"/>
                  <a:ext cx="360000" cy="360000"/>
                </a:xfrm>
                <a:prstGeom prst="rect">
                  <a:avLst/>
                </a:prstGeom>
                <a:blipFill>
                  <a:blip r:embed="rId20"/>
                  <a:stretch>
                    <a:fillRect l="-25424" r="-15254"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DA8A94C6-0E1B-9110-56E3-5959E6B02F91}"/>
                    </a:ext>
                  </a:extLst>
                </p:cNvPr>
                <p:cNvSpPr txBox="1"/>
                <p:nvPr/>
              </p:nvSpPr>
              <p:spPr>
                <a:xfrm>
                  <a:off x="900000" y="3492000"/>
                  <a:ext cx="360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C</m:t>
                        </m:r>
                        <m:r>
                          <a:rPr lang="en-US" altLang="zh-CN" sz="2400" b="0" i="0" smtClean="0">
                            <a:solidFill>
                              <a:schemeClr val="accent5">
                                <a:lumMod val="75000"/>
                              </a:schemeClr>
                            </a:solidFill>
                            <a:latin typeface="Cambria Math" panose="02040503050406030204" pitchFamily="18" charset="0"/>
                          </a:rPr>
                          <m:t> </m:t>
                        </m:r>
                      </m:oMath>
                    </m:oMathPara>
                  </a14:m>
                  <a:endParaRPr lang="zh-CN" altLang="en-US" sz="2400" dirty="0">
                    <a:solidFill>
                      <a:schemeClr val="accent5">
                        <a:lumMod val="75000"/>
                      </a:schemeClr>
                    </a:solidFill>
                  </a:endParaRPr>
                </a:p>
              </p:txBody>
            </p:sp>
          </mc:Choice>
          <mc:Fallback xmlns="">
            <p:sp>
              <p:nvSpPr>
                <p:cNvPr id="29" name="文本框 28">
                  <a:extLst>
                    <a:ext uri="{FF2B5EF4-FFF2-40B4-BE49-F238E27FC236}">
                      <a16:creationId xmlns:a16="http://schemas.microsoft.com/office/drawing/2014/main" id="{DA8A94C6-0E1B-9110-56E3-5959E6B02F91}"/>
                    </a:ext>
                  </a:extLst>
                </p:cNvPr>
                <p:cNvSpPr txBox="1">
                  <a:spLocks noRot="1" noChangeAspect="1" noMove="1" noResize="1" noEditPoints="1" noAdjustHandles="1" noChangeArrowheads="1" noChangeShapeType="1" noTextEdit="1"/>
                </p:cNvSpPr>
                <p:nvPr/>
              </p:nvSpPr>
              <p:spPr>
                <a:xfrm>
                  <a:off x="900000" y="3492000"/>
                  <a:ext cx="360000" cy="369332"/>
                </a:xfrm>
                <a:prstGeom prst="rect">
                  <a:avLst/>
                </a:prstGeom>
                <a:blipFill>
                  <a:blip r:embed="rId21"/>
                  <a:stretch>
                    <a:fillRect l="-13559"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FF11314B-F17B-8B0B-AE82-74C5C5C7611A}"/>
                    </a:ext>
                  </a:extLst>
                </p:cNvPr>
                <p:cNvSpPr txBox="1"/>
                <p:nvPr/>
              </p:nvSpPr>
              <p:spPr>
                <a:xfrm>
                  <a:off x="1512000" y="3492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b="0" i="1" smtClean="0">
                                <a:solidFill>
                                  <a:schemeClr val="tx1"/>
                                </a:solidFill>
                                <a:latin typeface="Cambria Math" panose="02040503050406030204" pitchFamily="18" charset="0"/>
                              </a:rPr>
                              <m:t>4</m:t>
                            </m:r>
                          </m:sub>
                        </m:sSub>
                      </m:oMath>
                    </m:oMathPara>
                  </a14:m>
                  <a:endParaRPr lang="zh-CN" altLang="en-US" sz="2400" dirty="0">
                    <a:solidFill>
                      <a:schemeClr val="tx1"/>
                    </a:solidFill>
                  </a:endParaRPr>
                </a:p>
              </p:txBody>
            </p:sp>
          </mc:Choice>
          <mc:Fallback xmlns="">
            <p:sp>
              <p:nvSpPr>
                <p:cNvPr id="30" name="文本框 29">
                  <a:extLst>
                    <a:ext uri="{FF2B5EF4-FFF2-40B4-BE49-F238E27FC236}">
                      <a16:creationId xmlns:a16="http://schemas.microsoft.com/office/drawing/2014/main" id="{FF11314B-F17B-8B0B-AE82-74C5C5C7611A}"/>
                    </a:ext>
                  </a:extLst>
                </p:cNvPr>
                <p:cNvSpPr txBox="1">
                  <a:spLocks noRot="1" noChangeAspect="1" noMove="1" noResize="1" noEditPoints="1" noAdjustHandles="1" noChangeArrowheads="1" noChangeShapeType="1" noTextEdit="1"/>
                </p:cNvSpPr>
                <p:nvPr/>
              </p:nvSpPr>
              <p:spPr>
                <a:xfrm>
                  <a:off x="1512000" y="3492000"/>
                  <a:ext cx="360000" cy="360000"/>
                </a:xfrm>
                <a:prstGeom prst="rect">
                  <a:avLst/>
                </a:prstGeom>
                <a:blipFill>
                  <a:blip r:embed="rId22"/>
                  <a:stretch>
                    <a:fillRect l="-25424" r="-13559"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64335BF5-9D3D-7572-2A1B-887FD950E578}"/>
                    </a:ext>
                  </a:extLst>
                </p:cNvPr>
                <p:cNvSpPr txBox="1"/>
                <p:nvPr/>
              </p:nvSpPr>
              <p:spPr>
                <a:xfrm>
                  <a:off x="1512000" y="4572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b="0" i="1" smtClean="0">
                                <a:solidFill>
                                  <a:schemeClr val="tx1"/>
                                </a:solidFill>
                                <a:latin typeface="Cambria Math" panose="02040503050406030204" pitchFamily="18" charset="0"/>
                              </a:rPr>
                              <m:t>1</m:t>
                            </m:r>
                          </m:sub>
                        </m:sSub>
                      </m:oMath>
                    </m:oMathPara>
                  </a14:m>
                  <a:endParaRPr lang="zh-CN" altLang="en-US" sz="2400" dirty="0">
                    <a:solidFill>
                      <a:schemeClr val="tx1"/>
                    </a:solidFill>
                  </a:endParaRPr>
                </a:p>
              </p:txBody>
            </p:sp>
          </mc:Choice>
          <mc:Fallback xmlns="">
            <p:sp>
              <p:nvSpPr>
                <p:cNvPr id="31" name="文本框 30">
                  <a:extLst>
                    <a:ext uri="{FF2B5EF4-FFF2-40B4-BE49-F238E27FC236}">
                      <a16:creationId xmlns:a16="http://schemas.microsoft.com/office/drawing/2014/main" id="{64335BF5-9D3D-7572-2A1B-887FD950E578}"/>
                    </a:ext>
                  </a:extLst>
                </p:cNvPr>
                <p:cNvSpPr txBox="1">
                  <a:spLocks noRot="1" noChangeAspect="1" noMove="1" noResize="1" noEditPoints="1" noAdjustHandles="1" noChangeArrowheads="1" noChangeShapeType="1" noTextEdit="1"/>
                </p:cNvSpPr>
                <p:nvPr/>
              </p:nvSpPr>
              <p:spPr>
                <a:xfrm>
                  <a:off x="1512000" y="4572000"/>
                  <a:ext cx="360000" cy="360000"/>
                </a:xfrm>
                <a:prstGeom prst="rect">
                  <a:avLst/>
                </a:prstGeom>
                <a:blipFill>
                  <a:blip r:embed="rId23"/>
                  <a:stretch>
                    <a:fillRect l="-25424" r="-11864"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4F8EAC5C-69F2-3D1D-F36C-2FED61EBDF9A}"/>
                    </a:ext>
                  </a:extLst>
                </p:cNvPr>
                <p:cNvSpPr txBox="1"/>
                <p:nvPr/>
              </p:nvSpPr>
              <p:spPr>
                <a:xfrm>
                  <a:off x="1512000" y="3852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b="0" i="1" smtClean="0">
                                <a:solidFill>
                                  <a:schemeClr val="tx1"/>
                                </a:solidFill>
                                <a:latin typeface="Cambria Math" panose="02040503050406030204" pitchFamily="18" charset="0"/>
                              </a:rPr>
                              <m:t>3</m:t>
                            </m:r>
                          </m:sub>
                        </m:sSub>
                      </m:oMath>
                    </m:oMathPara>
                  </a14:m>
                  <a:endParaRPr lang="zh-CN" altLang="en-US" sz="2400" dirty="0">
                    <a:solidFill>
                      <a:schemeClr val="tx1"/>
                    </a:solidFill>
                  </a:endParaRPr>
                </a:p>
              </p:txBody>
            </p:sp>
          </mc:Choice>
          <mc:Fallback xmlns="">
            <p:sp>
              <p:nvSpPr>
                <p:cNvPr id="32" name="文本框 31">
                  <a:extLst>
                    <a:ext uri="{FF2B5EF4-FFF2-40B4-BE49-F238E27FC236}">
                      <a16:creationId xmlns:a16="http://schemas.microsoft.com/office/drawing/2014/main" id="{4F8EAC5C-69F2-3D1D-F36C-2FED61EBDF9A}"/>
                    </a:ext>
                  </a:extLst>
                </p:cNvPr>
                <p:cNvSpPr txBox="1">
                  <a:spLocks noRot="1" noChangeAspect="1" noMove="1" noResize="1" noEditPoints="1" noAdjustHandles="1" noChangeArrowheads="1" noChangeShapeType="1" noTextEdit="1"/>
                </p:cNvSpPr>
                <p:nvPr/>
              </p:nvSpPr>
              <p:spPr>
                <a:xfrm>
                  <a:off x="1512000" y="3852000"/>
                  <a:ext cx="360000" cy="360000"/>
                </a:xfrm>
                <a:prstGeom prst="rect">
                  <a:avLst/>
                </a:prstGeom>
                <a:blipFill>
                  <a:blip r:embed="rId24"/>
                  <a:stretch>
                    <a:fillRect l="-25424" r="-13559"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69DEFBB2-9078-3DDA-9F49-2718D3C58755}"/>
                    </a:ext>
                  </a:extLst>
                </p:cNvPr>
                <p:cNvSpPr txBox="1"/>
                <p:nvPr/>
              </p:nvSpPr>
              <p:spPr>
                <a:xfrm>
                  <a:off x="1512000" y="4212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b="0" i="1" smtClean="0">
                                <a:solidFill>
                                  <a:schemeClr val="tx1"/>
                                </a:solidFill>
                                <a:latin typeface="Cambria Math" panose="02040503050406030204" pitchFamily="18" charset="0"/>
                              </a:rPr>
                              <m:t>2</m:t>
                            </m:r>
                          </m:sub>
                        </m:sSub>
                      </m:oMath>
                    </m:oMathPara>
                  </a14:m>
                  <a:endParaRPr lang="zh-CN" altLang="en-US" sz="2400" dirty="0">
                    <a:solidFill>
                      <a:schemeClr val="tx1"/>
                    </a:solidFill>
                  </a:endParaRPr>
                </a:p>
              </p:txBody>
            </p:sp>
          </mc:Choice>
          <mc:Fallback xmlns="">
            <p:sp>
              <p:nvSpPr>
                <p:cNvPr id="33" name="文本框 32">
                  <a:extLst>
                    <a:ext uri="{FF2B5EF4-FFF2-40B4-BE49-F238E27FC236}">
                      <a16:creationId xmlns:a16="http://schemas.microsoft.com/office/drawing/2014/main" id="{69DEFBB2-9078-3DDA-9F49-2718D3C58755}"/>
                    </a:ext>
                  </a:extLst>
                </p:cNvPr>
                <p:cNvSpPr txBox="1">
                  <a:spLocks noRot="1" noChangeAspect="1" noMove="1" noResize="1" noEditPoints="1" noAdjustHandles="1" noChangeArrowheads="1" noChangeShapeType="1" noTextEdit="1"/>
                </p:cNvSpPr>
                <p:nvPr/>
              </p:nvSpPr>
              <p:spPr>
                <a:xfrm>
                  <a:off x="1512000" y="4212000"/>
                  <a:ext cx="360000" cy="360000"/>
                </a:xfrm>
                <a:prstGeom prst="rect">
                  <a:avLst/>
                </a:prstGeom>
                <a:blipFill>
                  <a:blip r:embed="rId25"/>
                  <a:stretch>
                    <a:fillRect l="-25424" r="-13559" b="-16949"/>
                  </a:stretch>
                </a:blipFill>
              </p:spPr>
              <p:txBody>
                <a:bodyPr/>
                <a:lstStyle/>
                <a:p>
                  <a:r>
                    <a:rPr lang="zh-CN" altLang="en-US">
                      <a:noFill/>
                    </a:rPr>
                    <a:t> </a:t>
                  </a:r>
                </a:p>
              </p:txBody>
            </p:sp>
          </mc:Fallback>
        </mc:AlternateContent>
        <p:cxnSp>
          <p:nvCxnSpPr>
            <p:cNvPr id="34" name="直接连接符 33">
              <a:extLst>
                <a:ext uri="{FF2B5EF4-FFF2-40B4-BE49-F238E27FC236}">
                  <a16:creationId xmlns:a16="http://schemas.microsoft.com/office/drawing/2014/main" id="{8504EE43-F8CE-C874-DE15-70B68EE373CC}"/>
                </a:ext>
              </a:extLst>
            </p:cNvPr>
            <p:cNvCxnSpPr>
              <a:cxnSpLocks/>
            </p:cNvCxnSpPr>
            <p:nvPr/>
          </p:nvCxnSpPr>
          <p:spPr>
            <a:xfrm>
              <a:off x="972000" y="5778000"/>
              <a:ext cx="50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25725C6D-FFE6-36DB-BBB3-18F090D30C66}"/>
                    </a:ext>
                  </a:extLst>
                </p:cNvPr>
                <p:cNvSpPr txBox="1"/>
                <p:nvPr/>
              </p:nvSpPr>
              <p:spPr>
                <a:xfrm>
                  <a:off x="1422000" y="5580000"/>
                  <a:ext cx="54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tx1"/>
                            </a:solidFill>
                            <a:latin typeface="Cambria Math" panose="02040503050406030204" pitchFamily="18" charset="0"/>
                          </a:rPr>
                          <m:t>CE</m:t>
                        </m:r>
                      </m:oMath>
                    </m:oMathPara>
                  </a14:m>
                  <a:endParaRPr lang="zh-CN" altLang="en-US" sz="2400" dirty="0">
                    <a:solidFill>
                      <a:schemeClr val="tx1"/>
                    </a:solidFill>
                  </a:endParaRPr>
                </a:p>
              </p:txBody>
            </p:sp>
          </mc:Choice>
          <mc:Fallback xmlns="">
            <p:sp>
              <p:nvSpPr>
                <p:cNvPr id="35" name="文本框 34">
                  <a:extLst>
                    <a:ext uri="{FF2B5EF4-FFF2-40B4-BE49-F238E27FC236}">
                      <a16:creationId xmlns:a16="http://schemas.microsoft.com/office/drawing/2014/main" id="{25725C6D-FFE6-36DB-BBB3-18F090D30C66}"/>
                    </a:ext>
                  </a:extLst>
                </p:cNvPr>
                <p:cNvSpPr txBox="1">
                  <a:spLocks noRot="1" noChangeAspect="1" noMove="1" noResize="1" noEditPoints="1" noAdjustHandles="1" noChangeArrowheads="1" noChangeShapeType="1" noTextEdit="1"/>
                </p:cNvSpPr>
                <p:nvPr/>
              </p:nvSpPr>
              <p:spPr>
                <a:xfrm>
                  <a:off x="1422000" y="5580000"/>
                  <a:ext cx="540000" cy="360000"/>
                </a:xfrm>
                <a:prstGeom prst="rect">
                  <a:avLst/>
                </a:prstGeom>
                <a:blipFill>
                  <a:blip r:embed="rId26"/>
                  <a:stretch>
                    <a:fillRect l="-2273" r="-2273" b="-10169"/>
                  </a:stretch>
                </a:blipFill>
              </p:spPr>
              <p:txBody>
                <a:bodyPr/>
                <a:lstStyle/>
                <a:p>
                  <a:r>
                    <a:rPr lang="zh-CN" altLang="en-US">
                      <a:noFill/>
                    </a:rPr>
                    <a:t> </a:t>
                  </a:r>
                </a:p>
              </p:txBody>
            </p:sp>
          </mc:Fallback>
        </mc:AlternateContent>
        <p:cxnSp>
          <p:nvCxnSpPr>
            <p:cNvPr id="36" name="直接连接符 35">
              <a:extLst>
                <a:ext uri="{FF2B5EF4-FFF2-40B4-BE49-F238E27FC236}">
                  <a16:creationId xmlns:a16="http://schemas.microsoft.com/office/drawing/2014/main" id="{61A0AA9D-D9C4-96C7-344C-9808F642E4D2}"/>
                </a:ext>
              </a:extLst>
            </p:cNvPr>
            <p:cNvCxnSpPr>
              <a:cxnSpLocks/>
            </p:cNvCxnSpPr>
            <p:nvPr/>
          </p:nvCxnSpPr>
          <p:spPr>
            <a:xfrm>
              <a:off x="972000" y="6174000"/>
              <a:ext cx="50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8C5A30CE-BE69-904E-A154-C4511E2DAF7E}"/>
                    </a:ext>
                  </a:extLst>
                </p:cNvPr>
                <p:cNvSpPr txBox="1"/>
                <p:nvPr/>
              </p:nvSpPr>
              <p:spPr>
                <a:xfrm>
                  <a:off x="1422000" y="5976000"/>
                  <a:ext cx="54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tx1"/>
                            </a:solidFill>
                            <a:latin typeface="Cambria Math" panose="02040503050406030204" pitchFamily="18" charset="0"/>
                          </a:rPr>
                          <m:t>OE</m:t>
                        </m:r>
                      </m:oMath>
                    </m:oMathPara>
                  </a14:m>
                  <a:endParaRPr lang="zh-CN" altLang="en-US" sz="2400" dirty="0">
                    <a:solidFill>
                      <a:schemeClr val="tx1"/>
                    </a:solidFill>
                  </a:endParaRPr>
                </a:p>
              </p:txBody>
            </p:sp>
          </mc:Choice>
          <mc:Fallback xmlns="">
            <p:sp>
              <p:nvSpPr>
                <p:cNvPr id="37" name="文本框 36">
                  <a:extLst>
                    <a:ext uri="{FF2B5EF4-FFF2-40B4-BE49-F238E27FC236}">
                      <a16:creationId xmlns:a16="http://schemas.microsoft.com/office/drawing/2014/main" id="{8C5A30CE-BE69-904E-A154-C4511E2DAF7E}"/>
                    </a:ext>
                  </a:extLst>
                </p:cNvPr>
                <p:cNvSpPr txBox="1">
                  <a:spLocks noRot="1" noChangeAspect="1" noMove="1" noResize="1" noEditPoints="1" noAdjustHandles="1" noChangeArrowheads="1" noChangeShapeType="1" noTextEdit="1"/>
                </p:cNvSpPr>
                <p:nvPr/>
              </p:nvSpPr>
              <p:spPr>
                <a:xfrm>
                  <a:off x="1422000" y="5976000"/>
                  <a:ext cx="540000" cy="360000"/>
                </a:xfrm>
                <a:prstGeom prst="rect">
                  <a:avLst/>
                </a:prstGeom>
                <a:blipFill>
                  <a:blip r:embed="rId27"/>
                  <a:stretch>
                    <a:fillRect l="-4545" r="-5682" b="-101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F5E61F61-AB4C-7AEF-F251-73197F56B4AC}"/>
                    </a:ext>
                  </a:extLst>
                </p:cNvPr>
                <p:cNvSpPr txBox="1"/>
                <p:nvPr/>
              </p:nvSpPr>
              <p:spPr>
                <a:xfrm>
                  <a:off x="900000" y="3852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I</m:t>
                            </m:r>
                          </m:e>
                          <m:sub>
                            <m:r>
                              <a:rPr lang="en-US" altLang="zh-CN" sz="2400" b="0" i="1" smtClean="0">
                                <a:solidFill>
                                  <a:schemeClr val="accent5">
                                    <a:lumMod val="75000"/>
                                  </a:schemeClr>
                                </a:solidFill>
                                <a:latin typeface="Cambria Math" panose="02040503050406030204" pitchFamily="18" charset="0"/>
                              </a:rPr>
                              <m:t>3</m:t>
                            </m:r>
                          </m:sub>
                        </m:sSub>
                      </m:oMath>
                    </m:oMathPara>
                  </a14:m>
                  <a:endParaRPr lang="zh-CN" altLang="en-US" sz="2400" dirty="0">
                    <a:solidFill>
                      <a:schemeClr val="accent5">
                        <a:lumMod val="75000"/>
                      </a:schemeClr>
                    </a:solidFill>
                  </a:endParaRPr>
                </a:p>
              </p:txBody>
            </p:sp>
          </mc:Choice>
          <mc:Fallback xmlns="">
            <p:sp>
              <p:nvSpPr>
                <p:cNvPr id="38" name="文本框 37">
                  <a:extLst>
                    <a:ext uri="{FF2B5EF4-FFF2-40B4-BE49-F238E27FC236}">
                      <a16:creationId xmlns:a16="http://schemas.microsoft.com/office/drawing/2014/main" id="{F5E61F61-AB4C-7AEF-F251-73197F56B4AC}"/>
                    </a:ext>
                  </a:extLst>
                </p:cNvPr>
                <p:cNvSpPr txBox="1">
                  <a:spLocks noRot="1" noChangeAspect="1" noMove="1" noResize="1" noEditPoints="1" noAdjustHandles="1" noChangeArrowheads="1" noChangeShapeType="1" noTextEdit="1"/>
                </p:cNvSpPr>
                <p:nvPr/>
              </p:nvSpPr>
              <p:spPr>
                <a:xfrm>
                  <a:off x="900000" y="3852000"/>
                  <a:ext cx="360000" cy="360000"/>
                </a:xfrm>
                <a:prstGeom prst="rect">
                  <a:avLst/>
                </a:prstGeom>
                <a:blipFill>
                  <a:blip r:embed="rId28"/>
                  <a:stretch>
                    <a:fillRect l="-11864"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90041181-4711-020E-657A-92D835A66118}"/>
                    </a:ext>
                  </a:extLst>
                </p:cNvPr>
                <p:cNvSpPr txBox="1"/>
                <p:nvPr/>
              </p:nvSpPr>
              <p:spPr>
                <a:xfrm>
                  <a:off x="900000" y="4212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I</m:t>
                            </m:r>
                          </m:e>
                          <m:sub>
                            <m:r>
                              <a:rPr lang="en-US" altLang="zh-CN" sz="2400" i="1">
                                <a:solidFill>
                                  <a:schemeClr val="accent5">
                                    <a:lumMod val="75000"/>
                                  </a:schemeClr>
                                </a:solidFill>
                                <a:latin typeface="Cambria Math" panose="02040503050406030204" pitchFamily="18" charset="0"/>
                              </a:rPr>
                              <m:t>2</m:t>
                            </m:r>
                          </m:sub>
                        </m:sSub>
                      </m:oMath>
                    </m:oMathPara>
                  </a14:m>
                  <a:endParaRPr lang="zh-CN" altLang="en-US" sz="2400" dirty="0">
                    <a:solidFill>
                      <a:schemeClr val="accent5">
                        <a:lumMod val="75000"/>
                      </a:schemeClr>
                    </a:solidFill>
                  </a:endParaRPr>
                </a:p>
              </p:txBody>
            </p:sp>
          </mc:Choice>
          <mc:Fallback xmlns="">
            <p:sp>
              <p:nvSpPr>
                <p:cNvPr id="39" name="文本框 38">
                  <a:extLst>
                    <a:ext uri="{FF2B5EF4-FFF2-40B4-BE49-F238E27FC236}">
                      <a16:creationId xmlns:a16="http://schemas.microsoft.com/office/drawing/2014/main" id="{90041181-4711-020E-657A-92D835A66118}"/>
                    </a:ext>
                  </a:extLst>
                </p:cNvPr>
                <p:cNvSpPr txBox="1">
                  <a:spLocks noRot="1" noChangeAspect="1" noMove="1" noResize="1" noEditPoints="1" noAdjustHandles="1" noChangeArrowheads="1" noChangeShapeType="1" noTextEdit="1"/>
                </p:cNvSpPr>
                <p:nvPr/>
              </p:nvSpPr>
              <p:spPr>
                <a:xfrm>
                  <a:off x="900000" y="4212000"/>
                  <a:ext cx="360000" cy="360000"/>
                </a:xfrm>
                <a:prstGeom prst="rect">
                  <a:avLst/>
                </a:prstGeom>
                <a:blipFill>
                  <a:blip r:embed="rId29"/>
                  <a:stretch>
                    <a:fillRect l="-11864"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4FD24A40-F46A-2B26-B74C-464D783CA17F}"/>
                    </a:ext>
                  </a:extLst>
                </p:cNvPr>
                <p:cNvSpPr txBox="1"/>
                <p:nvPr/>
              </p:nvSpPr>
              <p:spPr>
                <a:xfrm>
                  <a:off x="900000" y="4572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I</m:t>
                            </m:r>
                          </m:e>
                          <m:sub>
                            <m:r>
                              <a:rPr lang="en-US" altLang="zh-CN" sz="2400" i="1">
                                <a:solidFill>
                                  <a:schemeClr val="accent5">
                                    <a:lumMod val="75000"/>
                                  </a:schemeClr>
                                </a:solidFill>
                                <a:latin typeface="Cambria Math" panose="02040503050406030204" pitchFamily="18" charset="0"/>
                              </a:rPr>
                              <m:t>1</m:t>
                            </m:r>
                          </m:sub>
                        </m:sSub>
                      </m:oMath>
                    </m:oMathPara>
                  </a14:m>
                  <a:endParaRPr lang="zh-CN" altLang="en-US" sz="2400" dirty="0">
                    <a:solidFill>
                      <a:schemeClr val="accent5">
                        <a:lumMod val="75000"/>
                      </a:schemeClr>
                    </a:solidFill>
                  </a:endParaRPr>
                </a:p>
              </p:txBody>
            </p:sp>
          </mc:Choice>
          <mc:Fallback xmlns="">
            <p:sp>
              <p:nvSpPr>
                <p:cNvPr id="40" name="文本框 39">
                  <a:extLst>
                    <a:ext uri="{FF2B5EF4-FFF2-40B4-BE49-F238E27FC236}">
                      <a16:creationId xmlns:a16="http://schemas.microsoft.com/office/drawing/2014/main" id="{4FD24A40-F46A-2B26-B74C-464D783CA17F}"/>
                    </a:ext>
                  </a:extLst>
                </p:cNvPr>
                <p:cNvSpPr txBox="1">
                  <a:spLocks noRot="1" noChangeAspect="1" noMove="1" noResize="1" noEditPoints="1" noAdjustHandles="1" noChangeArrowheads="1" noChangeShapeType="1" noTextEdit="1"/>
                </p:cNvSpPr>
                <p:nvPr/>
              </p:nvSpPr>
              <p:spPr>
                <a:xfrm>
                  <a:off x="900000" y="4572000"/>
                  <a:ext cx="360000" cy="360000"/>
                </a:xfrm>
                <a:prstGeom prst="rect">
                  <a:avLst/>
                </a:prstGeom>
                <a:blipFill>
                  <a:blip r:embed="rId30"/>
                  <a:stretch>
                    <a:fillRect l="-11864"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8C74C11A-1B3C-3EF2-BDA0-F96F0BF41242}"/>
                    </a:ext>
                  </a:extLst>
                </p:cNvPr>
                <p:cNvSpPr txBox="1"/>
                <p:nvPr/>
              </p:nvSpPr>
              <p:spPr>
                <a:xfrm>
                  <a:off x="1512000" y="4932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i="1">
                                <a:latin typeface="Cambria Math" panose="02040503050406030204" pitchFamily="18" charset="0"/>
                              </a:rPr>
                              <m:t>0</m:t>
                            </m:r>
                          </m:sub>
                        </m:sSub>
                      </m:oMath>
                    </m:oMathPara>
                  </a14:m>
                  <a:endParaRPr lang="zh-CN" altLang="en-US" sz="2400" dirty="0">
                    <a:solidFill>
                      <a:schemeClr val="tx1"/>
                    </a:solidFill>
                  </a:endParaRPr>
                </a:p>
              </p:txBody>
            </p:sp>
          </mc:Choice>
          <mc:Fallback xmlns="">
            <p:sp>
              <p:nvSpPr>
                <p:cNvPr id="41" name="文本框 40">
                  <a:extLst>
                    <a:ext uri="{FF2B5EF4-FFF2-40B4-BE49-F238E27FC236}">
                      <a16:creationId xmlns:a16="http://schemas.microsoft.com/office/drawing/2014/main" id="{8C74C11A-1B3C-3EF2-BDA0-F96F0BF41242}"/>
                    </a:ext>
                  </a:extLst>
                </p:cNvPr>
                <p:cNvSpPr txBox="1">
                  <a:spLocks noRot="1" noChangeAspect="1" noMove="1" noResize="1" noEditPoints="1" noAdjustHandles="1" noChangeArrowheads="1" noChangeShapeType="1" noTextEdit="1"/>
                </p:cNvSpPr>
                <p:nvPr/>
              </p:nvSpPr>
              <p:spPr>
                <a:xfrm>
                  <a:off x="1512000" y="4932000"/>
                  <a:ext cx="360000" cy="360000"/>
                </a:xfrm>
                <a:prstGeom prst="rect">
                  <a:avLst/>
                </a:prstGeom>
                <a:blipFill>
                  <a:blip r:embed="rId31"/>
                  <a:stretch>
                    <a:fillRect l="-25424" r="-13559"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EAD68A73-BE1C-DA4F-D717-5B3630B4326D}"/>
                    </a:ext>
                  </a:extLst>
                </p:cNvPr>
                <p:cNvSpPr txBox="1"/>
                <p:nvPr/>
              </p:nvSpPr>
              <p:spPr>
                <a:xfrm>
                  <a:off x="900000" y="4932000"/>
                  <a:ext cx="36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I</m:t>
                            </m:r>
                          </m:e>
                          <m:sub>
                            <m:r>
                              <a:rPr lang="en-US" altLang="zh-CN" sz="2400" i="1">
                                <a:solidFill>
                                  <a:schemeClr val="accent5">
                                    <a:lumMod val="75000"/>
                                  </a:schemeClr>
                                </a:solidFill>
                                <a:latin typeface="Cambria Math" panose="02040503050406030204" pitchFamily="18" charset="0"/>
                              </a:rPr>
                              <m:t>0</m:t>
                            </m:r>
                          </m:sub>
                        </m:sSub>
                      </m:oMath>
                    </m:oMathPara>
                  </a14:m>
                  <a:endParaRPr lang="zh-CN" altLang="en-US" sz="2400" dirty="0">
                    <a:solidFill>
                      <a:schemeClr val="accent5">
                        <a:lumMod val="75000"/>
                      </a:schemeClr>
                    </a:solidFill>
                  </a:endParaRPr>
                </a:p>
              </p:txBody>
            </p:sp>
          </mc:Choice>
          <mc:Fallback xmlns="">
            <p:sp>
              <p:nvSpPr>
                <p:cNvPr id="42" name="文本框 41">
                  <a:extLst>
                    <a:ext uri="{FF2B5EF4-FFF2-40B4-BE49-F238E27FC236}">
                      <a16:creationId xmlns:a16="http://schemas.microsoft.com/office/drawing/2014/main" id="{EAD68A73-BE1C-DA4F-D717-5B3630B4326D}"/>
                    </a:ext>
                  </a:extLst>
                </p:cNvPr>
                <p:cNvSpPr txBox="1">
                  <a:spLocks noRot="1" noChangeAspect="1" noMove="1" noResize="1" noEditPoints="1" noAdjustHandles="1" noChangeArrowheads="1" noChangeShapeType="1" noTextEdit="1"/>
                </p:cNvSpPr>
                <p:nvPr/>
              </p:nvSpPr>
              <p:spPr>
                <a:xfrm>
                  <a:off x="900000" y="4932000"/>
                  <a:ext cx="360000" cy="360000"/>
                </a:xfrm>
                <a:prstGeom prst="rect">
                  <a:avLst/>
                </a:prstGeom>
                <a:blipFill>
                  <a:blip r:embed="rId32"/>
                  <a:stretch>
                    <a:fillRect l="-11864" b="-16949"/>
                  </a:stretch>
                </a:blipFill>
              </p:spPr>
              <p:txBody>
                <a:bodyPr/>
                <a:lstStyle/>
                <a:p>
                  <a:r>
                    <a:rPr lang="zh-CN" altLang="en-US">
                      <a:noFill/>
                    </a:rPr>
                    <a:t> </a:t>
                  </a:r>
                </a:p>
              </p:txBody>
            </p:sp>
          </mc:Fallback>
        </mc:AlternateContent>
        <p:sp>
          <p:nvSpPr>
            <p:cNvPr id="43" name="椭圆 42">
              <a:extLst>
                <a:ext uri="{FF2B5EF4-FFF2-40B4-BE49-F238E27FC236}">
                  <a16:creationId xmlns:a16="http://schemas.microsoft.com/office/drawing/2014/main" id="{451ABB96-3239-28D3-8812-1E011B95C7CB}"/>
                </a:ext>
              </a:extLst>
            </p:cNvPr>
            <p:cNvSpPr/>
            <p:nvPr/>
          </p:nvSpPr>
          <p:spPr>
            <a:xfrm>
              <a:off x="1350000" y="5724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a:extLst>
                <a:ext uri="{FF2B5EF4-FFF2-40B4-BE49-F238E27FC236}">
                  <a16:creationId xmlns:a16="http://schemas.microsoft.com/office/drawing/2014/main" id="{6B9B78B9-60A5-DC62-8968-FD52733631CB}"/>
                </a:ext>
              </a:extLst>
            </p:cNvPr>
            <p:cNvSpPr/>
            <p:nvPr/>
          </p:nvSpPr>
          <p:spPr>
            <a:xfrm>
              <a:off x="1350000" y="6120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5" name="直接连接符 44">
              <a:extLst>
                <a:ext uri="{FF2B5EF4-FFF2-40B4-BE49-F238E27FC236}">
                  <a16:creationId xmlns:a16="http://schemas.microsoft.com/office/drawing/2014/main" id="{A0F22F19-5D91-D9B9-6CE3-74BB1CA4A5A7}"/>
                </a:ext>
              </a:extLst>
            </p:cNvPr>
            <p:cNvCxnSpPr>
              <a:cxnSpLocks/>
            </p:cNvCxnSpPr>
            <p:nvPr/>
          </p:nvCxnSpPr>
          <p:spPr>
            <a:xfrm>
              <a:off x="972000" y="5778000"/>
              <a:ext cx="0" cy="75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椭圆 45">
              <a:extLst>
                <a:ext uri="{FF2B5EF4-FFF2-40B4-BE49-F238E27FC236}">
                  <a16:creationId xmlns:a16="http://schemas.microsoft.com/office/drawing/2014/main" id="{67DBA3ED-B223-B37E-8CEB-282389B863DA}"/>
                </a:ext>
              </a:extLst>
            </p:cNvPr>
            <p:cNvSpPr/>
            <p:nvPr/>
          </p:nvSpPr>
          <p:spPr>
            <a:xfrm>
              <a:off x="925200" y="6127200"/>
              <a:ext cx="93600"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8" name="直接连接符 47">
              <a:extLst>
                <a:ext uri="{FF2B5EF4-FFF2-40B4-BE49-F238E27FC236}">
                  <a16:creationId xmlns:a16="http://schemas.microsoft.com/office/drawing/2014/main" id="{81FB4FEB-1753-B4F9-DBF8-A715042F1A92}"/>
                </a:ext>
              </a:extLst>
            </p:cNvPr>
            <p:cNvCxnSpPr>
              <a:cxnSpLocks/>
            </p:cNvCxnSpPr>
            <p:nvPr/>
          </p:nvCxnSpPr>
          <p:spPr>
            <a:xfrm>
              <a:off x="864000" y="6552000"/>
              <a:ext cx="216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23" name="组合 522">
            <a:extLst>
              <a:ext uri="{FF2B5EF4-FFF2-40B4-BE49-F238E27FC236}">
                <a16:creationId xmlns:a16="http://schemas.microsoft.com/office/drawing/2014/main" id="{F000369C-D3B5-9481-55E2-F8E174E15CAA}"/>
              </a:ext>
            </a:extLst>
          </p:cNvPr>
          <p:cNvGrpSpPr/>
          <p:nvPr/>
        </p:nvGrpSpPr>
        <p:grpSpPr>
          <a:xfrm>
            <a:off x="4320000" y="1440000"/>
            <a:ext cx="7668000" cy="4608000"/>
            <a:chOff x="4320000" y="1188000"/>
            <a:chExt cx="7668000" cy="4608000"/>
          </a:xfrm>
        </p:grpSpPr>
        <p:cxnSp>
          <p:nvCxnSpPr>
            <p:cNvPr id="47" name="直接连接符 46">
              <a:extLst>
                <a:ext uri="{FF2B5EF4-FFF2-40B4-BE49-F238E27FC236}">
                  <a16:creationId xmlns:a16="http://schemas.microsoft.com/office/drawing/2014/main" id="{65DB119A-30A6-0753-5E1C-C5EEB49411A1}"/>
                </a:ext>
              </a:extLst>
            </p:cNvPr>
            <p:cNvCxnSpPr>
              <a:cxnSpLocks/>
            </p:cNvCxnSpPr>
            <p:nvPr/>
          </p:nvCxnSpPr>
          <p:spPr>
            <a:xfrm>
              <a:off x="5472000" y="1800000"/>
              <a:ext cx="57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928C6874-D8EB-065D-D14A-958AFF849327}"/>
                </a:ext>
              </a:extLst>
            </p:cNvPr>
            <p:cNvCxnSpPr>
              <a:cxnSpLocks/>
            </p:cNvCxnSpPr>
            <p:nvPr/>
          </p:nvCxnSpPr>
          <p:spPr>
            <a:xfrm>
              <a:off x="5472000" y="2268000"/>
              <a:ext cx="57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B31E87E-D330-81EB-BE0D-1E5FC8EF7C35}"/>
                </a:ext>
              </a:extLst>
            </p:cNvPr>
            <p:cNvCxnSpPr>
              <a:cxnSpLocks/>
            </p:cNvCxnSpPr>
            <p:nvPr/>
          </p:nvCxnSpPr>
          <p:spPr>
            <a:xfrm>
              <a:off x="6048000" y="1800000"/>
              <a:ext cx="432000" cy="46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C3445EFD-A921-1991-0FD2-68E2A6E198E8}"/>
                </a:ext>
              </a:extLst>
            </p:cNvPr>
            <p:cNvCxnSpPr>
              <a:cxnSpLocks/>
            </p:cNvCxnSpPr>
            <p:nvPr/>
          </p:nvCxnSpPr>
          <p:spPr>
            <a:xfrm flipV="1">
              <a:off x="6048000" y="1800000"/>
              <a:ext cx="432000" cy="46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17D946E5-F23E-1BD4-65E5-C1D11BB44994}"/>
                </a:ext>
              </a:extLst>
            </p:cNvPr>
            <p:cNvCxnSpPr>
              <a:cxnSpLocks/>
            </p:cNvCxnSpPr>
            <p:nvPr/>
          </p:nvCxnSpPr>
          <p:spPr>
            <a:xfrm>
              <a:off x="6480000" y="1800000"/>
              <a:ext cx="32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63062EB8-CA52-B5FF-94E5-3D64F0E19CAC}"/>
                </a:ext>
              </a:extLst>
            </p:cNvPr>
            <p:cNvCxnSpPr>
              <a:cxnSpLocks/>
            </p:cNvCxnSpPr>
            <p:nvPr/>
          </p:nvCxnSpPr>
          <p:spPr>
            <a:xfrm>
              <a:off x="9720000" y="1800000"/>
              <a:ext cx="432000" cy="46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DA9DB13F-35DA-E86D-5310-8D5DCFC52B3D}"/>
                </a:ext>
              </a:extLst>
            </p:cNvPr>
            <p:cNvCxnSpPr>
              <a:cxnSpLocks/>
            </p:cNvCxnSpPr>
            <p:nvPr/>
          </p:nvCxnSpPr>
          <p:spPr>
            <a:xfrm>
              <a:off x="10152000" y="2268000"/>
              <a:ext cx="18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6" name="直接连接符 535">
              <a:extLst>
                <a:ext uri="{FF2B5EF4-FFF2-40B4-BE49-F238E27FC236}">
                  <a16:creationId xmlns:a16="http://schemas.microsoft.com/office/drawing/2014/main" id="{1D0E5F24-8AF9-923A-2DA6-E70B13998663}"/>
                </a:ext>
              </a:extLst>
            </p:cNvPr>
            <p:cNvCxnSpPr>
              <a:cxnSpLocks/>
            </p:cNvCxnSpPr>
            <p:nvPr/>
          </p:nvCxnSpPr>
          <p:spPr>
            <a:xfrm flipV="1">
              <a:off x="9720000" y="1800000"/>
              <a:ext cx="432000" cy="46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7" name="直接连接符 536">
              <a:extLst>
                <a:ext uri="{FF2B5EF4-FFF2-40B4-BE49-F238E27FC236}">
                  <a16:creationId xmlns:a16="http://schemas.microsoft.com/office/drawing/2014/main" id="{BECDFEE2-2038-A806-0710-0DD5213B70FC}"/>
                </a:ext>
              </a:extLst>
            </p:cNvPr>
            <p:cNvCxnSpPr>
              <a:cxnSpLocks/>
            </p:cNvCxnSpPr>
            <p:nvPr/>
          </p:nvCxnSpPr>
          <p:spPr>
            <a:xfrm>
              <a:off x="10152000" y="1800000"/>
              <a:ext cx="18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1" name="直接连接符 540">
              <a:extLst>
                <a:ext uri="{FF2B5EF4-FFF2-40B4-BE49-F238E27FC236}">
                  <a16:creationId xmlns:a16="http://schemas.microsoft.com/office/drawing/2014/main" id="{27B466E0-3AF1-AC7E-53F6-07EFD9A3EB9C}"/>
                </a:ext>
              </a:extLst>
            </p:cNvPr>
            <p:cNvCxnSpPr>
              <a:cxnSpLocks/>
            </p:cNvCxnSpPr>
            <p:nvPr/>
          </p:nvCxnSpPr>
          <p:spPr>
            <a:xfrm>
              <a:off x="5471999" y="2808000"/>
              <a:ext cx="136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2" name="直接连接符 541">
              <a:extLst>
                <a:ext uri="{FF2B5EF4-FFF2-40B4-BE49-F238E27FC236}">
                  <a16:creationId xmlns:a16="http://schemas.microsoft.com/office/drawing/2014/main" id="{A1A49945-3C44-9FCC-A8BC-0DBA8DAD7FAC}"/>
                </a:ext>
              </a:extLst>
            </p:cNvPr>
            <p:cNvCxnSpPr>
              <a:cxnSpLocks/>
            </p:cNvCxnSpPr>
            <p:nvPr/>
          </p:nvCxnSpPr>
          <p:spPr>
            <a:xfrm>
              <a:off x="6840000" y="2808000"/>
              <a:ext cx="432000" cy="46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3" name="直接连接符 542">
              <a:extLst>
                <a:ext uri="{FF2B5EF4-FFF2-40B4-BE49-F238E27FC236}">
                  <a16:creationId xmlns:a16="http://schemas.microsoft.com/office/drawing/2014/main" id="{1299647F-A8A9-0923-387F-C1FFFFFB9023}"/>
                </a:ext>
              </a:extLst>
            </p:cNvPr>
            <p:cNvCxnSpPr>
              <a:cxnSpLocks/>
            </p:cNvCxnSpPr>
            <p:nvPr/>
          </p:nvCxnSpPr>
          <p:spPr>
            <a:xfrm>
              <a:off x="7272000" y="3276000"/>
              <a:ext cx="244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6" name="直接连接符 545">
              <a:extLst>
                <a:ext uri="{FF2B5EF4-FFF2-40B4-BE49-F238E27FC236}">
                  <a16:creationId xmlns:a16="http://schemas.microsoft.com/office/drawing/2014/main" id="{FEBB68E8-AD50-4F4C-07E3-DF3568AA4C88}"/>
                </a:ext>
              </a:extLst>
            </p:cNvPr>
            <p:cNvCxnSpPr>
              <a:cxnSpLocks/>
            </p:cNvCxnSpPr>
            <p:nvPr/>
          </p:nvCxnSpPr>
          <p:spPr>
            <a:xfrm flipV="1">
              <a:off x="9720000" y="2808000"/>
              <a:ext cx="432000" cy="46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7" name="直接连接符 546">
              <a:extLst>
                <a:ext uri="{FF2B5EF4-FFF2-40B4-BE49-F238E27FC236}">
                  <a16:creationId xmlns:a16="http://schemas.microsoft.com/office/drawing/2014/main" id="{08C5FCCE-99A5-A893-42BE-2232EB13634C}"/>
                </a:ext>
              </a:extLst>
            </p:cNvPr>
            <p:cNvCxnSpPr>
              <a:cxnSpLocks/>
            </p:cNvCxnSpPr>
            <p:nvPr/>
          </p:nvCxnSpPr>
          <p:spPr>
            <a:xfrm>
              <a:off x="10152000" y="2808000"/>
              <a:ext cx="18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5" name="直接连接符 554">
              <a:extLst>
                <a:ext uri="{FF2B5EF4-FFF2-40B4-BE49-F238E27FC236}">
                  <a16:creationId xmlns:a16="http://schemas.microsoft.com/office/drawing/2014/main" id="{52CFB867-140B-ACAC-FFAE-75B0C12A0C69}"/>
                </a:ext>
              </a:extLst>
            </p:cNvPr>
            <p:cNvCxnSpPr>
              <a:cxnSpLocks/>
            </p:cNvCxnSpPr>
            <p:nvPr/>
          </p:nvCxnSpPr>
          <p:spPr>
            <a:xfrm>
              <a:off x="5472000" y="3816000"/>
              <a:ext cx="212313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6" name="直接连接符 555">
              <a:extLst>
                <a:ext uri="{FF2B5EF4-FFF2-40B4-BE49-F238E27FC236}">
                  <a16:creationId xmlns:a16="http://schemas.microsoft.com/office/drawing/2014/main" id="{37B76E71-DBCA-28A1-546A-463A4C0A391F}"/>
                </a:ext>
              </a:extLst>
            </p:cNvPr>
            <p:cNvCxnSpPr>
              <a:cxnSpLocks/>
            </p:cNvCxnSpPr>
            <p:nvPr/>
          </p:nvCxnSpPr>
          <p:spPr>
            <a:xfrm>
              <a:off x="7596000" y="3816000"/>
              <a:ext cx="432000" cy="46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9" name="直接连接符 558">
              <a:extLst>
                <a:ext uri="{FF2B5EF4-FFF2-40B4-BE49-F238E27FC236}">
                  <a16:creationId xmlns:a16="http://schemas.microsoft.com/office/drawing/2014/main" id="{92F97A6C-179E-C75B-1A5A-A700632B4814}"/>
                </a:ext>
              </a:extLst>
            </p:cNvPr>
            <p:cNvCxnSpPr>
              <a:cxnSpLocks/>
            </p:cNvCxnSpPr>
            <p:nvPr/>
          </p:nvCxnSpPr>
          <p:spPr>
            <a:xfrm>
              <a:off x="8027999" y="4284000"/>
              <a:ext cx="16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0" name="直接连接符 559">
              <a:extLst>
                <a:ext uri="{FF2B5EF4-FFF2-40B4-BE49-F238E27FC236}">
                  <a16:creationId xmlns:a16="http://schemas.microsoft.com/office/drawing/2014/main" id="{61D440B3-086C-D603-02DE-27832F621F75}"/>
                </a:ext>
              </a:extLst>
            </p:cNvPr>
            <p:cNvCxnSpPr>
              <a:cxnSpLocks/>
            </p:cNvCxnSpPr>
            <p:nvPr/>
          </p:nvCxnSpPr>
          <p:spPr>
            <a:xfrm flipV="1">
              <a:off x="9720000" y="3816000"/>
              <a:ext cx="432000" cy="46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1" name="直接连接符 560">
              <a:extLst>
                <a:ext uri="{FF2B5EF4-FFF2-40B4-BE49-F238E27FC236}">
                  <a16:creationId xmlns:a16="http://schemas.microsoft.com/office/drawing/2014/main" id="{3424CC77-06FC-A6D3-7CE6-27CC13AA8637}"/>
                </a:ext>
              </a:extLst>
            </p:cNvPr>
            <p:cNvCxnSpPr>
              <a:cxnSpLocks/>
            </p:cNvCxnSpPr>
            <p:nvPr/>
          </p:nvCxnSpPr>
          <p:spPr>
            <a:xfrm>
              <a:off x="10152000" y="3816000"/>
              <a:ext cx="18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5" name="直接连接符 564">
              <a:extLst>
                <a:ext uri="{FF2B5EF4-FFF2-40B4-BE49-F238E27FC236}">
                  <a16:creationId xmlns:a16="http://schemas.microsoft.com/office/drawing/2014/main" id="{5B744451-78C6-65C7-A59E-A2F3F859F93B}"/>
                </a:ext>
              </a:extLst>
            </p:cNvPr>
            <p:cNvCxnSpPr>
              <a:cxnSpLocks/>
            </p:cNvCxnSpPr>
            <p:nvPr/>
          </p:nvCxnSpPr>
          <p:spPr>
            <a:xfrm>
              <a:off x="5472000" y="5400000"/>
              <a:ext cx="273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0" name="直接连接符 569">
              <a:extLst>
                <a:ext uri="{FF2B5EF4-FFF2-40B4-BE49-F238E27FC236}">
                  <a16:creationId xmlns:a16="http://schemas.microsoft.com/office/drawing/2014/main" id="{8C1ED026-BC47-C432-16A1-29A8C997C381}"/>
                </a:ext>
              </a:extLst>
            </p:cNvPr>
            <p:cNvCxnSpPr>
              <a:cxnSpLocks/>
            </p:cNvCxnSpPr>
            <p:nvPr/>
          </p:nvCxnSpPr>
          <p:spPr>
            <a:xfrm>
              <a:off x="8208000" y="5400000"/>
              <a:ext cx="216000" cy="252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1" name="直接连接符 570">
              <a:extLst>
                <a:ext uri="{FF2B5EF4-FFF2-40B4-BE49-F238E27FC236}">
                  <a16:creationId xmlns:a16="http://schemas.microsoft.com/office/drawing/2014/main" id="{5BE65F19-44A2-04BA-9BE9-EB084320519D}"/>
                </a:ext>
              </a:extLst>
            </p:cNvPr>
            <p:cNvCxnSpPr>
              <a:cxnSpLocks/>
            </p:cNvCxnSpPr>
            <p:nvPr/>
          </p:nvCxnSpPr>
          <p:spPr>
            <a:xfrm>
              <a:off x="8424000" y="5652000"/>
              <a:ext cx="25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2" name="直接连接符 571">
              <a:extLst>
                <a:ext uri="{FF2B5EF4-FFF2-40B4-BE49-F238E27FC236}">
                  <a16:creationId xmlns:a16="http://schemas.microsoft.com/office/drawing/2014/main" id="{77B89D0E-AC92-5A65-5E0D-58C0CBF543B8}"/>
                </a:ext>
              </a:extLst>
            </p:cNvPr>
            <p:cNvCxnSpPr>
              <a:cxnSpLocks/>
            </p:cNvCxnSpPr>
            <p:nvPr/>
          </p:nvCxnSpPr>
          <p:spPr>
            <a:xfrm flipV="1">
              <a:off x="8208000" y="5148000"/>
              <a:ext cx="216000" cy="252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3" name="直接连接符 572">
              <a:extLst>
                <a:ext uri="{FF2B5EF4-FFF2-40B4-BE49-F238E27FC236}">
                  <a16:creationId xmlns:a16="http://schemas.microsoft.com/office/drawing/2014/main" id="{FA5C405D-F132-6668-5593-A89F975628AB}"/>
                </a:ext>
              </a:extLst>
            </p:cNvPr>
            <p:cNvCxnSpPr>
              <a:cxnSpLocks/>
            </p:cNvCxnSpPr>
            <p:nvPr/>
          </p:nvCxnSpPr>
          <p:spPr>
            <a:xfrm>
              <a:off x="8424000" y="5148000"/>
              <a:ext cx="25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5" name="直接连接符 574">
              <a:extLst>
                <a:ext uri="{FF2B5EF4-FFF2-40B4-BE49-F238E27FC236}">
                  <a16:creationId xmlns:a16="http://schemas.microsoft.com/office/drawing/2014/main" id="{AE1BB20B-CCAB-AB1F-2FF6-9DF6F3DB5100}"/>
                </a:ext>
              </a:extLst>
            </p:cNvPr>
            <p:cNvCxnSpPr>
              <a:cxnSpLocks/>
            </p:cNvCxnSpPr>
            <p:nvPr/>
          </p:nvCxnSpPr>
          <p:spPr>
            <a:xfrm>
              <a:off x="11232000" y="5400000"/>
              <a:ext cx="7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3" name="文本框 352">
                  <a:extLst>
                    <a:ext uri="{FF2B5EF4-FFF2-40B4-BE49-F238E27FC236}">
                      <a16:creationId xmlns:a16="http://schemas.microsoft.com/office/drawing/2014/main" id="{C30EF953-D21E-0A59-96D1-9E29F2726E72}"/>
                    </a:ext>
                  </a:extLst>
                </p:cNvPr>
                <p:cNvSpPr txBox="1"/>
                <p:nvPr/>
              </p:nvSpPr>
              <p:spPr>
                <a:xfrm>
                  <a:off x="4320000" y="1800000"/>
                  <a:ext cx="1080000" cy="468000"/>
                </a:xfrm>
                <a:prstGeom prst="rect">
                  <a:avLst/>
                </a:prstGeom>
                <a:noFill/>
              </p:spPr>
              <p:txBody>
                <a:bodyPr wrap="square" lIns="0" tIns="0" rIns="0" bIns="0" rtlCol="0">
                  <a:spAutoFit/>
                </a:bodyPr>
                <a:lstStyle/>
                <a:p>
                  <a:pPr/>
                  <a14:m>
                    <m:oMathPara xmlns:m="http://schemas.openxmlformats.org/officeDocument/2006/math">
                      <m:oMathParaPr>
                        <m:jc m:val="right"/>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A</m:t>
                            </m:r>
                          </m:e>
                          <m:sub>
                            <m:r>
                              <a:rPr lang="en-US" altLang="zh-CN" sz="2400" b="0" i="1" smtClean="0">
                                <a:solidFill>
                                  <a:schemeClr val="accent5">
                                    <a:lumMod val="75000"/>
                                  </a:schemeClr>
                                </a:solidFill>
                                <a:latin typeface="Cambria Math" panose="02040503050406030204" pitchFamily="18" charset="0"/>
                              </a:rPr>
                              <m:t>4</m:t>
                            </m:r>
                          </m:sub>
                        </m:sSub>
                        <m:r>
                          <a:rPr lang="en-US" altLang="zh-CN" sz="2400" b="0" i="1" smtClean="0">
                            <a:solidFill>
                              <a:schemeClr val="accent5">
                                <a:lumMod val="75000"/>
                              </a:schemeClr>
                            </a:solidFill>
                            <a:latin typeface="Cambria Math" panose="02040503050406030204" pitchFamily="18" charset="0"/>
                          </a:rPr>
                          <m:t> ~</m:t>
                        </m:r>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A</m:t>
                            </m:r>
                          </m:e>
                          <m:sub>
                            <m:r>
                              <a:rPr lang="en-US" altLang="zh-CN" sz="2400" b="0" i="1" smtClean="0">
                                <a:solidFill>
                                  <a:schemeClr val="accent5">
                                    <a:lumMod val="75000"/>
                                  </a:schemeClr>
                                </a:solidFill>
                                <a:latin typeface="Cambria Math" panose="02040503050406030204" pitchFamily="18" charset="0"/>
                              </a:rPr>
                              <m:t>0</m:t>
                            </m:r>
                          </m:sub>
                        </m:sSub>
                      </m:oMath>
                    </m:oMathPara>
                  </a14:m>
                  <a:endParaRPr lang="zh-CN" altLang="en-US" sz="2400" dirty="0">
                    <a:solidFill>
                      <a:schemeClr val="accent5">
                        <a:lumMod val="75000"/>
                      </a:schemeClr>
                    </a:solidFill>
                  </a:endParaRPr>
                </a:p>
              </p:txBody>
            </p:sp>
          </mc:Choice>
          <mc:Fallback xmlns="">
            <p:sp>
              <p:nvSpPr>
                <p:cNvPr id="353" name="文本框 352">
                  <a:extLst>
                    <a:ext uri="{FF2B5EF4-FFF2-40B4-BE49-F238E27FC236}">
                      <a16:creationId xmlns:a16="http://schemas.microsoft.com/office/drawing/2014/main" id="{C30EF953-D21E-0A59-96D1-9E29F2726E72}"/>
                    </a:ext>
                  </a:extLst>
                </p:cNvPr>
                <p:cNvSpPr txBox="1">
                  <a:spLocks noRot="1" noChangeAspect="1" noMove="1" noResize="1" noEditPoints="1" noAdjustHandles="1" noChangeArrowheads="1" noChangeShapeType="1" noTextEdit="1"/>
                </p:cNvSpPr>
                <p:nvPr/>
              </p:nvSpPr>
              <p:spPr>
                <a:xfrm>
                  <a:off x="4320000" y="1800000"/>
                  <a:ext cx="1080000" cy="468000"/>
                </a:xfrm>
                <a:prstGeom prst="rect">
                  <a:avLst/>
                </a:prstGeom>
                <a:blipFill>
                  <a:blip r:embed="rId33"/>
                  <a:stretch>
                    <a:fillRect r="-56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4" name="文本框 353">
                  <a:extLst>
                    <a:ext uri="{FF2B5EF4-FFF2-40B4-BE49-F238E27FC236}">
                      <a16:creationId xmlns:a16="http://schemas.microsoft.com/office/drawing/2014/main" id="{A09268BD-F3D4-FD6C-A269-AAAB2BEF6650}"/>
                    </a:ext>
                  </a:extLst>
                </p:cNvPr>
                <p:cNvSpPr txBox="1"/>
                <p:nvPr/>
              </p:nvSpPr>
              <p:spPr>
                <a:xfrm>
                  <a:off x="4320000" y="2807999"/>
                  <a:ext cx="1080000" cy="468000"/>
                </a:xfrm>
                <a:prstGeom prst="rect">
                  <a:avLst/>
                </a:prstGeom>
                <a:noFill/>
              </p:spPr>
              <p:txBody>
                <a:bodyPr wrap="square" lIns="0" tIns="0" rIns="0" bIns="0" rtlCol="0">
                  <a:spAutoFit/>
                </a:bodyPr>
                <a:lstStyle/>
                <a:p>
                  <a:pPr/>
                  <a14:m>
                    <m:oMathPara xmlns:m="http://schemas.openxmlformats.org/officeDocument/2006/math">
                      <m:oMathParaPr>
                        <m:jc m:val="right"/>
                      </m:oMathParaPr>
                      <m:oMath xmlns:m="http://schemas.openxmlformats.org/officeDocument/2006/math">
                        <m:acc>
                          <m:accPr>
                            <m:chr m:val="̅"/>
                            <m:ctrlPr>
                              <a:rPr lang="en-US" altLang="zh-CN" sz="2400" i="1" smtClean="0">
                                <a:solidFill>
                                  <a:schemeClr val="accent5">
                                    <a:lumMod val="75000"/>
                                  </a:schemeClr>
                                </a:solidFill>
                                <a:latin typeface="Cambria Math" panose="02040503050406030204" pitchFamily="18" charset="0"/>
                              </a:rPr>
                            </m:ctrlPr>
                          </m:accPr>
                          <m:e>
                            <m:r>
                              <m:rPr>
                                <m:sty m:val="p"/>
                              </m:rPr>
                              <a:rPr lang="en-US" altLang="zh-CN" sz="2400" b="0" i="0" smtClean="0">
                                <a:solidFill>
                                  <a:schemeClr val="accent5">
                                    <a:lumMod val="75000"/>
                                  </a:schemeClr>
                                </a:solidFill>
                                <a:latin typeface="Cambria Math" panose="02040503050406030204" pitchFamily="18" charset="0"/>
                              </a:rPr>
                              <m:t>CE</m:t>
                            </m:r>
                          </m:e>
                        </m:acc>
                      </m:oMath>
                    </m:oMathPara>
                  </a14:m>
                  <a:endParaRPr lang="zh-CN" altLang="en-US" sz="2400" dirty="0">
                    <a:solidFill>
                      <a:schemeClr val="accent5">
                        <a:lumMod val="75000"/>
                      </a:schemeClr>
                    </a:solidFill>
                  </a:endParaRPr>
                </a:p>
              </p:txBody>
            </p:sp>
          </mc:Choice>
          <mc:Fallback xmlns="">
            <p:sp>
              <p:nvSpPr>
                <p:cNvPr id="354" name="文本框 353">
                  <a:extLst>
                    <a:ext uri="{FF2B5EF4-FFF2-40B4-BE49-F238E27FC236}">
                      <a16:creationId xmlns:a16="http://schemas.microsoft.com/office/drawing/2014/main" id="{A09268BD-F3D4-FD6C-A269-AAAB2BEF6650}"/>
                    </a:ext>
                  </a:extLst>
                </p:cNvPr>
                <p:cNvSpPr txBox="1">
                  <a:spLocks noRot="1" noChangeAspect="1" noMove="1" noResize="1" noEditPoints="1" noAdjustHandles="1" noChangeArrowheads="1" noChangeShapeType="1" noTextEdit="1"/>
                </p:cNvSpPr>
                <p:nvPr/>
              </p:nvSpPr>
              <p:spPr>
                <a:xfrm>
                  <a:off x="4320000" y="2807999"/>
                  <a:ext cx="1080000" cy="468000"/>
                </a:xfrm>
                <a:prstGeom prst="rect">
                  <a:avLst/>
                </a:prstGeom>
                <a:blipFill>
                  <a:blip r:embed="rId34"/>
                  <a:stretch>
                    <a:fillRect r="-96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5" name="文本框 354">
                  <a:extLst>
                    <a:ext uri="{FF2B5EF4-FFF2-40B4-BE49-F238E27FC236}">
                      <a16:creationId xmlns:a16="http://schemas.microsoft.com/office/drawing/2014/main" id="{C7E5755D-55A1-0534-36E2-6E1E9248A5B3}"/>
                    </a:ext>
                  </a:extLst>
                </p:cNvPr>
                <p:cNvSpPr txBox="1"/>
                <p:nvPr/>
              </p:nvSpPr>
              <p:spPr>
                <a:xfrm>
                  <a:off x="4320000" y="3816000"/>
                  <a:ext cx="1080000" cy="468000"/>
                </a:xfrm>
                <a:prstGeom prst="rect">
                  <a:avLst/>
                </a:prstGeom>
                <a:noFill/>
              </p:spPr>
              <p:txBody>
                <a:bodyPr wrap="square" lIns="0" tIns="0" rIns="0" bIns="0" rtlCol="0">
                  <a:spAutoFit/>
                </a:bodyPr>
                <a:lstStyle/>
                <a:p>
                  <a:pPr/>
                  <a14:m>
                    <m:oMathPara xmlns:m="http://schemas.openxmlformats.org/officeDocument/2006/math">
                      <m:oMathParaPr>
                        <m:jc m:val="right"/>
                      </m:oMathParaPr>
                      <m:oMath xmlns:m="http://schemas.openxmlformats.org/officeDocument/2006/math">
                        <m:acc>
                          <m:accPr>
                            <m:chr m:val="̅"/>
                            <m:ctrlPr>
                              <a:rPr lang="en-US" altLang="zh-CN" sz="2400" i="1" smtClean="0">
                                <a:solidFill>
                                  <a:schemeClr val="accent5">
                                    <a:lumMod val="75000"/>
                                  </a:schemeClr>
                                </a:solidFill>
                                <a:latin typeface="Cambria Math" panose="02040503050406030204" pitchFamily="18" charset="0"/>
                              </a:rPr>
                            </m:ctrlPr>
                          </m:accPr>
                          <m:e>
                            <m:r>
                              <m:rPr>
                                <m:sty m:val="p"/>
                              </m:rPr>
                              <a:rPr lang="en-US" altLang="zh-CN" sz="2400" b="0" i="0" smtClean="0">
                                <a:solidFill>
                                  <a:schemeClr val="accent5">
                                    <a:lumMod val="75000"/>
                                  </a:schemeClr>
                                </a:solidFill>
                                <a:latin typeface="Cambria Math" panose="02040503050406030204" pitchFamily="18" charset="0"/>
                              </a:rPr>
                              <m:t>OE</m:t>
                            </m:r>
                          </m:e>
                        </m:acc>
                      </m:oMath>
                    </m:oMathPara>
                  </a14:m>
                  <a:endParaRPr lang="zh-CN" altLang="en-US" sz="2400" dirty="0">
                    <a:solidFill>
                      <a:schemeClr val="accent5">
                        <a:lumMod val="75000"/>
                      </a:schemeClr>
                    </a:solidFill>
                  </a:endParaRPr>
                </a:p>
              </p:txBody>
            </p:sp>
          </mc:Choice>
          <mc:Fallback xmlns="">
            <p:sp>
              <p:nvSpPr>
                <p:cNvPr id="355" name="文本框 354">
                  <a:extLst>
                    <a:ext uri="{FF2B5EF4-FFF2-40B4-BE49-F238E27FC236}">
                      <a16:creationId xmlns:a16="http://schemas.microsoft.com/office/drawing/2014/main" id="{C7E5755D-55A1-0534-36E2-6E1E9248A5B3}"/>
                    </a:ext>
                  </a:extLst>
                </p:cNvPr>
                <p:cNvSpPr txBox="1">
                  <a:spLocks noRot="1" noChangeAspect="1" noMove="1" noResize="1" noEditPoints="1" noAdjustHandles="1" noChangeArrowheads="1" noChangeShapeType="1" noTextEdit="1"/>
                </p:cNvSpPr>
                <p:nvPr/>
              </p:nvSpPr>
              <p:spPr>
                <a:xfrm>
                  <a:off x="4320000" y="3816000"/>
                  <a:ext cx="1080000" cy="468000"/>
                </a:xfrm>
                <a:prstGeom prst="rect">
                  <a:avLst/>
                </a:prstGeom>
                <a:blipFill>
                  <a:blip r:embed="rId35"/>
                  <a:stretch>
                    <a:fillRect r="-101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6" name="文本框 355">
                  <a:extLst>
                    <a:ext uri="{FF2B5EF4-FFF2-40B4-BE49-F238E27FC236}">
                      <a16:creationId xmlns:a16="http://schemas.microsoft.com/office/drawing/2014/main" id="{819E9FE1-6378-258B-C226-06750EDE2B4C}"/>
                    </a:ext>
                  </a:extLst>
                </p:cNvPr>
                <p:cNvSpPr txBox="1"/>
                <p:nvPr/>
              </p:nvSpPr>
              <p:spPr>
                <a:xfrm>
                  <a:off x="4320000" y="5166000"/>
                  <a:ext cx="1080000" cy="468000"/>
                </a:xfrm>
                <a:prstGeom prst="rect">
                  <a:avLst/>
                </a:prstGeom>
                <a:noFill/>
              </p:spPr>
              <p:txBody>
                <a:bodyPr wrap="square" lIns="0" tIns="0" rIns="0" bIns="0" rtlCol="0">
                  <a:spAutoFit/>
                </a:bodyPr>
                <a:lstStyle/>
                <a:p>
                  <a:pPr/>
                  <a14:m>
                    <m:oMathPara xmlns:m="http://schemas.openxmlformats.org/officeDocument/2006/math">
                      <m:oMathParaPr>
                        <m:jc m:val="right"/>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O</m:t>
                            </m:r>
                          </m:e>
                          <m:sub>
                            <m:r>
                              <a:rPr lang="en-US" altLang="zh-CN" sz="2400" b="0" i="1" smtClean="0">
                                <a:solidFill>
                                  <a:schemeClr val="accent5">
                                    <a:lumMod val="75000"/>
                                  </a:schemeClr>
                                </a:solidFill>
                                <a:latin typeface="Cambria Math" panose="02040503050406030204" pitchFamily="18" charset="0"/>
                              </a:rPr>
                              <m:t>3</m:t>
                            </m:r>
                          </m:sub>
                        </m:sSub>
                        <m:r>
                          <a:rPr lang="en-US" altLang="zh-CN" sz="2400" b="0" i="1" smtClean="0">
                            <a:solidFill>
                              <a:schemeClr val="accent5">
                                <a:lumMod val="75000"/>
                              </a:schemeClr>
                            </a:solidFill>
                            <a:latin typeface="Cambria Math" panose="02040503050406030204" pitchFamily="18" charset="0"/>
                          </a:rPr>
                          <m:t> ~</m:t>
                        </m:r>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O</m:t>
                            </m:r>
                          </m:e>
                          <m:sub>
                            <m:r>
                              <a:rPr lang="en-US" altLang="zh-CN" sz="2400" b="0" i="1" smtClean="0">
                                <a:solidFill>
                                  <a:schemeClr val="accent5">
                                    <a:lumMod val="75000"/>
                                  </a:schemeClr>
                                </a:solidFill>
                                <a:latin typeface="Cambria Math" panose="02040503050406030204" pitchFamily="18" charset="0"/>
                              </a:rPr>
                              <m:t>0</m:t>
                            </m:r>
                          </m:sub>
                        </m:sSub>
                      </m:oMath>
                    </m:oMathPara>
                  </a14:m>
                  <a:endParaRPr lang="zh-CN" altLang="en-US" sz="2400" dirty="0">
                    <a:solidFill>
                      <a:schemeClr val="accent5">
                        <a:lumMod val="75000"/>
                      </a:schemeClr>
                    </a:solidFill>
                  </a:endParaRPr>
                </a:p>
              </p:txBody>
            </p:sp>
          </mc:Choice>
          <mc:Fallback xmlns="">
            <p:sp>
              <p:nvSpPr>
                <p:cNvPr id="356" name="文本框 355">
                  <a:extLst>
                    <a:ext uri="{FF2B5EF4-FFF2-40B4-BE49-F238E27FC236}">
                      <a16:creationId xmlns:a16="http://schemas.microsoft.com/office/drawing/2014/main" id="{819E9FE1-6378-258B-C226-06750EDE2B4C}"/>
                    </a:ext>
                  </a:extLst>
                </p:cNvPr>
                <p:cNvSpPr txBox="1">
                  <a:spLocks noRot="1" noChangeAspect="1" noMove="1" noResize="1" noEditPoints="1" noAdjustHandles="1" noChangeArrowheads="1" noChangeShapeType="1" noTextEdit="1"/>
                </p:cNvSpPr>
                <p:nvPr/>
              </p:nvSpPr>
              <p:spPr>
                <a:xfrm>
                  <a:off x="4320000" y="5166000"/>
                  <a:ext cx="1080000" cy="468000"/>
                </a:xfrm>
                <a:prstGeom prst="rect">
                  <a:avLst/>
                </a:prstGeom>
                <a:blipFill>
                  <a:blip r:embed="rId36"/>
                  <a:stretch>
                    <a:fillRect r="-6215"/>
                  </a:stretch>
                </a:blipFill>
              </p:spPr>
              <p:txBody>
                <a:bodyPr/>
                <a:lstStyle/>
                <a:p>
                  <a:r>
                    <a:rPr lang="zh-CN" altLang="en-US">
                      <a:noFill/>
                    </a:rPr>
                    <a:t> </a:t>
                  </a:r>
                </a:p>
              </p:txBody>
            </p:sp>
          </mc:Fallback>
        </mc:AlternateContent>
        <p:sp>
          <p:nvSpPr>
            <p:cNvPr id="357" name="文本框 356">
              <a:extLst>
                <a:ext uri="{FF2B5EF4-FFF2-40B4-BE49-F238E27FC236}">
                  <a16:creationId xmlns:a16="http://schemas.microsoft.com/office/drawing/2014/main" id="{50405F94-9C25-AFF9-F491-E6CBA39A8852}"/>
                </a:ext>
              </a:extLst>
            </p:cNvPr>
            <p:cNvSpPr txBox="1"/>
            <p:nvPr/>
          </p:nvSpPr>
          <p:spPr>
            <a:xfrm>
              <a:off x="8820000" y="5238000"/>
              <a:ext cx="1800000" cy="324000"/>
            </a:xfrm>
            <a:prstGeom prst="rect">
              <a:avLst/>
            </a:prstGeom>
            <a:noFill/>
          </p:spPr>
          <p:txBody>
            <a:bodyPr wrap="square" lIns="0" tIns="0" rIns="0" bIns="0" rtlCol="0">
              <a:spAutoFit/>
            </a:bodyPr>
            <a:lstStyle/>
            <a:p>
              <a:pPr algn="ctr"/>
              <a:r>
                <a:rPr lang="zh-CN" altLang="en-US" sz="2000" dirty="0">
                  <a:latin typeface="微软雅黑" panose="020B0503020204020204" pitchFamily="34" charset="-122"/>
                  <a:ea typeface="微软雅黑" panose="020B0503020204020204" pitchFamily="34" charset="-122"/>
                </a:rPr>
                <a:t>输出有效数据</a:t>
              </a:r>
              <a:endParaRPr lang="zh-CN" altLang="en-US" sz="2000" dirty="0"/>
            </a:p>
          </p:txBody>
        </p:sp>
        <p:sp>
          <p:nvSpPr>
            <p:cNvPr id="358" name="文本框 357">
              <a:extLst>
                <a:ext uri="{FF2B5EF4-FFF2-40B4-BE49-F238E27FC236}">
                  <a16:creationId xmlns:a16="http://schemas.microsoft.com/office/drawing/2014/main" id="{154C696F-B20D-73E6-D514-EFF5D1A757AC}"/>
                </a:ext>
              </a:extLst>
            </p:cNvPr>
            <p:cNvSpPr txBox="1"/>
            <p:nvPr/>
          </p:nvSpPr>
          <p:spPr>
            <a:xfrm>
              <a:off x="6480000" y="1872000"/>
              <a:ext cx="3240000" cy="360000"/>
            </a:xfrm>
            <a:prstGeom prst="rect">
              <a:avLst/>
            </a:prstGeom>
            <a:noFill/>
          </p:spPr>
          <p:txBody>
            <a:bodyPr wrap="square" lIns="0" tIns="0" rIns="0" bIns="0" rtlCol="0">
              <a:spAutoFit/>
            </a:bodyPr>
            <a:lstStyle/>
            <a:p>
              <a:pPr algn="ctr"/>
              <a:r>
                <a:rPr lang="zh-CN" altLang="en-US" sz="2000" dirty="0">
                  <a:latin typeface="微软雅黑" panose="020B0503020204020204" pitchFamily="34" charset="-122"/>
                  <a:ea typeface="微软雅黑" panose="020B0503020204020204" pitchFamily="34" charset="-122"/>
                </a:rPr>
                <a:t>读出单元的有效地址</a:t>
              </a:r>
              <a:endParaRPr lang="zh-CN" altLang="en-US" sz="2000" dirty="0"/>
            </a:p>
          </p:txBody>
        </p:sp>
        <p:sp>
          <p:nvSpPr>
            <p:cNvPr id="359" name="文本框 358">
              <a:extLst>
                <a:ext uri="{FF2B5EF4-FFF2-40B4-BE49-F238E27FC236}">
                  <a16:creationId xmlns:a16="http://schemas.microsoft.com/office/drawing/2014/main" id="{C3AA8CBB-A69F-CD7C-A875-D82A5538CCE3}"/>
                </a:ext>
              </a:extLst>
            </p:cNvPr>
            <p:cNvSpPr txBox="1"/>
            <p:nvPr/>
          </p:nvSpPr>
          <p:spPr>
            <a:xfrm>
              <a:off x="6120000" y="5436000"/>
              <a:ext cx="756000" cy="360000"/>
            </a:xfrm>
            <a:prstGeom prst="rect">
              <a:avLst/>
            </a:prstGeom>
            <a:noFill/>
          </p:spPr>
          <p:txBody>
            <a:bodyPr wrap="square" lIns="0" tIns="0" rIns="0" bIns="0" rtlCol="0">
              <a:spAutoFit/>
            </a:bodyPr>
            <a:lstStyle/>
            <a:p>
              <a:pPr algn="ctr"/>
              <a:r>
                <a:rPr lang="zh-CN" altLang="en-US" sz="2000" dirty="0">
                  <a:latin typeface="微软雅黑" panose="020B0503020204020204" pitchFamily="34" charset="-122"/>
                  <a:ea typeface="微软雅黑" panose="020B0503020204020204" pitchFamily="34" charset="-122"/>
                </a:rPr>
                <a:t>高阻</a:t>
              </a:r>
              <a:endParaRPr lang="zh-CN" altLang="en-US" sz="2000" dirty="0"/>
            </a:p>
          </p:txBody>
        </p:sp>
        <p:cxnSp>
          <p:nvCxnSpPr>
            <p:cNvPr id="360" name="直接连接符 359">
              <a:extLst>
                <a:ext uri="{FF2B5EF4-FFF2-40B4-BE49-F238E27FC236}">
                  <a16:creationId xmlns:a16="http://schemas.microsoft.com/office/drawing/2014/main" id="{9C6F6F79-99A2-FD2D-E22E-3C7726822082}"/>
                </a:ext>
              </a:extLst>
            </p:cNvPr>
            <p:cNvCxnSpPr>
              <a:cxnSpLocks/>
            </p:cNvCxnSpPr>
            <p:nvPr/>
          </p:nvCxnSpPr>
          <p:spPr>
            <a:xfrm>
              <a:off x="6264000" y="1260000"/>
              <a:ext cx="0" cy="3600000"/>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3" name="直接连接符 362">
              <a:extLst>
                <a:ext uri="{FF2B5EF4-FFF2-40B4-BE49-F238E27FC236}">
                  <a16:creationId xmlns:a16="http://schemas.microsoft.com/office/drawing/2014/main" id="{0A88F177-6A9B-2A37-F982-277FE30D64BB}"/>
                </a:ext>
              </a:extLst>
            </p:cNvPr>
            <p:cNvCxnSpPr>
              <a:cxnSpLocks/>
            </p:cNvCxnSpPr>
            <p:nvPr/>
          </p:nvCxnSpPr>
          <p:spPr>
            <a:xfrm>
              <a:off x="9936000" y="1259999"/>
              <a:ext cx="0" cy="3600000"/>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4" name="直接连接符 363">
              <a:extLst>
                <a:ext uri="{FF2B5EF4-FFF2-40B4-BE49-F238E27FC236}">
                  <a16:creationId xmlns:a16="http://schemas.microsoft.com/office/drawing/2014/main" id="{CDC25628-B49B-E4C0-4B77-1AA7A29D871C}"/>
                </a:ext>
              </a:extLst>
            </p:cNvPr>
            <p:cNvCxnSpPr>
              <a:cxnSpLocks/>
            </p:cNvCxnSpPr>
            <p:nvPr/>
          </p:nvCxnSpPr>
          <p:spPr>
            <a:xfrm>
              <a:off x="11124000" y="3275999"/>
              <a:ext cx="0" cy="2520000"/>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7" name="直接连接符 366">
              <a:extLst>
                <a:ext uri="{FF2B5EF4-FFF2-40B4-BE49-F238E27FC236}">
                  <a16:creationId xmlns:a16="http://schemas.microsoft.com/office/drawing/2014/main" id="{2C486E58-42AB-426C-8872-34D0563D6BEA}"/>
                </a:ext>
              </a:extLst>
            </p:cNvPr>
            <p:cNvCxnSpPr>
              <a:cxnSpLocks/>
            </p:cNvCxnSpPr>
            <p:nvPr/>
          </p:nvCxnSpPr>
          <p:spPr>
            <a:xfrm>
              <a:off x="10692000" y="4355999"/>
              <a:ext cx="0" cy="1440000"/>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0" name="直接连接符 369">
              <a:extLst>
                <a:ext uri="{FF2B5EF4-FFF2-40B4-BE49-F238E27FC236}">
                  <a16:creationId xmlns:a16="http://schemas.microsoft.com/office/drawing/2014/main" id="{61414D4F-924B-30A3-AFBE-6E6E6D4372E8}"/>
                </a:ext>
              </a:extLst>
            </p:cNvPr>
            <p:cNvCxnSpPr>
              <a:cxnSpLocks/>
            </p:cNvCxnSpPr>
            <p:nvPr/>
          </p:nvCxnSpPr>
          <p:spPr>
            <a:xfrm>
              <a:off x="8748000" y="2448000"/>
              <a:ext cx="0" cy="3322749"/>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6" name="直接连接符 375">
              <a:extLst>
                <a:ext uri="{FF2B5EF4-FFF2-40B4-BE49-F238E27FC236}">
                  <a16:creationId xmlns:a16="http://schemas.microsoft.com/office/drawing/2014/main" id="{67D7814D-3836-889B-D440-EF848FF346AC}"/>
                </a:ext>
              </a:extLst>
            </p:cNvPr>
            <p:cNvCxnSpPr>
              <a:cxnSpLocks/>
            </p:cNvCxnSpPr>
            <p:nvPr/>
          </p:nvCxnSpPr>
          <p:spPr>
            <a:xfrm>
              <a:off x="7812000" y="3599999"/>
              <a:ext cx="0" cy="720000"/>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8" name="直接箭头连接符 377">
              <a:extLst>
                <a:ext uri="{FF2B5EF4-FFF2-40B4-BE49-F238E27FC236}">
                  <a16:creationId xmlns:a16="http://schemas.microsoft.com/office/drawing/2014/main" id="{7A79D0C5-3CD6-F3E5-59D5-FE0600E0199B}"/>
                </a:ext>
              </a:extLst>
            </p:cNvPr>
            <p:cNvCxnSpPr>
              <a:cxnSpLocks/>
            </p:cNvCxnSpPr>
            <p:nvPr/>
          </p:nvCxnSpPr>
          <p:spPr>
            <a:xfrm>
              <a:off x="7056000" y="2772000"/>
              <a:ext cx="1692000" cy="0"/>
            </a:xfrm>
            <a:prstGeom prst="straightConnector1">
              <a:avLst/>
            </a:prstGeom>
            <a:ln w="12700">
              <a:solidFill>
                <a:schemeClr val="accent5">
                  <a:lumMod val="75000"/>
                </a:schemeClr>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2" name="文本框 381">
                  <a:extLst>
                    <a:ext uri="{FF2B5EF4-FFF2-40B4-BE49-F238E27FC236}">
                      <a16:creationId xmlns:a16="http://schemas.microsoft.com/office/drawing/2014/main" id="{05CBA292-09CF-89D8-9042-3D624993C7EC}"/>
                    </a:ext>
                  </a:extLst>
                </p:cNvPr>
                <p:cNvSpPr txBox="1"/>
                <p:nvPr/>
              </p:nvSpPr>
              <p:spPr>
                <a:xfrm>
                  <a:off x="7650000" y="2412000"/>
                  <a:ext cx="504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solidFill>
                                  <a:schemeClr val="accent5">
                                    <a:lumMod val="75000"/>
                                  </a:schemeClr>
                                </a:solidFill>
                                <a:latin typeface="Cambria Math" panose="02040503050406030204" pitchFamily="18" charset="0"/>
                              </a:rPr>
                            </m:ctrlPr>
                          </m:sSubPr>
                          <m:e>
                            <m:r>
                              <a:rPr lang="en-US" altLang="zh-CN" sz="2000" b="0" i="1" smtClean="0">
                                <a:solidFill>
                                  <a:schemeClr val="accent5">
                                    <a:lumMod val="75000"/>
                                  </a:schemeClr>
                                </a:solidFill>
                                <a:latin typeface="Cambria Math" panose="02040503050406030204" pitchFamily="18" charset="0"/>
                              </a:rPr>
                              <m:t>𝑇</m:t>
                            </m:r>
                          </m:e>
                          <m:sub>
                            <m:r>
                              <m:rPr>
                                <m:sty m:val="p"/>
                              </m:rPr>
                              <a:rPr lang="en-US" altLang="zh-CN" sz="2000" i="1">
                                <a:solidFill>
                                  <a:schemeClr val="accent5">
                                    <a:lumMod val="75000"/>
                                  </a:schemeClr>
                                </a:solidFill>
                                <a:latin typeface="Cambria Math" panose="02040503050406030204" pitchFamily="18" charset="0"/>
                              </a:rPr>
                              <m:t>c</m:t>
                            </m:r>
                            <m:r>
                              <m:rPr>
                                <m:sty m:val="p"/>
                              </m:rPr>
                              <a:rPr lang="en-US" altLang="zh-CN" sz="2000" b="0" i="0" smtClean="0">
                                <a:solidFill>
                                  <a:schemeClr val="accent5">
                                    <a:lumMod val="75000"/>
                                  </a:schemeClr>
                                </a:solidFill>
                                <a:latin typeface="Cambria Math" panose="02040503050406030204" pitchFamily="18" charset="0"/>
                              </a:rPr>
                              <m:t>e</m:t>
                            </m:r>
                          </m:sub>
                        </m:sSub>
                      </m:oMath>
                    </m:oMathPara>
                  </a14:m>
                  <a:endParaRPr lang="zh-CN" altLang="en-US" sz="2000" dirty="0">
                    <a:solidFill>
                      <a:schemeClr val="accent5">
                        <a:lumMod val="75000"/>
                      </a:schemeClr>
                    </a:solidFill>
                  </a:endParaRPr>
                </a:p>
              </p:txBody>
            </p:sp>
          </mc:Choice>
          <mc:Fallback xmlns="">
            <p:sp>
              <p:nvSpPr>
                <p:cNvPr id="382" name="文本框 381">
                  <a:extLst>
                    <a:ext uri="{FF2B5EF4-FFF2-40B4-BE49-F238E27FC236}">
                      <a16:creationId xmlns:a16="http://schemas.microsoft.com/office/drawing/2014/main" id="{05CBA292-09CF-89D8-9042-3D624993C7EC}"/>
                    </a:ext>
                  </a:extLst>
                </p:cNvPr>
                <p:cNvSpPr txBox="1">
                  <a:spLocks noRot="1" noChangeAspect="1" noMove="1" noResize="1" noEditPoints="1" noAdjustHandles="1" noChangeArrowheads="1" noChangeShapeType="1" noTextEdit="1"/>
                </p:cNvSpPr>
                <p:nvPr/>
              </p:nvSpPr>
              <p:spPr>
                <a:xfrm>
                  <a:off x="7650000" y="2412000"/>
                  <a:ext cx="504000" cy="360000"/>
                </a:xfrm>
                <a:prstGeom prst="rect">
                  <a:avLst/>
                </a:prstGeom>
                <a:blipFill>
                  <a:blip r:embed="rId37"/>
                  <a:stretch>
                    <a:fillRect/>
                  </a:stretch>
                </a:blipFill>
              </p:spPr>
              <p:txBody>
                <a:bodyPr/>
                <a:lstStyle/>
                <a:p>
                  <a:r>
                    <a:rPr lang="zh-CN" altLang="en-US">
                      <a:noFill/>
                    </a:rPr>
                    <a:t> </a:t>
                  </a:r>
                </a:p>
              </p:txBody>
            </p:sp>
          </mc:Fallback>
        </mc:AlternateContent>
        <p:cxnSp>
          <p:nvCxnSpPr>
            <p:cNvPr id="384" name="直接箭头连接符 383">
              <a:extLst>
                <a:ext uri="{FF2B5EF4-FFF2-40B4-BE49-F238E27FC236}">
                  <a16:creationId xmlns:a16="http://schemas.microsoft.com/office/drawing/2014/main" id="{7D80F91B-B2F0-0195-1A1D-B4710A73E913}"/>
                </a:ext>
              </a:extLst>
            </p:cNvPr>
            <p:cNvCxnSpPr>
              <a:cxnSpLocks/>
            </p:cNvCxnSpPr>
            <p:nvPr/>
          </p:nvCxnSpPr>
          <p:spPr>
            <a:xfrm>
              <a:off x="7812000" y="3888000"/>
              <a:ext cx="936000" cy="0"/>
            </a:xfrm>
            <a:prstGeom prst="straightConnector1">
              <a:avLst/>
            </a:prstGeom>
            <a:ln w="12700">
              <a:solidFill>
                <a:schemeClr val="accent5">
                  <a:lumMod val="75000"/>
                </a:schemeClr>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5" name="文本框 384">
                  <a:extLst>
                    <a:ext uri="{FF2B5EF4-FFF2-40B4-BE49-F238E27FC236}">
                      <a16:creationId xmlns:a16="http://schemas.microsoft.com/office/drawing/2014/main" id="{FB1A94C1-B9C2-90C5-AFE2-551CBAEA40E0}"/>
                    </a:ext>
                  </a:extLst>
                </p:cNvPr>
                <p:cNvSpPr txBox="1"/>
                <p:nvPr/>
              </p:nvSpPr>
              <p:spPr>
                <a:xfrm>
                  <a:off x="8028000" y="3528000"/>
                  <a:ext cx="504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solidFill>
                                  <a:schemeClr val="accent5">
                                    <a:lumMod val="75000"/>
                                  </a:schemeClr>
                                </a:solidFill>
                                <a:latin typeface="Cambria Math" panose="02040503050406030204" pitchFamily="18" charset="0"/>
                              </a:rPr>
                            </m:ctrlPr>
                          </m:sSubPr>
                          <m:e>
                            <m:r>
                              <a:rPr lang="en-US" altLang="zh-CN" sz="2000" b="0" i="1" smtClean="0">
                                <a:solidFill>
                                  <a:schemeClr val="accent5">
                                    <a:lumMod val="75000"/>
                                  </a:schemeClr>
                                </a:solidFill>
                                <a:latin typeface="Cambria Math" panose="02040503050406030204" pitchFamily="18" charset="0"/>
                              </a:rPr>
                              <m:t>𝑇</m:t>
                            </m:r>
                          </m:e>
                          <m:sub>
                            <m:r>
                              <m:rPr>
                                <m:sty m:val="p"/>
                              </m:rPr>
                              <a:rPr lang="en-US" altLang="zh-CN" sz="2000" i="1" smtClean="0">
                                <a:solidFill>
                                  <a:schemeClr val="accent5">
                                    <a:lumMod val="75000"/>
                                  </a:schemeClr>
                                </a:solidFill>
                                <a:latin typeface="Cambria Math" panose="02040503050406030204" pitchFamily="18" charset="0"/>
                              </a:rPr>
                              <m:t>o</m:t>
                            </m:r>
                            <m:r>
                              <m:rPr>
                                <m:sty m:val="p"/>
                              </m:rPr>
                              <a:rPr lang="en-US" altLang="zh-CN" sz="2000" b="0" i="0" smtClean="0">
                                <a:solidFill>
                                  <a:schemeClr val="accent5">
                                    <a:lumMod val="75000"/>
                                  </a:schemeClr>
                                </a:solidFill>
                                <a:latin typeface="Cambria Math" panose="02040503050406030204" pitchFamily="18" charset="0"/>
                              </a:rPr>
                              <m:t>e</m:t>
                            </m:r>
                          </m:sub>
                        </m:sSub>
                      </m:oMath>
                    </m:oMathPara>
                  </a14:m>
                  <a:endParaRPr lang="zh-CN" altLang="en-US" sz="2000" dirty="0">
                    <a:solidFill>
                      <a:schemeClr val="accent5">
                        <a:lumMod val="75000"/>
                      </a:schemeClr>
                    </a:solidFill>
                  </a:endParaRPr>
                </a:p>
              </p:txBody>
            </p:sp>
          </mc:Choice>
          <mc:Fallback xmlns="">
            <p:sp>
              <p:nvSpPr>
                <p:cNvPr id="385" name="文本框 384">
                  <a:extLst>
                    <a:ext uri="{FF2B5EF4-FFF2-40B4-BE49-F238E27FC236}">
                      <a16:creationId xmlns:a16="http://schemas.microsoft.com/office/drawing/2014/main" id="{FB1A94C1-B9C2-90C5-AFE2-551CBAEA40E0}"/>
                    </a:ext>
                  </a:extLst>
                </p:cNvPr>
                <p:cNvSpPr txBox="1">
                  <a:spLocks noRot="1" noChangeAspect="1" noMove="1" noResize="1" noEditPoints="1" noAdjustHandles="1" noChangeArrowheads="1" noChangeShapeType="1" noTextEdit="1"/>
                </p:cNvSpPr>
                <p:nvPr/>
              </p:nvSpPr>
              <p:spPr>
                <a:xfrm>
                  <a:off x="8028000" y="3528000"/>
                  <a:ext cx="504000" cy="360000"/>
                </a:xfrm>
                <a:prstGeom prst="rect">
                  <a:avLst/>
                </a:prstGeom>
                <a:blipFill>
                  <a:blip r:embed="rId38"/>
                  <a:stretch>
                    <a:fillRect l="-2410"/>
                  </a:stretch>
                </a:blipFill>
              </p:spPr>
              <p:txBody>
                <a:bodyPr/>
                <a:lstStyle/>
                <a:p>
                  <a:r>
                    <a:rPr lang="zh-CN" altLang="en-US">
                      <a:noFill/>
                    </a:rPr>
                    <a:t> </a:t>
                  </a:r>
                </a:p>
              </p:txBody>
            </p:sp>
          </mc:Fallback>
        </mc:AlternateContent>
        <p:cxnSp>
          <p:nvCxnSpPr>
            <p:cNvPr id="388" name="直接箭头连接符 387">
              <a:extLst>
                <a:ext uri="{FF2B5EF4-FFF2-40B4-BE49-F238E27FC236}">
                  <a16:creationId xmlns:a16="http://schemas.microsoft.com/office/drawing/2014/main" id="{10D19B86-BC62-A8B9-02A4-59B08D038ED1}"/>
                </a:ext>
              </a:extLst>
            </p:cNvPr>
            <p:cNvCxnSpPr>
              <a:cxnSpLocks/>
            </p:cNvCxnSpPr>
            <p:nvPr/>
          </p:nvCxnSpPr>
          <p:spPr>
            <a:xfrm>
              <a:off x="6264000" y="4680000"/>
              <a:ext cx="2484000" cy="0"/>
            </a:xfrm>
            <a:prstGeom prst="straightConnector1">
              <a:avLst/>
            </a:prstGeom>
            <a:ln w="12700">
              <a:solidFill>
                <a:schemeClr val="accent5">
                  <a:lumMod val="75000"/>
                </a:schemeClr>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0" name="文本框 389">
                  <a:extLst>
                    <a:ext uri="{FF2B5EF4-FFF2-40B4-BE49-F238E27FC236}">
                      <a16:creationId xmlns:a16="http://schemas.microsoft.com/office/drawing/2014/main" id="{1515BD68-1BE4-CB19-5A13-DBD17DC23991}"/>
                    </a:ext>
                  </a:extLst>
                </p:cNvPr>
                <p:cNvSpPr txBox="1"/>
                <p:nvPr/>
              </p:nvSpPr>
              <p:spPr>
                <a:xfrm>
                  <a:off x="7254000" y="4680000"/>
                  <a:ext cx="504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solidFill>
                                  <a:schemeClr val="accent5">
                                    <a:lumMod val="75000"/>
                                  </a:schemeClr>
                                </a:solidFill>
                                <a:latin typeface="Cambria Math" panose="02040503050406030204" pitchFamily="18" charset="0"/>
                              </a:rPr>
                            </m:ctrlPr>
                          </m:sSubPr>
                          <m:e>
                            <m:r>
                              <a:rPr lang="en-US" altLang="zh-CN" sz="2000" b="0" i="1" smtClean="0">
                                <a:solidFill>
                                  <a:schemeClr val="accent5">
                                    <a:lumMod val="75000"/>
                                  </a:schemeClr>
                                </a:solidFill>
                                <a:latin typeface="Cambria Math" panose="02040503050406030204" pitchFamily="18" charset="0"/>
                              </a:rPr>
                              <m:t>𝑇</m:t>
                            </m:r>
                          </m:e>
                          <m:sub>
                            <m:r>
                              <m:rPr>
                                <m:sty m:val="p"/>
                              </m:rPr>
                              <a:rPr lang="en-US" altLang="zh-CN" sz="2000" b="0" i="0" smtClean="0">
                                <a:solidFill>
                                  <a:schemeClr val="accent5">
                                    <a:lumMod val="75000"/>
                                  </a:schemeClr>
                                </a:solidFill>
                                <a:latin typeface="Cambria Math" panose="02040503050406030204" pitchFamily="18" charset="0"/>
                              </a:rPr>
                              <m:t>aa</m:t>
                            </m:r>
                          </m:sub>
                        </m:sSub>
                      </m:oMath>
                    </m:oMathPara>
                  </a14:m>
                  <a:endParaRPr lang="zh-CN" altLang="en-US" sz="2000" dirty="0">
                    <a:solidFill>
                      <a:schemeClr val="accent5">
                        <a:lumMod val="75000"/>
                      </a:schemeClr>
                    </a:solidFill>
                  </a:endParaRPr>
                </a:p>
              </p:txBody>
            </p:sp>
          </mc:Choice>
          <mc:Fallback xmlns="">
            <p:sp>
              <p:nvSpPr>
                <p:cNvPr id="390" name="文本框 389">
                  <a:extLst>
                    <a:ext uri="{FF2B5EF4-FFF2-40B4-BE49-F238E27FC236}">
                      <a16:creationId xmlns:a16="http://schemas.microsoft.com/office/drawing/2014/main" id="{1515BD68-1BE4-CB19-5A13-DBD17DC23991}"/>
                    </a:ext>
                  </a:extLst>
                </p:cNvPr>
                <p:cNvSpPr txBox="1">
                  <a:spLocks noRot="1" noChangeAspect="1" noMove="1" noResize="1" noEditPoints="1" noAdjustHandles="1" noChangeArrowheads="1" noChangeShapeType="1" noTextEdit="1"/>
                </p:cNvSpPr>
                <p:nvPr/>
              </p:nvSpPr>
              <p:spPr>
                <a:xfrm>
                  <a:off x="7254000" y="4680000"/>
                  <a:ext cx="504000" cy="360000"/>
                </a:xfrm>
                <a:prstGeom prst="rect">
                  <a:avLst/>
                </a:prstGeom>
                <a:blipFill>
                  <a:blip r:embed="rId39"/>
                  <a:stretch>
                    <a:fillRect l="-1205"/>
                  </a:stretch>
                </a:blipFill>
              </p:spPr>
              <p:txBody>
                <a:bodyPr/>
                <a:lstStyle/>
                <a:p>
                  <a:r>
                    <a:rPr lang="zh-CN" altLang="en-US">
                      <a:noFill/>
                    </a:rPr>
                    <a:t> </a:t>
                  </a:r>
                </a:p>
              </p:txBody>
            </p:sp>
          </mc:Fallback>
        </mc:AlternateContent>
        <p:cxnSp>
          <p:nvCxnSpPr>
            <p:cNvPr id="391" name="直接箭头连接符 390">
              <a:extLst>
                <a:ext uri="{FF2B5EF4-FFF2-40B4-BE49-F238E27FC236}">
                  <a16:creationId xmlns:a16="http://schemas.microsoft.com/office/drawing/2014/main" id="{8BAF9336-0A90-27E0-C7A9-C7C658B42F4A}"/>
                </a:ext>
              </a:extLst>
            </p:cNvPr>
            <p:cNvCxnSpPr>
              <a:cxnSpLocks/>
            </p:cNvCxnSpPr>
            <p:nvPr/>
          </p:nvCxnSpPr>
          <p:spPr>
            <a:xfrm>
              <a:off x="9936000" y="4752000"/>
              <a:ext cx="756000" cy="0"/>
            </a:xfrm>
            <a:prstGeom prst="straightConnector1">
              <a:avLst/>
            </a:prstGeom>
            <a:ln w="12700">
              <a:solidFill>
                <a:schemeClr val="accent5">
                  <a:lumMod val="75000"/>
                </a:schemeClr>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3" name="文本框 392">
                  <a:extLst>
                    <a:ext uri="{FF2B5EF4-FFF2-40B4-BE49-F238E27FC236}">
                      <a16:creationId xmlns:a16="http://schemas.microsoft.com/office/drawing/2014/main" id="{A8AAE0B6-90B0-CA00-E486-8D490FA47BFE}"/>
                    </a:ext>
                  </a:extLst>
                </p:cNvPr>
                <p:cNvSpPr txBox="1"/>
                <p:nvPr/>
              </p:nvSpPr>
              <p:spPr>
                <a:xfrm>
                  <a:off x="10062000" y="4392000"/>
                  <a:ext cx="504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solidFill>
                                  <a:schemeClr val="accent5">
                                    <a:lumMod val="75000"/>
                                  </a:schemeClr>
                                </a:solidFill>
                                <a:latin typeface="Cambria Math" panose="02040503050406030204" pitchFamily="18" charset="0"/>
                              </a:rPr>
                            </m:ctrlPr>
                          </m:sSubPr>
                          <m:e>
                            <m:r>
                              <a:rPr lang="en-US" altLang="zh-CN" sz="2000" b="0" i="1" smtClean="0">
                                <a:solidFill>
                                  <a:schemeClr val="accent5">
                                    <a:lumMod val="75000"/>
                                  </a:schemeClr>
                                </a:solidFill>
                                <a:latin typeface="Cambria Math" panose="02040503050406030204" pitchFamily="18" charset="0"/>
                              </a:rPr>
                              <m:t>𝑇</m:t>
                            </m:r>
                          </m:e>
                          <m:sub>
                            <m:r>
                              <m:rPr>
                                <m:sty m:val="p"/>
                              </m:rPr>
                              <a:rPr lang="en-US" altLang="zh-CN" sz="2000" i="1">
                                <a:solidFill>
                                  <a:schemeClr val="accent5">
                                    <a:lumMod val="75000"/>
                                  </a:schemeClr>
                                </a:solidFill>
                                <a:latin typeface="Cambria Math" panose="02040503050406030204" pitchFamily="18" charset="0"/>
                              </a:rPr>
                              <m:t>oh</m:t>
                            </m:r>
                          </m:sub>
                        </m:sSub>
                      </m:oMath>
                    </m:oMathPara>
                  </a14:m>
                  <a:endParaRPr lang="zh-CN" altLang="en-US" sz="2000" dirty="0">
                    <a:solidFill>
                      <a:schemeClr val="accent5">
                        <a:lumMod val="75000"/>
                      </a:schemeClr>
                    </a:solidFill>
                  </a:endParaRPr>
                </a:p>
              </p:txBody>
            </p:sp>
          </mc:Choice>
          <mc:Fallback xmlns="">
            <p:sp>
              <p:nvSpPr>
                <p:cNvPr id="393" name="文本框 392">
                  <a:extLst>
                    <a:ext uri="{FF2B5EF4-FFF2-40B4-BE49-F238E27FC236}">
                      <a16:creationId xmlns:a16="http://schemas.microsoft.com/office/drawing/2014/main" id="{A8AAE0B6-90B0-CA00-E486-8D490FA47BFE}"/>
                    </a:ext>
                  </a:extLst>
                </p:cNvPr>
                <p:cNvSpPr txBox="1">
                  <a:spLocks noRot="1" noChangeAspect="1" noMove="1" noResize="1" noEditPoints="1" noAdjustHandles="1" noChangeArrowheads="1" noChangeShapeType="1" noTextEdit="1"/>
                </p:cNvSpPr>
                <p:nvPr/>
              </p:nvSpPr>
              <p:spPr>
                <a:xfrm>
                  <a:off x="10062000" y="4392000"/>
                  <a:ext cx="504000" cy="360000"/>
                </a:xfrm>
                <a:prstGeom prst="rect">
                  <a:avLst/>
                </a:prstGeom>
                <a:blipFill>
                  <a:blip r:embed="rId40"/>
                  <a:stretch>
                    <a:fillRect l="-36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4" name="文本框 393">
                  <a:extLst>
                    <a:ext uri="{FF2B5EF4-FFF2-40B4-BE49-F238E27FC236}">
                      <a16:creationId xmlns:a16="http://schemas.microsoft.com/office/drawing/2014/main" id="{AE7124B9-7E13-C6EB-C7C5-66907E21163F}"/>
                    </a:ext>
                  </a:extLst>
                </p:cNvPr>
                <p:cNvSpPr txBox="1"/>
                <p:nvPr/>
              </p:nvSpPr>
              <p:spPr>
                <a:xfrm>
                  <a:off x="10278000" y="3240000"/>
                  <a:ext cx="504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solidFill>
                                  <a:schemeClr val="accent5">
                                    <a:lumMod val="75000"/>
                                  </a:schemeClr>
                                </a:solidFill>
                                <a:latin typeface="Cambria Math" panose="02040503050406030204" pitchFamily="18" charset="0"/>
                              </a:rPr>
                            </m:ctrlPr>
                          </m:sSubPr>
                          <m:e>
                            <m:r>
                              <a:rPr lang="en-US" altLang="zh-CN" sz="2000" b="0" i="1" smtClean="0">
                                <a:solidFill>
                                  <a:schemeClr val="accent5">
                                    <a:lumMod val="75000"/>
                                  </a:schemeClr>
                                </a:solidFill>
                                <a:latin typeface="Cambria Math" panose="02040503050406030204" pitchFamily="18" charset="0"/>
                              </a:rPr>
                              <m:t>𝑇</m:t>
                            </m:r>
                          </m:e>
                          <m:sub>
                            <m:r>
                              <m:rPr>
                                <m:sty m:val="p"/>
                              </m:rPr>
                              <a:rPr lang="en-US" altLang="zh-CN" sz="2000" i="1">
                                <a:solidFill>
                                  <a:schemeClr val="accent5">
                                    <a:lumMod val="75000"/>
                                  </a:schemeClr>
                                </a:solidFill>
                                <a:latin typeface="Cambria Math" panose="02040503050406030204" pitchFamily="18" charset="0"/>
                              </a:rPr>
                              <m:t>d</m:t>
                            </m:r>
                            <m:r>
                              <m:rPr>
                                <m:sty m:val="p"/>
                              </m:rPr>
                              <a:rPr lang="en-US" altLang="zh-CN" sz="2000" i="1" smtClean="0">
                                <a:solidFill>
                                  <a:schemeClr val="accent5">
                                    <a:lumMod val="75000"/>
                                  </a:schemeClr>
                                </a:solidFill>
                                <a:latin typeface="Cambria Math" panose="02040503050406030204" pitchFamily="18" charset="0"/>
                              </a:rPr>
                              <m:t>f</m:t>
                            </m:r>
                          </m:sub>
                        </m:sSub>
                      </m:oMath>
                    </m:oMathPara>
                  </a14:m>
                  <a:endParaRPr lang="zh-CN" altLang="en-US" sz="2000" dirty="0">
                    <a:solidFill>
                      <a:schemeClr val="accent5">
                        <a:lumMod val="75000"/>
                      </a:schemeClr>
                    </a:solidFill>
                  </a:endParaRPr>
                </a:p>
              </p:txBody>
            </p:sp>
          </mc:Choice>
          <mc:Fallback xmlns="">
            <p:sp>
              <p:nvSpPr>
                <p:cNvPr id="394" name="文本框 393">
                  <a:extLst>
                    <a:ext uri="{FF2B5EF4-FFF2-40B4-BE49-F238E27FC236}">
                      <a16:creationId xmlns:a16="http://schemas.microsoft.com/office/drawing/2014/main" id="{AE7124B9-7E13-C6EB-C7C5-66907E21163F}"/>
                    </a:ext>
                  </a:extLst>
                </p:cNvPr>
                <p:cNvSpPr txBox="1">
                  <a:spLocks noRot="1" noChangeAspect="1" noMove="1" noResize="1" noEditPoints="1" noAdjustHandles="1" noChangeArrowheads="1" noChangeShapeType="1" noTextEdit="1"/>
                </p:cNvSpPr>
                <p:nvPr/>
              </p:nvSpPr>
              <p:spPr>
                <a:xfrm>
                  <a:off x="10278000" y="3240000"/>
                  <a:ext cx="504000" cy="360000"/>
                </a:xfrm>
                <a:prstGeom prst="rect">
                  <a:avLst/>
                </a:prstGeom>
                <a:blipFill>
                  <a:blip r:embed="rId41"/>
                  <a:stretch>
                    <a:fillRect/>
                  </a:stretch>
                </a:blipFill>
              </p:spPr>
              <p:txBody>
                <a:bodyPr/>
                <a:lstStyle/>
                <a:p>
                  <a:r>
                    <a:rPr lang="zh-CN" altLang="en-US">
                      <a:noFill/>
                    </a:rPr>
                    <a:t> </a:t>
                  </a:r>
                </a:p>
              </p:txBody>
            </p:sp>
          </mc:Fallback>
        </mc:AlternateContent>
        <p:cxnSp>
          <p:nvCxnSpPr>
            <p:cNvPr id="398" name="直接箭头连接符 397">
              <a:extLst>
                <a:ext uri="{FF2B5EF4-FFF2-40B4-BE49-F238E27FC236}">
                  <a16:creationId xmlns:a16="http://schemas.microsoft.com/office/drawing/2014/main" id="{2F130C6D-AB3B-5762-9E43-72FCED4A3496}"/>
                </a:ext>
              </a:extLst>
            </p:cNvPr>
            <p:cNvCxnSpPr>
              <a:cxnSpLocks/>
            </p:cNvCxnSpPr>
            <p:nvPr/>
          </p:nvCxnSpPr>
          <p:spPr>
            <a:xfrm>
              <a:off x="9936000" y="3600000"/>
              <a:ext cx="1188000" cy="0"/>
            </a:xfrm>
            <a:prstGeom prst="straightConnector1">
              <a:avLst/>
            </a:prstGeom>
            <a:ln w="12700">
              <a:solidFill>
                <a:schemeClr val="accent5">
                  <a:lumMod val="75000"/>
                </a:schemeClr>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640" name="直接箭头连接符 639">
              <a:extLst>
                <a:ext uri="{FF2B5EF4-FFF2-40B4-BE49-F238E27FC236}">
                  <a16:creationId xmlns:a16="http://schemas.microsoft.com/office/drawing/2014/main" id="{1B9C1229-0773-FDC5-85C7-E53219EA0C61}"/>
                </a:ext>
              </a:extLst>
            </p:cNvPr>
            <p:cNvCxnSpPr>
              <a:cxnSpLocks/>
            </p:cNvCxnSpPr>
            <p:nvPr/>
          </p:nvCxnSpPr>
          <p:spPr>
            <a:xfrm>
              <a:off x="6264000" y="1548000"/>
              <a:ext cx="3672000" cy="0"/>
            </a:xfrm>
            <a:prstGeom prst="straightConnector1">
              <a:avLst/>
            </a:prstGeom>
            <a:ln w="12700">
              <a:solidFill>
                <a:schemeClr val="accent5">
                  <a:lumMod val="75000"/>
                </a:schemeClr>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1" name="文本框 640">
                  <a:extLst>
                    <a:ext uri="{FF2B5EF4-FFF2-40B4-BE49-F238E27FC236}">
                      <a16:creationId xmlns:a16="http://schemas.microsoft.com/office/drawing/2014/main" id="{D16B943D-CBF7-945D-7AA2-47EAEC6E265F}"/>
                    </a:ext>
                  </a:extLst>
                </p:cNvPr>
                <p:cNvSpPr txBox="1"/>
                <p:nvPr/>
              </p:nvSpPr>
              <p:spPr>
                <a:xfrm>
                  <a:off x="7848000" y="1188000"/>
                  <a:ext cx="504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solidFill>
                                  <a:schemeClr val="accent5">
                                    <a:lumMod val="75000"/>
                                  </a:schemeClr>
                                </a:solidFill>
                                <a:latin typeface="Cambria Math" panose="02040503050406030204" pitchFamily="18" charset="0"/>
                              </a:rPr>
                            </m:ctrlPr>
                          </m:sSubPr>
                          <m:e>
                            <m:r>
                              <a:rPr lang="en-US" altLang="zh-CN" sz="2000" b="0" i="1" smtClean="0">
                                <a:solidFill>
                                  <a:schemeClr val="accent5">
                                    <a:lumMod val="75000"/>
                                  </a:schemeClr>
                                </a:solidFill>
                                <a:latin typeface="Cambria Math" panose="02040503050406030204" pitchFamily="18" charset="0"/>
                              </a:rPr>
                              <m:t>𝑇</m:t>
                            </m:r>
                          </m:e>
                          <m:sub>
                            <m:r>
                              <m:rPr>
                                <m:sty m:val="p"/>
                              </m:rPr>
                              <a:rPr lang="en-US" altLang="zh-CN" sz="2000" b="0" i="0" smtClean="0">
                                <a:solidFill>
                                  <a:schemeClr val="accent5">
                                    <a:lumMod val="75000"/>
                                  </a:schemeClr>
                                </a:solidFill>
                                <a:latin typeface="Cambria Math" panose="02040503050406030204" pitchFamily="18" charset="0"/>
                              </a:rPr>
                              <m:t>r</m:t>
                            </m:r>
                            <m:r>
                              <m:rPr>
                                <m:sty m:val="p"/>
                              </m:rPr>
                              <a:rPr lang="en-US" altLang="zh-CN" sz="2000" i="1">
                                <a:solidFill>
                                  <a:schemeClr val="accent5">
                                    <a:lumMod val="75000"/>
                                  </a:schemeClr>
                                </a:solidFill>
                                <a:latin typeface="Cambria Math" panose="02040503050406030204" pitchFamily="18" charset="0"/>
                              </a:rPr>
                              <m:t>c</m:t>
                            </m:r>
                          </m:sub>
                        </m:sSub>
                      </m:oMath>
                    </m:oMathPara>
                  </a14:m>
                  <a:endParaRPr lang="zh-CN" altLang="en-US" sz="2000" dirty="0">
                    <a:solidFill>
                      <a:schemeClr val="accent5">
                        <a:lumMod val="75000"/>
                      </a:schemeClr>
                    </a:solidFill>
                  </a:endParaRPr>
                </a:p>
              </p:txBody>
            </p:sp>
          </mc:Choice>
          <mc:Fallback xmlns="">
            <p:sp>
              <p:nvSpPr>
                <p:cNvPr id="641" name="文本框 640">
                  <a:extLst>
                    <a:ext uri="{FF2B5EF4-FFF2-40B4-BE49-F238E27FC236}">
                      <a16:creationId xmlns:a16="http://schemas.microsoft.com/office/drawing/2014/main" id="{D16B943D-CBF7-945D-7AA2-47EAEC6E265F}"/>
                    </a:ext>
                  </a:extLst>
                </p:cNvPr>
                <p:cNvSpPr txBox="1">
                  <a:spLocks noRot="1" noChangeAspect="1" noMove="1" noResize="1" noEditPoints="1" noAdjustHandles="1" noChangeArrowheads="1" noChangeShapeType="1" noTextEdit="1"/>
                </p:cNvSpPr>
                <p:nvPr/>
              </p:nvSpPr>
              <p:spPr>
                <a:xfrm>
                  <a:off x="7848000" y="1188000"/>
                  <a:ext cx="504000" cy="360000"/>
                </a:xfrm>
                <a:prstGeom prst="rect">
                  <a:avLst/>
                </a:prstGeom>
                <a:blipFill>
                  <a:blip r:embed="rId42"/>
                  <a:stretch>
                    <a:fillRect/>
                  </a:stretch>
                </a:blipFill>
              </p:spPr>
              <p:txBody>
                <a:bodyPr/>
                <a:lstStyle/>
                <a:p>
                  <a:r>
                    <a:rPr lang="zh-CN" altLang="en-US">
                      <a:noFill/>
                    </a:rPr>
                    <a:t> </a:t>
                  </a:r>
                </a:p>
              </p:txBody>
            </p:sp>
          </mc:Fallback>
        </mc:AlternateContent>
        <p:sp>
          <p:nvSpPr>
            <p:cNvPr id="643" name="文本框 642">
              <a:extLst>
                <a:ext uri="{FF2B5EF4-FFF2-40B4-BE49-F238E27FC236}">
                  <a16:creationId xmlns:a16="http://schemas.microsoft.com/office/drawing/2014/main" id="{051EB817-4817-73BC-E961-405405A3789E}"/>
                </a:ext>
              </a:extLst>
            </p:cNvPr>
            <p:cNvSpPr txBox="1"/>
            <p:nvPr/>
          </p:nvSpPr>
          <p:spPr>
            <a:xfrm>
              <a:off x="11232000" y="5436000"/>
              <a:ext cx="756000" cy="360000"/>
            </a:xfrm>
            <a:prstGeom prst="rect">
              <a:avLst/>
            </a:prstGeom>
            <a:noFill/>
          </p:spPr>
          <p:txBody>
            <a:bodyPr wrap="square" lIns="0" tIns="0" rIns="0" bIns="0" rtlCol="0">
              <a:spAutoFit/>
            </a:bodyPr>
            <a:lstStyle/>
            <a:p>
              <a:pPr algn="ctr"/>
              <a:r>
                <a:rPr lang="zh-CN" altLang="en-US" sz="2000" dirty="0">
                  <a:latin typeface="微软雅黑" panose="020B0503020204020204" pitchFamily="34" charset="-122"/>
                  <a:ea typeface="微软雅黑" panose="020B0503020204020204" pitchFamily="34" charset="-122"/>
                </a:rPr>
                <a:t>高阻</a:t>
              </a:r>
              <a:endParaRPr lang="zh-CN" altLang="en-US" sz="2000" dirty="0"/>
            </a:p>
          </p:txBody>
        </p:sp>
        <p:cxnSp>
          <p:nvCxnSpPr>
            <p:cNvPr id="2" name="直接连接符 1">
              <a:extLst>
                <a:ext uri="{FF2B5EF4-FFF2-40B4-BE49-F238E27FC236}">
                  <a16:creationId xmlns:a16="http://schemas.microsoft.com/office/drawing/2014/main" id="{3C60F3FD-5121-0681-BC2A-5FE411A6A88D}"/>
                </a:ext>
              </a:extLst>
            </p:cNvPr>
            <p:cNvCxnSpPr>
              <a:cxnSpLocks/>
            </p:cNvCxnSpPr>
            <p:nvPr/>
          </p:nvCxnSpPr>
          <p:spPr>
            <a:xfrm>
              <a:off x="6480000" y="2268000"/>
              <a:ext cx="32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3" name="直接连接符 372">
              <a:extLst>
                <a:ext uri="{FF2B5EF4-FFF2-40B4-BE49-F238E27FC236}">
                  <a16:creationId xmlns:a16="http://schemas.microsoft.com/office/drawing/2014/main" id="{B1B40975-1AE9-F417-4F4C-F2E9673F0C75}"/>
                </a:ext>
              </a:extLst>
            </p:cNvPr>
            <p:cNvCxnSpPr>
              <a:cxnSpLocks/>
            </p:cNvCxnSpPr>
            <p:nvPr/>
          </p:nvCxnSpPr>
          <p:spPr>
            <a:xfrm>
              <a:off x="7056000" y="2447999"/>
              <a:ext cx="0" cy="828000"/>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77033D47-418C-7F42-D76B-A8D81646718D}"/>
                </a:ext>
              </a:extLst>
            </p:cNvPr>
            <p:cNvCxnSpPr>
              <a:cxnSpLocks/>
            </p:cNvCxnSpPr>
            <p:nvPr/>
          </p:nvCxnSpPr>
          <p:spPr>
            <a:xfrm flipV="1">
              <a:off x="8640000" y="5148000"/>
              <a:ext cx="216000" cy="252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CA69BCCD-77C0-AF9D-A266-656C3EBF277C}"/>
                </a:ext>
              </a:extLst>
            </p:cNvPr>
            <p:cNvCxnSpPr>
              <a:cxnSpLocks/>
            </p:cNvCxnSpPr>
            <p:nvPr/>
          </p:nvCxnSpPr>
          <p:spPr>
            <a:xfrm flipV="1">
              <a:off x="8316000" y="5148000"/>
              <a:ext cx="216000" cy="252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2A66AADF-7A72-B1F4-9408-A8C4874FA0F5}"/>
                </a:ext>
              </a:extLst>
            </p:cNvPr>
            <p:cNvCxnSpPr>
              <a:cxnSpLocks/>
            </p:cNvCxnSpPr>
            <p:nvPr/>
          </p:nvCxnSpPr>
          <p:spPr>
            <a:xfrm>
              <a:off x="8316000" y="5400000"/>
              <a:ext cx="216000" cy="252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CA9BC380-B894-5727-3C99-53C871A5B64E}"/>
                </a:ext>
              </a:extLst>
            </p:cNvPr>
            <p:cNvCxnSpPr>
              <a:cxnSpLocks/>
            </p:cNvCxnSpPr>
            <p:nvPr/>
          </p:nvCxnSpPr>
          <p:spPr>
            <a:xfrm flipV="1">
              <a:off x="8424000" y="5148000"/>
              <a:ext cx="216000" cy="252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4CE1211E-9A68-CF93-9157-30577300B442}"/>
                </a:ext>
              </a:extLst>
            </p:cNvPr>
            <p:cNvCxnSpPr>
              <a:cxnSpLocks/>
            </p:cNvCxnSpPr>
            <p:nvPr/>
          </p:nvCxnSpPr>
          <p:spPr>
            <a:xfrm flipV="1">
              <a:off x="8532000" y="5148000"/>
              <a:ext cx="216000" cy="252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E700C2DD-825C-338A-5468-E2D41F837635}"/>
                </a:ext>
              </a:extLst>
            </p:cNvPr>
            <p:cNvCxnSpPr>
              <a:cxnSpLocks/>
            </p:cNvCxnSpPr>
            <p:nvPr/>
          </p:nvCxnSpPr>
          <p:spPr>
            <a:xfrm>
              <a:off x="8424000" y="5400000"/>
              <a:ext cx="216000" cy="252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E18CB116-2D5A-6E1A-0546-0B08ACE91895}"/>
                </a:ext>
              </a:extLst>
            </p:cNvPr>
            <p:cNvCxnSpPr>
              <a:cxnSpLocks/>
            </p:cNvCxnSpPr>
            <p:nvPr/>
          </p:nvCxnSpPr>
          <p:spPr>
            <a:xfrm>
              <a:off x="8532000" y="5400000"/>
              <a:ext cx="216000" cy="252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2" name="直接连接符 511">
              <a:extLst>
                <a:ext uri="{FF2B5EF4-FFF2-40B4-BE49-F238E27FC236}">
                  <a16:creationId xmlns:a16="http://schemas.microsoft.com/office/drawing/2014/main" id="{B12C5BC8-3D14-FFED-7D62-64E63D746230}"/>
                </a:ext>
              </a:extLst>
            </p:cNvPr>
            <p:cNvCxnSpPr>
              <a:cxnSpLocks/>
            </p:cNvCxnSpPr>
            <p:nvPr/>
          </p:nvCxnSpPr>
          <p:spPr>
            <a:xfrm>
              <a:off x="8640000" y="5400000"/>
              <a:ext cx="216000" cy="252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3" name="直接连接符 512">
              <a:extLst>
                <a:ext uri="{FF2B5EF4-FFF2-40B4-BE49-F238E27FC236}">
                  <a16:creationId xmlns:a16="http://schemas.microsoft.com/office/drawing/2014/main" id="{6A23EB31-234C-5C61-125C-F052DD66C495}"/>
                </a:ext>
              </a:extLst>
            </p:cNvPr>
            <p:cNvCxnSpPr>
              <a:cxnSpLocks/>
            </p:cNvCxnSpPr>
            <p:nvPr/>
          </p:nvCxnSpPr>
          <p:spPr>
            <a:xfrm>
              <a:off x="10584000" y="5148000"/>
              <a:ext cx="216000" cy="252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4" name="直接连接符 513">
              <a:extLst>
                <a:ext uri="{FF2B5EF4-FFF2-40B4-BE49-F238E27FC236}">
                  <a16:creationId xmlns:a16="http://schemas.microsoft.com/office/drawing/2014/main" id="{4A6C720C-898B-3CCF-A2CF-801554886D25}"/>
                </a:ext>
              </a:extLst>
            </p:cNvPr>
            <p:cNvCxnSpPr>
              <a:cxnSpLocks/>
            </p:cNvCxnSpPr>
            <p:nvPr/>
          </p:nvCxnSpPr>
          <p:spPr>
            <a:xfrm flipV="1">
              <a:off x="10584000" y="5400000"/>
              <a:ext cx="216000" cy="252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5" name="直接连接符 514">
              <a:extLst>
                <a:ext uri="{FF2B5EF4-FFF2-40B4-BE49-F238E27FC236}">
                  <a16:creationId xmlns:a16="http://schemas.microsoft.com/office/drawing/2014/main" id="{0AD62F4A-6B41-2EF2-73A6-74591ACF8CDD}"/>
                </a:ext>
              </a:extLst>
            </p:cNvPr>
            <p:cNvCxnSpPr>
              <a:cxnSpLocks/>
            </p:cNvCxnSpPr>
            <p:nvPr/>
          </p:nvCxnSpPr>
          <p:spPr>
            <a:xfrm>
              <a:off x="11016000" y="5148000"/>
              <a:ext cx="216000" cy="252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6" name="直接连接符 515">
              <a:extLst>
                <a:ext uri="{FF2B5EF4-FFF2-40B4-BE49-F238E27FC236}">
                  <a16:creationId xmlns:a16="http://schemas.microsoft.com/office/drawing/2014/main" id="{E9742029-2227-6D0D-9D65-754C14552CAA}"/>
                </a:ext>
              </a:extLst>
            </p:cNvPr>
            <p:cNvCxnSpPr>
              <a:cxnSpLocks/>
            </p:cNvCxnSpPr>
            <p:nvPr/>
          </p:nvCxnSpPr>
          <p:spPr>
            <a:xfrm flipV="1">
              <a:off x="11016000" y="5400000"/>
              <a:ext cx="216000" cy="252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7" name="直接连接符 516">
              <a:extLst>
                <a:ext uri="{FF2B5EF4-FFF2-40B4-BE49-F238E27FC236}">
                  <a16:creationId xmlns:a16="http://schemas.microsoft.com/office/drawing/2014/main" id="{ECE6F76E-823F-4466-8B81-B39AC3E471D0}"/>
                </a:ext>
              </a:extLst>
            </p:cNvPr>
            <p:cNvCxnSpPr>
              <a:cxnSpLocks/>
            </p:cNvCxnSpPr>
            <p:nvPr/>
          </p:nvCxnSpPr>
          <p:spPr>
            <a:xfrm>
              <a:off x="10692000" y="5148000"/>
              <a:ext cx="216000" cy="252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8" name="直接连接符 517">
              <a:extLst>
                <a:ext uri="{FF2B5EF4-FFF2-40B4-BE49-F238E27FC236}">
                  <a16:creationId xmlns:a16="http://schemas.microsoft.com/office/drawing/2014/main" id="{057C1A4C-3B5F-758D-4BAD-3020DE2D8609}"/>
                </a:ext>
              </a:extLst>
            </p:cNvPr>
            <p:cNvCxnSpPr>
              <a:cxnSpLocks/>
            </p:cNvCxnSpPr>
            <p:nvPr/>
          </p:nvCxnSpPr>
          <p:spPr>
            <a:xfrm>
              <a:off x="10800000" y="5148000"/>
              <a:ext cx="216000" cy="252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9" name="直接连接符 518">
              <a:extLst>
                <a:ext uri="{FF2B5EF4-FFF2-40B4-BE49-F238E27FC236}">
                  <a16:creationId xmlns:a16="http://schemas.microsoft.com/office/drawing/2014/main" id="{2AD36CEE-EA33-1145-60F5-8E072B986C07}"/>
                </a:ext>
              </a:extLst>
            </p:cNvPr>
            <p:cNvCxnSpPr>
              <a:cxnSpLocks/>
            </p:cNvCxnSpPr>
            <p:nvPr/>
          </p:nvCxnSpPr>
          <p:spPr>
            <a:xfrm>
              <a:off x="10908000" y="5148000"/>
              <a:ext cx="216000" cy="252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0" name="直接连接符 519">
              <a:extLst>
                <a:ext uri="{FF2B5EF4-FFF2-40B4-BE49-F238E27FC236}">
                  <a16:creationId xmlns:a16="http://schemas.microsoft.com/office/drawing/2014/main" id="{1DE99131-489D-90DF-D1A7-A67A0707BD80}"/>
                </a:ext>
              </a:extLst>
            </p:cNvPr>
            <p:cNvCxnSpPr>
              <a:cxnSpLocks/>
            </p:cNvCxnSpPr>
            <p:nvPr/>
          </p:nvCxnSpPr>
          <p:spPr>
            <a:xfrm flipV="1">
              <a:off x="10692000" y="5400000"/>
              <a:ext cx="216000" cy="252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1" name="直接连接符 520">
              <a:extLst>
                <a:ext uri="{FF2B5EF4-FFF2-40B4-BE49-F238E27FC236}">
                  <a16:creationId xmlns:a16="http://schemas.microsoft.com/office/drawing/2014/main" id="{AD457CDA-10E6-5C2E-35AA-90D5332CD5B0}"/>
                </a:ext>
              </a:extLst>
            </p:cNvPr>
            <p:cNvCxnSpPr>
              <a:cxnSpLocks/>
            </p:cNvCxnSpPr>
            <p:nvPr/>
          </p:nvCxnSpPr>
          <p:spPr>
            <a:xfrm flipV="1">
              <a:off x="10800000" y="5400000"/>
              <a:ext cx="216000" cy="252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2" name="直接连接符 521">
              <a:extLst>
                <a:ext uri="{FF2B5EF4-FFF2-40B4-BE49-F238E27FC236}">
                  <a16:creationId xmlns:a16="http://schemas.microsoft.com/office/drawing/2014/main" id="{9370286E-D9AB-E554-7709-125C5C6DC14C}"/>
                </a:ext>
              </a:extLst>
            </p:cNvPr>
            <p:cNvCxnSpPr>
              <a:cxnSpLocks/>
            </p:cNvCxnSpPr>
            <p:nvPr/>
          </p:nvCxnSpPr>
          <p:spPr>
            <a:xfrm flipV="1">
              <a:off x="10908000" y="5400000"/>
              <a:ext cx="216000" cy="252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84973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7C55A-9734-2A18-F662-0D92126FA8A0}"/>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EEF0CB7F-2756-2AEE-2ABF-5F25A4854DFF}"/>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76517E59-FC1B-24AD-BEBE-02D5E10BBB1A}"/>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B7E1ECC9-447A-1120-7058-546A9F7CFED8}"/>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C8A6BE0A-B2E1-20C7-D534-0D42F5B5831C}"/>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F296908D-0F69-045A-B3A4-630902D8D612}"/>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11</a:t>
              </a:fld>
              <a:endParaRPr lang="zh-CN" altLang="en-US" sz="3200" dirty="0">
                <a:solidFill>
                  <a:schemeClr val="bg1"/>
                </a:solidFill>
                <a:latin typeface="Candara"/>
                <a:ea typeface="微软雅黑"/>
              </a:endParaRPr>
            </a:p>
          </p:txBody>
        </p:sp>
      </p:grpSp>
      <p:sp>
        <p:nvSpPr>
          <p:cNvPr id="9" name="文本框 8">
            <a:extLst>
              <a:ext uri="{FF2B5EF4-FFF2-40B4-BE49-F238E27FC236}">
                <a16:creationId xmlns:a16="http://schemas.microsoft.com/office/drawing/2014/main" id="{30F68617-3B81-4481-9555-1C67F908D9E8}"/>
              </a:ext>
            </a:extLst>
          </p:cNvPr>
          <p:cNvSpPr txBox="1"/>
          <p:nvPr/>
        </p:nvSpPr>
        <p:spPr>
          <a:xfrm>
            <a:off x="360000" y="828000"/>
            <a:ext cx="10585173" cy="2800126"/>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随机存储器（</a:t>
            </a:r>
            <a:r>
              <a:rPr kumimoji="1" lang="en-US" altLang="zh-CN" sz="2800" dirty="0">
                <a:solidFill>
                  <a:srgbClr val="002060"/>
                </a:solidFill>
                <a:latin typeface="微软雅黑" panose="020B0503020204020204" pitchFamily="34" charset="-122"/>
                <a:ea typeface="微软雅黑" panose="020B0503020204020204" pitchFamily="34" charset="-122"/>
              </a:rPr>
              <a:t>Random Access Memory</a:t>
            </a:r>
            <a:r>
              <a:rPr kumimoji="1" lang="zh-CN" altLang="en-US" sz="2800" dirty="0">
                <a:solidFill>
                  <a:srgbClr val="002060"/>
                </a:solidFill>
                <a:latin typeface="微软雅黑" panose="020B0503020204020204" pitchFamily="34" charset="-122"/>
                <a:ea typeface="微软雅黑" panose="020B0503020204020204" pitchFamily="34" charset="-122"/>
              </a:rPr>
              <a:t>，</a:t>
            </a:r>
            <a:r>
              <a:rPr kumimoji="1" lang="en-US" altLang="zh-CN" sz="2800" dirty="0">
                <a:solidFill>
                  <a:srgbClr val="002060"/>
                </a:solidFill>
                <a:latin typeface="微软雅黑" panose="020B0503020204020204" pitchFamily="34" charset="-122"/>
                <a:ea typeface="微软雅黑" panose="020B0503020204020204" pitchFamily="34" charset="-122"/>
              </a:rPr>
              <a:t>RAM</a:t>
            </a:r>
            <a:r>
              <a:rPr kumimoji="1" lang="zh-CN" altLang="en-US" sz="2800" dirty="0">
                <a:solidFill>
                  <a:srgbClr val="002060"/>
                </a:solidFill>
                <a:latin typeface="微软雅黑" panose="020B0503020204020204" pitchFamily="34" charset="-122"/>
                <a:ea typeface="微软雅黑" panose="020B0503020204020204" pitchFamily="34" charset="-122"/>
              </a:rPr>
              <a:t>）</a:t>
            </a:r>
            <a:r>
              <a:rPr kumimoji="1" lang="zh-CN" altLang="en-US" sz="2400" dirty="0">
                <a:solidFill>
                  <a:srgbClr val="002060"/>
                </a:solidFill>
                <a:latin typeface="微软雅黑" panose="020B0503020204020204" pitchFamily="34" charset="-122"/>
                <a:ea typeface="微软雅黑" panose="020B0503020204020204" pitchFamily="34" charset="-122"/>
              </a:rPr>
              <a:t>：</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静态 </a:t>
            </a:r>
            <a:r>
              <a:rPr kumimoji="1" lang="en-US" altLang="zh-CN" sz="2800" dirty="0">
                <a:solidFill>
                  <a:srgbClr val="002060"/>
                </a:solidFill>
                <a:latin typeface="微软雅黑" panose="020B0503020204020204" pitchFamily="34" charset="-122"/>
                <a:ea typeface="微软雅黑" panose="020B0503020204020204" pitchFamily="34" charset="-122"/>
              </a:rPr>
              <a:t>RAM</a:t>
            </a:r>
            <a:r>
              <a:rPr kumimoji="1" lang="zh-CN" altLang="en-US" sz="2800" dirty="0">
                <a:solidFill>
                  <a:srgbClr val="002060"/>
                </a:solidFill>
                <a:latin typeface="微软雅黑" panose="020B0503020204020204" pitchFamily="34" charset="-122"/>
                <a:ea typeface="微软雅黑" panose="020B0503020204020204" pitchFamily="34" charset="-122"/>
              </a:rPr>
              <a:t>（</a:t>
            </a:r>
            <a:r>
              <a:rPr kumimoji="1" lang="en-US" altLang="zh-CN" sz="2800" dirty="0">
                <a:solidFill>
                  <a:srgbClr val="002060"/>
                </a:solidFill>
                <a:latin typeface="微软雅黑" panose="020B0503020204020204" pitchFamily="34" charset="-122"/>
                <a:ea typeface="微软雅黑" panose="020B0503020204020204" pitchFamily="34" charset="-122"/>
              </a:rPr>
              <a:t>Static</a:t>
            </a:r>
            <a:r>
              <a:rPr kumimoji="1" lang="zh-CN" altLang="en-US" sz="2800" dirty="0">
                <a:solidFill>
                  <a:srgbClr val="002060"/>
                </a:solidFill>
                <a:latin typeface="微软雅黑" panose="020B0503020204020204" pitchFamily="34" charset="-122"/>
                <a:ea typeface="微软雅黑" panose="020B0503020204020204" pitchFamily="34" charset="-122"/>
              </a:rPr>
              <a:t> </a:t>
            </a:r>
            <a:r>
              <a:rPr kumimoji="1" lang="en-US" altLang="zh-CN" sz="2800" dirty="0">
                <a:solidFill>
                  <a:srgbClr val="002060"/>
                </a:solidFill>
                <a:latin typeface="微软雅黑" panose="020B0503020204020204" pitchFamily="34" charset="-122"/>
                <a:ea typeface="微软雅黑" panose="020B0503020204020204" pitchFamily="34" charset="-122"/>
              </a:rPr>
              <a:t>RAM</a:t>
            </a:r>
            <a:r>
              <a:rPr kumimoji="1" lang="zh-CN" altLang="en-US" sz="2800" dirty="0">
                <a:solidFill>
                  <a:srgbClr val="002060"/>
                </a:solidFill>
                <a:latin typeface="微软雅黑" panose="020B0503020204020204" pitchFamily="34" charset="-122"/>
                <a:ea typeface="微软雅黑" panose="020B0503020204020204" pitchFamily="34" charset="-122"/>
              </a:rPr>
              <a:t>，</a:t>
            </a:r>
            <a:r>
              <a:rPr kumimoji="1" lang="en-US" altLang="zh-CN" sz="2800" dirty="0">
                <a:solidFill>
                  <a:srgbClr val="002060"/>
                </a:solidFill>
                <a:latin typeface="微软雅黑" panose="020B0503020204020204" pitchFamily="34" charset="-122"/>
                <a:ea typeface="微软雅黑" panose="020B0503020204020204" pitchFamily="34" charset="-122"/>
              </a:rPr>
              <a:t>SRAM</a:t>
            </a:r>
            <a:r>
              <a:rPr kumimoji="1" lang="zh-CN" altLang="en-US" sz="2800" dirty="0">
                <a:solidFill>
                  <a:srgbClr val="002060"/>
                </a:solidFill>
                <a:latin typeface="微软雅黑" panose="020B0503020204020204" pitchFamily="34" charset="-122"/>
                <a:ea typeface="微软雅黑" panose="020B0503020204020204" pitchFamily="34" charset="-122"/>
              </a:rPr>
              <a:t>）</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SRAM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中的锁存单元相当于一个锁存器，有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0</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1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两个稳态</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动态 </a:t>
            </a:r>
            <a:r>
              <a:rPr kumimoji="1" lang="en-US" altLang="zh-CN" sz="2800" dirty="0">
                <a:solidFill>
                  <a:srgbClr val="002060"/>
                </a:solidFill>
                <a:latin typeface="微软雅黑" panose="020B0503020204020204" pitchFamily="34" charset="-122"/>
                <a:ea typeface="微软雅黑" panose="020B0503020204020204" pitchFamily="34" charset="-122"/>
              </a:rPr>
              <a:t>RAM</a:t>
            </a:r>
            <a:r>
              <a:rPr kumimoji="1" lang="zh-CN" altLang="en-US" sz="2800" dirty="0">
                <a:solidFill>
                  <a:srgbClr val="002060"/>
                </a:solidFill>
                <a:latin typeface="微软雅黑" panose="020B0503020204020204" pitchFamily="34" charset="-122"/>
                <a:ea typeface="微软雅黑" panose="020B0503020204020204" pitchFamily="34" charset="-122"/>
              </a:rPr>
              <a:t>（</a:t>
            </a:r>
            <a:r>
              <a:rPr kumimoji="1" lang="en-US" altLang="zh-CN" sz="2800" dirty="0">
                <a:solidFill>
                  <a:srgbClr val="002060"/>
                </a:solidFill>
                <a:latin typeface="微软雅黑" panose="020B0503020204020204" pitchFamily="34" charset="-122"/>
                <a:ea typeface="微软雅黑" panose="020B0503020204020204" pitchFamily="34" charset="-122"/>
              </a:rPr>
              <a:t>Dynamic</a:t>
            </a:r>
            <a:r>
              <a:rPr kumimoji="1" lang="zh-CN" altLang="en-US" sz="2800" dirty="0">
                <a:solidFill>
                  <a:srgbClr val="002060"/>
                </a:solidFill>
                <a:latin typeface="微软雅黑" panose="020B0503020204020204" pitchFamily="34" charset="-122"/>
                <a:ea typeface="微软雅黑" panose="020B0503020204020204" pitchFamily="34" charset="-122"/>
              </a:rPr>
              <a:t> </a:t>
            </a:r>
            <a:r>
              <a:rPr kumimoji="1" lang="en-US" altLang="zh-CN" sz="2800" dirty="0">
                <a:solidFill>
                  <a:srgbClr val="002060"/>
                </a:solidFill>
                <a:latin typeface="微软雅黑" panose="020B0503020204020204" pitchFamily="34" charset="-122"/>
                <a:ea typeface="微软雅黑" panose="020B0503020204020204" pitchFamily="34" charset="-122"/>
              </a:rPr>
              <a:t>RAM</a:t>
            </a:r>
            <a:r>
              <a:rPr kumimoji="1" lang="zh-CN" altLang="en-US" sz="2800" dirty="0">
                <a:solidFill>
                  <a:srgbClr val="002060"/>
                </a:solidFill>
                <a:latin typeface="微软雅黑" panose="020B0503020204020204" pitchFamily="34" charset="-122"/>
                <a:ea typeface="微软雅黑" panose="020B0503020204020204" pitchFamily="34" charset="-122"/>
              </a:rPr>
              <a:t>，</a:t>
            </a:r>
            <a:r>
              <a:rPr kumimoji="1" lang="en-US" altLang="zh-CN" sz="2800" dirty="0">
                <a:solidFill>
                  <a:srgbClr val="002060"/>
                </a:solidFill>
                <a:latin typeface="微软雅黑" panose="020B0503020204020204" pitchFamily="34" charset="-122"/>
                <a:ea typeface="微软雅黑" panose="020B0503020204020204" pitchFamily="34" charset="-122"/>
              </a:rPr>
              <a:t>DRAM</a:t>
            </a:r>
            <a:r>
              <a:rPr kumimoji="1" lang="zh-CN" altLang="en-US" sz="2800" dirty="0">
                <a:solidFill>
                  <a:srgbClr val="002060"/>
                </a:solidFill>
                <a:latin typeface="微软雅黑" panose="020B0503020204020204" pitchFamily="34" charset="-122"/>
                <a:ea typeface="微软雅黑" panose="020B0503020204020204" pitchFamily="34" charset="-122"/>
              </a:rPr>
              <a:t>）</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利用电容存储电荷的方式来保存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0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和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1</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，需定时刷新维持保持状态</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3" name="标题 1">
            <a:extLst>
              <a:ext uri="{FF2B5EF4-FFF2-40B4-BE49-F238E27FC236}">
                <a16:creationId xmlns:a16="http://schemas.microsoft.com/office/drawing/2014/main" id="{12EA5991-7C65-9ED4-4FFE-3092FA61E507}"/>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半导体存储器 </a:t>
            </a:r>
            <a:r>
              <a:rPr lang="en-US" altLang="zh-CN" sz="3000" dirty="0"/>
              <a:t>—— </a:t>
            </a:r>
            <a:r>
              <a:rPr lang="zh-CN" altLang="en-US" sz="3000" dirty="0">
                <a:solidFill>
                  <a:srgbClr val="FFFF00"/>
                </a:solidFill>
              </a:rPr>
              <a:t>随机存储器（</a:t>
            </a:r>
            <a:r>
              <a:rPr lang="en-US" altLang="zh-CN" sz="3000" dirty="0">
                <a:solidFill>
                  <a:srgbClr val="FFFF00"/>
                </a:solidFill>
              </a:rPr>
              <a:t>RAM</a:t>
            </a:r>
            <a:r>
              <a:rPr lang="zh-CN" altLang="en-US" sz="3000" dirty="0">
                <a:solidFill>
                  <a:srgbClr val="FFFF00"/>
                </a:solidFill>
              </a:rPr>
              <a:t>）</a:t>
            </a:r>
            <a:endParaRPr lang="en-US" altLang="zh-CN" sz="3000" dirty="0"/>
          </a:p>
        </p:txBody>
      </p:sp>
    </p:spTree>
    <p:extLst>
      <p:ext uri="{BB962C8B-B14F-4D97-AF65-F5344CB8AC3E}">
        <p14:creationId xmlns:p14="http://schemas.microsoft.com/office/powerpoint/2010/main" val="1413815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ABDC9-EFED-F411-4010-C4476529A593}"/>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4C9988C6-C0A7-DB0A-2CBD-649B910CDF0E}"/>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954F4ED7-9E39-FE45-A582-C4F1FA5CFB7E}"/>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9B8C5CEC-7E0F-5DA6-FC5F-CF9767298FC6}"/>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31F0D0C9-DC23-8EE7-F914-FAD08426FC6B}"/>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618516A9-FDE7-EC94-2BE4-2F864C86656C}"/>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12</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0CFE4368-FA23-A36E-118E-3BE4CE2626AC}"/>
                  </a:ext>
                </a:extLst>
              </p:cNvPr>
              <p:cNvSpPr txBox="1"/>
              <p:nvPr/>
            </p:nvSpPr>
            <p:spPr>
              <a:xfrm>
                <a:off x="359999" y="828000"/>
                <a:ext cx="6338897" cy="317317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静态 </a:t>
                </a:r>
                <a:r>
                  <a:rPr kumimoji="1" lang="en-US" altLang="zh-CN" sz="2800" dirty="0">
                    <a:solidFill>
                      <a:srgbClr val="002060"/>
                    </a:solidFill>
                    <a:latin typeface="微软雅黑" panose="020B0503020204020204" pitchFamily="34" charset="-122"/>
                    <a:ea typeface="微软雅黑" panose="020B0503020204020204" pitchFamily="34" charset="-122"/>
                  </a:rPr>
                  <a:t>RAM</a:t>
                </a:r>
                <a:r>
                  <a:rPr kumimoji="1" lang="zh-CN" altLang="en-US" sz="2800" dirty="0">
                    <a:solidFill>
                      <a:srgbClr val="002060"/>
                    </a:solidFill>
                    <a:latin typeface="微软雅黑" panose="020B0503020204020204" pitchFamily="34" charset="-122"/>
                    <a:ea typeface="微软雅黑" panose="020B0503020204020204" pitchFamily="34" charset="-122"/>
                  </a:rPr>
                  <a:t>（</a:t>
                </a:r>
                <a:r>
                  <a:rPr kumimoji="1" lang="en-US" altLang="zh-CN" sz="2800" dirty="0">
                    <a:solidFill>
                      <a:srgbClr val="002060"/>
                    </a:solidFill>
                    <a:latin typeface="微软雅黑" panose="020B0503020204020204" pitchFamily="34" charset="-122"/>
                    <a:ea typeface="微软雅黑" panose="020B0503020204020204" pitchFamily="34" charset="-122"/>
                  </a:rPr>
                  <a:t>SRAM</a:t>
                </a:r>
                <a:r>
                  <a:rPr kumimoji="1" lang="zh-CN" altLang="en-US" sz="2800" dirty="0">
                    <a:solidFill>
                      <a:srgbClr val="002060"/>
                    </a:solidFill>
                    <a:latin typeface="微软雅黑" panose="020B0503020204020204" pitchFamily="34" charset="-122"/>
                    <a:ea typeface="微软雅黑" panose="020B0503020204020204" pitchFamily="34" charset="-122"/>
                  </a:rPr>
                  <a:t>）</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地址线数目为能存储的字数</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数据线数目为能存储的字长</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acc>
                      <m:accPr>
                        <m:chr m:val="̅"/>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OE</m:t>
                        </m:r>
                      </m:e>
                    </m:acc>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输出使能（</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Output Enable</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acc>
                      <m:accPr>
                        <m:chr m:val="̅"/>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W</m:t>
                        </m:r>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E</m:t>
                        </m:r>
                      </m:e>
                    </m:acc>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：写入使能（</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Write Enable</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acc>
                      <m:accPr>
                        <m:chr m:val="̅"/>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CE</m:t>
                        </m:r>
                      </m:e>
                    </m:acc>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片选（</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Chip Enable</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9" name="文本框 8">
                <a:extLst>
                  <a:ext uri="{FF2B5EF4-FFF2-40B4-BE49-F238E27FC236}">
                    <a16:creationId xmlns:a16="http://schemas.microsoft.com/office/drawing/2014/main" id="{0CFE4368-FA23-A36E-118E-3BE4CE2626AC}"/>
                  </a:ext>
                </a:extLst>
              </p:cNvPr>
              <p:cNvSpPr txBox="1">
                <a:spLocks noRot="1" noChangeAspect="1" noMove="1" noResize="1" noEditPoints="1" noAdjustHandles="1" noChangeArrowheads="1" noChangeShapeType="1" noTextEdit="1"/>
              </p:cNvSpPr>
              <p:nvPr/>
            </p:nvSpPr>
            <p:spPr>
              <a:xfrm>
                <a:off x="359999" y="828000"/>
                <a:ext cx="6338897" cy="3173176"/>
              </a:xfrm>
              <a:prstGeom prst="rect">
                <a:avLst/>
              </a:prstGeom>
              <a:blipFill>
                <a:blip r:embed="rId3"/>
                <a:stretch>
                  <a:fillRect l="-1731" t="-769" b="-36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61" name="表格 60">
                <a:extLst>
                  <a:ext uri="{FF2B5EF4-FFF2-40B4-BE49-F238E27FC236}">
                    <a16:creationId xmlns:a16="http://schemas.microsoft.com/office/drawing/2014/main" id="{9BBF4C0A-62D1-92A6-B87D-FA0A3497FB31}"/>
                  </a:ext>
                </a:extLst>
              </p:cNvPr>
              <p:cNvGraphicFramePr>
                <a:graphicFrameLocks noGrp="1"/>
              </p:cNvGraphicFramePr>
              <p:nvPr>
                <p:extLst>
                  <p:ext uri="{D42A27DB-BD31-4B8C-83A1-F6EECF244321}">
                    <p14:modId xmlns:p14="http://schemas.microsoft.com/office/powerpoint/2010/main" val="2386843033"/>
                  </p:ext>
                </p:extLst>
              </p:nvPr>
            </p:nvGraphicFramePr>
            <p:xfrm>
              <a:off x="828000" y="4554000"/>
              <a:ext cx="7062480" cy="1981899"/>
            </p:xfrm>
            <a:graphic>
              <a:graphicData uri="http://schemas.openxmlformats.org/drawingml/2006/table">
                <a:tbl>
                  <a:tblPr firstRow="1" bandRow="1">
                    <a:tableStyleId>{5940675A-B579-460E-94D1-54222C63F5DA}</a:tableStyleId>
                  </a:tblPr>
                  <a:tblGrid>
                    <a:gridCol w="1412496">
                      <a:extLst>
                        <a:ext uri="{9D8B030D-6E8A-4147-A177-3AD203B41FA5}">
                          <a16:colId xmlns:a16="http://schemas.microsoft.com/office/drawing/2014/main" val="2011399670"/>
                        </a:ext>
                      </a:extLst>
                    </a:gridCol>
                    <a:gridCol w="1412496">
                      <a:extLst>
                        <a:ext uri="{9D8B030D-6E8A-4147-A177-3AD203B41FA5}">
                          <a16:colId xmlns:a16="http://schemas.microsoft.com/office/drawing/2014/main" val="2868534064"/>
                        </a:ext>
                      </a:extLst>
                    </a:gridCol>
                    <a:gridCol w="1412496">
                      <a:extLst>
                        <a:ext uri="{9D8B030D-6E8A-4147-A177-3AD203B41FA5}">
                          <a16:colId xmlns:a16="http://schemas.microsoft.com/office/drawing/2014/main" val="3438661689"/>
                        </a:ext>
                      </a:extLst>
                    </a:gridCol>
                    <a:gridCol w="1412496">
                      <a:extLst>
                        <a:ext uri="{9D8B030D-6E8A-4147-A177-3AD203B41FA5}">
                          <a16:colId xmlns:a16="http://schemas.microsoft.com/office/drawing/2014/main" val="2352589893"/>
                        </a:ext>
                      </a:extLst>
                    </a:gridCol>
                    <a:gridCol w="1412496">
                      <a:extLst>
                        <a:ext uri="{9D8B030D-6E8A-4147-A177-3AD203B41FA5}">
                          <a16:colId xmlns:a16="http://schemas.microsoft.com/office/drawing/2014/main" val="2042664130"/>
                        </a:ext>
                      </a:extLst>
                    </a:gridCol>
                  </a:tblGrid>
                  <a:tr h="370840">
                    <a:tc>
                      <a:txBody>
                        <a:bodyPr/>
                        <a:lstStyle/>
                        <a:p>
                          <a:pPr algn="ctr"/>
                          <a:r>
                            <a:rPr lang="zh-CN" altLang="en-US" sz="2000" dirty="0">
                              <a:latin typeface="微软雅黑" panose="020B0503020204020204" pitchFamily="34" charset="-122"/>
                              <a:ea typeface="微软雅黑" panose="020B0503020204020204" pitchFamily="34" charset="-122"/>
                            </a:rPr>
                            <a:t>工作模式</a:t>
                          </a:r>
                        </a:p>
                      </a:txBody>
                      <a:tcPr anchor="ctr"/>
                    </a:tc>
                    <a:tc>
                      <a:txBody>
                        <a:bodyPr/>
                        <a:lstStyle/>
                        <a:p>
                          <a:pPr algn="ctr"/>
                          <a14:m>
                            <m:oMathPara xmlns:m="http://schemas.openxmlformats.org/officeDocument/2006/math">
                              <m:oMathParaPr>
                                <m:jc m:val="centerGroup"/>
                              </m:oMathParaPr>
                              <m:oMath xmlns:m="http://schemas.openxmlformats.org/officeDocument/2006/math">
                                <m:acc>
                                  <m:accPr>
                                    <m:chr m:val="̅"/>
                                    <m:ctrlPr>
                                      <a:rPr kumimoji="1" lang="en-US" altLang="zh-CN" sz="2000" i="1" smtClean="0">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CE</m:t>
                                    </m:r>
                                  </m:e>
                                </m:acc>
                              </m:oMath>
                            </m:oMathPara>
                          </a14:m>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14:m>
                            <m:oMathPara xmlns:m="http://schemas.openxmlformats.org/officeDocument/2006/math">
                              <m:oMathParaPr>
                                <m:jc m:val="centerGroup"/>
                              </m:oMathParaPr>
                              <m:oMath xmlns:m="http://schemas.openxmlformats.org/officeDocument/2006/math">
                                <m:acc>
                                  <m:accPr>
                                    <m:chr m:val="̅"/>
                                    <m:ctrlPr>
                                      <a:rPr kumimoji="1" lang="en-US" altLang="zh-CN" sz="2000" i="1" smtClean="0">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W</m:t>
                                    </m:r>
                                    <m:r>
                                      <m:rPr>
                                        <m:sty m:val="p"/>
                                      </m:rPr>
                                      <a:rPr kumimoji="1" lang="en-US" altLang="zh-CN" sz="2000">
                                        <a:solidFill>
                                          <a:schemeClr val="accent5">
                                            <a:lumMod val="75000"/>
                                          </a:schemeClr>
                                        </a:solidFill>
                                        <a:latin typeface="Cambria Math" panose="02040503050406030204" pitchFamily="18" charset="0"/>
                                        <a:ea typeface="微软雅黑" panose="020B0503020204020204" pitchFamily="34" charset="-122"/>
                                      </a:rPr>
                                      <m:t>E</m:t>
                                    </m:r>
                                  </m:e>
                                </m:acc>
                              </m:oMath>
                            </m:oMathPara>
                          </a14:m>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14:m>
                            <m:oMathPara xmlns:m="http://schemas.openxmlformats.org/officeDocument/2006/math">
                              <m:oMathParaPr>
                                <m:jc m:val="centerGroup"/>
                              </m:oMathParaPr>
                              <m:oMath xmlns:m="http://schemas.openxmlformats.org/officeDocument/2006/math">
                                <m:acc>
                                  <m:accPr>
                                    <m:chr m:val="̅"/>
                                    <m:ctrlPr>
                                      <a:rPr kumimoji="1" lang="en-US" altLang="zh-CN" sz="2000" i="1" smtClean="0">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OE</m:t>
                                    </m:r>
                                  </m:e>
                                </m:acc>
                              </m:oMath>
                            </m:oMathPara>
                          </a14:m>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14:m>
                            <m:oMath xmlns:m="http://schemas.openxmlformats.org/officeDocument/2006/math">
                              <m:sSub>
                                <m:sSubPr>
                                  <m:ctrlPr>
                                    <a:rPr lang="en-US" altLang="zh-CN" sz="2000" i="1" smtClean="0">
                                      <a:solidFill>
                                        <a:schemeClr val="accent5">
                                          <a:lumMod val="75000"/>
                                        </a:schemeClr>
                                      </a:solidFill>
                                      <a:latin typeface="Cambria Math" panose="02040503050406030204" pitchFamily="18" charset="0"/>
                                    </a:rPr>
                                  </m:ctrlPr>
                                </m:sSubPr>
                                <m:e>
                                  <m:r>
                                    <m:rPr>
                                      <m:sty m:val="p"/>
                                    </m:rPr>
                                    <a:rPr lang="en-US" altLang="zh-CN" sz="2000" b="0" i="0" smtClean="0">
                                      <a:solidFill>
                                        <a:schemeClr val="accent5">
                                          <a:lumMod val="75000"/>
                                        </a:schemeClr>
                                      </a:solidFill>
                                      <a:latin typeface="Cambria Math" panose="02040503050406030204" pitchFamily="18" charset="0"/>
                                    </a:rPr>
                                    <m:t>D</m:t>
                                  </m:r>
                                </m:e>
                                <m:sub>
                                  <m:r>
                                    <a:rPr lang="en-US" altLang="zh-CN" sz="2000" b="0" i="1" smtClean="0">
                                      <a:solidFill>
                                        <a:schemeClr val="accent5">
                                          <a:lumMod val="75000"/>
                                        </a:schemeClr>
                                      </a:solidFill>
                                      <a:latin typeface="Cambria Math" panose="02040503050406030204" pitchFamily="18" charset="0"/>
                                    </a:rPr>
                                    <m:t>𝑚</m:t>
                                  </m:r>
                                  <m:r>
                                    <a:rPr lang="en-US" altLang="zh-CN" sz="2000" b="0" i="1" smtClean="0">
                                      <a:solidFill>
                                        <a:schemeClr val="accent5">
                                          <a:lumMod val="75000"/>
                                        </a:schemeClr>
                                      </a:solidFill>
                                      <a:latin typeface="Cambria Math" panose="02040503050406030204" pitchFamily="18" charset="0"/>
                                    </a:rPr>
                                    <m:t>−1</m:t>
                                  </m:r>
                                </m:sub>
                              </m:sSub>
                              <m:r>
                                <a:rPr lang="en-US" altLang="zh-CN" sz="2000" b="0" i="1" smtClean="0">
                                  <a:solidFill>
                                    <a:schemeClr val="accent5">
                                      <a:lumMod val="75000"/>
                                    </a:schemeClr>
                                  </a:solidFill>
                                  <a:latin typeface="Cambria Math" panose="02040503050406030204" pitchFamily="18" charset="0"/>
                                </a:rPr>
                                <m:t> ~</m:t>
                              </m:r>
                            </m:oMath>
                          </a14:m>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000" i="1" smtClean="0">
                                      <a:solidFill>
                                        <a:schemeClr val="accent5">
                                          <a:lumMod val="75000"/>
                                        </a:schemeClr>
                                      </a:solidFill>
                                      <a:latin typeface="Cambria Math" panose="02040503050406030204" pitchFamily="18" charset="0"/>
                                    </a:rPr>
                                  </m:ctrlPr>
                                </m:sSubPr>
                                <m:e>
                                  <m:r>
                                    <m:rPr>
                                      <m:sty m:val="p"/>
                                    </m:rPr>
                                    <a:rPr lang="en-US" altLang="zh-CN" sz="2000" b="0" i="0" smtClean="0">
                                      <a:solidFill>
                                        <a:schemeClr val="accent5">
                                          <a:lumMod val="75000"/>
                                        </a:schemeClr>
                                      </a:solidFill>
                                      <a:latin typeface="Cambria Math" panose="02040503050406030204" pitchFamily="18" charset="0"/>
                                    </a:rPr>
                                    <m:t>D</m:t>
                                  </m:r>
                                </m:e>
                                <m:sub>
                                  <m:r>
                                    <a:rPr lang="en-US" altLang="zh-CN" sz="2000" b="0" i="1" smtClean="0">
                                      <a:solidFill>
                                        <a:schemeClr val="accent5">
                                          <a:lumMod val="75000"/>
                                        </a:schemeClr>
                                      </a:solidFill>
                                      <a:latin typeface="Cambria Math" panose="02040503050406030204" pitchFamily="18" charset="0"/>
                                    </a:rPr>
                                    <m:t>0</m:t>
                                  </m:r>
                                </m:sub>
                              </m:sSub>
                            </m:oMath>
                          </a14:m>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398941163"/>
                      </a:ext>
                    </a:extLst>
                  </a:tr>
                  <a:tr h="370840">
                    <a:tc>
                      <a:txBody>
                        <a:bodyPr/>
                        <a:lstStyle/>
                        <a:p>
                          <a:pPr algn="ctr"/>
                          <a:r>
                            <a:rPr lang="zh-CN" altLang="en-US" sz="2000" dirty="0">
                              <a:latin typeface="微软雅黑" panose="020B0503020204020204" pitchFamily="34" charset="-122"/>
                              <a:ea typeface="微软雅黑" panose="020B0503020204020204" pitchFamily="34" charset="-122"/>
                            </a:rPr>
                            <a:t>不工作</a:t>
                          </a: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x</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x</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高阻</a:t>
                          </a:r>
                        </a:p>
                      </a:txBody>
                      <a:tcPr anchor="ctr"/>
                    </a:tc>
                    <a:extLst>
                      <a:ext uri="{0D108BD9-81ED-4DB2-BD59-A6C34878D82A}">
                        <a16:rowId xmlns:a16="http://schemas.microsoft.com/office/drawing/2014/main" val="2163034834"/>
                      </a:ext>
                    </a:extLst>
                  </a:tr>
                  <a:tr h="370840">
                    <a:tc>
                      <a:txBody>
                        <a:bodyPr/>
                        <a:lstStyle/>
                        <a:p>
                          <a:pPr algn="ctr"/>
                          <a:r>
                            <a:rPr lang="zh-CN" altLang="en-US" sz="2000" dirty="0">
                              <a:latin typeface="微软雅黑" panose="020B0503020204020204" pitchFamily="34" charset="-122"/>
                              <a:ea typeface="微软雅黑" panose="020B0503020204020204" pitchFamily="34" charset="-122"/>
                            </a:rPr>
                            <a:t>读</a:t>
                          </a: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数据输出</a:t>
                          </a:r>
                        </a:p>
                      </a:txBody>
                      <a:tcPr anchor="ctr"/>
                    </a:tc>
                    <a:extLst>
                      <a:ext uri="{0D108BD9-81ED-4DB2-BD59-A6C34878D82A}">
                        <a16:rowId xmlns:a16="http://schemas.microsoft.com/office/drawing/2014/main" val="1182338209"/>
                      </a:ext>
                    </a:extLst>
                  </a:tr>
                  <a:tr h="370840">
                    <a:tc>
                      <a:txBody>
                        <a:bodyPr/>
                        <a:lstStyle/>
                        <a:p>
                          <a:pPr algn="ctr"/>
                          <a:r>
                            <a:rPr lang="zh-CN" altLang="en-US" sz="2000" dirty="0">
                              <a:latin typeface="微软雅黑" panose="020B0503020204020204" pitchFamily="34" charset="-122"/>
                              <a:ea typeface="微软雅黑" panose="020B0503020204020204" pitchFamily="34" charset="-122"/>
                            </a:rPr>
                            <a:t>写</a:t>
                          </a: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x</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数据输入</a:t>
                          </a:r>
                        </a:p>
                      </a:txBody>
                      <a:tcPr anchor="ctr"/>
                    </a:tc>
                    <a:extLst>
                      <a:ext uri="{0D108BD9-81ED-4DB2-BD59-A6C34878D82A}">
                        <a16:rowId xmlns:a16="http://schemas.microsoft.com/office/drawing/2014/main" val="1935070963"/>
                      </a:ext>
                    </a:extLst>
                  </a:tr>
                  <a:tr h="370840">
                    <a:tc>
                      <a:txBody>
                        <a:bodyPr/>
                        <a:lstStyle/>
                        <a:p>
                          <a:pPr algn="ctr"/>
                          <a:r>
                            <a:rPr lang="zh-CN" altLang="en-US" sz="2000" dirty="0">
                              <a:latin typeface="微软雅黑" panose="020B0503020204020204" pitchFamily="34" charset="-122"/>
                              <a:ea typeface="微软雅黑" panose="020B0503020204020204" pitchFamily="34" charset="-122"/>
                            </a:rPr>
                            <a:t>输出无效</a:t>
                          </a: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高阻</a:t>
                          </a:r>
                        </a:p>
                      </a:txBody>
                      <a:tcPr anchor="ctr"/>
                    </a:tc>
                    <a:extLst>
                      <a:ext uri="{0D108BD9-81ED-4DB2-BD59-A6C34878D82A}">
                        <a16:rowId xmlns:a16="http://schemas.microsoft.com/office/drawing/2014/main" val="2280956055"/>
                      </a:ext>
                    </a:extLst>
                  </a:tr>
                </a:tbl>
              </a:graphicData>
            </a:graphic>
          </p:graphicFrame>
        </mc:Choice>
        <mc:Fallback xmlns="">
          <p:graphicFrame>
            <p:nvGraphicFramePr>
              <p:cNvPr id="61" name="表格 60">
                <a:extLst>
                  <a:ext uri="{FF2B5EF4-FFF2-40B4-BE49-F238E27FC236}">
                    <a16:creationId xmlns:a16="http://schemas.microsoft.com/office/drawing/2014/main" id="{9BBF4C0A-62D1-92A6-B87D-FA0A3497FB31}"/>
                  </a:ext>
                </a:extLst>
              </p:cNvPr>
              <p:cNvGraphicFramePr>
                <a:graphicFrameLocks noGrp="1"/>
              </p:cNvGraphicFramePr>
              <p:nvPr>
                <p:extLst>
                  <p:ext uri="{D42A27DB-BD31-4B8C-83A1-F6EECF244321}">
                    <p14:modId xmlns:p14="http://schemas.microsoft.com/office/powerpoint/2010/main" val="2386843033"/>
                  </p:ext>
                </p:extLst>
              </p:nvPr>
            </p:nvGraphicFramePr>
            <p:xfrm>
              <a:off x="828000" y="4554000"/>
              <a:ext cx="7062480" cy="1981899"/>
            </p:xfrm>
            <a:graphic>
              <a:graphicData uri="http://schemas.openxmlformats.org/drawingml/2006/table">
                <a:tbl>
                  <a:tblPr firstRow="1" bandRow="1">
                    <a:tableStyleId>{5940675A-B579-460E-94D1-54222C63F5DA}</a:tableStyleId>
                  </a:tblPr>
                  <a:tblGrid>
                    <a:gridCol w="1412496">
                      <a:extLst>
                        <a:ext uri="{9D8B030D-6E8A-4147-A177-3AD203B41FA5}">
                          <a16:colId xmlns:a16="http://schemas.microsoft.com/office/drawing/2014/main" val="2011399670"/>
                        </a:ext>
                      </a:extLst>
                    </a:gridCol>
                    <a:gridCol w="1412496">
                      <a:extLst>
                        <a:ext uri="{9D8B030D-6E8A-4147-A177-3AD203B41FA5}">
                          <a16:colId xmlns:a16="http://schemas.microsoft.com/office/drawing/2014/main" val="2868534064"/>
                        </a:ext>
                      </a:extLst>
                    </a:gridCol>
                    <a:gridCol w="1412496">
                      <a:extLst>
                        <a:ext uri="{9D8B030D-6E8A-4147-A177-3AD203B41FA5}">
                          <a16:colId xmlns:a16="http://schemas.microsoft.com/office/drawing/2014/main" val="3438661689"/>
                        </a:ext>
                      </a:extLst>
                    </a:gridCol>
                    <a:gridCol w="1412496">
                      <a:extLst>
                        <a:ext uri="{9D8B030D-6E8A-4147-A177-3AD203B41FA5}">
                          <a16:colId xmlns:a16="http://schemas.microsoft.com/office/drawing/2014/main" val="2352589893"/>
                        </a:ext>
                      </a:extLst>
                    </a:gridCol>
                    <a:gridCol w="1412496">
                      <a:extLst>
                        <a:ext uri="{9D8B030D-6E8A-4147-A177-3AD203B41FA5}">
                          <a16:colId xmlns:a16="http://schemas.microsoft.com/office/drawing/2014/main" val="2042664130"/>
                        </a:ext>
                      </a:extLst>
                    </a:gridCol>
                  </a:tblGrid>
                  <a:tr h="396939">
                    <a:tc>
                      <a:txBody>
                        <a:bodyPr/>
                        <a:lstStyle/>
                        <a:p>
                          <a:pPr algn="ctr"/>
                          <a:r>
                            <a:rPr lang="zh-CN" altLang="en-US" sz="2000" dirty="0">
                              <a:latin typeface="微软雅黑" panose="020B0503020204020204" pitchFamily="34" charset="-122"/>
                              <a:ea typeface="微软雅黑" panose="020B0503020204020204" pitchFamily="34" charset="-122"/>
                            </a:rPr>
                            <a:t>工作模式</a:t>
                          </a:r>
                        </a:p>
                      </a:txBody>
                      <a:tcPr anchor="ctr"/>
                    </a:tc>
                    <a:tc>
                      <a:txBody>
                        <a:bodyPr/>
                        <a:lstStyle/>
                        <a:p>
                          <a:endParaRPr lang="zh-CN"/>
                        </a:p>
                      </a:txBody>
                      <a:tcPr anchor="ctr">
                        <a:blipFill>
                          <a:blip r:embed="rId4"/>
                          <a:stretch>
                            <a:fillRect l="-100431" t="-7692" r="-300862" b="-427692"/>
                          </a:stretch>
                        </a:blipFill>
                      </a:tcPr>
                    </a:tc>
                    <a:tc>
                      <a:txBody>
                        <a:bodyPr/>
                        <a:lstStyle/>
                        <a:p>
                          <a:endParaRPr lang="zh-CN"/>
                        </a:p>
                      </a:txBody>
                      <a:tcPr anchor="ctr">
                        <a:blipFill>
                          <a:blip r:embed="rId4"/>
                          <a:stretch>
                            <a:fillRect l="-200431" t="-7692" r="-200862" b="-427692"/>
                          </a:stretch>
                        </a:blipFill>
                      </a:tcPr>
                    </a:tc>
                    <a:tc>
                      <a:txBody>
                        <a:bodyPr/>
                        <a:lstStyle/>
                        <a:p>
                          <a:endParaRPr lang="zh-CN"/>
                        </a:p>
                      </a:txBody>
                      <a:tcPr anchor="ctr">
                        <a:blipFill>
                          <a:blip r:embed="rId4"/>
                          <a:stretch>
                            <a:fillRect l="-300431" t="-7692" r="-100862" b="-427692"/>
                          </a:stretch>
                        </a:blipFill>
                      </a:tcPr>
                    </a:tc>
                    <a:tc>
                      <a:txBody>
                        <a:bodyPr/>
                        <a:lstStyle/>
                        <a:p>
                          <a:endParaRPr lang="zh-CN"/>
                        </a:p>
                      </a:txBody>
                      <a:tcPr anchor="ctr">
                        <a:blipFill>
                          <a:blip r:embed="rId4"/>
                          <a:stretch>
                            <a:fillRect l="-400431" t="-7692" r="-862" b="-427692"/>
                          </a:stretch>
                        </a:blipFill>
                      </a:tcPr>
                    </a:tc>
                    <a:extLst>
                      <a:ext uri="{0D108BD9-81ED-4DB2-BD59-A6C34878D82A}">
                        <a16:rowId xmlns:a16="http://schemas.microsoft.com/office/drawing/2014/main" val="2398941163"/>
                      </a:ext>
                    </a:extLst>
                  </a:tr>
                  <a:tr h="396240">
                    <a:tc>
                      <a:txBody>
                        <a:bodyPr/>
                        <a:lstStyle/>
                        <a:p>
                          <a:pPr algn="ctr"/>
                          <a:r>
                            <a:rPr lang="zh-CN" altLang="en-US" sz="2000" dirty="0">
                              <a:latin typeface="微软雅黑" panose="020B0503020204020204" pitchFamily="34" charset="-122"/>
                              <a:ea typeface="微软雅黑" panose="020B0503020204020204" pitchFamily="34" charset="-122"/>
                            </a:rPr>
                            <a:t>不工作</a:t>
                          </a: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x</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x</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高阻</a:t>
                          </a:r>
                        </a:p>
                      </a:txBody>
                      <a:tcPr anchor="ctr"/>
                    </a:tc>
                    <a:extLst>
                      <a:ext uri="{0D108BD9-81ED-4DB2-BD59-A6C34878D82A}">
                        <a16:rowId xmlns:a16="http://schemas.microsoft.com/office/drawing/2014/main" val="2163034834"/>
                      </a:ext>
                    </a:extLst>
                  </a:tr>
                  <a:tr h="396240">
                    <a:tc>
                      <a:txBody>
                        <a:bodyPr/>
                        <a:lstStyle/>
                        <a:p>
                          <a:pPr algn="ctr"/>
                          <a:r>
                            <a:rPr lang="zh-CN" altLang="en-US" sz="2000" dirty="0">
                              <a:latin typeface="微软雅黑" panose="020B0503020204020204" pitchFamily="34" charset="-122"/>
                              <a:ea typeface="微软雅黑" panose="020B0503020204020204" pitchFamily="34" charset="-122"/>
                            </a:rPr>
                            <a:t>读</a:t>
                          </a: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数据输出</a:t>
                          </a:r>
                        </a:p>
                      </a:txBody>
                      <a:tcPr anchor="ctr"/>
                    </a:tc>
                    <a:extLst>
                      <a:ext uri="{0D108BD9-81ED-4DB2-BD59-A6C34878D82A}">
                        <a16:rowId xmlns:a16="http://schemas.microsoft.com/office/drawing/2014/main" val="1182338209"/>
                      </a:ext>
                    </a:extLst>
                  </a:tr>
                  <a:tr h="396240">
                    <a:tc>
                      <a:txBody>
                        <a:bodyPr/>
                        <a:lstStyle/>
                        <a:p>
                          <a:pPr algn="ctr"/>
                          <a:r>
                            <a:rPr lang="zh-CN" altLang="en-US" sz="2000" dirty="0">
                              <a:latin typeface="微软雅黑" panose="020B0503020204020204" pitchFamily="34" charset="-122"/>
                              <a:ea typeface="微软雅黑" panose="020B0503020204020204" pitchFamily="34" charset="-122"/>
                            </a:rPr>
                            <a:t>写</a:t>
                          </a: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x</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数据输入</a:t>
                          </a:r>
                        </a:p>
                      </a:txBody>
                      <a:tcPr anchor="ctr"/>
                    </a:tc>
                    <a:extLst>
                      <a:ext uri="{0D108BD9-81ED-4DB2-BD59-A6C34878D82A}">
                        <a16:rowId xmlns:a16="http://schemas.microsoft.com/office/drawing/2014/main" val="1935070963"/>
                      </a:ext>
                    </a:extLst>
                  </a:tr>
                  <a:tr h="396240">
                    <a:tc>
                      <a:txBody>
                        <a:bodyPr/>
                        <a:lstStyle/>
                        <a:p>
                          <a:pPr algn="ctr"/>
                          <a:r>
                            <a:rPr lang="zh-CN" altLang="en-US" sz="2000" dirty="0">
                              <a:latin typeface="微软雅黑" panose="020B0503020204020204" pitchFamily="34" charset="-122"/>
                              <a:ea typeface="微软雅黑" panose="020B0503020204020204" pitchFamily="34" charset="-122"/>
                            </a:rPr>
                            <a:t>输出无效</a:t>
                          </a: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高阻</a:t>
                          </a:r>
                        </a:p>
                      </a:txBody>
                      <a:tcPr anchor="ctr"/>
                    </a:tc>
                    <a:extLst>
                      <a:ext uri="{0D108BD9-81ED-4DB2-BD59-A6C34878D82A}">
                        <a16:rowId xmlns:a16="http://schemas.microsoft.com/office/drawing/2014/main" val="2280956055"/>
                      </a:ext>
                    </a:extLst>
                  </a:tr>
                </a:tbl>
              </a:graphicData>
            </a:graphic>
          </p:graphicFrame>
        </mc:Fallback>
      </mc:AlternateContent>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FE9015D6-2E9A-B09E-7D77-4B0E46E06533}"/>
                  </a:ext>
                </a:extLst>
              </p:cNvPr>
              <p:cNvSpPr txBox="1"/>
              <p:nvPr/>
            </p:nvSpPr>
            <p:spPr>
              <a:xfrm>
                <a:off x="9180000" y="4429111"/>
                <a:ext cx="2718401" cy="400110"/>
              </a:xfrm>
              <a:prstGeom prst="rect">
                <a:avLst/>
              </a:prstGeom>
              <a:noFill/>
            </p:spPr>
            <p:txBody>
              <a:bodyPr wrap="square">
                <a:spAutoFit/>
              </a:bodyPr>
              <a:lstStyle/>
              <a:p>
                <a:r>
                  <a:rPr kumimoji="1" lang="zh-CN" altLang="en-US" sz="2000" dirty="0">
                    <a:solidFill>
                      <a:srgbClr val="0000FF"/>
                    </a:solidFill>
                    <a:latin typeface="微软雅黑" panose="020B0503020204020204" pitchFamily="34" charset="-122"/>
                    <a:ea typeface="微软雅黑" panose="020B0503020204020204" pitchFamily="34" charset="-122"/>
                  </a:rPr>
                  <a:t>存储容量：</a:t>
                </a:r>
                <a14:m>
                  <m:oMath xmlns:m="http://schemas.openxmlformats.org/officeDocument/2006/math">
                    <m:sSup>
                      <m:sSupPr>
                        <m:ctrlPr>
                          <a:rPr kumimoji="1" lang="en-US" altLang="zh-CN" sz="2000" i="1" smtClean="0">
                            <a:solidFill>
                              <a:srgbClr val="0000FF"/>
                            </a:solidFill>
                            <a:latin typeface="Cambria Math" panose="02040503050406030204" pitchFamily="18" charset="0"/>
                            <a:ea typeface="微软雅黑" panose="020B0503020204020204" pitchFamily="34" charset="-122"/>
                          </a:rPr>
                        </m:ctrlPr>
                      </m:sSupPr>
                      <m:e>
                        <m:r>
                          <a:rPr kumimoji="1" lang="en-US" altLang="zh-CN" sz="2000" i="1">
                            <a:solidFill>
                              <a:srgbClr val="0000FF"/>
                            </a:solidFill>
                            <a:latin typeface="Cambria Math" panose="02040503050406030204" pitchFamily="18" charset="0"/>
                            <a:ea typeface="微软雅黑" panose="020B0503020204020204" pitchFamily="34" charset="-122"/>
                          </a:rPr>
                          <m:t>2</m:t>
                        </m:r>
                      </m:e>
                      <m:sup>
                        <m:r>
                          <a:rPr kumimoji="1" lang="en-US" altLang="zh-CN" sz="2000" b="0" i="1" smtClean="0">
                            <a:solidFill>
                              <a:srgbClr val="0000FF"/>
                            </a:solidFill>
                            <a:latin typeface="Cambria Math" panose="02040503050406030204" pitchFamily="18" charset="0"/>
                            <a:ea typeface="微软雅黑" panose="020B0503020204020204" pitchFamily="34" charset="-122"/>
                          </a:rPr>
                          <m:t>𝑛</m:t>
                        </m:r>
                      </m:sup>
                    </m:sSup>
                    <m:r>
                      <a:rPr kumimoji="1" lang="en-US" altLang="zh-CN" sz="2000" i="1" smtClean="0">
                        <a:solidFill>
                          <a:srgbClr val="0000FF"/>
                        </a:solidFill>
                        <a:latin typeface="Cambria Math" panose="02040503050406030204" pitchFamily="18" charset="0"/>
                        <a:ea typeface="Cambria Math" panose="02040503050406030204" pitchFamily="18" charset="0"/>
                      </a:rPr>
                      <m:t>×</m:t>
                    </m:r>
                    <m:r>
                      <a:rPr kumimoji="1" lang="en-US" altLang="zh-CN" sz="2000" b="0" i="1" smtClean="0">
                        <a:solidFill>
                          <a:srgbClr val="0000FF"/>
                        </a:solidFill>
                        <a:latin typeface="Cambria Math" panose="02040503050406030204" pitchFamily="18" charset="0"/>
                        <a:ea typeface="Cambria Math" panose="02040503050406030204" pitchFamily="18" charset="0"/>
                      </a:rPr>
                      <m:t>𝑚</m:t>
                    </m:r>
                  </m:oMath>
                </a14:m>
                <a:r>
                  <a:rPr lang="zh-CN" altLang="en-US" sz="2000" dirty="0">
                    <a:solidFill>
                      <a:srgbClr val="0000FF"/>
                    </a:solidFill>
                  </a:rPr>
                  <a:t> 位</a:t>
                </a:r>
              </a:p>
            </p:txBody>
          </p:sp>
        </mc:Choice>
        <mc:Fallback xmlns="">
          <p:sp>
            <p:nvSpPr>
              <p:cNvPr id="63" name="文本框 62">
                <a:extLst>
                  <a:ext uri="{FF2B5EF4-FFF2-40B4-BE49-F238E27FC236}">
                    <a16:creationId xmlns:a16="http://schemas.microsoft.com/office/drawing/2014/main" id="{FE9015D6-2E9A-B09E-7D77-4B0E46E06533}"/>
                  </a:ext>
                </a:extLst>
              </p:cNvPr>
              <p:cNvSpPr txBox="1">
                <a:spLocks noRot="1" noChangeAspect="1" noMove="1" noResize="1" noEditPoints="1" noAdjustHandles="1" noChangeArrowheads="1" noChangeShapeType="1" noTextEdit="1"/>
              </p:cNvSpPr>
              <p:nvPr/>
            </p:nvSpPr>
            <p:spPr>
              <a:xfrm>
                <a:off x="9180000" y="4429111"/>
                <a:ext cx="2718401" cy="400110"/>
              </a:xfrm>
              <a:prstGeom prst="rect">
                <a:avLst/>
              </a:prstGeom>
              <a:blipFill>
                <a:blip r:embed="rId5"/>
                <a:stretch>
                  <a:fillRect l="-2466" t="-10769" b="-27692"/>
                </a:stretch>
              </a:blipFill>
            </p:spPr>
            <p:txBody>
              <a:bodyPr/>
              <a:lstStyle/>
              <a:p>
                <a:r>
                  <a:rPr lang="zh-CN" altLang="en-US">
                    <a:noFill/>
                  </a:rPr>
                  <a:t> </a:t>
                </a:r>
              </a:p>
            </p:txBody>
          </p:sp>
        </mc:Fallback>
      </mc:AlternateContent>
      <p:sp>
        <p:nvSpPr>
          <p:cNvPr id="64" name="文本框 63">
            <a:extLst>
              <a:ext uri="{FF2B5EF4-FFF2-40B4-BE49-F238E27FC236}">
                <a16:creationId xmlns:a16="http://schemas.microsoft.com/office/drawing/2014/main" id="{6749769C-0C81-747C-000D-25E083152A39}"/>
              </a:ext>
            </a:extLst>
          </p:cNvPr>
          <p:cNvSpPr txBox="1"/>
          <p:nvPr/>
        </p:nvSpPr>
        <p:spPr>
          <a:xfrm>
            <a:off x="828000" y="4120565"/>
            <a:ext cx="7062479" cy="430887"/>
          </a:xfrm>
          <a:prstGeom prst="rect">
            <a:avLst/>
          </a:prstGeom>
          <a:noFill/>
        </p:spPr>
        <p:txBody>
          <a:bodyPr wrap="square">
            <a:spAutoFit/>
          </a:bodyPr>
          <a:lstStyle/>
          <a:p>
            <a:pPr algn="ctr"/>
            <a:r>
              <a:rPr kumimoji="1" lang="zh-CN" altLang="en-US" sz="2200" dirty="0">
                <a:latin typeface="微软雅黑" panose="020B0503020204020204" pitchFamily="34" charset="-122"/>
                <a:ea typeface="微软雅黑" panose="020B0503020204020204" pitchFamily="34" charset="-122"/>
              </a:rPr>
              <a:t>功能表</a:t>
            </a:r>
            <a:endParaRPr lang="zh-CN" altLang="en-US" sz="2200" dirty="0"/>
          </a:p>
        </p:txBody>
      </p:sp>
      <p:grpSp>
        <p:nvGrpSpPr>
          <p:cNvPr id="11" name="组合 10">
            <a:extLst>
              <a:ext uri="{FF2B5EF4-FFF2-40B4-BE49-F238E27FC236}">
                <a16:creationId xmlns:a16="http://schemas.microsoft.com/office/drawing/2014/main" id="{E2C02260-78BC-EA08-8306-2B2998CD8B41}"/>
              </a:ext>
            </a:extLst>
          </p:cNvPr>
          <p:cNvGrpSpPr/>
          <p:nvPr/>
        </p:nvGrpSpPr>
        <p:grpSpPr>
          <a:xfrm>
            <a:off x="7776000" y="936000"/>
            <a:ext cx="4285208" cy="3168000"/>
            <a:chOff x="7810792" y="951155"/>
            <a:chExt cx="4285208" cy="3168000"/>
          </a:xfrm>
        </p:grpSpPr>
        <p:sp>
          <p:nvSpPr>
            <p:cNvPr id="10" name="矩形 9">
              <a:extLst>
                <a:ext uri="{FF2B5EF4-FFF2-40B4-BE49-F238E27FC236}">
                  <a16:creationId xmlns:a16="http://schemas.microsoft.com/office/drawing/2014/main" id="{8BB73C74-57ED-7CB7-3D5C-67A5D7B26C90}"/>
                </a:ext>
              </a:extLst>
            </p:cNvPr>
            <p:cNvSpPr/>
            <p:nvPr/>
          </p:nvSpPr>
          <p:spPr>
            <a:xfrm>
              <a:off x="8856000" y="951155"/>
              <a:ext cx="1980000" cy="3168000"/>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panose="020B0503020204020204" pitchFamily="34" charset="-122"/>
                  <a:ea typeface="微软雅黑" panose="020B0503020204020204" pitchFamily="34" charset="-122"/>
                </a:rPr>
                <a:t>SRAM</a:t>
              </a:r>
            </a:p>
            <a:p>
              <a:pPr algn="ctr"/>
              <a:r>
                <a:rPr lang="zh-CN" altLang="en-US" dirty="0">
                  <a:solidFill>
                    <a:schemeClr val="tx1"/>
                  </a:solidFill>
                  <a:latin typeface="微软雅黑" panose="020B0503020204020204" pitchFamily="34" charset="-122"/>
                  <a:ea typeface="微软雅黑" panose="020B0503020204020204" pitchFamily="34" charset="-122"/>
                </a:rPr>
                <a:t>芯片</a:t>
              </a:r>
            </a:p>
          </p:txBody>
        </p:sp>
        <p:cxnSp>
          <p:nvCxnSpPr>
            <p:cNvPr id="12" name="直接连接符 11">
              <a:extLst>
                <a:ext uri="{FF2B5EF4-FFF2-40B4-BE49-F238E27FC236}">
                  <a16:creationId xmlns:a16="http://schemas.microsoft.com/office/drawing/2014/main" id="{15AD25EB-1B6E-ECCC-DD3D-E1CA7A039CF8}"/>
                </a:ext>
              </a:extLst>
            </p:cNvPr>
            <p:cNvCxnSpPr>
              <a:cxnSpLocks/>
            </p:cNvCxnSpPr>
            <p:nvPr/>
          </p:nvCxnSpPr>
          <p:spPr>
            <a:xfrm>
              <a:off x="10836000" y="1959155"/>
              <a:ext cx="43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3181E88C-7BAD-CB44-A2DC-88116585D5D5}"/>
                </a:ext>
              </a:extLst>
            </p:cNvPr>
            <p:cNvCxnSpPr>
              <a:cxnSpLocks/>
            </p:cNvCxnSpPr>
            <p:nvPr/>
          </p:nvCxnSpPr>
          <p:spPr>
            <a:xfrm>
              <a:off x="10836000" y="3075155"/>
              <a:ext cx="43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07F385DA-AC27-B782-7051-B918D2A1CA99}"/>
                    </a:ext>
                  </a:extLst>
                </p:cNvPr>
                <p:cNvSpPr txBox="1"/>
                <p:nvPr/>
              </p:nvSpPr>
              <p:spPr>
                <a:xfrm>
                  <a:off x="10044000" y="1779155"/>
                  <a:ext cx="792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D</m:t>
                            </m:r>
                          </m:e>
                          <m:sub>
                            <m:r>
                              <a:rPr lang="en-US" altLang="zh-CN" sz="2400" b="0" i="1" smtClean="0">
                                <a:solidFill>
                                  <a:schemeClr val="tx1"/>
                                </a:solidFill>
                                <a:latin typeface="Cambria Math" panose="02040503050406030204" pitchFamily="18" charset="0"/>
                              </a:rPr>
                              <m:t>𝑚</m:t>
                            </m:r>
                            <m:r>
                              <a:rPr lang="en-US" altLang="zh-CN" sz="2400" b="0" i="1" smtClean="0">
                                <a:solidFill>
                                  <a:schemeClr val="tx1"/>
                                </a:solidFill>
                                <a:latin typeface="Cambria Math" panose="02040503050406030204" pitchFamily="18" charset="0"/>
                              </a:rPr>
                              <m:t>−1</m:t>
                            </m:r>
                          </m:sub>
                        </m:sSub>
                      </m:oMath>
                    </m:oMathPara>
                  </a14:m>
                  <a:endParaRPr lang="zh-CN" altLang="en-US" sz="2400" dirty="0">
                    <a:solidFill>
                      <a:schemeClr val="tx1"/>
                    </a:solidFill>
                  </a:endParaRPr>
                </a:p>
              </p:txBody>
            </p:sp>
          </mc:Choice>
          <mc:Fallback xmlns="">
            <p:sp>
              <p:nvSpPr>
                <p:cNvPr id="18" name="文本框 17">
                  <a:extLst>
                    <a:ext uri="{FF2B5EF4-FFF2-40B4-BE49-F238E27FC236}">
                      <a16:creationId xmlns:a16="http://schemas.microsoft.com/office/drawing/2014/main" id="{07F385DA-AC27-B782-7051-B918D2A1CA99}"/>
                    </a:ext>
                  </a:extLst>
                </p:cNvPr>
                <p:cNvSpPr txBox="1">
                  <a:spLocks noRot="1" noChangeAspect="1" noMove="1" noResize="1" noEditPoints="1" noAdjustHandles="1" noChangeArrowheads="1" noChangeShapeType="1" noTextEdit="1"/>
                </p:cNvSpPr>
                <p:nvPr/>
              </p:nvSpPr>
              <p:spPr>
                <a:xfrm>
                  <a:off x="10044000" y="1779155"/>
                  <a:ext cx="792000" cy="360000"/>
                </a:xfrm>
                <a:prstGeom prst="rect">
                  <a:avLst/>
                </a:prstGeom>
                <a:blipFill>
                  <a:blip r:embed="rId6"/>
                  <a:stretch>
                    <a:fillRect l="-9231" r="-3077"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7E0EE0C0-84CA-3F97-ECEB-CCE35078A3DE}"/>
                    </a:ext>
                  </a:extLst>
                </p:cNvPr>
                <p:cNvSpPr txBox="1"/>
                <p:nvPr/>
              </p:nvSpPr>
              <p:spPr>
                <a:xfrm>
                  <a:off x="10368000" y="2895155"/>
                  <a:ext cx="468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latin typeface="Cambria Math" panose="02040503050406030204" pitchFamily="18" charset="0"/>
                              </a:rPr>
                              <m:t>D</m:t>
                            </m:r>
                          </m:e>
                          <m:sub>
                            <m:r>
                              <a:rPr lang="en-US" altLang="zh-CN" sz="2400" b="0" i="1" smtClean="0">
                                <a:latin typeface="Cambria Math" panose="02040503050406030204" pitchFamily="18" charset="0"/>
                              </a:rPr>
                              <m:t>0</m:t>
                            </m:r>
                          </m:sub>
                        </m:sSub>
                      </m:oMath>
                    </m:oMathPara>
                  </a14:m>
                  <a:endParaRPr lang="zh-CN" altLang="en-US" sz="2400" dirty="0">
                    <a:solidFill>
                      <a:schemeClr val="tx1"/>
                    </a:solidFill>
                  </a:endParaRPr>
                </a:p>
              </p:txBody>
            </p:sp>
          </mc:Choice>
          <mc:Fallback xmlns="">
            <p:sp>
              <p:nvSpPr>
                <p:cNvPr id="20" name="文本框 19">
                  <a:extLst>
                    <a:ext uri="{FF2B5EF4-FFF2-40B4-BE49-F238E27FC236}">
                      <a16:creationId xmlns:a16="http://schemas.microsoft.com/office/drawing/2014/main" id="{7E0EE0C0-84CA-3F97-ECEB-CCE35078A3DE}"/>
                    </a:ext>
                  </a:extLst>
                </p:cNvPr>
                <p:cNvSpPr txBox="1">
                  <a:spLocks noRot="1" noChangeAspect="1" noMove="1" noResize="1" noEditPoints="1" noAdjustHandles="1" noChangeArrowheads="1" noChangeShapeType="1" noTextEdit="1"/>
                </p:cNvSpPr>
                <p:nvPr/>
              </p:nvSpPr>
              <p:spPr>
                <a:xfrm>
                  <a:off x="10368000" y="2895155"/>
                  <a:ext cx="468000" cy="360000"/>
                </a:xfrm>
                <a:prstGeom prst="rect">
                  <a:avLst/>
                </a:prstGeom>
                <a:blipFill>
                  <a:blip r:embed="rId7"/>
                  <a:stretch>
                    <a:fillRect l="-9091" b="-16949"/>
                  </a:stretch>
                </a:blipFill>
              </p:spPr>
              <p:txBody>
                <a:bodyPr/>
                <a:lstStyle/>
                <a:p>
                  <a:r>
                    <a:rPr lang="zh-CN" altLang="en-US">
                      <a:noFill/>
                    </a:rPr>
                    <a:t> </a:t>
                  </a:r>
                </a:p>
              </p:txBody>
            </p:sp>
          </mc:Fallback>
        </mc:AlternateContent>
        <p:cxnSp>
          <p:nvCxnSpPr>
            <p:cNvPr id="25" name="直接连接符 24">
              <a:extLst>
                <a:ext uri="{FF2B5EF4-FFF2-40B4-BE49-F238E27FC236}">
                  <a16:creationId xmlns:a16="http://schemas.microsoft.com/office/drawing/2014/main" id="{5F914475-0A32-E34C-E422-1C651FD72688}"/>
                </a:ext>
              </a:extLst>
            </p:cNvPr>
            <p:cNvCxnSpPr>
              <a:cxnSpLocks/>
            </p:cNvCxnSpPr>
            <p:nvPr/>
          </p:nvCxnSpPr>
          <p:spPr>
            <a:xfrm>
              <a:off x="8639999" y="1311155"/>
              <a:ext cx="2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5F5435F5-57B4-3EBC-8E74-BB6B40CD612F}"/>
                    </a:ext>
                  </a:extLst>
                </p:cNvPr>
                <p:cNvSpPr txBox="1"/>
                <p:nvPr/>
              </p:nvSpPr>
              <p:spPr>
                <a:xfrm>
                  <a:off x="8784000" y="1095155"/>
                  <a:ext cx="90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b="0" i="1" smtClean="0">
                                <a:solidFill>
                                  <a:schemeClr val="tx1"/>
                                </a:solidFill>
                                <a:latin typeface="Cambria Math" panose="02040503050406030204" pitchFamily="18" charset="0"/>
                              </a:rPr>
                              <m:t>𝑛</m:t>
                            </m:r>
                            <m:r>
                              <a:rPr lang="en-US" altLang="zh-CN" sz="2400" b="0" i="1" smtClean="0">
                                <a:solidFill>
                                  <a:schemeClr val="tx1"/>
                                </a:solidFill>
                                <a:latin typeface="Cambria Math" panose="02040503050406030204" pitchFamily="18" charset="0"/>
                              </a:rPr>
                              <m:t>−1</m:t>
                            </m:r>
                          </m:sub>
                        </m:sSub>
                      </m:oMath>
                    </m:oMathPara>
                  </a14:m>
                  <a:endParaRPr lang="zh-CN" altLang="en-US" sz="2400" dirty="0">
                    <a:solidFill>
                      <a:schemeClr val="tx1"/>
                    </a:solidFill>
                  </a:endParaRPr>
                </a:p>
              </p:txBody>
            </p:sp>
          </mc:Choice>
          <mc:Fallback xmlns="">
            <p:sp>
              <p:nvSpPr>
                <p:cNvPr id="28" name="文本框 27">
                  <a:extLst>
                    <a:ext uri="{FF2B5EF4-FFF2-40B4-BE49-F238E27FC236}">
                      <a16:creationId xmlns:a16="http://schemas.microsoft.com/office/drawing/2014/main" id="{5F5435F5-57B4-3EBC-8E74-BB6B40CD612F}"/>
                    </a:ext>
                  </a:extLst>
                </p:cNvPr>
                <p:cNvSpPr txBox="1">
                  <a:spLocks noRot="1" noChangeAspect="1" noMove="1" noResize="1" noEditPoints="1" noAdjustHandles="1" noChangeArrowheads="1" noChangeShapeType="1" noTextEdit="1"/>
                </p:cNvSpPr>
                <p:nvPr/>
              </p:nvSpPr>
              <p:spPr>
                <a:xfrm>
                  <a:off x="8784000" y="1095155"/>
                  <a:ext cx="900000" cy="360000"/>
                </a:xfrm>
                <a:prstGeom prst="rect">
                  <a:avLst/>
                </a:prstGeom>
                <a:blipFill>
                  <a:blip r:embed="rId8"/>
                  <a:stretch>
                    <a:fillRect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DC63BAD0-43BC-D156-D343-DB3F1542918F}"/>
                    </a:ext>
                  </a:extLst>
                </p:cNvPr>
                <p:cNvSpPr txBox="1"/>
                <p:nvPr/>
              </p:nvSpPr>
              <p:spPr>
                <a:xfrm>
                  <a:off x="8820000" y="1455155"/>
                  <a:ext cx="468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schemeClr val="tx1"/>
                            </a:solidFill>
                            <a:latin typeface="Cambria Math" panose="02040503050406030204" pitchFamily="18" charset="0"/>
                          </a:rPr>
                          <m:t>⋮</m:t>
                        </m:r>
                      </m:oMath>
                    </m:oMathPara>
                  </a14:m>
                  <a:endParaRPr lang="zh-CN" altLang="en-US" sz="2400" dirty="0">
                    <a:solidFill>
                      <a:schemeClr val="tx1"/>
                    </a:solidFill>
                  </a:endParaRPr>
                </a:p>
              </p:txBody>
            </p:sp>
          </mc:Choice>
          <mc:Fallback xmlns="">
            <p:sp>
              <p:nvSpPr>
                <p:cNvPr id="29" name="文本框 28">
                  <a:extLst>
                    <a:ext uri="{FF2B5EF4-FFF2-40B4-BE49-F238E27FC236}">
                      <a16:creationId xmlns:a16="http://schemas.microsoft.com/office/drawing/2014/main" id="{DC63BAD0-43BC-D156-D343-DB3F1542918F}"/>
                    </a:ext>
                  </a:extLst>
                </p:cNvPr>
                <p:cNvSpPr txBox="1">
                  <a:spLocks noRot="1" noChangeAspect="1" noMove="1" noResize="1" noEditPoints="1" noAdjustHandles="1" noChangeArrowheads="1" noChangeShapeType="1" noTextEdit="1"/>
                </p:cNvSpPr>
                <p:nvPr/>
              </p:nvSpPr>
              <p:spPr>
                <a:xfrm>
                  <a:off x="8820000" y="1455155"/>
                  <a:ext cx="468000" cy="360000"/>
                </a:xfrm>
                <a:prstGeom prst="rect">
                  <a:avLst/>
                </a:prstGeom>
                <a:blipFill>
                  <a:blip r:embed="rId9"/>
                  <a:stretch>
                    <a:fillRect b="-8475"/>
                  </a:stretch>
                </a:blipFill>
              </p:spPr>
              <p:txBody>
                <a:bodyPr/>
                <a:lstStyle/>
                <a:p>
                  <a:r>
                    <a:rPr lang="zh-CN" altLang="en-US">
                      <a:noFill/>
                    </a:rPr>
                    <a:t> </a:t>
                  </a:r>
                </a:p>
              </p:txBody>
            </p:sp>
          </mc:Fallback>
        </mc:AlternateContent>
        <p:cxnSp>
          <p:nvCxnSpPr>
            <p:cNvPr id="32" name="直接连接符 31">
              <a:extLst>
                <a:ext uri="{FF2B5EF4-FFF2-40B4-BE49-F238E27FC236}">
                  <a16:creationId xmlns:a16="http://schemas.microsoft.com/office/drawing/2014/main" id="{E351730B-F65B-6DA8-DEA9-79CF1A4A832F}"/>
                </a:ext>
              </a:extLst>
            </p:cNvPr>
            <p:cNvCxnSpPr>
              <a:cxnSpLocks/>
            </p:cNvCxnSpPr>
            <p:nvPr/>
          </p:nvCxnSpPr>
          <p:spPr>
            <a:xfrm>
              <a:off x="8639999" y="2031155"/>
              <a:ext cx="2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571E7F1C-0246-A06D-E332-2FE1F5927B8B}"/>
                    </a:ext>
                  </a:extLst>
                </p:cNvPr>
                <p:cNvSpPr txBox="1"/>
                <p:nvPr/>
              </p:nvSpPr>
              <p:spPr>
                <a:xfrm>
                  <a:off x="8784000" y="1815155"/>
                  <a:ext cx="612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b="0" i="1" smtClean="0">
                                <a:solidFill>
                                  <a:schemeClr val="tx1"/>
                                </a:solidFill>
                                <a:latin typeface="Cambria Math" panose="02040503050406030204" pitchFamily="18" charset="0"/>
                              </a:rPr>
                              <m:t>0</m:t>
                            </m:r>
                          </m:sub>
                        </m:sSub>
                      </m:oMath>
                    </m:oMathPara>
                  </a14:m>
                  <a:endParaRPr lang="zh-CN" altLang="en-US" sz="2400" dirty="0">
                    <a:solidFill>
                      <a:schemeClr val="tx1"/>
                    </a:solidFill>
                  </a:endParaRPr>
                </a:p>
              </p:txBody>
            </p:sp>
          </mc:Choice>
          <mc:Fallback xmlns="">
            <p:sp>
              <p:nvSpPr>
                <p:cNvPr id="33" name="文本框 32">
                  <a:extLst>
                    <a:ext uri="{FF2B5EF4-FFF2-40B4-BE49-F238E27FC236}">
                      <a16:creationId xmlns:a16="http://schemas.microsoft.com/office/drawing/2014/main" id="{571E7F1C-0246-A06D-E332-2FE1F5927B8B}"/>
                    </a:ext>
                  </a:extLst>
                </p:cNvPr>
                <p:cNvSpPr txBox="1">
                  <a:spLocks noRot="1" noChangeAspect="1" noMove="1" noResize="1" noEditPoints="1" noAdjustHandles="1" noChangeArrowheads="1" noChangeShapeType="1" noTextEdit="1"/>
                </p:cNvSpPr>
                <p:nvPr/>
              </p:nvSpPr>
              <p:spPr>
                <a:xfrm>
                  <a:off x="8784000" y="1815155"/>
                  <a:ext cx="612000" cy="360000"/>
                </a:xfrm>
                <a:prstGeom prst="rect">
                  <a:avLst/>
                </a:prstGeom>
                <a:blipFill>
                  <a:blip r:embed="rId10"/>
                  <a:stretch>
                    <a:fillRect b="-16949"/>
                  </a:stretch>
                </a:blipFill>
              </p:spPr>
              <p:txBody>
                <a:bodyPr/>
                <a:lstStyle/>
                <a:p>
                  <a:r>
                    <a:rPr lang="zh-CN" altLang="en-US">
                      <a:noFill/>
                    </a:rPr>
                    <a:t> </a:t>
                  </a:r>
                </a:p>
              </p:txBody>
            </p:sp>
          </mc:Fallback>
        </mc:AlternateContent>
        <p:cxnSp>
          <p:nvCxnSpPr>
            <p:cNvPr id="34" name="直接连接符 33">
              <a:extLst>
                <a:ext uri="{FF2B5EF4-FFF2-40B4-BE49-F238E27FC236}">
                  <a16:creationId xmlns:a16="http://schemas.microsoft.com/office/drawing/2014/main" id="{A813F8FA-18EC-8D54-2E3D-106A84F149EB}"/>
                </a:ext>
              </a:extLst>
            </p:cNvPr>
            <p:cNvCxnSpPr>
              <a:cxnSpLocks/>
            </p:cNvCxnSpPr>
            <p:nvPr/>
          </p:nvCxnSpPr>
          <p:spPr>
            <a:xfrm>
              <a:off x="8351999" y="3363155"/>
              <a:ext cx="50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C49ECA83-0C09-BAF4-C032-0F432962C1BA}"/>
                </a:ext>
              </a:extLst>
            </p:cNvPr>
            <p:cNvCxnSpPr>
              <a:cxnSpLocks/>
            </p:cNvCxnSpPr>
            <p:nvPr/>
          </p:nvCxnSpPr>
          <p:spPr>
            <a:xfrm>
              <a:off x="8351999" y="3795155"/>
              <a:ext cx="50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741186D4-9308-3ED1-716A-A43DC9C4F594}"/>
                    </a:ext>
                  </a:extLst>
                </p:cNvPr>
                <p:cNvSpPr txBox="1"/>
                <p:nvPr/>
              </p:nvSpPr>
              <p:spPr>
                <a:xfrm>
                  <a:off x="8892000" y="3615155"/>
                  <a:ext cx="468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tx1"/>
                            </a:solidFill>
                            <a:latin typeface="Cambria Math" panose="02040503050406030204" pitchFamily="18" charset="0"/>
                          </a:rPr>
                          <m:t>CE</m:t>
                        </m:r>
                      </m:oMath>
                    </m:oMathPara>
                  </a14:m>
                  <a:endParaRPr lang="zh-CN" altLang="en-US" sz="2400" dirty="0">
                    <a:solidFill>
                      <a:schemeClr val="tx1"/>
                    </a:solidFill>
                  </a:endParaRPr>
                </a:p>
              </p:txBody>
            </p:sp>
          </mc:Choice>
          <mc:Fallback xmlns="">
            <p:sp>
              <p:nvSpPr>
                <p:cNvPr id="37" name="文本框 36">
                  <a:extLst>
                    <a:ext uri="{FF2B5EF4-FFF2-40B4-BE49-F238E27FC236}">
                      <a16:creationId xmlns:a16="http://schemas.microsoft.com/office/drawing/2014/main" id="{741186D4-9308-3ED1-716A-A43DC9C4F594}"/>
                    </a:ext>
                  </a:extLst>
                </p:cNvPr>
                <p:cNvSpPr txBox="1">
                  <a:spLocks noRot="1" noChangeAspect="1" noMove="1" noResize="1" noEditPoints="1" noAdjustHandles="1" noChangeArrowheads="1" noChangeShapeType="1" noTextEdit="1"/>
                </p:cNvSpPr>
                <p:nvPr/>
              </p:nvSpPr>
              <p:spPr>
                <a:xfrm>
                  <a:off x="8892000" y="3615155"/>
                  <a:ext cx="468000" cy="360000"/>
                </a:xfrm>
                <a:prstGeom prst="rect">
                  <a:avLst/>
                </a:prstGeom>
                <a:blipFill>
                  <a:blip r:embed="rId11"/>
                  <a:stretch>
                    <a:fillRect l="-10390" r="-9091" b="-8475"/>
                  </a:stretch>
                </a:blipFill>
              </p:spPr>
              <p:txBody>
                <a:bodyPr/>
                <a:lstStyle/>
                <a:p>
                  <a:r>
                    <a:rPr lang="zh-CN" altLang="en-US">
                      <a:noFill/>
                    </a:rPr>
                    <a:t> </a:t>
                  </a:r>
                </a:p>
              </p:txBody>
            </p:sp>
          </mc:Fallback>
        </mc:AlternateContent>
        <p:sp>
          <p:nvSpPr>
            <p:cNvPr id="44" name="椭圆 43">
              <a:extLst>
                <a:ext uri="{FF2B5EF4-FFF2-40B4-BE49-F238E27FC236}">
                  <a16:creationId xmlns:a16="http://schemas.microsoft.com/office/drawing/2014/main" id="{FE5A1896-8F73-D26D-65EE-FEC6EBF38301}"/>
                </a:ext>
              </a:extLst>
            </p:cNvPr>
            <p:cNvSpPr/>
            <p:nvPr/>
          </p:nvSpPr>
          <p:spPr>
            <a:xfrm>
              <a:off x="8732392" y="3309155"/>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a:extLst>
                <a:ext uri="{FF2B5EF4-FFF2-40B4-BE49-F238E27FC236}">
                  <a16:creationId xmlns:a16="http://schemas.microsoft.com/office/drawing/2014/main" id="{6F3C614B-F4C7-8EF6-83A4-75623BD3A611}"/>
                </a:ext>
              </a:extLst>
            </p:cNvPr>
            <p:cNvSpPr/>
            <p:nvPr/>
          </p:nvSpPr>
          <p:spPr>
            <a:xfrm>
              <a:off x="8732392" y="3741155"/>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3C261A54-6B98-5870-D688-B03BE39CDFFB}"/>
                    </a:ext>
                  </a:extLst>
                </p:cNvPr>
                <p:cNvSpPr txBox="1"/>
                <p:nvPr/>
              </p:nvSpPr>
              <p:spPr>
                <a:xfrm>
                  <a:off x="7848000" y="1095155"/>
                  <a:ext cx="72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A</m:t>
                            </m:r>
                          </m:e>
                          <m:sub>
                            <m:r>
                              <a:rPr lang="en-US" altLang="zh-CN" sz="2400" b="0" i="1" smtClean="0">
                                <a:solidFill>
                                  <a:schemeClr val="accent5">
                                    <a:lumMod val="75000"/>
                                  </a:schemeClr>
                                </a:solidFill>
                                <a:latin typeface="Cambria Math" panose="02040503050406030204" pitchFamily="18" charset="0"/>
                              </a:rPr>
                              <m:t>𝑛</m:t>
                            </m:r>
                            <m:r>
                              <a:rPr lang="en-US" altLang="zh-CN" sz="2400" b="0" i="1" smtClean="0">
                                <a:solidFill>
                                  <a:schemeClr val="accent5">
                                    <a:lumMod val="75000"/>
                                  </a:schemeClr>
                                </a:solidFill>
                                <a:latin typeface="Cambria Math" panose="02040503050406030204" pitchFamily="18" charset="0"/>
                              </a:rPr>
                              <m:t>−1</m:t>
                            </m:r>
                          </m:sub>
                        </m:sSub>
                      </m:oMath>
                    </m:oMathPara>
                  </a14:m>
                  <a:endParaRPr lang="zh-CN" altLang="en-US" sz="2400" dirty="0">
                    <a:solidFill>
                      <a:schemeClr val="accent5">
                        <a:lumMod val="75000"/>
                      </a:schemeClr>
                    </a:solidFill>
                  </a:endParaRPr>
                </a:p>
              </p:txBody>
            </p:sp>
          </mc:Choice>
          <mc:Fallback xmlns="">
            <p:sp>
              <p:nvSpPr>
                <p:cNvPr id="49" name="文本框 48">
                  <a:extLst>
                    <a:ext uri="{FF2B5EF4-FFF2-40B4-BE49-F238E27FC236}">
                      <a16:creationId xmlns:a16="http://schemas.microsoft.com/office/drawing/2014/main" id="{3C261A54-6B98-5870-D688-B03BE39CDFFB}"/>
                    </a:ext>
                  </a:extLst>
                </p:cNvPr>
                <p:cNvSpPr txBox="1">
                  <a:spLocks noRot="1" noChangeAspect="1" noMove="1" noResize="1" noEditPoints="1" noAdjustHandles="1" noChangeArrowheads="1" noChangeShapeType="1" noTextEdit="1"/>
                </p:cNvSpPr>
                <p:nvPr/>
              </p:nvSpPr>
              <p:spPr>
                <a:xfrm>
                  <a:off x="7848000" y="1095155"/>
                  <a:ext cx="720000" cy="360000"/>
                </a:xfrm>
                <a:prstGeom prst="rect">
                  <a:avLst/>
                </a:prstGeom>
                <a:blipFill>
                  <a:blip r:embed="rId12"/>
                  <a:stretch>
                    <a:fillRect l="-10169" r="-3390"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0765ABA2-4FE0-4963-8285-C0521225FACA}"/>
                    </a:ext>
                  </a:extLst>
                </p:cNvPr>
                <p:cNvSpPr txBox="1"/>
                <p:nvPr/>
              </p:nvSpPr>
              <p:spPr>
                <a:xfrm>
                  <a:off x="8136000" y="1815155"/>
                  <a:ext cx="54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A</m:t>
                            </m:r>
                          </m:e>
                          <m:sub>
                            <m:r>
                              <a:rPr lang="en-US" altLang="zh-CN" sz="2400" b="0" i="1" smtClean="0">
                                <a:solidFill>
                                  <a:schemeClr val="accent5">
                                    <a:lumMod val="75000"/>
                                  </a:schemeClr>
                                </a:solidFill>
                                <a:latin typeface="Cambria Math" panose="02040503050406030204" pitchFamily="18" charset="0"/>
                              </a:rPr>
                              <m:t>0</m:t>
                            </m:r>
                          </m:sub>
                        </m:sSub>
                      </m:oMath>
                    </m:oMathPara>
                  </a14:m>
                  <a:endParaRPr lang="zh-CN" altLang="en-US" sz="2400" dirty="0">
                    <a:solidFill>
                      <a:schemeClr val="accent5">
                        <a:lumMod val="75000"/>
                      </a:schemeClr>
                    </a:solidFill>
                  </a:endParaRPr>
                </a:p>
              </p:txBody>
            </p:sp>
          </mc:Choice>
          <mc:Fallback xmlns="">
            <p:sp>
              <p:nvSpPr>
                <p:cNvPr id="50" name="文本框 49">
                  <a:extLst>
                    <a:ext uri="{FF2B5EF4-FFF2-40B4-BE49-F238E27FC236}">
                      <a16:creationId xmlns:a16="http://schemas.microsoft.com/office/drawing/2014/main" id="{0765ABA2-4FE0-4963-8285-C0521225FACA}"/>
                    </a:ext>
                  </a:extLst>
                </p:cNvPr>
                <p:cNvSpPr txBox="1">
                  <a:spLocks noRot="1" noChangeAspect="1" noMove="1" noResize="1" noEditPoints="1" noAdjustHandles="1" noChangeArrowheads="1" noChangeShapeType="1" noTextEdit="1"/>
                </p:cNvSpPr>
                <p:nvPr/>
              </p:nvSpPr>
              <p:spPr>
                <a:xfrm>
                  <a:off x="8136000" y="1815155"/>
                  <a:ext cx="540000" cy="360000"/>
                </a:xfrm>
                <a:prstGeom prst="rect">
                  <a:avLst/>
                </a:prstGeom>
                <a:blipFill>
                  <a:blip r:embed="rId13"/>
                  <a:stretch>
                    <a:fillRect l="-1124" b="-16949"/>
                  </a:stretch>
                </a:blipFill>
              </p:spPr>
              <p:txBody>
                <a:bodyPr/>
                <a:lstStyle/>
                <a:p>
                  <a:r>
                    <a:rPr lang="zh-CN" altLang="en-US">
                      <a:noFill/>
                    </a:rPr>
                    <a:t> </a:t>
                  </a:r>
                </a:p>
              </p:txBody>
            </p:sp>
          </mc:Fallback>
        </mc:AlternateContent>
        <p:cxnSp>
          <p:nvCxnSpPr>
            <p:cNvPr id="51" name="直接连接符 50">
              <a:extLst>
                <a:ext uri="{FF2B5EF4-FFF2-40B4-BE49-F238E27FC236}">
                  <a16:creationId xmlns:a16="http://schemas.microsoft.com/office/drawing/2014/main" id="{6FFB55BB-DEDE-3D85-78FE-C1748634128E}"/>
                </a:ext>
              </a:extLst>
            </p:cNvPr>
            <p:cNvCxnSpPr>
              <a:cxnSpLocks/>
            </p:cNvCxnSpPr>
            <p:nvPr/>
          </p:nvCxnSpPr>
          <p:spPr>
            <a:xfrm>
              <a:off x="8352000" y="2931155"/>
              <a:ext cx="50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5B9D2EB5-05E9-EFBB-E154-D85AED1680FC}"/>
                    </a:ext>
                  </a:extLst>
                </p:cNvPr>
                <p:cNvSpPr txBox="1"/>
                <p:nvPr/>
              </p:nvSpPr>
              <p:spPr>
                <a:xfrm>
                  <a:off x="8892000" y="2751155"/>
                  <a:ext cx="504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smtClean="0">
                            <a:latin typeface="Cambria Math" panose="02040503050406030204" pitchFamily="18" charset="0"/>
                          </a:rPr>
                          <m:t>O</m:t>
                        </m:r>
                        <m:r>
                          <m:rPr>
                            <m:sty m:val="p"/>
                          </m:rPr>
                          <a:rPr lang="en-US" altLang="zh-CN" sz="2400" b="0" i="0" smtClean="0">
                            <a:solidFill>
                              <a:schemeClr val="tx1"/>
                            </a:solidFill>
                            <a:latin typeface="Cambria Math" panose="02040503050406030204" pitchFamily="18" charset="0"/>
                          </a:rPr>
                          <m:t>E</m:t>
                        </m:r>
                      </m:oMath>
                    </m:oMathPara>
                  </a14:m>
                  <a:endParaRPr lang="zh-CN" altLang="en-US" sz="2400" dirty="0">
                    <a:solidFill>
                      <a:schemeClr val="tx1"/>
                    </a:solidFill>
                  </a:endParaRPr>
                </a:p>
              </p:txBody>
            </p:sp>
          </mc:Choice>
          <mc:Fallback xmlns="">
            <p:sp>
              <p:nvSpPr>
                <p:cNvPr id="52" name="文本框 51">
                  <a:extLst>
                    <a:ext uri="{FF2B5EF4-FFF2-40B4-BE49-F238E27FC236}">
                      <a16:creationId xmlns:a16="http://schemas.microsoft.com/office/drawing/2014/main" id="{5B9D2EB5-05E9-EFBB-E154-D85AED1680FC}"/>
                    </a:ext>
                  </a:extLst>
                </p:cNvPr>
                <p:cNvSpPr txBox="1">
                  <a:spLocks noRot="1" noChangeAspect="1" noMove="1" noResize="1" noEditPoints="1" noAdjustHandles="1" noChangeArrowheads="1" noChangeShapeType="1" noTextEdit="1"/>
                </p:cNvSpPr>
                <p:nvPr/>
              </p:nvSpPr>
              <p:spPr>
                <a:xfrm>
                  <a:off x="8892000" y="2751155"/>
                  <a:ext cx="504000" cy="360000"/>
                </a:xfrm>
                <a:prstGeom prst="rect">
                  <a:avLst/>
                </a:prstGeom>
                <a:blipFill>
                  <a:blip r:embed="rId14"/>
                  <a:stretch>
                    <a:fillRect l="-8434" r="-8434" b="-8475"/>
                  </a:stretch>
                </a:blipFill>
              </p:spPr>
              <p:txBody>
                <a:bodyPr/>
                <a:lstStyle/>
                <a:p>
                  <a:r>
                    <a:rPr lang="zh-CN" altLang="en-US">
                      <a:noFill/>
                    </a:rPr>
                    <a:t> </a:t>
                  </a:r>
                </a:p>
              </p:txBody>
            </p:sp>
          </mc:Fallback>
        </mc:AlternateContent>
        <p:sp>
          <p:nvSpPr>
            <p:cNvPr id="53" name="椭圆 52">
              <a:extLst>
                <a:ext uri="{FF2B5EF4-FFF2-40B4-BE49-F238E27FC236}">
                  <a16:creationId xmlns:a16="http://schemas.microsoft.com/office/drawing/2014/main" id="{77ED1D54-D380-7B6B-2A10-8C65A1FC0EAB}"/>
                </a:ext>
              </a:extLst>
            </p:cNvPr>
            <p:cNvSpPr/>
            <p:nvPr/>
          </p:nvSpPr>
          <p:spPr>
            <a:xfrm>
              <a:off x="8732392" y="2877155"/>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7959F110-A95A-0502-A74C-9E11F16E023A}"/>
                    </a:ext>
                  </a:extLst>
                </p:cNvPr>
                <p:cNvSpPr txBox="1"/>
                <p:nvPr/>
              </p:nvSpPr>
              <p:spPr>
                <a:xfrm>
                  <a:off x="7812000" y="3183155"/>
                  <a:ext cx="54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WE</m:t>
                            </m:r>
                          </m:e>
                        </m:acc>
                      </m:oMath>
                    </m:oMathPara>
                  </a14:m>
                  <a:endParaRPr lang="zh-CN" altLang="en-US" sz="2400" dirty="0">
                    <a:solidFill>
                      <a:schemeClr val="accent5">
                        <a:lumMod val="75000"/>
                      </a:schemeClr>
                    </a:solidFill>
                  </a:endParaRPr>
                </a:p>
              </p:txBody>
            </p:sp>
          </mc:Choice>
          <mc:Fallback xmlns="">
            <p:sp>
              <p:nvSpPr>
                <p:cNvPr id="54" name="文本框 53">
                  <a:extLst>
                    <a:ext uri="{FF2B5EF4-FFF2-40B4-BE49-F238E27FC236}">
                      <a16:creationId xmlns:a16="http://schemas.microsoft.com/office/drawing/2014/main" id="{7959F110-A95A-0502-A74C-9E11F16E023A}"/>
                    </a:ext>
                  </a:extLst>
                </p:cNvPr>
                <p:cNvSpPr txBox="1">
                  <a:spLocks noRot="1" noChangeAspect="1" noMove="1" noResize="1" noEditPoints="1" noAdjustHandles="1" noChangeArrowheads="1" noChangeShapeType="1" noTextEdit="1"/>
                </p:cNvSpPr>
                <p:nvPr/>
              </p:nvSpPr>
              <p:spPr>
                <a:xfrm>
                  <a:off x="7812000" y="3183155"/>
                  <a:ext cx="540000" cy="360000"/>
                </a:xfrm>
                <a:prstGeom prst="rect">
                  <a:avLst/>
                </a:prstGeom>
                <a:blipFill>
                  <a:blip r:embed="rId15"/>
                  <a:stretch>
                    <a:fillRect l="-12500" r="-12500"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EB04AE29-A418-4360-63B2-0D2993B132D5}"/>
                    </a:ext>
                  </a:extLst>
                </p:cNvPr>
                <p:cNvSpPr txBox="1"/>
                <p:nvPr/>
              </p:nvSpPr>
              <p:spPr>
                <a:xfrm>
                  <a:off x="7812000" y="3615155"/>
                  <a:ext cx="54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CE</m:t>
                            </m:r>
                          </m:e>
                        </m:acc>
                      </m:oMath>
                    </m:oMathPara>
                  </a14:m>
                  <a:endParaRPr lang="zh-CN" altLang="en-US" sz="2400" dirty="0">
                    <a:solidFill>
                      <a:schemeClr val="accent5">
                        <a:lumMod val="75000"/>
                      </a:schemeClr>
                    </a:solidFill>
                  </a:endParaRPr>
                </a:p>
              </p:txBody>
            </p:sp>
          </mc:Choice>
          <mc:Fallback xmlns="">
            <p:sp>
              <p:nvSpPr>
                <p:cNvPr id="55" name="文本框 54">
                  <a:extLst>
                    <a:ext uri="{FF2B5EF4-FFF2-40B4-BE49-F238E27FC236}">
                      <a16:creationId xmlns:a16="http://schemas.microsoft.com/office/drawing/2014/main" id="{EB04AE29-A418-4360-63B2-0D2993B132D5}"/>
                    </a:ext>
                  </a:extLst>
                </p:cNvPr>
                <p:cNvSpPr txBox="1">
                  <a:spLocks noRot="1" noChangeAspect="1" noMove="1" noResize="1" noEditPoints="1" noAdjustHandles="1" noChangeArrowheads="1" noChangeShapeType="1" noTextEdit="1"/>
                </p:cNvSpPr>
                <p:nvPr/>
              </p:nvSpPr>
              <p:spPr>
                <a:xfrm>
                  <a:off x="7812000" y="3615155"/>
                  <a:ext cx="540000" cy="360000"/>
                </a:xfrm>
                <a:prstGeom prst="rect">
                  <a:avLst/>
                </a:prstGeom>
                <a:blipFill>
                  <a:blip r:embed="rId16"/>
                  <a:stretch>
                    <a:fillRect l="-2273" r="-2273"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FB147F00-68F4-AA9F-C22C-A43965C0C71F}"/>
                    </a:ext>
                  </a:extLst>
                </p:cNvPr>
                <p:cNvSpPr txBox="1"/>
                <p:nvPr/>
              </p:nvSpPr>
              <p:spPr>
                <a:xfrm>
                  <a:off x="7810792" y="2751155"/>
                  <a:ext cx="54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OE</m:t>
                            </m:r>
                          </m:e>
                        </m:acc>
                      </m:oMath>
                    </m:oMathPara>
                  </a14:m>
                  <a:endParaRPr lang="zh-CN" altLang="en-US" sz="2400" dirty="0">
                    <a:solidFill>
                      <a:schemeClr val="accent5">
                        <a:lumMod val="75000"/>
                      </a:schemeClr>
                    </a:solidFill>
                  </a:endParaRPr>
                </a:p>
              </p:txBody>
            </p:sp>
          </mc:Choice>
          <mc:Fallback xmlns="">
            <p:sp>
              <p:nvSpPr>
                <p:cNvPr id="56" name="文本框 55">
                  <a:extLst>
                    <a:ext uri="{FF2B5EF4-FFF2-40B4-BE49-F238E27FC236}">
                      <a16:creationId xmlns:a16="http://schemas.microsoft.com/office/drawing/2014/main" id="{FB147F00-68F4-AA9F-C22C-A43965C0C71F}"/>
                    </a:ext>
                  </a:extLst>
                </p:cNvPr>
                <p:cNvSpPr txBox="1">
                  <a:spLocks noRot="1" noChangeAspect="1" noMove="1" noResize="1" noEditPoints="1" noAdjustHandles="1" noChangeArrowheads="1" noChangeShapeType="1" noTextEdit="1"/>
                </p:cNvSpPr>
                <p:nvPr/>
              </p:nvSpPr>
              <p:spPr>
                <a:xfrm>
                  <a:off x="7810792" y="2751155"/>
                  <a:ext cx="540000" cy="360000"/>
                </a:xfrm>
                <a:prstGeom prst="rect">
                  <a:avLst/>
                </a:prstGeom>
                <a:blipFill>
                  <a:blip r:embed="rId17"/>
                  <a:stretch>
                    <a:fillRect l="-4545" r="-5682"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D21D7292-FDCB-3A46-AE90-B5256045ABD7}"/>
                    </a:ext>
                  </a:extLst>
                </p:cNvPr>
                <p:cNvSpPr txBox="1"/>
                <p:nvPr/>
              </p:nvSpPr>
              <p:spPr>
                <a:xfrm>
                  <a:off x="10332000" y="2355155"/>
                  <a:ext cx="468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schemeClr val="tx1"/>
                            </a:solidFill>
                            <a:latin typeface="Cambria Math" panose="02040503050406030204" pitchFamily="18" charset="0"/>
                          </a:rPr>
                          <m:t>⋮</m:t>
                        </m:r>
                      </m:oMath>
                    </m:oMathPara>
                  </a14:m>
                  <a:endParaRPr lang="zh-CN" altLang="en-US" sz="2400" dirty="0">
                    <a:solidFill>
                      <a:schemeClr val="tx1"/>
                    </a:solidFill>
                  </a:endParaRPr>
                </a:p>
              </p:txBody>
            </p:sp>
          </mc:Choice>
          <mc:Fallback xmlns="">
            <p:sp>
              <p:nvSpPr>
                <p:cNvPr id="57" name="文本框 56">
                  <a:extLst>
                    <a:ext uri="{FF2B5EF4-FFF2-40B4-BE49-F238E27FC236}">
                      <a16:creationId xmlns:a16="http://schemas.microsoft.com/office/drawing/2014/main" id="{D21D7292-FDCB-3A46-AE90-B5256045ABD7}"/>
                    </a:ext>
                  </a:extLst>
                </p:cNvPr>
                <p:cNvSpPr txBox="1">
                  <a:spLocks noRot="1" noChangeAspect="1" noMove="1" noResize="1" noEditPoints="1" noAdjustHandles="1" noChangeArrowheads="1" noChangeShapeType="1" noTextEdit="1"/>
                </p:cNvSpPr>
                <p:nvPr/>
              </p:nvSpPr>
              <p:spPr>
                <a:xfrm>
                  <a:off x="10332000" y="2355155"/>
                  <a:ext cx="468000" cy="360000"/>
                </a:xfrm>
                <a:prstGeom prst="rect">
                  <a:avLst/>
                </a:prstGeom>
                <a:blipFill>
                  <a:blip r:embed="rId18"/>
                  <a:stretch>
                    <a:fillRect b="-67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9F5C9913-F2A4-2632-90CC-B22D79F25050}"/>
                    </a:ext>
                  </a:extLst>
                </p:cNvPr>
                <p:cNvSpPr txBox="1"/>
                <p:nvPr/>
              </p:nvSpPr>
              <p:spPr>
                <a:xfrm>
                  <a:off x="11268000" y="1779155"/>
                  <a:ext cx="828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D</m:t>
                            </m:r>
                          </m:e>
                          <m:sub>
                            <m:r>
                              <a:rPr lang="en-US" altLang="zh-CN" sz="2400" b="0" i="1" smtClean="0">
                                <a:solidFill>
                                  <a:schemeClr val="accent5">
                                    <a:lumMod val="75000"/>
                                  </a:schemeClr>
                                </a:solidFill>
                                <a:latin typeface="Cambria Math" panose="02040503050406030204" pitchFamily="18" charset="0"/>
                              </a:rPr>
                              <m:t>𝑚</m:t>
                            </m:r>
                            <m:r>
                              <a:rPr lang="en-US" altLang="zh-CN" sz="2400" b="0" i="1" smtClean="0">
                                <a:solidFill>
                                  <a:schemeClr val="accent5">
                                    <a:lumMod val="75000"/>
                                  </a:schemeClr>
                                </a:solidFill>
                                <a:latin typeface="Cambria Math" panose="02040503050406030204" pitchFamily="18" charset="0"/>
                              </a:rPr>
                              <m:t>−1</m:t>
                            </m:r>
                          </m:sub>
                        </m:sSub>
                      </m:oMath>
                    </m:oMathPara>
                  </a14:m>
                  <a:endParaRPr lang="zh-CN" altLang="en-US" sz="2400" dirty="0">
                    <a:solidFill>
                      <a:schemeClr val="accent5">
                        <a:lumMod val="75000"/>
                      </a:schemeClr>
                    </a:solidFill>
                  </a:endParaRPr>
                </a:p>
              </p:txBody>
            </p:sp>
          </mc:Choice>
          <mc:Fallback xmlns="">
            <p:sp>
              <p:nvSpPr>
                <p:cNvPr id="58" name="文本框 57">
                  <a:extLst>
                    <a:ext uri="{FF2B5EF4-FFF2-40B4-BE49-F238E27FC236}">
                      <a16:creationId xmlns:a16="http://schemas.microsoft.com/office/drawing/2014/main" id="{9F5C9913-F2A4-2632-90CC-B22D79F25050}"/>
                    </a:ext>
                  </a:extLst>
                </p:cNvPr>
                <p:cNvSpPr txBox="1">
                  <a:spLocks noRot="1" noChangeAspect="1" noMove="1" noResize="1" noEditPoints="1" noAdjustHandles="1" noChangeArrowheads="1" noChangeShapeType="1" noTextEdit="1"/>
                </p:cNvSpPr>
                <p:nvPr/>
              </p:nvSpPr>
              <p:spPr>
                <a:xfrm>
                  <a:off x="11268000" y="1779155"/>
                  <a:ext cx="828000" cy="360000"/>
                </a:xfrm>
                <a:prstGeom prst="rect">
                  <a:avLst/>
                </a:prstGeom>
                <a:blipFill>
                  <a:blip r:embed="rId19"/>
                  <a:stretch>
                    <a:fillRect l="-6618" r="-735"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7A0E8546-3409-7EF9-69D6-8348777B4445}"/>
                    </a:ext>
                  </a:extLst>
                </p:cNvPr>
                <p:cNvSpPr txBox="1"/>
                <p:nvPr/>
              </p:nvSpPr>
              <p:spPr>
                <a:xfrm>
                  <a:off x="11268000" y="2895155"/>
                  <a:ext cx="54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D</m:t>
                            </m:r>
                          </m:e>
                          <m:sub>
                            <m:r>
                              <a:rPr lang="en-US" altLang="zh-CN" sz="2400" b="0" i="1" smtClean="0">
                                <a:solidFill>
                                  <a:schemeClr val="accent5">
                                    <a:lumMod val="75000"/>
                                  </a:schemeClr>
                                </a:solidFill>
                                <a:latin typeface="Cambria Math" panose="02040503050406030204" pitchFamily="18" charset="0"/>
                              </a:rPr>
                              <m:t>0</m:t>
                            </m:r>
                          </m:sub>
                        </m:sSub>
                      </m:oMath>
                    </m:oMathPara>
                  </a14:m>
                  <a:endParaRPr lang="zh-CN" altLang="en-US" sz="2400" dirty="0">
                    <a:solidFill>
                      <a:schemeClr val="accent5">
                        <a:lumMod val="75000"/>
                      </a:schemeClr>
                    </a:solidFill>
                  </a:endParaRPr>
                </a:p>
              </p:txBody>
            </p:sp>
          </mc:Choice>
          <mc:Fallback xmlns="">
            <p:sp>
              <p:nvSpPr>
                <p:cNvPr id="59" name="文本框 58">
                  <a:extLst>
                    <a:ext uri="{FF2B5EF4-FFF2-40B4-BE49-F238E27FC236}">
                      <a16:creationId xmlns:a16="http://schemas.microsoft.com/office/drawing/2014/main" id="{7A0E8546-3409-7EF9-69D6-8348777B4445}"/>
                    </a:ext>
                  </a:extLst>
                </p:cNvPr>
                <p:cNvSpPr txBox="1">
                  <a:spLocks noRot="1" noChangeAspect="1" noMove="1" noResize="1" noEditPoints="1" noAdjustHandles="1" noChangeArrowheads="1" noChangeShapeType="1" noTextEdit="1"/>
                </p:cNvSpPr>
                <p:nvPr/>
              </p:nvSpPr>
              <p:spPr>
                <a:xfrm>
                  <a:off x="11268000" y="2895155"/>
                  <a:ext cx="540000" cy="360000"/>
                </a:xfrm>
                <a:prstGeom prst="rect">
                  <a:avLst/>
                </a:prstGeom>
                <a:blipFill>
                  <a:blip r:embed="rId20"/>
                  <a:stretch>
                    <a:fillRect l="-2273"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C6092A7-DAEC-4827-E837-5236B9BBF231}"/>
                    </a:ext>
                  </a:extLst>
                </p:cNvPr>
                <p:cNvSpPr txBox="1"/>
                <p:nvPr/>
              </p:nvSpPr>
              <p:spPr>
                <a:xfrm>
                  <a:off x="8928000" y="3183096"/>
                  <a:ext cx="504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tx1"/>
                            </a:solidFill>
                            <a:latin typeface="Cambria Math" panose="02040503050406030204" pitchFamily="18" charset="0"/>
                          </a:rPr>
                          <m:t>WE</m:t>
                        </m:r>
                      </m:oMath>
                    </m:oMathPara>
                  </a14:m>
                  <a:endParaRPr lang="zh-CN" altLang="en-US" sz="2400" dirty="0">
                    <a:solidFill>
                      <a:schemeClr val="tx1"/>
                    </a:solidFill>
                  </a:endParaRPr>
                </a:p>
              </p:txBody>
            </p:sp>
          </mc:Choice>
          <mc:Fallback xmlns="">
            <p:sp>
              <p:nvSpPr>
                <p:cNvPr id="3" name="文本框 2">
                  <a:extLst>
                    <a:ext uri="{FF2B5EF4-FFF2-40B4-BE49-F238E27FC236}">
                      <a16:creationId xmlns:a16="http://schemas.microsoft.com/office/drawing/2014/main" id="{AC6092A7-DAEC-4827-E837-5236B9BBF231}"/>
                    </a:ext>
                  </a:extLst>
                </p:cNvPr>
                <p:cNvSpPr txBox="1">
                  <a:spLocks noRot="1" noChangeAspect="1" noMove="1" noResize="1" noEditPoints="1" noAdjustHandles="1" noChangeArrowheads="1" noChangeShapeType="1" noTextEdit="1"/>
                </p:cNvSpPr>
                <p:nvPr/>
              </p:nvSpPr>
              <p:spPr>
                <a:xfrm>
                  <a:off x="8928000" y="3183096"/>
                  <a:ext cx="504000" cy="360000"/>
                </a:xfrm>
                <a:prstGeom prst="rect">
                  <a:avLst/>
                </a:prstGeom>
                <a:blipFill>
                  <a:blip r:embed="rId21"/>
                  <a:stretch>
                    <a:fillRect l="-16867" r="-15663" b="-8475"/>
                  </a:stretch>
                </a:blipFill>
              </p:spPr>
              <p:txBody>
                <a:bodyPr/>
                <a:lstStyle/>
                <a:p>
                  <a:r>
                    <a:rPr lang="zh-CN" altLang="en-US">
                      <a:noFill/>
                    </a:rPr>
                    <a:t> </a:t>
                  </a:r>
                </a:p>
              </p:txBody>
            </p:sp>
          </mc:Fallback>
        </mc:AlternateContent>
      </p:grpSp>
      <p:sp>
        <p:nvSpPr>
          <p:cNvPr id="13" name="标题 1">
            <a:extLst>
              <a:ext uri="{FF2B5EF4-FFF2-40B4-BE49-F238E27FC236}">
                <a16:creationId xmlns:a16="http://schemas.microsoft.com/office/drawing/2014/main" id="{5F6AD1E8-45E3-BF97-BD47-AAAD09D8CA29}"/>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半导体存储器 </a:t>
            </a:r>
            <a:r>
              <a:rPr lang="en-US" altLang="zh-CN" sz="3000" dirty="0"/>
              <a:t>—— </a:t>
            </a:r>
            <a:r>
              <a:rPr lang="zh-CN" altLang="en-US" sz="3000" dirty="0">
                <a:solidFill>
                  <a:srgbClr val="FFFF00"/>
                </a:solidFill>
              </a:rPr>
              <a:t>随机存储器（</a:t>
            </a:r>
            <a:r>
              <a:rPr lang="en-US" altLang="zh-CN" sz="3000" dirty="0">
                <a:solidFill>
                  <a:srgbClr val="FFFF00"/>
                </a:solidFill>
              </a:rPr>
              <a:t>RAM</a:t>
            </a:r>
            <a:r>
              <a:rPr lang="zh-CN" altLang="en-US" sz="3000" dirty="0">
                <a:solidFill>
                  <a:srgbClr val="FFFF00"/>
                </a:solidFill>
              </a:rPr>
              <a:t>）</a:t>
            </a:r>
            <a:endParaRPr lang="en-US" altLang="zh-CN" sz="3000" dirty="0"/>
          </a:p>
        </p:txBody>
      </p:sp>
    </p:spTree>
    <p:extLst>
      <p:ext uri="{BB962C8B-B14F-4D97-AF65-F5344CB8AC3E}">
        <p14:creationId xmlns:p14="http://schemas.microsoft.com/office/powerpoint/2010/main" val="3467882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3E93E-915C-05BF-A510-A12FAC06B113}"/>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E5478F1A-FCC2-0BBE-D434-0D3794E02614}"/>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D4B27427-7465-ABDC-C355-13FAF440E1B6}"/>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D3780F74-5091-649C-44AB-DB430AC3EAAA}"/>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08828643-77AD-ECD3-3E56-4D72B79F6F88}"/>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305F6F90-59FC-D485-3BCE-A5CF5D27011F}"/>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13</a:t>
              </a:fld>
              <a:endParaRPr lang="zh-CN" altLang="en-US" sz="3200" dirty="0">
                <a:solidFill>
                  <a:schemeClr val="bg1"/>
                </a:solidFill>
                <a:latin typeface="Candara"/>
                <a:ea typeface="微软雅黑"/>
              </a:endParaRPr>
            </a:p>
          </p:txBody>
        </p:sp>
      </p:grpSp>
      <p:sp>
        <p:nvSpPr>
          <p:cNvPr id="9" name="文本框 8">
            <a:extLst>
              <a:ext uri="{FF2B5EF4-FFF2-40B4-BE49-F238E27FC236}">
                <a16:creationId xmlns:a16="http://schemas.microsoft.com/office/drawing/2014/main" id="{96DB65B4-E017-F23E-7A60-760811366895}"/>
              </a:ext>
            </a:extLst>
          </p:cNvPr>
          <p:cNvSpPr txBox="1"/>
          <p:nvPr/>
        </p:nvSpPr>
        <p:spPr>
          <a:xfrm>
            <a:off x="360000" y="828000"/>
            <a:ext cx="5527390" cy="2941703"/>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SRAM</a:t>
            </a:r>
            <a:r>
              <a:rPr kumimoji="1" lang="zh-CN" altLang="en-US" sz="2800" dirty="0">
                <a:solidFill>
                  <a:srgbClr val="002060"/>
                </a:solidFill>
                <a:latin typeface="微软雅黑" panose="020B0503020204020204" pitchFamily="34" charset="-122"/>
                <a:ea typeface="微软雅黑" panose="020B0503020204020204" pitchFamily="34" charset="-122"/>
              </a:rPr>
              <a:t> 的基本结构</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与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ROM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类似，包含</a:t>
            </a:r>
            <a:r>
              <a:rPr kumimoji="1" lang="zh-CN" altLang="en-US" sz="2400" dirty="0">
                <a:solidFill>
                  <a:srgbClr val="FF0000"/>
                </a:solidFill>
                <a:latin typeface="微软雅黑" panose="020B0503020204020204" pitchFamily="34" charset="-122"/>
                <a:ea typeface="微软雅黑" panose="020B0503020204020204" pitchFamily="34" charset="-122"/>
              </a:rPr>
              <a:t>存储阵列</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kumimoji="1" lang="zh-CN" altLang="en-US" sz="2400" dirty="0">
                <a:solidFill>
                  <a:srgbClr val="00B050"/>
                </a:solidFill>
                <a:latin typeface="微软雅黑" panose="020B0503020204020204" pitchFamily="34" charset="-122"/>
                <a:ea typeface="微软雅黑" panose="020B0503020204020204" pitchFamily="34" charset="-122"/>
              </a:rPr>
              <a:t>地址译码器（行译码</a:t>
            </a:r>
            <a:r>
              <a:rPr kumimoji="1" lang="en-US" altLang="zh-CN" sz="2400" dirty="0">
                <a:solidFill>
                  <a:srgbClr val="00B050"/>
                </a:solidFill>
                <a:latin typeface="微软雅黑" panose="020B0503020204020204" pitchFamily="34" charset="-122"/>
                <a:ea typeface="微软雅黑" panose="020B0503020204020204" pitchFamily="34" charset="-122"/>
              </a:rPr>
              <a:t>+</a:t>
            </a:r>
            <a:r>
              <a:rPr kumimoji="1" lang="zh-CN" altLang="en-US" sz="2400" dirty="0">
                <a:solidFill>
                  <a:srgbClr val="00B050"/>
                </a:solidFill>
                <a:latin typeface="微软雅黑" panose="020B0503020204020204" pitchFamily="34" charset="-122"/>
                <a:ea typeface="微软雅黑" panose="020B0503020204020204" pitchFamily="34" charset="-122"/>
              </a:rPr>
              <a:t>列译码）</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kumimoji="1" lang="zh-CN" altLang="en-US" sz="2400" dirty="0">
                <a:solidFill>
                  <a:srgbClr val="0000FF"/>
                </a:solidFill>
                <a:latin typeface="微软雅黑" panose="020B0503020204020204" pitchFamily="34" charset="-122"/>
                <a:ea typeface="微软雅黑" panose="020B0503020204020204" pitchFamily="34" charset="-122"/>
              </a:rPr>
              <a:t>输入输出（</a:t>
            </a:r>
            <a:r>
              <a:rPr kumimoji="1" lang="en-US" altLang="zh-CN" sz="2400" dirty="0">
                <a:solidFill>
                  <a:srgbClr val="0000FF"/>
                </a:solidFill>
                <a:latin typeface="微软雅黑" panose="020B0503020204020204" pitchFamily="34" charset="-122"/>
                <a:ea typeface="微软雅黑" panose="020B0503020204020204" pitchFamily="34" charset="-122"/>
              </a:rPr>
              <a:t>I/O</a:t>
            </a:r>
            <a:r>
              <a:rPr kumimoji="1" lang="zh-CN" altLang="en-US" sz="2400" dirty="0">
                <a:solidFill>
                  <a:srgbClr val="0000FF"/>
                </a:solidFill>
                <a:latin typeface="微软雅黑" panose="020B0503020204020204" pitchFamily="34" charset="-122"/>
                <a:ea typeface="微软雅黑" panose="020B0503020204020204" pitchFamily="34" charset="-122"/>
              </a:rPr>
              <a:t>）控制电路</a:t>
            </a:r>
            <a:endParaRPr kumimoji="1" lang="en-US" altLang="zh-CN" sz="2400" dirty="0">
              <a:solidFill>
                <a:srgbClr val="0000FF"/>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与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ROM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相比，最主要的差别是</a:t>
            </a:r>
            <a:r>
              <a:rPr kumimoji="1" lang="zh-CN" altLang="en-US" sz="2400" dirty="0">
                <a:solidFill>
                  <a:srgbClr val="FF0000"/>
                </a:solidFill>
                <a:latin typeface="微软雅黑" panose="020B0503020204020204" pitchFamily="34" charset="-122"/>
                <a:ea typeface="微软雅黑" panose="020B0503020204020204" pitchFamily="34" charset="-122"/>
              </a:rPr>
              <a:t>存储单元</a:t>
            </a:r>
            <a:endParaRPr kumimoji="1" lang="en-US" altLang="zh-CN" sz="2400" dirty="0">
              <a:solidFill>
                <a:srgbClr val="FF0000"/>
              </a:solidFill>
              <a:latin typeface="微软雅黑" panose="020B0503020204020204" pitchFamily="34" charset="-122"/>
              <a:ea typeface="微软雅黑" panose="020B0503020204020204" pitchFamily="34" charset="-122"/>
            </a:endParaRPr>
          </a:p>
        </p:txBody>
      </p:sp>
      <p:sp>
        <p:nvSpPr>
          <p:cNvPr id="10" name="标题 1">
            <a:extLst>
              <a:ext uri="{FF2B5EF4-FFF2-40B4-BE49-F238E27FC236}">
                <a16:creationId xmlns:a16="http://schemas.microsoft.com/office/drawing/2014/main" id="{5E8E33DA-28B6-620F-6CF0-B62DB54642EC}"/>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半导体存储器 </a:t>
            </a:r>
            <a:r>
              <a:rPr lang="en-US" altLang="zh-CN" sz="3000" dirty="0"/>
              <a:t>—— </a:t>
            </a:r>
            <a:r>
              <a:rPr lang="zh-CN" altLang="en-US" sz="3000" dirty="0">
                <a:solidFill>
                  <a:srgbClr val="FFFF00"/>
                </a:solidFill>
              </a:rPr>
              <a:t>随机存储器（</a:t>
            </a:r>
            <a:r>
              <a:rPr lang="en-US" altLang="zh-CN" sz="3000" dirty="0">
                <a:solidFill>
                  <a:srgbClr val="FFFF00"/>
                </a:solidFill>
              </a:rPr>
              <a:t>RAM</a:t>
            </a:r>
            <a:r>
              <a:rPr lang="zh-CN" altLang="en-US" sz="3000" dirty="0">
                <a:solidFill>
                  <a:srgbClr val="FFFF00"/>
                </a:solidFill>
              </a:rPr>
              <a:t>）</a:t>
            </a:r>
            <a:endParaRPr lang="en-US" altLang="zh-CN" sz="3000" dirty="0"/>
          </a:p>
        </p:txBody>
      </p:sp>
      <p:grpSp>
        <p:nvGrpSpPr>
          <p:cNvPr id="88" name="组合 87">
            <a:extLst>
              <a:ext uri="{FF2B5EF4-FFF2-40B4-BE49-F238E27FC236}">
                <a16:creationId xmlns:a16="http://schemas.microsoft.com/office/drawing/2014/main" id="{EBFFEC5C-E616-4607-E79B-966C92D19ECB}"/>
              </a:ext>
            </a:extLst>
          </p:cNvPr>
          <p:cNvGrpSpPr/>
          <p:nvPr/>
        </p:nvGrpSpPr>
        <p:grpSpPr>
          <a:xfrm>
            <a:off x="6120000" y="972000"/>
            <a:ext cx="5472000" cy="5526000"/>
            <a:chOff x="5724000" y="990000"/>
            <a:chExt cx="5472000" cy="5526000"/>
          </a:xfrm>
        </p:grpSpPr>
        <p:sp>
          <p:nvSpPr>
            <p:cNvPr id="3" name="矩形 2">
              <a:extLst>
                <a:ext uri="{FF2B5EF4-FFF2-40B4-BE49-F238E27FC236}">
                  <a16:creationId xmlns:a16="http://schemas.microsoft.com/office/drawing/2014/main" id="{A00BFF44-1123-1A51-D061-73309FBFBA76}"/>
                </a:ext>
              </a:extLst>
            </p:cNvPr>
            <p:cNvSpPr/>
            <p:nvPr/>
          </p:nvSpPr>
          <p:spPr>
            <a:xfrm>
              <a:off x="8262000" y="1656000"/>
              <a:ext cx="2592000" cy="468000"/>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列译码</a:t>
              </a:r>
            </a:p>
          </p:txBody>
        </p:sp>
        <p:sp>
          <p:nvSpPr>
            <p:cNvPr id="11" name="矩形 10">
              <a:extLst>
                <a:ext uri="{FF2B5EF4-FFF2-40B4-BE49-F238E27FC236}">
                  <a16:creationId xmlns:a16="http://schemas.microsoft.com/office/drawing/2014/main" id="{1FA43D1A-64E0-FB55-0BCD-360F2C0B53DD}"/>
                </a:ext>
              </a:extLst>
            </p:cNvPr>
            <p:cNvSpPr/>
            <p:nvPr/>
          </p:nvSpPr>
          <p:spPr>
            <a:xfrm>
              <a:off x="6768000" y="2556000"/>
              <a:ext cx="540000" cy="1296000"/>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行译码</a:t>
              </a:r>
            </a:p>
          </p:txBody>
        </p:sp>
        <p:sp>
          <p:nvSpPr>
            <p:cNvPr id="14" name="矩形 13">
              <a:extLst>
                <a:ext uri="{FF2B5EF4-FFF2-40B4-BE49-F238E27FC236}">
                  <a16:creationId xmlns:a16="http://schemas.microsoft.com/office/drawing/2014/main" id="{7A484E29-B2E5-DB25-19C5-B8D5ACE70726}"/>
                </a:ext>
              </a:extLst>
            </p:cNvPr>
            <p:cNvSpPr/>
            <p:nvPr/>
          </p:nvSpPr>
          <p:spPr>
            <a:xfrm>
              <a:off x="8262000" y="4390957"/>
              <a:ext cx="2592000" cy="468000"/>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I/O </a:t>
              </a:r>
              <a:r>
                <a:rPr lang="zh-CN" altLang="en-US" sz="2000" dirty="0">
                  <a:solidFill>
                    <a:schemeClr val="tx1"/>
                  </a:solidFill>
                  <a:latin typeface="微软雅黑" panose="020B0503020204020204" pitchFamily="34" charset="-122"/>
                  <a:ea typeface="微软雅黑" panose="020B0503020204020204" pitchFamily="34" charset="-122"/>
                </a:rPr>
                <a:t>电路</a:t>
              </a:r>
            </a:p>
          </p:txBody>
        </p:sp>
        <p:sp>
          <p:nvSpPr>
            <p:cNvPr id="16" name="箭头: 右 15">
              <a:extLst>
                <a:ext uri="{FF2B5EF4-FFF2-40B4-BE49-F238E27FC236}">
                  <a16:creationId xmlns:a16="http://schemas.microsoft.com/office/drawing/2014/main" id="{A8F580BE-9014-87A5-19E6-466E3B540FC9}"/>
                </a:ext>
              </a:extLst>
            </p:cNvPr>
            <p:cNvSpPr/>
            <p:nvPr/>
          </p:nvSpPr>
          <p:spPr>
            <a:xfrm>
              <a:off x="7308000" y="2970000"/>
              <a:ext cx="540000" cy="468000"/>
            </a:xfrm>
            <a:prstGeom prst="rightArrow">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17" name="箭头: 右 16">
              <a:extLst>
                <a:ext uri="{FF2B5EF4-FFF2-40B4-BE49-F238E27FC236}">
                  <a16:creationId xmlns:a16="http://schemas.microsoft.com/office/drawing/2014/main" id="{44043CA8-CB4F-5184-AC22-EA36EDF770CB}"/>
                </a:ext>
              </a:extLst>
            </p:cNvPr>
            <p:cNvSpPr/>
            <p:nvPr/>
          </p:nvSpPr>
          <p:spPr>
            <a:xfrm rot="5400000">
              <a:off x="9342000" y="2106000"/>
              <a:ext cx="432000" cy="468000"/>
            </a:xfrm>
            <a:prstGeom prst="rightArrow">
              <a:avLst>
                <a:gd name="adj1" fmla="val 50000"/>
                <a:gd name="adj2" fmla="val 47112"/>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19" name="箭头: 上下 18">
              <a:extLst>
                <a:ext uri="{FF2B5EF4-FFF2-40B4-BE49-F238E27FC236}">
                  <a16:creationId xmlns:a16="http://schemas.microsoft.com/office/drawing/2014/main" id="{1A3BF6F6-DFD6-7803-32B8-AA38252B9E7E}"/>
                </a:ext>
              </a:extLst>
            </p:cNvPr>
            <p:cNvSpPr/>
            <p:nvPr/>
          </p:nvSpPr>
          <p:spPr>
            <a:xfrm>
              <a:off x="9360000" y="3852000"/>
              <a:ext cx="396000" cy="540000"/>
            </a:xfrm>
            <a:prstGeom prst="upDownArrow">
              <a:avLst>
                <a:gd name="adj1" fmla="val 50000"/>
                <a:gd name="adj2" fmla="val 38877"/>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BF86EEF8-0961-899D-785A-D03168B146A6}"/>
                    </a:ext>
                  </a:extLst>
                </p:cNvPr>
                <p:cNvSpPr txBox="1"/>
                <p:nvPr/>
              </p:nvSpPr>
              <p:spPr>
                <a:xfrm>
                  <a:off x="8712000" y="1008000"/>
                  <a:ext cx="54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solidFill>
                                  <a:schemeClr val="accent5">
                                    <a:lumMod val="75000"/>
                                  </a:schemeClr>
                                </a:solidFill>
                                <a:latin typeface="Cambria Math" panose="02040503050406030204" pitchFamily="18" charset="0"/>
                              </a:rPr>
                            </m:ctrlPr>
                          </m:sSubPr>
                          <m:e>
                            <m:r>
                              <m:rPr>
                                <m:sty m:val="p"/>
                              </m:rPr>
                              <a:rPr lang="en-US" altLang="zh-CN" sz="2200" b="0" i="0" smtClean="0">
                                <a:solidFill>
                                  <a:schemeClr val="accent5">
                                    <a:lumMod val="75000"/>
                                  </a:schemeClr>
                                </a:solidFill>
                                <a:latin typeface="Cambria Math" panose="02040503050406030204" pitchFamily="18" charset="0"/>
                              </a:rPr>
                              <m:t>A</m:t>
                            </m:r>
                          </m:e>
                          <m:sub>
                            <m:r>
                              <a:rPr lang="en-US" altLang="zh-CN" sz="2200" b="0" i="1" smtClean="0">
                                <a:solidFill>
                                  <a:schemeClr val="accent5">
                                    <a:lumMod val="75000"/>
                                  </a:schemeClr>
                                </a:solidFill>
                                <a:latin typeface="Cambria Math" panose="02040503050406030204" pitchFamily="18" charset="0"/>
                              </a:rPr>
                              <m:t>𝑖</m:t>
                            </m:r>
                          </m:sub>
                        </m:sSub>
                      </m:oMath>
                    </m:oMathPara>
                  </a14:m>
                  <a:endParaRPr lang="zh-CN" altLang="en-US" sz="2200" dirty="0">
                    <a:solidFill>
                      <a:schemeClr val="accent5">
                        <a:lumMod val="75000"/>
                      </a:schemeClr>
                    </a:solidFill>
                  </a:endParaRPr>
                </a:p>
              </p:txBody>
            </p:sp>
          </mc:Choice>
          <mc:Fallback xmlns="">
            <p:sp>
              <p:nvSpPr>
                <p:cNvPr id="22" name="文本框 21">
                  <a:extLst>
                    <a:ext uri="{FF2B5EF4-FFF2-40B4-BE49-F238E27FC236}">
                      <a16:creationId xmlns:a16="http://schemas.microsoft.com/office/drawing/2014/main" id="{BF86EEF8-0961-899D-785A-D03168B146A6}"/>
                    </a:ext>
                  </a:extLst>
                </p:cNvPr>
                <p:cNvSpPr txBox="1">
                  <a:spLocks noRot="1" noChangeAspect="1" noMove="1" noResize="1" noEditPoints="1" noAdjustHandles="1" noChangeArrowheads="1" noChangeShapeType="1" noTextEdit="1"/>
                </p:cNvSpPr>
                <p:nvPr/>
              </p:nvSpPr>
              <p:spPr>
                <a:xfrm>
                  <a:off x="8712000" y="1008000"/>
                  <a:ext cx="540000" cy="360000"/>
                </a:xfrm>
                <a:prstGeom prst="rect">
                  <a:avLst/>
                </a:prstGeom>
                <a:blipFill>
                  <a:blip r:embed="rId3"/>
                  <a:stretch>
                    <a:fillRect b="-8475"/>
                  </a:stretch>
                </a:blipFill>
              </p:spPr>
              <p:txBody>
                <a:bodyPr/>
                <a:lstStyle/>
                <a:p>
                  <a:r>
                    <a:rPr lang="zh-CN" altLang="en-US">
                      <a:noFill/>
                    </a:rPr>
                    <a:t> </a:t>
                  </a:r>
                </a:p>
              </p:txBody>
            </p:sp>
          </mc:Fallback>
        </mc:AlternateContent>
        <p:cxnSp>
          <p:nvCxnSpPr>
            <p:cNvPr id="21" name="直接连接符 20">
              <a:extLst>
                <a:ext uri="{FF2B5EF4-FFF2-40B4-BE49-F238E27FC236}">
                  <a16:creationId xmlns:a16="http://schemas.microsoft.com/office/drawing/2014/main" id="{2D232E26-2479-7155-33A2-83533DF4C088}"/>
                </a:ext>
              </a:extLst>
            </p:cNvPr>
            <p:cNvCxnSpPr>
              <a:cxnSpLocks/>
            </p:cNvCxnSpPr>
            <p:nvPr/>
          </p:nvCxnSpPr>
          <p:spPr>
            <a:xfrm>
              <a:off x="8982000" y="13680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FA57888B-DDC8-8272-DC21-396A74642919}"/>
                </a:ext>
              </a:extLst>
            </p:cNvPr>
            <p:cNvCxnSpPr>
              <a:cxnSpLocks/>
            </p:cNvCxnSpPr>
            <p:nvPr/>
          </p:nvCxnSpPr>
          <p:spPr>
            <a:xfrm>
              <a:off x="10134000" y="13680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6EAC68B0-97AA-9CA6-0F6B-24C6D10C8677}"/>
                    </a:ext>
                  </a:extLst>
                </p:cNvPr>
                <p:cNvSpPr txBox="1"/>
                <p:nvPr/>
              </p:nvSpPr>
              <p:spPr>
                <a:xfrm>
                  <a:off x="9864000" y="1008000"/>
                  <a:ext cx="54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solidFill>
                                  <a:schemeClr val="accent5">
                                    <a:lumMod val="75000"/>
                                  </a:schemeClr>
                                </a:solidFill>
                                <a:latin typeface="Cambria Math" panose="02040503050406030204" pitchFamily="18" charset="0"/>
                              </a:rPr>
                            </m:ctrlPr>
                          </m:sSubPr>
                          <m:e>
                            <m:r>
                              <m:rPr>
                                <m:sty m:val="p"/>
                              </m:rPr>
                              <a:rPr lang="en-US" altLang="zh-CN" sz="2200" b="0" i="0" smtClean="0">
                                <a:solidFill>
                                  <a:schemeClr val="accent5">
                                    <a:lumMod val="75000"/>
                                  </a:schemeClr>
                                </a:solidFill>
                                <a:latin typeface="Cambria Math" panose="02040503050406030204" pitchFamily="18" charset="0"/>
                              </a:rPr>
                              <m:t>A</m:t>
                            </m:r>
                          </m:e>
                          <m:sub>
                            <m:r>
                              <a:rPr lang="en-US" altLang="zh-CN" sz="2200" b="0" i="1" smtClean="0">
                                <a:solidFill>
                                  <a:schemeClr val="accent5">
                                    <a:lumMod val="75000"/>
                                  </a:schemeClr>
                                </a:solidFill>
                                <a:latin typeface="Cambria Math" panose="02040503050406030204" pitchFamily="18" charset="0"/>
                              </a:rPr>
                              <m:t>0</m:t>
                            </m:r>
                          </m:sub>
                        </m:sSub>
                      </m:oMath>
                    </m:oMathPara>
                  </a14:m>
                  <a:endParaRPr lang="zh-CN" altLang="en-US" sz="2200" dirty="0">
                    <a:solidFill>
                      <a:schemeClr val="accent5">
                        <a:lumMod val="75000"/>
                      </a:schemeClr>
                    </a:solidFill>
                  </a:endParaRPr>
                </a:p>
              </p:txBody>
            </p:sp>
          </mc:Choice>
          <mc:Fallback xmlns="">
            <p:sp>
              <p:nvSpPr>
                <p:cNvPr id="31" name="文本框 30">
                  <a:extLst>
                    <a:ext uri="{FF2B5EF4-FFF2-40B4-BE49-F238E27FC236}">
                      <a16:creationId xmlns:a16="http://schemas.microsoft.com/office/drawing/2014/main" id="{6EAC68B0-97AA-9CA6-0F6B-24C6D10C8677}"/>
                    </a:ext>
                  </a:extLst>
                </p:cNvPr>
                <p:cNvSpPr txBox="1">
                  <a:spLocks noRot="1" noChangeAspect="1" noMove="1" noResize="1" noEditPoints="1" noAdjustHandles="1" noChangeArrowheads="1" noChangeShapeType="1" noTextEdit="1"/>
                </p:cNvSpPr>
                <p:nvPr/>
              </p:nvSpPr>
              <p:spPr>
                <a:xfrm>
                  <a:off x="9864000" y="1008000"/>
                  <a:ext cx="540000" cy="360000"/>
                </a:xfrm>
                <a:prstGeom prst="rect">
                  <a:avLst/>
                </a:prstGeom>
                <a:blipFill>
                  <a:blip r:embed="rId4"/>
                  <a:stretch>
                    <a:fillRect b="-67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D9825A5D-ED02-6E34-54A5-4D6510BD8A31}"/>
                    </a:ext>
                  </a:extLst>
                </p:cNvPr>
                <p:cNvSpPr txBox="1"/>
                <p:nvPr/>
              </p:nvSpPr>
              <p:spPr>
                <a:xfrm>
                  <a:off x="9270000" y="990000"/>
                  <a:ext cx="540000" cy="396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38" name="文本框 37">
                  <a:extLst>
                    <a:ext uri="{FF2B5EF4-FFF2-40B4-BE49-F238E27FC236}">
                      <a16:creationId xmlns:a16="http://schemas.microsoft.com/office/drawing/2014/main" id="{D9825A5D-ED02-6E34-54A5-4D6510BD8A31}"/>
                    </a:ext>
                  </a:extLst>
                </p:cNvPr>
                <p:cNvSpPr txBox="1">
                  <a:spLocks noRot="1" noChangeAspect="1" noMove="1" noResize="1" noEditPoints="1" noAdjustHandles="1" noChangeArrowheads="1" noChangeShapeType="1" noTextEdit="1"/>
                </p:cNvSpPr>
                <p:nvPr/>
              </p:nvSpPr>
              <p:spPr>
                <a:xfrm>
                  <a:off x="9270000" y="990000"/>
                  <a:ext cx="540000" cy="396000"/>
                </a:xfrm>
                <a:prstGeom prst="rect">
                  <a:avLst/>
                </a:prstGeom>
                <a:blipFill>
                  <a:blip r:embed="rId5"/>
                  <a:stretch>
                    <a:fillRect/>
                  </a:stretch>
                </a:blipFill>
              </p:spPr>
              <p:txBody>
                <a:bodyPr/>
                <a:lstStyle/>
                <a:p>
                  <a:r>
                    <a:rPr lang="zh-CN" altLang="en-US">
                      <a:noFill/>
                    </a:rPr>
                    <a:t> </a:t>
                  </a:r>
                </a:p>
              </p:txBody>
            </p:sp>
          </mc:Fallback>
        </mc:AlternateContent>
        <p:cxnSp>
          <p:nvCxnSpPr>
            <p:cNvPr id="40" name="直接连接符 39">
              <a:extLst>
                <a:ext uri="{FF2B5EF4-FFF2-40B4-BE49-F238E27FC236}">
                  <a16:creationId xmlns:a16="http://schemas.microsoft.com/office/drawing/2014/main" id="{91177DE9-94D7-BCE5-3DBB-169C269E0C25}"/>
                </a:ext>
              </a:extLst>
            </p:cNvPr>
            <p:cNvCxnSpPr>
              <a:cxnSpLocks/>
            </p:cNvCxnSpPr>
            <p:nvPr/>
          </p:nvCxnSpPr>
          <p:spPr>
            <a:xfrm flipH="1">
              <a:off x="6480000" y="2808000"/>
              <a:ext cx="28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1450F689-2092-1DB1-7044-D77D345CE5A3}"/>
                    </a:ext>
                  </a:extLst>
                </p:cNvPr>
                <p:cNvSpPr txBox="1"/>
                <p:nvPr/>
              </p:nvSpPr>
              <p:spPr>
                <a:xfrm>
                  <a:off x="5760000" y="3420000"/>
                  <a:ext cx="720000" cy="360000"/>
                </a:xfrm>
                <a:prstGeom prst="rect">
                  <a:avLst/>
                </a:prstGeom>
                <a:noFill/>
              </p:spPr>
              <p:txBody>
                <a:bodyPr wrap="square" lIns="0" tIns="0" rIns="0" bIns="0" rtlCol="0">
                  <a:spAutoFit/>
                </a:bodyPr>
                <a:lstStyle/>
                <a:p>
                  <a:pPr/>
                  <a14:m>
                    <m:oMathPara xmlns:m="http://schemas.openxmlformats.org/officeDocument/2006/math">
                      <m:oMathParaPr>
                        <m:jc m:val="right"/>
                      </m:oMathParaPr>
                      <m:oMath xmlns:m="http://schemas.openxmlformats.org/officeDocument/2006/math">
                        <m:sSub>
                          <m:sSubPr>
                            <m:ctrlPr>
                              <a:rPr lang="en-US" altLang="zh-CN" sz="2200" i="1" smtClean="0">
                                <a:solidFill>
                                  <a:schemeClr val="accent5">
                                    <a:lumMod val="75000"/>
                                  </a:schemeClr>
                                </a:solidFill>
                                <a:latin typeface="Cambria Math" panose="02040503050406030204" pitchFamily="18" charset="0"/>
                              </a:rPr>
                            </m:ctrlPr>
                          </m:sSubPr>
                          <m:e>
                            <m:r>
                              <m:rPr>
                                <m:sty m:val="p"/>
                              </m:rPr>
                              <a:rPr lang="en-US" altLang="zh-CN" sz="2200" b="0" i="0" smtClean="0">
                                <a:solidFill>
                                  <a:schemeClr val="accent5">
                                    <a:lumMod val="75000"/>
                                  </a:schemeClr>
                                </a:solidFill>
                                <a:latin typeface="Cambria Math" panose="02040503050406030204" pitchFamily="18" charset="0"/>
                              </a:rPr>
                              <m:t>A</m:t>
                            </m:r>
                          </m:e>
                          <m:sub>
                            <m:r>
                              <a:rPr lang="en-US" altLang="zh-CN" sz="2200" b="0" i="1" smtClean="0">
                                <a:solidFill>
                                  <a:schemeClr val="accent5">
                                    <a:lumMod val="75000"/>
                                  </a:schemeClr>
                                </a:solidFill>
                                <a:latin typeface="Cambria Math" panose="02040503050406030204" pitchFamily="18" charset="0"/>
                              </a:rPr>
                              <m:t>𝑖</m:t>
                            </m:r>
                            <m:r>
                              <a:rPr lang="en-US" altLang="zh-CN" sz="2200" b="0" i="1" smtClean="0">
                                <a:solidFill>
                                  <a:schemeClr val="accent5">
                                    <a:lumMod val="75000"/>
                                  </a:schemeClr>
                                </a:solidFill>
                                <a:latin typeface="Cambria Math" panose="02040503050406030204" pitchFamily="18" charset="0"/>
                              </a:rPr>
                              <m:t>+1</m:t>
                            </m:r>
                          </m:sub>
                        </m:sSub>
                      </m:oMath>
                    </m:oMathPara>
                  </a14:m>
                  <a:endParaRPr lang="zh-CN" altLang="en-US" sz="2200" dirty="0">
                    <a:solidFill>
                      <a:schemeClr val="accent5">
                        <a:lumMod val="75000"/>
                      </a:schemeClr>
                    </a:solidFill>
                  </a:endParaRPr>
                </a:p>
              </p:txBody>
            </p:sp>
          </mc:Choice>
          <mc:Fallback xmlns="">
            <p:sp>
              <p:nvSpPr>
                <p:cNvPr id="42" name="文本框 41">
                  <a:extLst>
                    <a:ext uri="{FF2B5EF4-FFF2-40B4-BE49-F238E27FC236}">
                      <a16:creationId xmlns:a16="http://schemas.microsoft.com/office/drawing/2014/main" id="{1450F689-2092-1DB1-7044-D77D345CE5A3}"/>
                    </a:ext>
                  </a:extLst>
                </p:cNvPr>
                <p:cNvSpPr txBox="1">
                  <a:spLocks noRot="1" noChangeAspect="1" noMove="1" noResize="1" noEditPoints="1" noAdjustHandles="1" noChangeArrowheads="1" noChangeShapeType="1" noTextEdit="1"/>
                </p:cNvSpPr>
                <p:nvPr/>
              </p:nvSpPr>
              <p:spPr>
                <a:xfrm>
                  <a:off x="5760000" y="3420000"/>
                  <a:ext cx="720000" cy="360000"/>
                </a:xfrm>
                <a:prstGeom prst="rect">
                  <a:avLst/>
                </a:prstGeom>
                <a:blipFill>
                  <a:blip r:embed="rId6"/>
                  <a:stretch>
                    <a:fillRect r="-7627"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9CF69A88-61DF-183C-606B-0C98004AC0EB}"/>
                    </a:ext>
                  </a:extLst>
                </p:cNvPr>
                <p:cNvSpPr txBox="1"/>
                <p:nvPr/>
              </p:nvSpPr>
              <p:spPr>
                <a:xfrm>
                  <a:off x="5760000" y="2628000"/>
                  <a:ext cx="720000" cy="360000"/>
                </a:xfrm>
                <a:prstGeom prst="rect">
                  <a:avLst/>
                </a:prstGeom>
                <a:noFill/>
              </p:spPr>
              <p:txBody>
                <a:bodyPr wrap="square" lIns="0" tIns="0" rIns="0" bIns="0" rtlCol="0">
                  <a:spAutoFit/>
                </a:bodyPr>
                <a:lstStyle/>
                <a:p>
                  <a:pPr/>
                  <a14:m>
                    <m:oMathPara xmlns:m="http://schemas.openxmlformats.org/officeDocument/2006/math">
                      <m:oMathParaPr>
                        <m:jc m:val="right"/>
                      </m:oMathParaPr>
                      <m:oMath xmlns:m="http://schemas.openxmlformats.org/officeDocument/2006/math">
                        <m:sSub>
                          <m:sSubPr>
                            <m:ctrlPr>
                              <a:rPr lang="en-US" altLang="zh-CN" sz="2200" i="1" smtClean="0">
                                <a:solidFill>
                                  <a:schemeClr val="accent5">
                                    <a:lumMod val="75000"/>
                                  </a:schemeClr>
                                </a:solidFill>
                                <a:latin typeface="Cambria Math" panose="02040503050406030204" pitchFamily="18" charset="0"/>
                              </a:rPr>
                            </m:ctrlPr>
                          </m:sSubPr>
                          <m:e>
                            <m:r>
                              <m:rPr>
                                <m:sty m:val="p"/>
                              </m:rPr>
                              <a:rPr lang="en-US" altLang="zh-CN" sz="2200" b="0" i="0" smtClean="0">
                                <a:solidFill>
                                  <a:schemeClr val="accent5">
                                    <a:lumMod val="75000"/>
                                  </a:schemeClr>
                                </a:solidFill>
                                <a:latin typeface="Cambria Math" panose="02040503050406030204" pitchFamily="18" charset="0"/>
                              </a:rPr>
                              <m:t>A</m:t>
                            </m:r>
                          </m:e>
                          <m:sub>
                            <m:r>
                              <a:rPr lang="en-US" altLang="zh-CN" sz="2200" b="0" i="1" smtClean="0">
                                <a:solidFill>
                                  <a:schemeClr val="accent5">
                                    <a:lumMod val="75000"/>
                                  </a:schemeClr>
                                </a:solidFill>
                                <a:latin typeface="Cambria Math" panose="02040503050406030204" pitchFamily="18" charset="0"/>
                              </a:rPr>
                              <m:t>𝑛</m:t>
                            </m:r>
                          </m:sub>
                        </m:sSub>
                      </m:oMath>
                    </m:oMathPara>
                  </a14:m>
                  <a:endParaRPr lang="zh-CN" altLang="en-US" sz="2200" dirty="0">
                    <a:solidFill>
                      <a:schemeClr val="accent5">
                        <a:lumMod val="75000"/>
                      </a:schemeClr>
                    </a:solidFill>
                  </a:endParaRPr>
                </a:p>
              </p:txBody>
            </p:sp>
          </mc:Choice>
          <mc:Fallback xmlns="">
            <p:sp>
              <p:nvSpPr>
                <p:cNvPr id="43" name="文本框 42">
                  <a:extLst>
                    <a:ext uri="{FF2B5EF4-FFF2-40B4-BE49-F238E27FC236}">
                      <a16:creationId xmlns:a16="http://schemas.microsoft.com/office/drawing/2014/main" id="{9CF69A88-61DF-183C-606B-0C98004AC0EB}"/>
                    </a:ext>
                  </a:extLst>
                </p:cNvPr>
                <p:cNvSpPr txBox="1">
                  <a:spLocks noRot="1" noChangeAspect="1" noMove="1" noResize="1" noEditPoints="1" noAdjustHandles="1" noChangeArrowheads="1" noChangeShapeType="1" noTextEdit="1"/>
                </p:cNvSpPr>
                <p:nvPr/>
              </p:nvSpPr>
              <p:spPr>
                <a:xfrm>
                  <a:off x="5760000" y="2628000"/>
                  <a:ext cx="720000" cy="360000"/>
                </a:xfrm>
                <a:prstGeom prst="rect">
                  <a:avLst/>
                </a:prstGeom>
                <a:blipFill>
                  <a:blip r:embed="rId7"/>
                  <a:stretch>
                    <a:fillRect r="-4237" b="-33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2AD09AFD-2825-EC49-D37C-3379B0F2E042}"/>
                    </a:ext>
                  </a:extLst>
                </p:cNvPr>
                <p:cNvSpPr txBox="1"/>
                <p:nvPr/>
              </p:nvSpPr>
              <p:spPr>
                <a:xfrm>
                  <a:off x="6084000" y="3024000"/>
                  <a:ext cx="396000" cy="360000"/>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r>
                          <a:rPr lang="en-US" altLang="zh-CN" sz="240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46" name="文本框 45">
                  <a:extLst>
                    <a:ext uri="{FF2B5EF4-FFF2-40B4-BE49-F238E27FC236}">
                      <a16:creationId xmlns:a16="http://schemas.microsoft.com/office/drawing/2014/main" id="{2AD09AFD-2825-EC49-D37C-3379B0F2E042}"/>
                    </a:ext>
                  </a:extLst>
                </p:cNvPr>
                <p:cNvSpPr txBox="1">
                  <a:spLocks noRot="1" noChangeAspect="1" noMove="1" noResize="1" noEditPoints="1" noAdjustHandles="1" noChangeArrowheads="1" noChangeShapeType="1" noTextEdit="1"/>
                </p:cNvSpPr>
                <p:nvPr/>
              </p:nvSpPr>
              <p:spPr>
                <a:xfrm>
                  <a:off x="6084000" y="3024000"/>
                  <a:ext cx="396000" cy="360000"/>
                </a:xfrm>
                <a:prstGeom prst="rect">
                  <a:avLst/>
                </a:prstGeom>
                <a:blipFill>
                  <a:blip r:embed="rId8"/>
                  <a:stretch>
                    <a:fillRect b="-8475"/>
                  </a:stretch>
                </a:blipFill>
              </p:spPr>
              <p:txBody>
                <a:bodyPr/>
                <a:lstStyle/>
                <a:p>
                  <a:r>
                    <a:rPr lang="zh-CN" altLang="en-US">
                      <a:noFill/>
                    </a:rPr>
                    <a:t> </a:t>
                  </a:r>
                </a:p>
              </p:txBody>
            </p:sp>
          </mc:Fallback>
        </mc:AlternateContent>
        <p:sp>
          <p:nvSpPr>
            <p:cNvPr id="47" name="流程图: 延期 46">
              <a:extLst>
                <a:ext uri="{FF2B5EF4-FFF2-40B4-BE49-F238E27FC236}">
                  <a16:creationId xmlns:a16="http://schemas.microsoft.com/office/drawing/2014/main" id="{00A8F1B6-459F-3492-A2ED-2AE7530885ED}"/>
                </a:ext>
              </a:extLst>
            </p:cNvPr>
            <p:cNvSpPr/>
            <p:nvPr/>
          </p:nvSpPr>
          <p:spPr>
            <a:xfrm>
              <a:off x="6804000" y="4392000"/>
              <a:ext cx="468000" cy="468000"/>
            </a:xfrm>
            <a:prstGeom prst="flowChartDelay">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66" name="直接连接符 65">
              <a:extLst>
                <a:ext uri="{FF2B5EF4-FFF2-40B4-BE49-F238E27FC236}">
                  <a16:creationId xmlns:a16="http://schemas.microsoft.com/office/drawing/2014/main" id="{9FB2A666-150B-20DD-3A00-7215185EFC96}"/>
                </a:ext>
              </a:extLst>
            </p:cNvPr>
            <p:cNvCxnSpPr>
              <a:cxnSpLocks/>
            </p:cNvCxnSpPr>
            <p:nvPr/>
          </p:nvCxnSpPr>
          <p:spPr>
            <a:xfrm flipH="1">
              <a:off x="6300000" y="4498906"/>
              <a:ext cx="50375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347643B-5399-F6D7-4D88-18680A645B6F}"/>
                </a:ext>
              </a:extLst>
            </p:cNvPr>
            <p:cNvCxnSpPr>
              <a:cxnSpLocks/>
            </p:cNvCxnSpPr>
            <p:nvPr/>
          </p:nvCxnSpPr>
          <p:spPr>
            <a:xfrm flipH="1">
              <a:off x="6300000" y="4752000"/>
              <a:ext cx="50375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椭圆 47">
              <a:extLst>
                <a:ext uri="{FF2B5EF4-FFF2-40B4-BE49-F238E27FC236}">
                  <a16:creationId xmlns:a16="http://schemas.microsoft.com/office/drawing/2014/main" id="{BC18F39A-DCC6-BA06-6109-14D14A70AF9B}"/>
                </a:ext>
              </a:extLst>
            </p:cNvPr>
            <p:cNvSpPr/>
            <p:nvPr/>
          </p:nvSpPr>
          <p:spPr>
            <a:xfrm>
              <a:off x="6714000" y="4456800"/>
              <a:ext cx="86400" cy="864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a:extLst>
                <a:ext uri="{FF2B5EF4-FFF2-40B4-BE49-F238E27FC236}">
                  <a16:creationId xmlns:a16="http://schemas.microsoft.com/office/drawing/2014/main" id="{5A28F016-2CEA-F215-9119-E35A82C1D3D9}"/>
                </a:ext>
              </a:extLst>
            </p:cNvPr>
            <p:cNvSpPr/>
            <p:nvPr/>
          </p:nvSpPr>
          <p:spPr>
            <a:xfrm>
              <a:off x="6714000" y="4708800"/>
              <a:ext cx="86400" cy="864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9" name="直接连接符 68">
              <a:extLst>
                <a:ext uri="{FF2B5EF4-FFF2-40B4-BE49-F238E27FC236}">
                  <a16:creationId xmlns:a16="http://schemas.microsoft.com/office/drawing/2014/main" id="{6E70783D-93D1-8BDB-73FC-D7FB17DE2FE3}"/>
                </a:ext>
              </a:extLst>
            </p:cNvPr>
            <p:cNvCxnSpPr>
              <a:cxnSpLocks/>
            </p:cNvCxnSpPr>
            <p:nvPr/>
          </p:nvCxnSpPr>
          <p:spPr>
            <a:xfrm flipH="1" flipV="1">
              <a:off x="7272000" y="4626000"/>
              <a:ext cx="46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1CAA9D38-489C-F6E5-2500-FFACE7F7782C}"/>
                </a:ext>
              </a:extLst>
            </p:cNvPr>
            <p:cNvCxnSpPr>
              <a:cxnSpLocks/>
            </p:cNvCxnSpPr>
            <p:nvPr/>
          </p:nvCxnSpPr>
          <p:spPr>
            <a:xfrm>
              <a:off x="7740000" y="4626000"/>
              <a:ext cx="0" cy="45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AEED3686-D7FA-A811-563D-4940091D8D74}"/>
                </a:ext>
              </a:extLst>
            </p:cNvPr>
            <p:cNvCxnSpPr>
              <a:cxnSpLocks/>
            </p:cNvCxnSpPr>
            <p:nvPr/>
          </p:nvCxnSpPr>
          <p:spPr>
            <a:xfrm flipH="1">
              <a:off x="7740000" y="5076000"/>
              <a:ext cx="14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6DB3C4C4-5CB3-5660-2977-5E3A22261CD8}"/>
                </a:ext>
              </a:extLst>
            </p:cNvPr>
            <p:cNvCxnSpPr>
              <a:cxnSpLocks/>
            </p:cNvCxnSpPr>
            <p:nvPr/>
          </p:nvCxnSpPr>
          <p:spPr>
            <a:xfrm flipH="1">
              <a:off x="7272000" y="5310000"/>
              <a:ext cx="190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流程图: 延期 74">
              <a:extLst>
                <a:ext uri="{FF2B5EF4-FFF2-40B4-BE49-F238E27FC236}">
                  <a16:creationId xmlns:a16="http://schemas.microsoft.com/office/drawing/2014/main" id="{156BBBCB-150D-A834-97A5-E95952BF7CAC}"/>
                </a:ext>
              </a:extLst>
            </p:cNvPr>
            <p:cNvSpPr/>
            <p:nvPr/>
          </p:nvSpPr>
          <p:spPr>
            <a:xfrm>
              <a:off x="6804000" y="5076000"/>
              <a:ext cx="468000" cy="468000"/>
            </a:xfrm>
            <a:prstGeom prst="flowChartDelay">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76" name="直接连接符 75">
              <a:extLst>
                <a:ext uri="{FF2B5EF4-FFF2-40B4-BE49-F238E27FC236}">
                  <a16:creationId xmlns:a16="http://schemas.microsoft.com/office/drawing/2014/main" id="{FB800F85-D2AE-C179-9690-B8D333426F63}"/>
                </a:ext>
              </a:extLst>
            </p:cNvPr>
            <p:cNvCxnSpPr>
              <a:cxnSpLocks/>
            </p:cNvCxnSpPr>
            <p:nvPr/>
          </p:nvCxnSpPr>
          <p:spPr>
            <a:xfrm flipH="1">
              <a:off x="6602398" y="5184000"/>
              <a:ext cx="20463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ED71D33E-DA3C-421C-54D5-A5893F4C0A9E}"/>
                </a:ext>
              </a:extLst>
            </p:cNvPr>
            <p:cNvCxnSpPr>
              <a:cxnSpLocks/>
            </p:cNvCxnSpPr>
            <p:nvPr/>
          </p:nvCxnSpPr>
          <p:spPr>
            <a:xfrm flipH="1">
              <a:off x="6303280" y="5436000"/>
              <a:ext cx="50375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椭圆 78">
              <a:extLst>
                <a:ext uri="{FF2B5EF4-FFF2-40B4-BE49-F238E27FC236}">
                  <a16:creationId xmlns:a16="http://schemas.microsoft.com/office/drawing/2014/main" id="{9B4C9186-8129-C0BA-1597-E68A008E3241}"/>
                </a:ext>
              </a:extLst>
            </p:cNvPr>
            <p:cNvSpPr/>
            <p:nvPr/>
          </p:nvSpPr>
          <p:spPr>
            <a:xfrm>
              <a:off x="6714000" y="5392800"/>
              <a:ext cx="86400" cy="864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3" name="直接连接符 82">
              <a:extLst>
                <a:ext uri="{FF2B5EF4-FFF2-40B4-BE49-F238E27FC236}">
                  <a16:creationId xmlns:a16="http://schemas.microsoft.com/office/drawing/2014/main" id="{31123F67-62D0-F326-37D9-BCF7CE1499D6}"/>
                </a:ext>
              </a:extLst>
            </p:cNvPr>
            <p:cNvCxnSpPr>
              <a:cxnSpLocks/>
            </p:cNvCxnSpPr>
            <p:nvPr/>
          </p:nvCxnSpPr>
          <p:spPr>
            <a:xfrm flipH="1">
              <a:off x="6498000" y="5310000"/>
              <a:ext cx="30883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椭圆 81">
              <a:extLst>
                <a:ext uri="{FF2B5EF4-FFF2-40B4-BE49-F238E27FC236}">
                  <a16:creationId xmlns:a16="http://schemas.microsoft.com/office/drawing/2014/main" id="{18BCE366-ABFA-5AEF-7893-E94B4FC1BC1F}"/>
                </a:ext>
              </a:extLst>
            </p:cNvPr>
            <p:cNvSpPr/>
            <p:nvPr/>
          </p:nvSpPr>
          <p:spPr>
            <a:xfrm>
              <a:off x="6714000" y="5266800"/>
              <a:ext cx="86400" cy="864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4" name="直接连接符 83">
              <a:extLst>
                <a:ext uri="{FF2B5EF4-FFF2-40B4-BE49-F238E27FC236}">
                  <a16:creationId xmlns:a16="http://schemas.microsoft.com/office/drawing/2014/main" id="{6CD5F09E-4F16-CB3F-539A-0B9597063844}"/>
                </a:ext>
              </a:extLst>
            </p:cNvPr>
            <p:cNvCxnSpPr>
              <a:cxnSpLocks/>
            </p:cNvCxnSpPr>
            <p:nvPr/>
          </p:nvCxnSpPr>
          <p:spPr>
            <a:xfrm>
              <a:off x="6606000" y="4752000"/>
              <a:ext cx="0" cy="432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3A44BBDF-F0FD-5ED0-AAF6-AF3630023117}"/>
                </a:ext>
              </a:extLst>
            </p:cNvPr>
            <p:cNvCxnSpPr>
              <a:cxnSpLocks/>
            </p:cNvCxnSpPr>
            <p:nvPr/>
          </p:nvCxnSpPr>
          <p:spPr>
            <a:xfrm>
              <a:off x="6497010" y="4498906"/>
              <a:ext cx="0" cy="81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7" name="椭圆 96">
              <a:extLst>
                <a:ext uri="{FF2B5EF4-FFF2-40B4-BE49-F238E27FC236}">
                  <a16:creationId xmlns:a16="http://schemas.microsoft.com/office/drawing/2014/main" id="{D30F5B7B-89E2-CCD2-0964-DECADD107A11}"/>
                </a:ext>
              </a:extLst>
            </p:cNvPr>
            <p:cNvSpPr/>
            <p:nvPr/>
          </p:nvSpPr>
          <p:spPr>
            <a:xfrm>
              <a:off x="6462000" y="4464000"/>
              <a:ext cx="72000" cy="72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椭圆 97">
              <a:extLst>
                <a:ext uri="{FF2B5EF4-FFF2-40B4-BE49-F238E27FC236}">
                  <a16:creationId xmlns:a16="http://schemas.microsoft.com/office/drawing/2014/main" id="{1C5040E5-BBE9-839C-C7CD-CD16858DCE78}"/>
                </a:ext>
              </a:extLst>
            </p:cNvPr>
            <p:cNvSpPr/>
            <p:nvPr/>
          </p:nvSpPr>
          <p:spPr>
            <a:xfrm>
              <a:off x="6570000" y="4716000"/>
              <a:ext cx="72000" cy="72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4" name="直接连接符 103">
              <a:extLst>
                <a:ext uri="{FF2B5EF4-FFF2-40B4-BE49-F238E27FC236}">
                  <a16:creationId xmlns:a16="http://schemas.microsoft.com/office/drawing/2014/main" id="{1ACF8F00-7FBB-8300-8AF3-E4B372E39AD6}"/>
                </a:ext>
              </a:extLst>
            </p:cNvPr>
            <p:cNvCxnSpPr>
              <a:cxnSpLocks/>
            </p:cNvCxnSpPr>
            <p:nvPr/>
          </p:nvCxnSpPr>
          <p:spPr>
            <a:xfrm>
              <a:off x="8406000" y="4860000"/>
              <a:ext cx="0" cy="129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4F8B68E9-70CC-8D97-9EC6-0A283F6ADAAF}"/>
                </a:ext>
              </a:extLst>
            </p:cNvPr>
            <p:cNvCxnSpPr>
              <a:cxnSpLocks/>
            </p:cNvCxnSpPr>
            <p:nvPr/>
          </p:nvCxnSpPr>
          <p:spPr>
            <a:xfrm>
              <a:off x="9090000" y="4860000"/>
              <a:ext cx="0" cy="107879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270F2BAA-CECE-8186-16E6-A33E15BD6E5A}"/>
                </a:ext>
              </a:extLst>
            </p:cNvPr>
            <p:cNvCxnSpPr>
              <a:cxnSpLocks/>
            </p:cNvCxnSpPr>
            <p:nvPr/>
          </p:nvCxnSpPr>
          <p:spPr>
            <a:xfrm>
              <a:off x="8784000" y="5074993"/>
              <a:ext cx="0" cy="5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8C9AE892-A533-CD0B-A740-7F688412034E}"/>
                </a:ext>
              </a:extLst>
            </p:cNvPr>
            <p:cNvCxnSpPr>
              <a:cxnSpLocks/>
            </p:cNvCxnSpPr>
            <p:nvPr/>
          </p:nvCxnSpPr>
          <p:spPr>
            <a:xfrm>
              <a:off x="8784000" y="5634000"/>
              <a:ext cx="2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677FA86C-8DE1-2A9C-419F-12E1B6715A19}"/>
                </a:ext>
              </a:extLst>
            </p:cNvPr>
            <p:cNvCxnSpPr>
              <a:cxnSpLocks/>
            </p:cNvCxnSpPr>
            <p:nvPr/>
          </p:nvCxnSpPr>
          <p:spPr>
            <a:xfrm>
              <a:off x="8100000" y="5634000"/>
              <a:ext cx="2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直接连接符 131">
              <a:extLst>
                <a:ext uri="{FF2B5EF4-FFF2-40B4-BE49-F238E27FC236}">
                  <a16:creationId xmlns:a16="http://schemas.microsoft.com/office/drawing/2014/main" id="{467127D5-D132-EEEA-8A85-FDFF3E0384AC}"/>
                </a:ext>
              </a:extLst>
            </p:cNvPr>
            <p:cNvCxnSpPr>
              <a:cxnSpLocks/>
            </p:cNvCxnSpPr>
            <p:nvPr/>
          </p:nvCxnSpPr>
          <p:spPr>
            <a:xfrm>
              <a:off x="8100000" y="5310000"/>
              <a:ext cx="0" cy="324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5" name="椭圆 134">
              <a:extLst>
                <a:ext uri="{FF2B5EF4-FFF2-40B4-BE49-F238E27FC236}">
                  <a16:creationId xmlns:a16="http://schemas.microsoft.com/office/drawing/2014/main" id="{7ECBE20B-C682-FEC9-AB29-45CAB4118DAF}"/>
                </a:ext>
              </a:extLst>
            </p:cNvPr>
            <p:cNvSpPr/>
            <p:nvPr/>
          </p:nvSpPr>
          <p:spPr>
            <a:xfrm>
              <a:off x="8064000" y="5274000"/>
              <a:ext cx="72000" cy="72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椭圆 135">
              <a:extLst>
                <a:ext uri="{FF2B5EF4-FFF2-40B4-BE49-F238E27FC236}">
                  <a16:creationId xmlns:a16="http://schemas.microsoft.com/office/drawing/2014/main" id="{5081CCD0-F32D-6055-7720-01F34856B528}"/>
                </a:ext>
              </a:extLst>
            </p:cNvPr>
            <p:cNvSpPr/>
            <p:nvPr/>
          </p:nvSpPr>
          <p:spPr>
            <a:xfrm>
              <a:off x="8748000" y="5040000"/>
              <a:ext cx="72000" cy="72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2" name="直接连接符 151">
              <a:extLst>
                <a:ext uri="{FF2B5EF4-FFF2-40B4-BE49-F238E27FC236}">
                  <a16:creationId xmlns:a16="http://schemas.microsoft.com/office/drawing/2014/main" id="{868A7EDC-ACEF-9D48-CDDA-AD81D6537DEC}"/>
                </a:ext>
              </a:extLst>
            </p:cNvPr>
            <p:cNvCxnSpPr>
              <a:cxnSpLocks/>
            </p:cNvCxnSpPr>
            <p:nvPr/>
          </p:nvCxnSpPr>
          <p:spPr>
            <a:xfrm flipH="1">
              <a:off x="9230400" y="5076000"/>
              <a:ext cx="288000" cy="0"/>
            </a:xfrm>
            <a:prstGeom prst="line">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60" name="直接连接符 159">
              <a:extLst>
                <a:ext uri="{FF2B5EF4-FFF2-40B4-BE49-F238E27FC236}">
                  <a16:creationId xmlns:a16="http://schemas.microsoft.com/office/drawing/2014/main" id="{1CB6A41B-8AB7-88C3-EC5A-9689400167EE}"/>
                </a:ext>
              </a:extLst>
            </p:cNvPr>
            <p:cNvCxnSpPr>
              <a:cxnSpLocks/>
            </p:cNvCxnSpPr>
            <p:nvPr/>
          </p:nvCxnSpPr>
          <p:spPr>
            <a:xfrm flipH="1">
              <a:off x="9230400" y="5310000"/>
              <a:ext cx="288000" cy="0"/>
            </a:xfrm>
            <a:prstGeom prst="line">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15" name="等腰三角形 114">
              <a:extLst>
                <a:ext uri="{FF2B5EF4-FFF2-40B4-BE49-F238E27FC236}">
                  <a16:creationId xmlns:a16="http://schemas.microsoft.com/office/drawing/2014/main" id="{8288DA13-66A9-5364-B19A-8AF031716AE4}"/>
                </a:ext>
              </a:extLst>
            </p:cNvPr>
            <p:cNvSpPr/>
            <p:nvPr/>
          </p:nvSpPr>
          <p:spPr>
            <a:xfrm>
              <a:off x="8874000" y="5436000"/>
              <a:ext cx="432000" cy="396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16" name="等腰三角形 115">
              <a:extLst>
                <a:ext uri="{FF2B5EF4-FFF2-40B4-BE49-F238E27FC236}">
                  <a16:creationId xmlns:a16="http://schemas.microsoft.com/office/drawing/2014/main" id="{4B60A1A6-9B9C-CF12-D4FD-DB8EF44677CD}"/>
                </a:ext>
              </a:extLst>
            </p:cNvPr>
            <p:cNvSpPr/>
            <p:nvPr/>
          </p:nvSpPr>
          <p:spPr>
            <a:xfrm flipV="1">
              <a:off x="8190000" y="5436000"/>
              <a:ext cx="432000" cy="396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166" name="直接连接符 165">
              <a:extLst>
                <a:ext uri="{FF2B5EF4-FFF2-40B4-BE49-F238E27FC236}">
                  <a16:creationId xmlns:a16="http://schemas.microsoft.com/office/drawing/2014/main" id="{0D190C35-E284-5261-7B73-1C4C504A2BC0}"/>
                </a:ext>
              </a:extLst>
            </p:cNvPr>
            <p:cNvCxnSpPr>
              <a:cxnSpLocks/>
            </p:cNvCxnSpPr>
            <p:nvPr/>
          </p:nvCxnSpPr>
          <p:spPr>
            <a:xfrm>
              <a:off x="8405909" y="5940000"/>
              <a:ext cx="68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68" name="椭圆 167">
              <a:extLst>
                <a:ext uri="{FF2B5EF4-FFF2-40B4-BE49-F238E27FC236}">
                  <a16:creationId xmlns:a16="http://schemas.microsoft.com/office/drawing/2014/main" id="{FA391AC1-F55C-EFDF-5700-D47227CEE91C}"/>
                </a:ext>
              </a:extLst>
            </p:cNvPr>
            <p:cNvSpPr/>
            <p:nvPr/>
          </p:nvSpPr>
          <p:spPr>
            <a:xfrm>
              <a:off x="8370000" y="5904000"/>
              <a:ext cx="72000" cy="72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72" name="文本框 171">
                  <a:extLst>
                    <a:ext uri="{FF2B5EF4-FFF2-40B4-BE49-F238E27FC236}">
                      <a16:creationId xmlns:a16="http://schemas.microsoft.com/office/drawing/2014/main" id="{BC1C1EE9-A557-C10B-E76E-48EE5E9C6E43}"/>
                    </a:ext>
                  </a:extLst>
                </p:cNvPr>
                <p:cNvSpPr txBox="1"/>
                <p:nvPr/>
              </p:nvSpPr>
              <p:spPr>
                <a:xfrm>
                  <a:off x="5724000" y="4284000"/>
                  <a:ext cx="504000" cy="360000"/>
                </a:xfrm>
                <a:prstGeom prst="rect">
                  <a:avLst/>
                </a:prstGeom>
                <a:noFill/>
              </p:spPr>
              <p:txBody>
                <a:bodyPr wrap="square" lIns="0" tIns="0" rIns="0" bIns="0" rtlCol="0">
                  <a:spAutoFit/>
                </a:bodyPr>
                <a:lstStyle/>
                <a:p>
                  <a:pPr algn="r"/>
                  <a14:m>
                    <m:oMathPara xmlns:m="http://schemas.openxmlformats.org/officeDocument/2006/math">
                      <m:oMathParaPr>
                        <m:jc m:val="right"/>
                      </m:oMathParaPr>
                      <m:oMath xmlns:m="http://schemas.openxmlformats.org/officeDocument/2006/math">
                        <m:acc>
                          <m:accPr>
                            <m:chr m:val="̅"/>
                            <m:ctrlPr>
                              <a:rPr lang="en-US" altLang="zh-CN" sz="2200" i="1" smtClean="0">
                                <a:solidFill>
                                  <a:schemeClr val="accent5">
                                    <a:lumMod val="75000"/>
                                  </a:schemeClr>
                                </a:solidFill>
                                <a:latin typeface="Cambria Math" panose="02040503050406030204" pitchFamily="18" charset="0"/>
                              </a:rPr>
                            </m:ctrlPr>
                          </m:accPr>
                          <m:e>
                            <m:r>
                              <m:rPr>
                                <m:sty m:val="p"/>
                              </m:rPr>
                              <a:rPr lang="en-US" altLang="zh-CN" sz="2200" b="0" i="0" smtClean="0">
                                <a:solidFill>
                                  <a:schemeClr val="accent5">
                                    <a:lumMod val="75000"/>
                                  </a:schemeClr>
                                </a:solidFill>
                                <a:latin typeface="Cambria Math" panose="02040503050406030204" pitchFamily="18" charset="0"/>
                              </a:rPr>
                              <m:t>CE</m:t>
                            </m:r>
                          </m:e>
                        </m:acc>
                      </m:oMath>
                    </m:oMathPara>
                  </a14:m>
                  <a:endParaRPr lang="zh-CN" altLang="en-US" sz="2200" dirty="0">
                    <a:solidFill>
                      <a:schemeClr val="accent5">
                        <a:lumMod val="75000"/>
                      </a:schemeClr>
                    </a:solidFill>
                  </a:endParaRPr>
                </a:p>
              </p:txBody>
            </p:sp>
          </mc:Choice>
          <mc:Fallback xmlns="">
            <p:sp>
              <p:nvSpPr>
                <p:cNvPr id="172" name="文本框 171">
                  <a:extLst>
                    <a:ext uri="{FF2B5EF4-FFF2-40B4-BE49-F238E27FC236}">
                      <a16:creationId xmlns:a16="http://schemas.microsoft.com/office/drawing/2014/main" id="{BC1C1EE9-A557-C10B-E76E-48EE5E9C6E43}"/>
                    </a:ext>
                  </a:extLst>
                </p:cNvPr>
                <p:cNvSpPr txBox="1">
                  <a:spLocks noRot="1" noChangeAspect="1" noMove="1" noResize="1" noEditPoints="1" noAdjustHandles="1" noChangeArrowheads="1" noChangeShapeType="1" noTextEdit="1"/>
                </p:cNvSpPr>
                <p:nvPr/>
              </p:nvSpPr>
              <p:spPr>
                <a:xfrm>
                  <a:off x="5724000" y="4284000"/>
                  <a:ext cx="504000" cy="360000"/>
                </a:xfrm>
                <a:prstGeom prst="rect">
                  <a:avLst/>
                </a:prstGeom>
                <a:blipFill>
                  <a:blip r:embed="rId9"/>
                  <a:stretch>
                    <a:fillRect r="-180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3" name="文本框 172">
                  <a:extLst>
                    <a:ext uri="{FF2B5EF4-FFF2-40B4-BE49-F238E27FC236}">
                      <a16:creationId xmlns:a16="http://schemas.microsoft.com/office/drawing/2014/main" id="{C88A6FA1-74B1-A70E-1F7C-D41B057C2E8F}"/>
                    </a:ext>
                  </a:extLst>
                </p:cNvPr>
                <p:cNvSpPr txBox="1"/>
                <p:nvPr/>
              </p:nvSpPr>
              <p:spPr>
                <a:xfrm>
                  <a:off x="5724000" y="4644000"/>
                  <a:ext cx="504000" cy="360000"/>
                </a:xfrm>
                <a:prstGeom prst="rect">
                  <a:avLst/>
                </a:prstGeom>
                <a:noFill/>
              </p:spPr>
              <p:txBody>
                <a:bodyPr wrap="square" lIns="0" tIns="0" rIns="0" bIns="0" rtlCol="0">
                  <a:spAutoFit/>
                </a:bodyPr>
                <a:lstStyle/>
                <a:p>
                  <a:pPr algn="r"/>
                  <a14:m>
                    <m:oMathPara xmlns:m="http://schemas.openxmlformats.org/officeDocument/2006/math">
                      <m:oMathParaPr>
                        <m:jc m:val="right"/>
                      </m:oMathParaPr>
                      <m:oMath xmlns:m="http://schemas.openxmlformats.org/officeDocument/2006/math">
                        <m:acc>
                          <m:accPr>
                            <m:chr m:val="̅"/>
                            <m:ctrlPr>
                              <a:rPr lang="en-US" altLang="zh-CN" sz="2200" i="1" smtClean="0">
                                <a:solidFill>
                                  <a:schemeClr val="accent5">
                                    <a:lumMod val="75000"/>
                                  </a:schemeClr>
                                </a:solidFill>
                                <a:latin typeface="Cambria Math" panose="02040503050406030204" pitchFamily="18" charset="0"/>
                              </a:rPr>
                            </m:ctrlPr>
                          </m:accPr>
                          <m:e>
                            <m:r>
                              <m:rPr>
                                <m:sty m:val="p"/>
                              </m:rPr>
                              <a:rPr lang="en-US" altLang="zh-CN" sz="2200" b="0" i="0" smtClean="0">
                                <a:solidFill>
                                  <a:schemeClr val="accent5">
                                    <a:lumMod val="75000"/>
                                  </a:schemeClr>
                                </a:solidFill>
                                <a:latin typeface="Cambria Math" panose="02040503050406030204" pitchFamily="18" charset="0"/>
                              </a:rPr>
                              <m:t>WE</m:t>
                            </m:r>
                          </m:e>
                        </m:acc>
                      </m:oMath>
                    </m:oMathPara>
                  </a14:m>
                  <a:endParaRPr lang="zh-CN" altLang="en-US" sz="2200" dirty="0">
                    <a:solidFill>
                      <a:schemeClr val="accent5">
                        <a:lumMod val="75000"/>
                      </a:schemeClr>
                    </a:solidFill>
                  </a:endParaRPr>
                </a:p>
              </p:txBody>
            </p:sp>
          </mc:Choice>
          <mc:Fallback xmlns="">
            <p:sp>
              <p:nvSpPr>
                <p:cNvPr id="173" name="文本框 172">
                  <a:extLst>
                    <a:ext uri="{FF2B5EF4-FFF2-40B4-BE49-F238E27FC236}">
                      <a16:creationId xmlns:a16="http://schemas.microsoft.com/office/drawing/2014/main" id="{C88A6FA1-74B1-A70E-1F7C-D41B057C2E8F}"/>
                    </a:ext>
                  </a:extLst>
                </p:cNvPr>
                <p:cNvSpPr txBox="1">
                  <a:spLocks noRot="1" noChangeAspect="1" noMove="1" noResize="1" noEditPoints="1" noAdjustHandles="1" noChangeArrowheads="1" noChangeShapeType="1" noTextEdit="1"/>
                </p:cNvSpPr>
                <p:nvPr/>
              </p:nvSpPr>
              <p:spPr>
                <a:xfrm>
                  <a:off x="5724000" y="4644000"/>
                  <a:ext cx="504000" cy="360000"/>
                </a:xfrm>
                <a:prstGeom prst="rect">
                  <a:avLst/>
                </a:prstGeom>
                <a:blipFill>
                  <a:blip r:embed="rId10"/>
                  <a:stretch>
                    <a:fillRect l="-2410" r="-180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4" name="文本框 173">
                  <a:extLst>
                    <a:ext uri="{FF2B5EF4-FFF2-40B4-BE49-F238E27FC236}">
                      <a16:creationId xmlns:a16="http://schemas.microsoft.com/office/drawing/2014/main" id="{369E4491-A06C-306D-21DE-50DDEF2CA56E}"/>
                    </a:ext>
                  </a:extLst>
                </p:cNvPr>
                <p:cNvSpPr txBox="1"/>
                <p:nvPr/>
              </p:nvSpPr>
              <p:spPr>
                <a:xfrm>
                  <a:off x="5724000" y="5256000"/>
                  <a:ext cx="503751" cy="360000"/>
                </a:xfrm>
                <a:prstGeom prst="rect">
                  <a:avLst/>
                </a:prstGeom>
                <a:noFill/>
              </p:spPr>
              <p:txBody>
                <a:bodyPr wrap="square" lIns="0" tIns="0" rIns="0" bIns="0" rtlCol="0">
                  <a:spAutoFit/>
                </a:bodyPr>
                <a:lstStyle/>
                <a:p>
                  <a:pPr algn="r"/>
                  <a14:m>
                    <m:oMathPara xmlns:m="http://schemas.openxmlformats.org/officeDocument/2006/math">
                      <m:oMathParaPr>
                        <m:jc m:val="right"/>
                      </m:oMathParaPr>
                      <m:oMath xmlns:m="http://schemas.openxmlformats.org/officeDocument/2006/math">
                        <m:acc>
                          <m:accPr>
                            <m:chr m:val="̅"/>
                            <m:ctrlPr>
                              <a:rPr lang="en-US" altLang="zh-CN" sz="2200" i="1" smtClean="0">
                                <a:solidFill>
                                  <a:schemeClr val="accent5">
                                    <a:lumMod val="75000"/>
                                  </a:schemeClr>
                                </a:solidFill>
                                <a:latin typeface="Cambria Math" panose="02040503050406030204" pitchFamily="18" charset="0"/>
                              </a:rPr>
                            </m:ctrlPr>
                          </m:accPr>
                          <m:e>
                            <m:r>
                              <m:rPr>
                                <m:sty m:val="p"/>
                              </m:rPr>
                              <a:rPr lang="en-US" altLang="zh-CN" sz="2200" b="0" i="0" smtClean="0">
                                <a:solidFill>
                                  <a:schemeClr val="accent5">
                                    <a:lumMod val="75000"/>
                                  </a:schemeClr>
                                </a:solidFill>
                                <a:latin typeface="Cambria Math" panose="02040503050406030204" pitchFamily="18" charset="0"/>
                              </a:rPr>
                              <m:t>OE</m:t>
                            </m:r>
                          </m:e>
                        </m:acc>
                      </m:oMath>
                    </m:oMathPara>
                  </a14:m>
                  <a:endParaRPr lang="zh-CN" altLang="en-US" sz="2200" dirty="0">
                    <a:solidFill>
                      <a:schemeClr val="accent5">
                        <a:lumMod val="75000"/>
                      </a:schemeClr>
                    </a:solidFill>
                  </a:endParaRPr>
                </a:p>
              </p:txBody>
            </p:sp>
          </mc:Choice>
          <mc:Fallback xmlns="">
            <p:sp>
              <p:nvSpPr>
                <p:cNvPr id="174" name="文本框 173">
                  <a:extLst>
                    <a:ext uri="{FF2B5EF4-FFF2-40B4-BE49-F238E27FC236}">
                      <a16:creationId xmlns:a16="http://schemas.microsoft.com/office/drawing/2014/main" id="{369E4491-A06C-306D-21DE-50DDEF2CA56E}"/>
                    </a:ext>
                  </a:extLst>
                </p:cNvPr>
                <p:cNvSpPr txBox="1">
                  <a:spLocks noRot="1" noChangeAspect="1" noMove="1" noResize="1" noEditPoints="1" noAdjustHandles="1" noChangeArrowheads="1" noChangeShapeType="1" noTextEdit="1"/>
                </p:cNvSpPr>
                <p:nvPr/>
              </p:nvSpPr>
              <p:spPr>
                <a:xfrm>
                  <a:off x="5724000" y="5256000"/>
                  <a:ext cx="503751" cy="360000"/>
                </a:xfrm>
                <a:prstGeom prst="rect">
                  <a:avLst/>
                </a:prstGeom>
                <a:blipFill>
                  <a:blip r:embed="rId11"/>
                  <a:stretch>
                    <a:fillRect r="-180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5" name="文本框 174">
                  <a:extLst>
                    <a:ext uri="{FF2B5EF4-FFF2-40B4-BE49-F238E27FC236}">
                      <a16:creationId xmlns:a16="http://schemas.microsoft.com/office/drawing/2014/main" id="{08E36D14-6D1C-3605-3373-2A46E93EA3D6}"/>
                    </a:ext>
                  </a:extLst>
                </p:cNvPr>
                <p:cNvSpPr txBox="1"/>
                <p:nvPr/>
              </p:nvSpPr>
              <p:spPr>
                <a:xfrm>
                  <a:off x="8136000" y="6156000"/>
                  <a:ext cx="54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solidFill>
                                  <a:schemeClr val="accent5">
                                    <a:lumMod val="75000"/>
                                  </a:schemeClr>
                                </a:solidFill>
                                <a:latin typeface="Cambria Math" panose="02040503050406030204" pitchFamily="18" charset="0"/>
                              </a:rPr>
                            </m:ctrlPr>
                          </m:sSubPr>
                          <m:e>
                            <m:r>
                              <m:rPr>
                                <m:sty m:val="p"/>
                              </m:rPr>
                              <a:rPr lang="en-US" altLang="zh-CN" sz="2200" b="0" i="0" smtClean="0">
                                <a:solidFill>
                                  <a:schemeClr val="accent5">
                                    <a:lumMod val="75000"/>
                                  </a:schemeClr>
                                </a:solidFill>
                                <a:latin typeface="Cambria Math" panose="02040503050406030204" pitchFamily="18" charset="0"/>
                              </a:rPr>
                              <m:t>D</m:t>
                            </m:r>
                          </m:e>
                          <m:sub>
                            <m:r>
                              <a:rPr lang="en-US" altLang="zh-CN" sz="2200" b="0" i="1" smtClean="0">
                                <a:solidFill>
                                  <a:schemeClr val="accent5">
                                    <a:lumMod val="75000"/>
                                  </a:schemeClr>
                                </a:solidFill>
                                <a:latin typeface="Cambria Math" panose="02040503050406030204" pitchFamily="18" charset="0"/>
                              </a:rPr>
                              <m:t>0</m:t>
                            </m:r>
                          </m:sub>
                        </m:sSub>
                      </m:oMath>
                    </m:oMathPara>
                  </a14:m>
                  <a:endParaRPr lang="zh-CN" altLang="en-US" sz="2200" dirty="0">
                    <a:solidFill>
                      <a:schemeClr val="accent5">
                        <a:lumMod val="75000"/>
                      </a:schemeClr>
                    </a:solidFill>
                  </a:endParaRPr>
                </a:p>
              </p:txBody>
            </p:sp>
          </mc:Choice>
          <mc:Fallback xmlns="">
            <p:sp>
              <p:nvSpPr>
                <p:cNvPr id="175" name="文本框 174">
                  <a:extLst>
                    <a:ext uri="{FF2B5EF4-FFF2-40B4-BE49-F238E27FC236}">
                      <a16:creationId xmlns:a16="http://schemas.microsoft.com/office/drawing/2014/main" id="{08E36D14-6D1C-3605-3373-2A46E93EA3D6}"/>
                    </a:ext>
                  </a:extLst>
                </p:cNvPr>
                <p:cNvSpPr txBox="1">
                  <a:spLocks noRot="1" noChangeAspect="1" noMove="1" noResize="1" noEditPoints="1" noAdjustHandles="1" noChangeArrowheads="1" noChangeShapeType="1" noTextEdit="1"/>
                </p:cNvSpPr>
                <p:nvPr/>
              </p:nvSpPr>
              <p:spPr>
                <a:xfrm>
                  <a:off x="8136000" y="6156000"/>
                  <a:ext cx="540000" cy="360000"/>
                </a:xfrm>
                <a:prstGeom prst="rect">
                  <a:avLst/>
                </a:prstGeom>
                <a:blipFill>
                  <a:blip r:embed="rId12"/>
                  <a:stretch>
                    <a:fillRect b="-67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6" name="文本框 175">
                  <a:extLst>
                    <a:ext uri="{FF2B5EF4-FFF2-40B4-BE49-F238E27FC236}">
                      <a16:creationId xmlns:a16="http://schemas.microsoft.com/office/drawing/2014/main" id="{E25DBC96-4611-0A66-45E9-E89F6EFC033E}"/>
                    </a:ext>
                  </a:extLst>
                </p:cNvPr>
                <p:cNvSpPr txBox="1"/>
                <p:nvPr/>
              </p:nvSpPr>
              <p:spPr>
                <a:xfrm>
                  <a:off x="9630000" y="6156000"/>
                  <a:ext cx="792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solidFill>
                                  <a:schemeClr val="accent5">
                                    <a:lumMod val="75000"/>
                                  </a:schemeClr>
                                </a:solidFill>
                                <a:latin typeface="Cambria Math" panose="02040503050406030204" pitchFamily="18" charset="0"/>
                              </a:rPr>
                            </m:ctrlPr>
                          </m:sSubPr>
                          <m:e>
                            <m:r>
                              <m:rPr>
                                <m:sty m:val="p"/>
                              </m:rPr>
                              <a:rPr lang="en-US" altLang="zh-CN" sz="2200" b="0" i="0" smtClean="0">
                                <a:solidFill>
                                  <a:schemeClr val="accent5">
                                    <a:lumMod val="75000"/>
                                  </a:schemeClr>
                                </a:solidFill>
                                <a:latin typeface="Cambria Math" panose="02040503050406030204" pitchFamily="18" charset="0"/>
                              </a:rPr>
                              <m:t>D</m:t>
                            </m:r>
                          </m:e>
                          <m:sub>
                            <m:r>
                              <a:rPr lang="en-US" altLang="zh-CN" sz="2200" b="0" i="1" smtClean="0">
                                <a:solidFill>
                                  <a:schemeClr val="accent5">
                                    <a:lumMod val="75000"/>
                                  </a:schemeClr>
                                </a:solidFill>
                                <a:latin typeface="Cambria Math" panose="02040503050406030204" pitchFamily="18" charset="0"/>
                              </a:rPr>
                              <m:t>𝑚</m:t>
                            </m:r>
                            <m:r>
                              <a:rPr lang="en-US" altLang="zh-CN" sz="2200" b="0" i="1" smtClean="0">
                                <a:solidFill>
                                  <a:schemeClr val="accent5">
                                    <a:lumMod val="75000"/>
                                  </a:schemeClr>
                                </a:solidFill>
                                <a:latin typeface="Cambria Math" panose="02040503050406030204" pitchFamily="18" charset="0"/>
                              </a:rPr>
                              <m:t>−1</m:t>
                            </m:r>
                          </m:sub>
                        </m:sSub>
                      </m:oMath>
                    </m:oMathPara>
                  </a14:m>
                  <a:endParaRPr lang="zh-CN" altLang="en-US" sz="2200" dirty="0">
                    <a:solidFill>
                      <a:schemeClr val="accent5">
                        <a:lumMod val="75000"/>
                      </a:schemeClr>
                    </a:solidFill>
                  </a:endParaRPr>
                </a:p>
              </p:txBody>
            </p:sp>
          </mc:Choice>
          <mc:Fallback xmlns="">
            <p:sp>
              <p:nvSpPr>
                <p:cNvPr id="176" name="文本框 175">
                  <a:extLst>
                    <a:ext uri="{FF2B5EF4-FFF2-40B4-BE49-F238E27FC236}">
                      <a16:creationId xmlns:a16="http://schemas.microsoft.com/office/drawing/2014/main" id="{E25DBC96-4611-0A66-45E9-E89F6EFC033E}"/>
                    </a:ext>
                  </a:extLst>
                </p:cNvPr>
                <p:cNvSpPr txBox="1">
                  <a:spLocks noRot="1" noChangeAspect="1" noMove="1" noResize="1" noEditPoints="1" noAdjustHandles="1" noChangeArrowheads="1" noChangeShapeType="1" noTextEdit="1"/>
                </p:cNvSpPr>
                <p:nvPr/>
              </p:nvSpPr>
              <p:spPr>
                <a:xfrm>
                  <a:off x="9630000" y="6156000"/>
                  <a:ext cx="792000" cy="360000"/>
                </a:xfrm>
                <a:prstGeom prst="rect">
                  <a:avLst/>
                </a:prstGeom>
                <a:blipFill>
                  <a:blip r:embed="rId13"/>
                  <a:stretch>
                    <a:fillRect l="-3846" b="-67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7" name="文本框 176">
                  <a:extLst>
                    <a:ext uri="{FF2B5EF4-FFF2-40B4-BE49-F238E27FC236}">
                      <a16:creationId xmlns:a16="http://schemas.microsoft.com/office/drawing/2014/main" id="{CCC9BEF2-746C-9194-2489-8661C3CAC58B}"/>
                    </a:ext>
                  </a:extLst>
                </p:cNvPr>
                <p:cNvSpPr txBox="1"/>
                <p:nvPr/>
              </p:nvSpPr>
              <p:spPr>
                <a:xfrm>
                  <a:off x="8928000" y="6120000"/>
                  <a:ext cx="540000" cy="396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177" name="文本框 176">
                  <a:extLst>
                    <a:ext uri="{FF2B5EF4-FFF2-40B4-BE49-F238E27FC236}">
                      <a16:creationId xmlns:a16="http://schemas.microsoft.com/office/drawing/2014/main" id="{CCC9BEF2-746C-9194-2489-8661C3CAC58B}"/>
                    </a:ext>
                  </a:extLst>
                </p:cNvPr>
                <p:cNvSpPr txBox="1">
                  <a:spLocks noRot="1" noChangeAspect="1" noMove="1" noResize="1" noEditPoints="1" noAdjustHandles="1" noChangeArrowheads="1" noChangeShapeType="1" noTextEdit="1"/>
                </p:cNvSpPr>
                <p:nvPr/>
              </p:nvSpPr>
              <p:spPr>
                <a:xfrm>
                  <a:off x="8928000" y="6120000"/>
                  <a:ext cx="540000" cy="396000"/>
                </a:xfrm>
                <a:prstGeom prst="rect">
                  <a:avLst/>
                </a:prstGeom>
                <a:blipFill>
                  <a:blip r:embed="rId14"/>
                  <a:stretch>
                    <a:fillRect/>
                  </a:stretch>
                </a:blipFill>
              </p:spPr>
              <p:txBody>
                <a:bodyPr/>
                <a:lstStyle/>
                <a:p>
                  <a:r>
                    <a:rPr lang="zh-CN" altLang="en-US">
                      <a:noFill/>
                    </a:rPr>
                    <a:t> </a:t>
                  </a:r>
                </a:p>
              </p:txBody>
            </p:sp>
          </mc:Fallback>
        </mc:AlternateContent>
        <p:cxnSp>
          <p:nvCxnSpPr>
            <p:cNvPr id="145" name="直接连接符 144">
              <a:extLst>
                <a:ext uri="{FF2B5EF4-FFF2-40B4-BE49-F238E27FC236}">
                  <a16:creationId xmlns:a16="http://schemas.microsoft.com/office/drawing/2014/main" id="{E35368CF-10BA-CD9B-CE40-7E5090D20696}"/>
                </a:ext>
              </a:extLst>
            </p:cNvPr>
            <p:cNvCxnSpPr>
              <a:cxnSpLocks/>
            </p:cNvCxnSpPr>
            <p:nvPr/>
          </p:nvCxnSpPr>
          <p:spPr>
            <a:xfrm>
              <a:off x="9576000" y="5310000"/>
              <a:ext cx="14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04BE0401-8D8B-2A46-7268-7CC77B1E4BE4}"/>
                </a:ext>
              </a:extLst>
            </p:cNvPr>
            <p:cNvCxnSpPr>
              <a:cxnSpLocks/>
            </p:cNvCxnSpPr>
            <p:nvPr/>
          </p:nvCxnSpPr>
          <p:spPr>
            <a:xfrm>
              <a:off x="10026000" y="4860000"/>
              <a:ext cx="0" cy="129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6B3D58DF-BE00-3479-53F5-460A29A8E0F7}"/>
                </a:ext>
              </a:extLst>
            </p:cNvPr>
            <p:cNvCxnSpPr>
              <a:cxnSpLocks/>
            </p:cNvCxnSpPr>
            <p:nvPr/>
          </p:nvCxnSpPr>
          <p:spPr>
            <a:xfrm>
              <a:off x="10710000" y="4860000"/>
              <a:ext cx="0" cy="107879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0748CCF9-7BC0-80A8-C706-2904DB289172}"/>
                </a:ext>
              </a:extLst>
            </p:cNvPr>
            <p:cNvCxnSpPr>
              <a:cxnSpLocks/>
            </p:cNvCxnSpPr>
            <p:nvPr/>
          </p:nvCxnSpPr>
          <p:spPr>
            <a:xfrm>
              <a:off x="10404000" y="5074993"/>
              <a:ext cx="0" cy="5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286CC5A4-8E11-DC14-C8C3-E8AA12320D6A}"/>
                </a:ext>
              </a:extLst>
            </p:cNvPr>
            <p:cNvCxnSpPr>
              <a:cxnSpLocks/>
            </p:cNvCxnSpPr>
            <p:nvPr/>
          </p:nvCxnSpPr>
          <p:spPr>
            <a:xfrm>
              <a:off x="10404000" y="5634000"/>
              <a:ext cx="2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ECA571AE-EBEF-0503-7D23-74513868C42C}"/>
                </a:ext>
              </a:extLst>
            </p:cNvPr>
            <p:cNvCxnSpPr>
              <a:cxnSpLocks/>
            </p:cNvCxnSpPr>
            <p:nvPr/>
          </p:nvCxnSpPr>
          <p:spPr>
            <a:xfrm>
              <a:off x="9720000" y="5634000"/>
              <a:ext cx="2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CB63AE3A-699C-359C-0125-973185EEE649}"/>
                </a:ext>
              </a:extLst>
            </p:cNvPr>
            <p:cNvCxnSpPr>
              <a:cxnSpLocks/>
            </p:cNvCxnSpPr>
            <p:nvPr/>
          </p:nvCxnSpPr>
          <p:spPr>
            <a:xfrm>
              <a:off x="9720000" y="5310000"/>
              <a:ext cx="0" cy="324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等腰三角形 54">
              <a:extLst>
                <a:ext uri="{FF2B5EF4-FFF2-40B4-BE49-F238E27FC236}">
                  <a16:creationId xmlns:a16="http://schemas.microsoft.com/office/drawing/2014/main" id="{BFE1D2BA-2169-E933-DE7F-2F5BD9077231}"/>
                </a:ext>
              </a:extLst>
            </p:cNvPr>
            <p:cNvSpPr/>
            <p:nvPr/>
          </p:nvSpPr>
          <p:spPr>
            <a:xfrm>
              <a:off x="10494000" y="5436000"/>
              <a:ext cx="432000" cy="396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56" name="等腰三角形 55">
              <a:extLst>
                <a:ext uri="{FF2B5EF4-FFF2-40B4-BE49-F238E27FC236}">
                  <a16:creationId xmlns:a16="http://schemas.microsoft.com/office/drawing/2014/main" id="{95C1A2C3-CA0E-D3BC-99B8-8168634E2238}"/>
                </a:ext>
              </a:extLst>
            </p:cNvPr>
            <p:cNvSpPr/>
            <p:nvPr/>
          </p:nvSpPr>
          <p:spPr>
            <a:xfrm flipV="1">
              <a:off x="9810000" y="5436000"/>
              <a:ext cx="432000" cy="396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57" name="直接连接符 56">
              <a:extLst>
                <a:ext uri="{FF2B5EF4-FFF2-40B4-BE49-F238E27FC236}">
                  <a16:creationId xmlns:a16="http://schemas.microsoft.com/office/drawing/2014/main" id="{1B73E69A-B835-AE43-8EDE-F5DD7063E163}"/>
                </a:ext>
              </a:extLst>
            </p:cNvPr>
            <p:cNvCxnSpPr>
              <a:cxnSpLocks/>
            </p:cNvCxnSpPr>
            <p:nvPr/>
          </p:nvCxnSpPr>
          <p:spPr>
            <a:xfrm>
              <a:off x="10025909" y="5940000"/>
              <a:ext cx="68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椭圆 57">
              <a:extLst>
                <a:ext uri="{FF2B5EF4-FFF2-40B4-BE49-F238E27FC236}">
                  <a16:creationId xmlns:a16="http://schemas.microsoft.com/office/drawing/2014/main" id="{D33EDC3D-751F-67B7-5867-3A95AE740E5B}"/>
                </a:ext>
              </a:extLst>
            </p:cNvPr>
            <p:cNvSpPr/>
            <p:nvPr/>
          </p:nvSpPr>
          <p:spPr>
            <a:xfrm>
              <a:off x="9990000" y="5904000"/>
              <a:ext cx="72000" cy="72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9" name="直接连接符 58">
              <a:extLst>
                <a:ext uri="{FF2B5EF4-FFF2-40B4-BE49-F238E27FC236}">
                  <a16:creationId xmlns:a16="http://schemas.microsoft.com/office/drawing/2014/main" id="{389150AD-CA89-6A58-A2E7-C45F5C81E4D6}"/>
                </a:ext>
              </a:extLst>
            </p:cNvPr>
            <p:cNvCxnSpPr>
              <a:cxnSpLocks/>
            </p:cNvCxnSpPr>
            <p:nvPr/>
          </p:nvCxnSpPr>
          <p:spPr>
            <a:xfrm flipH="1">
              <a:off x="9576000" y="5076000"/>
              <a:ext cx="82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69FD6B5E-F906-7EC6-9A7A-A29486605DB2}"/>
                </a:ext>
              </a:extLst>
            </p:cNvPr>
            <p:cNvCxnSpPr>
              <a:cxnSpLocks/>
            </p:cNvCxnSpPr>
            <p:nvPr/>
          </p:nvCxnSpPr>
          <p:spPr>
            <a:xfrm flipH="1">
              <a:off x="6480000" y="3600000"/>
              <a:ext cx="28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79" name="L 形 178">
              <a:extLst>
                <a:ext uri="{FF2B5EF4-FFF2-40B4-BE49-F238E27FC236}">
                  <a16:creationId xmlns:a16="http://schemas.microsoft.com/office/drawing/2014/main" id="{95F38C45-8C2F-E901-6D1A-CC3AA5B08E1A}"/>
                </a:ext>
              </a:extLst>
            </p:cNvPr>
            <p:cNvSpPr/>
            <p:nvPr/>
          </p:nvSpPr>
          <p:spPr>
            <a:xfrm rot="5400000">
              <a:off x="7711487" y="476999"/>
              <a:ext cx="2412000" cy="4554000"/>
            </a:xfrm>
            <a:prstGeom prst="corner">
              <a:avLst>
                <a:gd name="adj1" fmla="val 34102"/>
                <a:gd name="adj2" fmla="val 29413"/>
              </a:avLst>
            </a:prstGeom>
            <a:noFill/>
            <a:ln w="38100">
              <a:solidFill>
                <a:srgbClr val="00B050"/>
              </a:solidFill>
              <a:prstDash val="sysDot"/>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80" name="矩形 179">
              <a:extLst>
                <a:ext uri="{FF2B5EF4-FFF2-40B4-BE49-F238E27FC236}">
                  <a16:creationId xmlns:a16="http://schemas.microsoft.com/office/drawing/2014/main" id="{8518AB59-83DC-CD02-B6C5-6419805F00EE}"/>
                </a:ext>
              </a:extLst>
            </p:cNvPr>
            <p:cNvSpPr/>
            <p:nvPr/>
          </p:nvSpPr>
          <p:spPr>
            <a:xfrm>
              <a:off x="7740000" y="2448000"/>
              <a:ext cx="3456000" cy="1494000"/>
            </a:xfrm>
            <a:prstGeom prst="rect">
              <a:avLst/>
            </a:prstGeom>
            <a:noFill/>
            <a:ln w="38100">
              <a:solidFill>
                <a:srgbClr val="FF0000"/>
              </a:solidFill>
              <a:prstDash val="sysDot"/>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81" name="矩形 180">
              <a:extLst>
                <a:ext uri="{FF2B5EF4-FFF2-40B4-BE49-F238E27FC236}">
                  <a16:creationId xmlns:a16="http://schemas.microsoft.com/office/drawing/2014/main" id="{55C18A6C-BB49-A09F-673A-8D352F542CF4}"/>
                </a:ext>
              </a:extLst>
            </p:cNvPr>
            <p:cNvSpPr/>
            <p:nvPr/>
          </p:nvSpPr>
          <p:spPr>
            <a:xfrm>
              <a:off x="6408000" y="4284000"/>
              <a:ext cx="4752000" cy="1728000"/>
            </a:xfrm>
            <a:prstGeom prst="rect">
              <a:avLst/>
            </a:prstGeom>
            <a:noFill/>
            <a:ln w="38100">
              <a:solidFill>
                <a:srgbClr val="0000FF"/>
              </a:solidFill>
              <a:prstDash val="sysDot"/>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7C7419E8-BA63-1D96-B260-AEB63B6A6D24}"/>
                </a:ext>
              </a:extLst>
            </p:cNvPr>
            <p:cNvSpPr/>
            <p:nvPr/>
          </p:nvSpPr>
          <p:spPr>
            <a:xfrm>
              <a:off x="7848000" y="2556000"/>
              <a:ext cx="3240000" cy="1296000"/>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存储阵列</a:t>
              </a:r>
            </a:p>
          </p:txBody>
        </p:sp>
      </p:grpSp>
    </p:spTree>
    <p:extLst>
      <p:ext uri="{BB962C8B-B14F-4D97-AF65-F5344CB8AC3E}">
        <p14:creationId xmlns:p14="http://schemas.microsoft.com/office/powerpoint/2010/main" val="2876890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702AA-4C8E-A6D4-3568-9DB9F9773EB9}"/>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9FA8133F-4F38-C2D4-5104-35E7AF9D2B9A}"/>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9376F362-B94F-25CD-34A4-FBEA6B423BD3}"/>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C745A950-A612-3D54-8BF8-80D294BB2C96}"/>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9BEF9D29-F049-AF53-AA97-C08C93AA0839}"/>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82C86B1B-F8F6-4DD7-6278-6E5FBEE4B58C}"/>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14</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4A9D7A91-6946-BDDE-108A-A622E3A0677F}"/>
                  </a:ext>
                </a:extLst>
              </p:cNvPr>
              <p:cNvSpPr txBox="1"/>
              <p:nvPr/>
            </p:nvSpPr>
            <p:spPr>
              <a:xfrm>
                <a:off x="360000" y="828000"/>
                <a:ext cx="4752000" cy="3054362"/>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SRAM</a:t>
                </a:r>
                <a:r>
                  <a:rPr kumimoji="1" lang="zh-CN" altLang="en-US" sz="2800" dirty="0">
                    <a:solidFill>
                      <a:srgbClr val="002060"/>
                    </a:solidFill>
                    <a:latin typeface="微软雅黑" panose="020B0503020204020204" pitchFamily="34" charset="-122"/>
                    <a:ea typeface="微软雅黑" panose="020B0503020204020204" pitchFamily="34" charset="-122"/>
                  </a:rPr>
                  <a:t> 的存储单元</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当 </a:t>
                </a:r>
                <a14:m>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𝑋</m:t>
                        </m:r>
                      </m:e>
                      <m:sub>
                        <m:r>
                          <a:rPr lang="en-US" altLang="zh-CN" sz="2400" i="1">
                            <a:solidFill>
                              <a:schemeClr val="accent5">
                                <a:lumMod val="75000"/>
                              </a:schemeClr>
                            </a:solidFill>
                            <a:latin typeface="Cambria Math" panose="02040503050406030204" pitchFamily="18" charset="0"/>
                          </a:rPr>
                          <m:t>𝑖</m:t>
                        </m:r>
                      </m:sub>
                    </m:sSub>
                    <m:r>
                      <a:rPr lang="en-US" altLang="zh-CN" sz="2400" i="1" smtClean="0">
                        <a:solidFill>
                          <a:schemeClr val="accent5">
                            <a:lumMod val="75000"/>
                          </a:schemeClr>
                        </a:solidFill>
                        <a:latin typeface="Cambria Math" panose="02040503050406030204" pitchFamily="18" charset="0"/>
                      </a:rPr>
                      <m:t>=</m:t>
                    </m:r>
                    <m:r>
                      <a:rPr lang="en-US" altLang="zh-CN" sz="2400" i="1">
                        <a:solidFill>
                          <a:schemeClr val="accent5">
                            <a:lumMod val="75000"/>
                          </a:schemeClr>
                        </a:solidFill>
                        <a:latin typeface="Cambria Math" panose="02040503050406030204" pitchFamily="18" charset="0"/>
                      </a:rPr>
                      <m:t>1</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T</m:t>
                        </m:r>
                      </m:e>
                      <m:sub>
                        <m:r>
                          <a:rPr lang="en-US" altLang="zh-CN" sz="2400" i="1">
                            <a:solidFill>
                              <a:schemeClr val="accent5">
                                <a:lumMod val="75000"/>
                              </a:schemeClr>
                            </a:solidFill>
                            <a:latin typeface="Cambria Math" panose="02040503050406030204" pitchFamily="18" charset="0"/>
                          </a:rPr>
                          <m:t>5</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和 </a:t>
                </a: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T</m:t>
                        </m:r>
                      </m:e>
                      <m:sub>
                        <m:r>
                          <a:rPr lang="en-US" altLang="zh-CN" sz="2400" i="1">
                            <a:solidFill>
                              <a:schemeClr val="accent5">
                                <a:lumMod val="75000"/>
                              </a:schemeClr>
                            </a:solidFill>
                            <a:latin typeface="Cambria Math" panose="02040503050406030204" pitchFamily="18" charset="0"/>
                          </a:rPr>
                          <m:t>6</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导通，存储单元与位线接通</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当 </a:t>
                </a: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𝑌</m:t>
                        </m:r>
                      </m:e>
                      <m:sub>
                        <m:r>
                          <a:rPr lang="en-US" altLang="zh-CN" sz="2400" b="0" i="1" smtClean="0">
                            <a:solidFill>
                              <a:schemeClr val="accent5">
                                <a:lumMod val="75000"/>
                              </a:schemeClr>
                            </a:solidFill>
                            <a:latin typeface="Cambria Math" panose="02040503050406030204" pitchFamily="18" charset="0"/>
                          </a:rPr>
                          <m:t>𝑗</m:t>
                        </m:r>
                      </m:sub>
                    </m:sSub>
                    <m:r>
                      <a:rPr lang="en-US" altLang="zh-CN" sz="2400" i="1">
                        <a:solidFill>
                          <a:schemeClr val="accent5">
                            <a:lumMod val="75000"/>
                          </a:schemeClr>
                        </a:solidFill>
                        <a:latin typeface="Cambria Math" panose="02040503050406030204" pitchFamily="18" charset="0"/>
                      </a:rPr>
                      <m:t>=1</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T</m:t>
                        </m:r>
                      </m:e>
                      <m:sub>
                        <m:r>
                          <a:rPr lang="en-US" altLang="zh-CN" sz="2400" i="1">
                            <a:solidFill>
                              <a:schemeClr val="accent5">
                                <a:lumMod val="75000"/>
                              </a:schemeClr>
                            </a:solidFill>
                            <a:latin typeface="Cambria Math" panose="02040503050406030204" pitchFamily="18" charset="0"/>
                          </a:rPr>
                          <m:t>7</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和 </a:t>
                </a: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T</m:t>
                        </m:r>
                      </m:e>
                      <m:sub>
                        <m:r>
                          <a:rPr lang="en-US" altLang="zh-CN" sz="2400" i="1">
                            <a:solidFill>
                              <a:schemeClr val="accent5">
                                <a:lumMod val="75000"/>
                              </a:schemeClr>
                            </a:solidFill>
                            <a:latin typeface="Cambria Math" panose="02040503050406030204" pitchFamily="18" charset="0"/>
                          </a:rPr>
                          <m:t>8</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导通，存储单元与数据线接通，通过数据线传输数据</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9" name="文本框 8">
                <a:extLst>
                  <a:ext uri="{FF2B5EF4-FFF2-40B4-BE49-F238E27FC236}">
                    <a16:creationId xmlns:a16="http://schemas.microsoft.com/office/drawing/2014/main" id="{4A9D7A91-6946-BDDE-108A-A622E3A0677F}"/>
                  </a:ext>
                </a:extLst>
              </p:cNvPr>
              <p:cNvSpPr txBox="1">
                <a:spLocks noRot="1" noChangeAspect="1" noMove="1" noResize="1" noEditPoints="1" noAdjustHandles="1" noChangeArrowheads="1" noChangeShapeType="1" noTextEdit="1"/>
              </p:cNvSpPr>
              <p:nvPr/>
            </p:nvSpPr>
            <p:spPr>
              <a:xfrm>
                <a:off x="360000" y="828000"/>
                <a:ext cx="4752000" cy="3054362"/>
              </a:xfrm>
              <a:prstGeom prst="rect">
                <a:avLst/>
              </a:prstGeom>
              <a:blipFill>
                <a:blip r:embed="rId3"/>
                <a:stretch>
                  <a:fillRect l="-2308" t="-798" r="-1282" b="-1198"/>
                </a:stretch>
              </a:blipFill>
            </p:spPr>
            <p:txBody>
              <a:bodyPr/>
              <a:lstStyle/>
              <a:p>
                <a:r>
                  <a:rPr lang="zh-CN" altLang="en-US">
                    <a:noFill/>
                  </a:rPr>
                  <a:t> </a:t>
                </a:r>
              </a:p>
            </p:txBody>
          </p:sp>
        </mc:Fallback>
      </mc:AlternateContent>
      <p:sp>
        <p:nvSpPr>
          <p:cNvPr id="189" name="文本框 188">
            <a:extLst>
              <a:ext uri="{FF2B5EF4-FFF2-40B4-BE49-F238E27FC236}">
                <a16:creationId xmlns:a16="http://schemas.microsoft.com/office/drawing/2014/main" id="{327C9E28-C2F1-6D24-69A7-BC6C11C5244D}"/>
              </a:ext>
            </a:extLst>
          </p:cNvPr>
          <p:cNvSpPr txBox="1"/>
          <p:nvPr/>
        </p:nvSpPr>
        <p:spPr>
          <a:xfrm>
            <a:off x="360000" y="4680000"/>
            <a:ext cx="5164502" cy="830997"/>
          </a:xfrm>
          <a:prstGeom prst="rect">
            <a:avLst/>
          </a:prstGeom>
          <a:noFill/>
        </p:spPr>
        <p:txBody>
          <a:bodyPr wrap="square">
            <a:spAutoFit/>
          </a:bodyPr>
          <a:lstStyle/>
          <a:p>
            <a:r>
              <a:rPr kumimoji="1" lang="zh-CN" altLang="en-US" sz="2400" dirty="0">
                <a:solidFill>
                  <a:srgbClr val="0000FF"/>
                </a:solidFill>
                <a:latin typeface="微软雅黑" panose="020B0503020204020204" pitchFamily="34" charset="-122"/>
                <a:ea typeface="微软雅黑" panose="020B0503020204020204" pitchFamily="34" charset="-122"/>
              </a:rPr>
              <a:t>存储单元能够读</a:t>
            </a:r>
            <a:r>
              <a:rPr kumimoji="1" lang="en-US" altLang="zh-CN" sz="2400" dirty="0">
                <a:solidFill>
                  <a:srgbClr val="0000FF"/>
                </a:solidFill>
                <a:latin typeface="微软雅黑" panose="020B0503020204020204" pitchFamily="34" charset="-122"/>
                <a:ea typeface="微软雅黑" panose="020B0503020204020204" pitchFamily="34" charset="-122"/>
              </a:rPr>
              <a:t>/</a:t>
            </a:r>
            <a:r>
              <a:rPr kumimoji="1" lang="zh-CN" altLang="en-US" sz="2400" dirty="0">
                <a:solidFill>
                  <a:srgbClr val="0000FF"/>
                </a:solidFill>
                <a:latin typeface="微软雅黑" panose="020B0503020204020204" pitchFamily="34" charset="-122"/>
                <a:ea typeface="微软雅黑" panose="020B0503020204020204" pitchFamily="34" charset="-122"/>
              </a:rPr>
              <a:t>写操作的条件是：与它相连的行、列选择线均为高电平</a:t>
            </a:r>
            <a:endParaRPr lang="zh-CN" altLang="en-US" sz="2400" dirty="0">
              <a:solidFill>
                <a:srgbClr val="0000FF"/>
              </a:solidFill>
            </a:endParaRPr>
          </a:p>
        </p:txBody>
      </p:sp>
      <p:sp>
        <p:nvSpPr>
          <p:cNvPr id="3" name="标题 1">
            <a:extLst>
              <a:ext uri="{FF2B5EF4-FFF2-40B4-BE49-F238E27FC236}">
                <a16:creationId xmlns:a16="http://schemas.microsoft.com/office/drawing/2014/main" id="{EEBB4982-E6BF-F60C-ECA3-B9B220613D09}"/>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半导体存储器 </a:t>
            </a:r>
            <a:r>
              <a:rPr lang="en-US" altLang="zh-CN" sz="3000" dirty="0"/>
              <a:t>—— </a:t>
            </a:r>
            <a:r>
              <a:rPr lang="zh-CN" altLang="en-US" sz="3000" dirty="0">
                <a:solidFill>
                  <a:srgbClr val="FFFF00"/>
                </a:solidFill>
              </a:rPr>
              <a:t>随机存储器（</a:t>
            </a:r>
            <a:r>
              <a:rPr lang="en-US" altLang="zh-CN" sz="3000" dirty="0">
                <a:solidFill>
                  <a:srgbClr val="FFFF00"/>
                </a:solidFill>
              </a:rPr>
              <a:t>RAM</a:t>
            </a:r>
            <a:r>
              <a:rPr lang="zh-CN" altLang="en-US" sz="3000" dirty="0">
                <a:solidFill>
                  <a:srgbClr val="FFFF00"/>
                </a:solidFill>
              </a:rPr>
              <a:t>）</a:t>
            </a:r>
            <a:endParaRPr lang="en-US" altLang="zh-CN" sz="3000" dirty="0"/>
          </a:p>
        </p:txBody>
      </p:sp>
      <p:grpSp>
        <p:nvGrpSpPr>
          <p:cNvPr id="118" name="组合 117">
            <a:extLst>
              <a:ext uri="{FF2B5EF4-FFF2-40B4-BE49-F238E27FC236}">
                <a16:creationId xmlns:a16="http://schemas.microsoft.com/office/drawing/2014/main" id="{E85034DC-EA83-3C8E-EBB7-AE345D5D4487}"/>
              </a:ext>
            </a:extLst>
          </p:cNvPr>
          <p:cNvGrpSpPr/>
          <p:nvPr/>
        </p:nvGrpSpPr>
        <p:grpSpPr>
          <a:xfrm>
            <a:off x="5544000" y="1080000"/>
            <a:ext cx="6516000" cy="5260110"/>
            <a:chOff x="5544000" y="1332000"/>
            <a:chExt cx="6516000" cy="5260110"/>
          </a:xfrm>
        </p:grpSpPr>
        <p:cxnSp>
          <p:nvCxnSpPr>
            <p:cNvPr id="91" name="直接连接符 90">
              <a:extLst>
                <a:ext uri="{FF2B5EF4-FFF2-40B4-BE49-F238E27FC236}">
                  <a16:creationId xmlns:a16="http://schemas.microsoft.com/office/drawing/2014/main" id="{C5039A49-0AB4-7318-F3B4-3FC7638DC00D}"/>
                </a:ext>
              </a:extLst>
            </p:cNvPr>
            <p:cNvCxnSpPr>
              <a:cxnSpLocks/>
            </p:cNvCxnSpPr>
            <p:nvPr/>
          </p:nvCxnSpPr>
          <p:spPr>
            <a:xfrm>
              <a:off x="9144000" y="3348000"/>
              <a:ext cx="28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F1A2694D-1691-D582-3C96-9819B00640C2}"/>
                </a:ext>
              </a:extLst>
            </p:cNvPr>
            <p:cNvCxnSpPr>
              <a:cxnSpLocks/>
            </p:cNvCxnSpPr>
            <p:nvPr/>
          </p:nvCxnSpPr>
          <p:spPr>
            <a:xfrm flipH="1">
              <a:off x="6587999" y="2340000"/>
              <a:ext cx="45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B1A8F31D-6356-1ECD-8BE3-183FBEB990FA}"/>
                </a:ext>
              </a:extLst>
            </p:cNvPr>
            <p:cNvCxnSpPr>
              <a:cxnSpLocks/>
            </p:cNvCxnSpPr>
            <p:nvPr/>
          </p:nvCxnSpPr>
          <p:spPr>
            <a:xfrm>
              <a:off x="10620000" y="5328000"/>
              <a:ext cx="180000"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61884C75-8F02-7B23-E8C7-BA18A75F809D}"/>
                </a:ext>
              </a:extLst>
            </p:cNvPr>
            <p:cNvCxnSpPr>
              <a:cxnSpLocks/>
            </p:cNvCxnSpPr>
            <p:nvPr/>
          </p:nvCxnSpPr>
          <p:spPr>
            <a:xfrm>
              <a:off x="10620000" y="5616000"/>
              <a:ext cx="180000"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2B061CC9-5856-2EF2-651B-A8E2F073A980}"/>
                </a:ext>
              </a:extLst>
            </p:cNvPr>
            <p:cNvCxnSpPr>
              <a:cxnSpLocks/>
            </p:cNvCxnSpPr>
            <p:nvPr/>
          </p:nvCxnSpPr>
          <p:spPr>
            <a:xfrm flipV="1">
              <a:off x="10800000" y="5147999"/>
              <a:ext cx="0" cy="18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642A38C2-3DA4-CC32-448D-D1AACF80A75E}"/>
                </a:ext>
              </a:extLst>
            </p:cNvPr>
            <p:cNvCxnSpPr>
              <a:cxnSpLocks/>
            </p:cNvCxnSpPr>
            <p:nvPr/>
          </p:nvCxnSpPr>
          <p:spPr>
            <a:xfrm flipV="1">
              <a:off x="10800000" y="5616000"/>
              <a:ext cx="0" cy="5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6824AF44-B099-5141-4CDA-BE2A094A9873}"/>
                </a:ext>
              </a:extLst>
            </p:cNvPr>
            <p:cNvCxnSpPr>
              <a:cxnSpLocks/>
            </p:cNvCxnSpPr>
            <p:nvPr/>
          </p:nvCxnSpPr>
          <p:spPr>
            <a:xfrm>
              <a:off x="7092000" y="3564000"/>
              <a:ext cx="28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F91C4228-C065-00E2-AA41-27162BC71E7C}"/>
                </a:ext>
              </a:extLst>
            </p:cNvPr>
            <p:cNvCxnSpPr>
              <a:cxnSpLocks/>
            </p:cNvCxnSpPr>
            <p:nvPr/>
          </p:nvCxnSpPr>
          <p:spPr>
            <a:xfrm flipV="1">
              <a:off x="6732000" y="3816000"/>
              <a:ext cx="360000"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411BE280-15AB-6079-CA48-EC0617A9F35A}"/>
                </a:ext>
              </a:extLst>
            </p:cNvPr>
            <p:cNvCxnSpPr>
              <a:cxnSpLocks/>
            </p:cNvCxnSpPr>
            <p:nvPr/>
          </p:nvCxnSpPr>
          <p:spPr>
            <a:xfrm>
              <a:off x="7236000" y="2340000"/>
              <a:ext cx="0" cy="121794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6F6181B7-4FDD-BA5E-EDC4-41A391218FC1}"/>
                </a:ext>
              </a:extLst>
            </p:cNvPr>
            <p:cNvCxnSpPr>
              <a:cxnSpLocks/>
            </p:cNvCxnSpPr>
            <p:nvPr/>
          </p:nvCxnSpPr>
          <p:spPr>
            <a:xfrm>
              <a:off x="10296000" y="2340000"/>
              <a:ext cx="0" cy="1044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CAF71A2D-A56A-9077-4867-4F822EF92A8D}"/>
                </a:ext>
              </a:extLst>
            </p:cNvPr>
            <p:cNvCxnSpPr>
              <a:cxnSpLocks/>
            </p:cNvCxnSpPr>
            <p:nvPr/>
          </p:nvCxnSpPr>
          <p:spPr>
            <a:xfrm>
              <a:off x="7848901" y="3492000"/>
              <a:ext cx="180000"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D4985712-CFD5-39F7-71E0-E70CBD96A9B6}"/>
                </a:ext>
              </a:extLst>
            </p:cNvPr>
            <p:cNvCxnSpPr>
              <a:cxnSpLocks/>
            </p:cNvCxnSpPr>
            <p:nvPr/>
          </p:nvCxnSpPr>
          <p:spPr>
            <a:xfrm>
              <a:off x="7848000" y="3204000"/>
              <a:ext cx="180000"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0A2F88EF-329D-FD44-A5D1-90973C783585}"/>
                </a:ext>
              </a:extLst>
            </p:cNvPr>
            <p:cNvCxnSpPr>
              <a:cxnSpLocks/>
            </p:cNvCxnSpPr>
            <p:nvPr/>
          </p:nvCxnSpPr>
          <p:spPr>
            <a:xfrm flipV="1">
              <a:off x="7848000" y="3024000"/>
              <a:ext cx="0" cy="18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1D233E1B-B4DF-04DD-39D8-F117A7819A36}"/>
                </a:ext>
              </a:extLst>
            </p:cNvPr>
            <p:cNvCxnSpPr>
              <a:cxnSpLocks/>
            </p:cNvCxnSpPr>
            <p:nvPr/>
          </p:nvCxnSpPr>
          <p:spPr>
            <a:xfrm>
              <a:off x="8100000" y="3346119"/>
              <a:ext cx="28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椭圆 30">
              <a:extLst>
                <a:ext uri="{FF2B5EF4-FFF2-40B4-BE49-F238E27FC236}">
                  <a16:creationId xmlns:a16="http://schemas.microsoft.com/office/drawing/2014/main" id="{ED609AC7-7E15-CD4F-CCB5-434DFF0B2FD2}"/>
                </a:ext>
              </a:extLst>
            </p:cNvPr>
            <p:cNvSpPr/>
            <p:nvPr/>
          </p:nvSpPr>
          <p:spPr>
            <a:xfrm>
              <a:off x="8118000" y="3308400"/>
              <a:ext cx="79131" cy="792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42" name="直接连接符 41">
              <a:extLst>
                <a:ext uri="{FF2B5EF4-FFF2-40B4-BE49-F238E27FC236}">
                  <a16:creationId xmlns:a16="http://schemas.microsoft.com/office/drawing/2014/main" id="{B3331268-CD98-2D63-BE6C-6EEA63599AFB}"/>
                </a:ext>
              </a:extLst>
            </p:cNvPr>
            <p:cNvCxnSpPr>
              <a:cxnSpLocks/>
            </p:cNvCxnSpPr>
            <p:nvPr/>
          </p:nvCxnSpPr>
          <p:spPr>
            <a:xfrm>
              <a:off x="7848000" y="3492000"/>
              <a:ext cx="0" cy="504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0DC4330A-D3F7-F16F-D103-B3EDF6C91A06}"/>
                </a:ext>
              </a:extLst>
            </p:cNvPr>
            <p:cNvCxnSpPr>
              <a:cxnSpLocks/>
            </p:cNvCxnSpPr>
            <p:nvPr/>
          </p:nvCxnSpPr>
          <p:spPr>
            <a:xfrm flipH="1">
              <a:off x="9504000" y="3204000"/>
              <a:ext cx="180000"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9EC9906D-3211-F355-147C-E82CB6F73BA9}"/>
                </a:ext>
              </a:extLst>
            </p:cNvPr>
            <p:cNvCxnSpPr>
              <a:cxnSpLocks/>
            </p:cNvCxnSpPr>
            <p:nvPr/>
          </p:nvCxnSpPr>
          <p:spPr>
            <a:xfrm flipH="1">
              <a:off x="9684000" y="3492000"/>
              <a:ext cx="0" cy="50010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869A7CC7-86A3-2A92-B279-D244C44BFF0F}"/>
                </a:ext>
              </a:extLst>
            </p:cNvPr>
            <p:cNvCxnSpPr>
              <a:cxnSpLocks/>
            </p:cNvCxnSpPr>
            <p:nvPr/>
          </p:nvCxnSpPr>
          <p:spPr>
            <a:xfrm flipH="1">
              <a:off x="7847999" y="4464000"/>
              <a:ext cx="183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BCD7B3AF-BD72-004E-8C50-76B86C0624E0}"/>
                </a:ext>
              </a:extLst>
            </p:cNvPr>
            <p:cNvCxnSpPr>
              <a:cxnSpLocks/>
            </p:cNvCxnSpPr>
            <p:nvPr/>
          </p:nvCxnSpPr>
          <p:spPr>
            <a:xfrm flipH="1">
              <a:off x="7847999" y="3024000"/>
              <a:ext cx="183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97C0AA98-7A44-8CE6-E16F-A40E5EDA37AD}"/>
                </a:ext>
              </a:extLst>
            </p:cNvPr>
            <p:cNvCxnSpPr>
              <a:cxnSpLocks/>
            </p:cNvCxnSpPr>
            <p:nvPr/>
          </p:nvCxnSpPr>
          <p:spPr>
            <a:xfrm>
              <a:off x="8388000" y="3348000"/>
              <a:ext cx="0" cy="792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C4283407-14EE-81EC-146B-54BA62A8C922}"/>
                </a:ext>
              </a:extLst>
            </p:cNvPr>
            <p:cNvCxnSpPr>
              <a:cxnSpLocks/>
            </p:cNvCxnSpPr>
            <p:nvPr/>
          </p:nvCxnSpPr>
          <p:spPr>
            <a:xfrm>
              <a:off x="9144000" y="3347999"/>
              <a:ext cx="0" cy="792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AF0507C5-E9DE-64E6-C9CC-4BABA3679B8D}"/>
                </a:ext>
              </a:extLst>
            </p:cNvPr>
            <p:cNvCxnSpPr>
              <a:cxnSpLocks/>
            </p:cNvCxnSpPr>
            <p:nvPr/>
          </p:nvCxnSpPr>
          <p:spPr>
            <a:xfrm flipH="1">
              <a:off x="8388000" y="3636000"/>
              <a:ext cx="176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41056850-1CD1-D639-EA4C-7BA976D555B2}"/>
                </a:ext>
              </a:extLst>
            </p:cNvPr>
            <p:cNvCxnSpPr>
              <a:cxnSpLocks/>
            </p:cNvCxnSpPr>
            <p:nvPr/>
          </p:nvCxnSpPr>
          <p:spPr>
            <a:xfrm flipH="1" flipV="1">
              <a:off x="7380000" y="3816000"/>
              <a:ext cx="176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椭圆 78">
              <a:extLst>
                <a:ext uri="{FF2B5EF4-FFF2-40B4-BE49-F238E27FC236}">
                  <a16:creationId xmlns:a16="http://schemas.microsoft.com/office/drawing/2014/main" id="{2CA99649-3DE8-3BAD-9AEF-6FA54FAE82D2}"/>
                </a:ext>
              </a:extLst>
            </p:cNvPr>
            <p:cNvSpPr/>
            <p:nvPr/>
          </p:nvSpPr>
          <p:spPr>
            <a:xfrm>
              <a:off x="9108000" y="3780000"/>
              <a:ext cx="72000" cy="72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a:extLst>
                <a:ext uri="{FF2B5EF4-FFF2-40B4-BE49-F238E27FC236}">
                  <a16:creationId xmlns:a16="http://schemas.microsoft.com/office/drawing/2014/main" id="{02E3FE37-0F2F-3967-6209-7A4ECD843E21}"/>
                </a:ext>
              </a:extLst>
            </p:cNvPr>
            <p:cNvSpPr/>
            <p:nvPr/>
          </p:nvSpPr>
          <p:spPr>
            <a:xfrm>
              <a:off x="7812000" y="3780000"/>
              <a:ext cx="72000" cy="72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5" name="直接连接符 84">
              <a:extLst>
                <a:ext uri="{FF2B5EF4-FFF2-40B4-BE49-F238E27FC236}">
                  <a16:creationId xmlns:a16="http://schemas.microsoft.com/office/drawing/2014/main" id="{091CADFD-0F5A-6789-0D2C-754C92935A89}"/>
                </a:ext>
              </a:extLst>
            </p:cNvPr>
            <p:cNvCxnSpPr>
              <a:cxnSpLocks/>
            </p:cNvCxnSpPr>
            <p:nvPr/>
          </p:nvCxnSpPr>
          <p:spPr>
            <a:xfrm rot="10800000">
              <a:off x="8658000" y="4608000"/>
              <a:ext cx="216000" cy="1"/>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CF51EC80-7E85-54D1-FB9C-C1547F8C638E}"/>
                </a:ext>
              </a:extLst>
            </p:cNvPr>
            <p:cNvCxnSpPr>
              <a:cxnSpLocks/>
            </p:cNvCxnSpPr>
            <p:nvPr/>
          </p:nvCxnSpPr>
          <p:spPr>
            <a:xfrm>
              <a:off x="8766000" y="2879999"/>
              <a:ext cx="0" cy="144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4" name="椭圆 93">
              <a:extLst>
                <a:ext uri="{FF2B5EF4-FFF2-40B4-BE49-F238E27FC236}">
                  <a16:creationId xmlns:a16="http://schemas.microsoft.com/office/drawing/2014/main" id="{78E5F821-1DF8-6E03-9B39-12A57ED3946F}"/>
                </a:ext>
              </a:extLst>
            </p:cNvPr>
            <p:cNvSpPr/>
            <p:nvPr/>
          </p:nvSpPr>
          <p:spPr>
            <a:xfrm>
              <a:off x="7200000" y="2304000"/>
              <a:ext cx="72000" cy="72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椭圆 94">
              <a:extLst>
                <a:ext uri="{FF2B5EF4-FFF2-40B4-BE49-F238E27FC236}">
                  <a16:creationId xmlns:a16="http://schemas.microsoft.com/office/drawing/2014/main" id="{B7980F9B-70FF-DC34-5BE7-3BCC2C6AE4EE}"/>
                </a:ext>
              </a:extLst>
            </p:cNvPr>
            <p:cNvSpPr/>
            <p:nvPr/>
          </p:nvSpPr>
          <p:spPr>
            <a:xfrm>
              <a:off x="10260000" y="2304000"/>
              <a:ext cx="72000" cy="72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7" name="直接连接符 96">
              <a:extLst>
                <a:ext uri="{FF2B5EF4-FFF2-40B4-BE49-F238E27FC236}">
                  <a16:creationId xmlns:a16="http://schemas.microsoft.com/office/drawing/2014/main" id="{B81078E5-BA49-C4EE-35F1-333C67775EEB}"/>
                </a:ext>
              </a:extLst>
            </p:cNvPr>
            <p:cNvCxnSpPr>
              <a:cxnSpLocks/>
            </p:cNvCxnSpPr>
            <p:nvPr/>
          </p:nvCxnSpPr>
          <p:spPr>
            <a:xfrm flipV="1">
              <a:off x="10439999" y="3636000"/>
              <a:ext cx="360000"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5358C052-31DD-DAE7-A63F-32E0CA6AB183}"/>
                </a:ext>
              </a:extLst>
            </p:cNvPr>
            <p:cNvCxnSpPr>
              <a:cxnSpLocks/>
            </p:cNvCxnSpPr>
            <p:nvPr/>
          </p:nvCxnSpPr>
          <p:spPr>
            <a:xfrm flipV="1">
              <a:off x="6732000" y="1332000"/>
              <a:ext cx="0" cy="342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A0C9FD79-45BD-7968-0E60-95C672B7E3F5}"/>
                </a:ext>
              </a:extLst>
            </p:cNvPr>
            <p:cNvCxnSpPr>
              <a:cxnSpLocks/>
            </p:cNvCxnSpPr>
            <p:nvPr/>
          </p:nvCxnSpPr>
          <p:spPr>
            <a:xfrm flipV="1">
              <a:off x="10800000" y="1332000"/>
              <a:ext cx="0" cy="342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2" name="椭圆 101">
              <a:extLst>
                <a:ext uri="{FF2B5EF4-FFF2-40B4-BE49-F238E27FC236}">
                  <a16:creationId xmlns:a16="http://schemas.microsoft.com/office/drawing/2014/main" id="{D578CA0E-056A-7B19-0035-370D32B18836}"/>
                </a:ext>
              </a:extLst>
            </p:cNvPr>
            <p:cNvSpPr/>
            <p:nvPr/>
          </p:nvSpPr>
          <p:spPr>
            <a:xfrm>
              <a:off x="6696000" y="3780000"/>
              <a:ext cx="72000" cy="72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a:extLst>
                <a:ext uri="{FF2B5EF4-FFF2-40B4-BE49-F238E27FC236}">
                  <a16:creationId xmlns:a16="http://schemas.microsoft.com/office/drawing/2014/main" id="{1CF22F4D-0E7E-8AAA-2B38-D672645500B5}"/>
                </a:ext>
              </a:extLst>
            </p:cNvPr>
            <p:cNvSpPr/>
            <p:nvPr/>
          </p:nvSpPr>
          <p:spPr>
            <a:xfrm>
              <a:off x="10764000" y="3600000"/>
              <a:ext cx="72000" cy="72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7" name="直接连接符 106">
              <a:extLst>
                <a:ext uri="{FF2B5EF4-FFF2-40B4-BE49-F238E27FC236}">
                  <a16:creationId xmlns:a16="http://schemas.microsoft.com/office/drawing/2014/main" id="{DD149FC9-8CC7-D6EB-9B98-5CE35CDEB9A8}"/>
                </a:ext>
              </a:extLst>
            </p:cNvPr>
            <p:cNvCxnSpPr>
              <a:cxnSpLocks/>
            </p:cNvCxnSpPr>
            <p:nvPr/>
          </p:nvCxnSpPr>
          <p:spPr>
            <a:xfrm flipV="1">
              <a:off x="6730551" y="4788000"/>
              <a:ext cx="0" cy="288000"/>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C35CCED4-FE93-0B0C-AF2A-59E618079EDE}"/>
                </a:ext>
              </a:extLst>
            </p:cNvPr>
            <p:cNvCxnSpPr>
              <a:cxnSpLocks/>
            </p:cNvCxnSpPr>
            <p:nvPr/>
          </p:nvCxnSpPr>
          <p:spPr>
            <a:xfrm flipH="1" flipV="1">
              <a:off x="6984000" y="53280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D2782D81-1396-983F-3552-196553944D5E}"/>
                </a:ext>
              </a:extLst>
            </p:cNvPr>
            <p:cNvCxnSpPr>
              <a:cxnSpLocks/>
            </p:cNvCxnSpPr>
            <p:nvPr/>
          </p:nvCxnSpPr>
          <p:spPr>
            <a:xfrm flipH="1" flipV="1">
              <a:off x="6912000" y="53280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CB7EBD88-C08C-DCA4-53C8-951C2D48756F}"/>
                </a:ext>
              </a:extLst>
            </p:cNvPr>
            <p:cNvCxnSpPr>
              <a:cxnSpLocks/>
            </p:cNvCxnSpPr>
            <p:nvPr/>
          </p:nvCxnSpPr>
          <p:spPr>
            <a:xfrm flipH="1">
              <a:off x="6732000" y="5328000"/>
              <a:ext cx="180000"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411633C9-8E7A-6CBB-E42B-604876BA0C23}"/>
                </a:ext>
              </a:extLst>
            </p:cNvPr>
            <p:cNvCxnSpPr>
              <a:cxnSpLocks/>
            </p:cNvCxnSpPr>
            <p:nvPr/>
          </p:nvCxnSpPr>
          <p:spPr>
            <a:xfrm flipH="1">
              <a:off x="6732000" y="5616000"/>
              <a:ext cx="180000"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1B2136CB-FCDB-3AB6-2348-BBB3AE74F316}"/>
                </a:ext>
              </a:extLst>
            </p:cNvPr>
            <p:cNvCxnSpPr>
              <a:cxnSpLocks/>
            </p:cNvCxnSpPr>
            <p:nvPr/>
          </p:nvCxnSpPr>
          <p:spPr>
            <a:xfrm flipH="1" flipV="1">
              <a:off x="6732000" y="5147999"/>
              <a:ext cx="0" cy="18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839C7AFF-5BB3-16E5-A681-F3AF8FD0C89F}"/>
                </a:ext>
              </a:extLst>
            </p:cNvPr>
            <p:cNvCxnSpPr>
              <a:cxnSpLocks/>
            </p:cNvCxnSpPr>
            <p:nvPr/>
          </p:nvCxnSpPr>
          <p:spPr>
            <a:xfrm flipV="1">
              <a:off x="6730552" y="5616000"/>
              <a:ext cx="0" cy="5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D6EBC5B3-2FBA-51E7-1B81-FB4D10D861F8}"/>
                </a:ext>
              </a:extLst>
            </p:cNvPr>
            <p:cNvCxnSpPr>
              <a:cxnSpLocks/>
            </p:cNvCxnSpPr>
            <p:nvPr/>
          </p:nvCxnSpPr>
          <p:spPr>
            <a:xfrm flipH="1">
              <a:off x="6984000" y="5472000"/>
              <a:ext cx="356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椭圆 129">
              <a:extLst>
                <a:ext uri="{FF2B5EF4-FFF2-40B4-BE49-F238E27FC236}">
                  <a16:creationId xmlns:a16="http://schemas.microsoft.com/office/drawing/2014/main" id="{A65D8E7F-9420-6EC5-90C6-3F24AB24683A}"/>
                </a:ext>
              </a:extLst>
            </p:cNvPr>
            <p:cNvSpPr/>
            <p:nvPr/>
          </p:nvSpPr>
          <p:spPr>
            <a:xfrm>
              <a:off x="8730000" y="5436000"/>
              <a:ext cx="72000" cy="72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1" name="直接连接符 130">
              <a:extLst>
                <a:ext uri="{FF2B5EF4-FFF2-40B4-BE49-F238E27FC236}">
                  <a16:creationId xmlns:a16="http://schemas.microsoft.com/office/drawing/2014/main" id="{E08AA772-4DAF-25FC-6A8A-926D2A253757}"/>
                </a:ext>
              </a:extLst>
            </p:cNvPr>
            <p:cNvCxnSpPr>
              <a:cxnSpLocks/>
            </p:cNvCxnSpPr>
            <p:nvPr/>
          </p:nvCxnSpPr>
          <p:spPr>
            <a:xfrm>
              <a:off x="8766000" y="5472000"/>
              <a:ext cx="0" cy="324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7614F4C7-06F6-D1B7-019D-49992F92D310}"/>
                </a:ext>
              </a:extLst>
            </p:cNvPr>
            <p:cNvCxnSpPr>
              <a:cxnSpLocks/>
            </p:cNvCxnSpPr>
            <p:nvPr/>
          </p:nvCxnSpPr>
          <p:spPr>
            <a:xfrm flipH="1">
              <a:off x="6552000" y="1548000"/>
              <a:ext cx="45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2" name="文本框 141">
                  <a:extLst>
                    <a:ext uri="{FF2B5EF4-FFF2-40B4-BE49-F238E27FC236}">
                      <a16:creationId xmlns:a16="http://schemas.microsoft.com/office/drawing/2014/main" id="{92E5009F-27F2-4D43-ED46-1D4A7AF1D0AF}"/>
                    </a:ext>
                  </a:extLst>
                </p:cNvPr>
                <p:cNvSpPr txBox="1"/>
                <p:nvPr/>
              </p:nvSpPr>
              <p:spPr>
                <a:xfrm>
                  <a:off x="8406000" y="2592000"/>
                  <a:ext cx="720000" cy="288000"/>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𝑉</m:t>
                            </m:r>
                          </m:e>
                          <m:sub>
                            <m:r>
                              <m:rPr>
                                <m:sty m:val="p"/>
                              </m:rPr>
                              <a:rPr lang="en-US" altLang="zh-CN" b="0" i="0" smtClean="0">
                                <a:solidFill>
                                  <a:schemeClr val="tx1"/>
                                </a:solidFill>
                                <a:latin typeface="Cambria Math" panose="02040503050406030204" pitchFamily="18" charset="0"/>
                              </a:rPr>
                              <m:t>DD</m:t>
                            </m:r>
                          </m:sub>
                        </m:sSub>
                      </m:oMath>
                    </m:oMathPara>
                  </a14:m>
                  <a:endParaRPr lang="zh-CN" altLang="en-US" dirty="0">
                    <a:solidFill>
                      <a:schemeClr val="tx1"/>
                    </a:solidFill>
                  </a:endParaRPr>
                </a:p>
              </p:txBody>
            </p:sp>
          </mc:Choice>
          <mc:Fallback xmlns="">
            <p:sp>
              <p:nvSpPr>
                <p:cNvPr id="142" name="文本框 141">
                  <a:extLst>
                    <a:ext uri="{FF2B5EF4-FFF2-40B4-BE49-F238E27FC236}">
                      <a16:creationId xmlns:a16="http://schemas.microsoft.com/office/drawing/2014/main" id="{92E5009F-27F2-4D43-ED46-1D4A7AF1D0AF}"/>
                    </a:ext>
                  </a:extLst>
                </p:cNvPr>
                <p:cNvSpPr txBox="1">
                  <a:spLocks noRot="1" noChangeAspect="1" noMove="1" noResize="1" noEditPoints="1" noAdjustHandles="1" noChangeArrowheads="1" noChangeShapeType="1" noTextEdit="1"/>
                </p:cNvSpPr>
                <p:nvPr/>
              </p:nvSpPr>
              <p:spPr>
                <a:xfrm>
                  <a:off x="8406000" y="2592000"/>
                  <a:ext cx="720000" cy="288000"/>
                </a:xfrm>
                <a:prstGeom prst="rect">
                  <a:avLst/>
                </a:prstGeom>
                <a:blipFill>
                  <a:blip r:embed="rId4"/>
                  <a:stretch>
                    <a:fillRect b="-10638"/>
                  </a:stretch>
                </a:blipFill>
              </p:spPr>
              <p:txBody>
                <a:bodyPr/>
                <a:lstStyle/>
                <a:p>
                  <a:r>
                    <a:rPr lang="zh-CN" altLang="en-US">
                      <a:noFill/>
                    </a:rPr>
                    <a:t> </a:t>
                  </a:r>
                </a:p>
              </p:txBody>
            </p:sp>
          </mc:Fallback>
        </mc:AlternateContent>
        <p:sp>
          <p:nvSpPr>
            <p:cNvPr id="149" name="矩形 148">
              <a:extLst>
                <a:ext uri="{FF2B5EF4-FFF2-40B4-BE49-F238E27FC236}">
                  <a16:creationId xmlns:a16="http://schemas.microsoft.com/office/drawing/2014/main" id="{3211E031-E7E6-4C4E-8267-870ED0AA7F39}"/>
                </a:ext>
              </a:extLst>
            </p:cNvPr>
            <p:cNvSpPr/>
            <p:nvPr/>
          </p:nvSpPr>
          <p:spPr>
            <a:xfrm>
              <a:off x="6912000" y="2556000"/>
              <a:ext cx="3708000" cy="2160000"/>
            </a:xfrm>
            <a:prstGeom prst="rect">
              <a:avLst/>
            </a:prstGeom>
            <a:noFill/>
            <a:ln w="25400">
              <a:solidFill>
                <a:srgbClr val="0000FF"/>
              </a:solidFill>
              <a:prstDash val="sysDot"/>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150" name="直接连接符 149">
              <a:extLst>
                <a:ext uri="{FF2B5EF4-FFF2-40B4-BE49-F238E27FC236}">
                  <a16:creationId xmlns:a16="http://schemas.microsoft.com/office/drawing/2014/main" id="{581DB18F-EE46-0769-607C-A9613CBA993F}"/>
                </a:ext>
              </a:extLst>
            </p:cNvPr>
            <p:cNvCxnSpPr>
              <a:cxnSpLocks/>
            </p:cNvCxnSpPr>
            <p:nvPr/>
          </p:nvCxnSpPr>
          <p:spPr>
            <a:xfrm>
              <a:off x="7236000" y="1547999"/>
              <a:ext cx="0" cy="18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直接连接符 150">
              <a:extLst>
                <a:ext uri="{FF2B5EF4-FFF2-40B4-BE49-F238E27FC236}">
                  <a16:creationId xmlns:a16="http://schemas.microsoft.com/office/drawing/2014/main" id="{19411A90-313B-3F09-969C-B234D14E0D6B}"/>
                </a:ext>
              </a:extLst>
            </p:cNvPr>
            <p:cNvCxnSpPr>
              <a:cxnSpLocks/>
            </p:cNvCxnSpPr>
            <p:nvPr/>
          </p:nvCxnSpPr>
          <p:spPr>
            <a:xfrm>
              <a:off x="10296000" y="1548000"/>
              <a:ext cx="0" cy="17499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52" name="椭圆 151">
              <a:extLst>
                <a:ext uri="{FF2B5EF4-FFF2-40B4-BE49-F238E27FC236}">
                  <a16:creationId xmlns:a16="http://schemas.microsoft.com/office/drawing/2014/main" id="{F27B22D0-6010-58C7-D445-B7A7AA0ECB9E}"/>
                </a:ext>
              </a:extLst>
            </p:cNvPr>
            <p:cNvSpPr/>
            <p:nvPr/>
          </p:nvSpPr>
          <p:spPr>
            <a:xfrm>
              <a:off x="7200000" y="1512000"/>
              <a:ext cx="72000" cy="72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椭圆 152">
              <a:extLst>
                <a:ext uri="{FF2B5EF4-FFF2-40B4-BE49-F238E27FC236}">
                  <a16:creationId xmlns:a16="http://schemas.microsoft.com/office/drawing/2014/main" id="{42049CE7-F13B-CE30-F617-E2173EB10698}"/>
                </a:ext>
              </a:extLst>
            </p:cNvPr>
            <p:cNvSpPr/>
            <p:nvPr/>
          </p:nvSpPr>
          <p:spPr>
            <a:xfrm>
              <a:off x="10260000" y="1512000"/>
              <a:ext cx="72000" cy="72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a:extLst>
                <a:ext uri="{FF2B5EF4-FFF2-40B4-BE49-F238E27FC236}">
                  <a16:creationId xmlns:a16="http://schemas.microsoft.com/office/drawing/2014/main" id="{DD651046-239E-61ED-4B1F-C6F35F038985}"/>
                </a:ext>
              </a:extLst>
            </p:cNvPr>
            <p:cNvSpPr/>
            <p:nvPr/>
          </p:nvSpPr>
          <p:spPr>
            <a:xfrm>
              <a:off x="6912000" y="1710000"/>
              <a:ext cx="3708000" cy="468000"/>
            </a:xfrm>
            <a:prstGeom prst="rect">
              <a:avLst/>
            </a:prstGeom>
            <a:noFill/>
            <a:ln w="25400">
              <a:solidFill>
                <a:srgbClr val="0000FF"/>
              </a:solidFill>
              <a:prstDash val="sysDot"/>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57" name="文本框 156">
                  <a:extLst>
                    <a:ext uri="{FF2B5EF4-FFF2-40B4-BE49-F238E27FC236}">
                      <a16:creationId xmlns:a16="http://schemas.microsoft.com/office/drawing/2014/main" id="{40D4BB38-842B-CCC0-5FC3-B4902C2267F4}"/>
                    </a:ext>
                  </a:extLst>
                </p:cNvPr>
                <p:cNvSpPr txBox="1"/>
                <p:nvPr/>
              </p:nvSpPr>
              <p:spPr>
                <a:xfrm>
                  <a:off x="5760000" y="1404000"/>
                  <a:ext cx="720000" cy="288000"/>
                </a:xfrm>
                <a:prstGeom prst="rect">
                  <a:avLst/>
                </a:prstGeom>
                <a:noFill/>
              </p:spPr>
              <p:txBody>
                <a:bodyPr wrap="square" lIns="0" tIns="0" rIns="0" bIns="0" rtlCol="0">
                  <a:spAutoFit/>
                </a:bodyPr>
                <a:lstStyle/>
                <a:p>
                  <a:pPr/>
                  <a14:m>
                    <m:oMathPara xmlns:m="http://schemas.openxmlformats.org/officeDocument/2006/math">
                      <m:oMathParaPr>
                        <m:jc m:val="right"/>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𝑋</m:t>
                            </m:r>
                          </m:e>
                          <m:sub>
                            <m:r>
                              <a:rPr lang="en-US" altLang="zh-CN" b="0" i="1" smtClean="0">
                                <a:solidFill>
                                  <a:schemeClr val="tx1"/>
                                </a:solidFill>
                                <a:latin typeface="Cambria Math" panose="02040503050406030204" pitchFamily="18" charset="0"/>
                              </a:rPr>
                              <m:t>𝑖</m:t>
                            </m:r>
                            <m:r>
                              <a:rPr lang="en-US" altLang="zh-CN" b="0" i="1" smtClean="0">
                                <a:solidFill>
                                  <a:schemeClr val="tx1"/>
                                </a:solidFill>
                                <a:latin typeface="Cambria Math" panose="02040503050406030204" pitchFamily="18" charset="0"/>
                              </a:rPr>
                              <m:t>−1</m:t>
                            </m:r>
                          </m:sub>
                        </m:sSub>
                      </m:oMath>
                    </m:oMathPara>
                  </a14:m>
                  <a:endParaRPr lang="zh-CN" altLang="en-US" dirty="0">
                    <a:solidFill>
                      <a:schemeClr val="tx1"/>
                    </a:solidFill>
                  </a:endParaRPr>
                </a:p>
              </p:txBody>
            </p:sp>
          </mc:Choice>
          <mc:Fallback xmlns="">
            <p:sp>
              <p:nvSpPr>
                <p:cNvPr id="157" name="文本框 156">
                  <a:extLst>
                    <a:ext uri="{FF2B5EF4-FFF2-40B4-BE49-F238E27FC236}">
                      <a16:creationId xmlns:a16="http://schemas.microsoft.com/office/drawing/2014/main" id="{40D4BB38-842B-CCC0-5FC3-B4902C2267F4}"/>
                    </a:ext>
                  </a:extLst>
                </p:cNvPr>
                <p:cNvSpPr txBox="1">
                  <a:spLocks noRot="1" noChangeAspect="1" noMove="1" noResize="1" noEditPoints="1" noAdjustHandles="1" noChangeArrowheads="1" noChangeShapeType="1" noTextEdit="1"/>
                </p:cNvSpPr>
                <p:nvPr/>
              </p:nvSpPr>
              <p:spPr>
                <a:xfrm>
                  <a:off x="5760000" y="1404000"/>
                  <a:ext cx="720000" cy="288000"/>
                </a:xfrm>
                <a:prstGeom prst="rect">
                  <a:avLst/>
                </a:prstGeom>
                <a:blipFill>
                  <a:blip r:embed="rId5"/>
                  <a:stretch>
                    <a:fillRect r="-6780" b="-106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8" name="文本框 157">
                  <a:extLst>
                    <a:ext uri="{FF2B5EF4-FFF2-40B4-BE49-F238E27FC236}">
                      <a16:creationId xmlns:a16="http://schemas.microsoft.com/office/drawing/2014/main" id="{667A0D9D-10EC-8591-738B-A75D9A527E9D}"/>
                    </a:ext>
                  </a:extLst>
                </p:cNvPr>
                <p:cNvSpPr txBox="1"/>
                <p:nvPr/>
              </p:nvSpPr>
              <p:spPr>
                <a:xfrm>
                  <a:off x="5544000" y="2070000"/>
                  <a:ext cx="1080000" cy="540000"/>
                </a:xfrm>
                <a:prstGeom prst="rect">
                  <a:avLst/>
                </a:prstGeom>
                <a:noFill/>
              </p:spPr>
              <p:txBody>
                <a:bodyPr wrap="square" lIns="0" tIns="0" rIns="0" bIns="0" rtlCol="0">
                  <a:spAutoFit/>
                </a:bodyPr>
                <a:lstStyle/>
                <a:p>
                  <a:pPr algn="ctr"/>
                  <a14:m>
                    <m:oMathPara xmlns:m="http://schemas.openxmlformats.org/officeDocument/2006/math">
                      <m:oMathParaPr>
                        <m:jc m:val="center"/>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𝑋</m:t>
                            </m:r>
                          </m:e>
                          <m:sub>
                            <m:r>
                              <a:rPr lang="en-US" altLang="zh-CN" b="0" i="1" smtClean="0">
                                <a:solidFill>
                                  <a:schemeClr val="tx1"/>
                                </a:solidFill>
                                <a:latin typeface="Cambria Math" panose="02040503050406030204" pitchFamily="18" charset="0"/>
                              </a:rPr>
                              <m:t>𝑖</m:t>
                            </m:r>
                          </m:sub>
                        </m:sSub>
                      </m:oMath>
                    </m:oMathPara>
                  </a14:m>
                  <a:endParaRPr lang="en-US" altLang="zh-CN" dirty="0">
                    <a:solidFill>
                      <a:schemeClr val="tx1"/>
                    </a:solidFill>
                    <a:latin typeface="微软雅黑" panose="020B0503020204020204" pitchFamily="34" charset="-122"/>
                    <a:ea typeface="微软雅黑" panose="020B0503020204020204" pitchFamily="34" charset="-122"/>
                  </a:endParaRPr>
                </a:p>
                <a:p>
                  <a:pPr algn="ct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行选择线</a:t>
                  </a:r>
                  <a:r>
                    <a:rPr lang="en-US" altLang="zh-CN" sz="1600" dirty="0">
                      <a:latin typeface="微软雅黑" panose="020B0503020204020204" pitchFamily="34" charset="-122"/>
                      <a:ea typeface="微软雅黑" panose="020B0503020204020204" pitchFamily="34" charset="-122"/>
                    </a:rPr>
                    <a:t>)</a:t>
                  </a:r>
                  <a:endParaRPr lang="zh-CN" altLang="en-US" sz="16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58" name="文本框 157">
                  <a:extLst>
                    <a:ext uri="{FF2B5EF4-FFF2-40B4-BE49-F238E27FC236}">
                      <a16:creationId xmlns:a16="http://schemas.microsoft.com/office/drawing/2014/main" id="{667A0D9D-10EC-8591-738B-A75D9A527E9D}"/>
                    </a:ext>
                  </a:extLst>
                </p:cNvPr>
                <p:cNvSpPr txBox="1">
                  <a:spLocks noRot="1" noChangeAspect="1" noMove="1" noResize="1" noEditPoints="1" noAdjustHandles="1" noChangeArrowheads="1" noChangeShapeType="1" noTextEdit="1"/>
                </p:cNvSpPr>
                <p:nvPr/>
              </p:nvSpPr>
              <p:spPr>
                <a:xfrm>
                  <a:off x="5544000" y="2070000"/>
                  <a:ext cx="1080000" cy="540000"/>
                </a:xfrm>
                <a:prstGeom prst="rect">
                  <a:avLst/>
                </a:prstGeom>
                <a:blipFill>
                  <a:blip r:embed="rId6"/>
                  <a:stretch>
                    <a:fillRect l="-5056" r="-4494" b="-191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9" name="文本框 158">
                  <a:extLst>
                    <a:ext uri="{FF2B5EF4-FFF2-40B4-BE49-F238E27FC236}">
                      <a16:creationId xmlns:a16="http://schemas.microsoft.com/office/drawing/2014/main" id="{330C3F8D-7CF2-7E26-B8C9-DC29ED627234}"/>
                    </a:ext>
                  </a:extLst>
                </p:cNvPr>
                <p:cNvSpPr txBox="1"/>
                <p:nvPr/>
              </p:nvSpPr>
              <p:spPr>
                <a:xfrm>
                  <a:off x="8046000" y="5832000"/>
                  <a:ext cx="1440000" cy="540000"/>
                </a:xfrm>
                <a:prstGeom prst="rect">
                  <a:avLst/>
                </a:prstGeom>
                <a:noFill/>
              </p:spPr>
              <p:txBody>
                <a:bodyPr wrap="square" lIns="0" tIns="0" rIns="0" bIns="0" rtlCol="0">
                  <a:spAutoFit/>
                </a:bodyPr>
                <a:lstStyle/>
                <a:p>
                  <a:pPr algn="ctr"/>
                  <a14:m>
                    <m:oMathPara xmlns:m="http://schemas.openxmlformats.org/officeDocument/2006/math">
                      <m:oMathParaPr>
                        <m:jc m:val="center"/>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𝑌</m:t>
                            </m:r>
                          </m:e>
                          <m:sub>
                            <m:r>
                              <a:rPr lang="en-US" altLang="zh-CN" b="0" i="1" smtClean="0">
                                <a:solidFill>
                                  <a:schemeClr val="tx1"/>
                                </a:solidFill>
                                <a:latin typeface="Cambria Math" panose="02040503050406030204" pitchFamily="18" charset="0"/>
                              </a:rPr>
                              <m:t>𝑗</m:t>
                            </m:r>
                          </m:sub>
                        </m:sSub>
                      </m:oMath>
                    </m:oMathPara>
                  </a14:m>
                  <a:endParaRPr lang="en-US" altLang="zh-CN" dirty="0">
                    <a:solidFill>
                      <a:schemeClr val="tx1"/>
                    </a:solidFill>
                    <a:latin typeface="微软雅黑" panose="020B0503020204020204" pitchFamily="34" charset="-122"/>
                    <a:ea typeface="微软雅黑" panose="020B0503020204020204" pitchFamily="34" charset="-122"/>
                  </a:endParaRPr>
                </a:p>
                <a:p>
                  <a:pPr algn="ctr"/>
                  <a:r>
                    <a:rPr lang="zh-CN" altLang="en-US" sz="1600" dirty="0">
                      <a:latin typeface="微软雅黑" panose="020B0503020204020204" pitchFamily="34" charset="-122"/>
                      <a:ea typeface="微软雅黑" panose="020B0503020204020204" pitchFamily="34" charset="-122"/>
                    </a:rPr>
                    <a:t>（列选择线）</a:t>
                  </a:r>
                  <a:endParaRPr lang="zh-CN" altLang="en-US" sz="16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59" name="文本框 158">
                  <a:extLst>
                    <a:ext uri="{FF2B5EF4-FFF2-40B4-BE49-F238E27FC236}">
                      <a16:creationId xmlns:a16="http://schemas.microsoft.com/office/drawing/2014/main" id="{330C3F8D-7CF2-7E26-B8C9-DC29ED627234}"/>
                    </a:ext>
                  </a:extLst>
                </p:cNvPr>
                <p:cNvSpPr txBox="1">
                  <a:spLocks noRot="1" noChangeAspect="1" noMove="1" noResize="1" noEditPoints="1" noAdjustHandles="1" noChangeArrowheads="1" noChangeShapeType="1" noTextEdit="1"/>
                </p:cNvSpPr>
                <p:nvPr/>
              </p:nvSpPr>
              <p:spPr>
                <a:xfrm>
                  <a:off x="8046000" y="5832000"/>
                  <a:ext cx="1440000" cy="540000"/>
                </a:xfrm>
                <a:prstGeom prst="rect">
                  <a:avLst/>
                </a:prstGeom>
                <a:blipFill>
                  <a:blip r:embed="rId7"/>
                  <a:stretch>
                    <a:fillRect l="-847" r="-424" b="-23596"/>
                  </a:stretch>
                </a:blipFill>
              </p:spPr>
              <p:txBody>
                <a:bodyPr/>
                <a:lstStyle/>
                <a:p>
                  <a:r>
                    <a:rPr lang="zh-CN" altLang="en-US">
                      <a:noFill/>
                    </a:rPr>
                    <a:t> </a:t>
                  </a:r>
                </a:p>
              </p:txBody>
            </p:sp>
          </mc:Fallback>
        </mc:AlternateContent>
        <p:cxnSp>
          <p:nvCxnSpPr>
            <p:cNvPr id="163" name="直接连接符 162">
              <a:extLst>
                <a:ext uri="{FF2B5EF4-FFF2-40B4-BE49-F238E27FC236}">
                  <a16:creationId xmlns:a16="http://schemas.microsoft.com/office/drawing/2014/main" id="{5C68CFDD-1ED2-FCB2-8283-FC49B81A9DE3}"/>
                </a:ext>
              </a:extLst>
            </p:cNvPr>
            <p:cNvCxnSpPr>
              <a:cxnSpLocks/>
            </p:cNvCxnSpPr>
            <p:nvPr/>
          </p:nvCxnSpPr>
          <p:spPr>
            <a:xfrm>
              <a:off x="10476000" y="2196000"/>
              <a:ext cx="612000" cy="39600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64" name="直接连接符 163">
              <a:extLst>
                <a:ext uri="{FF2B5EF4-FFF2-40B4-BE49-F238E27FC236}">
                  <a16:creationId xmlns:a16="http://schemas.microsoft.com/office/drawing/2014/main" id="{DA4FB91F-33E9-75E0-677C-43C5B189774D}"/>
                </a:ext>
              </a:extLst>
            </p:cNvPr>
            <p:cNvCxnSpPr>
              <a:cxnSpLocks/>
            </p:cNvCxnSpPr>
            <p:nvPr/>
          </p:nvCxnSpPr>
          <p:spPr>
            <a:xfrm flipV="1">
              <a:off x="10656000" y="2736000"/>
              <a:ext cx="432000" cy="18000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sp>
          <p:nvSpPr>
            <p:cNvPr id="169" name="文本框 168">
              <a:extLst>
                <a:ext uri="{FF2B5EF4-FFF2-40B4-BE49-F238E27FC236}">
                  <a16:creationId xmlns:a16="http://schemas.microsoft.com/office/drawing/2014/main" id="{B58B74A0-2E05-1979-DD82-A58A077688C5}"/>
                </a:ext>
              </a:extLst>
            </p:cNvPr>
            <p:cNvSpPr txBox="1"/>
            <p:nvPr/>
          </p:nvSpPr>
          <p:spPr>
            <a:xfrm>
              <a:off x="11052000" y="2520000"/>
              <a:ext cx="1008000" cy="360000"/>
            </a:xfrm>
            <a:prstGeom prst="rect">
              <a:avLst/>
            </a:prstGeom>
            <a:noFill/>
          </p:spPr>
          <p:txBody>
            <a:bodyPr wrap="square">
              <a:spAutoFit/>
            </a:bodyPr>
            <a:lstStyle/>
            <a:p>
              <a:pPr algn="ctr"/>
              <a:r>
                <a:rPr lang="zh-CN" altLang="en-US" sz="1600" dirty="0">
                  <a:solidFill>
                    <a:srgbClr val="0000FF"/>
                  </a:solidFill>
                  <a:latin typeface="微软雅黑" panose="020B0503020204020204" pitchFamily="34" charset="-122"/>
                  <a:ea typeface="微软雅黑" panose="020B0503020204020204" pitchFamily="34" charset="-122"/>
                </a:rPr>
                <a:t>存储单元</a:t>
              </a:r>
              <a:endParaRPr lang="zh-CN" altLang="en-US" sz="1600" dirty="0">
                <a:solidFill>
                  <a:srgbClr val="0000FF"/>
                </a:solidFill>
              </a:endParaRPr>
            </a:p>
          </p:txBody>
        </p:sp>
        <mc:AlternateContent xmlns:mc="http://schemas.openxmlformats.org/markup-compatibility/2006" xmlns:a14="http://schemas.microsoft.com/office/drawing/2010/main">
          <mc:Choice Requires="a14">
            <p:sp>
              <p:nvSpPr>
                <p:cNvPr id="170" name="文本框 169">
                  <a:extLst>
                    <a:ext uri="{FF2B5EF4-FFF2-40B4-BE49-F238E27FC236}">
                      <a16:creationId xmlns:a16="http://schemas.microsoft.com/office/drawing/2014/main" id="{54C5B97E-DCA0-F8C7-A94E-E1E61208F025}"/>
                    </a:ext>
                  </a:extLst>
                </p:cNvPr>
                <p:cNvSpPr txBox="1"/>
                <p:nvPr/>
              </p:nvSpPr>
              <p:spPr>
                <a:xfrm>
                  <a:off x="7524000" y="3996000"/>
                  <a:ext cx="360000" cy="288000"/>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T</m:t>
                            </m:r>
                          </m:e>
                          <m:sub>
                            <m:r>
                              <a:rPr lang="en-US" altLang="zh-CN" b="0" i="1" smtClean="0">
                                <a:solidFill>
                                  <a:schemeClr val="tx1"/>
                                </a:solidFill>
                                <a:latin typeface="Cambria Math" panose="02040503050406030204" pitchFamily="18" charset="0"/>
                              </a:rPr>
                              <m:t>1</m:t>
                            </m:r>
                          </m:sub>
                        </m:sSub>
                      </m:oMath>
                    </m:oMathPara>
                  </a14:m>
                  <a:endParaRPr lang="zh-CN" altLang="en-US" dirty="0">
                    <a:solidFill>
                      <a:schemeClr val="tx1"/>
                    </a:solidFill>
                  </a:endParaRPr>
                </a:p>
              </p:txBody>
            </p:sp>
          </mc:Choice>
          <mc:Fallback xmlns="">
            <p:sp>
              <p:nvSpPr>
                <p:cNvPr id="170" name="文本框 169">
                  <a:extLst>
                    <a:ext uri="{FF2B5EF4-FFF2-40B4-BE49-F238E27FC236}">
                      <a16:creationId xmlns:a16="http://schemas.microsoft.com/office/drawing/2014/main" id="{54C5B97E-DCA0-F8C7-A94E-E1E61208F025}"/>
                    </a:ext>
                  </a:extLst>
                </p:cNvPr>
                <p:cNvSpPr txBox="1">
                  <a:spLocks noRot="1" noChangeAspect="1" noMove="1" noResize="1" noEditPoints="1" noAdjustHandles="1" noChangeArrowheads="1" noChangeShapeType="1" noTextEdit="1"/>
                </p:cNvSpPr>
                <p:nvPr/>
              </p:nvSpPr>
              <p:spPr>
                <a:xfrm>
                  <a:off x="7524000" y="3996000"/>
                  <a:ext cx="360000" cy="288000"/>
                </a:xfrm>
                <a:prstGeom prst="rect">
                  <a:avLst/>
                </a:prstGeom>
                <a:blipFill>
                  <a:blip r:embed="rId8"/>
                  <a:stretch>
                    <a:fillRect l="-1695" b="-106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1" name="文本框 170">
                  <a:extLst>
                    <a:ext uri="{FF2B5EF4-FFF2-40B4-BE49-F238E27FC236}">
                      <a16:creationId xmlns:a16="http://schemas.microsoft.com/office/drawing/2014/main" id="{703DC06B-0AA4-E759-799F-E40756A3B6BB}"/>
                    </a:ext>
                  </a:extLst>
                </p:cNvPr>
                <p:cNvSpPr txBox="1"/>
                <p:nvPr/>
              </p:nvSpPr>
              <p:spPr>
                <a:xfrm>
                  <a:off x="9648000" y="3996000"/>
                  <a:ext cx="360000" cy="288000"/>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T</m:t>
                            </m:r>
                          </m:e>
                          <m:sub>
                            <m:r>
                              <a:rPr lang="en-US" altLang="zh-CN" b="0" i="1" smtClean="0">
                                <a:solidFill>
                                  <a:schemeClr val="tx1"/>
                                </a:solidFill>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171" name="文本框 170">
                  <a:extLst>
                    <a:ext uri="{FF2B5EF4-FFF2-40B4-BE49-F238E27FC236}">
                      <a16:creationId xmlns:a16="http://schemas.microsoft.com/office/drawing/2014/main" id="{703DC06B-0AA4-E759-799F-E40756A3B6BB}"/>
                    </a:ext>
                  </a:extLst>
                </p:cNvPr>
                <p:cNvSpPr txBox="1">
                  <a:spLocks noRot="1" noChangeAspect="1" noMove="1" noResize="1" noEditPoints="1" noAdjustHandles="1" noChangeArrowheads="1" noChangeShapeType="1" noTextEdit="1"/>
                </p:cNvSpPr>
                <p:nvPr/>
              </p:nvSpPr>
              <p:spPr>
                <a:xfrm>
                  <a:off x="9648000" y="3996000"/>
                  <a:ext cx="360000" cy="288000"/>
                </a:xfrm>
                <a:prstGeom prst="rect">
                  <a:avLst/>
                </a:prstGeom>
                <a:blipFill>
                  <a:blip r:embed="rId9"/>
                  <a:stretch>
                    <a:fillRect l="-5085" b="-106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2" name="文本框 171">
                  <a:extLst>
                    <a:ext uri="{FF2B5EF4-FFF2-40B4-BE49-F238E27FC236}">
                      <a16:creationId xmlns:a16="http://schemas.microsoft.com/office/drawing/2014/main" id="{458D04BC-EDA6-1477-061A-3E2ADEB6E8B5}"/>
                    </a:ext>
                  </a:extLst>
                </p:cNvPr>
                <p:cNvSpPr txBox="1"/>
                <p:nvPr/>
              </p:nvSpPr>
              <p:spPr>
                <a:xfrm>
                  <a:off x="7524000" y="3204000"/>
                  <a:ext cx="360000" cy="288000"/>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T</m:t>
                            </m:r>
                          </m:e>
                          <m:sub>
                            <m:r>
                              <a:rPr lang="en-US" altLang="zh-CN" b="0" i="1" smtClean="0">
                                <a:solidFill>
                                  <a:schemeClr val="tx1"/>
                                </a:solidFill>
                                <a:latin typeface="Cambria Math" panose="02040503050406030204" pitchFamily="18" charset="0"/>
                              </a:rPr>
                              <m:t>3</m:t>
                            </m:r>
                          </m:sub>
                        </m:sSub>
                      </m:oMath>
                    </m:oMathPara>
                  </a14:m>
                  <a:endParaRPr lang="zh-CN" altLang="en-US" dirty="0">
                    <a:solidFill>
                      <a:schemeClr val="tx1"/>
                    </a:solidFill>
                  </a:endParaRPr>
                </a:p>
              </p:txBody>
            </p:sp>
          </mc:Choice>
          <mc:Fallback xmlns="">
            <p:sp>
              <p:nvSpPr>
                <p:cNvPr id="172" name="文本框 171">
                  <a:extLst>
                    <a:ext uri="{FF2B5EF4-FFF2-40B4-BE49-F238E27FC236}">
                      <a16:creationId xmlns:a16="http://schemas.microsoft.com/office/drawing/2014/main" id="{458D04BC-EDA6-1477-061A-3E2ADEB6E8B5}"/>
                    </a:ext>
                  </a:extLst>
                </p:cNvPr>
                <p:cNvSpPr txBox="1">
                  <a:spLocks noRot="1" noChangeAspect="1" noMove="1" noResize="1" noEditPoints="1" noAdjustHandles="1" noChangeArrowheads="1" noChangeShapeType="1" noTextEdit="1"/>
                </p:cNvSpPr>
                <p:nvPr/>
              </p:nvSpPr>
              <p:spPr>
                <a:xfrm>
                  <a:off x="7524000" y="3204000"/>
                  <a:ext cx="360000" cy="288000"/>
                </a:xfrm>
                <a:prstGeom prst="rect">
                  <a:avLst/>
                </a:prstGeom>
                <a:blipFill>
                  <a:blip r:embed="rId10"/>
                  <a:stretch>
                    <a:fillRect l="-3390" b="-106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3" name="文本框 172">
                  <a:extLst>
                    <a:ext uri="{FF2B5EF4-FFF2-40B4-BE49-F238E27FC236}">
                      <a16:creationId xmlns:a16="http://schemas.microsoft.com/office/drawing/2014/main" id="{091025BF-F88B-76A4-F3BE-6CDD4CE4E9EE}"/>
                    </a:ext>
                  </a:extLst>
                </p:cNvPr>
                <p:cNvSpPr txBox="1"/>
                <p:nvPr/>
              </p:nvSpPr>
              <p:spPr>
                <a:xfrm>
                  <a:off x="9648000" y="3204000"/>
                  <a:ext cx="360000" cy="288000"/>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T</m:t>
                            </m:r>
                          </m:e>
                          <m:sub>
                            <m:r>
                              <a:rPr lang="en-US" altLang="zh-CN" b="0" i="1" smtClean="0">
                                <a:solidFill>
                                  <a:schemeClr val="tx1"/>
                                </a:solidFill>
                                <a:latin typeface="Cambria Math" panose="02040503050406030204" pitchFamily="18" charset="0"/>
                              </a:rPr>
                              <m:t>4</m:t>
                            </m:r>
                          </m:sub>
                        </m:sSub>
                      </m:oMath>
                    </m:oMathPara>
                  </a14:m>
                  <a:endParaRPr lang="zh-CN" altLang="en-US" dirty="0">
                    <a:solidFill>
                      <a:schemeClr val="tx1"/>
                    </a:solidFill>
                  </a:endParaRPr>
                </a:p>
              </p:txBody>
            </p:sp>
          </mc:Choice>
          <mc:Fallback xmlns="">
            <p:sp>
              <p:nvSpPr>
                <p:cNvPr id="173" name="文本框 172">
                  <a:extLst>
                    <a:ext uri="{FF2B5EF4-FFF2-40B4-BE49-F238E27FC236}">
                      <a16:creationId xmlns:a16="http://schemas.microsoft.com/office/drawing/2014/main" id="{091025BF-F88B-76A4-F3BE-6CDD4CE4E9EE}"/>
                    </a:ext>
                  </a:extLst>
                </p:cNvPr>
                <p:cNvSpPr txBox="1">
                  <a:spLocks noRot="1" noChangeAspect="1" noMove="1" noResize="1" noEditPoints="1" noAdjustHandles="1" noChangeArrowheads="1" noChangeShapeType="1" noTextEdit="1"/>
                </p:cNvSpPr>
                <p:nvPr/>
              </p:nvSpPr>
              <p:spPr>
                <a:xfrm>
                  <a:off x="9648000" y="3204000"/>
                  <a:ext cx="360000" cy="288000"/>
                </a:xfrm>
                <a:prstGeom prst="rect">
                  <a:avLst/>
                </a:prstGeom>
                <a:blipFill>
                  <a:blip r:embed="rId11"/>
                  <a:stretch>
                    <a:fillRect l="-5085" b="-106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4" name="文本框 173">
                  <a:extLst>
                    <a:ext uri="{FF2B5EF4-FFF2-40B4-BE49-F238E27FC236}">
                      <a16:creationId xmlns:a16="http://schemas.microsoft.com/office/drawing/2014/main" id="{CF5069EA-82E2-70C3-6F43-DD31F22E7B78}"/>
                    </a:ext>
                  </a:extLst>
                </p:cNvPr>
                <p:cNvSpPr txBox="1"/>
                <p:nvPr/>
              </p:nvSpPr>
              <p:spPr>
                <a:xfrm>
                  <a:off x="7092000" y="3816000"/>
                  <a:ext cx="360000" cy="288000"/>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T</m:t>
                            </m:r>
                          </m:e>
                          <m:sub>
                            <m:r>
                              <a:rPr lang="en-US" altLang="zh-CN" b="0" i="1" smtClean="0">
                                <a:solidFill>
                                  <a:schemeClr val="tx1"/>
                                </a:solidFill>
                                <a:latin typeface="Cambria Math" panose="02040503050406030204" pitchFamily="18" charset="0"/>
                              </a:rPr>
                              <m:t>5</m:t>
                            </m:r>
                          </m:sub>
                        </m:sSub>
                      </m:oMath>
                    </m:oMathPara>
                  </a14:m>
                  <a:endParaRPr lang="zh-CN" altLang="en-US" dirty="0">
                    <a:solidFill>
                      <a:schemeClr val="tx1"/>
                    </a:solidFill>
                  </a:endParaRPr>
                </a:p>
              </p:txBody>
            </p:sp>
          </mc:Choice>
          <mc:Fallback xmlns="">
            <p:sp>
              <p:nvSpPr>
                <p:cNvPr id="174" name="文本框 173">
                  <a:extLst>
                    <a:ext uri="{FF2B5EF4-FFF2-40B4-BE49-F238E27FC236}">
                      <a16:creationId xmlns:a16="http://schemas.microsoft.com/office/drawing/2014/main" id="{CF5069EA-82E2-70C3-6F43-DD31F22E7B78}"/>
                    </a:ext>
                  </a:extLst>
                </p:cNvPr>
                <p:cNvSpPr txBox="1">
                  <a:spLocks noRot="1" noChangeAspect="1" noMove="1" noResize="1" noEditPoints="1" noAdjustHandles="1" noChangeArrowheads="1" noChangeShapeType="1" noTextEdit="1"/>
                </p:cNvSpPr>
                <p:nvPr/>
              </p:nvSpPr>
              <p:spPr>
                <a:xfrm>
                  <a:off x="7092000" y="3816000"/>
                  <a:ext cx="360000" cy="288000"/>
                </a:xfrm>
                <a:prstGeom prst="rect">
                  <a:avLst/>
                </a:prstGeom>
                <a:blipFill>
                  <a:blip r:embed="rId12"/>
                  <a:stretch>
                    <a:fillRect l="-3390" b="-106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5" name="文本框 174">
                  <a:extLst>
                    <a:ext uri="{FF2B5EF4-FFF2-40B4-BE49-F238E27FC236}">
                      <a16:creationId xmlns:a16="http://schemas.microsoft.com/office/drawing/2014/main" id="{EED5515C-6905-1596-3ECD-BD3260196DD7}"/>
                    </a:ext>
                  </a:extLst>
                </p:cNvPr>
                <p:cNvSpPr txBox="1"/>
                <p:nvPr/>
              </p:nvSpPr>
              <p:spPr>
                <a:xfrm>
                  <a:off x="10152000" y="3636000"/>
                  <a:ext cx="360000" cy="288000"/>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T</m:t>
                            </m:r>
                          </m:e>
                          <m:sub>
                            <m:r>
                              <a:rPr lang="en-US" altLang="zh-CN" b="0" i="1" smtClean="0">
                                <a:solidFill>
                                  <a:schemeClr val="tx1"/>
                                </a:solidFill>
                                <a:latin typeface="Cambria Math" panose="02040503050406030204" pitchFamily="18" charset="0"/>
                              </a:rPr>
                              <m:t>6</m:t>
                            </m:r>
                          </m:sub>
                        </m:sSub>
                      </m:oMath>
                    </m:oMathPara>
                  </a14:m>
                  <a:endParaRPr lang="zh-CN" altLang="en-US" dirty="0">
                    <a:solidFill>
                      <a:schemeClr val="tx1"/>
                    </a:solidFill>
                  </a:endParaRPr>
                </a:p>
              </p:txBody>
            </p:sp>
          </mc:Choice>
          <mc:Fallback xmlns="">
            <p:sp>
              <p:nvSpPr>
                <p:cNvPr id="175" name="文本框 174">
                  <a:extLst>
                    <a:ext uri="{FF2B5EF4-FFF2-40B4-BE49-F238E27FC236}">
                      <a16:creationId xmlns:a16="http://schemas.microsoft.com/office/drawing/2014/main" id="{EED5515C-6905-1596-3ECD-BD3260196DD7}"/>
                    </a:ext>
                  </a:extLst>
                </p:cNvPr>
                <p:cNvSpPr txBox="1">
                  <a:spLocks noRot="1" noChangeAspect="1" noMove="1" noResize="1" noEditPoints="1" noAdjustHandles="1" noChangeArrowheads="1" noChangeShapeType="1" noTextEdit="1"/>
                </p:cNvSpPr>
                <p:nvPr/>
              </p:nvSpPr>
              <p:spPr>
                <a:xfrm>
                  <a:off x="10152000" y="3636000"/>
                  <a:ext cx="360000" cy="288000"/>
                </a:xfrm>
                <a:prstGeom prst="rect">
                  <a:avLst/>
                </a:prstGeom>
                <a:blipFill>
                  <a:blip r:embed="rId13"/>
                  <a:stretch>
                    <a:fillRect l="-3390" b="-106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6" name="文本框 175">
                  <a:extLst>
                    <a:ext uri="{FF2B5EF4-FFF2-40B4-BE49-F238E27FC236}">
                      <a16:creationId xmlns:a16="http://schemas.microsoft.com/office/drawing/2014/main" id="{D009F029-A1AE-5CA5-B101-0413C107B07D}"/>
                    </a:ext>
                  </a:extLst>
                </p:cNvPr>
                <p:cNvSpPr txBox="1"/>
                <p:nvPr/>
              </p:nvSpPr>
              <p:spPr>
                <a:xfrm>
                  <a:off x="6840000" y="5040000"/>
                  <a:ext cx="360000" cy="288000"/>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T</m:t>
                            </m:r>
                          </m:e>
                          <m:sub>
                            <m:r>
                              <a:rPr lang="en-US" altLang="zh-CN" b="0" i="1" smtClean="0">
                                <a:solidFill>
                                  <a:schemeClr val="tx1"/>
                                </a:solidFill>
                                <a:latin typeface="Cambria Math" panose="02040503050406030204" pitchFamily="18" charset="0"/>
                              </a:rPr>
                              <m:t>7</m:t>
                            </m:r>
                          </m:sub>
                        </m:sSub>
                      </m:oMath>
                    </m:oMathPara>
                  </a14:m>
                  <a:endParaRPr lang="zh-CN" altLang="en-US" dirty="0">
                    <a:solidFill>
                      <a:schemeClr val="tx1"/>
                    </a:solidFill>
                  </a:endParaRPr>
                </a:p>
              </p:txBody>
            </p:sp>
          </mc:Choice>
          <mc:Fallback xmlns="">
            <p:sp>
              <p:nvSpPr>
                <p:cNvPr id="176" name="文本框 175">
                  <a:extLst>
                    <a:ext uri="{FF2B5EF4-FFF2-40B4-BE49-F238E27FC236}">
                      <a16:creationId xmlns:a16="http://schemas.microsoft.com/office/drawing/2014/main" id="{D009F029-A1AE-5CA5-B101-0413C107B07D}"/>
                    </a:ext>
                  </a:extLst>
                </p:cNvPr>
                <p:cNvSpPr txBox="1">
                  <a:spLocks noRot="1" noChangeAspect="1" noMove="1" noResize="1" noEditPoints="1" noAdjustHandles="1" noChangeArrowheads="1" noChangeShapeType="1" noTextEdit="1"/>
                </p:cNvSpPr>
                <p:nvPr/>
              </p:nvSpPr>
              <p:spPr>
                <a:xfrm>
                  <a:off x="6840000" y="5040000"/>
                  <a:ext cx="360000" cy="288000"/>
                </a:xfrm>
                <a:prstGeom prst="rect">
                  <a:avLst/>
                </a:prstGeom>
                <a:blipFill>
                  <a:blip r:embed="rId14"/>
                  <a:stretch>
                    <a:fillRect l="-3390" b="-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7" name="文本框 176">
                  <a:extLst>
                    <a:ext uri="{FF2B5EF4-FFF2-40B4-BE49-F238E27FC236}">
                      <a16:creationId xmlns:a16="http://schemas.microsoft.com/office/drawing/2014/main" id="{26AB698A-43AB-D2CB-34AB-4ACD93F8ABEF}"/>
                    </a:ext>
                  </a:extLst>
                </p:cNvPr>
                <p:cNvSpPr txBox="1"/>
                <p:nvPr/>
              </p:nvSpPr>
              <p:spPr>
                <a:xfrm>
                  <a:off x="10296000" y="5040000"/>
                  <a:ext cx="408054" cy="276999"/>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T</m:t>
                            </m:r>
                          </m:e>
                          <m:sub>
                            <m:r>
                              <a:rPr lang="en-US" altLang="zh-CN" b="0" i="1" smtClean="0">
                                <a:solidFill>
                                  <a:schemeClr val="tx1"/>
                                </a:solidFill>
                                <a:latin typeface="Cambria Math" panose="02040503050406030204" pitchFamily="18" charset="0"/>
                              </a:rPr>
                              <m:t>8</m:t>
                            </m:r>
                          </m:sub>
                        </m:sSub>
                      </m:oMath>
                    </m:oMathPara>
                  </a14:m>
                  <a:endParaRPr lang="zh-CN" altLang="en-US" dirty="0">
                    <a:solidFill>
                      <a:schemeClr val="tx1"/>
                    </a:solidFill>
                  </a:endParaRPr>
                </a:p>
              </p:txBody>
            </p:sp>
          </mc:Choice>
          <mc:Fallback xmlns="">
            <p:sp>
              <p:nvSpPr>
                <p:cNvPr id="177" name="文本框 176">
                  <a:extLst>
                    <a:ext uri="{FF2B5EF4-FFF2-40B4-BE49-F238E27FC236}">
                      <a16:creationId xmlns:a16="http://schemas.microsoft.com/office/drawing/2014/main" id="{26AB698A-43AB-D2CB-34AB-4ACD93F8ABEF}"/>
                    </a:ext>
                  </a:extLst>
                </p:cNvPr>
                <p:cNvSpPr txBox="1">
                  <a:spLocks noRot="1" noChangeAspect="1" noMove="1" noResize="1" noEditPoints="1" noAdjustHandles="1" noChangeArrowheads="1" noChangeShapeType="1" noTextEdit="1"/>
                </p:cNvSpPr>
                <p:nvPr/>
              </p:nvSpPr>
              <p:spPr>
                <a:xfrm>
                  <a:off x="10296000" y="5040000"/>
                  <a:ext cx="408054" cy="276999"/>
                </a:xfrm>
                <a:prstGeom prst="rect">
                  <a:avLst/>
                </a:prstGeom>
                <a:blipFill>
                  <a:blip r:embed="rId15"/>
                  <a:stretch>
                    <a:fillRect b="-13043"/>
                  </a:stretch>
                </a:blipFill>
              </p:spPr>
              <p:txBody>
                <a:bodyPr/>
                <a:lstStyle/>
                <a:p>
                  <a:r>
                    <a:rPr lang="zh-CN" altLang="en-US">
                      <a:noFill/>
                    </a:rPr>
                    <a:t> </a:t>
                  </a:r>
                </a:p>
              </p:txBody>
            </p:sp>
          </mc:Fallback>
        </mc:AlternateContent>
        <p:sp>
          <p:nvSpPr>
            <p:cNvPr id="178" name="文本框 177">
              <a:extLst>
                <a:ext uri="{FF2B5EF4-FFF2-40B4-BE49-F238E27FC236}">
                  <a16:creationId xmlns:a16="http://schemas.microsoft.com/office/drawing/2014/main" id="{883FCDFA-3F6A-D62C-B05C-07BCDEFA8EB7}"/>
                </a:ext>
              </a:extLst>
            </p:cNvPr>
            <p:cNvSpPr txBox="1"/>
            <p:nvPr/>
          </p:nvSpPr>
          <p:spPr>
            <a:xfrm>
              <a:off x="6372000" y="5400000"/>
              <a:ext cx="360000" cy="828000"/>
            </a:xfrm>
            <a:prstGeom prst="rect">
              <a:avLst/>
            </a:prstGeom>
            <a:noFill/>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rPr>
                <a:t>数据线</a:t>
              </a:r>
              <a:endParaRPr lang="zh-CN" altLang="en-US" sz="1600" dirty="0"/>
            </a:p>
          </p:txBody>
        </p:sp>
        <mc:AlternateContent xmlns:mc="http://schemas.openxmlformats.org/markup-compatibility/2006" xmlns:a14="http://schemas.microsoft.com/office/drawing/2010/main">
          <mc:Choice Requires="a14">
            <p:sp>
              <p:nvSpPr>
                <p:cNvPr id="179" name="文本框 178">
                  <a:extLst>
                    <a:ext uri="{FF2B5EF4-FFF2-40B4-BE49-F238E27FC236}">
                      <a16:creationId xmlns:a16="http://schemas.microsoft.com/office/drawing/2014/main" id="{B74CF6AC-FE60-1BCA-555C-9AE051C0056B}"/>
                    </a:ext>
                  </a:extLst>
                </p:cNvPr>
                <p:cNvSpPr txBox="1"/>
                <p:nvPr/>
              </p:nvSpPr>
              <p:spPr>
                <a:xfrm>
                  <a:off x="10800000" y="3960000"/>
                  <a:ext cx="360000" cy="828000"/>
                </a:xfrm>
                <a:prstGeom prst="rect">
                  <a:avLst/>
                </a:prstGeom>
                <a:noFill/>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rPr>
                    <a:t>位线 </a:t>
                  </a:r>
                  <a14:m>
                    <m:oMath xmlns:m="http://schemas.openxmlformats.org/officeDocument/2006/math">
                      <m:r>
                        <m:rPr>
                          <m:sty m:val="p"/>
                        </m:rPr>
                        <a:rPr lang="en-US" altLang="zh-CN" sz="1600" b="0" i="0" smtClean="0">
                          <a:latin typeface="Cambria Math" panose="02040503050406030204" pitchFamily="18" charset="0"/>
                          <a:ea typeface="微软雅黑" panose="020B0503020204020204" pitchFamily="34" charset="-122"/>
                        </a:rPr>
                        <m:t>B</m:t>
                      </m:r>
                    </m:oMath>
                  </a14:m>
                  <a:endParaRPr lang="zh-CN" altLang="en-US" sz="1600" dirty="0"/>
                </a:p>
              </p:txBody>
            </p:sp>
          </mc:Choice>
          <mc:Fallback xmlns="">
            <p:sp>
              <p:nvSpPr>
                <p:cNvPr id="179" name="文本框 178">
                  <a:extLst>
                    <a:ext uri="{FF2B5EF4-FFF2-40B4-BE49-F238E27FC236}">
                      <a16:creationId xmlns:a16="http://schemas.microsoft.com/office/drawing/2014/main" id="{B74CF6AC-FE60-1BCA-555C-9AE051C0056B}"/>
                    </a:ext>
                  </a:extLst>
                </p:cNvPr>
                <p:cNvSpPr txBox="1">
                  <a:spLocks noRot="1" noChangeAspect="1" noMove="1" noResize="1" noEditPoints="1" noAdjustHandles="1" noChangeArrowheads="1" noChangeShapeType="1" noTextEdit="1"/>
                </p:cNvSpPr>
                <p:nvPr/>
              </p:nvSpPr>
              <p:spPr>
                <a:xfrm>
                  <a:off x="10800000" y="3960000"/>
                  <a:ext cx="360000" cy="828000"/>
                </a:xfrm>
                <a:prstGeom prst="rect">
                  <a:avLst/>
                </a:prstGeom>
                <a:blipFill>
                  <a:blip r:embed="rId16"/>
                  <a:stretch>
                    <a:fillRect l="-13559" t="-2206" r="-11864"/>
                  </a:stretch>
                </a:blipFill>
              </p:spPr>
              <p:txBody>
                <a:bodyPr/>
                <a:lstStyle/>
                <a:p>
                  <a:r>
                    <a:rPr lang="zh-CN" altLang="en-US">
                      <a:noFill/>
                    </a:rPr>
                    <a:t> </a:t>
                  </a:r>
                </a:p>
              </p:txBody>
            </p:sp>
          </mc:Fallback>
        </mc:AlternateContent>
        <p:sp>
          <p:nvSpPr>
            <p:cNvPr id="184" name="文本框 183">
              <a:extLst>
                <a:ext uri="{FF2B5EF4-FFF2-40B4-BE49-F238E27FC236}">
                  <a16:creationId xmlns:a16="http://schemas.microsoft.com/office/drawing/2014/main" id="{16AE1731-D9A9-2BBC-87AC-ADEA50E4F31D}"/>
                </a:ext>
              </a:extLst>
            </p:cNvPr>
            <p:cNvSpPr txBox="1"/>
            <p:nvPr/>
          </p:nvSpPr>
          <p:spPr>
            <a:xfrm>
              <a:off x="10800000" y="5400000"/>
              <a:ext cx="360000" cy="828000"/>
            </a:xfrm>
            <a:prstGeom prst="rect">
              <a:avLst/>
            </a:prstGeom>
            <a:noFill/>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rPr>
                <a:t>数据线</a:t>
              </a:r>
              <a:endParaRPr lang="zh-CN" altLang="en-US" sz="1600" dirty="0"/>
            </a:p>
          </p:txBody>
        </p:sp>
        <mc:AlternateContent xmlns:mc="http://schemas.openxmlformats.org/markup-compatibility/2006">
          <mc:Choice xmlns:a14="http://schemas.microsoft.com/office/drawing/2010/main" Requires="a14">
            <p:sp>
              <p:nvSpPr>
                <p:cNvPr id="185" name="文本框 184">
                  <a:extLst>
                    <a:ext uri="{FF2B5EF4-FFF2-40B4-BE49-F238E27FC236}">
                      <a16:creationId xmlns:a16="http://schemas.microsoft.com/office/drawing/2014/main" id="{E06939BD-5696-69A6-9638-F239DF1BCBD4}"/>
                    </a:ext>
                  </a:extLst>
                </p:cNvPr>
                <p:cNvSpPr txBox="1"/>
                <p:nvPr/>
              </p:nvSpPr>
              <p:spPr>
                <a:xfrm>
                  <a:off x="6516000" y="6192000"/>
                  <a:ext cx="432000" cy="40011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bar>
                          <m:barPr>
                            <m:pos m:val="top"/>
                            <m:ctrlPr>
                              <a:rPr lang="en-US" altLang="zh-CN" b="0" i="1" smtClean="0">
                                <a:solidFill>
                                  <a:schemeClr val="accent5">
                                    <a:lumMod val="75000"/>
                                  </a:schemeClr>
                                </a:solidFill>
                                <a:latin typeface="Cambria Math" panose="02040503050406030204" pitchFamily="18" charset="0"/>
                                <a:ea typeface="微软雅黑" panose="020B0503020204020204" pitchFamily="34" charset="-122"/>
                              </a:rPr>
                            </m:ctrlPr>
                          </m:barPr>
                          <m:e>
                            <m:r>
                              <m:rPr>
                                <m:sty m:val="p"/>
                              </m:rPr>
                              <a:rPr lang="en-US" altLang="zh-CN" b="0" i="0" smtClean="0">
                                <a:solidFill>
                                  <a:schemeClr val="accent5">
                                    <a:lumMod val="75000"/>
                                  </a:schemeClr>
                                </a:solidFill>
                                <a:latin typeface="Cambria Math" panose="02040503050406030204" pitchFamily="18" charset="0"/>
                                <a:ea typeface="微软雅黑" panose="020B0503020204020204" pitchFamily="34" charset="-122"/>
                              </a:rPr>
                              <m:t>D</m:t>
                            </m:r>
                          </m:e>
                        </m:bar>
                      </m:oMath>
                    </m:oMathPara>
                  </a14:m>
                  <a:endParaRPr lang="zh-CN" altLang="en-US" dirty="0">
                    <a:solidFill>
                      <a:schemeClr val="accent5">
                        <a:lumMod val="75000"/>
                      </a:schemeClr>
                    </a:solidFill>
                  </a:endParaRPr>
                </a:p>
              </p:txBody>
            </p:sp>
          </mc:Choice>
          <mc:Fallback>
            <p:sp>
              <p:nvSpPr>
                <p:cNvPr id="185" name="文本框 184">
                  <a:extLst>
                    <a:ext uri="{FF2B5EF4-FFF2-40B4-BE49-F238E27FC236}">
                      <a16:creationId xmlns:a16="http://schemas.microsoft.com/office/drawing/2014/main" id="{E06939BD-5696-69A6-9638-F239DF1BCBD4}"/>
                    </a:ext>
                  </a:extLst>
                </p:cNvPr>
                <p:cNvSpPr txBox="1">
                  <a:spLocks noRot="1" noChangeAspect="1" noMove="1" noResize="1" noEditPoints="1" noAdjustHandles="1" noChangeArrowheads="1" noChangeShapeType="1" noTextEdit="1"/>
                </p:cNvSpPr>
                <p:nvPr/>
              </p:nvSpPr>
              <p:spPr>
                <a:xfrm>
                  <a:off x="6516000" y="6192000"/>
                  <a:ext cx="432000" cy="400110"/>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6" name="文本框 185">
                  <a:extLst>
                    <a:ext uri="{FF2B5EF4-FFF2-40B4-BE49-F238E27FC236}">
                      <a16:creationId xmlns:a16="http://schemas.microsoft.com/office/drawing/2014/main" id="{0D29EE49-AFD9-D60D-4687-55F2A05BA84F}"/>
                    </a:ext>
                  </a:extLst>
                </p:cNvPr>
                <p:cNvSpPr txBox="1"/>
                <p:nvPr/>
              </p:nvSpPr>
              <p:spPr>
                <a:xfrm>
                  <a:off x="10584000" y="6192000"/>
                  <a:ext cx="432000" cy="360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b="0" i="0" smtClean="0">
                            <a:solidFill>
                              <a:schemeClr val="accent5">
                                <a:lumMod val="75000"/>
                              </a:schemeClr>
                            </a:solidFill>
                            <a:latin typeface="Cambria Math" panose="02040503050406030204" pitchFamily="18" charset="0"/>
                            <a:ea typeface="微软雅黑" panose="020B0503020204020204" pitchFamily="34" charset="-122"/>
                          </a:rPr>
                          <m:t>D</m:t>
                        </m:r>
                      </m:oMath>
                    </m:oMathPara>
                  </a14:m>
                  <a:endParaRPr lang="zh-CN" altLang="en-US" dirty="0">
                    <a:solidFill>
                      <a:schemeClr val="accent5">
                        <a:lumMod val="75000"/>
                      </a:schemeClr>
                    </a:solidFill>
                  </a:endParaRPr>
                </a:p>
              </p:txBody>
            </p:sp>
          </mc:Choice>
          <mc:Fallback xmlns="">
            <p:sp>
              <p:nvSpPr>
                <p:cNvPr id="186" name="文本框 185">
                  <a:extLst>
                    <a:ext uri="{FF2B5EF4-FFF2-40B4-BE49-F238E27FC236}">
                      <a16:creationId xmlns:a16="http://schemas.microsoft.com/office/drawing/2014/main" id="{0D29EE49-AFD9-D60D-4687-55F2A05BA84F}"/>
                    </a:ext>
                  </a:extLst>
                </p:cNvPr>
                <p:cNvSpPr txBox="1">
                  <a:spLocks noRot="1" noChangeAspect="1" noMove="1" noResize="1" noEditPoints="1" noAdjustHandles="1" noChangeArrowheads="1" noChangeShapeType="1" noTextEdit="1"/>
                </p:cNvSpPr>
                <p:nvPr/>
              </p:nvSpPr>
              <p:spPr>
                <a:xfrm>
                  <a:off x="10584000" y="6192000"/>
                  <a:ext cx="432000" cy="360000"/>
                </a:xfrm>
                <a:prstGeom prst="rect">
                  <a:avLst/>
                </a:prstGeom>
                <a:blipFill>
                  <a:blip r:embed="rId18"/>
                  <a:stretch>
                    <a:fillRect/>
                  </a:stretch>
                </a:blipFill>
              </p:spPr>
              <p:txBody>
                <a:bodyPr/>
                <a:lstStyle/>
                <a:p>
                  <a:r>
                    <a:rPr lang="zh-CN" altLang="en-US">
                      <a:noFill/>
                    </a:rPr>
                    <a:t> </a:t>
                  </a:r>
                </a:p>
              </p:txBody>
            </p:sp>
          </mc:Fallback>
        </mc:AlternateContent>
        <p:cxnSp>
          <p:nvCxnSpPr>
            <p:cNvPr id="15" name="直接连接符 14">
              <a:extLst>
                <a:ext uri="{FF2B5EF4-FFF2-40B4-BE49-F238E27FC236}">
                  <a16:creationId xmlns:a16="http://schemas.microsoft.com/office/drawing/2014/main" id="{9D9FB04F-74A7-2653-FAE6-49A76E0054E9}"/>
                </a:ext>
              </a:extLst>
            </p:cNvPr>
            <p:cNvCxnSpPr>
              <a:cxnSpLocks/>
            </p:cNvCxnSpPr>
            <p:nvPr/>
          </p:nvCxnSpPr>
          <p:spPr>
            <a:xfrm>
              <a:off x="7092000" y="3636000"/>
              <a:ext cx="28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8F9EE6A7-43A0-4CDF-B331-6F06BD399787}"/>
                </a:ext>
              </a:extLst>
            </p:cNvPr>
            <p:cNvCxnSpPr>
              <a:cxnSpLocks/>
            </p:cNvCxnSpPr>
            <p:nvPr/>
          </p:nvCxnSpPr>
          <p:spPr>
            <a:xfrm>
              <a:off x="7092000" y="3636000"/>
              <a:ext cx="0" cy="18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32D249E7-5B8D-D36F-DB41-112A9E9EDF6C}"/>
                </a:ext>
              </a:extLst>
            </p:cNvPr>
            <p:cNvCxnSpPr>
              <a:cxnSpLocks/>
            </p:cNvCxnSpPr>
            <p:nvPr/>
          </p:nvCxnSpPr>
          <p:spPr>
            <a:xfrm>
              <a:off x="7380000" y="3636000"/>
              <a:ext cx="0" cy="18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1AC81B14-0665-A58C-D25F-50101F7320C4}"/>
                </a:ext>
              </a:extLst>
            </p:cNvPr>
            <p:cNvCxnSpPr>
              <a:cxnSpLocks/>
            </p:cNvCxnSpPr>
            <p:nvPr/>
          </p:nvCxnSpPr>
          <p:spPr>
            <a:xfrm>
              <a:off x="8028000" y="32040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EE1A37A4-C6A3-125A-3846-FA425371C6DB}"/>
                </a:ext>
              </a:extLst>
            </p:cNvPr>
            <p:cNvCxnSpPr>
              <a:cxnSpLocks/>
            </p:cNvCxnSpPr>
            <p:nvPr/>
          </p:nvCxnSpPr>
          <p:spPr>
            <a:xfrm>
              <a:off x="8100000" y="32040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DD57C740-4DD0-0FBA-4813-9C9B64060672}"/>
                </a:ext>
              </a:extLst>
            </p:cNvPr>
            <p:cNvCxnSpPr>
              <a:cxnSpLocks/>
            </p:cNvCxnSpPr>
            <p:nvPr/>
          </p:nvCxnSpPr>
          <p:spPr>
            <a:xfrm>
              <a:off x="7848000" y="3996000"/>
              <a:ext cx="180000"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1A0EF51B-4958-2990-6E34-3090CA2E9B09}"/>
                </a:ext>
              </a:extLst>
            </p:cNvPr>
            <p:cNvCxnSpPr>
              <a:cxnSpLocks/>
            </p:cNvCxnSpPr>
            <p:nvPr/>
          </p:nvCxnSpPr>
          <p:spPr>
            <a:xfrm>
              <a:off x="8028000" y="39960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62116C16-93F9-515E-95C8-E91373128F74}"/>
                </a:ext>
              </a:extLst>
            </p:cNvPr>
            <p:cNvCxnSpPr>
              <a:cxnSpLocks/>
            </p:cNvCxnSpPr>
            <p:nvPr/>
          </p:nvCxnSpPr>
          <p:spPr>
            <a:xfrm>
              <a:off x="7848000" y="4284000"/>
              <a:ext cx="180000"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64D03F8D-EF3B-066F-F69E-62B131217CCE}"/>
                </a:ext>
              </a:extLst>
            </p:cNvPr>
            <p:cNvCxnSpPr>
              <a:cxnSpLocks/>
            </p:cNvCxnSpPr>
            <p:nvPr/>
          </p:nvCxnSpPr>
          <p:spPr>
            <a:xfrm flipV="1">
              <a:off x="7848000" y="4284000"/>
              <a:ext cx="0" cy="18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DFCD4D05-6D14-AA99-BF5A-F6206D2011BB}"/>
                </a:ext>
              </a:extLst>
            </p:cNvPr>
            <p:cNvCxnSpPr>
              <a:cxnSpLocks/>
            </p:cNvCxnSpPr>
            <p:nvPr/>
          </p:nvCxnSpPr>
          <p:spPr>
            <a:xfrm>
              <a:off x="8100000" y="39960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1E3B564A-6417-1CCA-D9BF-C9817C8BC6F0}"/>
                </a:ext>
              </a:extLst>
            </p:cNvPr>
            <p:cNvCxnSpPr>
              <a:cxnSpLocks/>
            </p:cNvCxnSpPr>
            <p:nvPr/>
          </p:nvCxnSpPr>
          <p:spPr>
            <a:xfrm>
              <a:off x="8100000" y="4140000"/>
              <a:ext cx="28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椭圆 70">
              <a:extLst>
                <a:ext uri="{FF2B5EF4-FFF2-40B4-BE49-F238E27FC236}">
                  <a16:creationId xmlns:a16="http://schemas.microsoft.com/office/drawing/2014/main" id="{6F407437-8982-FD63-73E2-D80088463D20}"/>
                </a:ext>
              </a:extLst>
            </p:cNvPr>
            <p:cNvSpPr/>
            <p:nvPr/>
          </p:nvSpPr>
          <p:spPr>
            <a:xfrm>
              <a:off x="8352000" y="3600000"/>
              <a:ext cx="72000" cy="72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a:extLst>
                <a:ext uri="{FF2B5EF4-FFF2-40B4-BE49-F238E27FC236}">
                  <a16:creationId xmlns:a16="http://schemas.microsoft.com/office/drawing/2014/main" id="{0999371A-23B8-CD06-1241-D489C5F4FF0B}"/>
                </a:ext>
              </a:extLst>
            </p:cNvPr>
            <p:cNvSpPr/>
            <p:nvPr/>
          </p:nvSpPr>
          <p:spPr>
            <a:xfrm>
              <a:off x="9648000" y="3600000"/>
              <a:ext cx="72000" cy="72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E9FCD4F5-D6F4-1EE3-7515-33BFC0B906E8}"/>
                </a:ext>
              </a:extLst>
            </p:cNvPr>
            <p:cNvSpPr/>
            <p:nvPr/>
          </p:nvSpPr>
          <p:spPr>
            <a:xfrm>
              <a:off x="8730000" y="2988000"/>
              <a:ext cx="72000" cy="72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4" name="直接连接符 83">
              <a:extLst>
                <a:ext uri="{FF2B5EF4-FFF2-40B4-BE49-F238E27FC236}">
                  <a16:creationId xmlns:a16="http://schemas.microsoft.com/office/drawing/2014/main" id="{B57C89E4-6E90-5A61-7A78-9E4B9C3D0E1C}"/>
                </a:ext>
              </a:extLst>
            </p:cNvPr>
            <p:cNvCxnSpPr>
              <a:cxnSpLocks/>
            </p:cNvCxnSpPr>
            <p:nvPr/>
          </p:nvCxnSpPr>
          <p:spPr>
            <a:xfrm flipV="1">
              <a:off x="9684000" y="3024000"/>
              <a:ext cx="0" cy="18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EBEAE323-1C40-60F0-C88D-AE2D597BB610}"/>
                </a:ext>
              </a:extLst>
            </p:cNvPr>
            <p:cNvCxnSpPr>
              <a:cxnSpLocks/>
            </p:cNvCxnSpPr>
            <p:nvPr/>
          </p:nvCxnSpPr>
          <p:spPr>
            <a:xfrm>
              <a:off x="9504000" y="32040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DF441454-DBEF-025E-A864-5F0D30A00CE2}"/>
                </a:ext>
              </a:extLst>
            </p:cNvPr>
            <p:cNvCxnSpPr>
              <a:cxnSpLocks/>
            </p:cNvCxnSpPr>
            <p:nvPr/>
          </p:nvCxnSpPr>
          <p:spPr>
            <a:xfrm>
              <a:off x="9432000" y="32040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椭圆 89">
              <a:extLst>
                <a:ext uri="{FF2B5EF4-FFF2-40B4-BE49-F238E27FC236}">
                  <a16:creationId xmlns:a16="http://schemas.microsoft.com/office/drawing/2014/main" id="{018920F3-0C61-EC07-0A55-09DB95ACFD68}"/>
                </a:ext>
              </a:extLst>
            </p:cNvPr>
            <p:cNvSpPr/>
            <p:nvPr/>
          </p:nvSpPr>
          <p:spPr>
            <a:xfrm>
              <a:off x="9342000" y="3308400"/>
              <a:ext cx="79131" cy="792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92" name="直接连接符 91">
              <a:extLst>
                <a:ext uri="{FF2B5EF4-FFF2-40B4-BE49-F238E27FC236}">
                  <a16:creationId xmlns:a16="http://schemas.microsoft.com/office/drawing/2014/main" id="{55CDFD52-CC44-7D7A-306E-F9B84DC056A8}"/>
                </a:ext>
              </a:extLst>
            </p:cNvPr>
            <p:cNvCxnSpPr>
              <a:cxnSpLocks/>
            </p:cNvCxnSpPr>
            <p:nvPr/>
          </p:nvCxnSpPr>
          <p:spPr>
            <a:xfrm flipH="1">
              <a:off x="9504000" y="3492000"/>
              <a:ext cx="180000"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2A2C5893-85E1-506C-9E88-95433AE2B538}"/>
                </a:ext>
              </a:extLst>
            </p:cNvPr>
            <p:cNvCxnSpPr>
              <a:cxnSpLocks/>
            </p:cNvCxnSpPr>
            <p:nvPr/>
          </p:nvCxnSpPr>
          <p:spPr>
            <a:xfrm flipH="1">
              <a:off x="9504000" y="3996000"/>
              <a:ext cx="180000"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27509C21-E9FC-164B-763A-DB23E8772E52}"/>
                </a:ext>
              </a:extLst>
            </p:cNvPr>
            <p:cNvCxnSpPr>
              <a:cxnSpLocks/>
            </p:cNvCxnSpPr>
            <p:nvPr/>
          </p:nvCxnSpPr>
          <p:spPr>
            <a:xfrm>
              <a:off x="9504000" y="39960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15432573-6E71-ECE1-6D54-54D3F078BCCB}"/>
                </a:ext>
              </a:extLst>
            </p:cNvPr>
            <p:cNvCxnSpPr>
              <a:cxnSpLocks/>
            </p:cNvCxnSpPr>
            <p:nvPr/>
          </p:nvCxnSpPr>
          <p:spPr>
            <a:xfrm>
              <a:off x="9432000" y="39960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3D6BEFDA-1156-C5A4-2612-7AFDCDC1E18F}"/>
                </a:ext>
              </a:extLst>
            </p:cNvPr>
            <p:cNvCxnSpPr>
              <a:cxnSpLocks/>
            </p:cNvCxnSpPr>
            <p:nvPr/>
          </p:nvCxnSpPr>
          <p:spPr>
            <a:xfrm flipH="1">
              <a:off x="9504000" y="4284000"/>
              <a:ext cx="180000"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88847AE3-AFEC-19AB-546C-D08DB9D71463}"/>
                </a:ext>
              </a:extLst>
            </p:cNvPr>
            <p:cNvCxnSpPr>
              <a:cxnSpLocks/>
            </p:cNvCxnSpPr>
            <p:nvPr/>
          </p:nvCxnSpPr>
          <p:spPr>
            <a:xfrm>
              <a:off x="9144000" y="4140000"/>
              <a:ext cx="28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865CE053-F8FA-535C-7CC0-A5D93F373738}"/>
                </a:ext>
              </a:extLst>
            </p:cNvPr>
            <p:cNvCxnSpPr>
              <a:cxnSpLocks/>
            </p:cNvCxnSpPr>
            <p:nvPr/>
          </p:nvCxnSpPr>
          <p:spPr>
            <a:xfrm flipV="1">
              <a:off x="9684000" y="4284000"/>
              <a:ext cx="0" cy="18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2EF0DA43-C2F8-766A-5B2E-F95BAA6F1AA0}"/>
                </a:ext>
              </a:extLst>
            </p:cNvPr>
            <p:cNvCxnSpPr>
              <a:cxnSpLocks/>
            </p:cNvCxnSpPr>
            <p:nvPr/>
          </p:nvCxnSpPr>
          <p:spPr>
            <a:xfrm>
              <a:off x="8766000" y="4464000"/>
              <a:ext cx="0" cy="144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E2DB678F-D6A9-92B0-DC7C-E128DD782674}"/>
                </a:ext>
              </a:extLst>
            </p:cNvPr>
            <p:cNvCxnSpPr>
              <a:cxnSpLocks/>
            </p:cNvCxnSpPr>
            <p:nvPr/>
          </p:nvCxnSpPr>
          <p:spPr>
            <a:xfrm>
              <a:off x="10152000" y="3456000"/>
              <a:ext cx="28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CFD1C8F4-F162-BDB2-86BD-A98684E9B92A}"/>
                </a:ext>
              </a:extLst>
            </p:cNvPr>
            <p:cNvCxnSpPr>
              <a:cxnSpLocks/>
            </p:cNvCxnSpPr>
            <p:nvPr/>
          </p:nvCxnSpPr>
          <p:spPr>
            <a:xfrm>
              <a:off x="10152000" y="3384000"/>
              <a:ext cx="28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33BA112F-78DE-F90A-B4AD-2AE47CD27AF7}"/>
                </a:ext>
              </a:extLst>
            </p:cNvPr>
            <p:cNvCxnSpPr>
              <a:cxnSpLocks/>
            </p:cNvCxnSpPr>
            <p:nvPr/>
          </p:nvCxnSpPr>
          <p:spPr>
            <a:xfrm>
              <a:off x="10152000" y="3456000"/>
              <a:ext cx="0" cy="18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C16B64D2-0611-65A0-B78B-C1819A664AEA}"/>
                </a:ext>
              </a:extLst>
            </p:cNvPr>
            <p:cNvCxnSpPr>
              <a:cxnSpLocks/>
            </p:cNvCxnSpPr>
            <p:nvPr/>
          </p:nvCxnSpPr>
          <p:spPr>
            <a:xfrm>
              <a:off x="10440000" y="3456000"/>
              <a:ext cx="0" cy="18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3" name="椭圆 112">
              <a:extLst>
                <a:ext uri="{FF2B5EF4-FFF2-40B4-BE49-F238E27FC236}">
                  <a16:creationId xmlns:a16="http://schemas.microsoft.com/office/drawing/2014/main" id="{63501D77-4E98-AC71-9A79-33AF1D9DB61A}"/>
                </a:ext>
              </a:extLst>
            </p:cNvPr>
            <p:cNvSpPr/>
            <p:nvPr/>
          </p:nvSpPr>
          <p:spPr>
            <a:xfrm>
              <a:off x="8730000" y="4428000"/>
              <a:ext cx="72000" cy="72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14" name="文本框 113">
                  <a:extLst>
                    <a:ext uri="{FF2B5EF4-FFF2-40B4-BE49-F238E27FC236}">
                      <a16:creationId xmlns:a16="http://schemas.microsoft.com/office/drawing/2014/main" id="{1170C993-578A-A87B-72CE-36702BC2E9C7}"/>
                    </a:ext>
                  </a:extLst>
                </p:cNvPr>
                <p:cNvSpPr txBox="1"/>
                <p:nvPr/>
              </p:nvSpPr>
              <p:spPr>
                <a:xfrm>
                  <a:off x="6372000" y="3960000"/>
                  <a:ext cx="360000" cy="881267"/>
                </a:xfrm>
                <a:prstGeom prst="rect">
                  <a:avLst/>
                </a:prstGeom>
                <a:noFill/>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rPr>
                    <a:t>位线 </a:t>
                  </a:r>
                  <a14:m>
                    <m:oMath xmlns:m="http://schemas.openxmlformats.org/officeDocument/2006/math">
                      <m:bar>
                        <m:barPr>
                          <m:pos m:val="top"/>
                          <m:ctrlPr>
                            <a:rPr lang="en-US" altLang="zh-CN" sz="1600" b="0" i="1" smtClean="0">
                              <a:latin typeface="Cambria Math" panose="02040503050406030204" pitchFamily="18" charset="0"/>
                              <a:ea typeface="微软雅黑" panose="020B0503020204020204" pitchFamily="34" charset="-122"/>
                            </a:rPr>
                          </m:ctrlPr>
                        </m:barPr>
                        <m:e>
                          <m:r>
                            <m:rPr>
                              <m:sty m:val="p"/>
                            </m:rPr>
                            <a:rPr lang="en-US" altLang="zh-CN" sz="1600">
                              <a:latin typeface="Cambria Math" panose="02040503050406030204" pitchFamily="18" charset="0"/>
                              <a:ea typeface="微软雅黑" panose="020B0503020204020204" pitchFamily="34" charset="-122"/>
                            </a:rPr>
                            <m:t>B</m:t>
                          </m:r>
                        </m:e>
                      </m:bar>
                    </m:oMath>
                  </a14:m>
                  <a:endParaRPr lang="zh-CN" altLang="en-US" sz="1600" dirty="0"/>
                </a:p>
              </p:txBody>
            </p:sp>
          </mc:Choice>
          <mc:Fallback>
            <p:sp>
              <p:nvSpPr>
                <p:cNvPr id="114" name="文本框 113">
                  <a:extLst>
                    <a:ext uri="{FF2B5EF4-FFF2-40B4-BE49-F238E27FC236}">
                      <a16:creationId xmlns:a16="http://schemas.microsoft.com/office/drawing/2014/main" id="{1170C993-578A-A87B-72CE-36702BC2E9C7}"/>
                    </a:ext>
                  </a:extLst>
                </p:cNvPr>
                <p:cNvSpPr txBox="1">
                  <a:spLocks noRot="1" noChangeAspect="1" noMove="1" noResize="1" noEditPoints="1" noAdjustHandles="1" noChangeArrowheads="1" noChangeShapeType="1" noTextEdit="1"/>
                </p:cNvSpPr>
                <p:nvPr/>
              </p:nvSpPr>
              <p:spPr>
                <a:xfrm>
                  <a:off x="6372000" y="3960000"/>
                  <a:ext cx="360000" cy="881267"/>
                </a:xfrm>
                <a:prstGeom prst="rect">
                  <a:avLst/>
                </a:prstGeom>
                <a:blipFill>
                  <a:blip r:embed="rId19"/>
                  <a:stretch>
                    <a:fillRect l="-11864" t="-2069" r="-13559"/>
                  </a:stretch>
                </a:blipFill>
              </p:spPr>
              <p:txBody>
                <a:bodyPr/>
                <a:lstStyle/>
                <a:p>
                  <a:r>
                    <a:rPr lang="zh-CN" altLang="en-US">
                      <a:noFill/>
                    </a:rPr>
                    <a:t> </a:t>
                  </a:r>
                </a:p>
              </p:txBody>
            </p:sp>
          </mc:Fallback>
        </mc:AlternateContent>
        <p:cxnSp>
          <p:nvCxnSpPr>
            <p:cNvPr id="115" name="直接连接符 114">
              <a:extLst>
                <a:ext uri="{FF2B5EF4-FFF2-40B4-BE49-F238E27FC236}">
                  <a16:creationId xmlns:a16="http://schemas.microsoft.com/office/drawing/2014/main" id="{99BD4AF6-9F94-ABBB-063E-979716867C99}"/>
                </a:ext>
              </a:extLst>
            </p:cNvPr>
            <p:cNvCxnSpPr>
              <a:cxnSpLocks/>
            </p:cNvCxnSpPr>
            <p:nvPr/>
          </p:nvCxnSpPr>
          <p:spPr>
            <a:xfrm flipV="1">
              <a:off x="10800000" y="4788000"/>
              <a:ext cx="0" cy="288000"/>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FBFF31CC-B0AD-729E-0A89-0DE6B52C105C}"/>
                </a:ext>
              </a:extLst>
            </p:cNvPr>
            <p:cNvCxnSpPr>
              <a:cxnSpLocks/>
            </p:cNvCxnSpPr>
            <p:nvPr/>
          </p:nvCxnSpPr>
          <p:spPr>
            <a:xfrm flipH="1" flipV="1">
              <a:off x="10620000" y="53280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B96A8E53-E957-0DAC-DD5F-6B92F4D4E130}"/>
                </a:ext>
              </a:extLst>
            </p:cNvPr>
            <p:cNvCxnSpPr>
              <a:cxnSpLocks/>
            </p:cNvCxnSpPr>
            <p:nvPr/>
          </p:nvCxnSpPr>
          <p:spPr>
            <a:xfrm flipH="1" flipV="1">
              <a:off x="10548000" y="53280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3137C7B-F317-B368-4D9D-120AB6A24D2E}"/>
                  </a:ext>
                </a:extLst>
              </p:cNvPr>
              <p:cNvSpPr txBox="1"/>
              <p:nvPr/>
            </p:nvSpPr>
            <p:spPr>
              <a:xfrm>
                <a:off x="7524000" y="3258000"/>
                <a:ext cx="360000" cy="288000"/>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US" altLang="zh-CN" b="0" i="1" smtClean="0">
                              <a:solidFill>
                                <a:srgbClr val="FF0000"/>
                              </a:solidFill>
                              <a:latin typeface="Cambria Math" panose="02040503050406030204" pitchFamily="18" charset="0"/>
                            </a:rPr>
                          </m:ctrlPr>
                        </m:sSubPr>
                        <m:e>
                          <m:r>
                            <m:rPr>
                              <m:sty m:val="p"/>
                            </m:rPr>
                            <a:rPr lang="en-US" altLang="zh-CN" i="1">
                              <a:solidFill>
                                <a:srgbClr val="FF0000"/>
                              </a:solidFill>
                              <a:latin typeface="Cambria Math" panose="02040503050406030204" pitchFamily="18" charset="0"/>
                            </a:rPr>
                            <m:t>p</m:t>
                          </m:r>
                        </m:e>
                        <m:sub>
                          <m:r>
                            <a:rPr lang="en-US" altLang="zh-CN" b="0" i="1" smtClean="0">
                              <a:solidFill>
                                <a:srgbClr val="FF0000"/>
                              </a:solidFill>
                              <a:latin typeface="Cambria Math" panose="02040503050406030204" pitchFamily="18" charset="0"/>
                            </a:rPr>
                            <m:t>0</m:t>
                          </m:r>
                        </m:sub>
                      </m:sSub>
                    </m:oMath>
                  </m:oMathPara>
                </a14:m>
                <a:endParaRPr lang="zh-CN" altLang="en-US" dirty="0">
                  <a:solidFill>
                    <a:srgbClr val="FF0000"/>
                  </a:solidFill>
                </a:endParaRPr>
              </a:p>
            </p:txBody>
          </p:sp>
        </mc:Choice>
        <mc:Fallback xmlns="">
          <p:sp>
            <p:nvSpPr>
              <p:cNvPr id="2" name="文本框 1">
                <a:extLst>
                  <a:ext uri="{FF2B5EF4-FFF2-40B4-BE49-F238E27FC236}">
                    <a16:creationId xmlns:a16="http://schemas.microsoft.com/office/drawing/2014/main" id="{43137C7B-F317-B368-4D9D-120AB6A24D2E}"/>
                  </a:ext>
                </a:extLst>
              </p:cNvPr>
              <p:cNvSpPr txBox="1">
                <a:spLocks noRot="1" noChangeAspect="1" noMove="1" noResize="1" noEditPoints="1" noAdjustHandles="1" noChangeArrowheads="1" noChangeShapeType="1" noTextEdit="1"/>
              </p:cNvSpPr>
              <p:nvPr/>
            </p:nvSpPr>
            <p:spPr>
              <a:xfrm>
                <a:off x="7524000" y="3258000"/>
                <a:ext cx="360000" cy="288000"/>
              </a:xfrm>
              <a:prstGeom prst="rect">
                <a:avLst/>
              </a:prstGeom>
              <a:blipFill>
                <a:blip r:embed="rId20"/>
                <a:stretch>
                  <a:fillRect l="-6780" b="-187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308B1A02-ED80-0CFB-3972-5020223AF048}"/>
                  </a:ext>
                </a:extLst>
              </p:cNvPr>
              <p:cNvSpPr txBox="1"/>
              <p:nvPr/>
            </p:nvSpPr>
            <p:spPr>
              <a:xfrm>
                <a:off x="9666000" y="3312000"/>
                <a:ext cx="360000" cy="288000"/>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US" altLang="zh-CN" b="0" i="1" smtClean="0">
                              <a:solidFill>
                                <a:srgbClr val="FF0000"/>
                              </a:solidFill>
                              <a:latin typeface="Cambria Math" panose="02040503050406030204" pitchFamily="18" charset="0"/>
                            </a:rPr>
                          </m:ctrlPr>
                        </m:sSubPr>
                        <m:e>
                          <m:r>
                            <m:rPr>
                              <m:sty m:val="p"/>
                            </m:rPr>
                            <a:rPr lang="en-US" altLang="zh-CN" i="1">
                              <a:solidFill>
                                <a:srgbClr val="FF0000"/>
                              </a:solidFill>
                              <a:latin typeface="Cambria Math" panose="02040503050406030204" pitchFamily="18" charset="0"/>
                            </a:rPr>
                            <m:t>p</m:t>
                          </m:r>
                        </m:e>
                        <m:sub>
                          <m:r>
                            <a:rPr lang="en-US" altLang="zh-CN" b="0" i="1" smtClean="0">
                              <a:solidFill>
                                <a:srgbClr val="FF0000"/>
                              </a:solidFill>
                              <a:latin typeface="Cambria Math" panose="02040503050406030204" pitchFamily="18" charset="0"/>
                            </a:rPr>
                            <m:t>1</m:t>
                          </m:r>
                        </m:sub>
                      </m:sSub>
                    </m:oMath>
                  </m:oMathPara>
                </a14:m>
                <a:endParaRPr lang="zh-CN" altLang="en-US" dirty="0">
                  <a:solidFill>
                    <a:srgbClr val="FF0000"/>
                  </a:solidFill>
                </a:endParaRPr>
              </a:p>
            </p:txBody>
          </p:sp>
        </mc:Choice>
        <mc:Fallback xmlns="">
          <p:sp>
            <p:nvSpPr>
              <p:cNvPr id="11" name="文本框 10">
                <a:extLst>
                  <a:ext uri="{FF2B5EF4-FFF2-40B4-BE49-F238E27FC236}">
                    <a16:creationId xmlns:a16="http://schemas.microsoft.com/office/drawing/2014/main" id="{308B1A02-ED80-0CFB-3972-5020223AF048}"/>
                  </a:ext>
                </a:extLst>
              </p:cNvPr>
              <p:cNvSpPr txBox="1">
                <a:spLocks noRot="1" noChangeAspect="1" noMove="1" noResize="1" noEditPoints="1" noAdjustHandles="1" noChangeArrowheads="1" noChangeShapeType="1" noTextEdit="1"/>
              </p:cNvSpPr>
              <p:nvPr/>
            </p:nvSpPr>
            <p:spPr>
              <a:xfrm>
                <a:off x="9666000" y="3312000"/>
                <a:ext cx="360000" cy="288000"/>
              </a:xfrm>
              <a:prstGeom prst="rect">
                <a:avLst/>
              </a:prstGeom>
              <a:blipFill>
                <a:blip r:embed="rId21"/>
                <a:stretch>
                  <a:fillRect l="-5085" b="-1875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65312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A817-2930-38B6-E286-604E804F194D}"/>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5FD3BB64-B6F5-4056-CEF5-55B65F8FA08A}"/>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D20916ED-7095-9061-22A3-3BEBCF98FDB3}"/>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88D84846-3A75-8E1E-22F6-77F3D5C0EE87}"/>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C9B44B69-A04A-D590-F861-1F003654FACA}"/>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226E7975-C05D-358C-9B2C-D48D323D7E83}"/>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15</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893AEDCB-400E-3D47-8800-E81A7D2BEF5C}"/>
                  </a:ext>
                </a:extLst>
              </p:cNvPr>
              <p:cNvSpPr txBox="1"/>
              <p:nvPr/>
            </p:nvSpPr>
            <p:spPr>
              <a:xfrm>
                <a:off x="360000" y="828000"/>
                <a:ext cx="7598366" cy="474187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动态 </a:t>
                </a:r>
                <a:r>
                  <a:rPr kumimoji="1" lang="en-US" altLang="zh-CN" sz="2800" dirty="0">
                    <a:solidFill>
                      <a:srgbClr val="002060"/>
                    </a:solidFill>
                    <a:latin typeface="微软雅黑" panose="020B0503020204020204" pitchFamily="34" charset="-122"/>
                    <a:ea typeface="微软雅黑" panose="020B0503020204020204" pitchFamily="34" charset="-122"/>
                  </a:rPr>
                  <a:t>RAM</a:t>
                </a:r>
                <a:r>
                  <a:rPr kumimoji="1" lang="zh-CN" altLang="en-US" sz="2800" dirty="0">
                    <a:solidFill>
                      <a:srgbClr val="002060"/>
                    </a:solidFill>
                    <a:latin typeface="微软雅黑" panose="020B0503020204020204" pitchFamily="34" charset="-122"/>
                    <a:ea typeface="微软雅黑" panose="020B0503020204020204" pitchFamily="34" charset="-122"/>
                  </a:rPr>
                  <a:t>（</a:t>
                </a:r>
                <a:r>
                  <a:rPr kumimoji="1" lang="en-US" altLang="zh-CN" sz="2800" dirty="0">
                    <a:solidFill>
                      <a:srgbClr val="002060"/>
                    </a:solidFill>
                    <a:latin typeface="微软雅黑" panose="020B0503020204020204" pitchFamily="34" charset="-122"/>
                    <a:ea typeface="微软雅黑" panose="020B0503020204020204" pitchFamily="34" charset="-122"/>
                  </a:rPr>
                  <a:t>DRAM</a:t>
                </a:r>
                <a:r>
                  <a:rPr kumimoji="1" lang="zh-CN" altLang="en-US" sz="2800" dirty="0">
                    <a:solidFill>
                      <a:srgbClr val="002060"/>
                    </a:solidFill>
                    <a:latin typeface="微软雅黑" panose="020B0503020204020204" pitchFamily="34" charset="-122"/>
                    <a:ea typeface="微软雅黑" panose="020B0503020204020204" pitchFamily="34" charset="-122"/>
                  </a:rPr>
                  <a:t>）</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地址线数目为能存储的字数</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为减少线数，地址分两次输入</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数据线数目为能存储的字长</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acc>
                      <m:accPr>
                        <m:chr m:val="̅"/>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OE</m:t>
                        </m:r>
                      </m:e>
                    </m:acc>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输出使能</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acc>
                      <m:accPr>
                        <m:chr m:val="̅"/>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WE</m:t>
                        </m:r>
                      </m:e>
                    </m:acc>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：读</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写使能</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acc>
                      <m:accPr>
                        <m:chr m:val="̅"/>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RAS</m:t>
                        </m:r>
                      </m:e>
                    </m:acc>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：行地址选通（</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Row Address Strobe</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acc>
                      <m:accPr>
                        <m:chr m:val="̅"/>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C</m:t>
                        </m:r>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AS</m:t>
                        </m:r>
                      </m:e>
                    </m:acc>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：列地址选通（</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Column Address Strobe</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存储容量：</a:t>
                </a:r>
                <a:r>
                  <a:rPr kumimoji="1" lang="en-US" altLang="zh-CN" sz="2400" dirty="0">
                    <a:solidFill>
                      <a:srgbClr val="0000FF"/>
                    </a:solidFill>
                    <a:ea typeface="微软雅黑" panose="020B0503020204020204" pitchFamily="34" charset="-122"/>
                  </a:rPr>
                  <a:t> </a:t>
                </a:r>
                <a14:m>
                  <m:oMath xmlns:m="http://schemas.openxmlformats.org/officeDocument/2006/math">
                    <m:sSup>
                      <m:sSupPr>
                        <m:ctrlPr>
                          <a:rPr kumimoji="1" lang="en-US" altLang="zh-CN" sz="2400" i="1">
                            <a:solidFill>
                              <a:srgbClr val="0000FF"/>
                            </a:solidFill>
                            <a:latin typeface="Cambria Math" panose="02040503050406030204" pitchFamily="18" charset="0"/>
                            <a:ea typeface="微软雅黑" panose="020B0503020204020204" pitchFamily="34" charset="-122"/>
                          </a:rPr>
                        </m:ctrlPr>
                      </m:sSupPr>
                      <m:e>
                        <m:r>
                          <a:rPr kumimoji="1" lang="en-US" altLang="zh-CN" sz="2400" i="1">
                            <a:solidFill>
                              <a:srgbClr val="0000FF"/>
                            </a:solidFill>
                            <a:latin typeface="Cambria Math" panose="02040503050406030204" pitchFamily="18" charset="0"/>
                            <a:ea typeface="微软雅黑" panose="020B0503020204020204" pitchFamily="34" charset="-122"/>
                          </a:rPr>
                          <m:t>2</m:t>
                        </m:r>
                      </m:e>
                      <m:sup>
                        <m:r>
                          <a:rPr kumimoji="1" lang="en-US" altLang="zh-CN" sz="2400" i="1">
                            <a:solidFill>
                              <a:srgbClr val="0000FF"/>
                            </a:solidFill>
                            <a:latin typeface="Cambria Math" panose="02040503050406030204" pitchFamily="18" charset="0"/>
                            <a:ea typeface="微软雅黑" panose="020B0503020204020204" pitchFamily="34" charset="-122"/>
                          </a:rPr>
                          <m:t>2</m:t>
                        </m:r>
                        <m:r>
                          <a:rPr kumimoji="1" lang="en-US" altLang="zh-CN" sz="2400" i="1">
                            <a:solidFill>
                              <a:srgbClr val="0000FF"/>
                            </a:solidFill>
                            <a:latin typeface="Cambria Math" panose="02040503050406030204" pitchFamily="18" charset="0"/>
                            <a:ea typeface="微软雅黑" panose="020B0503020204020204" pitchFamily="34" charset="-122"/>
                          </a:rPr>
                          <m:t>𝑛</m:t>
                        </m:r>
                      </m:sup>
                    </m:sSup>
                    <m:r>
                      <a:rPr kumimoji="1" lang="en-US" altLang="zh-CN" sz="2400" i="1">
                        <a:solidFill>
                          <a:srgbClr val="0000FF"/>
                        </a:solidFill>
                        <a:latin typeface="Cambria Math" panose="02040503050406030204" pitchFamily="18" charset="0"/>
                        <a:ea typeface="Cambria Math" panose="02040503050406030204" pitchFamily="18" charset="0"/>
                      </a:rPr>
                      <m:t>×</m:t>
                    </m:r>
                    <m:r>
                      <a:rPr kumimoji="1" lang="en-US" altLang="zh-CN" sz="2400" i="1">
                        <a:solidFill>
                          <a:srgbClr val="0000FF"/>
                        </a:solidFill>
                        <a:latin typeface="Cambria Math" panose="02040503050406030204" pitchFamily="18" charset="0"/>
                        <a:ea typeface="Cambria Math" panose="02040503050406030204" pitchFamily="18" charset="0"/>
                      </a:rPr>
                      <m:t>𝑚</m:t>
                    </m:r>
                  </m:oMath>
                </a14:m>
                <a:r>
                  <a:rPr lang="zh-CN" altLang="en-US" sz="2400" dirty="0">
                    <a:solidFill>
                      <a:srgbClr val="0000FF"/>
                    </a:solidFill>
                  </a:rPr>
                  <a:t> 位</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15" name="文本框 14">
                <a:extLst>
                  <a:ext uri="{FF2B5EF4-FFF2-40B4-BE49-F238E27FC236}">
                    <a16:creationId xmlns:a16="http://schemas.microsoft.com/office/drawing/2014/main" id="{893AEDCB-400E-3D47-8800-E81A7D2BEF5C}"/>
                  </a:ext>
                </a:extLst>
              </p:cNvPr>
              <p:cNvSpPr txBox="1">
                <a:spLocks noRot="1" noChangeAspect="1" noMove="1" noResize="1" noEditPoints="1" noAdjustHandles="1" noChangeArrowheads="1" noChangeShapeType="1" noTextEdit="1"/>
              </p:cNvSpPr>
              <p:nvPr/>
            </p:nvSpPr>
            <p:spPr>
              <a:xfrm>
                <a:off x="360000" y="828000"/>
                <a:ext cx="7598366" cy="4741876"/>
              </a:xfrm>
              <a:prstGeom prst="rect">
                <a:avLst/>
              </a:prstGeom>
              <a:blipFill>
                <a:blip r:embed="rId3"/>
                <a:stretch>
                  <a:fillRect l="-1443" t="-514" b="-2057"/>
                </a:stretch>
              </a:blipFill>
            </p:spPr>
            <p:txBody>
              <a:bodyPr/>
              <a:lstStyle/>
              <a:p>
                <a:r>
                  <a:rPr lang="zh-CN" altLang="en-US">
                    <a:noFill/>
                  </a:rPr>
                  <a:t> </a:t>
                </a:r>
              </a:p>
            </p:txBody>
          </p:sp>
        </mc:Fallback>
      </mc:AlternateContent>
      <p:sp>
        <p:nvSpPr>
          <p:cNvPr id="3" name="标题 1">
            <a:extLst>
              <a:ext uri="{FF2B5EF4-FFF2-40B4-BE49-F238E27FC236}">
                <a16:creationId xmlns:a16="http://schemas.microsoft.com/office/drawing/2014/main" id="{6DD89425-45DF-959C-AC26-B25AD8D5AFBF}"/>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半导体存储器 </a:t>
            </a:r>
            <a:r>
              <a:rPr lang="en-US" altLang="zh-CN" sz="3000" dirty="0"/>
              <a:t>—— </a:t>
            </a:r>
            <a:r>
              <a:rPr lang="zh-CN" altLang="en-US" sz="3000" dirty="0">
                <a:solidFill>
                  <a:srgbClr val="FFFF00"/>
                </a:solidFill>
              </a:rPr>
              <a:t>随机存储器（</a:t>
            </a:r>
            <a:r>
              <a:rPr lang="en-US" altLang="zh-CN" sz="3000" dirty="0">
                <a:solidFill>
                  <a:srgbClr val="FFFF00"/>
                </a:solidFill>
              </a:rPr>
              <a:t>RAM</a:t>
            </a:r>
            <a:r>
              <a:rPr lang="zh-CN" altLang="en-US" sz="3000" dirty="0">
                <a:solidFill>
                  <a:srgbClr val="FFFF00"/>
                </a:solidFill>
              </a:rPr>
              <a:t>）</a:t>
            </a:r>
            <a:endParaRPr lang="en-US" altLang="zh-CN" sz="3000" dirty="0"/>
          </a:p>
        </p:txBody>
      </p:sp>
      <p:grpSp>
        <p:nvGrpSpPr>
          <p:cNvPr id="42" name="组合 41">
            <a:extLst>
              <a:ext uri="{FF2B5EF4-FFF2-40B4-BE49-F238E27FC236}">
                <a16:creationId xmlns:a16="http://schemas.microsoft.com/office/drawing/2014/main" id="{5E4B46C0-49BB-13B7-EFAF-F34183B4707A}"/>
              </a:ext>
            </a:extLst>
          </p:cNvPr>
          <p:cNvGrpSpPr/>
          <p:nvPr/>
        </p:nvGrpSpPr>
        <p:grpSpPr>
          <a:xfrm>
            <a:off x="7740000" y="936000"/>
            <a:ext cx="4321208" cy="3564000"/>
            <a:chOff x="7740000" y="936000"/>
            <a:chExt cx="4321208" cy="3564000"/>
          </a:xfrm>
        </p:grpSpPr>
        <p:sp>
          <p:nvSpPr>
            <p:cNvPr id="10" name="矩形 9">
              <a:extLst>
                <a:ext uri="{FF2B5EF4-FFF2-40B4-BE49-F238E27FC236}">
                  <a16:creationId xmlns:a16="http://schemas.microsoft.com/office/drawing/2014/main" id="{7DEC6E65-5BC0-F7BD-F787-C166CF519531}"/>
                </a:ext>
              </a:extLst>
            </p:cNvPr>
            <p:cNvSpPr/>
            <p:nvPr/>
          </p:nvSpPr>
          <p:spPr>
            <a:xfrm>
              <a:off x="8821208" y="936000"/>
              <a:ext cx="1980000" cy="3564000"/>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panose="020B0503020204020204" pitchFamily="34" charset="-122"/>
                  <a:ea typeface="微软雅黑" panose="020B0503020204020204" pitchFamily="34" charset="-122"/>
                </a:rPr>
                <a:t>DRAM</a:t>
              </a:r>
            </a:p>
            <a:p>
              <a:pPr algn="ctr"/>
              <a:r>
                <a:rPr lang="zh-CN" altLang="en-US" dirty="0">
                  <a:solidFill>
                    <a:schemeClr val="tx1"/>
                  </a:solidFill>
                  <a:latin typeface="微软雅黑" panose="020B0503020204020204" pitchFamily="34" charset="-122"/>
                  <a:ea typeface="微软雅黑" panose="020B0503020204020204" pitchFamily="34" charset="-122"/>
                </a:rPr>
                <a:t>芯片</a:t>
              </a:r>
            </a:p>
          </p:txBody>
        </p:sp>
        <p:cxnSp>
          <p:nvCxnSpPr>
            <p:cNvPr id="11" name="直接连接符 10">
              <a:extLst>
                <a:ext uri="{FF2B5EF4-FFF2-40B4-BE49-F238E27FC236}">
                  <a16:creationId xmlns:a16="http://schemas.microsoft.com/office/drawing/2014/main" id="{00C9CE27-F7F6-9D63-E4D1-6BA06F24ED81}"/>
                </a:ext>
              </a:extLst>
            </p:cNvPr>
            <p:cNvCxnSpPr>
              <a:cxnSpLocks/>
            </p:cNvCxnSpPr>
            <p:nvPr/>
          </p:nvCxnSpPr>
          <p:spPr>
            <a:xfrm>
              <a:off x="10801208" y="1944000"/>
              <a:ext cx="43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5AC0CCBB-4E9E-00F3-4F0F-0F4B57EDB557}"/>
                </a:ext>
              </a:extLst>
            </p:cNvPr>
            <p:cNvCxnSpPr>
              <a:cxnSpLocks/>
            </p:cNvCxnSpPr>
            <p:nvPr/>
          </p:nvCxnSpPr>
          <p:spPr>
            <a:xfrm>
              <a:off x="10801208" y="3060000"/>
              <a:ext cx="43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0A3DDC53-8DE4-9E22-5262-C0DA5A3707B9}"/>
                    </a:ext>
                  </a:extLst>
                </p:cNvPr>
                <p:cNvSpPr txBox="1"/>
                <p:nvPr/>
              </p:nvSpPr>
              <p:spPr>
                <a:xfrm>
                  <a:off x="10009208" y="1764000"/>
                  <a:ext cx="792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D</m:t>
                            </m:r>
                          </m:e>
                          <m:sub>
                            <m:r>
                              <a:rPr lang="en-US" altLang="zh-CN" sz="2400" b="0" i="1" smtClean="0">
                                <a:solidFill>
                                  <a:schemeClr val="tx1"/>
                                </a:solidFill>
                                <a:latin typeface="Cambria Math" panose="02040503050406030204" pitchFamily="18" charset="0"/>
                              </a:rPr>
                              <m:t>𝑚</m:t>
                            </m:r>
                            <m:r>
                              <a:rPr lang="en-US" altLang="zh-CN" sz="2400" b="0" i="1" smtClean="0">
                                <a:solidFill>
                                  <a:schemeClr val="tx1"/>
                                </a:solidFill>
                                <a:latin typeface="Cambria Math" panose="02040503050406030204" pitchFamily="18" charset="0"/>
                              </a:rPr>
                              <m:t>−1</m:t>
                            </m:r>
                          </m:sub>
                        </m:sSub>
                      </m:oMath>
                    </m:oMathPara>
                  </a14:m>
                  <a:endParaRPr lang="zh-CN" altLang="en-US" sz="2400" dirty="0">
                    <a:solidFill>
                      <a:schemeClr val="tx1"/>
                    </a:solidFill>
                  </a:endParaRPr>
                </a:p>
              </p:txBody>
            </p:sp>
          </mc:Choice>
          <mc:Fallback xmlns="">
            <p:sp>
              <p:nvSpPr>
                <p:cNvPr id="13" name="文本框 12">
                  <a:extLst>
                    <a:ext uri="{FF2B5EF4-FFF2-40B4-BE49-F238E27FC236}">
                      <a16:creationId xmlns:a16="http://schemas.microsoft.com/office/drawing/2014/main" id="{0A3DDC53-8DE4-9E22-5262-C0DA5A3707B9}"/>
                    </a:ext>
                  </a:extLst>
                </p:cNvPr>
                <p:cNvSpPr txBox="1">
                  <a:spLocks noRot="1" noChangeAspect="1" noMove="1" noResize="1" noEditPoints="1" noAdjustHandles="1" noChangeArrowheads="1" noChangeShapeType="1" noTextEdit="1"/>
                </p:cNvSpPr>
                <p:nvPr/>
              </p:nvSpPr>
              <p:spPr>
                <a:xfrm>
                  <a:off x="10009208" y="1764000"/>
                  <a:ext cx="792000" cy="360000"/>
                </a:xfrm>
                <a:prstGeom prst="rect">
                  <a:avLst/>
                </a:prstGeom>
                <a:blipFill>
                  <a:blip r:embed="rId4"/>
                  <a:stretch>
                    <a:fillRect l="-9231" r="-3077"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F54399B9-EA42-E22E-A074-1A351F0F6CF9}"/>
                    </a:ext>
                  </a:extLst>
                </p:cNvPr>
                <p:cNvSpPr txBox="1"/>
                <p:nvPr/>
              </p:nvSpPr>
              <p:spPr>
                <a:xfrm>
                  <a:off x="10333208" y="2880000"/>
                  <a:ext cx="468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latin typeface="Cambria Math" panose="02040503050406030204" pitchFamily="18" charset="0"/>
                              </a:rPr>
                              <m:t>D</m:t>
                            </m:r>
                          </m:e>
                          <m:sub>
                            <m:r>
                              <a:rPr lang="en-US" altLang="zh-CN" sz="2400" b="0" i="1" smtClean="0">
                                <a:latin typeface="Cambria Math" panose="02040503050406030204" pitchFamily="18" charset="0"/>
                              </a:rPr>
                              <m:t>0</m:t>
                            </m:r>
                          </m:sub>
                        </m:sSub>
                      </m:oMath>
                    </m:oMathPara>
                  </a14:m>
                  <a:endParaRPr lang="zh-CN" altLang="en-US" sz="2400" dirty="0">
                    <a:solidFill>
                      <a:schemeClr val="tx1"/>
                    </a:solidFill>
                  </a:endParaRPr>
                </a:p>
              </p:txBody>
            </p:sp>
          </mc:Choice>
          <mc:Fallback xmlns="">
            <p:sp>
              <p:nvSpPr>
                <p:cNvPr id="14" name="文本框 13">
                  <a:extLst>
                    <a:ext uri="{FF2B5EF4-FFF2-40B4-BE49-F238E27FC236}">
                      <a16:creationId xmlns:a16="http://schemas.microsoft.com/office/drawing/2014/main" id="{F54399B9-EA42-E22E-A074-1A351F0F6CF9}"/>
                    </a:ext>
                  </a:extLst>
                </p:cNvPr>
                <p:cNvSpPr txBox="1">
                  <a:spLocks noRot="1" noChangeAspect="1" noMove="1" noResize="1" noEditPoints="1" noAdjustHandles="1" noChangeArrowheads="1" noChangeShapeType="1" noTextEdit="1"/>
                </p:cNvSpPr>
                <p:nvPr/>
              </p:nvSpPr>
              <p:spPr>
                <a:xfrm>
                  <a:off x="10333208" y="2880000"/>
                  <a:ext cx="468000" cy="360000"/>
                </a:xfrm>
                <a:prstGeom prst="rect">
                  <a:avLst/>
                </a:prstGeom>
                <a:blipFill>
                  <a:blip r:embed="rId5"/>
                  <a:stretch>
                    <a:fillRect l="-9091" b="-16949"/>
                  </a:stretch>
                </a:blipFill>
              </p:spPr>
              <p:txBody>
                <a:bodyPr/>
                <a:lstStyle/>
                <a:p>
                  <a:r>
                    <a:rPr lang="zh-CN" altLang="en-US">
                      <a:noFill/>
                    </a:rPr>
                    <a:t> </a:t>
                  </a:r>
                </a:p>
              </p:txBody>
            </p:sp>
          </mc:Fallback>
        </mc:AlternateContent>
        <p:cxnSp>
          <p:nvCxnSpPr>
            <p:cNvPr id="16" name="直接连接符 15">
              <a:extLst>
                <a:ext uri="{FF2B5EF4-FFF2-40B4-BE49-F238E27FC236}">
                  <a16:creationId xmlns:a16="http://schemas.microsoft.com/office/drawing/2014/main" id="{EB88CA8C-27DB-C8C8-EF95-8101D9B1357D}"/>
                </a:ext>
              </a:extLst>
            </p:cNvPr>
            <p:cNvCxnSpPr>
              <a:cxnSpLocks/>
            </p:cNvCxnSpPr>
            <p:nvPr/>
          </p:nvCxnSpPr>
          <p:spPr>
            <a:xfrm>
              <a:off x="8605207" y="1296000"/>
              <a:ext cx="2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860F7B8A-C927-262D-6556-9DAF2E28B37C}"/>
                    </a:ext>
                  </a:extLst>
                </p:cNvPr>
                <p:cNvSpPr txBox="1"/>
                <p:nvPr/>
              </p:nvSpPr>
              <p:spPr>
                <a:xfrm>
                  <a:off x="8749208" y="1080000"/>
                  <a:ext cx="90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b="0" i="1" smtClean="0">
                                <a:solidFill>
                                  <a:schemeClr val="tx1"/>
                                </a:solidFill>
                                <a:latin typeface="Cambria Math" panose="02040503050406030204" pitchFamily="18" charset="0"/>
                              </a:rPr>
                              <m:t>𝑛</m:t>
                            </m:r>
                            <m:r>
                              <a:rPr lang="en-US" altLang="zh-CN" sz="2400" b="0" i="1" smtClean="0">
                                <a:solidFill>
                                  <a:schemeClr val="tx1"/>
                                </a:solidFill>
                                <a:latin typeface="Cambria Math" panose="02040503050406030204" pitchFamily="18" charset="0"/>
                              </a:rPr>
                              <m:t>−1</m:t>
                            </m:r>
                          </m:sub>
                        </m:sSub>
                      </m:oMath>
                    </m:oMathPara>
                  </a14:m>
                  <a:endParaRPr lang="zh-CN" altLang="en-US" sz="2400" dirty="0">
                    <a:solidFill>
                      <a:schemeClr val="tx1"/>
                    </a:solidFill>
                  </a:endParaRPr>
                </a:p>
              </p:txBody>
            </p:sp>
          </mc:Choice>
          <mc:Fallback xmlns="">
            <p:sp>
              <p:nvSpPr>
                <p:cNvPr id="17" name="文本框 16">
                  <a:extLst>
                    <a:ext uri="{FF2B5EF4-FFF2-40B4-BE49-F238E27FC236}">
                      <a16:creationId xmlns:a16="http://schemas.microsoft.com/office/drawing/2014/main" id="{860F7B8A-C927-262D-6556-9DAF2E28B37C}"/>
                    </a:ext>
                  </a:extLst>
                </p:cNvPr>
                <p:cNvSpPr txBox="1">
                  <a:spLocks noRot="1" noChangeAspect="1" noMove="1" noResize="1" noEditPoints="1" noAdjustHandles="1" noChangeArrowheads="1" noChangeShapeType="1" noTextEdit="1"/>
                </p:cNvSpPr>
                <p:nvPr/>
              </p:nvSpPr>
              <p:spPr>
                <a:xfrm>
                  <a:off x="8749208" y="1080000"/>
                  <a:ext cx="900000" cy="360000"/>
                </a:xfrm>
                <a:prstGeom prst="rect">
                  <a:avLst/>
                </a:prstGeom>
                <a:blipFill>
                  <a:blip r:embed="rId6"/>
                  <a:stretch>
                    <a:fillRect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0C37BA45-7C64-C283-1B0C-D900A7E11E7E}"/>
                    </a:ext>
                  </a:extLst>
                </p:cNvPr>
                <p:cNvSpPr txBox="1"/>
                <p:nvPr/>
              </p:nvSpPr>
              <p:spPr>
                <a:xfrm>
                  <a:off x="8785208" y="1440000"/>
                  <a:ext cx="468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schemeClr val="tx1"/>
                            </a:solidFill>
                            <a:latin typeface="Cambria Math" panose="02040503050406030204" pitchFamily="18" charset="0"/>
                          </a:rPr>
                          <m:t>⋮</m:t>
                        </m:r>
                      </m:oMath>
                    </m:oMathPara>
                  </a14:m>
                  <a:endParaRPr lang="zh-CN" altLang="en-US" sz="2400" dirty="0">
                    <a:solidFill>
                      <a:schemeClr val="tx1"/>
                    </a:solidFill>
                  </a:endParaRPr>
                </a:p>
              </p:txBody>
            </p:sp>
          </mc:Choice>
          <mc:Fallback xmlns="">
            <p:sp>
              <p:nvSpPr>
                <p:cNvPr id="18" name="文本框 17">
                  <a:extLst>
                    <a:ext uri="{FF2B5EF4-FFF2-40B4-BE49-F238E27FC236}">
                      <a16:creationId xmlns:a16="http://schemas.microsoft.com/office/drawing/2014/main" id="{0C37BA45-7C64-C283-1B0C-D900A7E11E7E}"/>
                    </a:ext>
                  </a:extLst>
                </p:cNvPr>
                <p:cNvSpPr txBox="1">
                  <a:spLocks noRot="1" noChangeAspect="1" noMove="1" noResize="1" noEditPoints="1" noAdjustHandles="1" noChangeArrowheads="1" noChangeShapeType="1" noTextEdit="1"/>
                </p:cNvSpPr>
                <p:nvPr/>
              </p:nvSpPr>
              <p:spPr>
                <a:xfrm>
                  <a:off x="8785208" y="1440000"/>
                  <a:ext cx="468000" cy="360000"/>
                </a:xfrm>
                <a:prstGeom prst="rect">
                  <a:avLst/>
                </a:prstGeom>
                <a:blipFill>
                  <a:blip r:embed="rId7"/>
                  <a:stretch>
                    <a:fillRect b="-8475"/>
                  </a:stretch>
                </a:blipFill>
              </p:spPr>
              <p:txBody>
                <a:bodyPr/>
                <a:lstStyle/>
                <a:p>
                  <a:r>
                    <a:rPr lang="zh-CN" altLang="en-US">
                      <a:noFill/>
                    </a:rPr>
                    <a:t> </a:t>
                  </a:r>
                </a:p>
              </p:txBody>
            </p:sp>
          </mc:Fallback>
        </mc:AlternateContent>
        <p:cxnSp>
          <p:nvCxnSpPr>
            <p:cNvPr id="19" name="直接连接符 18">
              <a:extLst>
                <a:ext uri="{FF2B5EF4-FFF2-40B4-BE49-F238E27FC236}">
                  <a16:creationId xmlns:a16="http://schemas.microsoft.com/office/drawing/2014/main" id="{8C96C001-D265-8E9A-8848-667328984421}"/>
                </a:ext>
              </a:extLst>
            </p:cNvPr>
            <p:cNvCxnSpPr>
              <a:cxnSpLocks/>
            </p:cNvCxnSpPr>
            <p:nvPr/>
          </p:nvCxnSpPr>
          <p:spPr>
            <a:xfrm>
              <a:off x="8605207" y="2016000"/>
              <a:ext cx="2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246ADD54-B958-069F-F632-665E4C443A57}"/>
                    </a:ext>
                  </a:extLst>
                </p:cNvPr>
                <p:cNvSpPr txBox="1"/>
                <p:nvPr/>
              </p:nvSpPr>
              <p:spPr>
                <a:xfrm>
                  <a:off x="8749208" y="1800000"/>
                  <a:ext cx="612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b="0" i="1" smtClean="0">
                                <a:solidFill>
                                  <a:schemeClr val="tx1"/>
                                </a:solidFill>
                                <a:latin typeface="Cambria Math" panose="02040503050406030204" pitchFamily="18" charset="0"/>
                              </a:rPr>
                              <m:t>0</m:t>
                            </m:r>
                          </m:sub>
                        </m:sSub>
                      </m:oMath>
                    </m:oMathPara>
                  </a14:m>
                  <a:endParaRPr lang="zh-CN" altLang="en-US" sz="2400" dirty="0">
                    <a:solidFill>
                      <a:schemeClr val="tx1"/>
                    </a:solidFill>
                  </a:endParaRPr>
                </a:p>
              </p:txBody>
            </p:sp>
          </mc:Choice>
          <mc:Fallback xmlns="">
            <p:sp>
              <p:nvSpPr>
                <p:cNvPr id="20" name="文本框 19">
                  <a:extLst>
                    <a:ext uri="{FF2B5EF4-FFF2-40B4-BE49-F238E27FC236}">
                      <a16:creationId xmlns:a16="http://schemas.microsoft.com/office/drawing/2014/main" id="{246ADD54-B958-069F-F632-665E4C443A57}"/>
                    </a:ext>
                  </a:extLst>
                </p:cNvPr>
                <p:cNvSpPr txBox="1">
                  <a:spLocks noRot="1" noChangeAspect="1" noMove="1" noResize="1" noEditPoints="1" noAdjustHandles="1" noChangeArrowheads="1" noChangeShapeType="1" noTextEdit="1"/>
                </p:cNvSpPr>
                <p:nvPr/>
              </p:nvSpPr>
              <p:spPr>
                <a:xfrm>
                  <a:off x="8749208" y="1800000"/>
                  <a:ext cx="612000" cy="360000"/>
                </a:xfrm>
                <a:prstGeom prst="rect">
                  <a:avLst/>
                </a:prstGeom>
                <a:blipFill>
                  <a:blip r:embed="rId8"/>
                  <a:stretch>
                    <a:fillRect b="-16949"/>
                  </a:stretch>
                </a:blipFill>
              </p:spPr>
              <p:txBody>
                <a:bodyPr/>
                <a:lstStyle/>
                <a:p>
                  <a:r>
                    <a:rPr lang="zh-CN" altLang="en-US">
                      <a:noFill/>
                    </a:rPr>
                    <a:t> </a:t>
                  </a:r>
                </a:p>
              </p:txBody>
            </p:sp>
          </mc:Fallback>
        </mc:AlternateContent>
        <p:cxnSp>
          <p:nvCxnSpPr>
            <p:cNvPr id="21" name="直接连接符 20">
              <a:extLst>
                <a:ext uri="{FF2B5EF4-FFF2-40B4-BE49-F238E27FC236}">
                  <a16:creationId xmlns:a16="http://schemas.microsoft.com/office/drawing/2014/main" id="{D29DEAB8-2A04-B7E1-EA25-151468A805B7}"/>
                </a:ext>
              </a:extLst>
            </p:cNvPr>
            <p:cNvCxnSpPr>
              <a:cxnSpLocks/>
            </p:cNvCxnSpPr>
            <p:nvPr/>
          </p:nvCxnSpPr>
          <p:spPr>
            <a:xfrm>
              <a:off x="8316000" y="3348000"/>
              <a:ext cx="50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8947BC7D-35E1-715C-7E7F-A2EE957E4D78}"/>
                </a:ext>
              </a:extLst>
            </p:cNvPr>
            <p:cNvCxnSpPr>
              <a:cxnSpLocks/>
            </p:cNvCxnSpPr>
            <p:nvPr/>
          </p:nvCxnSpPr>
          <p:spPr>
            <a:xfrm>
              <a:off x="8316000" y="3780000"/>
              <a:ext cx="50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8B68129E-BE82-4497-F027-0B658FA5535F}"/>
                    </a:ext>
                  </a:extLst>
                </p:cNvPr>
                <p:cNvSpPr txBox="1"/>
                <p:nvPr/>
              </p:nvSpPr>
              <p:spPr>
                <a:xfrm>
                  <a:off x="8856000" y="3600000"/>
                  <a:ext cx="648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tx1"/>
                            </a:solidFill>
                            <a:latin typeface="Cambria Math" panose="02040503050406030204" pitchFamily="18" charset="0"/>
                          </a:rPr>
                          <m:t>RAS</m:t>
                        </m:r>
                      </m:oMath>
                    </m:oMathPara>
                  </a14:m>
                  <a:endParaRPr lang="zh-CN" altLang="en-US" sz="2400" dirty="0">
                    <a:solidFill>
                      <a:schemeClr val="tx1"/>
                    </a:solidFill>
                  </a:endParaRPr>
                </a:p>
              </p:txBody>
            </p:sp>
          </mc:Choice>
          <mc:Fallback xmlns="">
            <p:sp>
              <p:nvSpPr>
                <p:cNvPr id="23" name="文本框 22">
                  <a:extLst>
                    <a:ext uri="{FF2B5EF4-FFF2-40B4-BE49-F238E27FC236}">
                      <a16:creationId xmlns:a16="http://schemas.microsoft.com/office/drawing/2014/main" id="{8B68129E-BE82-4497-F027-0B658FA5535F}"/>
                    </a:ext>
                  </a:extLst>
                </p:cNvPr>
                <p:cNvSpPr txBox="1">
                  <a:spLocks noRot="1" noChangeAspect="1" noMove="1" noResize="1" noEditPoints="1" noAdjustHandles="1" noChangeArrowheads="1" noChangeShapeType="1" noTextEdit="1"/>
                </p:cNvSpPr>
                <p:nvPr/>
              </p:nvSpPr>
              <p:spPr>
                <a:xfrm>
                  <a:off x="8856000" y="3600000"/>
                  <a:ext cx="648000" cy="360000"/>
                </a:xfrm>
                <a:prstGeom prst="rect">
                  <a:avLst/>
                </a:prstGeom>
                <a:blipFill>
                  <a:blip r:embed="rId9"/>
                  <a:stretch>
                    <a:fillRect l="-7547" r="-7547" b="-8475"/>
                  </a:stretch>
                </a:blipFill>
              </p:spPr>
              <p:txBody>
                <a:bodyPr/>
                <a:lstStyle/>
                <a:p>
                  <a:r>
                    <a:rPr lang="zh-CN" altLang="en-US">
                      <a:noFill/>
                    </a:rPr>
                    <a:t> </a:t>
                  </a:r>
                </a:p>
              </p:txBody>
            </p:sp>
          </mc:Fallback>
        </mc:AlternateContent>
        <p:sp>
          <p:nvSpPr>
            <p:cNvPr id="24" name="椭圆 23">
              <a:extLst>
                <a:ext uri="{FF2B5EF4-FFF2-40B4-BE49-F238E27FC236}">
                  <a16:creationId xmlns:a16="http://schemas.microsoft.com/office/drawing/2014/main" id="{81B1B1D7-4E85-8370-9157-F0B73D1252D5}"/>
                </a:ext>
              </a:extLst>
            </p:cNvPr>
            <p:cNvSpPr/>
            <p:nvPr/>
          </p:nvSpPr>
          <p:spPr>
            <a:xfrm>
              <a:off x="8697600" y="3294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FD3EB2C9-74F8-4265-C21B-F7671566692A}"/>
                </a:ext>
              </a:extLst>
            </p:cNvPr>
            <p:cNvSpPr/>
            <p:nvPr/>
          </p:nvSpPr>
          <p:spPr>
            <a:xfrm>
              <a:off x="8697600" y="3726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C6796F64-1033-2C13-D0E4-8EBA50C91637}"/>
                    </a:ext>
                  </a:extLst>
                </p:cNvPr>
                <p:cNvSpPr txBox="1"/>
                <p:nvPr/>
              </p:nvSpPr>
              <p:spPr>
                <a:xfrm>
                  <a:off x="7813208" y="1080000"/>
                  <a:ext cx="72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A</m:t>
                            </m:r>
                          </m:e>
                          <m:sub>
                            <m:r>
                              <a:rPr lang="en-US" altLang="zh-CN" sz="2400" b="0" i="1" smtClean="0">
                                <a:solidFill>
                                  <a:schemeClr val="accent5">
                                    <a:lumMod val="75000"/>
                                  </a:schemeClr>
                                </a:solidFill>
                                <a:latin typeface="Cambria Math" panose="02040503050406030204" pitchFamily="18" charset="0"/>
                              </a:rPr>
                              <m:t>𝑛</m:t>
                            </m:r>
                            <m:r>
                              <a:rPr lang="en-US" altLang="zh-CN" sz="2400" b="0" i="1" smtClean="0">
                                <a:solidFill>
                                  <a:schemeClr val="accent5">
                                    <a:lumMod val="75000"/>
                                  </a:schemeClr>
                                </a:solidFill>
                                <a:latin typeface="Cambria Math" panose="02040503050406030204" pitchFamily="18" charset="0"/>
                              </a:rPr>
                              <m:t>−1</m:t>
                            </m:r>
                          </m:sub>
                        </m:sSub>
                      </m:oMath>
                    </m:oMathPara>
                  </a14:m>
                  <a:endParaRPr lang="zh-CN" altLang="en-US" sz="2400" dirty="0">
                    <a:solidFill>
                      <a:schemeClr val="accent5">
                        <a:lumMod val="75000"/>
                      </a:schemeClr>
                    </a:solidFill>
                  </a:endParaRPr>
                </a:p>
              </p:txBody>
            </p:sp>
          </mc:Choice>
          <mc:Fallback xmlns="">
            <p:sp>
              <p:nvSpPr>
                <p:cNvPr id="26" name="文本框 25">
                  <a:extLst>
                    <a:ext uri="{FF2B5EF4-FFF2-40B4-BE49-F238E27FC236}">
                      <a16:creationId xmlns:a16="http://schemas.microsoft.com/office/drawing/2014/main" id="{C6796F64-1033-2C13-D0E4-8EBA50C91637}"/>
                    </a:ext>
                  </a:extLst>
                </p:cNvPr>
                <p:cNvSpPr txBox="1">
                  <a:spLocks noRot="1" noChangeAspect="1" noMove="1" noResize="1" noEditPoints="1" noAdjustHandles="1" noChangeArrowheads="1" noChangeShapeType="1" noTextEdit="1"/>
                </p:cNvSpPr>
                <p:nvPr/>
              </p:nvSpPr>
              <p:spPr>
                <a:xfrm>
                  <a:off x="7813208" y="1080000"/>
                  <a:ext cx="720000" cy="360000"/>
                </a:xfrm>
                <a:prstGeom prst="rect">
                  <a:avLst/>
                </a:prstGeom>
                <a:blipFill>
                  <a:blip r:embed="rId10"/>
                  <a:stretch>
                    <a:fillRect l="-10169" r="-3390"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2B617E93-F0C9-8607-466D-8AE60A3DDF87}"/>
                    </a:ext>
                  </a:extLst>
                </p:cNvPr>
                <p:cNvSpPr txBox="1"/>
                <p:nvPr/>
              </p:nvSpPr>
              <p:spPr>
                <a:xfrm>
                  <a:off x="8101208" y="1800000"/>
                  <a:ext cx="54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A</m:t>
                            </m:r>
                          </m:e>
                          <m:sub>
                            <m:r>
                              <a:rPr lang="en-US" altLang="zh-CN" sz="2400" b="0" i="1" smtClean="0">
                                <a:solidFill>
                                  <a:schemeClr val="accent5">
                                    <a:lumMod val="75000"/>
                                  </a:schemeClr>
                                </a:solidFill>
                                <a:latin typeface="Cambria Math" panose="02040503050406030204" pitchFamily="18" charset="0"/>
                              </a:rPr>
                              <m:t>0</m:t>
                            </m:r>
                          </m:sub>
                        </m:sSub>
                      </m:oMath>
                    </m:oMathPara>
                  </a14:m>
                  <a:endParaRPr lang="zh-CN" altLang="en-US" sz="2400" dirty="0">
                    <a:solidFill>
                      <a:schemeClr val="accent5">
                        <a:lumMod val="75000"/>
                      </a:schemeClr>
                    </a:solidFill>
                  </a:endParaRPr>
                </a:p>
              </p:txBody>
            </p:sp>
          </mc:Choice>
          <mc:Fallback xmlns="">
            <p:sp>
              <p:nvSpPr>
                <p:cNvPr id="27" name="文本框 26">
                  <a:extLst>
                    <a:ext uri="{FF2B5EF4-FFF2-40B4-BE49-F238E27FC236}">
                      <a16:creationId xmlns:a16="http://schemas.microsoft.com/office/drawing/2014/main" id="{2B617E93-F0C9-8607-466D-8AE60A3DDF87}"/>
                    </a:ext>
                  </a:extLst>
                </p:cNvPr>
                <p:cNvSpPr txBox="1">
                  <a:spLocks noRot="1" noChangeAspect="1" noMove="1" noResize="1" noEditPoints="1" noAdjustHandles="1" noChangeArrowheads="1" noChangeShapeType="1" noTextEdit="1"/>
                </p:cNvSpPr>
                <p:nvPr/>
              </p:nvSpPr>
              <p:spPr>
                <a:xfrm>
                  <a:off x="8101208" y="1800000"/>
                  <a:ext cx="540000" cy="360000"/>
                </a:xfrm>
                <a:prstGeom prst="rect">
                  <a:avLst/>
                </a:prstGeom>
                <a:blipFill>
                  <a:blip r:embed="rId11"/>
                  <a:stretch>
                    <a:fillRect l="-1124" b="-16949"/>
                  </a:stretch>
                </a:blipFill>
              </p:spPr>
              <p:txBody>
                <a:bodyPr/>
                <a:lstStyle/>
                <a:p>
                  <a:r>
                    <a:rPr lang="zh-CN" altLang="en-US">
                      <a:noFill/>
                    </a:rPr>
                    <a:t> </a:t>
                  </a:r>
                </a:p>
              </p:txBody>
            </p:sp>
          </mc:Fallback>
        </mc:AlternateContent>
        <p:cxnSp>
          <p:nvCxnSpPr>
            <p:cNvPr id="28" name="直接连接符 27">
              <a:extLst>
                <a:ext uri="{FF2B5EF4-FFF2-40B4-BE49-F238E27FC236}">
                  <a16:creationId xmlns:a16="http://schemas.microsoft.com/office/drawing/2014/main" id="{748694AB-099D-6A1C-A42B-8E28108031A5}"/>
                </a:ext>
              </a:extLst>
            </p:cNvPr>
            <p:cNvCxnSpPr>
              <a:cxnSpLocks/>
            </p:cNvCxnSpPr>
            <p:nvPr/>
          </p:nvCxnSpPr>
          <p:spPr>
            <a:xfrm>
              <a:off x="8317208" y="2916000"/>
              <a:ext cx="50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DB323062-A0C5-6AA0-B884-842420AB3BB6}"/>
                    </a:ext>
                  </a:extLst>
                </p:cNvPr>
                <p:cNvSpPr txBox="1"/>
                <p:nvPr/>
              </p:nvSpPr>
              <p:spPr>
                <a:xfrm>
                  <a:off x="8857208" y="2736000"/>
                  <a:ext cx="504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smtClean="0">
                            <a:latin typeface="Cambria Math" panose="02040503050406030204" pitchFamily="18" charset="0"/>
                          </a:rPr>
                          <m:t>O</m:t>
                        </m:r>
                        <m:r>
                          <m:rPr>
                            <m:sty m:val="p"/>
                          </m:rPr>
                          <a:rPr lang="en-US" altLang="zh-CN" sz="2400" b="0" i="0" smtClean="0">
                            <a:solidFill>
                              <a:schemeClr val="tx1"/>
                            </a:solidFill>
                            <a:latin typeface="Cambria Math" panose="02040503050406030204" pitchFamily="18" charset="0"/>
                          </a:rPr>
                          <m:t>E</m:t>
                        </m:r>
                      </m:oMath>
                    </m:oMathPara>
                  </a14:m>
                  <a:endParaRPr lang="zh-CN" altLang="en-US" sz="2400" dirty="0">
                    <a:solidFill>
                      <a:schemeClr val="tx1"/>
                    </a:solidFill>
                  </a:endParaRPr>
                </a:p>
              </p:txBody>
            </p:sp>
          </mc:Choice>
          <mc:Fallback xmlns="">
            <p:sp>
              <p:nvSpPr>
                <p:cNvPr id="29" name="文本框 28">
                  <a:extLst>
                    <a:ext uri="{FF2B5EF4-FFF2-40B4-BE49-F238E27FC236}">
                      <a16:creationId xmlns:a16="http://schemas.microsoft.com/office/drawing/2014/main" id="{DB323062-A0C5-6AA0-B884-842420AB3BB6}"/>
                    </a:ext>
                  </a:extLst>
                </p:cNvPr>
                <p:cNvSpPr txBox="1">
                  <a:spLocks noRot="1" noChangeAspect="1" noMove="1" noResize="1" noEditPoints="1" noAdjustHandles="1" noChangeArrowheads="1" noChangeShapeType="1" noTextEdit="1"/>
                </p:cNvSpPr>
                <p:nvPr/>
              </p:nvSpPr>
              <p:spPr>
                <a:xfrm>
                  <a:off x="8857208" y="2736000"/>
                  <a:ext cx="504000" cy="360000"/>
                </a:xfrm>
                <a:prstGeom prst="rect">
                  <a:avLst/>
                </a:prstGeom>
                <a:blipFill>
                  <a:blip r:embed="rId12"/>
                  <a:stretch>
                    <a:fillRect l="-8434" r="-8434" b="-8475"/>
                  </a:stretch>
                </a:blipFill>
              </p:spPr>
              <p:txBody>
                <a:bodyPr/>
                <a:lstStyle/>
                <a:p>
                  <a:r>
                    <a:rPr lang="zh-CN" altLang="en-US">
                      <a:noFill/>
                    </a:rPr>
                    <a:t> </a:t>
                  </a:r>
                </a:p>
              </p:txBody>
            </p:sp>
          </mc:Fallback>
        </mc:AlternateContent>
        <p:sp>
          <p:nvSpPr>
            <p:cNvPr id="30" name="椭圆 29">
              <a:extLst>
                <a:ext uri="{FF2B5EF4-FFF2-40B4-BE49-F238E27FC236}">
                  <a16:creationId xmlns:a16="http://schemas.microsoft.com/office/drawing/2014/main" id="{F9021E52-66A7-6B6B-D763-F2F226A78FCD}"/>
                </a:ext>
              </a:extLst>
            </p:cNvPr>
            <p:cNvSpPr/>
            <p:nvPr/>
          </p:nvSpPr>
          <p:spPr>
            <a:xfrm>
              <a:off x="8697600" y="2862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D42CFF5F-E9F3-8A3A-FDA3-53DF3E5644AE}"/>
                    </a:ext>
                  </a:extLst>
                </p:cNvPr>
                <p:cNvSpPr txBox="1"/>
                <p:nvPr/>
              </p:nvSpPr>
              <p:spPr>
                <a:xfrm>
                  <a:off x="7777208" y="3168000"/>
                  <a:ext cx="54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WE</m:t>
                            </m:r>
                          </m:e>
                        </m:acc>
                      </m:oMath>
                    </m:oMathPara>
                  </a14:m>
                  <a:endParaRPr lang="zh-CN" altLang="en-US" sz="2400" dirty="0">
                    <a:solidFill>
                      <a:schemeClr val="accent5">
                        <a:lumMod val="75000"/>
                      </a:schemeClr>
                    </a:solidFill>
                  </a:endParaRPr>
                </a:p>
              </p:txBody>
            </p:sp>
          </mc:Choice>
          <mc:Fallback xmlns="">
            <p:sp>
              <p:nvSpPr>
                <p:cNvPr id="31" name="文本框 30">
                  <a:extLst>
                    <a:ext uri="{FF2B5EF4-FFF2-40B4-BE49-F238E27FC236}">
                      <a16:creationId xmlns:a16="http://schemas.microsoft.com/office/drawing/2014/main" id="{D42CFF5F-E9F3-8A3A-FDA3-53DF3E5644AE}"/>
                    </a:ext>
                  </a:extLst>
                </p:cNvPr>
                <p:cNvSpPr txBox="1">
                  <a:spLocks noRot="1" noChangeAspect="1" noMove="1" noResize="1" noEditPoints="1" noAdjustHandles="1" noChangeArrowheads="1" noChangeShapeType="1" noTextEdit="1"/>
                </p:cNvSpPr>
                <p:nvPr/>
              </p:nvSpPr>
              <p:spPr>
                <a:xfrm>
                  <a:off x="7777208" y="3168000"/>
                  <a:ext cx="540000" cy="360000"/>
                </a:xfrm>
                <a:prstGeom prst="rect">
                  <a:avLst/>
                </a:prstGeom>
                <a:blipFill>
                  <a:blip r:embed="rId13"/>
                  <a:stretch>
                    <a:fillRect l="-12500" r="-12500"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3751DCEB-4BF6-37B0-8B68-82DFC7D2DE0D}"/>
                    </a:ext>
                  </a:extLst>
                </p:cNvPr>
                <p:cNvSpPr txBox="1"/>
                <p:nvPr/>
              </p:nvSpPr>
              <p:spPr>
                <a:xfrm>
                  <a:off x="7740000" y="3600000"/>
                  <a:ext cx="540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b="0" i="0" smtClean="0">
                                <a:solidFill>
                                  <a:schemeClr val="accent5">
                                    <a:lumMod val="75000"/>
                                  </a:schemeClr>
                                </a:solidFill>
                                <a:latin typeface="Cambria Math" panose="02040503050406030204" pitchFamily="18" charset="0"/>
                              </a:rPr>
                              <m:t>RAS</m:t>
                            </m:r>
                          </m:e>
                        </m:acc>
                      </m:oMath>
                    </m:oMathPara>
                  </a14:m>
                  <a:endParaRPr lang="zh-CN" altLang="en-US" sz="2400" dirty="0">
                    <a:solidFill>
                      <a:schemeClr val="accent5">
                        <a:lumMod val="75000"/>
                      </a:schemeClr>
                    </a:solidFill>
                  </a:endParaRPr>
                </a:p>
              </p:txBody>
            </p:sp>
          </mc:Choice>
          <mc:Fallback xmlns="">
            <p:sp>
              <p:nvSpPr>
                <p:cNvPr id="32" name="文本框 31">
                  <a:extLst>
                    <a:ext uri="{FF2B5EF4-FFF2-40B4-BE49-F238E27FC236}">
                      <a16:creationId xmlns:a16="http://schemas.microsoft.com/office/drawing/2014/main" id="{3751DCEB-4BF6-37B0-8B68-82DFC7D2DE0D}"/>
                    </a:ext>
                  </a:extLst>
                </p:cNvPr>
                <p:cNvSpPr txBox="1">
                  <a:spLocks noRot="1" noChangeAspect="1" noMove="1" noResize="1" noEditPoints="1" noAdjustHandles="1" noChangeArrowheads="1" noChangeShapeType="1" noTextEdit="1"/>
                </p:cNvSpPr>
                <p:nvPr/>
              </p:nvSpPr>
              <p:spPr>
                <a:xfrm>
                  <a:off x="7740000" y="3600000"/>
                  <a:ext cx="540000" cy="369332"/>
                </a:xfrm>
                <a:prstGeom prst="rect">
                  <a:avLst/>
                </a:prstGeom>
                <a:blipFill>
                  <a:blip r:embed="rId14"/>
                  <a:stretch>
                    <a:fillRect l="-19318" r="-19318"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A1867970-BAE0-6B9F-F71A-6735620620D1}"/>
                    </a:ext>
                  </a:extLst>
                </p:cNvPr>
                <p:cNvSpPr txBox="1"/>
                <p:nvPr/>
              </p:nvSpPr>
              <p:spPr>
                <a:xfrm>
                  <a:off x="7776000" y="2736000"/>
                  <a:ext cx="54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OE</m:t>
                            </m:r>
                          </m:e>
                        </m:acc>
                      </m:oMath>
                    </m:oMathPara>
                  </a14:m>
                  <a:endParaRPr lang="zh-CN" altLang="en-US" sz="2400" dirty="0">
                    <a:solidFill>
                      <a:schemeClr val="accent5">
                        <a:lumMod val="75000"/>
                      </a:schemeClr>
                    </a:solidFill>
                  </a:endParaRPr>
                </a:p>
              </p:txBody>
            </p:sp>
          </mc:Choice>
          <mc:Fallback xmlns="">
            <p:sp>
              <p:nvSpPr>
                <p:cNvPr id="33" name="文本框 32">
                  <a:extLst>
                    <a:ext uri="{FF2B5EF4-FFF2-40B4-BE49-F238E27FC236}">
                      <a16:creationId xmlns:a16="http://schemas.microsoft.com/office/drawing/2014/main" id="{A1867970-BAE0-6B9F-F71A-6735620620D1}"/>
                    </a:ext>
                  </a:extLst>
                </p:cNvPr>
                <p:cNvSpPr txBox="1">
                  <a:spLocks noRot="1" noChangeAspect="1" noMove="1" noResize="1" noEditPoints="1" noAdjustHandles="1" noChangeArrowheads="1" noChangeShapeType="1" noTextEdit="1"/>
                </p:cNvSpPr>
                <p:nvPr/>
              </p:nvSpPr>
              <p:spPr>
                <a:xfrm>
                  <a:off x="7776000" y="2736000"/>
                  <a:ext cx="540000" cy="360000"/>
                </a:xfrm>
                <a:prstGeom prst="rect">
                  <a:avLst/>
                </a:prstGeom>
                <a:blipFill>
                  <a:blip r:embed="rId15"/>
                  <a:stretch>
                    <a:fillRect l="-4545" r="-5682"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C4984EC7-A6F3-8411-0567-F0E650894A2E}"/>
                    </a:ext>
                  </a:extLst>
                </p:cNvPr>
                <p:cNvSpPr txBox="1"/>
                <p:nvPr/>
              </p:nvSpPr>
              <p:spPr>
                <a:xfrm>
                  <a:off x="10297208" y="2340000"/>
                  <a:ext cx="468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schemeClr val="tx1"/>
                            </a:solidFill>
                            <a:latin typeface="Cambria Math" panose="02040503050406030204" pitchFamily="18" charset="0"/>
                          </a:rPr>
                          <m:t>⋮</m:t>
                        </m:r>
                      </m:oMath>
                    </m:oMathPara>
                  </a14:m>
                  <a:endParaRPr lang="zh-CN" altLang="en-US" sz="2400" dirty="0">
                    <a:solidFill>
                      <a:schemeClr val="tx1"/>
                    </a:solidFill>
                  </a:endParaRPr>
                </a:p>
              </p:txBody>
            </p:sp>
          </mc:Choice>
          <mc:Fallback xmlns="">
            <p:sp>
              <p:nvSpPr>
                <p:cNvPr id="34" name="文本框 33">
                  <a:extLst>
                    <a:ext uri="{FF2B5EF4-FFF2-40B4-BE49-F238E27FC236}">
                      <a16:creationId xmlns:a16="http://schemas.microsoft.com/office/drawing/2014/main" id="{C4984EC7-A6F3-8411-0567-F0E650894A2E}"/>
                    </a:ext>
                  </a:extLst>
                </p:cNvPr>
                <p:cNvSpPr txBox="1">
                  <a:spLocks noRot="1" noChangeAspect="1" noMove="1" noResize="1" noEditPoints="1" noAdjustHandles="1" noChangeArrowheads="1" noChangeShapeType="1" noTextEdit="1"/>
                </p:cNvSpPr>
                <p:nvPr/>
              </p:nvSpPr>
              <p:spPr>
                <a:xfrm>
                  <a:off x="10297208" y="2340000"/>
                  <a:ext cx="468000" cy="360000"/>
                </a:xfrm>
                <a:prstGeom prst="rect">
                  <a:avLst/>
                </a:prstGeom>
                <a:blipFill>
                  <a:blip r:embed="rId16"/>
                  <a:stretch>
                    <a:fillRect b="-67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49393C7F-89C5-C334-891C-E3152EF716D9}"/>
                    </a:ext>
                  </a:extLst>
                </p:cNvPr>
                <p:cNvSpPr txBox="1"/>
                <p:nvPr/>
              </p:nvSpPr>
              <p:spPr>
                <a:xfrm>
                  <a:off x="11233208" y="1764000"/>
                  <a:ext cx="828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D</m:t>
                            </m:r>
                          </m:e>
                          <m:sub>
                            <m:r>
                              <a:rPr lang="en-US" altLang="zh-CN" sz="2400" b="0" i="1" smtClean="0">
                                <a:solidFill>
                                  <a:schemeClr val="accent5">
                                    <a:lumMod val="75000"/>
                                  </a:schemeClr>
                                </a:solidFill>
                                <a:latin typeface="Cambria Math" panose="02040503050406030204" pitchFamily="18" charset="0"/>
                              </a:rPr>
                              <m:t>𝑚</m:t>
                            </m:r>
                            <m:r>
                              <a:rPr lang="en-US" altLang="zh-CN" sz="2400" b="0" i="1" smtClean="0">
                                <a:solidFill>
                                  <a:schemeClr val="accent5">
                                    <a:lumMod val="75000"/>
                                  </a:schemeClr>
                                </a:solidFill>
                                <a:latin typeface="Cambria Math" panose="02040503050406030204" pitchFamily="18" charset="0"/>
                              </a:rPr>
                              <m:t>−1</m:t>
                            </m:r>
                          </m:sub>
                        </m:sSub>
                      </m:oMath>
                    </m:oMathPara>
                  </a14:m>
                  <a:endParaRPr lang="zh-CN" altLang="en-US" sz="2400" dirty="0">
                    <a:solidFill>
                      <a:schemeClr val="accent5">
                        <a:lumMod val="75000"/>
                      </a:schemeClr>
                    </a:solidFill>
                  </a:endParaRPr>
                </a:p>
              </p:txBody>
            </p:sp>
          </mc:Choice>
          <mc:Fallback xmlns="">
            <p:sp>
              <p:nvSpPr>
                <p:cNvPr id="35" name="文本框 34">
                  <a:extLst>
                    <a:ext uri="{FF2B5EF4-FFF2-40B4-BE49-F238E27FC236}">
                      <a16:creationId xmlns:a16="http://schemas.microsoft.com/office/drawing/2014/main" id="{49393C7F-89C5-C334-891C-E3152EF716D9}"/>
                    </a:ext>
                  </a:extLst>
                </p:cNvPr>
                <p:cNvSpPr txBox="1">
                  <a:spLocks noRot="1" noChangeAspect="1" noMove="1" noResize="1" noEditPoints="1" noAdjustHandles="1" noChangeArrowheads="1" noChangeShapeType="1" noTextEdit="1"/>
                </p:cNvSpPr>
                <p:nvPr/>
              </p:nvSpPr>
              <p:spPr>
                <a:xfrm>
                  <a:off x="11233208" y="1764000"/>
                  <a:ext cx="828000" cy="360000"/>
                </a:xfrm>
                <a:prstGeom prst="rect">
                  <a:avLst/>
                </a:prstGeom>
                <a:blipFill>
                  <a:blip r:embed="rId17"/>
                  <a:stretch>
                    <a:fillRect l="-6618" r="-735"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67D04BA5-3529-5486-33F2-1D81BC54BF5F}"/>
                    </a:ext>
                  </a:extLst>
                </p:cNvPr>
                <p:cNvSpPr txBox="1"/>
                <p:nvPr/>
              </p:nvSpPr>
              <p:spPr>
                <a:xfrm>
                  <a:off x="11233208" y="2880000"/>
                  <a:ext cx="54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D</m:t>
                            </m:r>
                          </m:e>
                          <m:sub>
                            <m:r>
                              <a:rPr lang="en-US" altLang="zh-CN" sz="2400" b="0" i="1" smtClean="0">
                                <a:solidFill>
                                  <a:schemeClr val="accent5">
                                    <a:lumMod val="75000"/>
                                  </a:schemeClr>
                                </a:solidFill>
                                <a:latin typeface="Cambria Math" panose="02040503050406030204" pitchFamily="18" charset="0"/>
                              </a:rPr>
                              <m:t>0</m:t>
                            </m:r>
                          </m:sub>
                        </m:sSub>
                      </m:oMath>
                    </m:oMathPara>
                  </a14:m>
                  <a:endParaRPr lang="zh-CN" altLang="en-US" sz="2400" dirty="0">
                    <a:solidFill>
                      <a:schemeClr val="accent5">
                        <a:lumMod val="75000"/>
                      </a:schemeClr>
                    </a:solidFill>
                  </a:endParaRPr>
                </a:p>
              </p:txBody>
            </p:sp>
          </mc:Choice>
          <mc:Fallback xmlns="">
            <p:sp>
              <p:nvSpPr>
                <p:cNvPr id="36" name="文本框 35">
                  <a:extLst>
                    <a:ext uri="{FF2B5EF4-FFF2-40B4-BE49-F238E27FC236}">
                      <a16:creationId xmlns:a16="http://schemas.microsoft.com/office/drawing/2014/main" id="{67D04BA5-3529-5486-33F2-1D81BC54BF5F}"/>
                    </a:ext>
                  </a:extLst>
                </p:cNvPr>
                <p:cNvSpPr txBox="1">
                  <a:spLocks noRot="1" noChangeAspect="1" noMove="1" noResize="1" noEditPoints="1" noAdjustHandles="1" noChangeArrowheads="1" noChangeShapeType="1" noTextEdit="1"/>
                </p:cNvSpPr>
                <p:nvPr/>
              </p:nvSpPr>
              <p:spPr>
                <a:xfrm>
                  <a:off x="11233208" y="2880000"/>
                  <a:ext cx="540000" cy="360000"/>
                </a:xfrm>
                <a:prstGeom prst="rect">
                  <a:avLst/>
                </a:prstGeom>
                <a:blipFill>
                  <a:blip r:embed="rId18"/>
                  <a:stretch>
                    <a:fillRect l="-2273"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88F8DE71-FF65-0C1B-3802-9A4423C19A50}"/>
                    </a:ext>
                  </a:extLst>
                </p:cNvPr>
                <p:cNvSpPr txBox="1"/>
                <p:nvPr/>
              </p:nvSpPr>
              <p:spPr>
                <a:xfrm>
                  <a:off x="8893208" y="3167941"/>
                  <a:ext cx="504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tx1"/>
                            </a:solidFill>
                            <a:latin typeface="Cambria Math" panose="02040503050406030204" pitchFamily="18" charset="0"/>
                          </a:rPr>
                          <m:t>WE</m:t>
                        </m:r>
                      </m:oMath>
                    </m:oMathPara>
                  </a14:m>
                  <a:endParaRPr lang="zh-CN" altLang="en-US" sz="2400" dirty="0">
                    <a:solidFill>
                      <a:schemeClr val="tx1"/>
                    </a:solidFill>
                  </a:endParaRPr>
                </a:p>
              </p:txBody>
            </p:sp>
          </mc:Choice>
          <mc:Fallback xmlns="">
            <p:sp>
              <p:nvSpPr>
                <p:cNvPr id="37" name="文本框 36">
                  <a:extLst>
                    <a:ext uri="{FF2B5EF4-FFF2-40B4-BE49-F238E27FC236}">
                      <a16:creationId xmlns:a16="http://schemas.microsoft.com/office/drawing/2014/main" id="{88F8DE71-FF65-0C1B-3802-9A4423C19A50}"/>
                    </a:ext>
                  </a:extLst>
                </p:cNvPr>
                <p:cNvSpPr txBox="1">
                  <a:spLocks noRot="1" noChangeAspect="1" noMove="1" noResize="1" noEditPoints="1" noAdjustHandles="1" noChangeArrowheads="1" noChangeShapeType="1" noTextEdit="1"/>
                </p:cNvSpPr>
                <p:nvPr/>
              </p:nvSpPr>
              <p:spPr>
                <a:xfrm>
                  <a:off x="8893208" y="3167941"/>
                  <a:ext cx="504000" cy="360000"/>
                </a:xfrm>
                <a:prstGeom prst="rect">
                  <a:avLst/>
                </a:prstGeom>
                <a:blipFill>
                  <a:blip r:embed="rId19"/>
                  <a:stretch>
                    <a:fillRect l="-16867" r="-15663" b="-8475"/>
                  </a:stretch>
                </a:blipFill>
              </p:spPr>
              <p:txBody>
                <a:bodyPr/>
                <a:lstStyle/>
                <a:p>
                  <a:r>
                    <a:rPr lang="zh-CN" altLang="en-US">
                      <a:noFill/>
                    </a:rPr>
                    <a:t> </a:t>
                  </a:r>
                </a:p>
              </p:txBody>
            </p:sp>
          </mc:Fallback>
        </mc:AlternateContent>
        <p:cxnSp>
          <p:nvCxnSpPr>
            <p:cNvPr id="38" name="直接连接符 37">
              <a:extLst>
                <a:ext uri="{FF2B5EF4-FFF2-40B4-BE49-F238E27FC236}">
                  <a16:creationId xmlns:a16="http://schemas.microsoft.com/office/drawing/2014/main" id="{4B6B18D5-2620-E464-A5D1-19F12535BDCC}"/>
                </a:ext>
              </a:extLst>
            </p:cNvPr>
            <p:cNvCxnSpPr>
              <a:cxnSpLocks/>
            </p:cNvCxnSpPr>
            <p:nvPr/>
          </p:nvCxnSpPr>
          <p:spPr>
            <a:xfrm>
              <a:off x="8316000" y="4212000"/>
              <a:ext cx="50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943566B2-9A07-A54F-3676-BFA91674A4D1}"/>
                    </a:ext>
                  </a:extLst>
                </p:cNvPr>
                <p:cNvSpPr txBox="1"/>
                <p:nvPr/>
              </p:nvSpPr>
              <p:spPr>
                <a:xfrm>
                  <a:off x="8856000" y="4032000"/>
                  <a:ext cx="648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tx1"/>
                            </a:solidFill>
                            <a:latin typeface="Cambria Math" panose="02040503050406030204" pitchFamily="18" charset="0"/>
                          </a:rPr>
                          <m:t>CAS</m:t>
                        </m:r>
                      </m:oMath>
                    </m:oMathPara>
                  </a14:m>
                  <a:endParaRPr lang="zh-CN" altLang="en-US" sz="2400" dirty="0">
                    <a:solidFill>
                      <a:schemeClr val="tx1"/>
                    </a:solidFill>
                  </a:endParaRPr>
                </a:p>
              </p:txBody>
            </p:sp>
          </mc:Choice>
          <mc:Fallback xmlns="">
            <p:sp>
              <p:nvSpPr>
                <p:cNvPr id="39" name="文本框 38">
                  <a:extLst>
                    <a:ext uri="{FF2B5EF4-FFF2-40B4-BE49-F238E27FC236}">
                      <a16:creationId xmlns:a16="http://schemas.microsoft.com/office/drawing/2014/main" id="{943566B2-9A07-A54F-3676-BFA91674A4D1}"/>
                    </a:ext>
                  </a:extLst>
                </p:cNvPr>
                <p:cNvSpPr txBox="1">
                  <a:spLocks noRot="1" noChangeAspect="1" noMove="1" noResize="1" noEditPoints="1" noAdjustHandles="1" noChangeArrowheads="1" noChangeShapeType="1" noTextEdit="1"/>
                </p:cNvSpPr>
                <p:nvPr/>
              </p:nvSpPr>
              <p:spPr>
                <a:xfrm>
                  <a:off x="8856000" y="4032000"/>
                  <a:ext cx="648000" cy="369332"/>
                </a:xfrm>
                <a:prstGeom prst="rect">
                  <a:avLst/>
                </a:prstGeom>
                <a:blipFill>
                  <a:blip r:embed="rId20"/>
                  <a:stretch>
                    <a:fillRect l="-6604" r="-5660" b="-6557"/>
                  </a:stretch>
                </a:blipFill>
              </p:spPr>
              <p:txBody>
                <a:bodyPr/>
                <a:lstStyle/>
                <a:p>
                  <a:r>
                    <a:rPr lang="zh-CN" altLang="en-US">
                      <a:noFill/>
                    </a:rPr>
                    <a:t> </a:t>
                  </a:r>
                </a:p>
              </p:txBody>
            </p:sp>
          </mc:Fallback>
        </mc:AlternateContent>
        <p:sp>
          <p:nvSpPr>
            <p:cNvPr id="40" name="椭圆 39">
              <a:extLst>
                <a:ext uri="{FF2B5EF4-FFF2-40B4-BE49-F238E27FC236}">
                  <a16:creationId xmlns:a16="http://schemas.microsoft.com/office/drawing/2014/main" id="{4315F7FE-CFC8-92B6-5CD5-A7975291E224}"/>
                </a:ext>
              </a:extLst>
            </p:cNvPr>
            <p:cNvSpPr/>
            <p:nvPr/>
          </p:nvSpPr>
          <p:spPr>
            <a:xfrm>
              <a:off x="8697600" y="4158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E2AEB8BC-A81B-DC83-ED2E-071996ED1ED9}"/>
                    </a:ext>
                  </a:extLst>
                </p:cNvPr>
                <p:cNvSpPr txBox="1"/>
                <p:nvPr/>
              </p:nvSpPr>
              <p:spPr>
                <a:xfrm>
                  <a:off x="7740000" y="4032000"/>
                  <a:ext cx="540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b="0" i="0" smtClean="0">
                                <a:solidFill>
                                  <a:schemeClr val="accent5">
                                    <a:lumMod val="75000"/>
                                  </a:schemeClr>
                                </a:solidFill>
                                <a:latin typeface="Cambria Math" panose="02040503050406030204" pitchFamily="18" charset="0"/>
                              </a:rPr>
                              <m:t>CAS</m:t>
                            </m:r>
                          </m:e>
                        </m:acc>
                      </m:oMath>
                    </m:oMathPara>
                  </a14:m>
                  <a:endParaRPr lang="zh-CN" altLang="en-US" sz="2400" dirty="0">
                    <a:solidFill>
                      <a:schemeClr val="accent5">
                        <a:lumMod val="75000"/>
                      </a:schemeClr>
                    </a:solidFill>
                  </a:endParaRPr>
                </a:p>
              </p:txBody>
            </p:sp>
          </mc:Choice>
          <mc:Fallback xmlns="">
            <p:sp>
              <p:nvSpPr>
                <p:cNvPr id="41" name="文本框 40">
                  <a:extLst>
                    <a:ext uri="{FF2B5EF4-FFF2-40B4-BE49-F238E27FC236}">
                      <a16:creationId xmlns:a16="http://schemas.microsoft.com/office/drawing/2014/main" id="{E2AEB8BC-A81B-DC83-ED2E-071996ED1ED9}"/>
                    </a:ext>
                  </a:extLst>
                </p:cNvPr>
                <p:cNvSpPr txBox="1">
                  <a:spLocks noRot="1" noChangeAspect="1" noMove="1" noResize="1" noEditPoints="1" noAdjustHandles="1" noChangeArrowheads="1" noChangeShapeType="1" noTextEdit="1"/>
                </p:cNvSpPr>
                <p:nvPr/>
              </p:nvSpPr>
              <p:spPr>
                <a:xfrm>
                  <a:off x="7740000" y="4032000"/>
                  <a:ext cx="540000" cy="369332"/>
                </a:xfrm>
                <a:prstGeom prst="rect">
                  <a:avLst/>
                </a:prstGeom>
                <a:blipFill>
                  <a:blip r:embed="rId21"/>
                  <a:stretch>
                    <a:fillRect l="-18182" r="-17045" b="-6557"/>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756096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93D73-99AA-547A-D30E-845BC17EC576}"/>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F076B4A5-B970-59D2-EF29-DD17B32C4982}"/>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3F671A9C-20DF-8C56-C52D-A4B73D361FB7}"/>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7A087D85-B711-F59D-7369-C573E43464CF}"/>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7FA03723-689A-A9BF-6494-BE84E2FF7AB9}"/>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EAC1CE12-26D9-A993-37BB-3C05747F533D}"/>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16</a:t>
              </a:fld>
              <a:endParaRPr lang="zh-CN" altLang="en-US" sz="3200" dirty="0">
                <a:solidFill>
                  <a:schemeClr val="bg1"/>
                </a:solidFill>
                <a:latin typeface="Candara"/>
                <a:ea typeface="微软雅黑"/>
              </a:endParaRPr>
            </a:p>
          </p:txBody>
        </p:sp>
      </p:grpSp>
      <p:sp>
        <p:nvSpPr>
          <p:cNvPr id="15" name="文本框 14">
            <a:extLst>
              <a:ext uri="{FF2B5EF4-FFF2-40B4-BE49-F238E27FC236}">
                <a16:creationId xmlns:a16="http://schemas.microsoft.com/office/drawing/2014/main" id="{E303C08B-A0D4-76E9-8406-94C596327CAF}"/>
              </a:ext>
            </a:extLst>
          </p:cNvPr>
          <p:cNvSpPr txBox="1"/>
          <p:nvPr/>
        </p:nvSpPr>
        <p:spPr>
          <a:xfrm>
            <a:off x="360000" y="828000"/>
            <a:ext cx="4281563" cy="56560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DRAM</a:t>
            </a:r>
            <a:r>
              <a:rPr kumimoji="1" lang="zh-CN" altLang="en-US" sz="2800" dirty="0">
                <a:solidFill>
                  <a:srgbClr val="002060"/>
                </a:solidFill>
                <a:latin typeface="微软雅黑" panose="020B0503020204020204" pitchFamily="34" charset="-122"/>
                <a:ea typeface="微软雅黑" panose="020B0503020204020204" pitchFamily="34" charset="-122"/>
              </a:rPr>
              <a:t> 的基本结构</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p:sp>
        <p:nvSpPr>
          <p:cNvPr id="13" name="标题 1">
            <a:extLst>
              <a:ext uri="{FF2B5EF4-FFF2-40B4-BE49-F238E27FC236}">
                <a16:creationId xmlns:a16="http://schemas.microsoft.com/office/drawing/2014/main" id="{B3EFA117-6192-A253-9E27-FC792D390946}"/>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半导体存储器 </a:t>
            </a:r>
            <a:r>
              <a:rPr lang="en-US" altLang="zh-CN" sz="3000" dirty="0"/>
              <a:t>—— </a:t>
            </a:r>
            <a:r>
              <a:rPr lang="zh-CN" altLang="en-US" sz="3000" dirty="0">
                <a:solidFill>
                  <a:srgbClr val="FFFF00"/>
                </a:solidFill>
              </a:rPr>
              <a:t>随机存储器（</a:t>
            </a:r>
            <a:r>
              <a:rPr lang="en-US" altLang="zh-CN" sz="3000" dirty="0">
                <a:solidFill>
                  <a:srgbClr val="FFFF00"/>
                </a:solidFill>
              </a:rPr>
              <a:t>RAM</a:t>
            </a:r>
            <a:r>
              <a:rPr lang="zh-CN" altLang="en-US" sz="3000" dirty="0">
                <a:solidFill>
                  <a:srgbClr val="FFFF00"/>
                </a:solidFill>
              </a:rPr>
              <a:t>）</a:t>
            </a:r>
            <a:endParaRPr lang="en-US" altLang="zh-CN" sz="3000" dirty="0"/>
          </a:p>
        </p:txBody>
      </p:sp>
      <p:grpSp>
        <p:nvGrpSpPr>
          <p:cNvPr id="27" name="组合 26">
            <a:extLst>
              <a:ext uri="{FF2B5EF4-FFF2-40B4-BE49-F238E27FC236}">
                <a16:creationId xmlns:a16="http://schemas.microsoft.com/office/drawing/2014/main" id="{CA5567FE-C3C7-31A3-7F9C-1DBF7CAC28A0}"/>
              </a:ext>
            </a:extLst>
          </p:cNvPr>
          <p:cNvGrpSpPr/>
          <p:nvPr/>
        </p:nvGrpSpPr>
        <p:grpSpPr>
          <a:xfrm>
            <a:off x="432000" y="1404000"/>
            <a:ext cx="11556000" cy="4986000"/>
            <a:chOff x="432000" y="1404000"/>
            <a:chExt cx="11556000" cy="4986000"/>
          </a:xfrm>
        </p:grpSpPr>
        <p:sp>
          <p:nvSpPr>
            <p:cNvPr id="69" name="箭头: 右 68">
              <a:extLst>
                <a:ext uri="{FF2B5EF4-FFF2-40B4-BE49-F238E27FC236}">
                  <a16:creationId xmlns:a16="http://schemas.microsoft.com/office/drawing/2014/main" id="{F929CD58-539A-FA7F-DCE0-CE34B261E20C}"/>
                </a:ext>
              </a:extLst>
            </p:cNvPr>
            <p:cNvSpPr/>
            <p:nvPr/>
          </p:nvSpPr>
          <p:spPr>
            <a:xfrm>
              <a:off x="5868000" y="4392000"/>
              <a:ext cx="1764000" cy="360000"/>
            </a:xfrm>
            <a:prstGeom prst="rightArrow">
              <a:avLst>
                <a:gd name="adj1" fmla="val 46957"/>
                <a:gd name="adj2" fmla="val 50000"/>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77" name="直接连接符 76">
              <a:extLst>
                <a:ext uri="{FF2B5EF4-FFF2-40B4-BE49-F238E27FC236}">
                  <a16:creationId xmlns:a16="http://schemas.microsoft.com/office/drawing/2014/main" id="{9534A455-21F4-3A7A-5868-F644F3BF37AA}"/>
                </a:ext>
              </a:extLst>
            </p:cNvPr>
            <p:cNvCxnSpPr>
              <a:cxnSpLocks/>
              <a:stCxn id="55" idx="0"/>
            </p:cNvCxnSpPr>
            <p:nvPr/>
          </p:nvCxnSpPr>
          <p:spPr>
            <a:xfrm flipH="1">
              <a:off x="9862578" y="5130000"/>
              <a:ext cx="0" cy="108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E70D9621-B808-8A70-E160-2B313E63F525}"/>
                </a:ext>
              </a:extLst>
            </p:cNvPr>
            <p:cNvCxnSpPr>
              <a:cxnSpLocks/>
            </p:cNvCxnSpPr>
            <p:nvPr/>
          </p:nvCxnSpPr>
          <p:spPr>
            <a:xfrm flipH="1">
              <a:off x="9557999" y="5130000"/>
              <a:ext cx="0" cy="72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E01A358B-338C-5B5C-1FE7-817646D7CE7C}"/>
                </a:ext>
              </a:extLst>
            </p:cNvPr>
            <p:cNvCxnSpPr>
              <a:cxnSpLocks/>
              <a:stCxn id="53" idx="0"/>
            </p:cNvCxnSpPr>
            <p:nvPr/>
          </p:nvCxnSpPr>
          <p:spPr>
            <a:xfrm flipH="1">
              <a:off x="9250578" y="5129999"/>
              <a:ext cx="0" cy="5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320A67F-0450-DD63-77CE-A9B56FE20EA6}"/>
                </a:ext>
              </a:extLst>
            </p:cNvPr>
            <p:cNvCxnSpPr>
              <a:cxnSpLocks/>
            </p:cNvCxnSpPr>
            <p:nvPr/>
          </p:nvCxnSpPr>
          <p:spPr>
            <a:xfrm>
              <a:off x="2880000" y="1619999"/>
              <a:ext cx="0" cy="405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0D756182-8F7E-8070-8DAA-C2DAFCC4FE09}"/>
                </a:ext>
              </a:extLst>
            </p:cNvPr>
            <p:cNvCxnSpPr>
              <a:cxnSpLocks/>
              <a:stCxn id="54" idx="0"/>
            </p:cNvCxnSpPr>
            <p:nvPr/>
          </p:nvCxnSpPr>
          <p:spPr>
            <a:xfrm flipH="1">
              <a:off x="8944578" y="5129999"/>
              <a:ext cx="0" cy="3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E2B4AB10-57DC-A4BA-E1CA-4399E4CDD293}"/>
                </a:ext>
              </a:extLst>
            </p:cNvPr>
            <p:cNvSpPr/>
            <p:nvPr/>
          </p:nvSpPr>
          <p:spPr>
            <a:xfrm>
              <a:off x="4212000" y="1404000"/>
              <a:ext cx="1656000" cy="432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刷新控制及定时</a:t>
              </a:r>
            </a:p>
          </p:txBody>
        </p:sp>
        <p:sp>
          <p:nvSpPr>
            <p:cNvPr id="9" name="矩形 8">
              <a:extLst>
                <a:ext uri="{FF2B5EF4-FFF2-40B4-BE49-F238E27FC236}">
                  <a16:creationId xmlns:a16="http://schemas.microsoft.com/office/drawing/2014/main" id="{21D9926D-A44B-652C-4243-3D8FF11C0553}"/>
                </a:ext>
              </a:extLst>
            </p:cNvPr>
            <p:cNvSpPr/>
            <p:nvPr/>
          </p:nvSpPr>
          <p:spPr>
            <a:xfrm>
              <a:off x="4212000" y="2124000"/>
              <a:ext cx="1656000" cy="648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刷新计数器</a:t>
              </a:r>
            </a:p>
          </p:txBody>
        </p:sp>
        <p:sp>
          <p:nvSpPr>
            <p:cNvPr id="18" name="矩形 17">
              <a:extLst>
                <a:ext uri="{FF2B5EF4-FFF2-40B4-BE49-F238E27FC236}">
                  <a16:creationId xmlns:a16="http://schemas.microsoft.com/office/drawing/2014/main" id="{488A8156-0A55-9E2C-F595-B55429DE6CAC}"/>
                </a:ext>
              </a:extLst>
            </p:cNvPr>
            <p:cNvSpPr/>
            <p:nvPr/>
          </p:nvSpPr>
          <p:spPr>
            <a:xfrm>
              <a:off x="7632000" y="4032000"/>
              <a:ext cx="468000" cy="1080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列译码</a:t>
              </a:r>
            </a:p>
          </p:txBody>
        </p:sp>
        <p:cxnSp>
          <p:nvCxnSpPr>
            <p:cNvPr id="21" name="直接箭头连接符 20">
              <a:extLst>
                <a:ext uri="{FF2B5EF4-FFF2-40B4-BE49-F238E27FC236}">
                  <a16:creationId xmlns:a16="http://schemas.microsoft.com/office/drawing/2014/main" id="{64204BD0-A82D-A717-8076-F42B0104131F}"/>
                </a:ext>
              </a:extLst>
            </p:cNvPr>
            <p:cNvCxnSpPr>
              <a:cxnSpLocks/>
            </p:cNvCxnSpPr>
            <p:nvPr/>
          </p:nvCxnSpPr>
          <p:spPr>
            <a:xfrm>
              <a:off x="5400000" y="1836000"/>
              <a:ext cx="0" cy="2880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A2680299-7375-4C4B-79F4-526DBF9B4AF1}"/>
                </a:ext>
              </a:extLst>
            </p:cNvPr>
            <p:cNvCxnSpPr>
              <a:cxnSpLocks/>
            </p:cNvCxnSpPr>
            <p:nvPr/>
          </p:nvCxnSpPr>
          <p:spPr>
            <a:xfrm flipV="1">
              <a:off x="4680000" y="1836000"/>
              <a:ext cx="0" cy="2880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B8BC8F0F-BAE7-FDB5-3291-1AC8BB65BEA0}"/>
                </a:ext>
              </a:extLst>
            </p:cNvPr>
            <p:cNvCxnSpPr>
              <a:cxnSpLocks/>
            </p:cNvCxnSpPr>
            <p:nvPr/>
          </p:nvCxnSpPr>
          <p:spPr>
            <a:xfrm flipH="1">
              <a:off x="2880000" y="1620000"/>
              <a:ext cx="133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椭圆 40">
              <a:extLst>
                <a:ext uri="{FF2B5EF4-FFF2-40B4-BE49-F238E27FC236}">
                  <a16:creationId xmlns:a16="http://schemas.microsoft.com/office/drawing/2014/main" id="{936E9C7A-3751-38A0-75E5-163E3D509015}"/>
                </a:ext>
              </a:extLst>
            </p:cNvPr>
            <p:cNvSpPr/>
            <p:nvPr/>
          </p:nvSpPr>
          <p:spPr>
            <a:xfrm>
              <a:off x="3420000" y="4752000"/>
              <a:ext cx="108000" cy="108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4" name="直接连接符 43">
              <a:extLst>
                <a:ext uri="{FF2B5EF4-FFF2-40B4-BE49-F238E27FC236}">
                  <a16:creationId xmlns:a16="http://schemas.microsoft.com/office/drawing/2014/main" id="{755C700B-0ABA-0FF9-282A-2D2D05FD35F8}"/>
                </a:ext>
              </a:extLst>
            </p:cNvPr>
            <p:cNvCxnSpPr>
              <a:cxnSpLocks/>
            </p:cNvCxnSpPr>
            <p:nvPr/>
          </p:nvCxnSpPr>
          <p:spPr>
            <a:xfrm flipH="1" flipV="1">
              <a:off x="2448000" y="4806000"/>
              <a:ext cx="1764000" cy="142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椭圆 38">
              <a:extLst>
                <a:ext uri="{FF2B5EF4-FFF2-40B4-BE49-F238E27FC236}">
                  <a16:creationId xmlns:a16="http://schemas.microsoft.com/office/drawing/2014/main" id="{49D5FAB0-ADB5-C926-CE15-0AEC5FDE484D}"/>
                </a:ext>
              </a:extLst>
            </p:cNvPr>
            <p:cNvSpPr/>
            <p:nvPr/>
          </p:nvSpPr>
          <p:spPr>
            <a:xfrm>
              <a:off x="4086000" y="475200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48" name="直接连接符 47">
              <a:extLst>
                <a:ext uri="{FF2B5EF4-FFF2-40B4-BE49-F238E27FC236}">
                  <a16:creationId xmlns:a16="http://schemas.microsoft.com/office/drawing/2014/main" id="{AEF2D11E-00CA-135C-C3BD-8DF1C0685714}"/>
                </a:ext>
              </a:extLst>
            </p:cNvPr>
            <p:cNvCxnSpPr>
              <a:cxnSpLocks/>
            </p:cNvCxnSpPr>
            <p:nvPr/>
          </p:nvCxnSpPr>
          <p:spPr>
            <a:xfrm>
              <a:off x="3474000" y="4805999"/>
              <a:ext cx="0" cy="684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8CBE6230-08F1-16EA-C020-20F58510AC96}"/>
                </a:ext>
              </a:extLst>
            </p:cNvPr>
            <p:cNvCxnSpPr>
              <a:cxnSpLocks/>
            </p:cNvCxnSpPr>
            <p:nvPr/>
          </p:nvCxnSpPr>
          <p:spPr>
            <a:xfrm flipH="1">
              <a:off x="3474000" y="5490000"/>
              <a:ext cx="547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椭圆 51">
              <a:extLst>
                <a:ext uri="{FF2B5EF4-FFF2-40B4-BE49-F238E27FC236}">
                  <a16:creationId xmlns:a16="http://schemas.microsoft.com/office/drawing/2014/main" id="{EF18C9DD-57C9-62C1-BE71-8321E146F338}"/>
                </a:ext>
              </a:extLst>
            </p:cNvPr>
            <p:cNvSpPr/>
            <p:nvPr/>
          </p:nvSpPr>
          <p:spPr>
            <a:xfrm>
              <a:off x="9504000" y="513000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53" name="椭圆 52">
              <a:extLst>
                <a:ext uri="{FF2B5EF4-FFF2-40B4-BE49-F238E27FC236}">
                  <a16:creationId xmlns:a16="http://schemas.microsoft.com/office/drawing/2014/main" id="{12C747AC-7787-6CA3-BFB8-84A172225EC1}"/>
                </a:ext>
              </a:extLst>
            </p:cNvPr>
            <p:cNvSpPr/>
            <p:nvPr/>
          </p:nvSpPr>
          <p:spPr>
            <a:xfrm>
              <a:off x="9198000" y="513000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54" name="椭圆 53">
              <a:extLst>
                <a:ext uri="{FF2B5EF4-FFF2-40B4-BE49-F238E27FC236}">
                  <a16:creationId xmlns:a16="http://schemas.microsoft.com/office/drawing/2014/main" id="{47373BC8-8779-026C-5395-DD46CDF273C1}"/>
                </a:ext>
              </a:extLst>
            </p:cNvPr>
            <p:cNvSpPr/>
            <p:nvPr/>
          </p:nvSpPr>
          <p:spPr>
            <a:xfrm>
              <a:off x="8892000" y="513000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55" name="椭圆 54">
              <a:extLst>
                <a:ext uri="{FF2B5EF4-FFF2-40B4-BE49-F238E27FC236}">
                  <a16:creationId xmlns:a16="http://schemas.microsoft.com/office/drawing/2014/main" id="{1779064C-D529-BA6B-62D6-0836E015AD28}"/>
                </a:ext>
              </a:extLst>
            </p:cNvPr>
            <p:cNvSpPr/>
            <p:nvPr/>
          </p:nvSpPr>
          <p:spPr>
            <a:xfrm>
              <a:off x="9810000" y="513000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63" name="直接连接符 62">
              <a:extLst>
                <a:ext uri="{FF2B5EF4-FFF2-40B4-BE49-F238E27FC236}">
                  <a16:creationId xmlns:a16="http://schemas.microsoft.com/office/drawing/2014/main" id="{4D8C6227-BAAE-ABA3-72A9-98B8159BBD95}"/>
                </a:ext>
              </a:extLst>
            </p:cNvPr>
            <p:cNvCxnSpPr>
              <a:cxnSpLocks/>
            </p:cNvCxnSpPr>
            <p:nvPr/>
          </p:nvCxnSpPr>
          <p:spPr>
            <a:xfrm flipH="1">
              <a:off x="2879999" y="5670000"/>
              <a:ext cx="637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F16CEB3A-07B2-4AF2-BA2D-5FAB1A943FAA}"/>
                </a:ext>
              </a:extLst>
            </p:cNvPr>
            <p:cNvCxnSpPr>
              <a:cxnSpLocks/>
            </p:cNvCxnSpPr>
            <p:nvPr/>
          </p:nvCxnSpPr>
          <p:spPr>
            <a:xfrm flipH="1">
              <a:off x="2448000" y="5850000"/>
              <a:ext cx="711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D196FF1C-AE02-0D7A-63FD-F474AD5ED14B}"/>
                </a:ext>
              </a:extLst>
            </p:cNvPr>
            <p:cNvCxnSpPr>
              <a:cxnSpLocks/>
            </p:cNvCxnSpPr>
            <p:nvPr/>
          </p:nvCxnSpPr>
          <p:spPr>
            <a:xfrm flipH="1">
              <a:off x="2448000" y="6210000"/>
              <a:ext cx="74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4A814C5E-50E3-7183-B6F6-2C59860D8E33}"/>
                </a:ext>
              </a:extLst>
            </p:cNvPr>
            <p:cNvCxnSpPr>
              <a:cxnSpLocks/>
            </p:cNvCxnSpPr>
            <p:nvPr/>
          </p:nvCxnSpPr>
          <p:spPr>
            <a:xfrm flipH="1">
              <a:off x="2448000" y="3006000"/>
              <a:ext cx="176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椭圆 92">
              <a:extLst>
                <a:ext uri="{FF2B5EF4-FFF2-40B4-BE49-F238E27FC236}">
                  <a16:creationId xmlns:a16="http://schemas.microsoft.com/office/drawing/2014/main" id="{0C31243F-B199-B60F-10AD-468EF01EDCBB}"/>
                </a:ext>
              </a:extLst>
            </p:cNvPr>
            <p:cNvSpPr/>
            <p:nvPr/>
          </p:nvSpPr>
          <p:spPr>
            <a:xfrm>
              <a:off x="4086000" y="295200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94" name="椭圆 93">
              <a:extLst>
                <a:ext uri="{FF2B5EF4-FFF2-40B4-BE49-F238E27FC236}">
                  <a16:creationId xmlns:a16="http://schemas.microsoft.com/office/drawing/2014/main" id="{85CED55D-A14E-6F01-097D-6237A31899DD}"/>
                </a:ext>
              </a:extLst>
            </p:cNvPr>
            <p:cNvSpPr/>
            <p:nvPr/>
          </p:nvSpPr>
          <p:spPr>
            <a:xfrm>
              <a:off x="2826000" y="2952000"/>
              <a:ext cx="108000" cy="108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96" name="文本框 95">
                  <a:extLst>
                    <a:ext uri="{FF2B5EF4-FFF2-40B4-BE49-F238E27FC236}">
                      <a16:creationId xmlns:a16="http://schemas.microsoft.com/office/drawing/2014/main" id="{120F2F35-73F7-4EB1-533C-CCFBD866F604}"/>
                    </a:ext>
                  </a:extLst>
                </p:cNvPr>
                <p:cNvSpPr txBox="1"/>
                <p:nvPr/>
              </p:nvSpPr>
              <p:spPr>
                <a:xfrm>
                  <a:off x="432000" y="2826000"/>
                  <a:ext cx="1979719" cy="360000"/>
                </a:xfrm>
                <a:prstGeom prst="rect">
                  <a:avLst/>
                </a:prstGeom>
                <a:noFill/>
              </p:spPr>
              <p:txBody>
                <a:bodyPr wrap="square">
                  <a:spAutoFit/>
                </a:bodyPr>
                <a:lstStyle/>
                <a:p>
                  <a:pPr algn="r"/>
                  <a:r>
                    <a:rPr kumimoji="1" lang="zh-CN" altLang="en-US" sz="1800" dirty="0">
                      <a:solidFill>
                        <a:schemeClr val="accent5">
                          <a:lumMod val="75000"/>
                        </a:schemeClr>
                      </a:solidFill>
                      <a:latin typeface="微软雅黑" panose="020B0503020204020204" pitchFamily="34" charset="-122"/>
                      <a:ea typeface="微软雅黑" panose="020B0503020204020204" pitchFamily="34" charset="-122"/>
                    </a:rPr>
                    <a:t>行地址选通 </a:t>
                  </a:r>
                  <a14:m>
                    <m:oMath xmlns:m="http://schemas.openxmlformats.org/officeDocument/2006/math">
                      <m:acc>
                        <m:accPr>
                          <m:chr m:val="̅"/>
                          <m:ctrlPr>
                            <a:rPr kumimoji="1" lang="en-US" altLang="zh-CN"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a:solidFill>
                                <a:schemeClr val="accent5">
                                  <a:lumMod val="75000"/>
                                </a:schemeClr>
                              </a:solidFill>
                              <a:latin typeface="Cambria Math" panose="02040503050406030204" pitchFamily="18" charset="0"/>
                              <a:ea typeface="微软雅黑" panose="020B0503020204020204" pitchFamily="34" charset="-122"/>
                            </a:rPr>
                            <m:t>RAS</m:t>
                          </m:r>
                        </m:e>
                      </m:acc>
                    </m:oMath>
                  </a14:m>
                  <a:endParaRPr lang="zh-CN" altLang="en-US" dirty="0"/>
                </a:p>
              </p:txBody>
            </p:sp>
          </mc:Choice>
          <mc:Fallback xmlns="">
            <p:sp>
              <p:nvSpPr>
                <p:cNvPr id="96" name="文本框 95">
                  <a:extLst>
                    <a:ext uri="{FF2B5EF4-FFF2-40B4-BE49-F238E27FC236}">
                      <a16:creationId xmlns:a16="http://schemas.microsoft.com/office/drawing/2014/main" id="{120F2F35-73F7-4EB1-533C-CCFBD866F604}"/>
                    </a:ext>
                  </a:extLst>
                </p:cNvPr>
                <p:cNvSpPr txBox="1">
                  <a:spLocks noRot="1" noChangeAspect="1" noMove="1" noResize="1" noEditPoints="1" noAdjustHandles="1" noChangeArrowheads="1" noChangeShapeType="1" noTextEdit="1"/>
                </p:cNvSpPr>
                <p:nvPr/>
              </p:nvSpPr>
              <p:spPr>
                <a:xfrm>
                  <a:off x="432000" y="2826000"/>
                  <a:ext cx="1979719" cy="360000"/>
                </a:xfrm>
                <a:prstGeom prst="rect">
                  <a:avLst/>
                </a:prstGeom>
                <a:blipFill>
                  <a:blip r:embed="rId3"/>
                  <a:stretch>
                    <a:fillRect t="-11864" b="-271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7" name="文本框 96">
                  <a:extLst>
                    <a:ext uri="{FF2B5EF4-FFF2-40B4-BE49-F238E27FC236}">
                      <a16:creationId xmlns:a16="http://schemas.microsoft.com/office/drawing/2014/main" id="{0BC24BE6-48C0-479C-0C9D-9D4135CDD1EC}"/>
                    </a:ext>
                  </a:extLst>
                </p:cNvPr>
                <p:cNvSpPr txBox="1"/>
                <p:nvPr/>
              </p:nvSpPr>
              <p:spPr>
                <a:xfrm>
                  <a:off x="1044000" y="3168000"/>
                  <a:ext cx="1332000" cy="360000"/>
                </a:xfrm>
                <a:prstGeom prst="rect">
                  <a:avLst/>
                </a:prstGeom>
                <a:noFill/>
              </p:spPr>
              <p:txBody>
                <a:bodyPr wrap="square">
                  <a:spAutoFit/>
                </a:bodyPr>
                <a:lstStyle/>
                <a:p>
                  <a:pPr algn="r"/>
                  <a:r>
                    <a:rPr kumimoji="1" lang="zh-CN" altLang="en-US" dirty="0">
                      <a:solidFill>
                        <a:schemeClr val="accent5">
                          <a:lumMod val="75000"/>
                        </a:schemeClr>
                      </a:solidFill>
                      <a:latin typeface="微软雅黑" panose="020B0503020204020204" pitchFamily="34" charset="-122"/>
                      <a:ea typeface="微软雅黑" panose="020B0503020204020204" pitchFamily="34" charset="-122"/>
                    </a:rPr>
                    <a:t>地址 </a:t>
                  </a:r>
                  <a14:m>
                    <m:oMath xmlns:m="http://schemas.openxmlformats.org/officeDocument/2006/math">
                      <m:r>
                        <m:rPr>
                          <m:sty m:val="p"/>
                        </m:rPr>
                        <a:rPr kumimoji="1" lang="en-US" altLang="zh-CN" sz="1800" b="0" i="0" smtClean="0">
                          <a:solidFill>
                            <a:schemeClr val="accent5">
                              <a:lumMod val="75000"/>
                            </a:schemeClr>
                          </a:solidFill>
                          <a:latin typeface="Cambria Math" panose="02040503050406030204" pitchFamily="18" charset="0"/>
                          <a:ea typeface="微软雅黑" panose="020B0503020204020204" pitchFamily="34" charset="-122"/>
                        </a:rPr>
                        <m:t>A</m:t>
                      </m:r>
                    </m:oMath>
                  </a14:m>
                  <a:endParaRPr kumimoji="1" lang="en-US" altLang="zh-CN" sz="18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97" name="文本框 96">
                  <a:extLst>
                    <a:ext uri="{FF2B5EF4-FFF2-40B4-BE49-F238E27FC236}">
                      <a16:creationId xmlns:a16="http://schemas.microsoft.com/office/drawing/2014/main" id="{0BC24BE6-48C0-479C-0C9D-9D4135CDD1EC}"/>
                    </a:ext>
                  </a:extLst>
                </p:cNvPr>
                <p:cNvSpPr txBox="1">
                  <a:spLocks noRot="1" noChangeAspect="1" noMove="1" noResize="1" noEditPoints="1" noAdjustHandles="1" noChangeArrowheads="1" noChangeShapeType="1" noTextEdit="1"/>
                </p:cNvSpPr>
                <p:nvPr/>
              </p:nvSpPr>
              <p:spPr>
                <a:xfrm>
                  <a:off x="1044000" y="3168000"/>
                  <a:ext cx="1332000" cy="360000"/>
                </a:xfrm>
                <a:prstGeom prst="rect">
                  <a:avLst/>
                </a:prstGeom>
                <a:blipFill>
                  <a:blip r:embed="rId4"/>
                  <a:stretch>
                    <a:fillRect t="-10169" b="-288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8" name="文本框 97">
                  <a:extLst>
                    <a:ext uri="{FF2B5EF4-FFF2-40B4-BE49-F238E27FC236}">
                      <a16:creationId xmlns:a16="http://schemas.microsoft.com/office/drawing/2014/main" id="{E13A4347-6B81-699A-2993-A524EAF439BE}"/>
                    </a:ext>
                  </a:extLst>
                </p:cNvPr>
                <p:cNvSpPr txBox="1"/>
                <p:nvPr/>
              </p:nvSpPr>
              <p:spPr>
                <a:xfrm>
                  <a:off x="432000" y="4626000"/>
                  <a:ext cx="1979719" cy="360000"/>
                </a:xfrm>
                <a:prstGeom prst="rect">
                  <a:avLst/>
                </a:prstGeom>
                <a:noFill/>
              </p:spPr>
              <p:txBody>
                <a:bodyPr wrap="square">
                  <a:spAutoFit/>
                </a:bodyPr>
                <a:lstStyle/>
                <a:p>
                  <a:pPr algn="r"/>
                  <a:r>
                    <a:rPr kumimoji="1" lang="zh-CN" altLang="en-US" dirty="0">
                      <a:solidFill>
                        <a:schemeClr val="accent5">
                          <a:lumMod val="75000"/>
                        </a:schemeClr>
                      </a:solidFill>
                      <a:latin typeface="微软雅黑" panose="020B0503020204020204" pitchFamily="34" charset="-122"/>
                      <a:ea typeface="微软雅黑" panose="020B0503020204020204" pitchFamily="34" charset="-122"/>
                    </a:rPr>
                    <a:t>列</a:t>
                  </a:r>
                  <a:r>
                    <a:rPr kumimoji="1" lang="zh-CN" altLang="en-US" sz="1800" dirty="0">
                      <a:solidFill>
                        <a:schemeClr val="accent5">
                          <a:lumMod val="75000"/>
                        </a:schemeClr>
                      </a:solidFill>
                      <a:latin typeface="微软雅黑" panose="020B0503020204020204" pitchFamily="34" charset="-122"/>
                      <a:ea typeface="微软雅黑" panose="020B0503020204020204" pitchFamily="34" charset="-122"/>
                    </a:rPr>
                    <a:t>地址选通 </a:t>
                  </a:r>
                  <a14:m>
                    <m:oMath xmlns:m="http://schemas.openxmlformats.org/officeDocument/2006/math">
                      <m:acc>
                        <m:accPr>
                          <m:chr m:val="̅"/>
                          <m:ctrlPr>
                            <a:rPr kumimoji="1" lang="en-US" altLang="zh-CN"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b="0" i="0" smtClean="0">
                              <a:solidFill>
                                <a:schemeClr val="accent5">
                                  <a:lumMod val="75000"/>
                                </a:schemeClr>
                              </a:solidFill>
                              <a:latin typeface="Cambria Math" panose="02040503050406030204" pitchFamily="18" charset="0"/>
                              <a:ea typeface="微软雅黑" panose="020B0503020204020204" pitchFamily="34" charset="-122"/>
                            </a:rPr>
                            <m:t>C</m:t>
                          </m:r>
                          <m:r>
                            <m:rPr>
                              <m:sty m:val="p"/>
                            </m:rPr>
                            <a:rPr kumimoji="1" lang="en-US" altLang="zh-CN">
                              <a:solidFill>
                                <a:schemeClr val="accent5">
                                  <a:lumMod val="75000"/>
                                </a:schemeClr>
                              </a:solidFill>
                              <a:latin typeface="Cambria Math" panose="02040503050406030204" pitchFamily="18" charset="0"/>
                              <a:ea typeface="微软雅黑" panose="020B0503020204020204" pitchFamily="34" charset="-122"/>
                            </a:rPr>
                            <m:t>AS</m:t>
                          </m:r>
                        </m:e>
                      </m:acc>
                    </m:oMath>
                  </a14:m>
                  <a:endParaRPr lang="zh-CN" altLang="en-US" dirty="0"/>
                </a:p>
              </p:txBody>
            </p:sp>
          </mc:Choice>
          <mc:Fallback xmlns="">
            <p:sp>
              <p:nvSpPr>
                <p:cNvPr id="98" name="文本框 97">
                  <a:extLst>
                    <a:ext uri="{FF2B5EF4-FFF2-40B4-BE49-F238E27FC236}">
                      <a16:creationId xmlns:a16="http://schemas.microsoft.com/office/drawing/2014/main" id="{E13A4347-6B81-699A-2993-A524EAF439BE}"/>
                    </a:ext>
                  </a:extLst>
                </p:cNvPr>
                <p:cNvSpPr txBox="1">
                  <a:spLocks noRot="1" noChangeAspect="1" noMove="1" noResize="1" noEditPoints="1" noAdjustHandles="1" noChangeArrowheads="1" noChangeShapeType="1" noTextEdit="1"/>
                </p:cNvSpPr>
                <p:nvPr/>
              </p:nvSpPr>
              <p:spPr>
                <a:xfrm>
                  <a:off x="432000" y="4626000"/>
                  <a:ext cx="1979719" cy="360000"/>
                </a:xfrm>
                <a:prstGeom prst="rect">
                  <a:avLst/>
                </a:prstGeom>
                <a:blipFill>
                  <a:blip r:embed="rId5"/>
                  <a:stretch>
                    <a:fillRect t="-11864" b="-271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9" name="文本框 98">
                  <a:extLst>
                    <a:ext uri="{FF2B5EF4-FFF2-40B4-BE49-F238E27FC236}">
                      <a16:creationId xmlns:a16="http://schemas.microsoft.com/office/drawing/2014/main" id="{FA5E355F-8400-7D07-B094-919F6850FC93}"/>
                    </a:ext>
                  </a:extLst>
                </p:cNvPr>
                <p:cNvSpPr txBox="1"/>
                <p:nvPr/>
              </p:nvSpPr>
              <p:spPr>
                <a:xfrm>
                  <a:off x="432001" y="5670000"/>
                  <a:ext cx="1979719" cy="360000"/>
                </a:xfrm>
                <a:prstGeom prst="rect">
                  <a:avLst/>
                </a:prstGeom>
                <a:noFill/>
              </p:spPr>
              <p:txBody>
                <a:bodyPr wrap="square">
                  <a:spAutoFit/>
                </a:bodyPr>
                <a:lstStyle/>
                <a:p>
                  <a:pPr algn="r"/>
                  <a:r>
                    <a:rPr kumimoji="1" lang="zh-CN" altLang="en-US" dirty="0">
                      <a:solidFill>
                        <a:schemeClr val="accent5">
                          <a:lumMod val="75000"/>
                        </a:schemeClr>
                      </a:solidFill>
                      <a:latin typeface="微软雅黑" panose="020B0503020204020204" pitchFamily="34" charset="-122"/>
                      <a:ea typeface="微软雅黑" panose="020B0503020204020204" pitchFamily="34" charset="-122"/>
                    </a:rPr>
                    <a:t>读</a:t>
                  </a:r>
                  <a:r>
                    <a:rPr kumimoji="1" lang="en-US" altLang="zh-CN" dirty="0">
                      <a:solidFill>
                        <a:schemeClr val="accent5">
                          <a:lumMod val="75000"/>
                        </a:schemeClr>
                      </a:solidFill>
                      <a:latin typeface="微软雅黑" panose="020B0503020204020204" pitchFamily="34" charset="-122"/>
                      <a:ea typeface="微软雅黑" panose="020B0503020204020204" pitchFamily="34" charset="-122"/>
                    </a:rPr>
                    <a:t>/</a:t>
                  </a:r>
                  <a:r>
                    <a:rPr kumimoji="1" lang="zh-CN" altLang="en-US" dirty="0">
                      <a:solidFill>
                        <a:schemeClr val="accent5">
                          <a:lumMod val="75000"/>
                        </a:schemeClr>
                      </a:solidFill>
                      <a:latin typeface="微软雅黑" panose="020B0503020204020204" pitchFamily="34" charset="-122"/>
                      <a:ea typeface="微软雅黑" panose="020B0503020204020204" pitchFamily="34" charset="-122"/>
                    </a:rPr>
                    <a:t>写使能</a:t>
                  </a:r>
                  <a:r>
                    <a:rPr kumimoji="1" lang="zh-CN" altLang="en-US" sz="18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acc>
                        <m:accPr>
                          <m:chr m:val="̅"/>
                          <m:ctrlPr>
                            <a:rPr kumimoji="1" lang="en-US" altLang="zh-CN"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b="0" i="0" smtClean="0">
                              <a:solidFill>
                                <a:schemeClr val="accent5">
                                  <a:lumMod val="75000"/>
                                </a:schemeClr>
                              </a:solidFill>
                              <a:latin typeface="Cambria Math" panose="02040503050406030204" pitchFamily="18" charset="0"/>
                              <a:ea typeface="微软雅黑" panose="020B0503020204020204" pitchFamily="34" charset="-122"/>
                            </a:rPr>
                            <m:t>WE</m:t>
                          </m:r>
                        </m:e>
                      </m:acc>
                    </m:oMath>
                  </a14:m>
                  <a:endParaRPr lang="zh-CN" altLang="en-US" dirty="0"/>
                </a:p>
              </p:txBody>
            </p:sp>
          </mc:Choice>
          <mc:Fallback xmlns="">
            <p:sp>
              <p:nvSpPr>
                <p:cNvPr id="99" name="文本框 98">
                  <a:extLst>
                    <a:ext uri="{FF2B5EF4-FFF2-40B4-BE49-F238E27FC236}">
                      <a16:creationId xmlns:a16="http://schemas.microsoft.com/office/drawing/2014/main" id="{FA5E355F-8400-7D07-B094-919F6850FC93}"/>
                    </a:ext>
                  </a:extLst>
                </p:cNvPr>
                <p:cNvSpPr txBox="1">
                  <a:spLocks noRot="1" noChangeAspect="1" noMove="1" noResize="1" noEditPoints="1" noAdjustHandles="1" noChangeArrowheads="1" noChangeShapeType="1" noTextEdit="1"/>
                </p:cNvSpPr>
                <p:nvPr/>
              </p:nvSpPr>
              <p:spPr>
                <a:xfrm>
                  <a:off x="432001" y="5670000"/>
                  <a:ext cx="1979719" cy="360000"/>
                </a:xfrm>
                <a:prstGeom prst="rect">
                  <a:avLst/>
                </a:prstGeom>
                <a:blipFill>
                  <a:blip r:embed="rId6"/>
                  <a:stretch>
                    <a:fillRect t="-10169" b="-271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0" name="文本框 99">
                  <a:extLst>
                    <a:ext uri="{FF2B5EF4-FFF2-40B4-BE49-F238E27FC236}">
                      <a16:creationId xmlns:a16="http://schemas.microsoft.com/office/drawing/2014/main" id="{7FA48E15-790F-C760-0B03-891DEB583ADE}"/>
                    </a:ext>
                  </a:extLst>
                </p:cNvPr>
                <p:cNvSpPr txBox="1"/>
                <p:nvPr/>
              </p:nvSpPr>
              <p:spPr>
                <a:xfrm>
                  <a:off x="432000" y="6030000"/>
                  <a:ext cx="1979719" cy="360000"/>
                </a:xfrm>
                <a:prstGeom prst="rect">
                  <a:avLst/>
                </a:prstGeom>
                <a:noFill/>
              </p:spPr>
              <p:txBody>
                <a:bodyPr wrap="square">
                  <a:spAutoFit/>
                </a:bodyPr>
                <a:lstStyle/>
                <a:p>
                  <a:pPr algn="r"/>
                  <a:r>
                    <a:rPr kumimoji="1" lang="zh-CN" altLang="en-US" dirty="0">
                      <a:solidFill>
                        <a:schemeClr val="accent5">
                          <a:lumMod val="75000"/>
                        </a:schemeClr>
                      </a:solidFill>
                      <a:latin typeface="微软雅黑" panose="020B0503020204020204" pitchFamily="34" charset="-122"/>
                      <a:ea typeface="微软雅黑" panose="020B0503020204020204" pitchFamily="34" charset="-122"/>
                    </a:rPr>
                    <a:t>输出使能</a:t>
                  </a:r>
                  <a:r>
                    <a:rPr kumimoji="1" lang="zh-CN" altLang="en-US" sz="18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acc>
                        <m:accPr>
                          <m:chr m:val="̅"/>
                          <m:ctrlPr>
                            <a:rPr kumimoji="1" lang="en-US" altLang="zh-CN"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b="0" i="0" smtClean="0">
                              <a:solidFill>
                                <a:schemeClr val="accent5">
                                  <a:lumMod val="75000"/>
                                </a:schemeClr>
                              </a:solidFill>
                              <a:latin typeface="Cambria Math" panose="02040503050406030204" pitchFamily="18" charset="0"/>
                              <a:ea typeface="微软雅黑" panose="020B0503020204020204" pitchFamily="34" charset="-122"/>
                            </a:rPr>
                            <m:t>OE</m:t>
                          </m:r>
                        </m:e>
                      </m:acc>
                    </m:oMath>
                  </a14:m>
                  <a:endParaRPr lang="zh-CN" altLang="en-US" dirty="0"/>
                </a:p>
              </p:txBody>
            </p:sp>
          </mc:Choice>
          <mc:Fallback xmlns="">
            <p:sp>
              <p:nvSpPr>
                <p:cNvPr id="100" name="文本框 99">
                  <a:extLst>
                    <a:ext uri="{FF2B5EF4-FFF2-40B4-BE49-F238E27FC236}">
                      <a16:creationId xmlns:a16="http://schemas.microsoft.com/office/drawing/2014/main" id="{7FA48E15-790F-C760-0B03-891DEB583ADE}"/>
                    </a:ext>
                  </a:extLst>
                </p:cNvPr>
                <p:cNvSpPr txBox="1">
                  <a:spLocks noRot="1" noChangeAspect="1" noMove="1" noResize="1" noEditPoints="1" noAdjustHandles="1" noChangeArrowheads="1" noChangeShapeType="1" noTextEdit="1"/>
                </p:cNvSpPr>
                <p:nvPr/>
              </p:nvSpPr>
              <p:spPr>
                <a:xfrm>
                  <a:off x="432000" y="6030000"/>
                  <a:ext cx="1979719" cy="360000"/>
                </a:xfrm>
                <a:prstGeom prst="rect">
                  <a:avLst/>
                </a:prstGeom>
                <a:blipFill>
                  <a:blip r:embed="rId7"/>
                  <a:stretch>
                    <a:fillRect t="-10169" b="-27119"/>
                  </a:stretch>
                </a:blipFill>
              </p:spPr>
              <p:txBody>
                <a:bodyPr/>
                <a:lstStyle/>
                <a:p>
                  <a:r>
                    <a:rPr lang="zh-CN" altLang="en-US">
                      <a:noFill/>
                    </a:rPr>
                    <a:t> </a:t>
                  </a:r>
                </a:p>
              </p:txBody>
            </p:sp>
          </mc:Fallback>
        </mc:AlternateContent>
        <p:sp>
          <p:nvSpPr>
            <p:cNvPr id="102" name="文本框 101">
              <a:extLst>
                <a:ext uri="{FF2B5EF4-FFF2-40B4-BE49-F238E27FC236}">
                  <a16:creationId xmlns:a16="http://schemas.microsoft.com/office/drawing/2014/main" id="{06C447D1-24EA-DB43-8F27-7D235BF7BFCA}"/>
                </a:ext>
              </a:extLst>
            </p:cNvPr>
            <p:cNvSpPr txBox="1"/>
            <p:nvPr/>
          </p:nvSpPr>
          <p:spPr>
            <a:xfrm>
              <a:off x="10728000" y="4122000"/>
              <a:ext cx="1260000" cy="900000"/>
            </a:xfrm>
            <a:prstGeom prst="rect">
              <a:avLst/>
            </a:prstGeom>
            <a:noFill/>
          </p:spPr>
          <p:txBody>
            <a:bodyPr wrap="square">
              <a:spAutoFit/>
            </a:bodyPr>
            <a:lstStyle/>
            <a:p>
              <a:pPr algn="ctr"/>
              <a:r>
                <a:rPr kumimoji="1" lang="zh-CN" altLang="en-US" dirty="0">
                  <a:solidFill>
                    <a:schemeClr val="accent5">
                      <a:lumMod val="75000"/>
                    </a:schemeClr>
                  </a:solidFill>
                  <a:latin typeface="微软雅黑" panose="020B0503020204020204" pitchFamily="34" charset="-122"/>
                  <a:ea typeface="微软雅黑" panose="020B0503020204020204" pitchFamily="34" charset="-122"/>
                </a:rPr>
                <a:t>数据</a:t>
              </a:r>
              <a:endParaRPr kumimoji="1" lang="en-US" altLang="zh-CN" dirty="0">
                <a:solidFill>
                  <a:schemeClr val="accent5">
                    <a:lumMod val="75000"/>
                  </a:schemeClr>
                </a:solidFill>
                <a:latin typeface="微软雅黑" panose="020B0503020204020204" pitchFamily="34" charset="-122"/>
                <a:ea typeface="微软雅黑" panose="020B0503020204020204" pitchFamily="34" charset="-122"/>
              </a:endParaRPr>
            </a:p>
            <a:p>
              <a:pPr algn="ctr"/>
              <a:r>
                <a:rPr kumimoji="1" lang="zh-CN" altLang="en-US" dirty="0">
                  <a:solidFill>
                    <a:schemeClr val="accent5">
                      <a:lumMod val="75000"/>
                    </a:schemeClr>
                  </a:solidFill>
                  <a:latin typeface="微软雅黑" panose="020B0503020204020204" pitchFamily="34" charset="-122"/>
                  <a:ea typeface="微软雅黑" panose="020B0503020204020204" pitchFamily="34" charset="-122"/>
                </a:rPr>
                <a:t>输入</a:t>
              </a:r>
              <a:r>
                <a:rPr kumimoji="1" lang="en-US" altLang="zh-CN" dirty="0">
                  <a:solidFill>
                    <a:schemeClr val="accent5">
                      <a:lumMod val="75000"/>
                    </a:schemeClr>
                  </a:solidFill>
                  <a:latin typeface="微软雅黑" panose="020B0503020204020204" pitchFamily="34" charset="-122"/>
                  <a:ea typeface="微软雅黑" panose="020B0503020204020204" pitchFamily="34" charset="-122"/>
                </a:rPr>
                <a:t>/</a:t>
              </a:r>
              <a:r>
                <a:rPr kumimoji="1" lang="zh-CN" altLang="en-US" dirty="0">
                  <a:solidFill>
                    <a:schemeClr val="accent5">
                      <a:lumMod val="75000"/>
                    </a:schemeClr>
                  </a:solidFill>
                  <a:latin typeface="微软雅黑" panose="020B0503020204020204" pitchFamily="34" charset="-122"/>
                  <a:ea typeface="微软雅黑" panose="020B0503020204020204" pitchFamily="34" charset="-122"/>
                </a:rPr>
                <a:t>输出</a:t>
              </a:r>
              <a:endParaRPr kumimoji="1" lang="en-US" altLang="zh-CN" dirty="0">
                <a:solidFill>
                  <a:schemeClr val="accent5">
                    <a:lumMod val="75000"/>
                  </a:schemeClr>
                </a:solidFill>
                <a:latin typeface="微软雅黑" panose="020B0503020204020204" pitchFamily="34" charset="-122"/>
                <a:ea typeface="微软雅黑" panose="020B0503020204020204" pitchFamily="34" charset="-122"/>
              </a:endParaRPr>
            </a:p>
            <a:p>
              <a:pPr algn="ctr"/>
              <a:r>
                <a:rPr kumimoji="1" lang="en-US" altLang="zh-CN" dirty="0">
                  <a:solidFill>
                    <a:schemeClr val="accent5">
                      <a:lumMod val="75000"/>
                    </a:schemeClr>
                  </a:solidFill>
                  <a:latin typeface="微软雅黑" panose="020B0503020204020204" pitchFamily="34" charset="-122"/>
                  <a:ea typeface="微软雅黑" panose="020B0503020204020204" pitchFamily="34" charset="-122"/>
                </a:rPr>
                <a:t>I/O</a:t>
              </a:r>
              <a:endParaRPr lang="zh-CN" altLang="en-US" dirty="0"/>
            </a:p>
          </p:txBody>
        </p:sp>
        <p:sp>
          <p:nvSpPr>
            <p:cNvPr id="57" name="箭头: 右 56">
              <a:extLst>
                <a:ext uri="{FF2B5EF4-FFF2-40B4-BE49-F238E27FC236}">
                  <a16:creationId xmlns:a16="http://schemas.microsoft.com/office/drawing/2014/main" id="{CD701893-9F4B-2F7A-51E7-D8AF623BECA4}"/>
                </a:ext>
              </a:extLst>
            </p:cNvPr>
            <p:cNvSpPr/>
            <p:nvPr/>
          </p:nvSpPr>
          <p:spPr>
            <a:xfrm>
              <a:off x="5868000" y="2268000"/>
              <a:ext cx="684000" cy="360000"/>
            </a:xfrm>
            <a:prstGeom prst="rightArrow">
              <a:avLst>
                <a:gd name="adj1" fmla="val 46957"/>
                <a:gd name="adj2" fmla="val 50000"/>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59" name="箭头: 右 58">
              <a:extLst>
                <a:ext uri="{FF2B5EF4-FFF2-40B4-BE49-F238E27FC236}">
                  <a16:creationId xmlns:a16="http://schemas.microsoft.com/office/drawing/2014/main" id="{F8307707-6959-B3E8-5F0C-D72948A2E63F}"/>
                </a:ext>
              </a:extLst>
            </p:cNvPr>
            <p:cNvSpPr/>
            <p:nvPr/>
          </p:nvSpPr>
          <p:spPr>
            <a:xfrm>
              <a:off x="5868000" y="3024000"/>
              <a:ext cx="684000" cy="360000"/>
            </a:xfrm>
            <a:prstGeom prst="rightArrow">
              <a:avLst>
                <a:gd name="adj1" fmla="val 46957"/>
                <a:gd name="adj2" fmla="val 50000"/>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81715B6C-E6D4-A130-1270-04891B44253F}"/>
                </a:ext>
              </a:extLst>
            </p:cNvPr>
            <p:cNvSpPr/>
            <p:nvPr/>
          </p:nvSpPr>
          <p:spPr>
            <a:xfrm>
              <a:off x="7056000" y="2664000"/>
              <a:ext cx="576000" cy="360000"/>
            </a:xfrm>
            <a:prstGeom prst="rightArrow">
              <a:avLst>
                <a:gd name="adj1" fmla="val 46957"/>
                <a:gd name="adj2" fmla="val 50000"/>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62" name="箭头: 右 61">
              <a:extLst>
                <a:ext uri="{FF2B5EF4-FFF2-40B4-BE49-F238E27FC236}">
                  <a16:creationId xmlns:a16="http://schemas.microsoft.com/office/drawing/2014/main" id="{57E3D9DA-D30C-B3B1-5965-3AE45D7D1A4B}"/>
                </a:ext>
              </a:extLst>
            </p:cNvPr>
            <p:cNvSpPr/>
            <p:nvPr/>
          </p:nvSpPr>
          <p:spPr>
            <a:xfrm>
              <a:off x="8100000" y="2664000"/>
              <a:ext cx="576000" cy="360000"/>
            </a:xfrm>
            <a:prstGeom prst="rightArrow">
              <a:avLst>
                <a:gd name="adj1" fmla="val 46957"/>
                <a:gd name="adj2" fmla="val 50000"/>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32" name="箭头: 上下 31">
              <a:extLst>
                <a:ext uri="{FF2B5EF4-FFF2-40B4-BE49-F238E27FC236}">
                  <a16:creationId xmlns:a16="http://schemas.microsoft.com/office/drawing/2014/main" id="{368C5D56-ECC1-81F7-9035-73DCD0F61F97}"/>
                </a:ext>
              </a:extLst>
            </p:cNvPr>
            <p:cNvSpPr/>
            <p:nvPr/>
          </p:nvSpPr>
          <p:spPr>
            <a:xfrm rot="10800000">
              <a:off x="9216000" y="3384058"/>
              <a:ext cx="360000" cy="647882"/>
            </a:xfrm>
            <a:prstGeom prst="upDownArrow">
              <a:avLst>
                <a:gd name="adj1" fmla="val 47020"/>
                <a:gd name="adj2" fmla="val 50041"/>
              </a:avLst>
            </a:prstGeom>
            <a:solidFill>
              <a:schemeClr val="bg1"/>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2" name="梯形 11">
              <a:extLst>
                <a:ext uri="{FF2B5EF4-FFF2-40B4-BE49-F238E27FC236}">
                  <a16:creationId xmlns:a16="http://schemas.microsoft.com/office/drawing/2014/main" id="{443CA9B0-48FC-29B1-144F-A9A640372200}"/>
                </a:ext>
              </a:extLst>
            </p:cNvPr>
            <p:cNvSpPr/>
            <p:nvPr/>
          </p:nvSpPr>
          <p:spPr>
            <a:xfrm rot="5400000">
              <a:off x="5976000" y="2592000"/>
              <a:ext cx="1656000" cy="504000"/>
            </a:xfrm>
            <a:prstGeom prst="trapezoid">
              <a:avLst>
                <a:gd name="adj" fmla="val 55299"/>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BE8F97B2-D891-E048-9762-DC0778F1D653}"/>
                </a:ext>
              </a:extLst>
            </p:cNvPr>
            <p:cNvSpPr/>
            <p:nvPr/>
          </p:nvSpPr>
          <p:spPr>
            <a:xfrm>
              <a:off x="7632000" y="2304000"/>
              <a:ext cx="468000" cy="1080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行译码</a:t>
              </a:r>
            </a:p>
          </p:txBody>
        </p:sp>
        <p:sp>
          <p:nvSpPr>
            <p:cNvPr id="17" name="矩形 16">
              <a:extLst>
                <a:ext uri="{FF2B5EF4-FFF2-40B4-BE49-F238E27FC236}">
                  <a16:creationId xmlns:a16="http://schemas.microsoft.com/office/drawing/2014/main" id="{8A89BC76-7AC8-C905-B990-C60BC5E19614}"/>
                </a:ext>
              </a:extLst>
            </p:cNvPr>
            <p:cNvSpPr/>
            <p:nvPr/>
          </p:nvSpPr>
          <p:spPr>
            <a:xfrm>
              <a:off x="8676000" y="2304000"/>
              <a:ext cx="1440000" cy="1080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存储阵列</a:t>
              </a:r>
            </a:p>
          </p:txBody>
        </p:sp>
        <p:sp>
          <p:nvSpPr>
            <p:cNvPr id="67" name="箭头: 上下 66">
              <a:extLst>
                <a:ext uri="{FF2B5EF4-FFF2-40B4-BE49-F238E27FC236}">
                  <a16:creationId xmlns:a16="http://schemas.microsoft.com/office/drawing/2014/main" id="{814D1F48-48A6-83EB-C930-41C480208A04}"/>
                </a:ext>
              </a:extLst>
            </p:cNvPr>
            <p:cNvSpPr/>
            <p:nvPr/>
          </p:nvSpPr>
          <p:spPr>
            <a:xfrm rot="5400000">
              <a:off x="10260000" y="4248000"/>
              <a:ext cx="360000" cy="647882"/>
            </a:xfrm>
            <a:prstGeom prst="upDownArrow">
              <a:avLst>
                <a:gd name="adj1" fmla="val 47020"/>
                <a:gd name="adj2" fmla="val 50041"/>
              </a:avLst>
            </a:prstGeom>
            <a:solidFill>
              <a:schemeClr val="bg1"/>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68" name="箭头: 右 67">
              <a:extLst>
                <a:ext uri="{FF2B5EF4-FFF2-40B4-BE49-F238E27FC236}">
                  <a16:creationId xmlns:a16="http://schemas.microsoft.com/office/drawing/2014/main" id="{C1326080-72FD-E4A2-BC95-354A48D8A837}"/>
                </a:ext>
              </a:extLst>
            </p:cNvPr>
            <p:cNvSpPr/>
            <p:nvPr/>
          </p:nvSpPr>
          <p:spPr>
            <a:xfrm>
              <a:off x="8100000" y="4392000"/>
              <a:ext cx="576000" cy="360000"/>
            </a:xfrm>
            <a:prstGeom prst="rightArrow">
              <a:avLst>
                <a:gd name="adj1" fmla="val 46957"/>
                <a:gd name="adj2" fmla="val 50000"/>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790541B9-16B1-1A9D-02AF-CA9AF5F826CD}"/>
                </a:ext>
              </a:extLst>
            </p:cNvPr>
            <p:cNvSpPr/>
            <p:nvPr/>
          </p:nvSpPr>
          <p:spPr>
            <a:xfrm>
              <a:off x="8676000" y="4032000"/>
              <a:ext cx="1440000" cy="1080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输入</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输出</a:t>
              </a:r>
              <a:endParaRPr lang="en-US" altLang="zh-CN" sz="1600" dirty="0">
                <a:latin typeface="微软雅黑" panose="020B0503020204020204" pitchFamily="34" charset="-122"/>
                <a:ea typeface="微软雅黑" panose="020B0503020204020204" pitchFamily="34" charset="-122"/>
              </a:endParaRPr>
            </a:p>
            <a:p>
              <a:pPr algn="ctr"/>
              <a:r>
                <a:rPr lang="zh-CN" altLang="en-US" sz="1600" dirty="0">
                  <a:latin typeface="微软雅黑" panose="020B0503020204020204" pitchFamily="34" charset="-122"/>
                  <a:ea typeface="微软雅黑" panose="020B0503020204020204" pitchFamily="34" charset="-122"/>
                </a:rPr>
                <a:t>缓冲器以及</a:t>
              </a:r>
              <a:endParaRPr lang="en-US" altLang="zh-CN" sz="1600" dirty="0">
                <a:latin typeface="微软雅黑" panose="020B0503020204020204" pitchFamily="34" charset="-122"/>
                <a:ea typeface="微软雅黑" panose="020B0503020204020204" pitchFamily="34" charset="-122"/>
              </a:endParaRPr>
            </a:p>
            <a:p>
              <a:pPr algn="ctr"/>
              <a:r>
                <a:rPr lang="zh-CN" altLang="en-US" sz="1600" dirty="0">
                  <a:latin typeface="微软雅黑" panose="020B0503020204020204" pitchFamily="34" charset="-122"/>
                  <a:ea typeface="微软雅黑" panose="020B0503020204020204" pitchFamily="34" charset="-122"/>
                </a:rPr>
                <a:t>灵敏放大器</a:t>
              </a:r>
            </a:p>
          </p:txBody>
        </p:sp>
        <p:sp>
          <p:nvSpPr>
            <p:cNvPr id="82" name="箭头: 直角上 81">
              <a:extLst>
                <a:ext uri="{FF2B5EF4-FFF2-40B4-BE49-F238E27FC236}">
                  <a16:creationId xmlns:a16="http://schemas.microsoft.com/office/drawing/2014/main" id="{87687AFC-97BC-75B7-95F1-81E482956C36}"/>
                </a:ext>
              </a:extLst>
            </p:cNvPr>
            <p:cNvSpPr/>
            <p:nvPr/>
          </p:nvSpPr>
          <p:spPr>
            <a:xfrm rot="5400000">
              <a:off x="3050180" y="3492000"/>
              <a:ext cx="1368000" cy="955641"/>
            </a:xfrm>
            <a:prstGeom prst="bentUpArrow">
              <a:avLst>
                <a:gd name="adj1" fmla="val 17746"/>
                <a:gd name="adj2" fmla="val 18818"/>
                <a:gd name="adj3" fmla="val 18789"/>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56" name="箭头: 右 55">
              <a:extLst>
                <a:ext uri="{FF2B5EF4-FFF2-40B4-BE49-F238E27FC236}">
                  <a16:creationId xmlns:a16="http://schemas.microsoft.com/office/drawing/2014/main" id="{61E5B9F5-426A-F0B8-F9C0-124D4B240A76}"/>
                </a:ext>
              </a:extLst>
            </p:cNvPr>
            <p:cNvSpPr/>
            <p:nvPr/>
          </p:nvSpPr>
          <p:spPr>
            <a:xfrm>
              <a:off x="2448000" y="3168000"/>
              <a:ext cx="1764000" cy="360000"/>
            </a:xfrm>
            <a:prstGeom prst="rightArrow">
              <a:avLst>
                <a:gd name="adj1" fmla="val 46957"/>
                <a:gd name="adj2" fmla="val 50000"/>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84" name="矩形 83">
              <a:extLst>
                <a:ext uri="{FF2B5EF4-FFF2-40B4-BE49-F238E27FC236}">
                  <a16:creationId xmlns:a16="http://schemas.microsoft.com/office/drawing/2014/main" id="{500C7F92-B2D1-AE31-ACDC-72CBCB2DCF04}"/>
                </a:ext>
              </a:extLst>
            </p:cNvPr>
            <p:cNvSpPr/>
            <p:nvPr/>
          </p:nvSpPr>
          <p:spPr>
            <a:xfrm>
              <a:off x="3269948" y="3348000"/>
              <a:ext cx="144000" cy="144000"/>
            </a:xfrm>
            <a:prstGeom prst="rect">
              <a:avLst/>
            </a:prstGeom>
            <a:solidFill>
              <a:schemeClr val="bg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558A16FF-889A-D7A6-CBCC-9A2047E43436}"/>
                </a:ext>
              </a:extLst>
            </p:cNvPr>
            <p:cNvSpPr/>
            <p:nvPr/>
          </p:nvSpPr>
          <p:spPr>
            <a:xfrm>
              <a:off x="4212000" y="2916000"/>
              <a:ext cx="1656000" cy="648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行地址寄存器</a:t>
              </a:r>
            </a:p>
          </p:txBody>
        </p:sp>
        <p:sp>
          <p:nvSpPr>
            <p:cNvPr id="11" name="矩形 10">
              <a:extLst>
                <a:ext uri="{FF2B5EF4-FFF2-40B4-BE49-F238E27FC236}">
                  <a16:creationId xmlns:a16="http://schemas.microsoft.com/office/drawing/2014/main" id="{0021FB36-CC4E-29C9-76CE-C605979C43FB}"/>
                </a:ext>
              </a:extLst>
            </p:cNvPr>
            <p:cNvSpPr/>
            <p:nvPr/>
          </p:nvSpPr>
          <p:spPr>
            <a:xfrm>
              <a:off x="4212000" y="4248000"/>
              <a:ext cx="1656000" cy="648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列地址寄存器</a:t>
              </a:r>
            </a:p>
          </p:txBody>
        </p:sp>
        <p:cxnSp>
          <p:nvCxnSpPr>
            <p:cNvPr id="22" name="连接符: 肘形 21">
              <a:extLst>
                <a:ext uri="{FF2B5EF4-FFF2-40B4-BE49-F238E27FC236}">
                  <a16:creationId xmlns:a16="http://schemas.microsoft.com/office/drawing/2014/main" id="{CC5D4EF0-CD7E-4634-9920-1F69DC8BAF8C}"/>
                </a:ext>
              </a:extLst>
            </p:cNvPr>
            <p:cNvCxnSpPr>
              <a:cxnSpLocks/>
              <a:stCxn id="3" idx="3"/>
              <a:endCxn id="12" idx="1"/>
            </p:cNvCxnSpPr>
            <p:nvPr/>
          </p:nvCxnSpPr>
          <p:spPr>
            <a:xfrm>
              <a:off x="5868000" y="1620000"/>
              <a:ext cx="936000" cy="535353"/>
            </a:xfrm>
            <a:prstGeom prst="bentConnector2">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6DA3927D-0E3D-D526-00CE-8B8594859425}"/>
                </a:ext>
              </a:extLst>
            </p:cNvPr>
            <p:cNvSpPr txBox="1"/>
            <p:nvPr/>
          </p:nvSpPr>
          <p:spPr>
            <a:xfrm>
              <a:off x="6552000" y="2160000"/>
              <a:ext cx="432000" cy="1368000"/>
            </a:xfrm>
            <a:prstGeom prst="rect">
              <a:avLst/>
            </a:prstGeom>
            <a:noFill/>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rPr>
                <a:t>数据选择器</a:t>
              </a:r>
            </a:p>
          </p:txBody>
        </p:sp>
      </p:grpSp>
    </p:spTree>
    <p:extLst>
      <p:ext uri="{BB962C8B-B14F-4D97-AF65-F5344CB8AC3E}">
        <p14:creationId xmlns:p14="http://schemas.microsoft.com/office/powerpoint/2010/main" val="2017926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C2FEA-FDC4-BC05-6593-A26C546A4243}"/>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CC153F8A-A9AF-D995-B03B-15710DCAB8F9}"/>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DC0CDA7E-B0A5-96D0-215D-E90C85584CCC}"/>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04AC2F4A-5992-D556-DC5C-068C4CF6AEF5}"/>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C8E87F6F-338F-4CB8-658D-865F8EB1BC54}"/>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2F69EF45-8A65-FE75-C81D-ABE5BC2CE7D4}"/>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17</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D7CE9AC2-ACDF-52E1-48F4-515EA4097EBC}"/>
                  </a:ext>
                </a:extLst>
              </p:cNvPr>
              <p:cNvSpPr txBox="1"/>
              <p:nvPr/>
            </p:nvSpPr>
            <p:spPr>
              <a:xfrm>
                <a:off x="360000" y="828000"/>
                <a:ext cx="9636308" cy="4732962"/>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DRAM</a:t>
                </a:r>
                <a:r>
                  <a:rPr kumimoji="1" lang="zh-CN" altLang="en-US" sz="2800" dirty="0">
                    <a:solidFill>
                      <a:srgbClr val="002060"/>
                    </a:solidFill>
                    <a:latin typeface="微软雅黑" panose="020B0503020204020204" pitchFamily="34" charset="-122"/>
                    <a:ea typeface="微软雅黑" panose="020B0503020204020204" pitchFamily="34" charset="-122"/>
                  </a:rPr>
                  <a:t> 的存储单元：由一个 </a:t>
                </a:r>
                <a:r>
                  <a:rPr kumimoji="1" lang="en-US" altLang="zh-CN" sz="2800" dirty="0">
                    <a:solidFill>
                      <a:srgbClr val="002060"/>
                    </a:solidFill>
                    <a:latin typeface="微软雅黑" panose="020B0503020204020204" pitchFamily="34" charset="-122"/>
                    <a:ea typeface="微软雅黑" panose="020B0503020204020204" pitchFamily="34" charset="-122"/>
                  </a:rPr>
                  <a:t>MOS </a:t>
                </a:r>
                <a:r>
                  <a:rPr kumimoji="1" lang="zh-CN" altLang="en-US" sz="2800" dirty="0">
                    <a:solidFill>
                      <a:srgbClr val="002060"/>
                    </a:solidFill>
                    <a:latin typeface="微软雅黑" panose="020B0503020204020204" pitchFamily="34" charset="-122"/>
                    <a:ea typeface="微软雅黑" panose="020B0503020204020204" pitchFamily="34" charset="-122"/>
                  </a:rPr>
                  <a:t>管和一个电容组成</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电容充电，相当于存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1</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；反之存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0</a:t>
                </a: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读：</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lvl="2">
                  <a:lnSpc>
                    <a:spcPct val="120000"/>
                  </a:lnSpc>
                  <a:spcAft>
                    <a:spcPts val="600"/>
                  </a:spcAft>
                </a:pPr>
                <a14:m>
                  <m:oMath xmlns:m="http://schemas.openxmlformats.org/officeDocument/2006/math">
                    <m:r>
                      <a:rPr lang="en-US" altLang="zh-CN" sz="2400" i="1">
                        <a:solidFill>
                          <a:schemeClr val="accent5">
                            <a:lumMod val="75000"/>
                          </a:schemeClr>
                        </a:solidFill>
                        <a:latin typeface="Cambria Math" panose="02040503050406030204" pitchFamily="18" charset="0"/>
                        <a:ea typeface="微软雅黑" panose="020B0503020204020204" pitchFamily="34" charset="-122"/>
                      </a:rPr>
                      <m:t>𝑋</m:t>
                    </m:r>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rPr>
                  <a:t>1</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rPr>
                  <a:t>，</a:t>
                </a:r>
                <a14:m>
                  <m:oMath xmlns:m="http://schemas.openxmlformats.org/officeDocument/2006/math">
                    <m:acc>
                      <m:accPr>
                        <m:chr m:val="̅"/>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WE</m:t>
                        </m:r>
                      </m:e>
                    </m:acc>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rPr>
                  <a:t>1</a:t>
                </a: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rPr>
                  <a:t>写：</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endParaRPr>
              </a:p>
              <a:p>
                <a:pPr lvl="2">
                  <a:lnSpc>
                    <a:spcPct val="120000"/>
                  </a:lnSpc>
                  <a:spcAft>
                    <a:spcPts val="600"/>
                  </a:spcAft>
                </a:pP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D</m:t>
                        </m:r>
                      </m:e>
                      <m:sub>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I</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预备，</a:t>
                </a:r>
                <a14:m>
                  <m:oMath xmlns:m="http://schemas.openxmlformats.org/officeDocument/2006/math">
                    <m:r>
                      <a:rPr lang="en-US" altLang="zh-CN" sz="2400" i="1">
                        <a:solidFill>
                          <a:schemeClr val="accent5">
                            <a:lumMod val="75000"/>
                          </a:schemeClr>
                        </a:solidFill>
                        <a:latin typeface="Cambria Math" panose="02040503050406030204" pitchFamily="18" charset="0"/>
                        <a:ea typeface="微软雅黑" panose="020B0503020204020204" pitchFamily="34" charset="-122"/>
                      </a:rPr>
                      <m:t>𝑋</m:t>
                    </m:r>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rPr>
                  <a:t>1</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rPr>
                  <a:t>，</a:t>
                </a:r>
                <a14:m>
                  <m:oMath xmlns:m="http://schemas.openxmlformats.org/officeDocument/2006/math">
                    <m:acc>
                      <m:accPr>
                        <m:chr m:val="̅"/>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WE</m:t>
                        </m:r>
                      </m:e>
                    </m:acc>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rPr>
                  <a:t>0</a:t>
                </a: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刷新：</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lvl="2">
                  <a:lnSpc>
                    <a:spcPct val="120000"/>
                  </a:lnSpc>
                  <a:spcAft>
                    <a:spcPts val="600"/>
                  </a:spcAft>
                </a:pPr>
                <a14:m>
                  <m:oMath xmlns:m="http://schemas.openxmlformats.org/officeDocument/2006/math">
                    <m:r>
                      <a:rPr lang="en-US" altLang="zh-CN" sz="2400" i="1">
                        <a:solidFill>
                          <a:schemeClr val="accent5">
                            <a:lumMod val="75000"/>
                          </a:schemeClr>
                        </a:solidFill>
                        <a:latin typeface="Cambria Math" panose="02040503050406030204" pitchFamily="18" charset="0"/>
                        <a:ea typeface="微软雅黑" panose="020B0503020204020204" pitchFamily="34" charset="-122"/>
                      </a:rPr>
                      <m:t>𝑋</m:t>
                    </m:r>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rPr>
                  <a:t>1</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rPr>
                  <a:t>，</a:t>
                </a:r>
                <a14:m>
                  <m:oMath xmlns:m="http://schemas.openxmlformats.org/officeDocument/2006/math">
                    <m:acc>
                      <m:accPr>
                        <m:chr m:val="̅"/>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WE</m:t>
                        </m:r>
                      </m:e>
                    </m:acc>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rPr>
                  <a:t>1</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rPr>
                  <a:t>，</a:t>
                </a:r>
                <a:r>
                  <a:rPr lang="en-US" altLang="zh-CN" sz="2400" dirty="0">
                    <a:solidFill>
                      <a:schemeClr val="accent5">
                        <a:lumMod val="75000"/>
                      </a:schemeClr>
                    </a:solidFill>
                    <a:ea typeface="微软雅黑" panose="020B0503020204020204" pitchFamily="34" charset="-122"/>
                  </a:rPr>
                  <a:t> </a:t>
                </a:r>
                <a14:m>
                  <m:oMath xmlns:m="http://schemas.openxmlformats.org/officeDocument/2006/math">
                    <m:r>
                      <m:rPr>
                        <m:sty m:val="p"/>
                      </m:rPr>
                      <a:rPr lang="en-US" altLang="zh-CN" sz="2400" i="0">
                        <a:solidFill>
                          <a:schemeClr val="accent5">
                            <a:lumMod val="75000"/>
                          </a:schemeClr>
                        </a:solidFill>
                        <a:latin typeface="Cambria Math" panose="02040503050406030204" pitchFamily="18" charset="0"/>
                        <a:ea typeface="微软雅黑" panose="020B0503020204020204" pitchFamily="34" charset="-122"/>
                      </a:rPr>
                      <m:t>R</m:t>
                    </m:r>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rPr>
                  <a:t>1</a:t>
                </a:r>
              </a:p>
              <a:p>
                <a:pPr marL="914400" lvl="1" indent="-457200">
                  <a:lnSpc>
                    <a:spcPct val="120000"/>
                  </a:lnSpc>
                  <a:spcAft>
                    <a:spcPts val="600"/>
                  </a:spcAft>
                  <a:buFont typeface="Wingdings" panose="05000000000000000000" pitchFamily="2" charset="2"/>
                  <a:buChar char="Ø"/>
                </a:pP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15" name="文本框 14">
                <a:extLst>
                  <a:ext uri="{FF2B5EF4-FFF2-40B4-BE49-F238E27FC236}">
                    <a16:creationId xmlns:a16="http://schemas.microsoft.com/office/drawing/2014/main" id="{D7CE9AC2-ACDF-52E1-48F4-515EA4097EBC}"/>
                  </a:ext>
                </a:extLst>
              </p:cNvPr>
              <p:cNvSpPr txBox="1">
                <a:spLocks noRot="1" noChangeAspect="1" noMove="1" noResize="1" noEditPoints="1" noAdjustHandles="1" noChangeArrowheads="1" noChangeShapeType="1" noTextEdit="1"/>
              </p:cNvSpPr>
              <p:nvPr/>
            </p:nvSpPr>
            <p:spPr>
              <a:xfrm>
                <a:off x="360000" y="828000"/>
                <a:ext cx="9636308" cy="4732962"/>
              </a:xfrm>
              <a:prstGeom prst="rect">
                <a:avLst/>
              </a:prstGeom>
              <a:blipFill>
                <a:blip r:embed="rId3"/>
                <a:stretch>
                  <a:fillRect l="-1139" t="-515"/>
                </a:stretch>
              </a:blipFill>
            </p:spPr>
            <p:txBody>
              <a:bodyPr/>
              <a:lstStyle/>
              <a:p>
                <a:r>
                  <a:rPr lang="zh-CN" altLang="en-US">
                    <a:noFill/>
                  </a:rPr>
                  <a:t> </a:t>
                </a:r>
              </a:p>
            </p:txBody>
          </p:sp>
        </mc:Fallback>
      </mc:AlternateContent>
      <p:sp>
        <p:nvSpPr>
          <p:cNvPr id="3" name="标题 1">
            <a:extLst>
              <a:ext uri="{FF2B5EF4-FFF2-40B4-BE49-F238E27FC236}">
                <a16:creationId xmlns:a16="http://schemas.microsoft.com/office/drawing/2014/main" id="{760F0A6D-AE1A-7760-100E-FCDCCCCEB903}"/>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半导体存储器 </a:t>
            </a:r>
            <a:r>
              <a:rPr lang="en-US" altLang="zh-CN" sz="3000" dirty="0"/>
              <a:t>—— </a:t>
            </a:r>
            <a:r>
              <a:rPr lang="zh-CN" altLang="en-US" sz="3000" dirty="0">
                <a:solidFill>
                  <a:srgbClr val="FFFF00"/>
                </a:solidFill>
              </a:rPr>
              <a:t>随机存储器（</a:t>
            </a:r>
            <a:r>
              <a:rPr lang="en-US" altLang="zh-CN" sz="3000" dirty="0">
                <a:solidFill>
                  <a:srgbClr val="FFFF00"/>
                </a:solidFill>
              </a:rPr>
              <a:t>RAM</a:t>
            </a:r>
            <a:r>
              <a:rPr lang="zh-CN" altLang="en-US" sz="3000" dirty="0">
                <a:solidFill>
                  <a:srgbClr val="FFFF00"/>
                </a:solidFill>
              </a:rPr>
              <a:t>）</a:t>
            </a:r>
            <a:endParaRPr lang="en-US" altLang="zh-CN" sz="3000" dirty="0"/>
          </a:p>
        </p:txBody>
      </p:sp>
      <p:grpSp>
        <p:nvGrpSpPr>
          <p:cNvPr id="65" name="组合 64">
            <a:extLst>
              <a:ext uri="{FF2B5EF4-FFF2-40B4-BE49-F238E27FC236}">
                <a16:creationId xmlns:a16="http://schemas.microsoft.com/office/drawing/2014/main" id="{0164383E-E05E-A449-82A9-2D54C0B66290}"/>
              </a:ext>
            </a:extLst>
          </p:cNvPr>
          <p:cNvGrpSpPr/>
          <p:nvPr/>
        </p:nvGrpSpPr>
        <p:grpSpPr>
          <a:xfrm>
            <a:off x="5832000" y="2016000"/>
            <a:ext cx="6336000" cy="4536000"/>
            <a:chOff x="5832000" y="2016000"/>
            <a:chExt cx="6336000" cy="4536000"/>
          </a:xfrm>
        </p:grpSpPr>
        <p:sp>
          <p:nvSpPr>
            <p:cNvPr id="10" name="文本框 9">
              <a:extLst>
                <a:ext uri="{FF2B5EF4-FFF2-40B4-BE49-F238E27FC236}">
                  <a16:creationId xmlns:a16="http://schemas.microsoft.com/office/drawing/2014/main" id="{F205589B-3B4E-BED6-DC24-84FBB8C5B96A}"/>
                </a:ext>
              </a:extLst>
            </p:cNvPr>
            <p:cNvSpPr txBox="1"/>
            <p:nvPr/>
          </p:nvSpPr>
          <p:spPr>
            <a:xfrm>
              <a:off x="8139209" y="2016000"/>
              <a:ext cx="1494870" cy="723134"/>
            </a:xfrm>
            <a:prstGeom prst="rect">
              <a:avLst/>
            </a:prstGeom>
            <a:noFill/>
          </p:spPr>
          <p:txBody>
            <a:bodyPr wrap="square">
              <a:spAutoFit/>
            </a:bodyPr>
            <a:lstStyle/>
            <a:p>
              <a:pPr algn="ctr"/>
              <a:r>
                <a:rPr lang="zh-CN" altLang="en-US" sz="2200" dirty="0">
                  <a:latin typeface="微软雅黑" panose="020B0503020204020204" pitchFamily="34" charset="-122"/>
                  <a:ea typeface="微软雅黑" panose="020B0503020204020204" pitchFamily="34" charset="-122"/>
                </a:rPr>
                <a:t>刷新</a:t>
              </a:r>
              <a:endParaRPr lang="en-US" altLang="zh-CN" sz="2200" dirty="0">
                <a:latin typeface="微软雅黑" panose="020B0503020204020204" pitchFamily="34" charset="-122"/>
                <a:ea typeface="微软雅黑" panose="020B0503020204020204" pitchFamily="34" charset="-122"/>
              </a:endParaRPr>
            </a:p>
            <a:p>
              <a:pPr algn="ctr"/>
              <a:r>
                <a:rPr lang="zh-CN" altLang="en-US" sz="2200" dirty="0">
                  <a:latin typeface="微软雅黑" panose="020B0503020204020204" pitchFamily="34" charset="-122"/>
                  <a:ea typeface="微软雅黑" panose="020B0503020204020204" pitchFamily="34" charset="-122"/>
                </a:rPr>
                <a:t>缓冲器</a:t>
              </a:r>
              <a:endParaRPr lang="zh-CN" altLang="en-US" sz="2200" dirty="0"/>
            </a:p>
          </p:txBody>
        </p:sp>
        <p:cxnSp>
          <p:nvCxnSpPr>
            <p:cNvPr id="11" name="直接连接符 10">
              <a:extLst>
                <a:ext uri="{FF2B5EF4-FFF2-40B4-BE49-F238E27FC236}">
                  <a16:creationId xmlns:a16="http://schemas.microsoft.com/office/drawing/2014/main" id="{75526BAC-9A84-30B6-46CC-7D64DB51C1CE}"/>
                </a:ext>
              </a:extLst>
            </p:cNvPr>
            <p:cNvCxnSpPr>
              <a:cxnSpLocks/>
            </p:cNvCxnSpPr>
            <p:nvPr/>
          </p:nvCxnSpPr>
          <p:spPr>
            <a:xfrm>
              <a:off x="7164000" y="4734000"/>
              <a:ext cx="190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AE3D1713-84D9-2812-8ABE-0108181BB13E}"/>
                    </a:ext>
                  </a:extLst>
                </p:cNvPr>
                <p:cNvSpPr txBox="1"/>
                <p:nvPr/>
              </p:nvSpPr>
              <p:spPr>
                <a:xfrm>
                  <a:off x="5832000" y="2286000"/>
                  <a:ext cx="1260000" cy="338554"/>
                </a:xfrm>
                <a:prstGeom prst="rect">
                  <a:avLst/>
                </a:prstGeom>
                <a:noFill/>
              </p:spPr>
              <p:txBody>
                <a:bodyPr wrap="square" lIns="0" tIns="0" rIns="0" bIns="0" rtlCol="0">
                  <a:spAutoFit/>
                </a:bodyPr>
                <a:lstStyle/>
                <a:p>
                  <a:pPr algn="r"/>
                  <a:r>
                    <a:rPr lang="zh-CN" altLang="en-US" sz="2200" dirty="0">
                      <a:solidFill>
                        <a:schemeClr val="accent5">
                          <a:lumMod val="75000"/>
                        </a:schemeClr>
                      </a:solidFill>
                      <a:latin typeface="微软雅黑" panose="020B0503020204020204" pitchFamily="34" charset="-122"/>
                      <a:ea typeface="微软雅黑" panose="020B0503020204020204" pitchFamily="34" charset="-122"/>
                    </a:rPr>
                    <a:t>刷新 </a:t>
                  </a:r>
                  <a14:m>
                    <m:oMath xmlns:m="http://schemas.openxmlformats.org/officeDocument/2006/math">
                      <m:r>
                        <m:rPr>
                          <m:sty m:val="p"/>
                        </m:rPr>
                        <a:rPr lang="en-US" altLang="zh-CN" sz="2200" b="0" i="0" smtClean="0">
                          <a:solidFill>
                            <a:schemeClr val="accent5">
                              <a:lumMod val="75000"/>
                            </a:schemeClr>
                          </a:solidFill>
                          <a:latin typeface="Cambria Math" panose="02040503050406030204" pitchFamily="18" charset="0"/>
                          <a:ea typeface="微软雅黑" panose="020B0503020204020204" pitchFamily="34" charset="-122"/>
                        </a:rPr>
                        <m:t>R</m:t>
                      </m:r>
                    </m:oMath>
                  </a14:m>
                  <a:r>
                    <a:rPr lang="zh-CN" altLang="en-US" sz="2200" dirty="0">
                      <a:solidFill>
                        <a:schemeClr val="accent5">
                          <a:lumMod val="75000"/>
                        </a:schemeClr>
                      </a:solidFill>
                      <a:latin typeface="微软雅黑" panose="020B0503020204020204" pitchFamily="34" charset="-122"/>
                      <a:ea typeface="微软雅黑" panose="020B0503020204020204" pitchFamily="34" charset="-122"/>
                    </a:rPr>
                    <a:t> </a:t>
                  </a:r>
                </a:p>
              </p:txBody>
            </p:sp>
          </mc:Choice>
          <mc:Fallback xmlns="">
            <p:sp>
              <p:nvSpPr>
                <p:cNvPr id="12" name="文本框 11">
                  <a:extLst>
                    <a:ext uri="{FF2B5EF4-FFF2-40B4-BE49-F238E27FC236}">
                      <a16:creationId xmlns:a16="http://schemas.microsoft.com/office/drawing/2014/main" id="{AE3D1713-84D9-2812-8ABE-0108181BB13E}"/>
                    </a:ext>
                  </a:extLst>
                </p:cNvPr>
                <p:cNvSpPr txBox="1">
                  <a:spLocks noRot="1" noChangeAspect="1" noMove="1" noResize="1" noEditPoints="1" noAdjustHandles="1" noChangeArrowheads="1" noChangeShapeType="1" noTextEdit="1"/>
                </p:cNvSpPr>
                <p:nvPr/>
              </p:nvSpPr>
              <p:spPr>
                <a:xfrm>
                  <a:off x="5832000" y="2286000"/>
                  <a:ext cx="1260000" cy="338554"/>
                </a:xfrm>
                <a:prstGeom prst="rect">
                  <a:avLst/>
                </a:prstGeom>
                <a:blipFill>
                  <a:blip r:embed="rId4"/>
                  <a:stretch>
                    <a:fillRect t="-25000" r="-8738" b="-48214"/>
                  </a:stretch>
                </a:blipFill>
              </p:spPr>
              <p:txBody>
                <a:bodyPr/>
                <a:lstStyle/>
                <a:p>
                  <a:r>
                    <a:rPr lang="zh-CN" altLang="en-US">
                      <a:noFill/>
                    </a:rPr>
                    <a:t> </a:t>
                  </a:r>
                </a:p>
              </p:txBody>
            </p:sp>
          </mc:Fallback>
        </mc:AlternateContent>
        <p:cxnSp>
          <p:nvCxnSpPr>
            <p:cNvPr id="13" name="直接连接符 12">
              <a:extLst>
                <a:ext uri="{FF2B5EF4-FFF2-40B4-BE49-F238E27FC236}">
                  <a16:creationId xmlns:a16="http://schemas.microsoft.com/office/drawing/2014/main" id="{6636A368-E666-8CDB-7A81-936DCCE0B8A6}"/>
                </a:ext>
              </a:extLst>
            </p:cNvPr>
            <p:cNvCxnSpPr>
              <a:cxnSpLocks/>
            </p:cNvCxnSpPr>
            <p:nvPr/>
          </p:nvCxnSpPr>
          <p:spPr>
            <a:xfrm>
              <a:off x="11124000" y="5184000"/>
              <a:ext cx="108000" cy="36000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541CBCD4-24E0-FC72-4D09-DFAE7308819D}"/>
                </a:ext>
              </a:extLst>
            </p:cNvPr>
            <p:cNvSpPr txBox="1"/>
            <p:nvPr/>
          </p:nvSpPr>
          <p:spPr>
            <a:xfrm>
              <a:off x="10800000" y="5580000"/>
              <a:ext cx="1368000" cy="432000"/>
            </a:xfrm>
            <a:prstGeom prst="rect">
              <a:avLst/>
            </a:prstGeom>
            <a:noFill/>
          </p:spPr>
          <p:txBody>
            <a:bodyPr wrap="square">
              <a:spAutoFit/>
            </a:bodyPr>
            <a:lstStyle/>
            <a:p>
              <a:pPr algn="ctr"/>
              <a:r>
                <a:rPr lang="zh-CN" altLang="en-US" sz="2200" dirty="0">
                  <a:solidFill>
                    <a:srgbClr val="0000FF"/>
                  </a:solidFill>
                  <a:latin typeface="微软雅黑" panose="020B0503020204020204" pitchFamily="34" charset="-122"/>
                  <a:ea typeface="微软雅黑" panose="020B0503020204020204" pitchFamily="34" charset="-122"/>
                </a:rPr>
                <a:t>存储单元</a:t>
              </a:r>
              <a:endParaRPr lang="zh-CN" altLang="en-US" sz="2200" dirty="0">
                <a:solidFill>
                  <a:srgbClr val="0000FF"/>
                </a:solidFill>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976B94AE-9A18-9E7C-C0CD-14FDFBB1D4CA}"/>
                    </a:ext>
                  </a:extLst>
                </p:cNvPr>
                <p:cNvSpPr txBox="1"/>
                <p:nvPr/>
              </p:nvSpPr>
              <p:spPr>
                <a:xfrm>
                  <a:off x="9648000" y="5400000"/>
                  <a:ext cx="432000" cy="1080000"/>
                </a:xfrm>
                <a:prstGeom prst="rect">
                  <a:avLst/>
                </a:prstGeom>
                <a:noFill/>
              </p:spPr>
              <p:txBody>
                <a:bodyPr wrap="square">
                  <a:spAutoFit/>
                </a:bodyPr>
                <a:lstStyle/>
                <a:p>
                  <a:pPr algn="ctr"/>
                  <a:r>
                    <a:rPr lang="zh-CN" altLang="en-US" sz="2200" dirty="0">
                      <a:solidFill>
                        <a:schemeClr val="accent5">
                          <a:lumMod val="75000"/>
                        </a:schemeClr>
                      </a:solidFill>
                      <a:latin typeface="微软雅黑" panose="020B0503020204020204" pitchFamily="34" charset="-122"/>
                      <a:ea typeface="微软雅黑" panose="020B0503020204020204" pitchFamily="34" charset="-122"/>
                    </a:rPr>
                    <a:t>位线 </a:t>
                  </a:r>
                  <a14:m>
                    <m:oMath xmlns:m="http://schemas.openxmlformats.org/officeDocument/2006/math">
                      <m:r>
                        <m:rPr>
                          <m:sty m:val="p"/>
                        </m:rPr>
                        <a:rPr lang="en-US" altLang="zh-CN" sz="2200" b="0" i="0" smtClean="0">
                          <a:solidFill>
                            <a:schemeClr val="accent5">
                              <a:lumMod val="75000"/>
                            </a:schemeClr>
                          </a:solidFill>
                          <a:latin typeface="Cambria Math" panose="02040503050406030204" pitchFamily="18" charset="0"/>
                          <a:ea typeface="微软雅黑" panose="020B0503020204020204" pitchFamily="34" charset="-122"/>
                        </a:rPr>
                        <m:t>B</m:t>
                      </m:r>
                    </m:oMath>
                  </a14:m>
                  <a:endParaRPr lang="zh-CN" altLang="en-US" sz="2200" dirty="0">
                    <a:solidFill>
                      <a:schemeClr val="accent5">
                        <a:lumMod val="75000"/>
                      </a:schemeClr>
                    </a:solidFill>
                  </a:endParaRPr>
                </a:p>
              </p:txBody>
            </p:sp>
          </mc:Choice>
          <mc:Fallback xmlns="">
            <p:sp>
              <p:nvSpPr>
                <p:cNvPr id="16" name="文本框 15">
                  <a:extLst>
                    <a:ext uri="{FF2B5EF4-FFF2-40B4-BE49-F238E27FC236}">
                      <a16:creationId xmlns:a16="http://schemas.microsoft.com/office/drawing/2014/main" id="{976B94AE-9A18-9E7C-C0CD-14FDFBB1D4CA}"/>
                    </a:ext>
                  </a:extLst>
                </p:cNvPr>
                <p:cNvSpPr txBox="1">
                  <a:spLocks noRot="1" noChangeAspect="1" noMove="1" noResize="1" noEditPoints="1" noAdjustHandles="1" noChangeArrowheads="1" noChangeShapeType="1" noTextEdit="1"/>
                </p:cNvSpPr>
                <p:nvPr/>
              </p:nvSpPr>
              <p:spPr>
                <a:xfrm>
                  <a:off x="9648000" y="5400000"/>
                  <a:ext cx="432000" cy="1080000"/>
                </a:xfrm>
                <a:prstGeom prst="rect">
                  <a:avLst/>
                </a:prstGeom>
                <a:blipFill>
                  <a:blip r:embed="rId5"/>
                  <a:stretch>
                    <a:fillRect l="-22535" t="-3955" r="-21127"/>
                  </a:stretch>
                </a:blipFill>
              </p:spPr>
              <p:txBody>
                <a:bodyPr/>
                <a:lstStyle/>
                <a:p>
                  <a:r>
                    <a:rPr lang="zh-CN" altLang="en-US">
                      <a:noFill/>
                    </a:rPr>
                    <a:t> </a:t>
                  </a:r>
                </a:p>
              </p:txBody>
            </p:sp>
          </mc:Fallback>
        </mc:AlternateContent>
        <p:cxnSp>
          <p:nvCxnSpPr>
            <p:cNvPr id="17" name="直接连接符 16">
              <a:extLst>
                <a:ext uri="{FF2B5EF4-FFF2-40B4-BE49-F238E27FC236}">
                  <a16:creationId xmlns:a16="http://schemas.microsoft.com/office/drawing/2014/main" id="{3F07CABD-7202-2B82-D354-26D4AA5F5BE8}"/>
                </a:ext>
              </a:extLst>
            </p:cNvPr>
            <p:cNvCxnSpPr>
              <a:cxnSpLocks/>
            </p:cNvCxnSpPr>
            <p:nvPr/>
          </p:nvCxnSpPr>
          <p:spPr>
            <a:xfrm flipH="1">
              <a:off x="7163999" y="3274983"/>
              <a:ext cx="482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01A2CBD9-77BC-02B6-464C-8F5C849D6F33}"/>
                </a:ext>
              </a:extLst>
            </p:cNvPr>
            <p:cNvCxnSpPr>
              <a:cxnSpLocks/>
            </p:cNvCxnSpPr>
            <p:nvPr/>
          </p:nvCxnSpPr>
          <p:spPr>
            <a:xfrm flipV="1">
              <a:off x="9630000" y="2232000"/>
              <a:ext cx="0" cy="407868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2DF93196-2005-5DE8-3BFA-93E421E4B588}"/>
                </a:ext>
              </a:extLst>
            </p:cNvPr>
            <p:cNvCxnSpPr>
              <a:cxnSpLocks/>
            </p:cNvCxnSpPr>
            <p:nvPr/>
          </p:nvCxnSpPr>
          <p:spPr>
            <a:xfrm>
              <a:off x="10296000" y="3816000"/>
              <a:ext cx="46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8088D07D-62CB-6EA5-894B-F91D9DAE6503}"/>
                </a:ext>
              </a:extLst>
            </p:cNvPr>
            <p:cNvCxnSpPr>
              <a:cxnSpLocks/>
            </p:cNvCxnSpPr>
            <p:nvPr/>
          </p:nvCxnSpPr>
          <p:spPr>
            <a:xfrm flipV="1">
              <a:off x="10296000" y="3924000"/>
              <a:ext cx="0" cy="21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2290E346-7D8F-38B1-024D-F282A06493B0}"/>
                </a:ext>
              </a:extLst>
            </p:cNvPr>
            <p:cNvCxnSpPr>
              <a:cxnSpLocks/>
            </p:cNvCxnSpPr>
            <p:nvPr/>
          </p:nvCxnSpPr>
          <p:spPr>
            <a:xfrm>
              <a:off x="10530000" y="3275999"/>
              <a:ext cx="0" cy="5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C1258D73-CB5A-2DB7-7B66-4DD6823A4FB5}"/>
                </a:ext>
              </a:extLst>
            </p:cNvPr>
            <p:cNvCxnSpPr>
              <a:cxnSpLocks/>
            </p:cNvCxnSpPr>
            <p:nvPr/>
          </p:nvCxnSpPr>
          <p:spPr>
            <a:xfrm flipH="1">
              <a:off x="9630000" y="4140000"/>
              <a:ext cx="66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BE9A4D94-7DC0-3C14-8962-9E19F3BA0A46}"/>
                </a:ext>
              </a:extLst>
            </p:cNvPr>
            <p:cNvCxnSpPr>
              <a:cxnSpLocks/>
            </p:cNvCxnSpPr>
            <p:nvPr/>
          </p:nvCxnSpPr>
          <p:spPr>
            <a:xfrm>
              <a:off x="10764000" y="4140000"/>
              <a:ext cx="64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A0236B25-9FFB-05B6-BD3F-F9F90E059A95}"/>
                </a:ext>
              </a:extLst>
            </p:cNvPr>
            <p:cNvCxnSpPr>
              <a:cxnSpLocks/>
            </p:cNvCxnSpPr>
            <p:nvPr/>
          </p:nvCxnSpPr>
          <p:spPr>
            <a:xfrm>
              <a:off x="11412000" y="4140000"/>
              <a:ext cx="0" cy="3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59035021-ABE9-AEA5-0946-D012832ACFC0}"/>
                </a:ext>
              </a:extLst>
            </p:cNvPr>
            <p:cNvCxnSpPr>
              <a:cxnSpLocks/>
            </p:cNvCxnSpPr>
            <p:nvPr/>
          </p:nvCxnSpPr>
          <p:spPr>
            <a:xfrm>
              <a:off x="11196000" y="4500000"/>
              <a:ext cx="43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A65B4CCE-2462-5D63-581A-20ED916D6B8E}"/>
                </a:ext>
              </a:extLst>
            </p:cNvPr>
            <p:cNvCxnSpPr>
              <a:cxnSpLocks/>
            </p:cNvCxnSpPr>
            <p:nvPr/>
          </p:nvCxnSpPr>
          <p:spPr>
            <a:xfrm>
              <a:off x="11412000" y="4644000"/>
              <a:ext cx="0" cy="3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CB28FD72-7F49-CC38-36FC-7B84D536EA1B}"/>
                </a:ext>
              </a:extLst>
            </p:cNvPr>
            <p:cNvCxnSpPr>
              <a:cxnSpLocks/>
            </p:cNvCxnSpPr>
            <p:nvPr/>
          </p:nvCxnSpPr>
          <p:spPr>
            <a:xfrm>
              <a:off x="11268000" y="5004000"/>
              <a:ext cx="288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40DA27F2-685D-6D42-AC5B-000F17EA873B}"/>
                </a:ext>
              </a:extLst>
            </p:cNvPr>
            <p:cNvCxnSpPr>
              <a:cxnSpLocks/>
            </p:cNvCxnSpPr>
            <p:nvPr/>
          </p:nvCxnSpPr>
          <p:spPr>
            <a:xfrm>
              <a:off x="7596000" y="2862000"/>
              <a:ext cx="203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976B4577-7AF4-9D29-FDFC-4DA4251E6FD9}"/>
                </a:ext>
              </a:extLst>
            </p:cNvPr>
            <p:cNvCxnSpPr>
              <a:cxnSpLocks/>
            </p:cNvCxnSpPr>
            <p:nvPr/>
          </p:nvCxnSpPr>
          <p:spPr>
            <a:xfrm>
              <a:off x="8352000" y="2467425"/>
              <a:ext cx="0" cy="252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2C4EE341-FA38-D5A8-8153-07876EFB6E77}"/>
                </a:ext>
              </a:extLst>
            </p:cNvPr>
            <p:cNvCxnSpPr>
              <a:cxnSpLocks/>
            </p:cNvCxnSpPr>
            <p:nvPr/>
          </p:nvCxnSpPr>
          <p:spPr>
            <a:xfrm>
              <a:off x="7164000" y="2466000"/>
              <a:ext cx="118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等腰三角形 30">
              <a:extLst>
                <a:ext uri="{FF2B5EF4-FFF2-40B4-BE49-F238E27FC236}">
                  <a16:creationId xmlns:a16="http://schemas.microsoft.com/office/drawing/2014/main" id="{9501B9F2-79E8-0816-41E7-CACA217EC7C1}"/>
                </a:ext>
              </a:extLst>
            </p:cNvPr>
            <p:cNvSpPr/>
            <p:nvPr/>
          </p:nvSpPr>
          <p:spPr>
            <a:xfrm rot="5400000">
              <a:off x="8064000" y="2628000"/>
              <a:ext cx="576000" cy="468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200"/>
            </a:p>
          </p:txBody>
        </p:sp>
        <p:cxnSp>
          <p:nvCxnSpPr>
            <p:cNvPr id="32" name="直接连接符 31">
              <a:extLst>
                <a:ext uri="{FF2B5EF4-FFF2-40B4-BE49-F238E27FC236}">
                  <a16:creationId xmlns:a16="http://schemas.microsoft.com/office/drawing/2014/main" id="{1ED8C1A0-CAC3-488A-006A-E8919750421F}"/>
                </a:ext>
              </a:extLst>
            </p:cNvPr>
            <p:cNvCxnSpPr>
              <a:cxnSpLocks/>
            </p:cNvCxnSpPr>
            <p:nvPr/>
          </p:nvCxnSpPr>
          <p:spPr>
            <a:xfrm>
              <a:off x="7164000" y="5598000"/>
              <a:ext cx="191181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D02062D8-24C8-0B07-FBAA-1355921A6BAA}"/>
                </a:ext>
              </a:extLst>
            </p:cNvPr>
            <p:cNvCxnSpPr>
              <a:cxnSpLocks/>
              <a:stCxn id="35" idx="5"/>
              <a:endCxn id="34" idx="1"/>
            </p:cNvCxnSpPr>
            <p:nvPr/>
          </p:nvCxnSpPr>
          <p:spPr>
            <a:xfrm>
              <a:off x="8568000" y="4878000"/>
              <a:ext cx="0" cy="57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等腰三角形 33">
              <a:extLst>
                <a:ext uri="{FF2B5EF4-FFF2-40B4-BE49-F238E27FC236}">
                  <a16:creationId xmlns:a16="http://schemas.microsoft.com/office/drawing/2014/main" id="{F47E2A07-5332-D922-7B11-81B4159D9111}"/>
                </a:ext>
              </a:extLst>
            </p:cNvPr>
            <p:cNvSpPr/>
            <p:nvPr/>
          </p:nvSpPr>
          <p:spPr>
            <a:xfrm rot="5400000">
              <a:off x="8280000" y="5364000"/>
              <a:ext cx="576000" cy="468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200"/>
            </a:p>
          </p:txBody>
        </p:sp>
        <p:sp>
          <p:nvSpPr>
            <p:cNvPr id="35" name="等腰三角形 34">
              <a:extLst>
                <a:ext uri="{FF2B5EF4-FFF2-40B4-BE49-F238E27FC236}">
                  <a16:creationId xmlns:a16="http://schemas.microsoft.com/office/drawing/2014/main" id="{6BA87C8C-FD78-42FC-1CA1-07E2BBA86964}"/>
                </a:ext>
              </a:extLst>
            </p:cNvPr>
            <p:cNvSpPr/>
            <p:nvPr/>
          </p:nvSpPr>
          <p:spPr>
            <a:xfrm rot="16200000" flipH="1">
              <a:off x="8280000" y="4500000"/>
              <a:ext cx="576000" cy="468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200"/>
            </a:p>
          </p:txBody>
        </p:sp>
        <p:cxnSp>
          <p:nvCxnSpPr>
            <p:cNvPr id="36" name="直接连接符 35">
              <a:extLst>
                <a:ext uri="{FF2B5EF4-FFF2-40B4-BE49-F238E27FC236}">
                  <a16:creationId xmlns:a16="http://schemas.microsoft.com/office/drawing/2014/main" id="{6C829A95-5DAE-17B5-90E5-6DCF7D827461}"/>
                </a:ext>
              </a:extLst>
            </p:cNvPr>
            <p:cNvCxnSpPr>
              <a:cxnSpLocks/>
            </p:cNvCxnSpPr>
            <p:nvPr/>
          </p:nvCxnSpPr>
          <p:spPr>
            <a:xfrm>
              <a:off x="9072000" y="4734000"/>
              <a:ext cx="0" cy="864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F5540D4A-8F3B-ADE6-4CEB-EA190E65F10B}"/>
                </a:ext>
              </a:extLst>
            </p:cNvPr>
            <p:cNvCxnSpPr>
              <a:cxnSpLocks/>
            </p:cNvCxnSpPr>
            <p:nvPr/>
          </p:nvCxnSpPr>
          <p:spPr>
            <a:xfrm>
              <a:off x="7164000" y="5165999"/>
              <a:ext cx="140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A0E8E28A-267E-7AD8-F6AF-1ECAC44FD696}"/>
                </a:ext>
              </a:extLst>
            </p:cNvPr>
            <p:cNvCxnSpPr>
              <a:cxnSpLocks/>
            </p:cNvCxnSpPr>
            <p:nvPr/>
          </p:nvCxnSpPr>
          <p:spPr>
            <a:xfrm>
              <a:off x="9071176" y="5166000"/>
              <a:ext cx="55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4ADC21B3-2C3C-2508-4CC3-789A62FA9A2F}"/>
                </a:ext>
              </a:extLst>
            </p:cNvPr>
            <p:cNvCxnSpPr>
              <a:cxnSpLocks/>
            </p:cNvCxnSpPr>
            <p:nvPr/>
          </p:nvCxnSpPr>
          <p:spPr>
            <a:xfrm>
              <a:off x="7596000" y="2862000"/>
              <a:ext cx="0" cy="18990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椭圆 39">
              <a:extLst>
                <a:ext uri="{FF2B5EF4-FFF2-40B4-BE49-F238E27FC236}">
                  <a16:creationId xmlns:a16="http://schemas.microsoft.com/office/drawing/2014/main" id="{47ED907C-3993-E04B-A060-B7E660DC8874}"/>
                </a:ext>
              </a:extLst>
            </p:cNvPr>
            <p:cNvSpPr/>
            <p:nvPr/>
          </p:nvSpPr>
          <p:spPr>
            <a:xfrm>
              <a:off x="7542000" y="4680000"/>
              <a:ext cx="108000" cy="108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41" name="椭圆 40">
              <a:extLst>
                <a:ext uri="{FF2B5EF4-FFF2-40B4-BE49-F238E27FC236}">
                  <a16:creationId xmlns:a16="http://schemas.microsoft.com/office/drawing/2014/main" id="{4A4F7ABA-5142-061C-5877-885024F42AC3}"/>
                </a:ext>
              </a:extLst>
            </p:cNvPr>
            <p:cNvSpPr/>
            <p:nvPr/>
          </p:nvSpPr>
          <p:spPr>
            <a:xfrm>
              <a:off x="9021380" y="5111075"/>
              <a:ext cx="108000" cy="108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42" name="椭圆 41">
              <a:extLst>
                <a:ext uri="{FF2B5EF4-FFF2-40B4-BE49-F238E27FC236}">
                  <a16:creationId xmlns:a16="http://schemas.microsoft.com/office/drawing/2014/main" id="{6A6034C7-4EC0-826D-8FE6-D37903AD9D66}"/>
                </a:ext>
              </a:extLst>
            </p:cNvPr>
            <p:cNvSpPr/>
            <p:nvPr/>
          </p:nvSpPr>
          <p:spPr>
            <a:xfrm>
              <a:off x="8514000" y="5112000"/>
              <a:ext cx="108000" cy="108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43" name="椭圆 42">
              <a:extLst>
                <a:ext uri="{FF2B5EF4-FFF2-40B4-BE49-F238E27FC236}">
                  <a16:creationId xmlns:a16="http://schemas.microsoft.com/office/drawing/2014/main" id="{79EE9CBE-6514-ED9D-24EF-8C511D9FC864}"/>
                </a:ext>
              </a:extLst>
            </p:cNvPr>
            <p:cNvSpPr/>
            <p:nvPr/>
          </p:nvSpPr>
          <p:spPr>
            <a:xfrm>
              <a:off x="9576000" y="4086000"/>
              <a:ext cx="108000" cy="108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44" name="椭圆 43">
              <a:extLst>
                <a:ext uri="{FF2B5EF4-FFF2-40B4-BE49-F238E27FC236}">
                  <a16:creationId xmlns:a16="http://schemas.microsoft.com/office/drawing/2014/main" id="{6678FEBD-9178-0979-3153-FEB4F277B899}"/>
                </a:ext>
              </a:extLst>
            </p:cNvPr>
            <p:cNvSpPr/>
            <p:nvPr/>
          </p:nvSpPr>
          <p:spPr>
            <a:xfrm>
              <a:off x="9576000" y="2808000"/>
              <a:ext cx="108000" cy="108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45" name="椭圆 44">
              <a:extLst>
                <a:ext uri="{FF2B5EF4-FFF2-40B4-BE49-F238E27FC236}">
                  <a16:creationId xmlns:a16="http://schemas.microsoft.com/office/drawing/2014/main" id="{53ED8C4D-4209-11B1-317E-BC335A3B6856}"/>
                </a:ext>
              </a:extLst>
            </p:cNvPr>
            <p:cNvSpPr/>
            <p:nvPr/>
          </p:nvSpPr>
          <p:spPr>
            <a:xfrm>
              <a:off x="10476000" y="3222000"/>
              <a:ext cx="108000" cy="108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700E26DB-16F2-E4F2-5AA1-31DB974A5E76}"/>
                    </a:ext>
                  </a:extLst>
                </p:cNvPr>
                <p:cNvSpPr txBox="1"/>
                <p:nvPr/>
              </p:nvSpPr>
              <p:spPr>
                <a:xfrm>
                  <a:off x="11628000" y="4392000"/>
                  <a:ext cx="288000" cy="360000"/>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r>
                          <m:rPr>
                            <m:sty m:val="p"/>
                          </m:rPr>
                          <a:rPr lang="en-US" altLang="zh-CN" sz="2200" b="0" i="0" smtClean="0">
                            <a:solidFill>
                              <a:schemeClr val="tx1"/>
                            </a:solidFill>
                            <a:latin typeface="Cambria Math" panose="02040503050406030204" pitchFamily="18" charset="0"/>
                          </a:rPr>
                          <m:t>C</m:t>
                        </m:r>
                      </m:oMath>
                    </m:oMathPara>
                  </a14:m>
                  <a:endParaRPr lang="zh-CN" altLang="en-US" sz="2200" dirty="0">
                    <a:solidFill>
                      <a:schemeClr val="tx1"/>
                    </a:solidFill>
                  </a:endParaRPr>
                </a:p>
              </p:txBody>
            </p:sp>
          </mc:Choice>
          <mc:Fallback xmlns="">
            <p:sp>
              <p:nvSpPr>
                <p:cNvPr id="46" name="文本框 45">
                  <a:extLst>
                    <a:ext uri="{FF2B5EF4-FFF2-40B4-BE49-F238E27FC236}">
                      <a16:creationId xmlns:a16="http://schemas.microsoft.com/office/drawing/2014/main" id="{700E26DB-16F2-E4F2-5AA1-31DB974A5E76}"/>
                    </a:ext>
                  </a:extLst>
                </p:cNvPr>
                <p:cNvSpPr txBox="1">
                  <a:spLocks noRot="1" noChangeAspect="1" noMove="1" noResize="1" noEditPoints="1" noAdjustHandles="1" noChangeArrowheads="1" noChangeShapeType="1" noTextEdit="1"/>
                </p:cNvSpPr>
                <p:nvPr/>
              </p:nvSpPr>
              <p:spPr>
                <a:xfrm>
                  <a:off x="11628000" y="4392000"/>
                  <a:ext cx="288000" cy="360000"/>
                </a:xfrm>
                <a:prstGeom prst="rect">
                  <a:avLst/>
                </a:prstGeom>
                <a:blipFill>
                  <a:blip r:embed="rId6"/>
                  <a:stretch>
                    <a:fillRect l="-10417" r="-104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10B7614A-2397-5F92-3493-7960836FE60C}"/>
                    </a:ext>
                  </a:extLst>
                </p:cNvPr>
                <p:cNvSpPr txBox="1"/>
                <p:nvPr/>
              </p:nvSpPr>
              <p:spPr>
                <a:xfrm>
                  <a:off x="10386000" y="4140000"/>
                  <a:ext cx="288000" cy="360000"/>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r>
                          <m:rPr>
                            <m:sty m:val="p"/>
                          </m:rPr>
                          <a:rPr lang="en-US" altLang="zh-CN" sz="2200" b="0" i="0" smtClean="0">
                            <a:solidFill>
                              <a:schemeClr val="tx1"/>
                            </a:solidFill>
                            <a:latin typeface="Cambria Math" panose="02040503050406030204" pitchFamily="18" charset="0"/>
                          </a:rPr>
                          <m:t>T</m:t>
                        </m:r>
                      </m:oMath>
                    </m:oMathPara>
                  </a14:m>
                  <a:endParaRPr lang="zh-CN" altLang="en-US" sz="2200" dirty="0">
                    <a:solidFill>
                      <a:schemeClr val="tx1"/>
                    </a:solidFill>
                  </a:endParaRPr>
                </a:p>
              </p:txBody>
            </p:sp>
          </mc:Choice>
          <mc:Fallback xmlns="">
            <p:sp>
              <p:nvSpPr>
                <p:cNvPr id="47" name="文本框 46">
                  <a:extLst>
                    <a:ext uri="{FF2B5EF4-FFF2-40B4-BE49-F238E27FC236}">
                      <a16:creationId xmlns:a16="http://schemas.microsoft.com/office/drawing/2014/main" id="{10B7614A-2397-5F92-3493-7960836FE60C}"/>
                    </a:ext>
                  </a:extLst>
                </p:cNvPr>
                <p:cNvSpPr txBox="1">
                  <a:spLocks noRot="1" noChangeAspect="1" noMove="1" noResize="1" noEditPoints="1" noAdjustHandles="1" noChangeArrowheads="1" noChangeShapeType="1" noTextEdit="1"/>
                </p:cNvSpPr>
                <p:nvPr/>
              </p:nvSpPr>
              <p:spPr>
                <a:xfrm>
                  <a:off x="10386000" y="4140000"/>
                  <a:ext cx="288000" cy="360000"/>
                </a:xfrm>
                <a:prstGeom prst="rect">
                  <a:avLst/>
                </a:prstGeom>
                <a:blipFill>
                  <a:blip r:embed="rId7"/>
                  <a:stretch>
                    <a:fillRect l="-12766" r="-1276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B3C66D6A-45D8-7B85-A2CE-AC4FD3813AAF}"/>
                    </a:ext>
                  </a:extLst>
                </p:cNvPr>
                <p:cNvSpPr txBox="1"/>
                <p:nvPr/>
              </p:nvSpPr>
              <p:spPr>
                <a:xfrm>
                  <a:off x="10872000" y="4176000"/>
                  <a:ext cx="360000" cy="720000"/>
                </a:xfrm>
                <a:prstGeom prst="rect">
                  <a:avLst/>
                </a:prstGeom>
                <a:noFill/>
              </p:spPr>
              <p:txBody>
                <a:bodyPr wrap="square" lIns="0" tIns="0" rIns="0" bIns="0" rtlCol="0">
                  <a:spAutoFit/>
                </a:bodyPr>
                <a:lstStyle/>
                <a:p>
                  <a:pPr>
                    <a:spcAft>
                      <a:spcPts val="600"/>
                    </a:spcAft>
                  </a:pPr>
                  <a14:m>
                    <m:oMathPara xmlns:m="http://schemas.openxmlformats.org/officeDocument/2006/math">
                      <m:oMathParaPr>
                        <m:jc m:val="center"/>
                      </m:oMathParaPr>
                      <m:oMath xmlns:m="http://schemas.openxmlformats.org/officeDocument/2006/math">
                        <m:r>
                          <a:rPr lang="en-US" altLang="zh-CN" sz="2200" i="1" smtClean="0">
                            <a:latin typeface="Cambria Math" panose="02040503050406030204" pitchFamily="18" charset="0"/>
                          </a:rPr>
                          <m:t>+</m:t>
                        </m:r>
                      </m:oMath>
                    </m:oMathPara>
                  </a14:m>
                  <a:endParaRPr lang="en-US" altLang="zh-CN" sz="2200" b="0" i="1" dirty="0">
                    <a:solidFill>
                      <a:schemeClr val="tx1"/>
                    </a:solidFill>
                    <a:latin typeface="Cambria Math" panose="02040503050406030204" pitchFamily="18" charset="0"/>
                  </a:endParaRPr>
                </a:p>
                <a:p>
                  <a:pPr>
                    <a:spcAft>
                      <a:spcPts val="600"/>
                    </a:spcAft>
                  </a:pPr>
                  <a14:m>
                    <m:oMathPara xmlns:m="http://schemas.openxmlformats.org/officeDocument/2006/math">
                      <m:oMathParaPr>
                        <m:jc m:val="center"/>
                      </m:oMathParaPr>
                      <m:oMath xmlns:m="http://schemas.openxmlformats.org/officeDocument/2006/math">
                        <m:r>
                          <a:rPr lang="en-US" altLang="zh-CN" sz="2200" b="0" i="1" smtClean="0">
                            <a:solidFill>
                              <a:schemeClr val="tx1"/>
                            </a:solidFill>
                            <a:latin typeface="Cambria Math" panose="02040503050406030204" pitchFamily="18" charset="0"/>
                          </a:rPr>
                          <m:t>−</m:t>
                        </m:r>
                      </m:oMath>
                    </m:oMathPara>
                  </a14:m>
                  <a:endParaRPr lang="en-US" altLang="zh-CN" sz="2200" b="0" dirty="0">
                    <a:solidFill>
                      <a:schemeClr val="tx1"/>
                    </a:solidFill>
                  </a:endParaRPr>
                </a:p>
              </p:txBody>
            </p:sp>
          </mc:Choice>
          <mc:Fallback xmlns="">
            <p:sp>
              <p:nvSpPr>
                <p:cNvPr id="48" name="文本框 47">
                  <a:extLst>
                    <a:ext uri="{FF2B5EF4-FFF2-40B4-BE49-F238E27FC236}">
                      <a16:creationId xmlns:a16="http://schemas.microsoft.com/office/drawing/2014/main" id="{B3C66D6A-45D8-7B85-A2CE-AC4FD3813AAF}"/>
                    </a:ext>
                  </a:extLst>
                </p:cNvPr>
                <p:cNvSpPr txBox="1">
                  <a:spLocks noRot="1" noChangeAspect="1" noMove="1" noResize="1" noEditPoints="1" noAdjustHandles="1" noChangeArrowheads="1" noChangeShapeType="1" noTextEdit="1"/>
                </p:cNvSpPr>
                <p:nvPr/>
              </p:nvSpPr>
              <p:spPr>
                <a:xfrm>
                  <a:off x="10872000" y="4176000"/>
                  <a:ext cx="360000" cy="720000"/>
                </a:xfrm>
                <a:prstGeom prst="rect">
                  <a:avLst/>
                </a:prstGeom>
                <a:blipFill>
                  <a:blip r:embed="rId8"/>
                  <a:stretch>
                    <a:fillRect/>
                  </a:stretch>
                </a:blipFill>
              </p:spPr>
              <p:txBody>
                <a:bodyPr/>
                <a:lstStyle/>
                <a:p>
                  <a:r>
                    <a:rPr lang="zh-CN" altLang="en-US">
                      <a:noFill/>
                    </a:rPr>
                    <a:t> </a:t>
                  </a:r>
                </a:p>
              </p:txBody>
            </p:sp>
          </mc:Fallback>
        </mc:AlternateContent>
        <p:sp>
          <p:nvSpPr>
            <p:cNvPr id="49" name="椭圆 48">
              <a:extLst>
                <a:ext uri="{FF2B5EF4-FFF2-40B4-BE49-F238E27FC236}">
                  <a16:creationId xmlns:a16="http://schemas.microsoft.com/office/drawing/2014/main" id="{CE1B622C-18F5-A4B4-6BFF-1A3679D8ECBE}"/>
                </a:ext>
              </a:extLst>
            </p:cNvPr>
            <p:cNvSpPr/>
            <p:nvPr/>
          </p:nvSpPr>
          <p:spPr>
            <a:xfrm>
              <a:off x="9576000" y="5111075"/>
              <a:ext cx="108000" cy="108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50" name="矩形 49">
              <a:extLst>
                <a:ext uri="{FF2B5EF4-FFF2-40B4-BE49-F238E27FC236}">
                  <a16:creationId xmlns:a16="http://schemas.microsoft.com/office/drawing/2014/main" id="{54D4A6CC-7F69-EB46-ED61-1E53554624E5}"/>
                </a:ext>
              </a:extLst>
            </p:cNvPr>
            <p:cNvSpPr/>
            <p:nvPr/>
          </p:nvSpPr>
          <p:spPr>
            <a:xfrm>
              <a:off x="10080000" y="3636000"/>
              <a:ext cx="1872000" cy="1512000"/>
            </a:xfrm>
            <a:prstGeom prst="rect">
              <a:avLst/>
            </a:prstGeom>
            <a:noFill/>
            <a:ln w="25400">
              <a:solidFill>
                <a:srgbClr val="0000FF"/>
              </a:solidFill>
              <a:prstDash val="sysDot"/>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200"/>
            </a:p>
          </p:txBody>
        </p:sp>
        <p:sp>
          <p:nvSpPr>
            <p:cNvPr id="51" name="文本框 50">
              <a:extLst>
                <a:ext uri="{FF2B5EF4-FFF2-40B4-BE49-F238E27FC236}">
                  <a16:creationId xmlns:a16="http://schemas.microsoft.com/office/drawing/2014/main" id="{7B094DAC-BAF9-32D8-7CFE-3E0C8DC8A637}"/>
                </a:ext>
              </a:extLst>
            </p:cNvPr>
            <p:cNvSpPr txBox="1"/>
            <p:nvPr/>
          </p:nvSpPr>
          <p:spPr>
            <a:xfrm>
              <a:off x="7920000" y="5868000"/>
              <a:ext cx="1296000" cy="684000"/>
            </a:xfrm>
            <a:prstGeom prst="rect">
              <a:avLst/>
            </a:prstGeom>
            <a:noFill/>
          </p:spPr>
          <p:txBody>
            <a:bodyPr wrap="square">
              <a:spAutoFit/>
            </a:bodyPr>
            <a:lstStyle/>
            <a:p>
              <a:pPr algn="ctr"/>
              <a:r>
                <a:rPr lang="zh-CN" altLang="en-US" sz="2200" dirty="0">
                  <a:latin typeface="微软雅黑" panose="020B0503020204020204" pitchFamily="34" charset="-122"/>
                  <a:ea typeface="微软雅黑" panose="020B0503020204020204" pitchFamily="34" charset="-122"/>
                </a:rPr>
                <a:t>输入</a:t>
              </a:r>
              <a:endParaRPr lang="en-US" altLang="zh-CN" sz="2200" dirty="0">
                <a:latin typeface="微软雅黑" panose="020B0503020204020204" pitchFamily="34" charset="-122"/>
                <a:ea typeface="微软雅黑" panose="020B0503020204020204" pitchFamily="34" charset="-122"/>
              </a:endParaRPr>
            </a:p>
            <a:p>
              <a:pPr algn="ctr"/>
              <a:r>
                <a:rPr lang="zh-CN" altLang="en-US" sz="2200" dirty="0">
                  <a:latin typeface="微软雅黑" panose="020B0503020204020204" pitchFamily="34" charset="-122"/>
                  <a:ea typeface="微软雅黑" panose="020B0503020204020204" pitchFamily="34" charset="-122"/>
                </a:rPr>
                <a:t>缓冲器</a:t>
              </a:r>
              <a:endParaRPr lang="zh-CN" altLang="en-US" sz="2200" dirty="0"/>
            </a:p>
          </p:txBody>
        </p:sp>
        <p:sp>
          <p:nvSpPr>
            <p:cNvPr id="52" name="文本框 51">
              <a:extLst>
                <a:ext uri="{FF2B5EF4-FFF2-40B4-BE49-F238E27FC236}">
                  <a16:creationId xmlns:a16="http://schemas.microsoft.com/office/drawing/2014/main" id="{76854463-EE6E-38AD-F222-47ADFCF99ECD}"/>
                </a:ext>
              </a:extLst>
            </p:cNvPr>
            <p:cNvSpPr txBox="1"/>
            <p:nvPr/>
          </p:nvSpPr>
          <p:spPr>
            <a:xfrm>
              <a:off x="7560000" y="3744000"/>
              <a:ext cx="2160000" cy="792000"/>
            </a:xfrm>
            <a:prstGeom prst="rect">
              <a:avLst/>
            </a:prstGeom>
            <a:noFill/>
          </p:spPr>
          <p:txBody>
            <a:bodyPr wrap="square">
              <a:spAutoFit/>
            </a:bodyPr>
            <a:lstStyle/>
            <a:p>
              <a:pPr algn="ctr"/>
              <a:r>
                <a:rPr lang="zh-CN" altLang="en-US" sz="2200" dirty="0">
                  <a:latin typeface="微软雅黑" panose="020B0503020204020204" pitchFamily="34" charset="-122"/>
                  <a:ea typeface="微软雅黑" panose="020B0503020204020204" pitchFamily="34" charset="-122"/>
                </a:rPr>
                <a:t>输出缓冲器</a:t>
              </a:r>
              <a:r>
                <a:rPr lang="en-US" altLang="zh-CN" sz="2200" dirty="0">
                  <a:latin typeface="微软雅黑" panose="020B0503020204020204" pitchFamily="34" charset="-122"/>
                  <a:ea typeface="微软雅黑" panose="020B0503020204020204" pitchFamily="34" charset="-122"/>
                </a:rPr>
                <a:t>/</a:t>
              </a:r>
            </a:p>
            <a:p>
              <a:pPr algn="ctr"/>
              <a:r>
                <a:rPr lang="zh-CN" altLang="en-US" sz="2200" dirty="0">
                  <a:latin typeface="微软雅黑" panose="020B0503020204020204" pitchFamily="34" charset="-122"/>
                  <a:ea typeface="微软雅黑" panose="020B0503020204020204" pitchFamily="34" charset="-122"/>
                </a:rPr>
                <a:t>灵敏放大器</a:t>
              </a:r>
              <a:endParaRPr lang="zh-CN" altLang="en-US" sz="2200" dirty="0"/>
            </a:p>
          </p:txBody>
        </p:sp>
        <p:sp>
          <p:nvSpPr>
            <p:cNvPr id="53" name="椭圆 52">
              <a:extLst>
                <a:ext uri="{FF2B5EF4-FFF2-40B4-BE49-F238E27FC236}">
                  <a16:creationId xmlns:a16="http://schemas.microsoft.com/office/drawing/2014/main" id="{50F1587F-A212-76FF-8694-B1462F5C401F}"/>
                </a:ext>
              </a:extLst>
            </p:cNvPr>
            <p:cNvSpPr/>
            <p:nvPr/>
          </p:nvSpPr>
          <p:spPr>
            <a:xfrm>
              <a:off x="8514000" y="532800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ECBA151E-A36F-910A-6B94-BDA90BB5CCFC}"/>
                    </a:ext>
                  </a:extLst>
                </p:cNvPr>
                <p:cNvSpPr txBox="1"/>
                <p:nvPr/>
              </p:nvSpPr>
              <p:spPr>
                <a:xfrm>
                  <a:off x="5832000" y="3096000"/>
                  <a:ext cx="1260000" cy="360000"/>
                </a:xfrm>
                <a:prstGeom prst="rect">
                  <a:avLst/>
                </a:prstGeom>
                <a:noFill/>
              </p:spPr>
              <p:txBody>
                <a:bodyPr wrap="square" lIns="0" tIns="0" rIns="0" bIns="0" rtlCol="0">
                  <a:spAutoFit/>
                </a:bodyPr>
                <a:lstStyle/>
                <a:p>
                  <a:pPr algn="r"/>
                  <a:r>
                    <a:rPr lang="zh-CN" altLang="en-US" sz="2200" dirty="0">
                      <a:solidFill>
                        <a:schemeClr val="accent5">
                          <a:lumMod val="75000"/>
                        </a:schemeClr>
                      </a:solidFill>
                      <a:latin typeface="微软雅黑" panose="020B0503020204020204" pitchFamily="34" charset="-122"/>
                      <a:ea typeface="微软雅黑" panose="020B0503020204020204" pitchFamily="34" charset="-122"/>
                    </a:rPr>
                    <a:t>行选线 </a:t>
                  </a:r>
                  <a14:m>
                    <m:oMath xmlns:m="http://schemas.openxmlformats.org/officeDocument/2006/math">
                      <m:r>
                        <a:rPr lang="en-US" altLang="zh-CN" sz="2200" b="0" i="1" smtClean="0">
                          <a:solidFill>
                            <a:schemeClr val="accent5">
                              <a:lumMod val="75000"/>
                            </a:schemeClr>
                          </a:solidFill>
                          <a:latin typeface="Cambria Math" panose="02040503050406030204" pitchFamily="18" charset="0"/>
                          <a:ea typeface="微软雅黑" panose="020B0503020204020204" pitchFamily="34" charset="-122"/>
                        </a:rPr>
                        <m:t>𝑋</m:t>
                      </m:r>
                    </m:oMath>
                  </a14:m>
                  <a:r>
                    <a:rPr lang="zh-CN" altLang="en-US" sz="2200" dirty="0">
                      <a:solidFill>
                        <a:schemeClr val="accent5">
                          <a:lumMod val="75000"/>
                        </a:schemeClr>
                      </a:solidFill>
                      <a:latin typeface="微软雅黑" panose="020B0503020204020204" pitchFamily="34" charset="-122"/>
                      <a:ea typeface="微软雅黑" panose="020B0503020204020204" pitchFamily="34" charset="-122"/>
                    </a:rPr>
                    <a:t> </a:t>
                  </a:r>
                </a:p>
              </p:txBody>
            </p:sp>
          </mc:Choice>
          <mc:Fallback xmlns="">
            <p:sp>
              <p:nvSpPr>
                <p:cNvPr id="54" name="文本框 53">
                  <a:extLst>
                    <a:ext uri="{FF2B5EF4-FFF2-40B4-BE49-F238E27FC236}">
                      <a16:creationId xmlns:a16="http://schemas.microsoft.com/office/drawing/2014/main" id="{ECBA151E-A36F-910A-6B94-BDA90BB5CCFC}"/>
                    </a:ext>
                  </a:extLst>
                </p:cNvPr>
                <p:cNvSpPr txBox="1">
                  <a:spLocks noRot="1" noChangeAspect="1" noMove="1" noResize="1" noEditPoints="1" noAdjustHandles="1" noChangeArrowheads="1" noChangeShapeType="1" noTextEdit="1"/>
                </p:cNvSpPr>
                <p:nvPr/>
              </p:nvSpPr>
              <p:spPr>
                <a:xfrm>
                  <a:off x="5832000" y="3096000"/>
                  <a:ext cx="1260000" cy="360000"/>
                </a:xfrm>
                <a:prstGeom prst="rect">
                  <a:avLst/>
                </a:prstGeom>
                <a:blipFill>
                  <a:blip r:embed="rId9"/>
                  <a:stretch>
                    <a:fillRect l="-1456" t="-23729" r="-7767" b="-406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4827C8C7-1FA6-D186-B0A7-AF4F98CCE9BE}"/>
                    </a:ext>
                  </a:extLst>
                </p:cNvPr>
                <p:cNvSpPr txBox="1"/>
                <p:nvPr/>
              </p:nvSpPr>
              <p:spPr>
                <a:xfrm>
                  <a:off x="5832000" y="4986000"/>
                  <a:ext cx="1260000" cy="360000"/>
                </a:xfrm>
                <a:prstGeom prst="rect">
                  <a:avLst/>
                </a:prstGeom>
                <a:noFill/>
              </p:spPr>
              <p:txBody>
                <a:bodyPr wrap="square" lIns="0" tIns="0" rIns="0" bIns="0" rtlCol="0">
                  <a:spAutoFit/>
                </a:bodyPr>
                <a:lstStyle/>
                <a:p>
                  <a:pPr algn="r"/>
                  <a:r>
                    <a:rPr kumimoji="1" lang="zh-CN" altLang="en-US" sz="2200" dirty="0">
                      <a:solidFill>
                        <a:schemeClr val="accent5">
                          <a:lumMod val="75000"/>
                        </a:schemeClr>
                      </a:solidFill>
                      <a:latin typeface="微软雅黑" panose="020B0503020204020204" pitchFamily="34" charset="-122"/>
                      <a:ea typeface="微软雅黑" panose="020B0503020204020204" pitchFamily="34" charset="-122"/>
                    </a:rPr>
                    <a:t>读</a:t>
                  </a:r>
                  <a:r>
                    <a:rPr kumimoji="1" lang="en-US" altLang="zh-CN" sz="2200" dirty="0">
                      <a:solidFill>
                        <a:schemeClr val="accent5">
                          <a:lumMod val="75000"/>
                        </a:schemeClr>
                      </a:solidFill>
                      <a:latin typeface="微软雅黑" panose="020B0503020204020204" pitchFamily="34" charset="-122"/>
                      <a:ea typeface="微软雅黑" panose="020B0503020204020204" pitchFamily="34" charset="-122"/>
                    </a:rPr>
                    <a:t>/</a:t>
                  </a:r>
                  <a:r>
                    <a:rPr kumimoji="1" lang="zh-CN" altLang="en-US" sz="2200" dirty="0">
                      <a:solidFill>
                        <a:schemeClr val="accent5">
                          <a:lumMod val="75000"/>
                        </a:schemeClr>
                      </a:solidFill>
                      <a:latin typeface="微软雅黑" panose="020B0503020204020204" pitchFamily="34" charset="-122"/>
                      <a:ea typeface="微软雅黑" panose="020B0503020204020204" pitchFamily="34" charset="-122"/>
                    </a:rPr>
                    <a:t>写 </a:t>
                  </a:r>
                  <a14:m>
                    <m:oMath xmlns:m="http://schemas.openxmlformats.org/officeDocument/2006/math">
                      <m:acc>
                        <m:accPr>
                          <m:chr m:val="̅"/>
                          <m:ctrlPr>
                            <a:rPr kumimoji="1" lang="en-US" altLang="zh-CN" sz="22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200">
                              <a:solidFill>
                                <a:schemeClr val="accent5">
                                  <a:lumMod val="75000"/>
                                </a:schemeClr>
                              </a:solidFill>
                              <a:latin typeface="Cambria Math" panose="02040503050406030204" pitchFamily="18" charset="0"/>
                              <a:ea typeface="微软雅黑" panose="020B0503020204020204" pitchFamily="34" charset="-122"/>
                            </a:rPr>
                            <m:t>WE</m:t>
                          </m:r>
                        </m:e>
                      </m:acc>
                    </m:oMath>
                  </a14:m>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55" name="文本框 54">
                  <a:extLst>
                    <a:ext uri="{FF2B5EF4-FFF2-40B4-BE49-F238E27FC236}">
                      <a16:creationId xmlns:a16="http://schemas.microsoft.com/office/drawing/2014/main" id="{4827C8C7-1FA6-D186-B0A7-AF4F98CCE9BE}"/>
                    </a:ext>
                  </a:extLst>
                </p:cNvPr>
                <p:cNvSpPr txBox="1">
                  <a:spLocks noRot="1" noChangeAspect="1" noMove="1" noResize="1" noEditPoints="1" noAdjustHandles="1" noChangeArrowheads="1" noChangeShapeType="1" noTextEdit="1"/>
                </p:cNvSpPr>
                <p:nvPr/>
              </p:nvSpPr>
              <p:spPr>
                <a:xfrm>
                  <a:off x="5832000" y="4986000"/>
                  <a:ext cx="1260000" cy="360000"/>
                </a:xfrm>
                <a:prstGeom prst="rect">
                  <a:avLst/>
                </a:prstGeom>
                <a:blipFill>
                  <a:blip r:embed="rId10"/>
                  <a:stretch>
                    <a:fillRect l="-6796" t="-23729" r="-8252" b="-406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3D48CCAC-B348-535B-9B3C-940CA4AE68DA}"/>
                    </a:ext>
                  </a:extLst>
                </p:cNvPr>
                <p:cNvSpPr txBox="1"/>
                <p:nvPr/>
              </p:nvSpPr>
              <p:spPr>
                <a:xfrm>
                  <a:off x="6588000" y="4518000"/>
                  <a:ext cx="576000" cy="432000"/>
                </a:xfrm>
                <a:prstGeom prst="rect">
                  <a:avLst/>
                </a:prstGeom>
                <a:noFill/>
              </p:spPr>
              <p:txBody>
                <a:bodyPr wrap="square" lIns="0" tIns="0" rIns="0" bIns="0" rtlCol="0">
                  <a:spAutoFit/>
                </a:bodyPr>
                <a:lstStyle/>
                <a:p>
                  <a:pPr algn="r"/>
                  <a14:m>
                    <m:oMathPara xmlns:m="http://schemas.openxmlformats.org/officeDocument/2006/math">
                      <m:oMathParaPr>
                        <m:jc m:val="center"/>
                      </m:oMathParaPr>
                      <m:oMath xmlns:m="http://schemas.openxmlformats.org/officeDocument/2006/math">
                        <m:sSub>
                          <m:sSubPr>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O</m:t>
                            </m:r>
                          </m:sub>
                        </m:sSub>
                      </m:oMath>
                    </m:oMathPara>
                  </a14:m>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56" name="文本框 55">
                  <a:extLst>
                    <a:ext uri="{FF2B5EF4-FFF2-40B4-BE49-F238E27FC236}">
                      <a16:creationId xmlns:a16="http://schemas.microsoft.com/office/drawing/2014/main" id="{3D48CCAC-B348-535B-9B3C-940CA4AE68DA}"/>
                    </a:ext>
                  </a:extLst>
                </p:cNvPr>
                <p:cNvSpPr txBox="1">
                  <a:spLocks noRot="1" noChangeAspect="1" noMove="1" noResize="1" noEditPoints="1" noAdjustHandles="1" noChangeArrowheads="1" noChangeShapeType="1" noTextEdit="1"/>
                </p:cNvSpPr>
                <p:nvPr/>
              </p:nvSpPr>
              <p:spPr>
                <a:xfrm>
                  <a:off x="6588000" y="4518000"/>
                  <a:ext cx="576000" cy="432000"/>
                </a:xfrm>
                <a:prstGeom prst="rect">
                  <a:avLst/>
                </a:prstGeom>
                <a:blipFill>
                  <a:blip r:embed="rId11"/>
                  <a:stretch>
                    <a:fillRect l="-21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BE9C35E7-C681-E691-3EAE-5F285AFAA591}"/>
                    </a:ext>
                  </a:extLst>
                </p:cNvPr>
                <p:cNvSpPr txBox="1"/>
                <p:nvPr/>
              </p:nvSpPr>
              <p:spPr>
                <a:xfrm>
                  <a:off x="6552000" y="5382000"/>
                  <a:ext cx="576000" cy="432000"/>
                </a:xfrm>
                <a:prstGeom prst="rect">
                  <a:avLst/>
                </a:prstGeom>
                <a:noFill/>
              </p:spPr>
              <p:txBody>
                <a:bodyPr wrap="square" lIns="0" tIns="0" rIns="0" bIns="0" rtlCol="0">
                  <a:spAutoFit/>
                </a:bodyPr>
                <a:lstStyle/>
                <a:p>
                  <a:pPr algn="r"/>
                  <a14:m>
                    <m:oMathPara xmlns:m="http://schemas.openxmlformats.org/officeDocument/2006/math">
                      <m:oMathParaPr>
                        <m:jc m:val="center"/>
                      </m:oMathParaPr>
                      <m:oMath xmlns:m="http://schemas.openxmlformats.org/officeDocument/2006/math">
                        <m:sSub>
                          <m:sSubPr>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I</m:t>
                            </m:r>
                          </m:sub>
                        </m:sSub>
                      </m:oMath>
                    </m:oMathPara>
                  </a14:m>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57" name="文本框 56">
                  <a:extLst>
                    <a:ext uri="{FF2B5EF4-FFF2-40B4-BE49-F238E27FC236}">
                      <a16:creationId xmlns:a16="http://schemas.microsoft.com/office/drawing/2014/main" id="{BE9C35E7-C681-E691-3EAE-5F285AFAA591}"/>
                    </a:ext>
                  </a:extLst>
                </p:cNvPr>
                <p:cNvSpPr txBox="1">
                  <a:spLocks noRot="1" noChangeAspect="1" noMove="1" noResize="1" noEditPoints="1" noAdjustHandles="1" noChangeArrowheads="1" noChangeShapeType="1" noTextEdit="1"/>
                </p:cNvSpPr>
                <p:nvPr/>
              </p:nvSpPr>
              <p:spPr>
                <a:xfrm>
                  <a:off x="6552000" y="5382000"/>
                  <a:ext cx="576000" cy="432000"/>
                </a:xfrm>
                <a:prstGeom prst="rect">
                  <a:avLst/>
                </a:prstGeom>
                <a:blipFill>
                  <a:blip r:embed="rId12"/>
                  <a:stretch>
                    <a:fillRect/>
                  </a:stretch>
                </a:blipFill>
              </p:spPr>
              <p:txBody>
                <a:bodyPr/>
                <a:lstStyle/>
                <a:p>
                  <a:r>
                    <a:rPr lang="zh-CN" altLang="en-US">
                      <a:noFill/>
                    </a:rPr>
                    <a:t> </a:t>
                  </a:r>
                </a:p>
              </p:txBody>
            </p:sp>
          </mc:Fallback>
        </mc:AlternateContent>
        <p:cxnSp>
          <p:nvCxnSpPr>
            <p:cNvPr id="58" name="直接连接符 57">
              <a:extLst>
                <a:ext uri="{FF2B5EF4-FFF2-40B4-BE49-F238E27FC236}">
                  <a16:creationId xmlns:a16="http://schemas.microsoft.com/office/drawing/2014/main" id="{0BB9DE00-B786-E499-22EA-9FDC2F8838F5}"/>
                </a:ext>
              </a:extLst>
            </p:cNvPr>
            <p:cNvCxnSpPr>
              <a:cxnSpLocks/>
            </p:cNvCxnSpPr>
            <p:nvPr/>
          </p:nvCxnSpPr>
          <p:spPr>
            <a:xfrm>
              <a:off x="10296000" y="3924000"/>
              <a:ext cx="46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89B99069-A8E1-FD1E-EA93-03A6E3DE9532}"/>
                </a:ext>
              </a:extLst>
            </p:cNvPr>
            <p:cNvCxnSpPr>
              <a:cxnSpLocks/>
            </p:cNvCxnSpPr>
            <p:nvPr/>
          </p:nvCxnSpPr>
          <p:spPr>
            <a:xfrm flipV="1">
              <a:off x="10764000" y="3924000"/>
              <a:ext cx="0" cy="21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EEBA9F88-E432-683A-9C5F-F202353789DB}"/>
                </a:ext>
              </a:extLst>
            </p:cNvPr>
            <p:cNvCxnSpPr>
              <a:cxnSpLocks/>
            </p:cNvCxnSpPr>
            <p:nvPr/>
          </p:nvCxnSpPr>
          <p:spPr>
            <a:xfrm>
              <a:off x="11196000" y="4644000"/>
              <a:ext cx="43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07251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0C36F-ACBE-827C-3D66-5EE89EC45D50}"/>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885890A7-0EB9-4498-EABA-2A23A43438D3}"/>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85D87CED-C215-C5EB-FC3D-286B0261C6F5}"/>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E8469D29-3802-4C87-EE65-7F91688E3548}"/>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03D686B4-4820-EFC3-E567-E9FA023FE87A}"/>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B9D844A0-75E5-7F1C-5A7D-961779F7DA4E}"/>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18</a:t>
              </a:fld>
              <a:endParaRPr lang="zh-CN" altLang="en-US" sz="3200" dirty="0">
                <a:solidFill>
                  <a:schemeClr val="bg1"/>
                </a:solidFill>
                <a:latin typeface="Candara"/>
                <a:ea typeface="微软雅黑"/>
              </a:endParaRPr>
            </a:p>
          </p:txBody>
        </p:sp>
      </p:grpSp>
      <p:sp>
        <p:nvSpPr>
          <p:cNvPr id="9" name="文本框 8">
            <a:extLst>
              <a:ext uri="{FF2B5EF4-FFF2-40B4-BE49-F238E27FC236}">
                <a16:creationId xmlns:a16="http://schemas.microsoft.com/office/drawing/2014/main" id="{8515AC9D-55D1-5FB6-BBE1-5550E5324BAD}"/>
              </a:ext>
            </a:extLst>
          </p:cNvPr>
          <p:cNvSpPr txBox="1"/>
          <p:nvPr/>
        </p:nvSpPr>
        <p:spPr>
          <a:xfrm>
            <a:off x="360000" y="828000"/>
            <a:ext cx="10585173" cy="2800126"/>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随机存储器（</a:t>
            </a:r>
            <a:r>
              <a:rPr kumimoji="1" lang="en-US" altLang="zh-CN" sz="2800" dirty="0">
                <a:solidFill>
                  <a:srgbClr val="002060"/>
                </a:solidFill>
                <a:latin typeface="微软雅黑" panose="020B0503020204020204" pitchFamily="34" charset="-122"/>
                <a:ea typeface="微软雅黑" panose="020B0503020204020204" pitchFamily="34" charset="-122"/>
              </a:rPr>
              <a:t>Random Access Memory</a:t>
            </a:r>
            <a:r>
              <a:rPr kumimoji="1" lang="zh-CN" altLang="en-US" sz="2800" dirty="0">
                <a:solidFill>
                  <a:srgbClr val="002060"/>
                </a:solidFill>
                <a:latin typeface="微软雅黑" panose="020B0503020204020204" pitchFamily="34" charset="-122"/>
                <a:ea typeface="微软雅黑" panose="020B0503020204020204" pitchFamily="34" charset="-122"/>
              </a:rPr>
              <a:t>，</a:t>
            </a:r>
            <a:r>
              <a:rPr kumimoji="1" lang="en-US" altLang="zh-CN" sz="2800" dirty="0">
                <a:solidFill>
                  <a:srgbClr val="002060"/>
                </a:solidFill>
                <a:latin typeface="微软雅黑" panose="020B0503020204020204" pitchFamily="34" charset="-122"/>
                <a:ea typeface="微软雅黑" panose="020B0503020204020204" pitchFamily="34" charset="-122"/>
              </a:rPr>
              <a:t>RAM</a:t>
            </a:r>
            <a:r>
              <a:rPr kumimoji="1" lang="zh-CN" altLang="en-US" sz="2800" dirty="0">
                <a:solidFill>
                  <a:srgbClr val="002060"/>
                </a:solidFill>
                <a:latin typeface="微软雅黑" panose="020B0503020204020204" pitchFamily="34" charset="-122"/>
                <a:ea typeface="微软雅黑" panose="020B0503020204020204" pitchFamily="34" charset="-122"/>
              </a:rPr>
              <a:t>）</a:t>
            </a:r>
            <a:r>
              <a:rPr kumimoji="1" lang="zh-CN" altLang="en-US" sz="2400" dirty="0">
                <a:solidFill>
                  <a:srgbClr val="002060"/>
                </a:solidFill>
                <a:latin typeface="微软雅黑" panose="020B0503020204020204" pitchFamily="34" charset="-122"/>
                <a:ea typeface="微软雅黑" panose="020B0503020204020204" pitchFamily="34" charset="-122"/>
              </a:rPr>
              <a:t>：</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静态 </a:t>
            </a:r>
            <a:r>
              <a:rPr kumimoji="1" lang="en-US" altLang="zh-CN" sz="2800" dirty="0">
                <a:solidFill>
                  <a:srgbClr val="002060"/>
                </a:solidFill>
                <a:latin typeface="微软雅黑" panose="020B0503020204020204" pitchFamily="34" charset="-122"/>
                <a:ea typeface="微软雅黑" panose="020B0503020204020204" pitchFamily="34" charset="-122"/>
              </a:rPr>
              <a:t>RAM</a:t>
            </a:r>
            <a:r>
              <a:rPr kumimoji="1" lang="zh-CN" altLang="en-US" sz="2800" dirty="0">
                <a:solidFill>
                  <a:srgbClr val="002060"/>
                </a:solidFill>
                <a:latin typeface="微软雅黑" panose="020B0503020204020204" pitchFamily="34" charset="-122"/>
                <a:ea typeface="微软雅黑" panose="020B0503020204020204" pitchFamily="34" charset="-122"/>
              </a:rPr>
              <a:t>（</a:t>
            </a:r>
            <a:r>
              <a:rPr kumimoji="1" lang="en-US" altLang="zh-CN" sz="2800" dirty="0">
                <a:solidFill>
                  <a:srgbClr val="002060"/>
                </a:solidFill>
                <a:latin typeface="微软雅黑" panose="020B0503020204020204" pitchFamily="34" charset="-122"/>
                <a:ea typeface="微软雅黑" panose="020B0503020204020204" pitchFamily="34" charset="-122"/>
              </a:rPr>
              <a:t>Static</a:t>
            </a:r>
            <a:r>
              <a:rPr kumimoji="1" lang="zh-CN" altLang="en-US" sz="2800" dirty="0">
                <a:solidFill>
                  <a:srgbClr val="002060"/>
                </a:solidFill>
                <a:latin typeface="微软雅黑" panose="020B0503020204020204" pitchFamily="34" charset="-122"/>
                <a:ea typeface="微软雅黑" panose="020B0503020204020204" pitchFamily="34" charset="-122"/>
              </a:rPr>
              <a:t> </a:t>
            </a:r>
            <a:r>
              <a:rPr kumimoji="1" lang="en-US" altLang="zh-CN" sz="2800" dirty="0">
                <a:solidFill>
                  <a:srgbClr val="002060"/>
                </a:solidFill>
                <a:latin typeface="微软雅黑" panose="020B0503020204020204" pitchFamily="34" charset="-122"/>
                <a:ea typeface="微软雅黑" panose="020B0503020204020204" pitchFamily="34" charset="-122"/>
              </a:rPr>
              <a:t>RAM</a:t>
            </a:r>
            <a:r>
              <a:rPr kumimoji="1" lang="zh-CN" altLang="en-US" sz="2800" dirty="0">
                <a:solidFill>
                  <a:srgbClr val="002060"/>
                </a:solidFill>
                <a:latin typeface="微软雅黑" panose="020B0503020204020204" pitchFamily="34" charset="-122"/>
                <a:ea typeface="微软雅黑" panose="020B0503020204020204" pitchFamily="34" charset="-122"/>
              </a:rPr>
              <a:t>，</a:t>
            </a:r>
            <a:r>
              <a:rPr kumimoji="1" lang="en-US" altLang="zh-CN" sz="2800" dirty="0">
                <a:solidFill>
                  <a:srgbClr val="002060"/>
                </a:solidFill>
                <a:latin typeface="微软雅黑" panose="020B0503020204020204" pitchFamily="34" charset="-122"/>
                <a:ea typeface="微软雅黑" panose="020B0503020204020204" pitchFamily="34" charset="-122"/>
              </a:rPr>
              <a:t>SRAM</a:t>
            </a:r>
            <a:r>
              <a:rPr kumimoji="1" lang="zh-CN" altLang="en-US" sz="2800" dirty="0">
                <a:solidFill>
                  <a:srgbClr val="002060"/>
                </a:solidFill>
                <a:latin typeface="微软雅黑" panose="020B0503020204020204" pitchFamily="34" charset="-122"/>
                <a:ea typeface="微软雅黑" panose="020B0503020204020204" pitchFamily="34" charset="-122"/>
              </a:rPr>
              <a:t>）</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SRAM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中的锁存单元相当于一个锁存器，有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0</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1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两个稳态</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动态 </a:t>
            </a:r>
            <a:r>
              <a:rPr kumimoji="1" lang="en-US" altLang="zh-CN" sz="2800" dirty="0">
                <a:solidFill>
                  <a:srgbClr val="002060"/>
                </a:solidFill>
                <a:latin typeface="微软雅黑" panose="020B0503020204020204" pitchFamily="34" charset="-122"/>
                <a:ea typeface="微软雅黑" panose="020B0503020204020204" pitchFamily="34" charset="-122"/>
              </a:rPr>
              <a:t>RAM</a:t>
            </a:r>
            <a:r>
              <a:rPr kumimoji="1" lang="zh-CN" altLang="en-US" sz="2800" dirty="0">
                <a:solidFill>
                  <a:srgbClr val="002060"/>
                </a:solidFill>
                <a:latin typeface="微软雅黑" panose="020B0503020204020204" pitchFamily="34" charset="-122"/>
                <a:ea typeface="微软雅黑" panose="020B0503020204020204" pitchFamily="34" charset="-122"/>
              </a:rPr>
              <a:t>（</a:t>
            </a:r>
            <a:r>
              <a:rPr kumimoji="1" lang="en-US" altLang="zh-CN" sz="2800" dirty="0">
                <a:solidFill>
                  <a:srgbClr val="002060"/>
                </a:solidFill>
                <a:latin typeface="微软雅黑" panose="020B0503020204020204" pitchFamily="34" charset="-122"/>
                <a:ea typeface="微软雅黑" panose="020B0503020204020204" pitchFamily="34" charset="-122"/>
              </a:rPr>
              <a:t>Dynamic</a:t>
            </a:r>
            <a:r>
              <a:rPr kumimoji="1" lang="zh-CN" altLang="en-US" sz="2800" dirty="0">
                <a:solidFill>
                  <a:srgbClr val="002060"/>
                </a:solidFill>
                <a:latin typeface="微软雅黑" panose="020B0503020204020204" pitchFamily="34" charset="-122"/>
                <a:ea typeface="微软雅黑" panose="020B0503020204020204" pitchFamily="34" charset="-122"/>
              </a:rPr>
              <a:t> </a:t>
            </a:r>
            <a:r>
              <a:rPr kumimoji="1" lang="en-US" altLang="zh-CN" sz="2800" dirty="0">
                <a:solidFill>
                  <a:srgbClr val="002060"/>
                </a:solidFill>
                <a:latin typeface="微软雅黑" panose="020B0503020204020204" pitchFamily="34" charset="-122"/>
                <a:ea typeface="微软雅黑" panose="020B0503020204020204" pitchFamily="34" charset="-122"/>
              </a:rPr>
              <a:t>RAM</a:t>
            </a:r>
            <a:r>
              <a:rPr kumimoji="1" lang="zh-CN" altLang="en-US" sz="2800" dirty="0">
                <a:solidFill>
                  <a:srgbClr val="002060"/>
                </a:solidFill>
                <a:latin typeface="微软雅黑" panose="020B0503020204020204" pitchFamily="34" charset="-122"/>
                <a:ea typeface="微软雅黑" panose="020B0503020204020204" pitchFamily="34" charset="-122"/>
              </a:rPr>
              <a:t>，</a:t>
            </a:r>
            <a:r>
              <a:rPr kumimoji="1" lang="en-US" altLang="zh-CN" sz="2800" dirty="0">
                <a:solidFill>
                  <a:srgbClr val="002060"/>
                </a:solidFill>
                <a:latin typeface="微软雅黑" panose="020B0503020204020204" pitchFamily="34" charset="-122"/>
                <a:ea typeface="微软雅黑" panose="020B0503020204020204" pitchFamily="34" charset="-122"/>
              </a:rPr>
              <a:t>DRAM</a:t>
            </a:r>
            <a:r>
              <a:rPr kumimoji="1" lang="zh-CN" altLang="en-US" sz="2800" dirty="0">
                <a:solidFill>
                  <a:srgbClr val="002060"/>
                </a:solidFill>
                <a:latin typeface="微软雅黑" panose="020B0503020204020204" pitchFamily="34" charset="-122"/>
                <a:ea typeface="微软雅黑" panose="020B0503020204020204" pitchFamily="34" charset="-122"/>
              </a:rPr>
              <a:t>）</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利用电容存储电荷的方式来保存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0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和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1</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，需定时刷新维持保持状态</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aphicFrame>
        <p:nvGraphicFramePr>
          <p:cNvPr id="11" name="表格 10">
            <a:extLst>
              <a:ext uri="{FF2B5EF4-FFF2-40B4-BE49-F238E27FC236}">
                <a16:creationId xmlns:a16="http://schemas.microsoft.com/office/drawing/2014/main" id="{FF9E7509-E688-8978-0D6C-E5834A729BF4}"/>
              </a:ext>
            </a:extLst>
          </p:cNvPr>
          <p:cNvGraphicFramePr>
            <a:graphicFrameLocks noGrp="1"/>
          </p:cNvGraphicFramePr>
          <p:nvPr/>
        </p:nvGraphicFramePr>
        <p:xfrm>
          <a:off x="1354611" y="4788000"/>
          <a:ext cx="9035579" cy="1371600"/>
        </p:xfrm>
        <a:graphic>
          <a:graphicData uri="http://schemas.openxmlformats.org/drawingml/2006/table">
            <a:tbl>
              <a:tblPr firstRow="1" bandRow="1">
                <a:tableStyleId>{5940675A-B579-460E-94D1-54222C63F5DA}</a:tableStyleId>
              </a:tblPr>
              <a:tblGrid>
                <a:gridCol w="1290797">
                  <a:extLst>
                    <a:ext uri="{9D8B030D-6E8A-4147-A177-3AD203B41FA5}">
                      <a16:colId xmlns:a16="http://schemas.microsoft.com/office/drawing/2014/main" val="3851462817"/>
                    </a:ext>
                  </a:extLst>
                </a:gridCol>
                <a:gridCol w="1290797">
                  <a:extLst>
                    <a:ext uri="{9D8B030D-6E8A-4147-A177-3AD203B41FA5}">
                      <a16:colId xmlns:a16="http://schemas.microsoft.com/office/drawing/2014/main" val="2368094767"/>
                    </a:ext>
                  </a:extLst>
                </a:gridCol>
                <a:gridCol w="1290797">
                  <a:extLst>
                    <a:ext uri="{9D8B030D-6E8A-4147-A177-3AD203B41FA5}">
                      <a16:colId xmlns:a16="http://schemas.microsoft.com/office/drawing/2014/main" val="668639348"/>
                    </a:ext>
                  </a:extLst>
                </a:gridCol>
                <a:gridCol w="1290797">
                  <a:extLst>
                    <a:ext uri="{9D8B030D-6E8A-4147-A177-3AD203B41FA5}">
                      <a16:colId xmlns:a16="http://schemas.microsoft.com/office/drawing/2014/main" val="2159231432"/>
                    </a:ext>
                  </a:extLst>
                </a:gridCol>
                <a:gridCol w="1290797">
                  <a:extLst>
                    <a:ext uri="{9D8B030D-6E8A-4147-A177-3AD203B41FA5}">
                      <a16:colId xmlns:a16="http://schemas.microsoft.com/office/drawing/2014/main" val="2326061715"/>
                    </a:ext>
                  </a:extLst>
                </a:gridCol>
                <a:gridCol w="1290797">
                  <a:extLst>
                    <a:ext uri="{9D8B030D-6E8A-4147-A177-3AD203B41FA5}">
                      <a16:colId xmlns:a16="http://schemas.microsoft.com/office/drawing/2014/main" val="2043508272"/>
                    </a:ext>
                  </a:extLst>
                </a:gridCol>
                <a:gridCol w="1290797">
                  <a:extLst>
                    <a:ext uri="{9D8B030D-6E8A-4147-A177-3AD203B41FA5}">
                      <a16:colId xmlns:a16="http://schemas.microsoft.com/office/drawing/2014/main" val="3632627551"/>
                    </a:ext>
                  </a:extLst>
                </a:gridCol>
              </a:tblGrid>
              <a:tr h="370840">
                <a:tc>
                  <a:txBody>
                    <a:bodyPr/>
                    <a:lstStyle/>
                    <a:p>
                      <a:pPr algn="ctr"/>
                      <a:endParaRPr lang="zh-CN" altLang="en-US" sz="240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400" dirty="0">
                          <a:latin typeface="微软雅黑" panose="020B0503020204020204" pitchFamily="34" charset="-122"/>
                          <a:ea typeface="微软雅黑" panose="020B0503020204020204" pitchFamily="34" charset="-122"/>
                        </a:rPr>
                        <a:t>刷新</a:t>
                      </a:r>
                    </a:p>
                  </a:txBody>
                  <a:tcPr anchor="ctr"/>
                </a:tc>
                <a:tc>
                  <a:txBody>
                    <a:bodyPr/>
                    <a:lstStyle/>
                    <a:p>
                      <a:pPr algn="ctr"/>
                      <a:r>
                        <a:rPr lang="zh-CN" altLang="en-US" sz="2400" dirty="0">
                          <a:latin typeface="微软雅黑" panose="020B0503020204020204" pitchFamily="34" charset="-122"/>
                          <a:ea typeface="微软雅黑" panose="020B0503020204020204" pitchFamily="34" charset="-122"/>
                        </a:rPr>
                        <a:t>速度</a:t>
                      </a:r>
                    </a:p>
                  </a:txBody>
                  <a:tcPr anchor="ctr"/>
                </a:tc>
                <a:tc>
                  <a:txBody>
                    <a:bodyPr/>
                    <a:lstStyle/>
                    <a:p>
                      <a:pPr algn="ctr"/>
                      <a:r>
                        <a:rPr lang="zh-CN" altLang="en-US" sz="2400" dirty="0">
                          <a:latin typeface="微软雅黑" panose="020B0503020204020204" pitchFamily="34" charset="-122"/>
                          <a:ea typeface="微软雅黑" panose="020B0503020204020204" pitchFamily="34" charset="-122"/>
                        </a:rPr>
                        <a:t>控制</a:t>
                      </a:r>
                    </a:p>
                  </a:txBody>
                  <a:tcPr anchor="ctr"/>
                </a:tc>
                <a:tc>
                  <a:txBody>
                    <a:bodyPr/>
                    <a:lstStyle/>
                    <a:p>
                      <a:pPr algn="ctr"/>
                      <a:r>
                        <a:rPr lang="zh-CN" altLang="en-US" sz="2400" dirty="0">
                          <a:latin typeface="微软雅黑" panose="020B0503020204020204" pitchFamily="34" charset="-122"/>
                          <a:ea typeface="微软雅黑" panose="020B0503020204020204" pitchFamily="34" charset="-122"/>
                        </a:rPr>
                        <a:t>集成度</a:t>
                      </a:r>
                    </a:p>
                  </a:txBody>
                  <a:tcPr anchor="ctr"/>
                </a:tc>
                <a:tc>
                  <a:txBody>
                    <a:bodyPr/>
                    <a:lstStyle/>
                    <a:p>
                      <a:pPr algn="ctr"/>
                      <a:r>
                        <a:rPr lang="zh-CN" altLang="en-US" sz="2400" dirty="0">
                          <a:latin typeface="微软雅黑" panose="020B0503020204020204" pitchFamily="34" charset="-122"/>
                          <a:ea typeface="微软雅黑" panose="020B0503020204020204" pitchFamily="34" charset="-122"/>
                        </a:rPr>
                        <a:t>价格</a:t>
                      </a:r>
                    </a:p>
                  </a:txBody>
                  <a:tcPr anchor="ctr"/>
                </a:tc>
                <a:tc>
                  <a:txBody>
                    <a:bodyPr/>
                    <a:lstStyle/>
                    <a:p>
                      <a:pPr algn="ctr"/>
                      <a:r>
                        <a:rPr lang="zh-CN" altLang="en-US" sz="2400" dirty="0">
                          <a:latin typeface="微软雅黑" panose="020B0503020204020204" pitchFamily="34" charset="-122"/>
                          <a:ea typeface="微软雅黑" panose="020B0503020204020204" pitchFamily="34" charset="-122"/>
                        </a:rPr>
                        <a:t>功耗</a:t>
                      </a:r>
                    </a:p>
                  </a:txBody>
                  <a:tcPr anchor="ctr"/>
                </a:tc>
                <a:extLst>
                  <a:ext uri="{0D108BD9-81ED-4DB2-BD59-A6C34878D82A}">
                    <a16:rowId xmlns:a16="http://schemas.microsoft.com/office/drawing/2014/main" val="1653857398"/>
                  </a:ext>
                </a:extLst>
              </a:tr>
              <a:tr h="370840">
                <a:tc>
                  <a:txBody>
                    <a:bodyPr/>
                    <a:lstStyle/>
                    <a:p>
                      <a:pPr algn="ctr"/>
                      <a:r>
                        <a:rPr lang="en-US" altLang="zh-CN" sz="2400" dirty="0">
                          <a:latin typeface="微软雅黑" panose="020B0503020204020204" pitchFamily="34" charset="-122"/>
                          <a:ea typeface="微软雅黑" panose="020B0503020204020204" pitchFamily="34" charset="-122"/>
                        </a:rPr>
                        <a:t>SRAM</a:t>
                      </a:r>
                      <a:endParaRPr lang="zh-CN" altLang="en-US" sz="24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400" dirty="0">
                          <a:latin typeface="微软雅黑" panose="020B0503020204020204" pitchFamily="34" charset="-122"/>
                          <a:ea typeface="微软雅黑" panose="020B0503020204020204" pitchFamily="34" charset="-122"/>
                        </a:rPr>
                        <a:t>不需要</a:t>
                      </a:r>
                    </a:p>
                  </a:txBody>
                  <a:tcPr anchor="ctr"/>
                </a:tc>
                <a:tc>
                  <a:txBody>
                    <a:bodyPr/>
                    <a:lstStyle/>
                    <a:p>
                      <a:pPr algn="ctr"/>
                      <a:r>
                        <a:rPr lang="zh-CN" altLang="en-US" sz="2400" dirty="0">
                          <a:latin typeface="微软雅黑" panose="020B0503020204020204" pitchFamily="34" charset="-122"/>
                          <a:ea typeface="微软雅黑" panose="020B0503020204020204" pitchFamily="34" charset="-122"/>
                        </a:rPr>
                        <a:t>快</a:t>
                      </a:r>
                    </a:p>
                  </a:txBody>
                  <a:tcPr anchor="ctr"/>
                </a:tc>
                <a:tc>
                  <a:txBody>
                    <a:bodyPr/>
                    <a:lstStyle/>
                    <a:p>
                      <a:pPr algn="ctr"/>
                      <a:r>
                        <a:rPr lang="zh-CN" altLang="en-US" sz="2400" dirty="0">
                          <a:latin typeface="微软雅黑" panose="020B0503020204020204" pitchFamily="34" charset="-122"/>
                          <a:ea typeface="微软雅黑" panose="020B0503020204020204" pitchFamily="34" charset="-122"/>
                        </a:rPr>
                        <a:t>简单</a:t>
                      </a:r>
                    </a:p>
                  </a:txBody>
                  <a:tcPr anchor="ctr"/>
                </a:tc>
                <a:tc>
                  <a:txBody>
                    <a:bodyPr/>
                    <a:lstStyle/>
                    <a:p>
                      <a:pPr algn="ctr"/>
                      <a:r>
                        <a:rPr lang="zh-CN" altLang="en-US" sz="2400" dirty="0">
                          <a:latin typeface="微软雅黑" panose="020B0503020204020204" pitchFamily="34" charset="-122"/>
                          <a:ea typeface="微软雅黑" panose="020B0503020204020204" pitchFamily="34" charset="-122"/>
                        </a:rPr>
                        <a:t>低</a:t>
                      </a:r>
                    </a:p>
                  </a:txBody>
                  <a:tcPr anchor="ctr"/>
                </a:tc>
                <a:tc>
                  <a:txBody>
                    <a:bodyPr/>
                    <a:lstStyle/>
                    <a:p>
                      <a:pPr algn="ctr"/>
                      <a:r>
                        <a:rPr lang="zh-CN" altLang="en-US" sz="2400" dirty="0">
                          <a:latin typeface="微软雅黑" panose="020B0503020204020204" pitchFamily="34" charset="-122"/>
                          <a:ea typeface="微软雅黑" panose="020B0503020204020204" pitchFamily="34" charset="-122"/>
                        </a:rPr>
                        <a:t>昂贵</a:t>
                      </a:r>
                    </a:p>
                  </a:txBody>
                  <a:tcPr anchor="ctr"/>
                </a:tc>
                <a:tc>
                  <a:txBody>
                    <a:bodyPr/>
                    <a:lstStyle/>
                    <a:p>
                      <a:pPr algn="ctr"/>
                      <a:r>
                        <a:rPr lang="zh-CN" altLang="en-US" sz="2400" dirty="0">
                          <a:latin typeface="微软雅黑" panose="020B0503020204020204" pitchFamily="34" charset="-122"/>
                          <a:ea typeface="微软雅黑" panose="020B0503020204020204" pitchFamily="34" charset="-122"/>
                        </a:rPr>
                        <a:t>高</a:t>
                      </a:r>
                    </a:p>
                  </a:txBody>
                  <a:tcPr anchor="ctr"/>
                </a:tc>
                <a:extLst>
                  <a:ext uri="{0D108BD9-81ED-4DB2-BD59-A6C34878D82A}">
                    <a16:rowId xmlns:a16="http://schemas.microsoft.com/office/drawing/2014/main" val="161617213"/>
                  </a:ext>
                </a:extLst>
              </a:tr>
              <a:tr h="370840">
                <a:tc>
                  <a:txBody>
                    <a:bodyPr/>
                    <a:lstStyle/>
                    <a:p>
                      <a:pPr algn="ctr"/>
                      <a:r>
                        <a:rPr lang="en-US" altLang="zh-CN" sz="2400" dirty="0">
                          <a:latin typeface="微软雅黑" panose="020B0503020204020204" pitchFamily="34" charset="-122"/>
                          <a:ea typeface="微软雅黑" panose="020B0503020204020204" pitchFamily="34" charset="-122"/>
                        </a:rPr>
                        <a:t>DRAM</a:t>
                      </a:r>
                      <a:endParaRPr lang="zh-CN" altLang="en-US" sz="24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400" dirty="0">
                          <a:latin typeface="微软雅黑" panose="020B0503020204020204" pitchFamily="34" charset="-122"/>
                          <a:ea typeface="微软雅黑" panose="020B0503020204020204" pitchFamily="34" charset="-122"/>
                        </a:rPr>
                        <a:t>需要</a:t>
                      </a:r>
                    </a:p>
                  </a:txBody>
                  <a:tcPr anchor="ctr"/>
                </a:tc>
                <a:tc>
                  <a:txBody>
                    <a:bodyPr/>
                    <a:lstStyle/>
                    <a:p>
                      <a:pPr algn="ctr"/>
                      <a:r>
                        <a:rPr lang="zh-CN" altLang="en-US" sz="2400" dirty="0">
                          <a:latin typeface="微软雅黑" panose="020B0503020204020204" pitchFamily="34" charset="-122"/>
                          <a:ea typeface="微软雅黑" panose="020B0503020204020204" pitchFamily="34" charset="-122"/>
                        </a:rPr>
                        <a:t>慢</a:t>
                      </a:r>
                    </a:p>
                  </a:txBody>
                  <a:tcPr anchor="ctr"/>
                </a:tc>
                <a:tc>
                  <a:txBody>
                    <a:bodyPr/>
                    <a:lstStyle/>
                    <a:p>
                      <a:pPr algn="ctr"/>
                      <a:r>
                        <a:rPr lang="zh-CN" altLang="en-US" sz="2400" dirty="0">
                          <a:latin typeface="微软雅黑" panose="020B0503020204020204" pitchFamily="34" charset="-122"/>
                          <a:ea typeface="微软雅黑" panose="020B0503020204020204" pitchFamily="34" charset="-122"/>
                        </a:rPr>
                        <a:t>复杂</a:t>
                      </a:r>
                    </a:p>
                  </a:txBody>
                  <a:tcPr anchor="ctr"/>
                </a:tc>
                <a:tc>
                  <a:txBody>
                    <a:bodyPr/>
                    <a:lstStyle/>
                    <a:p>
                      <a:pPr algn="ctr"/>
                      <a:r>
                        <a:rPr lang="zh-CN" altLang="en-US" sz="2400" dirty="0">
                          <a:latin typeface="微软雅黑" panose="020B0503020204020204" pitchFamily="34" charset="-122"/>
                          <a:ea typeface="微软雅黑" panose="020B0503020204020204" pitchFamily="34" charset="-122"/>
                        </a:rPr>
                        <a:t>高</a:t>
                      </a:r>
                    </a:p>
                  </a:txBody>
                  <a:tcPr anchor="ctr"/>
                </a:tc>
                <a:tc>
                  <a:txBody>
                    <a:bodyPr/>
                    <a:lstStyle/>
                    <a:p>
                      <a:pPr algn="ctr"/>
                      <a:r>
                        <a:rPr lang="zh-CN" altLang="en-US" sz="2400" dirty="0">
                          <a:latin typeface="微软雅黑" panose="020B0503020204020204" pitchFamily="34" charset="-122"/>
                          <a:ea typeface="微软雅黑" panose="020B0503020204020204" pitchFamily="34" charset="-122"/>
                        </a:rPr>
                        <a:t>便宜</a:t>
                      </a:r>
                    </a:p>
                  </a:txBody>
                  <a:tcPr anchor="ctr"/>
                </a:tc>
                <a:tc>
                  <a:txBody>
                    <a:bodyPr/>
                    <a:lstStyle/>
                    <a:p>
                      <a:pPr algn="ctr"/>
                      <a:r>
                        <a:rPr lang="zh-CN" altLang="en-US" sz="2400" dirty="0">
                          <a:latin typeface="微软雅黑" panose="020B0503020204020204" pitchFamily="34" charset="-122"/>
                          <a:ea typeface="微软雅黑" panose="020B0503020204020204" pitchFamily="34" charset="-122"/>
                        </a:rPr>
                        <a:t>低</a:t>
                      </a:r>
                    </a:p>
                  </a:txBody>
                  <a:tcPr anchor="ctr"/>
                </a:tc>
                <a:extLst>
                  <a:ext uri="{0D108BD9-81ED-4DB2-BD59-A6C34878D82A}">
                    <a16:rowId xmlns:a16="http://schemas.microsoft.com/office/drawing/2014/main" val="2436805717"/>
                  </a:ext>
                </a:extLst>
              </a:tr>
            </a:tbl>
          </a:graphicData>
        </a:graphic>
      </p:graphicFrame>
      <p:sp>
        <p:nvSpPr>
          <p:cNvPr id="13" name="文本框 12">
            <a:extLst>
              <a:ext uri="{FF2B5EF4-FFF2-40B4-BE49-F238E27FC236}">
                <a16:creationId xmlns:a16="http://schemas.microsoft.com/office/drawing/2014/main" id="{1A12524F-A3DC-3731-72A3-442E98FAFAA9}"/>
              </a:ext>
            </a:extLst>
          </p:cNvPr>
          <p:cNvSpPr txBox="1"/>
          <p:nvPr/>
        </p:nvSpPr>
        <p:spPr>
          <a:xfrm>
            <a:off x="1354612" y="4320000"/>
            <a:ext cx="9035578" cy="461665"/>
          </a:xfrm>
          <a:prstGeom prst="rect">
            <a:avLst/>
          </a:prstGeom>
          <a:noFill/>
        </p:spPr>
        <p:txBody>
          <a:bodyPr wrap="square">
            <a:spAutoFit/>
          </a:bodyPr>
          <a:lstStyle/>
          <a:p>
            <a:pPr algn="ctr"/>
            <a:r>
              <a:rPr kumimoji="1" lang="en-US" altLang="zh-CN" sz="2400" dirty="0">
                <a:latin typeface="微软雅黑" panose="020B0503020204020204" pitchFamily="34" charset="-122"/>
                <a:ea typeface="微软雅黑" panose="020B0503020204020204" pitchFamily="34" charset="-122"/>
              </a:rPr>
              <a:t>SRAM</a:t>
            </a:r>
            <a:r>
              <a:rPr kumimoji="1" lang="zh-CN" altLang="en-US" sz="2400" dirty="0">
                <a:latin typeface="微软雅黑" panose="020B0503020204020204" pitchFamily="34" charset="-122"/>
                <a:ea typeface="微软雅黑" panose="020B0503020204020204" pitchFamily="34" charset="-122"/>
              </a:rPr>
              <a:t> 与 </a:t>
            </a:r>
            <a:r>
              <a:rPr kumimoji="1" lang="en-US" altLang="zh-CN" sz="2400" dirty="0">
                <a:latin typeface="微软雅黑" panose="020B0503020204020204" pitchFamily="34" charset="-122"/>
                <a:ea typeface="微软雅黑" panose="020B0503020204020204" pitchFamily="34" charset="-122"/>
              </a:rPr>
              <a:t>DRAM </a:t>
            </a:r>
            <a:r>
              <a:rPr kumimoji="1" lang="zh-CN" altLang="en-US" sz="2400" dirty="0">
                <a:latin typeface="微软雅黑" panose="020B0503020204020204" pitchFamily="34" charset="-122"/>
                <a:ea typeface="微软雅黑" panose="020B0503020204020204" pitchFamily="34" charset="-122"/>
              </a:rPr>
              <a:t>的比较</a:t>
            </a:r>
            <a:endParaRPr lang="zh-CN" altLang="en-US" sz="2400" dirty="0"/>
          </a:p>
        </p:txBody>
      </p:sp>
      <p:sp>
        <p:nvSpPr>
          <p:cNvPr id="3" name="标题 1">
            <a:extLst>
              <a:ext uri="{FF2B5EF4-FFF2-40B4-BE49-F238E27FC236}">
                <a16:creationId xmlns:a16="http://schemas.microsoft.com/office/drawing/2014/main" id="{B249FBB4-A3AD-5298-153A-E4385C9162B9}"/>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半导体存储器 </a:t>
            </a:r>
            <a:r>
              <a:rPr lang="en-US" altLang="zh-CN" sz="3000" dirty="0"/>
              <a:t>—— </a:t>
            </a:r>
            <a:r>
              <a:rPr lang="zh-CN" altLang="en-US" sz="3000" dirty="0">
                <a:solidFill>
                  <a:srgbClr val="FFFF00"/>
                </a:solidFill>
              </a:rPr>
              <a:t>随机存储器（</a:t>
            </a:r>
            <a:r>
              <a:rPr lang="en-US" altLang="zh-CN" sz="3000" dirty="0">
                <a:solidFill>
                  <a:srgbClr val="FFFF00"/>
                </a:solidFill>
              </a:rPr>
              <a:t>RAM</a:t>
            </a:r>
            <a:r>
              <a:rPr lang="zh-CN" altLang="en-US" sz="3000" dirty="0">
                <a:solidFill>
                  <a:srgbClr val="FFFF00"/>
                </a:solidFill>
              </a:rPr>
              <a:t>）</a:t>
            </a:r>
            <a:endParaRPr lang="en-US" altLang="zh-CN" sz="3000" dirty="0"/>
          </a:p>
        </p:txBody>
      </p:sp>
    </p:spTree>
    <p:extLst>
      <p:ext uri="{BB962C8B-B14F-4D97-AF65-F5344CB8AC3E}">
        <p14:creationId xmlns:p14="http://schemas.microsoft.com/office/powerpoint/2010/main" val="9787026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2E2B3-32F2-C902-6DA9-9B294B84603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B06CEC5-0FD0-BD44-3182-075F132318C7}"/>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存储器的容量扩展</a:t>
            </a:r>
            <a:endParaRPr lang="en-US" altLang="zh-CN" sz="3000" dirty="0">
              <a:solidFill>
                <a:srgbClr val="FFFF00"/>
              </a:solidFill>
            </a:endParaRPr>
          </a:p>
        </p:txBody>
      </p:sp>
      <p:grpSp>
        <p:nvGrpSpPr>
          <p:cNvPr id="4" name="组合 3">
            <a:extLst>
              <a:ext uri="{FF2B5EF4-FFF2-40B4-BE49-F238E27FC236}">
                <a16:creationId xmlns:a16="http://schemas.microsoft.com/office/drawing/2014/main" id="{A6238BE3-B3C4-CE2B-6747-1ED6A4127178}"/>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61F3CA5D-101B-6EAD-018C-E53BE6172C7B}"/>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44D0FEBA-161C-1CAA-39B4-094A152814BD}"/>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FD5BF25A-9AE2-3030-CAA1-1B95600C26BB}"/>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86654276-8329-4D8F-28D9-A28D1FA4E135}"/>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19</a:t>
              </a:fld>
              <a:endParaRPr lang="zh-CN" altLang="en-US" sz="3200" dirty="0">
                <a:solidFill>
                  <a:schemeClr val="bg1"/>
                </a:solidFill>
                <a:latin typeface="Candara"/>
                <a:ea typeface="微软雅黑"/>
              </a:endParaRPr>
            </a:p>
          </p:txBody>
        </p:sp>
      </p:grpSp>
      <p:sp>
        <p:nvSpPr>
          <p:cNvPr id="9" name="文本框 8">
            <a:extLst>
              <a:ext uri="{FF2B5EF4-FFF2-40B4-BE49-F238E27FC236}">
                <a16:creationId xmlns:a16="http://schemas.microsoft.com/office/drawing/2014/main" id="{4CC0C05B-9411-D77C-260D-2F67D71AC51A}"/>
              </a:ext>
            </a:extLst>
          </p:cNvPr>
          <p:cNvSpPr txBox="1"/>
          <p:nvPr/>
        </p:nvSpPr>
        <p:spPr>
          <a:xfrm>
            <a:off x="360000" y="828000"/>
            <a:ext cx="4753517" cy="3914277"/>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存储器容量扩展</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基于多个存储芯片扩展</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满足更高的存储容量要求</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扩展方式</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位数扩展</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字数扩展</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字数位数同时扩展</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38" name="组合 37">
            <a:extLst>
              <a:ext uri="{FF2B5EF4-FFF2-40B4-BE49-F238E27FC236}">
                <a16:creationId xmlns:a16="http://schemas.microsoft.com/office/drawing/2014/main" id="{FD0E9950-B4F9-09F4-D8E7-BF68E0FF6C72}"/>
              </a:ext>
            </a:extLst>
          </p:cNvPr>
          <p:cNvGrpSpPr/>
          <p:nvPr/>
        </p:nvGrpSpPr>
        <p:grpSpPr>
          <a:xfrm>
            <a:off x="5255999" y="2340000"/>
            <a:ext cx="6660001" cy="3528000"/>
            <a:chOff x="4952312" y="2191016"/>
            <a:chExt cx="6660001" cy="3528000"/>
          </a:xfrm>
        </p:grpSpPr>
        <p:sp>
          <p:nvSpPr>
            <p:cNvPr id="20" name="Line 12">
              <a:extLst>
                <a:ext uri="{FF2B5EF4-FFF2-40B4-BE49-F238E27FC236}">
                  <a16:creationId xmlns:a16="http://schemas.microsoft.com/office/drawing/2014/main" id="{AC52E87B-0925-54F1-47E9-1A0B40F747B6}"/>
                </a:ext>
              </a:extLst>
            </p:cNvPr>
            <p:cNvSpPr>
              <a:spLocks noChangeShapeType="1"/>
            </p:cNvSpPr>
            <p:nvPr/>
          </p:nvSpPr>
          <p:spPr bwMode="auto">
            <a:xfrm>
              <a:off x="7256313" y="2731016"/>
              <a:ext cx="2268000"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sz="2400">
                <a:latin typeface="微软雅黑" panose="020B0503020204020204" pitchFamily="34" charset="-122"/>
                <a:ea typeface="微软雅黑" panose="020B0503020204020204" pitchFamily="34" charset="-122"/>
              </a:endParaRPr>
            </a:p>
          </p:txBody>
        </p:sp>
        <p:sp>
          <p:nvSpPr>
            <p:cNvPr id="21" name="Text Box 13">
              <a:extLst>
                <a:ext uri="{FF2B5EF4-FFF2-40B4-BE49-F238E27FC236}">
                  <a16:creationId xmlns:a16="http://schemas.microsoft.com/office/drawing/2014/main" id="{CF63B774-B881-9E5B-BD8C-D80AFED242FB}"/>
                </a:ext>
              </a:extLst>
            </p:cNvPr>
            <p:cNvSpPr txBox="1">
              <a:spLocks noChangeArrowheads="1"/>
            </p:cNvSpPr>
            <p:nvPr/>
          </p:nvSpPr>
          <p:spPr bwMode="auto">
            <a:xfrm>
              <a:off x="7904313" y="2335016"/>
              <a:ext cx="936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defRPr/>
              </a:pPr>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位扩展</a:t>
              </a:r>
            </a:p>
          </p:txBody>
        </p:sp>
        <mc:AlternateContent xmlns:mc="http://schemas.openxmlformats.org/markup-compatibility/2006" xmlns:a14="http://schemas.microsoft.com/office/drawing/2010/main">
          <mc:Choice Requires="a14">
            <p:sp>
              <p:nvSpPr>
                <p:cNvPr id="28" name="Rectangle 21">
                  <a:extLst>
                    <a:ext uri="{FF2B5EF4-FFF2-40B4-BE49-F238E27FC236}">
                      <a16:creationId xmlns:a16="http://schemas.microsoft.com/office/drawing/2014/main" id="{C453C39D-2BF7-A6ED-F64F-00D01BF55093}"/>
                    </a:ext>
                  </a:extLst>
                </p:cNvPr>
                <p:cNvSpPr>
                  <a:spLocks noChangeArrowheads="1"/>
                </p:cNvSpPr>
                <p:nvPr/>
              </p:nvSpPr>
              <p:spPr bwMode="auto">
                <a:xfrm>
                  <a:off x="4952312" y="2191016"/>
                  <a:ext cx="2340000" cy="1152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spcAft>
                      <a:spcPts val="300"/>
                    </a:spcAft>
                    <a:defRPr/>
                  </a:pPr>
                  <a:r>
                    <a:rPr lang="zh-CN" altLang="en-US" dirty="0">
                      <a:latin typeface="微软雅黑" panose="020B0503020204020204" pitchFamily="34" charset="-122"/>
                      <a:ea typeface="微软雅黑" panose="020B0503020204020204" pitchFamily="34" charset="-122"/>
                    </a:rPr>
                    <a:t>芯片</a:t>
                  </a:r>
                  <a:r>
                    <a:rPr lang="zh-CN" altLang="en-US" dirty="0">
                      <a:solidFill>
                        <a:schemeClr val="tx1"/>
                      </a:solidFill>
                      <a:latin typeface="微软雅黑" panose="020B0503020204020204" pitchFamily="34" charset="-122"/>
                      <a:ea typeface="微软雅黑" panose="020B0503020204020204" pitchFamily="34" charset="-122"/>
                    </a:rPr>
                    <a:t>容量 </a:t>
                  </a:r>
                  <a:r>
                    <a:rPr lang="en-US" altLang="zh-CN" dirty="0">
                      <a:solidFill>
                        <a:schemeClr val="tx1"/>
                      </a:solidFill>
                      <a:latin typeface="微软雅黑" panose="020B0503020204020204" pitchFamily="34" charset="-122"/>
                      <a:ea typeface="微软雅黑" panose="020B0503020204020204" pitchFamily="34" charset="-122"/>
                    </a:rPr>
                    <a:t>P </a:t>
                  </a:r>
                  <a14:m>
                    <m:oMath xmlns:m="http://schemas.openxmlformats.org/officeDocument/2006/math">
                      <m:r>
                        <a:rPr kumimoji="1" lang="en-US" altLang="zh-CN" i="1">
                          <a:solidFill>
                            <a:schemeClr val="tx1"/>
                          </a:solidFill>
                          <a:latin typeface="Cambria Math" panose="02040503050406030204" pitchFamily="18" charset="0"/>
                          <a:ea typeface="Cambria Math" panose="02040503050406030204" pitchFamily="18" charset="0"/>
                        </a:rPr>
                        <m:t>×</m:t>
                      </m:r>
                    </m:oMath>
                  </a14:m>
                  <a:r>
                    <a:rPr lang="en-US" altLang="zh-CN" dirty="0">
                      <a:solidFill>
                        <a:schemeClr val="tx1"/>
                      </a:solidFill>
                      <a:latin typeface="微软雅黑" panose="020B0503020204020204" pitchFamily="34" charset="-122"/>
                      <a:ea typeface="微软雅黑" panose="020B0503020204020204" pitchFamily="34" charset="-122"/>
                    </a:rPr>
                    <a:t> L</a:t>
                  </a:r>
                </a:p>
                <a:p>
                  <a:pPr eaLnBrk="1" hangingPunct="1">
                    <a:spcAft>
                      <a:spcPts val="300"/>
                    </a:spcAft>
                    <a:defRPr/>
                  </a:pPr>
                  <a:r>
                    <a:rPr lang="en-US" altLang="zh-CN" sz="2000" dirty="0">
                      <a:latin typeface="微软雅黑" panose="020B0503020204020204" pitchFamily="34" charset="-122"/>
                      <a:ea typeface="微软雅黑" panose="020B0503020204020204" pitchFamily="34" charset="-122"/>
                    </a:rPr>
                    <a:t>  P</a:t>
                  </a:r>
                  <a:r>
                    <a:rPr lang="zh-CN" altLang="en-US" sz="2000" dirty="0">
                      <a:latin typeface="微软雅黑" panose="020B0503020204020204" pitchFamily="34" charset="-122"/>
                      <a:ea typeface="微软雅黑" panose="020B0503020204020204" pitchFamily="34" charset="-122"/>
                    </a:rPr>
                    <a:t>：字数</a:t>
                  </a:r>
                  <a:endParaRPr lang="en-US" altLang="zh-CN" sz="2000" dirty="0">
                    <a:latin typeface="微软雅黑" panose="020B0503020204020204" pitchFamily="34" charset="-122"/>
                    <a:ea typeface="微软雅黑" panose="020B0503020204020204" pitchFamily="34" charset="-122"/>
                  </a:endParaRPr>
                </a:p>
                <a:p>
                  <a:pPr eaLnBrk="1" hangingPunct="1">
                    <a:spcAft>
                      <a:spcPts val="300"/>
                    </a:spcAft>
                    <a:defRPr/>
                  </a:pPr>
                  <a:r>
                    <a:rPr lang="en-US" altLang="zh-CN" sz="2000" dirty="0">
                      <a:latin typeface="微软雅黑" panose="020B0503020204020204" pitchFamily="34" charset="-122"/>
                      <a:ea typeface="微软雅黑" panose="020B0503020204020204" pitchFamily="34" charset="-122"/>
                    </a:rPr>
                    <a:t>  L</a:t>
                  </a:r>
                  <a:r>
                    <a:rPr lang="zh-CN" altLang="en-US" sz="2000" dirty="0">
                      <a:latin typeface="微软雅黑" panose="020B0503020204020204" pitchFamily="34" charset="-122"/>
                      <a:ea typeface="微软雅黑" panose="020B0503020204020204" pitchFamily="34" charset="-122"/>
                    </a:rPr>
                    <a:t>：位数</a:t>
                  </a:r>
                  <a:endParaRPr lang="en-US" altLang="zh-CN" sz="2000" dirty="0">
                    <a:latin typeface="微软雅黑" panose="020B0503020204020204" pitchFamily="34" charset="-122"/>
                    <a:ea typeface="微软雅黑" panose="020B0503020204020204" pitchFamily="34" charset="-122"/>
                  </a:endParaRPr>
                </a:p>
              </p:txBody>
            </p:sp>
          </mc:Choice>
          <mc:Fallback xmlns="">
            <p:sp>
              <p:nvSpPr>
                <p:cNvPr id="28" name="Rectangle 21">
                  <a:extLst>
                    <a:ext uri="{FF2B5EF4-FFF2-40B4-BE49-F238E27FC236}">
                      <a16:creationId xmlns:a16="http://schemas.microsoft.com/office/drawing/2014/main" id="{C453C39D-2BF7-A6ED-F64F-00D01BF55093}"/>
                    </a:ext>
                  </a:extLst>
                </p:cNvPr>
                <p:cNvSpPr>
                  <a:spLocks noRot="1" noChangeAspect="1" noMove="1" noResize="1" noEditPoints="1" noAdjustHandles="1" noChangeArrowheads="1" noChangeShapeType="1" noTextEdit="1"/>
                </p:cNvSpPr>
                <p:nvPr/>
              </p:nvSpPr>
              <p:spPr bwMode="auto">
                <a:xfrm>
                  <a:off x="4952312" y="2191016"/>
                  <a:ext cx="2340000" cy="1152000"/>
                </a:xfrm>
                <a:prstGeom prst="rect">
                  <a:avLst/>
                </a:prstGeom>
                <a:blipFill>
                  <a:blip r:embed="rId3"/>
                  <a:stretch>
                    <a:fillRect l="-1823" t="-4233" r="-1823" b="-89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Rectangle 21">
                  <a:extLst>
                    <a:ext uri="{FF2B5EF4-FFF2-40B4-BE49-F238E27FC236}">
                      <a16:creationId xmlns:a16="http://schemas.microsoft.com/office/drawing/2014/main" id="{526912ED-4809-AB70-96D9-D3320C9493BF}"/>
                    </a:ext>
                  </a:extLst>
                </p:cNvPr>
                <p:cNvSpPr>
                  <a:spLocks noChangeArrowheads="1"/>
                </p:cNvSpPr>
                <p:nvPr/>
              </p:nvSpPr>
              <p:spPr bwMode="auto">
                <a:xfrm>
                  <a:off x="9632313" y="2191016"/>
                  <a:ext cx="1800000" cy="1188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spcAft>
                      <a:spcPts val="300"/>
                    </a:spcAft>
                    <a:defRPr/>
                  </a:pPr>
                  <a:r>
                    <a:rPr lang="zh-CN" altLang="en-US" dirty="0">
                      <a:latin typeface="微软雅黑" panose="020B0503020204020204" pitchFamily="34" charset="-122"/>
                      <a:ea typeface="微软雅黑" panose="020B0503020204020204" pitchFamily="34" charset="-122"/>
                    </a:rPr>
                    <a:t>扩展后容量</a:t>
                  </a:r>
                  <a:endParaRPr lang="en-US" altLang="zh-CN" dirty="0">
                    <a:latin typeface="微软雅黑" panose="020B0503020204020204" pitchFamily="34" charset="-122"/>
                    <a:ea typeface="微软雅黑" panose="020B0503020204020204" pitchFamily="34" charset="-122"/>
                  </a:endParaRPr>
                </a:p>
                <a:p>
                  <a:pPr algn="ctr" eaLnBrk="1" hangingPunct="1">
                    <a:spcAft>
                      <a:spcPts val="300"/>
                    </a:spcAft>
                    <a:defRPr/>
                  </a:pPr>
                  <a:r>
                    <a:rPr lang="en-US" altLang="zh-CN" dirty="0">
                      <a:latin typeface="微软雅黑" panose="020B0503020204020204" pitchFamily="34" charset="-122"/>
                      <a:ea typeface="微软雅黑" panose="020B0503020204020204" pitchFamily="34" charset="-122"/>
                    </a:rPr>
                    <a:t>P </a:t>
                  </a:r>
                  <a14:m>
                    <m:oMath xmlns:m="http://schemas.openxmlformats.org/officeDocument/2006/math">
                      <m:r>
                        <a:rPr kumimoji="1" lang="en-US" altLang="zh-CN" i="1">
                          <a:latin typeface="Cambria Math" panose="02040503050406030204" pitchFamily="18" charset="0"/>
                          <a:ea typeface="Cambria Math" panose="02040503050406030204" pitchFamily="18" charset="0"/>
                        </a:rPr>
                        <m:t>×</m:t>
                      </m:r>
                    </m:oMath>
                  </a14:m>
                  <a:r>
                    <a:rPr lang="en-US" altLang="zh-CN" dirty="0">
                      <a:latin typeface="微软雅黑" panose="020B0503020204020204" pitchFamily="34" charset="-122"/>
                      <a:ea typeface="微软雅黑" panose="020B0503020204020204" pitchFamily="34" charset="-122"/>
                    </a:rPr>
                    <a:t> N</a:t>
                  </a:r>
                </a:p>
                <a:p>
                  <a:pPr algn="ctr" eaLnBrk="1" hangingPunct="1">
                    <a:spcAft>
                      <a:spcPts val="300"/>
                    </a:spcAft>
                    <a:defRPr/>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N </a:t>
                  </a:r>
                  <a14:m>
                    <m:oMath xmlns:m="http://schemas.openxmlformats.org/officeDocument/2006/math">
                      <m:r>
                        <a:rPr kumimoji="1" lang="en-US" altLang="zh-CN" sz="2000" i="1">
                          <a:latin typeface="Cambria Math" panose="02040503050406030204" pitchFamily="18" charset="0"/>
                          <a:ea typeface="Cambria Math" panose="02040503050406030204" pitchFamily="18" charset="0"/>
                        </a:rPr>
                        <m:t>&gt;</m:t>
                      </m:r>
                    </m:oMath>
                  </a14:m>
                  <a:r>
                    <a:rPr lang="en-US" altLang="zh-CN" sz="2000" dirty="0">
                      <a:latin typeface="微软雅黑" panose="020B0503020204020204" pitchFamily="34" charset="-122"/>
                      <a:ea typeface="微软雅黑" panose="020B0503020204020204" pitchFamily="34" charset="-122"/>
                    </a:rPr>
                    <a:t> L</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mc:Choice>
          <mc:Fallback xmlns="">
            <p:sp>
              <p:nvSpPr>
                <p:cNvPr id="31" name="Rectangle 21">
                  <a:extLst>
                    <a:ext uri="{FF2B5EF4-FFF2-40B4-BE49-F238E27FC236}">
                      <a16:creationId xmlns:a16="http://schemas.microsoft.com/office/drawing/2014/main" id="{526912ED-4809-AB70-96D9-D3320C9493BF}"/>
                    </a:ext>
                  </a:extLst>
                </p:cNvPr>
                <p:cNvSpPr>
                  <a:spLocks noRot="1" noChangeAspect="1" noMove="1" noResize="1" noEditPoints="1" noAdjustHandles="1" noChangeArrowheads="1" noChangeShapeType="1" noTextEdit="1"/>
                </p:cNvSpPr>
                <p:nvPr/>
              </p:nvSpPr>
              <p:spPr bwMode="auto">
                <a:xfrm>
                  <a:off x="9632313" y="2191016"/>
                  <a:ext cx="1800000" cy="1188000"/>
                </a:xfrm>
                <a:prstGeom prst="rect">
                  <a:avLst/>
                </a:prstGeom>
                <a:blipFill>
                  <a:blip r:embed="rId4"/>
                  <a:stretch>
                    <a:fillRect l="-2712" t="-4103" r="-2712" b="-1076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2" name="Text Box 13">
              <a:extLst>
                <a:ext uri="{FF2B5EF4-FFF2-40B4-BE49-F238E27FC236}">
                  <a16:creationId xmlns:a16="http://schemas.microsoft.com/office/drawing/2014/main" id="{C9453ACD-BFA2-CFA7-A6FD-83E83E779FD7}"/>
                </a:ext>
              </a:extLst>
            </p:cNvPr>
            <p:cNvSpPr txBox="1">
              <a:spLocks noChangeArrowheads="1"/>
            </p:cNvSpPr>
            <p:nvPr/>
          </p:nvSpPr>
          <p:spPr bwMode="auto">
            <a:xfrm>
              <a:off x="6500313" y="3199016"/>
              <a:ext cx="432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defRPr/>
              </a:pPr>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字扩展</a:t>
              </a:r>
            </a:p>
          </p:txBody>
        </p:sp>
        <p:sp>
          <p:nvSpPr>
            <p:cNvPr id="33" name="Line 12">
              <a:extLst>
                <a:ext uri="{FF2B5EF4-FFF2-40B4-BE49-F238E27FC236}">
                  <a16:creationId xmlns:a16="http://schemas.microsoft.com/office/drawing/2014/main" id="{AD2A0693-A630-65F6-6EC0-7769E16CE508}"/>
                </a:ext>
              </a:extLst>
            </p:cNvPr>
            <p:cNvSpPr>
              <a:spLocks noChangeShapeType="1"/>
            </p:cNvSpPr>
            <p:nvPr/>
          </p:nvSpPr>
          <p:spPr bwMode="auto">
            <a:xfrm rot="5400000">
              <a:off x="6242878" y="3762450"/>
              <a:ext cx="1368000"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sz="2400">
                <a:latin typeface="微软雅黑" panose="020B0503020204020204" pitchFamily="34" charset="-122"/>
                <a:ea typeface="微软雅黑" panose="020B0503020204020204" pitchFamily="34" charset="-122"/>
              </a:endParaRPr>
            </a:p>
          </p:txBody>
        </p:sp>
        <p:sp>
          <p:nvSpPr>
            <p:cNvPr id="34" name="Text Box 13">
              <a:extLst>
                <a:ext uri="{FF2B5EF4-FFF2-40B4-BE49-F238E27FC236}">
                  <a16:creationId xmlns:a16="http://schemas.microsoft.com/office/drawing/2014/main" id="{F3343BF1-241C-19F0-AD5F-54BBD055FF5B}"/>
                </a:ext>
              </a:extLst>
            </p:cNvPr>
            <p:cNvSpPr txBox="1">
              <a:spLocks noChangeArrowheads="1"/>
            </p:cNvSpPr>
            <p:nvPr/>
          </p:nvSpPr>
          <p:spPr bwMode="auto">
            <a:xfrm>
              <a:off x="8480313" y="3199016"/>
              <a:ext cx="1080000" cy="7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defRPr/>
              </a:pPr>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字和位都扩展</a:t>
              </a:r>
            </a:p>
          </p:txBody>
        </p:sp>
        <p:sp>
          <p:nvSpPr>
            <p:cNvPr id="35" name="Line 12">
              <a:extLst>
                <a:ext uri="{FF2B5EF4-FFF2-40B4-BE49-F238E27FC236}">
                  <a16:creationId xmlns:a16="http://schemas.microsoft.com/office/drawing/2014/main" id="{0062AEE7-C213-09C6-BB14-1E3EA80180E8}"/>
                </a:ext>
              </a:extLst>
            </p:cNvPr>
            <p:cNvSpPr>
              <a:spLocks noChangeShapeType="1"/>
            </p:cNvSpPr>
            <p:nvPr/>
          </p:nvSpPr>
          <p:spPr bwMode="auto">
            <a:xfrm>
              <a:off x="7217023" y="3073123"/>
              <a:ext cx="2268000" cy="136800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sz="240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6" name="Rectangle 21">
                  <a:extLst>
                    <a:ext uri="{FF2B5EF4-FFF2-40B4-BE49-F238E27FC236}">
                      <a16:creationId xmlns:a16="http://schemas.microsoft.com/office/drawing/2014/main" id="{37804EC9-D873-F1DD-1C33-9876A60E05A3}"/>
                    </a:ext>
                  </a:extLst>
                </p:cNvPr>
                <p:cNvSpPr>
                  <a:spLocks noChangeArrowheads="1"/>
                </p:cNvSpPr>
                <p:nvPr/>
              </p:nvSpPr>
              <p:spPr bwMode="auto">
                <a:xfrm>
                  <a:off x="6032313" y="4531016"/>
                  <a:ext cx="1800000" cy="1188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spcAft>
                      <a:spcPts val="300"/>
                    </a:spcAft>
                    <a:defRPr/>
                  </a:pPr>
                  <a:r>
                    <a:rPr lang="zh-CN" altLang="en-US" dirty="0">
                      <a:latin typeface="微软雅黑" panose="020B0503020204020204" pitchFamily="34" charset="-122"/>
                      <a:ea typeface="微软雅黑" panose="020B0503020204020204" pitchFamily="34" charset="-122"/>
                    </a:rPr>
                    <a:t>扩展后容量</a:t>
                  </a:r>
                  <a:endParaRPr lang="en-US" altLang="zh-CN" dirty="0">
                    <a:latin typeface="微软雅黑" panose="020B0503020204020204" pitchFamily="34" charset="-122"/>
                    <a:ea typeface="微软雅黑" panose="020B0503020204020204" pitchFamily="34" charset="-122"/>
                  </a:endParaRPr>
                </a:p>
                <a:p>
                  <a:pPr algn="ctr" eaLnBrk="1" hangingPunct="1">
                    <a:spcAft>
                      <a:spcPts val="300"/>
                    </a:spcAft>
                    <a:defRPr/>
                  </a:pPr>
                  <a:r>
                    <a:rPr lang="en-US" altLang="zh-CN" dirty="0">
                      <a:latin typeface="微软雅黑" panose="020B0503020204020204" pitchFamily="34" charset="-122"/>
                      <a:ea typeface="微软雅黑" panose="020B0503020204020204" pitchFamily="34" charset="-122"/>
                    </a:rPr>
                    <a:t>M </a:t>
                  </a:r>
                  <a14:m>
                    <m:oMath xmlns:m="http://schemas.openxmlformats.org/officeDocument/2006/math">
                      <m:r>
                        <a:rPr kumimoji="1" lang="en-US" altLang="zh-CN" i="1">
                          <a:latin typeface="Cambria Math" panose="02040503050406030204" pitchFamily="18" charset="0"/>
                          <a:ea typeface="Cambria Math" panose="02040503050406030204" pitchFamily="18" charset="0"/>
                        </a:rPr>
                        <m:t>×</m:t>
                      </m:r>
                    </m:oMath>
                  </a14:m>
                  <a:r>
                    <a:rPr lang="en-US" altLang="zh-CN" dirty="0">
                      <a:latin typeface="微软雅黑" panose="020B0503020204020204" pitchFamily="34" charset="-122"/>
                      <a:ea typeface="微软雅黑" panose="020B0503020204020204" pitchFamily="34" charset="-122"/>
                    </a:rPr>
                    <a:t> L</a:t>
                  </a:r>
                </a:p>
                <a:p>
                  <a:pPr algn="ctr" eaLnBrk="1" hangingPunct="1">
                    <a:spcAft>
                      <a:spcPts val="300"/>
                    </a:spcAft>
                    <a:defRPr/>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M </a:t>
                  </a:r>
                  <a14:m>
                    <m:oMath xmlns:m="http://schemas.openxmlformats.org/officeDocument/2006/math">
                      <m:r>
                        <a:rPr kumimoji="1" lang="en-US" altLang="zh-CN" sz="2000" b="0" i="1" smtClean="0">
                          <a:latin typeface="Cambria Math" panose="02040503050406030204" pitchFamily="18" charset="0"/>
                          <a:ea typeface="Cambria Math" panose="02040503050406030204" pitchFamily="18" charset="0"/>
                        </a:rPr>
                        <m:t>&gt;</m:t>
                      </m:r>
                    </m:oMath>
                  </a14:m>
                  <a:r>
                    <a:rPr lang="en-US" altLang="zh-CN" sz="2000" dirty="0">
                      <a:latin typeface="微软雅黑" panose="020B0503020204020204" pitchFamily="34" charset="-122"/>
                      <a:ea typeface="微软雅黑" panose="020B0503020204020204" pitchFamily="34" charset="-122"/>
                    </a:rPr>
                    <a:t> P</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mc:Choice>
          <mc:Fallback xmlns="">
            <p:sp>
              <p:nvSpPr>
                <p:cNvPr id="36" name="Rectangle 21">
                  <a:extLst>
                    <a:ext uri="{FF2B5EF4-FFF2-40B4-BE49-F238E27FC236}">
                      <a16:creationId xmlns:a16="http://schemas.microsoft.com/office/drawing/2014/main" id="{37804EC9-D873-F1DD-1C33-9876A60E05A3}"/>
                    </a:ext>
                  </a:extLst>
                </p:cNvPr>
                <p:cNvSpPr>
                  <a:spLocks noRot="1" noChangeAspect="1" noMove="1" noResize="1" noEditPoints="1" noAdjustHandles="1" noChangeArrowheads="1" noChangeShapeType="1" noTextEdit="1"/>
                </p:cNvSpPr>
                <p:nvPr/>
              </p:nvSpPr>
              <p:spPr bwMode="auto">
                <a:xfrm>
                  <a:off x="6032313" y="4531016"/>
                  <a:ext cx="1800000" cy="1188000"/>
                </a:xfrm>
                <a:prstGeom prst="rect">
                  <a:avLst/>
                </a:prstGeom>
                <a:blipFill>
                  <a:blip r:embed="rId5"/>
                  <a:stretch>
                    <a:fillRect l="-2703" t="-4103" r="-2365" b="-1076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Rectangle 21">
                  <a:extLst>
                    <a:ext uri="{FF2B5EF4-FFF2-40B4-BE49-F238E27FC236}">
                      <a16:creationId xmlns:a16="http://schemas.microsoft.com/office/drawing/2014/main" id="{3AACD736-CA93-A9ED-7E2F-1BA311A9CDD6}"/>
                    </a:ext>
                  </a:extLst>
                </p:cNvPr>
                <p:cNvSpPr>
                  <a:spLocks noChangeArrowheads="1"/>
                </p:cNvSpPr>
                <p:nvPr/>
              </p:nvSpPr>
              <p:spPr bwMode="auto">
                <a:xfrm>
                  <a:off x="9452313" y="4531016"/>
                  <a:ext cx="2160000" cy="1188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spcAft>
                      <a:spcPts val="300"/>
                    </a:spcAft>
                    <a:defRPr/>
                  </a:pPr>
                  <a:r>
                    <a:rPr lang="zh-CN" altLang="en-US" dirty="0">
                      <a:latin typeface="微软雅黑" panose="020B0503020204020204" pitchFamily="34" charset="-122"/>
                      <a:ea typeface="微软雅黑" panose="020B0503020204020204" pitchFamily="34" charset="-122"/>
                    </a:rPr>
                    <a:t>扩展后容量</a:t>
                  </a:r>
                  <a:endParaRPr lang="en-US" altLang="zh-CN" dirty="0">
                    <a:latin typeface="微软雅黑" panose="020B0503020204020204" pitchFamily="34" charset="-122"/>
                    <a:ea typeface="微软雅黑" panose="020B0503020204020204" pitchFamily="34" charset="-122"/>
                  </a:endParaRPr>
                </a:p>
                <a:p>
                  <a:pPr algn="ctr" eaLnBrk="1" hangingPunct="1">
                    <a:spcAft>
                      <a:spcPts val="300"/>
                    </a:spcAft>
                    <a:defRPr/>
                  </a:pPr>
                  <a:r>
                    <a:rPr lang="en-US" altLang="zh-CN" dirty="0">
                      <a:latin typeface="微软雅黑" panose="020B0503020204020204" pitchFamily="34" charset="-122"/>
                      <a:ea typeface="微软雅黑" panose="020B0503020204020204" pitchFamily="34" charset="-122"/>
                    </a:rPr>
                    <a:t>M </a:t>
                  </a:r>
                  <a14:m>
                    <m:oMath xmlns:m="http://schemas.openxmlformats.org/officeDocument/2006/math">
                      <m:r>
                        <a:rPr kumimoji="1" lang="en-US" altLang="zh-CN" i="1">
                          <a:latin typeface="Cambria Math" panose="02040503050406030204" pitchFamily="18" charset="0"/>
                          <a:ea typeface="Cambria Math" panose="02040503050406030204" pitchFamily="18" charset="0"/>
                        </a:rPr>
                        <m:t>×</m:t>
                      </m:r>
                    </m:oMath>
                  </a14:m>
                  <a:r>
                    <a:rPr lang="en-US" altLang="zh-CN" dirty="0">
                      <a:latin typeface="微软雅黑" panose="020B0503020204020204" pitchFamily="34" charset="-122"/>
                      <a:ea typeface="微软雅黑" panose="020B0503020204020204" pitchFamily="34" charset="-122"/>
                    </a:rPr>
                    <a:t> N</a:t>
                  </a:r>
                </a:p>
                <a:p>
                  <a:pPr algn="ctr" eaLnBrk="1" hangingPunct="1">
                    <a:spcAft>
                      <a:spcPts val="300"/>
                    </a:spcAft>
                    <a:defRPr/>
                  </a:pPr>
                  <a:r>
                    <a:rPr lang="en-US" altLang="zh-CN" sz="2000" dirty="0">
                      <a:latin typeface="微软雅黑" panose="020B0503020204020204" pitchFamily="34" charset="-122"/>
                      <a:ea typeface="微软雅黑" panose="020B0503020204020204" pitchFamily="34" charset="-122"/>
                    </a:rPr>
                    <a:t>(M </a:t>
                  </a:r>
                  <a14:m>
                    <m:oMath xmlns:m="http://schemas.openxmlformats.org/officeDocument/2006/math">
                      <m:r>
                        <a:rPr kumimoji="1" lang="en-US" altLang="zh-CN" sz="2000" i="1">
                          <a:latin typeface="Cambria Math" panose="02040503050406030204" pitchFamily="18" charset="0"/>
                          <a:ea typeface="Cambria Math" panose="02040503050406030204" pitchFamily="18" charset="0"/>
                        </a:rPr>
                        <m:t>&gt;</m:t>
                      </m:r>
                    </m:oMath>
                  </a14:m>
                  <a:r>
                    <a:rPr lang="en-US" altLang="zh-CN" sz="2000" dirty="0">
                      <a:latin typeface="微软雅黑" panose="020B0503020204020204" pitchFamily="34" charset="-122"/>
                      <a:ea typeface="微软雅黑" panose="020B0503020204020204" pitchFamily="34" charset="-122"/>
                    </a:rPr>
                    <a:t> P</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N </a:t>
                  </a:r>
                  <a14:m>
                    <m:oMath xmlns:m="http://schemas.openxmlformats.org/officeDocument/2006/math">
                      <m:r>
                        <a:rPr kumimoji="1" lang="en-US" altLang="zh-CN" sz="2000" i="1">
                          <a:latin typeface="Cambria Math" panose="02040503050406030204" pitchFamily="18" charset="0"/>
                          <a:ea typeface="Cambria Math" panose="02040503050406030204" pitchFamily="18" charset="0"/>
                        </a:rPr>
                        <m:t>&gt;</m:t>
                      </m:r>
                    </m:oMath>
                  </a14:m>
                  <a:r>
                    <a:rPr lang="en-US" altLang="zh-CN" sz="2000" dirty="0">
                      <a:latin typeface="微软雅黑" panose="020B0503020204020204" pitchFamily="34" charset="-122"/>
                      <a:ea typeface="微软雅黑" panose="020B0503020204020204" pitchFamily="34" charset="-122"/>
                    </a:rPr>
                    <a:t> L)</a:t>
                  </a:r>
                </a:p>
              </p:txBody>
            </p:sp>
          </mc:Choice>
          <mc:Fallback xmlns="">
            <p:sp>
              <p:nvSpPr>
                <p:cNvPr id="37" name="Rectangle 21">
                  <a:extLst>
                    <a:ext uri="{FF2B5EF4-FFF2-40B4-BE49-F238E27FC236}">
                      <a16:creationId xmlns:a16="http://schemas.microsoft.com/office/drawing/2014/main" id="{3AACD736-CA93-A9ED-7E2F-1BA311A9CDD6}"/>
                    </a:ext>
                  </a:extLst>
                </p:cNvPr>
                <p:cNvSpPr>
                  <a:spLocks noRot="1" noChangeAspect="1" noMove="1" noResize="1" noEditPoints="1" noAdjustHandles="1" noChangeArrowheads="1" noChangeShapeType="1" noTextEdit="1"/>
                </p:cNvSpPr>
                <p:nvPr/>
              </p:nvSpPr>
              <p:spPr bwMode="auto">
                <a:xfrm>
                  <a:off x="9452313" y="4531016"/>
                  <a:ext cx="2160000" cy="1188000"/>
                </a:xfrm>
                <a:prstGeom prst="rect">
                  <a:avLst/>
                </a:prstGeom>
                <a:blipFill>
                  <a:blip r:embed="rId6"/>
                  <a:stretch>
                    <a:fillRect t="-4103" b="-1076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spTree>
    <p:extLst>
      <p:ext uri="{BB962C8B-B14F-4D97-AF65-F5344CB8AC3E}">
        <p14:creationId xmlns:p14="http://schemas.microsoft.com/office/powerpoint/2010/main" val="19665210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3BBA7-7818-0AE0-E84D-A11CD3334A9E}"/>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62FB6B5D-4273-17BD-C0F9-EBA9A3EF7C8B}"/>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D26F595F-F917-4605-E1DA-8F762006A74E}"/>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65E00A12-7B5C-B641-48E9-6723D66ACBEE}"/>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23F17307-E26B-0292-36DF-7299FF383418}"/>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32C129CD-6856-8E6D-890D-3957A45C1199}"/>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20</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D3FEE9E1-8D8F-EA3D-686C-CD6ECC6F9D18}"/>
                  </a:ext>
                </a:extLst>
              </p:cNvPr>
              <p:cNvSpPr txBox="1"/>
              <p:nvPr/>
            </p:nvSpPr>
            <p:spPr>
              <a:xfrm>
                <a:off x="360000" y="828000"/>
                <a:ext cx="9900000" cy="109196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a:solidFill>
                      <a:srgbClr val="002060"/>
                    </a:solidFill>
                    <a:latin typeface="微软雅黑" panose="020B0503020204020204" pitchFamily="34" charset="-122"/>
                    <a:ea typeface="微软雅黑" panose="020B0503020204020204" pitchFamily="34" charset="-122"/>
                  </a:rPr>
                  <a:t>位数（字长）扩展</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用两片容量为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4K </a:t>
                </a:r>
                <a14:m>
                  <m:oMath xmlns:m="http://schemas.openxmlformats.org/officeDocument/2006/math">
                    <m:r>
                      <a:rPr kumimoji="1" lang="en-US" altLang="zh-CN" sz="2400" i="1">
                        <a:solidFill>
                          <a:schemeClr val="accent5">
                            <a:lumMod val="75000"/>
                          </a:schemeClr>
                        </a:solidFill>
                        <a:latin typeface="Cambria Math" panose="02040503050406030204" pitchFamily="18" charset="0"/>
                        <a:ea typeface="Cambria Math" panose="02040503050406030204" pitchFamily="18" charset="0"/>
                      </a:rPr>
                      <m:t>×</m:t>
                    </m:r>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4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位的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RAM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芯片构成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4K </a:t>
                </a:r>
                <a14:m>
                  <m:oMath xmlns:m="http://schemas.openxmlformats.org/officeDocument/2006/math">
                    <m:r>
                      <a:rPr kumimoji="1" lang="en-US" altLang="zh-CN" sz="2400" i="1">
                        <a:solidFill>
                          <a:schemeClr val="accent5">
                            <a:lumMod val="75000"/>
                          </a:schemeClr>
                        </a:solidFill>
                        <a:latin typeface="Cambria Math" panose="02040503050406030204" pitchFamily="18" charset="0"/>
                        <a:ea typeface="Cambria Math" panose="02040503050406030204" pitchFamily="18" charset="0"/>
                      </a:rPr>
                      <m:t>×</m:t>
                    </m:r>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8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位的存储器</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9" name="文本框 8">
                <a:extLst>
                  <a:ext uri="{FF2B5EF4-FFF2-40B4-BE49-F238E27FC236}">
                    <a16:creationId xmlns:a16="http://schemas.microsoft.com/office/drawing/2014/main" id="{D3FEE9E1-8D8F-EA3D-686C-CD6ECC6F9D18}"/>
                  </a:ext>
                </a:extLst>
              </p:cNvPr>
              <p:cNvSpPr txBox="1">
                <a:spLocks noRot="1" noChangeAspect="1" noMove="1" noResize="1" noEditPoints="1" noAdjustHandles="1" noChangeArrowheads="1" noChangeShapeType="1" noTextEdit="1"/>
              </p:cNvSpPr>
              <p:nvPr/>
            </p:nvSpPr>
            <p:spPr>
              <a:xfrm>
                <a:off x="360000" y="828000"/>
                <a:ext cx="9900000" cy="1091966"/>
              </a:xfrm>
              <a:prstGeom prst="rect">
                <a:avLst/>
              </a:prstGeom>
              <a:blipFill>
                <a:blip r:embed="rId3"/>
                <a:stretch>
                  <a:fillRect l="-1108" t="-2235" b="-12291"/>
                </a:stretch>
              </a:blipFill>
            </p:spPr>
            <p:txBody>
              <a:bodyPr/>
              <a:lstStyle/>
              <a:p>
                <a:r>
                  <a:rPr lang="zh-CN" altLang="en-US">
                    <a:noFill/>
                  </a:rPr>
                  <a:t> </a:t>
                </a:r>
              </a:p>
            </p:txBody>
          </p:sp>
        </mc:Fallback>
      </mc:AlternateContent>
      <p:sp>
        <p:nvSpPr>
          <p:cNvPr id="10" name="标题 1">
            <a:extLst>
              <a:ext uri="{FF2B5EF4-FFF2-40B4-BE49-F238E27FC236}">
                <a16:creationId xmlns:a16="http://schemas.microsoft.com/office/drawing/2014/main" id="{942DD5B9-684F-A202-A3C8-87A291DBC15B}"/>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存储器的容量扩展</a:t>
            </a:r>
            <a:endParaRPr lang="en-US" altLang="zh-CN" sz="3000" dirty="0">
              <a:solidFill>
                <a:srgbClr val="FFFF00"/>
              </a:solidFill>
            </a:endParaRPr>
          </a:p>
        </p:txBody>
      </p:sp>
      <p:grpSp>
        <p:nvGrpSpPr>
          <p:cNvPr id="108" name="组合 107">
            <a:extLst>
              <a:ext uri="{FF2B5EF4-FFF2-40B4-BE49-F238E27FC236}">
                <a16:creationId xmlns:a16="http://schemas.microsoft.com/office/drawing/2014/main" id="{008F9877-502A-6065-1D3D-770DEB12E267}"/>
              </a:ext>
            </a:extLst>
          </p:cNvPr>
          <p:cNvGrpSpPr/>
          <p:nvPr/>
        </p:nvGrpSpPr>
        <p:grpSpPr>
          <a:xfrm>
            <a:off x="1548000" y="1908000"/>
            <a:ext cx="9288000" cy="4781665"/>
            <a:chOff x="1548000" y="1908000"/>
            <a:chExt cx="9288000" cy="4781665"/>
          </a:xfrm>
        </p:grpSpPr>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6515B050-74D6-C7E5-DFFE-6F7422D47D15}"/>
                    </a:ext>
                  </a:extLst>
                </p:cNvPr>
                <p:cNvSpPr txBox="1"/>
                <p:nvPr/>
              </p:nvSpPr>
              <p:spPr>
                <a:xfrm>
                  <a:off x="1548000" y="3708000"/>
                  <a:ext cx="540000" cy="504000"/>
                </a:xfrm>
                <a:prstGeom prst="rect">
                  <a:avLst/>
                </a:prstGeom>
                <a:noFill/>
              </p:spPr>
              <p:txBody>
                <a:bodyPr wrap="square">
                  <a:spAutoFit/>
                </a:bodyPr>
                <a:lstStyle/>
                <a:p>
                  <a:pPr algn="ctr"/>
                  <a14:m>
                    <m:oMath xmlns:m="http://schemas.openxmlformats.org/officeDocument/2006/math">
                      <m:acc>
                        <m:accPr>
                          <m:chr m:val="̅"/>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WE</m:t>
                          </m:r>
                        </m:e>
                      </m:acc>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endParaRPr lang="zh-CN" altLang="en-US" sz="2400" dirty="0"/>
                </a:p>
              </p:txBody>
            </p:sp>
          </mc:Choice>
          <mc:Fallback xmlns="">
            <p:sp>
              <p:nvSpPr>
                <p:cNvPr id="11" name="文本框 10">
                  <a:extLst>
                    <a:ext uri="{FF2B5EF4-FFF2-40B4-BE49-F238E27FC236}">
                      <a16:creationId xmlns:a16="http://schemas.microsoft.com/office/drawing/2014/main" id="{6515B050-74D6-C7E5-DFFE-6F7422D47D15}"/>
                    </a:ext>
                  </a:extLst>
                </p:cNvPr>
                <p:cNvSpPr txBox="1">
                  <a:spLocks noRot="1" noChangeAspect="1" noMove="1" noResize="1" noEditPoints="1" noAdjustHandles="1" noChangeArrowheads="1" noChangeShapeType="1" noTextEdit="1"/>
                </p:cNvSpPr>
                <p:nvPr/>
              </p:nvSpPr>
              <p:spPr>
                <a:xfrm>
                  <a:off x="1548000" y="3708000"/>
                  <a:ext cx="540000" cy="504000"/>
                </a:xfrm>
                <a:prstGeom prst="rect">
                  <a:avLst/>
                </a:prstGeom>
                <a:blipFill>
                  <a:blip r:embed="rId4"/>
                  <a:stretch>
                    <a:fillRect l="-12360" r="-11236"/>
                  </a:stretch>
                </a:blipFill>
              </p:spPr>
              <p:txBody>
                <a:bodyPr/>
                <a:lstStyle/>
                <a:p>
                  <a:r>
                    <a:rPr lang="zh-CN" altLang="en-US">
                      <a:noFill/>
                    </a:rPr>
                    <a:t> </a:t>
                  </a:r>
                </a:p>
              </p:txBody>
            </p:sp>
          </mc:Fallback>
        </mc:AlternateContent>
        <p:cxnSp>
          <p:nvCxnSpPr>
            <p:cNvPr id="49" name="直接连接符 48">
              <a:extLst>
                <a:ext uri="{FF2B5EF4-FFF2-40B4-BE49-F238E27FC236}">
                  <a16:creationId xmlns:a16="http://schemas.microsoft.com/office/drawing/2014/main" id="{780C9F1C-D98A-91F9-2750-0FF1E8B9CF8B}"/>
                </a:ext>
              </a:extLst>
            </p:cNvPr>
            <p:cNvCxnSpPr>
              <a:cxnSpLocks/>
            </p:cNvCxnSpPr>
            <p:nvPr/>
          </p:nvCxnSpPr>
          <p:spPr>
            <a:xfrm flipH="1">
              <a:off x="2160000" y="3960000"/>
              <a:ext cx="56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26F2B523-3387-6157-C40E-D4D078A9D818}"/>
                </a:ext>
              </a:extLst>
            </p:cNvPr>
            <p:cNvCxnSpPr>
              <a:cxnSpLocks/>
            </p:cNvCxnSpPr>
            <p:nvPr/>
          </p:nvCxnSpPr>
          <p:spPr>
            <a:xfrm flipH="1">
              <a:off x="2160000" y="3600000"/>
              <a:ext cx="631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43535295-9E72-8CB0-CD9B-D4A94C680D92}"/>
                </a:ext>
              </a:extLst>
            </p:cNvPr>
            <p:cNvCxnSpPr>
              <a:cxnSpLocks/>
            </p:cNvCxnSpPr>
            <p:nvPr/>
          </p:nvCxnSpPr>
          <p:spPr>
            <a:xfrm flipH="1">
              <a:off x="2159999" y="3060000"/>
              <a:ext cx="70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FF41C45D-E5FB-6ECF-AEA2-14A07E1D6CA9}"/>
                </a:ext>
              </a:extLst>
            </p:cNvPr>
            <p:cNvCxnSpPr>
              <a:cxnSpLocks/>
            </p:cNvCxnSpPr>
            <p:nvPr/>
          </p:nvCxnSpPr>
          <p:spPr>
            <a:xfrm flipH="1">
              <a:off x="2160000" y="2160000"/>
              <a:ext cx="81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69469805-77F9-8EBE-4C57-50A122668540}"/>
                    </a:ext>
                  </a:extLst>
                </p:cNvPr>
                <p:cNvSpPr txBox="1"/>
                <p:nvPr/>
              </p:nvSpPr>
              <p:spPr>
                <a:xfrm>
                  <a:off x="4860000" y="3924000"/>
                  <a:ext cx="504000" cy="504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kumimoji="1" lang="en-US" altLang="zh-CN" sz="2400" b="0" i="1" smtClean="0">
                            <a:solidFill>
                              <a:schemeClr val="tx1"/>
                            </a:solidFill>
                            <a:latin typeface="Cambria Math" panose="02040503050406030204" pitchFamily="18" charset="0"/>
                            <a:ea typeface="微软雅黑" panose="020B0503020204020204" pitchFamily="34" charset="-122"/>
                          </a:rPr>
                          <m:t>⋯</m:t>
                        </m:r>
                      </m:oMath>
                    </m:oMathPara>
                  </a14:m>
                  <a:endParaRPr lang="zh-CN" altLang="en-US" sz="2400" dirty="0">
                    <a:solidFill>
                      <a:schemeClr val="tx1"/>
                    </a:solidFill>
                  </a:endParaRPr>
                </a:p>
              </p:txBody>
            </p:sp>
          </mc:Choice>
          <mc:Fallback xmlns="">
            <p:sp>
              <p:nvSpPr>
                <p:cNvPr id="58" name="文本框 57">
                  <a:extLst>
                    <a:ext uri="{FF2B5EF4-FFF2-40B4-BE49-F238E27FC236}">
                      <a16:creationId xmlns:a16="http://schemas.microsoft.com/office/drawing/2014/main" id="{69469805-77F9-8EBE-4C57-50A122668540}"/>
                    </a:ext>
                  </a:extLst>
                </p:cNvPr>
                <p:cNvSpPr txBox="1">
                  <a:spLocks noRot="1" noChangeAspect="1" noMove="1" noResize="1" noEditPoints="1" noAdjustHandles="1" noChangeArrowheads="1" noChangeShapeType="1" noTextEdit="1"/>
                </p:cNvSpPr>
                <p:nvPr/>
              </p:nvSpPr>
              <p:spPr>
                <a:xfrm>
                  <a:off x="4860000" y="3924000"/>
                  <a:ext cx="504000" cy="50400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文本框 86">
                  <a:extLst>
                    <a:ext uri="{FF2B5EF4-FFF2-40B4-BE49-F238E27FC236}">
                      <a16:creationId xmlns:a16="http://schemas.microsoft.com/office/drawing/2014/main" id="{CEF2AAC8-D962-D4D3-15D5-6C141355C73E}"/>
                    </a:ext>
                  </a:extLst>
                </p:cNvPr>
                <p:cNvSpPr txBox="1"/>
                <p:nvPr/>
              </p:nvSpPr>
              <p:spPr>
                <a:xfrm>
                  <a:off x="9420435" y="3955481"/>
                  <a:ext cx="520347"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kumimoji="1" lang="en-US" altLang="zh-CN" sz="2400" b="0" i="1" smtClean="0">
                            <a:solidFill>
                              <a:schemeClr val="tx1"/>
                            </a:solidFill>
                            <a:latin typeface="Cambria Math" panose="02040503050406030204" pitchFamily="18" charset="0"/>
                            <a:ea typeface="微软雅黑" panose="020B0503020204020204" pitchFamily="34" charset="-122"/>
                          </a:rPr>
                          <m:t>⋯</m:t>
                        </m:r>
                      </m:oMath>
                    </m:oMathPara>
                  </a14:m>
                  <a:endParaRPr lang="zh-CN" altLang="en-US" sz="2400" dirty="0">
                    <a:solidFill>
                      <a:schemeClr val="tx1"/>
                    </a:solidFill>
                  </a:endParaRPr>
                </a:p>
              </p:txBody>
            </p:sp>
          </mc:Choice>
          <mc:Fallback xmlns="">
            <p:sp>
              <p:nvSpPr>
                <p:cNvPr id="87" name="文本框 86">
                  <a:extLst>
                    <a:ext uri="{FF2B5EF4-FFF2-40B4-BE49-F238E27FC236}">
                      <a16:creationId xmlns:a16="http://schemas.microsoft.com/office/drawing/2014/main" id="{CEF2AAC8-D962-D4D3-15D5-6C141355C73E}"/>
                    </a:ext>
                  </a:extLst>
                </p:cNvPr>
                <p:cNvSpPr txBox="1">
                  <a:spLocks noRot="1" noChangeAspect="1" noMove="1" noResize="1" noEditPoints="1" noAdjustHandles="1" noChangeArrowheads="1" noChangeShapeType="1" noTextEdit="1"/>
                </p:cNvSpPr>
                <p:nvPr/>
              </p:nvSpPr>
              <p:spPr>
                <a:xfrm>
                  <a:off x="9420435" y="3955481"/>
                  <a:ext cx="520347" cy="46166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文本框 91">
                  <a:extLst>
                    <a:ext uri="{FF2B5EF4-FFF2-40B4-BE49-F238E27FC236}">
                      <a16:creationId xmlns:a16="http://schemas.microsoft.com/office/drawing/2014/main" id="{9D2E09F9-1AE1-9E17-4313-3206027FBE09}"/>
                    </a:ext>
                  </a:extLst>
                </p:cNvPr>
                <p:cNvSpPr txBox="1"/>
                <p:nvPr/>
              </p:nvSpPr>
              <p:spPr>
                <a:xfrm>
                  <a:off x="1548000" y="3348000"/>
                  <a:ext cx="540000" cy="504000"/>
                </a:xfrm>
                <a:prstGeom prst="rect">
                  <a:avLst/>
                </a:prstGeom>
                <a:noFill/>
              </p:spPr>
              <p:txBody>
                <a:bodyPr wrap="square">
                  <a:spAutoFit/>
                </a:bodyPr>
                <a:lstStyle/>
                <a:p>
                  <a:pPr algn="ctr"/>
                  <a14:m>
                    <m:oMath xmlns:m="http://schemas.openxmlformats.org/officeDocument/2006/math">
                      <m:acc>
                        <m:accPr>
                          <m:chr m:val="̅"/>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C</m:t>
                          </m:r>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E</m:t>
                          </m:r>
                        </m:e>
                      </m:acc>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endParaRPr lang="zh-CN" altLang="en-US" sz="2400" dirty="0"/>
                </a:p>
              </p:txBody>
            </p:sp>
          </mc:Choice>
          <mc:Fallback xmlns="">
            <p:sp>
              <p:nvSpPr>
                <p:cNvPr id="92" name="文本框 91">
                  <a:extLst>
                    <a:ext uri="{FF2B5EF4-FFF2-40B4-BE49-F238E27FC236}">
                      <a16:creationId xmlns:a16="http://schemas.microsoft.com/office/drawing/2014/main" id="{9D2E09F9-1AE1-9E17-4313-3206027FBE09}"/>
                    </a:ext>
                  </a:extLst>
                </p:cNvPr>
                <p:cNvSpPr txBox="1">
                  <a:spLocks noRot="1" noChangeAspect="1" noMove="1" noResize="1" noEditPoints="1" noAdjustHandles="1" noChangeArrowheads="1" noChangeShapeType="1" noTextEdit="1"/>
                </p:cNvSpPr>
                <p:nvPr/>
              </p:nvSpPr>
              <p:spPr>
                <a:xfrm>
                  <a:off x="1548000" y="3348000"/>
                  <a:ext cx="540000" cy="504000"/>
                </a:xfrm>
                <a:prstGeom prst="rect">
                  <a:avLst/>
                </a:prstGeom>
                <a:blipFill>
                  <a:blip r:embed="rId7"/>
                  <a:stretch>
                    <a:fillRect l="-2247" r="-11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3" name="文本框 92">
                  <a:extLst>
                    <a:ext uri="{FF2B5EF4-FFF2-40B4-BE49-F238E27FC236}">
                      <a16:creationId xmlns:a16="http://schemas.microsoft.com/office/drawing/2014/main" id="{5C77230D-95B5-BD52-F5A8-13E3AD719067}"/>
                    </a:ext>
                  </a:extLst>
                </p:cNvPr>
                <p:cNvSpPr txBox="1"/>
                <p:nvPr/>
              </p:nvSpPr>
              <p:spPr>
                <a:xfrm>
                  <a:off x="1548000" y="1908000"/>
                  <a:ext cx="540000" cy="504000"/>
                </a:xfrm>
                <a:prstGeom prst="rect">
                  <a:avLst/>
                </a:prstGeom>
                <a:noFill/>
              </p:spPr>
              <p:txBody>
                <a:bodyPr wrap="square">
                  <a:spAutoFit/>
                </a:bodyPr>
                <a:lstStyle/>
                <a:p>
                  <a:pPr algn="ctr"/>
                  <a14:m>
                    <m:oMath xmlns:m="http://schemas.openxmlformats.org/officeDocument/2006/math">
                      <m:sSub>
                        <m:sSubPr>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A</m:t>
                          </m:r>
                        </m:e>
                        <m:sub>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11</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endParaRPr lang="zh-CN" altLang="en-US" sz="2400" dirty="0">
                    <a:solidFill>
                      <a:schemeClr val="accent5">
                        <a:lumMod val="75000"/>
                      </a:schemeClr>
                    </a:solidFill>
                  </a:endParaRPr>
                </a:p>
              </p:txBody>
            </p:sp>
          </mc:Choice>
          <mc:Fallback xmlns="">
            <p:sp>
              <p:nvSpPr>
                <p:cNvPr id="93" name="文本框 92">
                  <a:extLst>
                    <a:ext uri="{FF2B5EF4-FFF2-40B4-BE49-F238E27FC236}">
                      <a16:creationId xmlns:a16="http://schemas.microsoft.com/office/drawing/2014/main" id="{5C77230D-95B5-BD52-F5A8-13E3AD719067}"/>
                    </a:ext>
                  </a:extLst>
                </p:cNvPr>
                <p:cNvSpPr txBox="1">
                  <a:spLocks noRot="1" noChangeAspect="1" noMove="1" noResize="1" noEditPoints="1" noAdjustHandles="1" noChangeArrowheads="1" noChangeShapeType="1" noTextEdit="1"/>
                </p:cNvSpPr>
                <p:nvPr/>
              </p:nvSpPr>
              <p:spPr>
                <a:xfrm>
                  <a:off x="1548000" y="1908000"/>
                  <a:ext cx="540000" cy="504000"/>
                </a:xfrm>
                <a:prstGeom prst="rect">
                  <a:avLst/>
                </a:prstGeom>
                <a:blipFill>
                  <a:blip r:embed="rId8"/>
                  <a:stretch>
                    <a:fillRect l="-12360" r="-33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4" name="文本框 93">
                  <a:extLst>
                    <a:ext uri="{FF2B5EF4-FFF2-40B4-BE49-F238E27FC236}">
                      <a16:creationId xmlns:a16="http://schemas.microsoft.com/office/drawing/2014/main" id="{7EF9F279-446D-AE72-139E-592666456ED2}"/>
                    </a:ext>
                  </a:extLst>
                </p:cNvPr>
                <p:cNvSpPr txBox="1"/>
                <p:nvPr/>
              </p:nvSpPr>
              <p:spPr>
                <a:xfrm>
                  <a:off x="1548000" y="2808000"/>
                  <a:ext cx="540000" cy="504000"/>
                </a:xfrm>
                <a:prstGeom prst="rect">
                  <a:avLst/>
                </a:prstGeom>
                <a:noFill/>
              </p:spPr>
              <p:txBody>
                <a:bodyPr wrap="square">
                  <a:spAutoFit/>
                </a:bodyPr>
                <a:lstStyle/>
                <a:p>
                  <a:pPr algn="ctr"/>
                  <a14:m>
                    <m:oMath xmlns:m="http://schemas.openxmlformats.org/officeDocument/2006/math">
                      <m:sSub>
                        <m:sSubPr>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A</m:t>
                          </m:r>
                        </m:e>
                        <m:sub>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0</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endParaRPr lang="zh-CN" altLang="en-US" sz="2400" dirty="0">
                    <a:solidFill>
                      <a:schemeClr val="accent5">
                        <a:lumMod val="75000"/>
                      </a:schemeClr>
                    </a:solidFill>
                  </a:endParaRPr>
                </a:p>
              </p:txBody>
            </p:sp>
          </mc:Choice>
          <mc:Fallback xmlns="">
            <p:sp>
              <p:nvSpPr>
                <p:cNvPr id="94" name="文本框 93">
                  <a:extLst>
                    <a:ext uri="{FF2B5EF4-FFF2-40B4-BE49-F238E27FC236}">
                      <a16:creationId xmlns:a16="http://schemas.microsoft.com/office/drawing/2014/main" id="{7EF9F279-446D-AE72-139E-592666456ED2}"/>
                    </a:ext>
                  </a:extLst>
                </p:cNvPr>
                <p:cNvSpPr txBox="1">
                  <a:spLocks noRot="1" noChangeAspect="1" noMove="1" noResize="1" noEditPoints="1" noAdjustHandles="1" noChangeArrowheads="1" noChangeShapeType="1" noTextEdit="1"/>
                </p:cNvSpPr>
                <p:nvPr/>
              </p:nvSpPr>
              <p:spPr>
                <a:xfrm>
                  <a:off x="1548000" y="2808000"/>
                  <a:ext cx="540000" cy="504000"/>
                </a:xfrm>
                <a:prstGeom prst="rect">
                  <a:avLst/>
                </a:prstGeom>
                <a:blipFill>
                  <a:blip r:embed="rId9"/>
                  <a:stretch>
                    <a:fillRect l="-11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5" name="文本框 94">
                  <a:extLst>
                    <a:ext uri="{FF2B5EF4-FFF2-40B4-BE49-F238E27FC236}">
                      <a16:creationId xmlns:a16="http://schemas.microsoft.com/office/drawing/2014/main" id="{C23E942E-9CD0-8D7A-941A-8CC00B8F078B}"/>
                    </a:ext>
                  </a:extLst>
                </p:cNvPr>
                <p:cNvSpPr txBox="1"/>
                <p:nvPr/>
              </p:nvSpPr>
              <p:spPr>
                <a:xfrm>
                  <a:off x="1671825" y="2421927"/>
                  <a:ext cx="520347"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m:t>
                        </m:r>
                      </m:oMath>
                    </m:oMathPara>
                  </a14:m>
                  <a:endParaRPr lang="zh-CN" altLang="en-US" sz="2400" dirty="0">
                    <a:solidFill>
                      <a:schemeClr val="accent5">
                        <a:lumMod val="75000"/>
                      </a:schemeClr>
                    </a:solidFill>
                  </a:endParaRPr>
                </a:p>
              </p:txBody>
            </p:sp>
          </mc:Choice>
          <mc:Fallback xmlns="">
            <p:sp>
              <p:nvSpPr>
                <p:cNvPr id="95" name="文本框 94">
                  <a:extLst>
                    <a:ext uri="{FF2B5EF4-FFF2-40B4-BE49-F238E27FC236}">
                      <a16:creationId xmlns:a16="http://schemas.microsoft.com/office/drawing/2014/main" id="{C23E942E-9CD0-8D7A-941A-8CC00B8F078B}"/>
                    </a:ext>
                  </a:extLst>
                </p:cNvPr>
                <p:cNvSpPr txBox="1">
                  <a:spLocks noRot="1" noChangeAspect="1" noMove="1" noResize="1" noEditPoints="1" noAdjustHandles="1" noChangeArrowheads="1" noChangeShapeType="1" noTextEdit="1"/>
                </p:cNvSpPr>
                <p:nvPr/>
              </p:nvSpPr>
              <p:spPr>
                <a:xfrm>
                  <a:off x="1671825" y="2421927"/>
                  <a:ext cx="520347" cy="461665"/>
                </a:xfrm>
                <a:prstGeom prst="rect">
                  <a:avLst/>
                </a:prstGeom>
                <a:blipFill>
                  <a:blip r:embed="rId10"/>
                  <a:stretch>
                    <a:fillRect/>
                  </a:stretch>
                </a:blipFill>
              </p:spPr>
              <p:txBody>
                <a:bodyPr/>
                <a:lstStyle/>
                <a:p>
                  <a:r>
                    <a:rPr lang="zh-CN" altLang="en-US">
                      <a:noFill/>
                    </a:rPr>
                    <a:t> </a:t>
                  </a:r>
                </a:p>
              </p:txBody>
            </p:sp>
          </mc:Fallback>
        </mc:AlternateContent>
        <p:sp>
          <p:nvSpPr>
            <p:cNvPr id="96" name="椭圆 95">
              <a:extLst>
                <a:ext uri="{FF2B5EF4-FFF2-40B4-BE49-F238E27FC236}">
                  <a16:creationId xmlns:a16="http://schemas.microsoft.com/office/drawing/2014/main" id="{AB624727-CE1A-3E89-2916-F8968C6C6732}"/>
                </a:ext>
              </a:extLst>
            </p:cNvPr>
            <p:cNvSpPr/>
            <p:nvPr/>
          </p:nvSpPr>
          <p:spPr>
            <a:xfrm>
              <a:off x="3114000" y="3906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9388467E-EBF5-AEFB-C8D6-457027F1E96E}"/>
                </a:ext>
              </a:extLst>
            </p:cNvPr>
            <p:cNvSpPr/>
            <p:nvPr/>
          </p:nvSpPr>
          <p:spPr>
            <a:xfrm>
              <a:off x="3780000" y="3546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98" name="椭圆 97">
              <a:extLst>
                <a:ext uri="{FF2B5EF4-FFF2-40B4-BE49-F238E27FC236}">
                  <a16:creationId xmlns:a16="http://schemas.microsoft.com/office/drawing/2014/main" id="{224E1350-3082-69BC-C1DF-9EC5822EB58B}"/>
                </a:ext>
              </a:extLst>
            </p:cNvPr>
            <p:cNvSpPr/>
            <p:nvPr/>
          </p:nvSpPr>
          <p:spPr>
            <a:xfrm>
              <a:off x="4482000" y="3006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99" name="椭圆 98">
              <a:extLst>
                <a:ext uri="{FF2B5EF4-FFF2-40B4-BE49-F238E27FC236}">
                  <a16:creationId xmlns:a16="http://schemas.microsoft.com/office/drawing/2014/main" id="{603E974F-6F25-F5D5-3D5D-8BFE043E691C}"/>
                </a:ext>
              </a:extLst>
            </p:cNvPr>
            <p:cNvSpPr/>
            <p:nvPr/>
          </p:nvSpPr>
          <p:spPr>
            <a:xfrm>
              <a:off x="5562000" y="2106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B831DDC7-0344-7642-CD87-E8A5D3BD68BF}"/>
                    </a:ext>
                  </a:extLst>
                </p:cNvPr>
                <p:cNvSpPr/>
                <p:nvPr/>
              </p:nvSpPr>
              <p:spPr>
                <a:xfrm>
                  <a:off x="2592000" y="4356000"/>
                  <a:ext cx="3600000" cy="1692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rgbClr val="7030A0"/>
                      </a:solidFill>
                      <a:latin typeface="微软雅黑" panose="020B0503020204020204" pitchFamily="34" charset="-122"/>
                      <a:ea typeface="微软雅黑" panose="020B0503020204020204" pitchFamily="34" charset="-122"/>
                    </a:rPr>
                    <a:t>4K </a:t>
                  </a:r>
                  <a14:m>
                    <m:oMath xmlns:m="http://schemas.openxmlformats.org/officeDocument/2006/math">
                      <m:r>
                        <a:rPr kumimoji="1" lang="en-US" altLang="zh-CN" sz="2000" i="1">
                          <a:solidFill>
                            <a:srgbClr val="7030A0"/>
                          </a:solidFill>
                          <a:latin typeface="Cambria Math" panose="02040503050406030204" pitchFamily="18" charset="0"/>
                          <a:ea typeface="Cambria Math" panose="02040503050406030204" pitchFamily="18" charset="0"/>
                        </a:rPr>
                        <m:t>×</m:t>
                      </m:r>
                    </m:oMath>
                  </a14:m>
                  <a:r>
                    <a:rPr lang="en-US" altLang="zh-CN" sz="2000" dirty="0">
                      <a:solidFill>
                        <a:srgbClr val="7030A0"/>
                      </a:solidFill>
                      <a:latin typeface="微软雅黑" panose="020B0503020204020204" pitchFamily="34" charset="-122"/>
                      <a:ea typeface="微软雅黑" panose="020B0503020204020204" pitchFamily="34" charset="-122"/>
                    </a:rPr>
                    <a:t> 4 </a:t>
                  </a:r>
                  <a:r>
                    <a:rPr lang="zh-CN" altLang="en-US" sz="2000" dirty="0">
                      <a:solidFill>
                        <a:srgbClr val="7030A0"/>
                      </a:solidFill>
                      <a:latin typeface="微软雅黑" panose="020B0503020204020204" pitchFamily="34" charset="-122"/>
                      <a:ea typeface="微软雅黑" panose="020B0503020204020204" pitchFamily="34" charset="-122"/>
                    </a:rPr>
                    <a:t>位（</a:t>
                  </a:r>
                  <a:r>
                    <a:rPr lang="en-US" altLang="zh-CN" sz="2000" dirty="0">
                      <a:solidFill>
                        <a:srgbClr val="7030A0"/>
                      </a:solidFill>
                      <a:latin typeface="微软雅黑" panose="020B0503020204020204" pitchFamily="34" charset="-122"/>
                      <a:ea typeface="微软雅黑" panose="020B0503020204020204" pitchFamily="34" charset="-122"/>
                    </a:rPr>
                    <a:t>0</a:t>
                  </a:r>
                  <a:r>
                    <a:rPr lang="zh-CN" altLang="en-US" sz="2000" dirty="0">
                      <a:solidFill>
                        <a:srgbClr val="7030A0"/>
                      </a:solidFill>
                      <a:latin typeface="微软雅黑" panose="020B0503020204020204" pitchFamily="34" charset="-122"/>
                      <a:ea typeface="微软雅黑" panose="020B0503020204020204" pitchFamily="34" charset="-122"/>
                    </a:rPr>
                    <a:t>）</a:t>
                  </a:r>
                </a:p>
              </p:txBody>
            </p:sp>
          </mc:Choice>
          <mc:Fallback xmlns="">
            <p:sp>
              <p:nvSpPr>
                <p:cNvPr id="3" name="矩形 2">
                  <a:extLst>
                    <a:ext uri="{FF2B5EF4-FFF2-40B4-BE49-F238E27FC236}">
                      <a16:creationId xmlns:a16="http://schemas.microsoft.com/office/drawing/2014/main" id="{B831DDC7-0344-7642-CD87-E8A5D3BD68BF}"/>
                    </a:ext>
                  </a:extLst>
                </p:cNvPr>
                <p:cNvSpPr>
                  <a:spLocks noRot="1" noChangeAspect="1" noMove="1" noResize="1" noEditPoints="1" noAdjustHandles="1" noChangeArrowheads="1" noChangeShapeType="1" noTextEdit="1"/>
                </p:cNvSpPr>
                <p:nvPr/>
              </p:nvSpPr>
              <p:spPr>
                <a:xfrm>
                  <a:off x="2592000" y="4356000"/>
                  <a:ext cx="3600000" cy="1692000"/>
                </a:xfrm>
                <a:prstGeom prst="rect">
                  <a:avLst/>
                </a:prstGeom>
                <a:blipFill>
                  <a:blip r:embed="rId11"/>
                  <a:stretch>
                    <a:fillRect/>
                  </a:stretch>
                </a:blipFill>
                <a:ln w="25400"/>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536A017-A237-ED6E-090C-FB5CCFB73E04}"/>
                    </a:ext>
                  </a:extLst>
                </p:cNvPr>
                <p:cNvSpPr txBox="1"/>
                <p:nvPr/>
              </p:nvSpPr>
              <p:spPr>
                <a:xfrm>
                  <a:off x="2916000" y="4356000"/>
                  <a:ext cx="504000" cy="504000"/>
                </a:xfrm>
                <a:prstGeom prst="rect">
                  <a:avLst/>
                </a:prstGeom>
                <a:noFill/>
              </p:spPr>
              <p:txBody>
                <a:bodyPr wrap="square">
                  <a:spAutoFit/>
                </a:bodyPr>
                <a:lstStyle/>
                <a:p>
                  <a:pPr algn="ctr"/>
                  <a14:m>
                    <m:oMath xmlns:m="http://schemas.openxmlformats.org/officeDocument/2006/math">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WE</m:t>
                      </m:r>
                    </m:oMath>
                  </a14:m>
                  <a:r>
                    <a:rPr kumimoji="1" lang="en-US" altLang="zh-CN" sz="2400" dirty="0">
                      <a:solidFill>
                        <a:schemeClr val="tx1"/>
                      </a:solidFill>
                      <a:latin typeface="微软雅黑" panose="020B0503020204020204" pitchFamily="34" charset="-122"/>
                      <a:ea typeface="微软雅黑" panose="020B0503020204020204" pitchFamily="34" charset="-122"/>
                    </a:rPr>
                    <a:t> </a:t>
                  </a:r>
                  <a:endParaRPr lang="zh-CN" altLang="en-US" sz="2400" dirty="0">
                    <a:solidFill>
                      <a:schemeClr val="tx1"/>
                    </a:solidFill>
                  </a:endParaRPr>
                </a:p>
              </p:txBody>
            </p:sp>
          </mc:Choice>
          <mc:Fallback xmlns="">
            <p:sp>
              <p:nvSpPr>
                <p:cNvPr id="12" name="文本框 11">
                  <a:extLst>
                    <a:ext uri="{FF2B5EF4-FFF2-40B4-BE49-F238E27FC236}">
                      <a16:creationId xmlns:a16="http://schemas.microsoft.com/office/drawing/2014/main" id="{4536A017-A237-ED6E-090C-FB5CCFB73E04}"/>
                    </a:ext>
                  </a:extLst>
                </p:cNvPr>
                <p:cNvSpPr txBox="1">
                  <a:spLocks noRot="1" noChangeAspect="1" noMove="1" noResize="1" noEditPoints="1" noAdjustHandles="1" noChangeArrowheads="1" noChangeShapeType="1" noTextEdit="1"/>
                </p:cNvSpPr>
                <p:nvPr/>
              </p:nvSpPr>
              <p:spPr>
                <a:xfrm>
                  <a:off x="2916000" y="4356000"/>
                  <a:ext cx="504000" cy="504000"/>
                </a:xfrm>
                <a:prstGeom prst="rect">
                  <a:avLst/>
                </a:prstGeom>
                <a:blipFill>
                  <a:blip r:embed="rId12"/>
                  <a:stretch>
                    <a:fillRect l="-15663" r="-168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B645F4A6-8326-4D1A-29AB-2C7B333ED37D}"/>
                    </a:ext>
                  </a:extLst>
                </p:cNvPr>
                <p:cNvSpPr txBox="1"/>
                <p:nvPr/>
              </p:nvSpPr>
              <p:spPr>
                <a:xfrm>
                  <a:off x="3582000" y="4356000"/>
                  <a:ext cx="504000" cy="504000"/>
                </a:xfrm>
                <a:prstGeom prst="rect">
                  <a:avLst/>
                </a:prstGeom>
                <a:noFill/>
              </p:spPr>
              <p:txBody>
                <a:bodyPr wrap="square">
                  <a:spAutoFit/>
                </a:bodyPr>
                <a:lstStyle/>
                <a:p>
                  <a:pPr algn="ctr"/>
                  <a14:m>
                    <m:oMath xmlns:m="http://schemas.openxmlformats.org/officeDocument/2006/math">
                      <m:r>
                        <m:rPr>
                          <m:sty m:val="p"/>
                        </m:rPr>
                        <a:rPr kumimoji="1" lang="en-US" altLang="zh-CN" sz="2400">
                          <a:latin typeface="Cambria Math" panose="02040503050406030204" pitchFamily="18" charset="0"/>
                          <a:ea typeface="微软雅黑" panose="020B0503020204020204" pitchFamily="34" charset="-122"/>
                        </a:rPr>
                        <m:t>C</m:t>
                      </m:r>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E</m:t>
                      </m:r>
                    </m:oMath>
                  </a14:m>
                  <a:r>
                    <a:rPr kumimoji="1" lang="en-US" altLang="zh-CN" sz="2400" dirty="0">
                      <a:solidFill>
                        <a:schemeClr val="tx1"/>
                      </a:solidFill>
                      <a:latin typeface="微软雅黑" panose="020B0503020204020204" pitchFamily="34" charset="-122"/>
                      <a:ea typeface="微软雅黑" panose="020B0503020204020204" pitchFamily="34" charset="-122"/>
                    </a:rPr>
                    <a:t> </a:t>
                  </a:r>
                  <a:endParaRPr lang="zh-CN" altLang="en-US" sz="2400" dirty="0">
                    <a:solidFill>
                      <a:schemeClr val="tx1"/>
                    </a:solidFill>
                  </a:endParaRPr>
                </a:p>
              </p:txBody>
            </p:sp>
          </mc:Choice>
          <mc:Fallback xmlns="">
            <p:sp>
              <p:nvSpPr>
                <p:cNvPr id="13" name="文本框 12">
                  <a:extLst>
                    <a:ext uri="{FF2B5EF4-FFF2-40B4-BE49-F238E27FC236}">
                      <a16:creationId xmlns:a16="http://schemas.microsoft.com/office/drawing/2014/main" id="{B645F4A6-8326-4D1A-29AB-2C7B333ED37D}"/>
                    </a:ext>
                  </a:extLst>
                </p:cNvPr>
                <p:cNvSpPr txBox="1">
                  <a:spLocks noRot="1" noChangeAspect="1" noMove="1" noResize="1" noEditPoints="1" noAdjustHandles="1" noChangeArrowheads="1" noChangeShapeType="1" noTextEdit="1"/>
                </p:cNvSpPr>
                <p:nvPr/>
              </p:nvSpPr>
              <p:spPr>
                <a:xfrm>
                  <a:off x="3582000" y="4356000"/>
                  <a:ext cx="504000" cy="504000"/>
                </a:xfrm>
                <a:prstGeom prst="rect">
                  <a:avLst/>
                </a:prstGeom>
                <a:blipFill>
                  <a:blip r:embed="rId13"/>
                  <a:stretch>
                    <a:fillRect l="-6098" r="-609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8DE4B1ED-CDB2-8E80-70BA-36C7EC29080B}"/>
                    </a:ext>
                  </a:extLst>
                </p:cNvPr>
                <p:cNvSpPr txBox="1"/>
                <p:nvPr/>
              </p:nvSpPr>
              <p:spPr>
                <a:xfrm>
                  <a:off x="4284000" y="4356000"/>
                  <a:ext cx="504000" cy="504000"/>
                </a:xfrm>
                <a:prstGeom prst="rect">
                  <a:avLst/>
                </a:prstGeom>
                <a:noFill/>
              </p:spPr>
              <p:txBody>
                <a:bodyPr wrap="square">
                  <a:spAutoFit/>
                </a:bodyPr>
                <a:lstStyle/>
                <a:p>
                  <a:pPr algn="ctr"/>
                  <a14:m>
                    <m:oMath xmlns:m="http://schemas.openxmlformats.org/officeDocument/2006/math">
                      <m:sSub>
                        <m:sSubPr>
                          <m:ctrlPr>
                            <a:rPr kumimoji="1" lang="en-US" altLang="zh-CN" sz="2400" b="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A</m:t>
                          </m:r>
                        </m:e>
                        <m:sub>
                          <m:r>
                            <a:rPr kumimoji="1" lang="en-US" altLang="zh-CN" sz="2400" b="0" i="0" smtClean="0">
                              <a:solidFill>
                                <a:schemeClr val="tx1"/>
                              </a:solidFill>
                              <a:latin typeface="Cambria Math" panose="02040503050406030204" pitchFamily="18" charset="0"/>
                              <a:ea typeface="微软雅黑" panose="020B0503020204020204" pitchFamily="34" charset="-122"/>
                            </a:rPr>
                            <m:t>0</m:t>
                          </m:r>
                        </m:sub>
                      </m:sSub>
                    </m:oMath>
                  </a14:m>
                  <a:r>
                    <a:rPr kumimoji="1" lang="en-US" altLang="zh-CN" sz="2400" dirty="0">
                      <a:solidFill>
                        <a:schemeClr val="tx1"/>
                      </a:solidFill>
                      <a:latin typeface="微软雅黑" panose="020B0503020204020204" pitchFamily="34" charset="-122"/>
                      <a:ea typeface="微软雅黑" panose="020B0503020204020204" pitchFamily="34" charset="-122"/>
                    </a:rPr>
                    <a:t> </a:t>
                  </a:r>
                  <a:endParaRPr lang="zh-CN" altLang="en-US" sz="2400" dirty="0">
                    <a:solidFill>
                      <a:schemeClr val="tx1"/>
                    </a:solidFill>
                  </a:endParaRPr>
                </a:p>
              </p:txBody>
            </p:sp>
          </mc:Choice>
          <mc:Fallback xmlns="">
            <p:sp>
              <p:nvSpPr>
                <p:cNvPr id="14" name="文本框 13">
                  <a:extLst>
                    <a:ext uri="{FF2B5EF4-FFF2-40B4-BE49-F238E27FC236}">
                      <a16:creationId xmlns:a16="http://schemas.microsoft.com/office/drawing/2014/main" id="{8DE4B1ED-CDB2-8E80-70BA-36C7EC29080B}"/>
                    </a:ext>
                  </a:extLst>
                </p:cNvPr>
                <p:cNvSpPr txBox="1">
                  <a:spLocks noRot="1" noChangeAspect="1" noMove="1" noResize="1" noEditPoints="1" noAdjustHandles="1" noChangeArrowheads="1" noChangeShapeType="1" noTextEdit="1"/>
                </p:cNvSpPr>
                <p:nvPr/>
              </p:nvSpPr>
              <p:spPr>
                <a:xfrm>
                  <a:off x="4284000" y="4356000"/>
                  <a:ext cx="504000" cy="504000"/>
                </a:xfrm>
                <a:prstGeom prst="rect">
                  <a:avLst/>
                </a:prstGeom>
                <a:blipFill>
                  <a:blip r:embed="rId14"/>
                  <a:stretch>
                    <a:fillRect l="-48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B376A1EE-1157-CD93-9CA4-3AB450222DED}"/>
                    </a:ext>
                  </a:extLst>
                </p:cNvPr>
                <p:cNvSpPr txBox="1"/>
                <p:nvPr/>
              </p:nvSpPr>
              <p:spPr>
                <a:xfrm>
                  <a:off x="5364000" y="4356000"/>
                  <a:ext cx="504000" cy="504000"/>
                </a:xfrm>
                <a:prstGeom prst="rect">
                  <a:avLst/>
                </a:prstGeom>
                <a:noFill/>
              </p:spPr>
              <p:txBody>
                <a:bodyPr wrap="square">
                  <a:spAutoFit/>
                </a:bodyPr>
                <a:lstStyle/>
                <a:p>
                  <a:pPr algn="ctr"/>
                  <a14:m>
                    <m:oMath xmlns:m="http://schemas.openxmlformats.org/officeDocument/2006/math">
                      <m:sSub>
                        <m:sSubPr>
                          <m:ctrlPr>
                            <a:rPr kumimoji="1" lang="en-US" altLang="zh-CN" sz="2400" b="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A</m:t>
                          </m:r>
                        </m:e>
                        <m:sub>
                          <m:r>
                            <a:rPr kumimoji="1" lang="en-US" altLang="zh-CN" sz="2400" b="0" i="0" smtClean="0">
                              <a:solidFill>
                                <a:schemeClr val="tx1"/>
                              </a:solidFill>
                              <a:latin typeface="Cambria Math" panose="02040503050406030204" pitchFamily="18" charset="0"/>
                              <a:ea typeface="微软雅黑" panose="020B0503020204020204" pitchFamily="34" charset="-122"/>
                            </a:rPr>
                            <m:t>11</m:t>
                          </m:r>
                        </m:sub>
                      </m:sSub>
                    </m:oMath>
                  </a14:m>
                  <a:r>
                    <a:rPr kumimoji="1" lang="en-US" altLang="zh-CN" sz="2400" dirty="0">
                      <a:solidFill>
                        <a:schemeClr val="tx1"/>
                      </a:solidFill>
                      <a:latin typeface="微软雅黑" panose="020B0503020204020204" pitchFamily="34" charset="-122"/>
                      <a:ea typeface="微软雅黑" panose="020B0503020204020204" pitchFamily="34" charset="-122"/>
                    </a:rPr>
                    <a:t> </a:t>
                  </a:r>
                  <a:endParaRPr lang="zh-CN" altLang="en-US" sz="2400" dirty="0">
                    <a:solidFill>
                      <a:schemeClr val="tx1"/>
                    </a:solidFill>
                  </a:endParaRPr>
                </a:p>
              </p:txBody>
            </p:sp>
          </mc:Choice>
          <mc:Fallback xmlns="">
            <p:sp>
              <p:nvSpPr>
                <p:cNvPr id="15" name="文本框 14">
                  <a:extLst>
                    <a:ext uri="{FF2B5EF4-FFF2-40B4-BE49-F238E27FC236}">
                      <a16:creationId xmlns:a16="http://schemas.microsoft.com/office/drawing/2014/main" id="{B376A1EE-1157-CD93-9CA4-3AB450222DED}"/>
                    </a:ext>
                  </a:extLst>
                </p:cNvPr>
                <p:cNvSpPr txBox="1">
                  <a:spLocks noRot="1" noChangeAspect="1" noMove="1" noResize="1" noEditPoints="1" noAdjustHandles="1" noChangeArrowheads="1" noChangeShapeType="1" noTextEdit="1"/>
                </p:cNvSpPr>
                <p:nvPr/>
              </p:nvSpPr>
              <p:spPr>
                <a:xfrm>
                  <a:off x="5364000" y="4356000"/>
                  <a:ext cx="504000" cy="504000"/>
                </a:xfrm>
                <a:prstGeom prst="rect">
                  <a:avLst/>
                </a:prstGeom>
                <a:blipFill>
                  <a:blip r:embed="rId15"/>
                  <a:stretch>
                    <a:fillRect l="-16867" r="-72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486DC991-106D-9016-6DFE-6D8EF8642375}"/>
                    </a:ext>
                  </a:extLst>
                </p:cNvPr>
                <p:cNvSpPr txBox="1"/>
                <p:nvPr/>
              </p:nvSpPr>
              <p:spPr>
                <a:xfrm>
                  <a:off x="4860000" y="4356000"/>
                  <a:ext cx="504000" cy="504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kumimoji="1" lang="en-US" altLang="zh-CN" sz="2400" b="0" i="1" smtClean="0">
                            <a:solidFill>
                              <a:schemeClr val="tx1"/>
                            </a:solidFill>
                            <a:latin typeface="Cambria Math" panose="02040503050406030204" pitchFamily="18" charset="0"/>
                            <a:ea typeface="微软雅黑" panose="020B0503020204020204" pitchFamily="34" charset="-122"/>
                          </a:rPr>
                          <m:t>⋯</m:t>
                        </m:r>
                      </m:oMath>
                    </m:oMathPara>
                  </a14:m>
                  <a:endParaRPr lang="zh-CN" altLang="en-US" sz="2400" dirty="0">
                    <a:solidFill>
                      <a:schemeClr val="tx1"/>
                    </a:solidFill>
                  </a:endParaRPr>
                </a:p>
              </p:txBody>
            </p:sp>
          </mc:Choice>
          <mc:Fallback xmlns="">
            <p:sp>
              <p:nvSpPr>
                <p:cNvPr id="16" name="文本框 15">
                  <a:extLst>
                    <a:ext uri="{FF2B5EF4-FFF2-40B4-BE49-F238E27FC236}">
                      <a16:creationId xmlns:a16="http://schemas.microsoft.com/office/drawing/2014/main" id="{486DC991-106D-9016-6DFE-6D8EF8642375}"/>
                    </a:ext>
                  </a:extLst>
                </p:cNvPr>
                <p:cNvSpPr txBox="1">
                  <a:spLocks noRot="1" noChangeAspect="1" noMove="1" noResize="1" noEditPoints="1" noAdjustHandles="1" noChangeArrowheads="1" noChangeShapeType="1" noTextEdit="1"/>
                </p:cNvSpPr>
                <p:nvPr/>
              </p:nvSpPr>
              <p:spPr>
                <a:xfrm>
                  <a:off x="4860000" y="4356000"/>
                  <a:ext cx="504000" cy="504000"/>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948CCCD4-30DE-BFF0-7E9F-79716A48FFA9}"/>
                    </a:ext>
                  </a:extLst>
                </p:cNvPr>
                <p:cNvSpPr txBox="1"/>
                <p:nvPr/>
              </p:nvSpPr>
              <p:spPr>
                <a:xfrm>
                  <a:off x="2880000" y="5580000"/>
                  <a:ext cx="648000" cy="432000"/>
                </a:xfrm>
                <a:prstGeom prst="rect">
                  <a:avLst/>
                </a:prstGeom>
                <a:noFill/>
              </p:spPr>
              <p:txBody>
                <a:bodyPr wrap="square">
                  <a:spAutoFit/>
                </a:bodyPr>
                <a:lstStyle/>
                <a:p>
                  <a:pPr algn="ctr"/>
                  <a14:m>
                    <m:oMath xmlns:m="http://schemas.openxmlformats.org/officeDocument/2006/math">
                      <m:sSub>
                        <m:sSubPr>
                          <m:ctrlPr>
                            <a:rPr kumimoji="1" lang="en-US" altLang="zh-CN" sz="2400" b="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I</m:t>
                          </m:r>
                          <m:r>
                            <a:rPr kumimoji="1" lang="en-US" altLang="zh-CN" sz="2400" b="0" i="0" smtClean="0">
                              <a:solidFill>
                                <a:schemeClr val="tx1"/>
                              </a:solidFill>
                              <a:latin typeface="Cambria Math" panose="02040503050406030204" pitchFamily="18" charset="0"/>
                              <a:ea typeface="微软雅黑" panose="020B0503020204020204" pitchFamily="34" charset="-122"/>
                            </a:rPr>
                            <m:t>/</m:t>
                          </m:r>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O</m:t>
                          </m:r>
                        </m:e>
                        <m:sub>
                          <m:r>
                            <a:rPr kumimoji="1" lang="en-US" altLang="zh-CN" sz="2400" b="0" i="0" smtClean="0">
                              <a:solidFill>
                                <a:schemeClr val="tx1"/>
                              </a:solidFill>
                              <a:latin typeface="Cambria Math" panose="02040503050406030204" pitchFamily="18" charset="0"/>
                              <a:ea typeface="微软雅黑" panose="020B0503020204020204" pitchFamily="34" charset="-122"/>
                            </a:rPr>
                            <m:t>0</m:t>
                          </m:r>
                        </m:sub>
                      </m:sSub>
                    </m:oMath>
                  </a14:m>
                  <a:r>
                    <a:rPr kumimoji="1" lang="en-US" altLang="zh-CN" sz="2400" dirty="0">
                      <a:solidFill>
                        <a:schemeClr val="tx1"/>
                      </a:solidFill>
                      <a:latin typeface="微软雅黑" panose="020B0503020204020204" pitchFamily="34" charset="-122"/>
                      <a:ea typeface="微软雅黑" panose="020B0503020204020204" pitchFamily="34" charset="-122"/>
                    </a:rPr>
                    <a:t> </a:t>
                  </a:r>
                  <a:endParaRPr lang="zh-CN" altLang="en-US" sz="2400" dirty="0">
                    <a:solidFill>
                      <a:schemeClr val="tx1"/>
                    </a:solidFill>
                  </a:endParaRPr>
                </a:p>
              </p:txBody>
            </p:sp>
          </mc:Choice>
          <mc:Fallback xmlns="">
            <p:sp>
              <p:nvSpPr>
                <p:cNvPr id="17" name="文本框 16">
                  <a:extLst>
                    <a:ext uri="{FF2B5EF4-FFF2-40B4-BE49-F238E27FC236}">
                      <a16:creationId xmlns:a16="http://schemas.microsoft.com/office/drawing/2014/main" id="{948CCCD4-30DE-BFF0-7E9F-79716A48FFA9}"/>
                    </a:ext>
                  </a:extLst>
                </p:cNvPr>
                <p:cNvSpPr txBox="1">
                  <a:spLocks noRot="1" noChangeAspect="1" noMove="1" noResize="1" noEditPoints="1" noAdjustHandles="1" noChangeArrowheads="1" noChangeShapeType="1" noTextEdit="1"/>
                </p:cNvSpPr>
                <p:nvPr/>
              </p:nvSpPr>
              <p:spPr>
                <a:xfrm>
                  <a:off x="2880000" y="5580000"/>
                  <a:ext cx="648000" cy="432000"/>
                </a:xfrm>
                <a:prstGeom prst="rect">
                  <a:avLst/>
                </a:prstGeom>
                <a:blipFill>
                  <a:blip r:embed="rId17"/>
                  <a:stretch>
                    <a:fillRect l="-11215" r="-4673" b="-253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A20245D9-19DE-E5A2-0A0A-AC997909E080}"/>
                    </a:ext>
                  </a:extLst>
                </p:cNvPr>
                <p:cNvSpPr txBox="1"/>
                <p:nvPr/>
              </p:nvSpPr>
              <p:spPr>
                <a:xfrm>
                  <a:off x="3672000" y="5580000"/>
                  <a:ext cx="648000" cy="432000"/>
                </a:xfrm>
                <a:prstGeom prst="rect">
                  <a:avLst/>
                </a:prstGeom>
                <a:noFill/>
              </p:spPr>
              <p:txBody>
                <a:bodyPr wrap="square">
                  <a:spAutoFit/>
                </a:bodyPr>
                <a:lstStyle/>
                <a:p>
                  <a:pPr algn="ctr"/>
                  <a14:m>
                    <m:oMath xmlns:m="http://schemas.openxmlformats.org/officeDocument/2006/math">
                      <m:sSub>
                        <m:sSubPr>
                          <m:ctrlPr>
                            <a:rPr kumimoji="1" lang="en-US" altLang="zh-CN" sz="2400" b="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400">
                              <a:latin typeface="Cambria Math" panose="02040503050406030204" pitchFamily="18" charset="0"/>
                              <a:ea typeface="微软雅黑" panose="020B0503020204020204" pitchFamily="34" charset="-122"/>
                            </a:rPr>
                            <m:t>I</m:t>
                          </m:r>
                          <m:r>
                            <a:rPr kumimoji="1" lang="en-US" altLang="zh-CN" sz="2400">
                              <a:latin typeface="Cambria Math" panose="02040503050406030204" pitchFamily="18" charset="0"/>
                              <a:ea typeface="微软雅黑" panose="020B0503020204020204" pitchFamily="34" charset="-122"/>
                            </a:rPr>
                            <m:t>/</m:t>
                          </m:r>
                          <m:r>
                            <m:rPr>
                              <m:sty m:val="p"/>
                            </m:rPr>
                            <a:rPr kumimoji="1" lang="en-US" altLang="zh-CN" sz="2400">
                              <a:latin typeface="Cambria Math" panose="02040503050406030204" pitchFamily="18" charset="0"/>
                              <a:ea typeface="微软雅黑" panose="020B0503020204020204" pitchFamily="34" charset="-122"/>
                            </a:rPr>
                            <m:t>O</m:t>
                          </m:r>
                        </m:e>
                        <m:sub>
                          <m:r>
                            <a:rPr kumimoji="1" lang="en-US" altLang="zh-CN" sz="2400" i="1">
                              <a:latin typeface="Cambria Math" panose="02040503050406030204" pitchFamily="18" charset="0"/>
                              <a:ea typeface="微软雅黑" panose="020B0503020204020204" pitchFamily="34" charset="-122"/>
                            </a:rPr>
                            <m:t>1</m:t>
                          </m:r>
                        </m:sub>
                      </m:sSub>
                    </m:oMath>
                  </a14:m>
                  <a:r>
                    <a:rPr kumimoji="1" lang="en-US" altLang="zh-CN" sz="2400" dirty="0">
                      <a:solidFill>
                        <a:schemeClr val="tx1"/>
                      </a:solidFill>
                      <a:latin typeface="微软雅黑" panose="020B0503020204020204" pitchFamily="34" charset="-122"/>
                      <a:ea typeface="微软雅黑" panose="020B0503020204020204" pitchFamily="34" charset="-122"/>
                    </a:rPr>
                    <a:t> </a:t>
                  </a:r>
                  <a:endParaRPr lang="zh-CN" altLang="en-US" sz="2400" dirty="0">
                    <a:solidFill>
                      <a:schemeClr val="tx1"/>
                    </a:solidFill>
                  </a:endParaRPr>
                </a:p>
              </p:txBody>
            </p:sp>
          </mc:Choice>
          <mc:Fallback xmlns="">
            <p:sp>
              <p:nvSpPr>
                <p:cNvPr id="18" name="文本框 17">
                  <a:extLst>
                    <a:ext uri="{FF2B5EF4-FFF2-40B4-BE49-F238E27FC236}">
                      <a16:creationId xmlns:a16="http://schemas.microsoft.com/office/drawing/2014/main" id="{A20245D9-19DE-E5A2-0A0A-AC997909E080}"/>
                    </a:ext>
                  </a:extLst>
                </p:cNvPr>
                <p:cNvSpPr txBox="1">
                  <a:spLocks noRot="1" noChangeAspect="1" noMove="1" noResize="1" noEditPoints="1" noAdjustHandles="1" noChangeArrowheads="1" noChangeShapeType="1" noTextEdit="1"/>
                </p:cNvSpPr>
                <p:nvPr/>
              </p:nvSpPr>
              <p:spPr>
                <a:xfrm>
                  <a:off x="3672000" y="5580000"/>
                  <a:ext cx="648000" cy="432000"/>
                </a:xfrm>
                <a:prstGeom prst="rect">
                  <a:avLst/>
                </a:prstGeom>
                <a:blipFill>
                  <a:blip r:embed="rId18"/>
                  <a:stretch>
                    <a:fillRect l="-11215" r="-4673" b="-253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4124A177-17E5-7D95-A038-F4B39A61675F}"/>
                    </a:ext>
                  </a:extLst>
                </p:cNvPr>
                <p:cNvSpPr txBox="1"/>
                <p:nvPr/>
              </p:nvSpPr>
              <p:spPr>
                <a:xfrm>
                  <a:off x="4464000" y="5580000"/>
                  <a:ext cx="648000" cy="432000"/>
                </a:xfrm>
                <a:prstGeom prst="rect">
                  <a:avLst/>
                </a:prstGeom>
                <a:noFill/>
              </p:spPr>
              <p:txBody>
                <a:bodyPr wrap="square">
                  <a:spAutoFit/>
                </a:bodyPr>
                <a:lstStyle/>
                <a:p>
                  <a:pPr algn="ctr"/>
                  <a14:m>
                    <m:oMath xmlns:m="http://schemas.openxmlformats.org/officeDocument/2006/math">
                      <m:sSub>
                        <m:sSubPr>
                          <m:ctrlPr>
                            <a:rPr kumimoji="1" lang="en-US" altLang="zh-CN" sz="2400" b="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400">
                              <a:latin typeface="Cambria Math" panose="02040503050406030204" pitchFamily="18" charset="0"/>
                              <a:ea typeface="微软雅黑" panose="020B0503020204020204" pitchFamily="34" charset="-122"/>
                            </a:rPr>
                            <m:t>I</m:t>
                          </m:r>
                          <m:r>
                            <a:rPr kumimoji="1" lang="en-US" altLang="zh-CN" sz="2400">
                              <a:latin typeface="Cambria Math" panose="02040503050406030204" pitchFamily="18" charset="0"/>
                              <a:ea typeface="微软雅黑" panose="020B0503020204020204" pitchFamily="34" charset="-122"/>
                            </a:rPr>
                            <m:t>/</m:t>
                          </m:r>
                          <m:r>
                            <m:rPr>
                              <m:sty m:val="p"/>
                            </m:rPr>
                            <a:rPr kumimoji="1" lang="en-US" altLang="zh-CN" sz="2400">
                              <a:latin typeface="Cambria Math" panose="02040503050406030204" pitchFamily="18" charset="0"/>
                              <a:ea typeface="微软雅黑" panose="020B0503020204020204" pitchFamily="34" charset="-122"/>
                            </a:rPr>
                            <m:t>O</m:t>
                          </m:r>
                        </m:e>
                        <m:sub>
                          <m:r>
                            <a:rPr kumimoji="1" lang="en-US" altLang="zh-CN" sz="2400" i="1">
                              <a:latin typeface="Cambria Math" panose="02040503050406030204" pitchFamily="18" charset="0"/>
                              <a:ea typeface="微软雅黑" panose="020B0503020204020204" pitchFamily="34" charset="-122"/>
                            </a:rPr>
                            <m:t>2</m:t>
                          </m:r>
                        </m:sub>
                      </m:sSub>
                    </m:oMath>
                  </a14:m>
                  <a:r>
                    <a:rPr kumimoji="1" lang="en-US" altLang="zh-CN" sz="2400" dirty="0">
                      <a:solidFill>
                        <a:schemeClr val="tx1"/>
                      </a:solidFill>
                      <a:latin typeface="微软雅黑" panose="020B0503020204020204" pitchFamily="34" charset="-122"/>
                      <a:ea typeface="微软雅黑" panose="020B0503020204020204" pitchFamily="34" charset="-122"/>
                    </a:rPr>
                    <a:t> </a:t>
                  </a:r>
                  <a:endParaRPr lang="zh-CN" altLang="en-US" sz="2400" dirty="0">
                    <a:solidFill>
                      <a:schemeClr val="tx1"/>
                    </a:solidFill>
                  </a:endParaRPr>
                </a:p>
              </p:txBody>
            </p:sp>
          </mc:Choice>
          <mc:Fallback xmlns="">
            <p:sp>
              <p:nvSpPr>
                <p:cNvPr id="19" name="文本框 18">
                  <a:extLst>
                    <a:ext uri="{FF2B5EF4-FFF2-40B4-BE49-F238E27FC236}">
                      <a16:creationId xmlns:a16="http://schemas.microsoft.com/office/drawing/2014/main" id="{4124A177-17E5-7D95-A038-F4B39A61675F}"/>
                    </a:ext>
                  </a:extLst>
                </p:cNvPr>
                <p:cNvSpPr txBox="1">
                  <a:spLocks noRot="1" noChangeAspect="1" noMove="1" noResize="1" noEditPoints="1" noAdjustHandles="1" noChangeArrowheads="1" noChangeShapeType="1" noTextEdit="1"/>
                </p:cNvSpPr>
                <p:nvPr/>
              </p:nvSpPr>
              <p:spPr>
                <a:xfrm>
                  <a:off x="4464000" y="5580000"/>
                  <a:ext cx="648000" cy="432000"/>
                </a:xfrm>
                <a:prstGeom prst="rect">
                  <a:avLst/>
                </a:prstGeom>
                <a:blipFill>
                  <a:blip r:embed="rId19"/>
                  <a:stretch>
                    <a:fillRect l="-11215" r="-4673" b="-253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D1C5221B-83DA-3B92-44F9-B30F5C08F6AD}"/>
                    </a:ext>
                  </a:extLst>
                </p:cNvPr>
                <p:cNvSpPr txBox="1"/>
                <p:nvPr/>
              </p:nvSpPr>
              <p:spPr>
                <a:xfrm>
                  <a:off x="5256000" y="5580000"/>
                  <a:ext cx="648000" cy="432000"/>
                </a:xfrm>
                <a:prstGeom prst="rect">
                  <a:avLst/>
                </a:prstGeom>
                <a:noFill/>
              </p:spPr>
              <p:txBody>
                <a:bodyPr wrap="square">
                  <a:spAutoFit/>
                </a:bodyPr>
                <a:lstStyle/>
                <a:p>
                  <a:pPr algn="ctr"/>
                  <a14:m>
                    <m:oMath xmlns:m="http://schemas.openxmlformats.org/officeDocument/2006/math">
                      <m:sSub>
                        <m:sSubPr>
                          <m:ctrlPr>
                            <a:rPr kumimoji="1" lang="en-US" altLang="zh-CN" sz="2400" b="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400">
                              <a:latin typeface="Cambria Math" panose="02040503050406030204" pitchFamily="18" charset="0"/>
                              <a:ea typeface="微软雅黑" panose="020B0503020204020204" pitchFamily="34" charset="-122"/>
                            </a:rPr>
                            <m:t>I</m:t>
                          </m:r>
                          <m:r>
                            <a:rPr kumimoji="1" lang="en-US" altLang="zh-CN" sz="2400">
                              <a:latin typeface="Cambria Math" panose="02040503050406030204" pitchFamily="18" charset="0"/>
                              <a:ea typeface="微软雅黑" panose="020B0503020204020204" pitchFamily="34" charset="-122"/>
                            </a:rPr>
                            <m:t>/</m:t>
                          </m:r>
                          <m:r>
                            <m:rPr>
                              <m:sty m:val="p"/>
                            </m:rPr>
                            <a:rPr kumimoji="1" lang="en-US" altLang="zh-CN" sz="2400">
                              <a:latin typeface="Cambria Math" panose="02040503050406030204" pitchFamily="18" charset="0"/>
                              <a:ea typeface="微软雅黑" panose="020B0503020204020204" pitchFamily="34" charset="-122"/>
                            </a:rPr>
                            <m:t>O</m:t>
                          </m:r>
                        </m:e>
                        <m:sub>
                          <m:r>
                            <a:rPr kumimoji="1" lang="en-US" altLang="zh-CN" sz="2400" i="1">
                              <a:latin typeface="Cambria Math" panose="02040503050406030204" pitchFamily="18" charset="0"/>
                              <a:ea typeface="微软雅黑" panose="020B0503020204020204" pitchFamily="34" charset="-122"/>
                            </a:rPr>
                            <m:t>3</m:t>
                          </m:r>
                        </m:sub>
                      </m:sSub>
                    </m:oMath>
                  </a14:m>
                  <a:r>
                    <a:rPr kumimoji="1" lang="en-US" altLang="zh-CN" sz="2400" dirty="0">
                      <a:solidFill>
                        <a:schemeClr val="tx1"/>
                      </a:solidFill>
                      <a:latin typeface="微软雅黑" panose="020B0503020204020204" pitchFamily="34" charset="-122"/>
                      <a:ea typeface="微软雅黑" panose="020B0503020204020204" pitchFamily="34" charset="-122"/>
                    </a:rPr>
                    <a:t> </a:t>
                  </a:r>
                  <a:endParaRPr lang="zh-CN" altLang="en-US" sz="2400" dirty="0">
                    <a:solidFill>
                      <a:schemeClr val="tx1"/>
                    </a:solidFill>
                  </a:endParaRPr>
                </a:p>
              </p:txBody>
            </p:sp>
          </mc:Choice>
          <mc:Fallback xmlns="">
            <p:sp>
              <p:nvSpPr>
                <p:cNvPr id="22" name="文本框 21">
                  <a:extLst>
                    <a:ext uri="{FF2B5EF4-FFF2-40B4-BE49-F238E27FC236}">
                      <a16:creationId xmlns:a16="http://schemas.microsoft.com/office/drawing/2014/main" id="{D1C5221B-83DA-3B92-44F9-B30F5C08F6AD}"/>
                    </a:ext>
                  </a:extLst>
                </p:cNvPr>
                <p:cNvSpPr txBox="1">
                  <a:spLocks noRot="1" noChangeAspect="1" noMove="1" noResize="1" noEditPoints="1" noAdjustHandles="1" noChangeArrowheads="1" noChangeShapeType="1" noTextEdit="1"/>
                </p:cNvSpPr>
                <p:nvPr/>
              </p:nvSpPr>
              <p:spPr>
                <a:xfrm>
                  <a:off x="5256000" y="5580000"/>
                  <a:ext cx="648000" cy="432000"/>
                </a:xfrm>
                <a:prstGeom prst="rect">
                  <a:avLst/>
                </a:prstGeom>
                <a:blipFill>
                  <a:blip r:embed="rId20"/>
                  <a:stretch>
                    <a:fillRect l="-11215" r="-4673" b="-25352"/>
                  </a:stretch>
                </a:blipFill>
              </p:spPr>
              <p:txBody>
                <a:bodyPr/>
                <a:lstStyle/>
                <a:p>
                  <a:r>
                    <a:rPr lang="zh-CN" altLang="en-US">
                      <a:noFill/>
                    </a:rPr>
                    <a:t> </a:t>
                  </a:r>
                </a:p>
              </p:txBody>
            </p:sp>
          </mc:Fallback>
        </mc:AlternateContent>
        <p:cxnSp>
          <p:nvCxnSpPr>
            <p:cNvPr id="24" name="直接连接符 23">
              <a:extLst>
                <a:ext uri="{FF2B5EF4-FFF2-40B4-BE49-F238E27FC236}">
                  <a16:creationId xmlns:a16="http://schemas.microsoft.com/office/drawing/2014/main" id="{B415C246-EE73-2087-84B1-2ECE66247BEF}"/>
                </a:ext>
              </a:extLst>
            </p:cNvPr>
            <p:cNvCxnSpPr>
              <a:cxnSpLocks/>
            </p:cNvCxnSpPr>
            <p:nvPr/>
          </p:nvCxnSpPr>
          <p:spPr>
            <a:xfrm flipH="1">
              <a:off x="3204000" y="6048000"/>
              <a:ext cx="0" cy="21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BA81EFE1-18E4-7467-E82D-E90EB5972253}"/>
                </a:ext>
              </a:extLst>
            </p:cNvPr>
            <p:cNvCxnSpPr>
              <a:cxnSpLocks/>
            </p:cNvCxnSpPr>
            <p:nvPr/>
          </p:nvCxnSpPr>
          <p:spPr>
            <a:xfrm>
              <a:off x="3168000" y="3960000"/>
              <a:ext cx="0" cy="3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B4C3A08-7D19-0A97-27EA-F6FBBA7058A3}"/>
                </a:ext>
              </a:extLst>
            </p:cNvPr>
            <p:cNvCxnSpPr>
              <a:cxnSpLocks/>
            </p:cNvCxnSpPr>
            <p:nvPr/>
          </p:nvCxnSpPr>
          <p:spPr>
            <a:xfrm>
              <a:off x="3834000" y="3600000"/>
              <a:ext cx="0" cy="75608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椭圆 29">
              <a:extLst>
                <a:ext uri="{FF2B5EF4-FFF2-40B4-BE49-F238E27FC236}">
                  <a16:creationId xmlns:a16="http://schemas.microsoft.com/office/drawing/2014/main" id="{6B1B251F-E7B4-2E00-20EE-82F45287B5CF}"/>
                </a:ext>
              </a:extLst>
            </p:cNvPr>
            <p:cNvSpPr/>
            <p:nvPr/>
          </p:nvSpPr>
          <p:spPr>
            <a:xfrm>
              <a:off x="3096000" y="4194000"/>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EE7B3AE9-162A-2C3C-FA76-4B5ADAFAA9AE}"/>
                </a:ext>
              </a:extLst>
            </p:cNvPr>
            <p:cNvSpPr/>
            <p:nvPr/>
          </p:nvSpPr>
          <p:spPr>
            <a:xfrm>
              <a:off x="3762000" y="4194000"/>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42" name="直接连接符 41">
              <a:extLst>
                <a:ext uri="{FF2B5EF4-FFF2-40B4-BE49-F238E27FC236}">
                  <a16:creationId xmlns:a16="http://schemas.microsoft.com/office/drawing/2014/main" id="{47C578C9-49CF-4439-CCEF-2582DD00D82D}"/>
                </a:ext>
              </a:extLst>
            </p:cNvPr>
            <p:cNvCxnSpPr>
              <a:cxnSpLocks/>
            </p:cNvCxnSpPr>
            <p:nvPr/>
          </p:nvCxnSpPr>
          <p:spPr>
            <a:xfrm>
              <a:off x="4536000" y="3060000"/>
              <a:ext cx="0" cy="129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971EAC3F-10FC-F3E8-CC54-E36682AC9E1E}"/>
                </a:ext>
              </a:extLst>
            </p:cNvPr>
            <p:cNvCxnSpPr>
              <a:cxnSpLocks/>
            </p:cNvCxnSpPr>
            <p:nvPr/>
          </p:nvCxnSpPr>
          <p:spPr>
            <a:xfrm>
              <a:off x="5616000" y="2160000"/>
              <a:ext cx="0" cy="219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06BD7459-3EDC-D762-0362-15135856C2DD}"/>
                    </a:ext>
                  </a:extLst>
                </p:cNvPr>
                <p:cNvSpPr txBox="1"/>
                <p:nvPr/>
              </p:nvSpPr>
              <p:spPr>
                <a:xfrm>
                  <a:off x="2952000" y="6228000"/>
                  <a:ext cx="504000" cy="432000"/>
                </a:xfrm>
                <a:prstGeom prst="rect">
                  <a:avLst/>
                </a:prstGeom>
                <a:noFill/>
              </p:spPr>
              <p:txBody>
                <a:bodyPr wrap="square">
                  <a:spAutoFit/>
                </a:bodyPr>
                <a:lstStyle/>
                <a:p>
                  <a:pPr algn="ctr"/>
                  <a14:m>
                    <m:oMath xmlns:m="http://schemas.openxmlformats.org/officeDocument/2006/math">
                      <m:sSub>
                        <m:sSubPr>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e>
                        <m:sub>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0</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endParaRPr lang="zh-CN" altLang="en-US" sz="2400" dirty="0">
                    <a:solidFill>
                      <a:schemeClr val="accent5">
                        <a:lumMod val="75000"/>
                      </a:schemeClr>
                    </a:solidFill>
                  </a:endParaRPr>
                </a:p>
              </p:txBody>
            </p:sp>
          </mc:Choice>
          <mc:Fallback xmlns="">
            <p:sp>
              <p:nvSpPr>
                <p:cNvPr id="45" name="文本框 44">
                  <a:extLst>
                    <a:ext uri="{FF2B5EF4-FFF2-40B4-BE49-F238E27FC236}">
                      <a16:creationId xmlns:a16="http://schemas.microsoft.com/office/drawing/2014/main" id="{06BD7459-3EDC-D762-0362-15135856C2DD}"/>
                    </a:ext>
                  </a:extLst>
                </p:cNvPr>
                <p:cNvSpPr txBox="1">
                  <a:spLocks noRot="1" noChangeAspect="1" noMove="1" noResize="1" noEditPoints="1" noAdjustHandles="1" noChangeArrowheads="1" noChangeShapeType="1" noTextEdit="1"/>
                </p:cNvSpPr>
                <p:nvPr/>
              </p:nvSpPr>
              <p:spPr>
                <a:xfrm>
                  <a:off x="2952000" y="6228000"/>
                  <a:ext cx="504000" cy="432000"/>
                </a:xfrm>
                <a:prstGeom prst="rect">
                  <a:avLst/>
                </a:prstGeom>
                <a:blipFill>
                  <a:blip r:embed="rId21"/>
                  <a:stretch>
                    <a:fillRect l="-4819" b="-70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4E4DAB38-026D-8992-8494-8A7DA96E6A38}"/>
                    </a:ext>
                  </a:extLst>
                </p:cNvPr>
                <p:cNvSpPr txBox="1"/>
                <p:nvPr/>
              </p:nvSpPr>
              <p:spPr>
                <a:xfrm>
                  <a:off x="3744000" y="6228000"/>
                  <a:ext cx="504000" cy="432000"/>
                </a:xfrm>
                <a:prstGeom prst="rect">
                  <a:avLst/>
                </a:prstGeom>
                <a:noFill/>
              </p:spPr>
              <p:txBody>
                <a:bodyPr wrap="square">
                  <a:spAutoFit/>
                </a:bodyPr>
                <a:lstStyle/>
                <a:p>
                  <a:pPr algn="ctr"/>
                  <a14:m>
                    <m:oMath xmlns:m="http://schemas.openxmlformats.org/officeDocument/2006/math">
                      <m:sSub>
                        <m:sSubPr>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1</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endParaRPr lang="zh-CN" altLang="en-US" sz="2400" dirty="0">
                    <a:solidFill>
                      <a:schemeClr val="accent5">
                        <a:lumMod val="75000"/>
                      </a:schemeClr>
                    </a:solidFill>
                  </a:endParaRPr>
                </a:p>
              </p:txBody>
            </p:sp>
          </mc:Choice>
          <mc:Fallback xmlns="">
            <p:sp>
              <p:nvSpPr>
                <p:cNvPr id="46" name="文本框 45">
                  <a:extLst>
                    <a:ext uri="{FF2B5EF4-FFF2-40B4-BE49-F238E27FC236}">
                      <a16:creationId xmlns:a16="http://schemas.microsoft.com/office/drawing/2014/main" id="{4E4DAB38-026D-8992-8494-8A7DA96E6A38}"/>
                    </a:ext>
                  </a:extLst>
                </p:cNvPr>
                <p:cNvSpPr txBox="1">
                  <a:spLocks noRot="1" noChangeAspect="1" noMove="1" noResize="1" noEditPoints="1" noAdjustHandles="1" noChangeArrowheads="1" noChangeShapeType="1" noTextEdit="1"/>
                </p:cNvSpPr>
                <p:nvPr/>
              </p:nvSpPr>
              <p:spPr>
                <a:xfrm>
                  <a:off x="3744000" y="6228000"/>
                  <a:ext cx="504000" cy="432000"/>
                </a:xfrm>
                <a:prstGeom prst="rect">
                  <a:avLst/>
                </a:prstGeom>
                <a:blipFill>
                  <a:blip r:embed="rId22"/>
                  <a:stretch>
                    <a:fillRect l="-4819" b="-70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6C885118-52FD-D13A-DDFD-B4ACAD324C9C}"/>
                    </a:ext>
                  </a:extLst>
                </p:cNvPr>
                <p:cNvSpPr txBox="1"/>
                <p:nvPr/>
              </p:nvSpPr>
              <p:spPr>
                <a:xfrm>
                  <a:off x="4536000" y="6228000"/>
                  <a:ext cx="504000" cy="432000"/>
                </a:xfrm>
                <a:prstGeom prst="rect">
                  <a:avLst/>
                </a:prstGeom>
                <a:noFill/>
              </p:spPr>
              <p:txBody>
                <a:bodyPr wrap="square">
                  <a:spAutoFit/>
                </a:bodyPr>
                <a:lstStyle/>
                <a:p>
                  <a:pPr algn="ctr"/>
                  <a14:m>
                    <m:oMath xmlns:m="http://schemas.openxmlformats.org/officeDocument/2006/math">
                      <m:sSub>
                        <m:sSubPr>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2</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endParaRPr lang="zh-CN" altLang="en-US" sz="2400" dirty="0">
                    <a:solidFill>
                      <a:schemeClr val="accent5">
                        <a:lumMod val="75000"/>
                      </a:schemeClr>
                    </a:solidFill>
                  </a:endParaRPr>
                </a:p>
              </p:txBody>
            </p:sp>
          </mc:Choice>
          <mc:Fallback xmlns="">
            <p:sp>
              <p:nvSpPr>
                <p:cNvPr id="47" name="文本框 46">
                  <a:extLst>
                    <a:ext uri="{FF2B5EF4-FFF2-40B4-BE49-F238E27FC236}">
                      <a16:creationId xmlns:a16="http://schemas.microsoft.com/office/drawing/2014/main" id="{6C885118-52FD-D13A-DDFD-B4ACAD324C9C}"/>
                    </a:ext>
                  </a:extLst>
                </p:cNvPr>
                <p:cNvSpPr txBox="1">
                  <a:spLocks noRot="1" noChangeAspect="1" noMove="1" noResize="1" noEditPoints="1" noAdjustHandles="1" noChangeArrowheads="1" noChangeShapeType="1" noTextEdit="1"/>
                </p:cNvSpPr>
                <p:nvPr/>
              </p:nvSpPr>
              <p:spPr>
                <a:xfrm>
                  <a:off x="4536000" y="6228000"/>
                  <a:ext cx="504000" cy="432000"/>
                </a:xfrm>
                <a:prstGeom prst="rect">
                  <a:avLst/>
                </a:prstGeom>
                <a:blipFill>
                  <a:blip r:embed="rId23"/>
                  <a:stretch>
                    <a:fillRect l="-4819" b="-70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680FB3F2-1A63-08C3-0336-2D0A7322CC47}"/>
                    </a:ext>
                  </a:extLst>
                </p:cNvPr>
                <p:cNvSpPr txBox="1"/>
                <p:nvPr/>
              </p:nvSpPr>
              <p:spPr>
                <a:xfrm>
                  <a:off x="5328000" y="6228000"/>
                  <a:ext cx="504000" cy="432000"/>
                </a:xfrm>
                <a:prstGeom prst="rect">
                  <a:avLst/>
                </a:prstGeom>
                <a:noFill/>
              </p:spPr>
              <p:txBody>
                <a:bodyPr wrap="square">
                  <a:spAutoFit/>
                </a:bodyPr>
                <a:lstStyle/>
                <a:p>
                  <a:pPr algn="ctr"/>
                  <a14:m>
                    <m:oMath xmlns:m="http://schemas.openxmlformats.org/officeDocument/2006/math">
                      <m:sSub>
                        <m:sSubPr>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3</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endParaRPr lang="zh-CN" altLang="en-US" sz="2400" dirty="0">
                    <a:solidFill>
                      <a:schemeClr val="accent5">
                        <a:lumMod val="75000"/>
                      </a:schemeClr>
                    </a:solidFill>
                  </a:endParaRPr>
                </a:p>
              </p:txBody>
            </p:sp>
          </mc:Choice>
          <mc:Fallback xmlns="">
            <p:sp>
              <p:nvSpPr>
                <p:cNvPr id="48" name="文本框 47">
                  <a:extLst>
                    <a:ext uri="{FF2B5EF4-FFF2-40B4-BE49-F238E27FC236}">
                      <a16:creationId xmlns:a16="http://schemas.microsoft.com/office/drawing/2014/main" id="{680FB3F2-1A63-08C3-0336-2D0A7322CC47}"/>
                    </a:ext>
                  </a:extLst>
                </p:cNvPr>
                <p:cNvSpPr txBox="1">
                  <a:spLocks noRot="1" noChangeAspect="1" noMove="1" noResize="1" noEditPoints="1" noAdjustHandles="1" noChangeArrowheads="1" noChangeShapeType="1" noTextEdit="1"/>
                </p:cNvSpPr>
                <p:nvPr/>
              </p:nvSpPr>
              <p:spPr>
                <a:xfrm>
                  <a:off x="5328000" y="6228000"/>
                  <a:ext cx="504000" cy="432000"/>
                </a:xfrm>
                <a:prstGeom prst="rect">
                  <a:avLst/>
                </a:prstGeom>
                <a:blipFill>
                  <a:blip r:embed="rId24"/>
                  <a:stretch>
                    <a:fillRect l="-4819" b="-7042"/>
                  </a:stretch>
                </a:blipFill>
              </p:spPr>
              <p:txBody>
                <a:bodyPr/>
                <a:lstStyle/>
                <a:p>
                  <a:r>
                    <a:rPr lang="zh-CN" altLang="en-US">
                      <a:noFill/>
                    </a:rPr>
                    <a:t> </a:t>
                  </a:r>
                </a:p>
              </p:txBody>
            </p:sp>
          </mc:Fallback>
        </mc:AlternateContent>
        <p:cxnSp>
          <p:nvCxnSpPr>
            <p:cNvPr id="25" name="直接连接符 24">
              <a:extLst>
                <a:ext uri="{FF2B5EF4-FFF2-40B4-BE49-F238E27FC236}">
                  <a16:creationId xmlns:a16="http://schemas.microsoft.com/office/drawing/2014/main" id="{B30C2BE3-12D6-8979-1B3D-BD0CD2312C18}"/>
                </a:ext>
              </a:extLst>
            </p:cNvPr>
            <p:cNvCxnSpPr>
              <a:cxnSpLocks/>
            </p:cNvCxnSpPr>
            <p:nvPr/>
          </p:nvCxnSpPr>
          <p:spPr>
            <a:xfrm flipH="1">
              <a:off x="3996000" y="6048000"/>
              <a:ext cx="0" cy="21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7E0993BD-AD77-FD78-37AF-08400738B1E5}"/>
                </a:ext>
              </a:extLst>
            </p:cNvPr>
            <p:cNvCxnSpPr>
              <a:cxnSpLocks/>
            </p:cNvCxnSpPr>
            <p:nvPr/>
          </p:nvCxnSpPr>
          <p:spPr>
            <a:xfrm flipH="1">
              <a:off x="4788000" y="6048000"/>
              <a:ext cx="0" cy="21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8C3F9EA-1F4C-866E-4D9F-5DB7084A81FD}"/>
                </a:ext>
              </a:extLst>
            </p:cNvPr>
            <p:cNvCxnSpPr>
              <a:cxnSpLocks/>
            </p:cNvCxnSpPr>
            <p:nvPr/>
          </p:nvCxnSpPr>
          <p:spPr>
            <a:xfrm flipH="1">
              <a:off x="5580000" y="6048000"/>
              <a:ext cx="0" cy="21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矩形 33">
                  <a:extLst>
                    <a:ext uri="{FF2B5EF4-FFF2-40B4-BE49-F238E27FC236}">
                      <a16:creationId xmlns:a16="http://schemas.microsoft.com/office/drawing/2014/main" id="{35D00079-A89E-C9A1-F25C-4834B68F6673}"/>
                    </a:ext>
                  </a:extLst>
                </p:cNvPr>
                <p:cNvSpPr/>
                <p:nvPr/>
              </p:nvSpPr>
              <p:spPr>
                <a:xfrm>
                  <a:off x="7236000" y="4356000"/>
                  <a:ext cx="3600000" cy="1692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rgbClr val="7030A0"/>
                      </a:solidFill>
                      <a:latin typeface="微软雅黑" panose="020B0503020204020204" pitchFamily="34" charset="-122"/>
                      <a:ea typeface="微软雅黑" panose="020B0503020204020204" pitchFamily="34" charset="-122"/>
                    </a:rPr>
                    <a:t>4K </a:t>
                  </a:r>
                  <a14:m>
                    <m:oMath xmlns:m="http://schemas.openxmlformats.org/officeDocument/2006/math">
                      <m:r>
                        <a:rPr kumimoji="1" lang="en-US" altLang="zh-CN" sz="2000" i="1">
                          <a:solidFill>
                            <a:srgbClr val="7030A0"/>
                          </a:solidFill>
                          <a:latin typeface="Cambria Math" panose="02040503050406030204" pitchFamily="18" charset="0"/>
                          <a:ea typeface="Cambria Math" panose="02040503050406030204" pitchFamily="18" charset="0"/>
                        </a:rPr>
                        <m:t>×</m:t>
                      </m:r>
                    </m:oMath>
                  </a14:m>
                  <a:r>
                    <a:rPr lang="en-US" altLang="zh-CN" sz="2000" dirty="0">
                      <a:solidFill>
                        <a:srgbClr val="7030A0"/>
                      </a:solidFill>
                      <a:latin typeface="微软雅黑" panose="020B0503020204020204" pitchFamily="34" charset="-122"/>
                      <a:ea typeface="微软雅黑" panose="020B0503020204020204" pitchFamily="34" charset="-122"/>
                    </a:rPr>
                    <a:t> 4 </a:t>
                  </a:r>
                  <a:r>
                    <a:rPr lang="zh-CN" altLang="en-US" sz="2000" dirty="0">
                      <a:solidFill>
                        <a:srgbClr val="7030A0"/>
                      </a:solidFill>
                      <a:latin typeface="微软雅黑" panose="020B0503020204020204" pitchFamily="34" charset="-122"/>
                      <a:ea typeface="微软雅黑" panose="020B0503020204020204" pitchFamily="34" charset="-122"/>
                    </a:rPr>
                    <a:t>位（</a:t>
                  </a:r>
                  <a:r>
                    <a:rPr lang="en-US" altLang="zh-CN" sz="2000" dirty="0">
                      <a:solidFill>
                        <a:srgbClr val="7030A0"/>
                      </a:solidFill>
                      <a:latin typeface="微软雅黑" panose="020B0503020204020204" pitchFamily="34" charset="-122"/>
                      <a:ea typeface="微软雅黑" panose="020B0503020204020204" pitchFamily="34" charset="-122"/>
                    </a:rPr>
                    <a:t>1</a:t>
                  </a:r>
                  <a:r>
                    <a:rPr lang="zh-CN" altLang="en-US" sz="2000" dirty="0">
                      <a:solidFill>
                        <a:srgbClr val="7030A0"/>
                      </a:solidFill>
                      <a:latin typeface="微软雅黑" panose="020B0503020204020204" pitchFamily="34" charset="-122"/>
                      <a:ea typeface="微软雅黑" panose="020B0503020204020204" pitchFamily="34" charset="-122"/>
                    </a:rPr>
                    <a:t>）</a:t>
                  </a:r>
                </a:p>
              </p:txBody>
            </p:sp>
          </mc:Choice>
          <mc:Fallback xmlns="">
            <p:sp>
              <p:nvSpPr>
                <p:cNvPr id="34" name="矩形 33">
                  <a:extLst>
                    <a:ext uri="{FF2B5EF4-FFF2-40B4-BE49-F238E27FC236}">
                      <a16:creationId xmlns:a16="http://schemas.microsoft.com/office/drawing/2014/main" id="{35D00079-A89E-C9A1-F25C-4834B68F6673}"/>
                    </a:ext>
                  </a:extLst>
                </p:cNvPr>
                <p:cNvSpPr>
                  <a:spLocks noRot="1" noChangeAspect="1" noMove="1" noResize="1" noEditPoints="1" noAdjustHandles="1" noChangeArrowheads="1" noChangeShapeType="1" noTextEdit="1"/>
                </p:cNvSpPr>
                <p:nvPr/>
              </p:nvSpPr>
              <p:spPr>
                <a:xfrm>
                  <a:off x="7236000" y="4356000"/>
                  <a:ext cx="3600000" cy="1692000"/>
                </a:xfrm>
                <a:prstGeom prst="rect">
                  <a:avLst/>
                </a:prstGeom>
                <a:blipFill>
                  <a:blip r:embed="rId25"/>
                  <a:stretch>
                    <a:fillRect/>
                  </a:stretch>
                </a:blipFill>
                <a:ln w="25400"/>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232F8DAB-4791-CE88-491C-35621FE2DB51}"/>
                    </a:ext>
                  </a:extLst>
                </p:cNvPr>
                <p:cNvSpPr txBox="1"/>
                <p:nvPr/>
              </p:nvSpPr>
              <p:spPr>
                <a:xfrm>
                  <a:off x="7560000" y="4356000"/>
                  <a:ext cx="504000" cy="504000"/>
                </a:xfrm>
                <a:prstGeom prst="rect">
                  <a:avLst/>
                </a:prstGeom>
                <a:noFill/>
              </p:spPr>
              <p:txBody>
                <a:bodyPr wrap="square">
                  <a:spAutoFit/>
                </a:bodyPr>
                <a:lstStyle/>
                <a:p>
                  <a:pPr algn="ctr"/>
                  <a14:m>
                    <m:oMath xmlns:m="http://schemas.openxmlformats.org/officeDocument/2006/math">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WE</m:t>
                      </m:r>
                    </m:oMath>
                  </a14:m>
                  <a:r>
                    <a:rPr kumimoji="1" lang="en-US" altLang="zh-CN" sz="2400" dirty="0">
                      <a:solidFill>
                        <a:schemeClr val="tx1"/>
                      </a:solidFill>
                      <a:latin typeface="微软雅黑" panose="020B0503020204020204" pitchFamily="34" charset="-122"/>
                      <a:ea typeface="微软雅黑" panose="020B0503020204020204" pitchFamily="34" charset="-122"/>
                    </a:rPr>
                    <a:t> </a:t>
                  </a:r>
                  <a:endParaRPr lang="zh-CN" altLang="en-US" sz="2400" dirty="0">
                    <a:solidFill>
                      <a:schemeClr val="tx1"/>
                    </a:solidFill>
                  </a:endParaRPr>
                </a:p>
              </p:txBody>
            </p:sp>
          </mc:Choice>
          <mc:Fallback xmlns="">
            <p:sp>
              <p:nvSpPr>
                <p:cNvPr id="35" name="文本框 34">
                  <a:extLst>
                    <a:ext uri="{FF2B5EF4-FFF2-40B4-BE49-F238E27FC236}">
                      <a16:creationId xmlns:a16="http://schemas.microsoft.com/office/drawing/2014/main" id="{232F8DAB-4791-CE88-491C-35621FE2DB51}"/>
                    </a:ext>
                  </a:extLst>
                </p:cNvPr>
                <p:cNvSpPr txBox="1">
                  <a:spLocks noRot="1" noChangeAspect="1" noMove="1" noResize="1" noEditPoints="1" noAdjustHandles="1" noChangeArrowheads="1" noChangeShapeType="1" noTextEdit="1"/>
                </p:cNvSpPr>
                <p:nvPr/>
              </p:nvSpPr>
              <p:spPr>
                <a:xfrm>
                  <a:off x="7560000" y="4356000"/>
                  <a:ext cx="504000" cy="504000"/>
                </a:xfrm>
                <a:prstGeom prst="rect">
                  <a:avLst/>
                </a:prstGeom>
                <a:blipFill>
                  <a:blip r:embed="rId26"/>
                  <a:stretch>
                    <a:fillRect l="-15663" r="-168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FF7B12EB-40A6-1504-17B9-64699FFB3DEA}"/>
                    </a:ext>
                  </a:extLst>
                </p:cNvPr>
                <p:cNvSpPr txBox="1"/>
                <p:nvPr/>
              </p:nvSpPr>
              <p:spPr>
                <a:xfrm>
                  <a:off x="8226000" y="4356000"/>
                  <a:ext cx="504000" cy="504000"/>
                </a:xfrm>
                <a:prstGeom prst="rect">
                  <a:avLst/>
                </a:prstGeom>
                <a:noFill/>
              </p:spPr>
              <p:txBody>
                <a:bodyPr wrap="square">
                  <a:spAutoFit/>
                </a:bodyPr>
                <a:lstStyle/>
                <a:p>
                  <a:pPr algn="ctr"/>
                  <a14:m>
                    <m:oMath xmlns:m="http://schemas.openxmlformats.org/officeDocument/2006/math">
                      <m:r>
                        <m:rPr>
                          <m:sty m:val="p"/>
                        </m:rPr>
                        <a:rPr kumimoji="1" lang="en-US" altLang="zh-CN" sz="2400">
                          <a:latin typeface="Cambria Math" panose="02040503050406030204" pitchFamily="18" charset="0"/>
                          <a:ea typeface="微软雅黑" panose="020B0503020204020204" pitchFamily="34" charset="-122"/>
                        </a:rPr>
                        <m:t>C</m:t>
                      </m:r>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E</m:t>
                      </m:r>
                    </m:oMath>
                  </a14:m>
                  <a:r>
                    <a:rPr kumimoji="1" lang="en-US" altLang="zh-CN" sz="2400" dirty="0">
                      <a:solidFill>
                        <a:schemeClr val="tx1"/>
                      </a:solidFill>
                      <a:latin typeface="微软雅黑" panose="020B0503020204020204" pitchFamily="34" charset="-122"/>
                      <a:ea typeface="微软雅黑" panose="020B0503020204020204" pitchFamily="34" charset="-122"/>
                    </a:rPr>
                    <a:t> </a:t>
                  </a:r>
                  <a:endParaRPr lang="zh-CN" altLang="en-US" sz="2400" dirty="0">
                    <a:solidFill>
                      <a:schemeClr val="tx1"/>
                    </a:solidFill>
                  </a:endParaRPr>
                </a:p>
              </p:txBody>
            </p:sp>
          </mc:Choice>
          <mc:Fallback xmlns="">
            <p:sp>
              <p:nvSpPr>
                <p:cNvPr id="36" name="文本框 35">
                  <a:extLst>
                    <a:ext uri="{FF2B5EF4-FFF2-40B4-BE49-F238E27FC236}">
                      <a16:creationId xmlns:a16="http://schemas.microsoft.com/office/drawing/2014/main" id="{FF7B12EB-40A6-1504-17B9-64699FFB3DEA}"/>
                    </a:ext>
                  </a:extLst>
                </p:cNvPr>
                <p:cNvSpPr txBox="1">
                  <a:spLocks noRot="1" noChangeAspect="1" noMove="1" noResize="1" noEditPoints="1" noAdjustHandles="1" noChangeArrowheads="1" noChangeShapeType="1" noTextEdit="1"/>
                </p:cNvSpPr>
                <p:nvPr/>
              </p:nvSpPr>
              <p:spPr>
                <a:xfrm>
                  <a:off x="8226000" y="4356000"/>
                  <a:ext cx="504000" cy="504000"/>
                </a:xfrm>
                <a:prstGeom prst="rect">
                  <a:avLst/>
                </a:prstGeom>
                <a:blipFill>
                  <a:blip r:embed="rId27"/>
                  <a:stretch>
                    <a:fillRect l="-4819" r="-60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23CA785F-6DC1-7F3D-7019-2C0E92700BD3}"/>
                    </a:ext>
                  </a:extLst>
                </p:cNvPr>
                <p:cNvSpPr txBox="1"/>
                <p:nvPr/>
              </p:nvSpPr>
              <p:spPr>
                <a:xfrm>
                  <a:off x="8928000" y="4356000"/>
                  <a:ext cx="504000" cy="504000"/>
                </a:xfrm>
                <a:prstGeom prst="rect">
                  <a:avLst/>
                </a:prstGeom>
                <a:noFill/>
              </p:spPr>
              <p:txBody>
                <a:bodyPr wrap="square">
                  <a:spAutoFit/>
                </a:bodyPr>
                <a:lstStyle/>
                <a:p>
                  <a:pPr algn="ctr"/>
                  <a14:m>
                    <m:oMath xmlns:m="http://schemas.openxmlformats.org/officeDocument/2006/math">
                      <m:sSub>
                        <m:sSubPr>
                          <m:ctrlPr>
                            <a:rPr kumimoji="1" lang="en-US" altLang="zh-CN" sz="2400" b="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A</m:t>
                          </m:r>
                        </m:e>
                        <m:sub>
                          <m:r>
                            <a:rPr kumimoji="1" lang="en-US" altLang="zh-CN" sz="2400" b="0" i="0" smtClean="0">
                              <a:solidFill>
                                <a:schemeClr val="tx1"/>
                              </a:solidFill>
                              <a:latin typeface="Cambria Math" panose="02040503050406030204" pitchFamily="18" charset="0"/>
                              <a:ea typeface="微软雅黑" panose="020B0503020204020204" pitchFamily="34" charset="-122"/>
                            </a:rPr>
                            <m:t>0</m:t>
                          </m:r>
                        </m:sub>
                      </m:sSub>
                    </m:oMath>
                  </a14:m>
                  <a:r>
                    <a:rPr kumimoji="1" lang="en-US" altLang="zh-CN" sz="2400" dirty="0">
                      <a:solidFill>
                        <a:schemeClr val="tx1"/>
                      </a:solidFill>
                      <a:latin typeface="微软雅黑" panose="020B0503020204020204" pitchFamily="34" charset="-122"/>
                      <a:ea typeface="微软雅黑" panose="020B0503020204020204" pitchFamily="34" charset="-122"/>
                    </a:rPr>
                    <a:t> </a:t>
                  </a:r>
                  <a:endParaRPr lang="zh-CN" altLang="en-US" sz="2400" dirty="0">
                    <a:solidFill>
                      <a:schemeClr val="tx1"/>
                    </a:solidFill>
                  </a:endParaRPr>
                </a:p>
              </p:txBody>
            </p:sp>
          </mc:Choice>
          <mc:Fallback xmlns="">
            <p:sp>
              <p:nvSpPr>
                <p:cNvPr id="37" name="文本框 36">
                  <a:extLst>
                    <a:ext uri="{FF2B5EF4-FFF2-40B4-BE49-F238E27FC236}">
                      <a16:creationId xmlns:a16="http://schemas.microsoft.com/office/drawing/2014/main" id="{23CA785F-6DC1-7F3D-7019-2C0E92700BD3}"/>
                    </a:ext>
                  </a:extLst>
                </p:cNvPr>
                <p:cNvSpPr txBox="1">
                  <a:spLocks noRot="1" noChangeAspect="1" noMove="1" noResize="1" noEditPoints="1" noAdjustHandles="1" noChangeArrowheads="1" noChangeShapeType="1" noTextEdit="1"/>
                </p:cNvSpPr>
                <p:nvPr/>
              </p:nvSpPr>
              <p:spPr>
                <a:xfrm>
                  <a:off x="8928000" y="4356000"/>
                  <a:ext cx="504000" cy="504000"/>
                </a:xfrm>
                <a:prstGeom prst="rect">
                  <a:avLst/>
                </a:prstGeom>
                <a:blipFill>
                  <a:blip r:embed="rId28"/>
                  <a:stretch>
                    <a:fillRect l="-48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27ED1D4D-D7C2-6420-586D-F79A50CD852F}"/>
                    </a:ext>
                  </a:extLst>
                </p:cNvPr>
                <p:cNvSpPr txBox="1"/>
                <p:nvPr/>
              </p:nvSpPr>
              <p:spPr>
                <a:xfrm>
                  <a:off x="10008000" y="4356000"/>
                  <a:ext cx="504000" cy="504000"/>
                </a:xfrm>
                <a:prstGeom prst="rect">
                  <a:avLst/>
                </a:prstGeom>
                <a:noFill/>
              </p:spPr>
              <p:txBody>
                <a:bodyPr wrap="square">
                  <a:spAutoFit/>
                </a:bodyPr>
                <a:lstStyle/>
                <a:p>
                  <a:pPr algn="ctr"/>
                  <a14:m>
                    <m:oMath xmlns:m="http://schemas.openxmlformats.org/officeDocument/2006/math">
                      <m:sSub>
                        <m:sSubPr>
                          <m:ctrlPr>
                            <a:rPr kumimoji="1" lang="en-US" altLang="zh-CN" sz="2400" b="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A</m:t>
                          </m:r>
                        </m:e>
                        <m:sub>
                          <m:r>
                            <a:rPr kumimoji="1" lang="en-US" altLang="zh-CN" sz="2400" b="0" i="0" smtClean="0">
                              <a:solidFill>
                                <a:schemeClr val="tx1"/>
                              </a:solidFill>
                              <a:latin typeface="Cambria Math" panose="02040503050406030204" pitchFamily="18" charset="0"/>
                              <a:ea typeface="微软雅黑" panose="020B0503020204020204" pitchFamily="34" charset="-122"/>
                            </a:rPr>
                            <m:t>11</m:t>
                          </m:r>
                        </m:sub>
                      </m:sSub>
                    </m:oMath>
                  </a14:m>
                  <a:r>
                    <a:rPr kumimoji="1" lang="en-US" altLang="zh-CN" sz="2400" dirty="0">
                      <a:solidFill>
                        <a:schemeClr val="tx1"/>
                      </a:solidFill>
                      <a:latin typeface="微软雅黑" panose="020B0503020204020204" pitchFamily="34" charset="-122"/>
                      <a:ea typeface="微软雅黑" panose="020B0503020204020204" pitchFamily="34" charset="-122"/>
                    </a:rPr>
                    <a:t> </a:t>
                  </a:r>
                  <a:endParaRPr lang="zh-CN" altLang="en-US" sz="2400" dirty="0">
                    <a:solidFill>
                      <a:schemeClr val="tx1"/>
                    </a:solidFill>
                  </a:endParaRPr>
                </a:p>
              </p:txBody>
            </p:sp>
          </mc:Choice>
          <mc:Fallback xmlns="">
            <p:sp>
              <p:nvSpPr>
                <p:cNvPr id="38" name="文本框 37">
                  <a:extLst>
                    <a:ext uri="{FF2B5EF4-FFF2-40B4-BE49-F238E27FC236}">
                      <a16:creationId xmlns:a16="http://schemas.microsoft.com/office/drawing/2014/main" id="{27ED1D4D-D7C2-6420-586D-F79A50CD852F}"/>
                    </a:ext>
                  </a:extLst>
                </p:cNvPr>
                <p:cNvSpPr txBox="1">
                  <a:spLocks noRot="1" noChangeAspect="1" noMove="1" noResize="1" noEditPoints="1" noAdjustHandles="1" noChangeArrowheads="1" noChangeShapeType="1" noTextEdit="1"/>
                </p:cNvSpPr>
                <p:nvPr/>
              </p:nvSpPr>
              <p:spPr>
                <a:xfrm>
                  <a:off x="10008000" y="4356000"/>
                  <a:ext cx="504000" cy="504000"/>
                </a:xfrm>
                <a:prstGeom prst="rect">
                  <a:avLst/>
                </a:prstGeom>
                <a:blipFill>
                  <a:blip r:embed="rId29"/>
                  <a:stretch>
                    <a:fillRect l="-17073" r="-73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F189AB59-70D3-6D5A-FF56-22B50B7F5F6D}"/>
                    </a:ext>
                  </a:extLst>
                </p:cNvPr>
                <p:cNvSpPr txBox="1"/>
                <p:nvPr/>
              </p:nvSpPr>
              <p:spPr>
                <a:xfrm>
                  <a:off x="9504000" y="4356000"/>
                  <a:ext cx="504000" cy="504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kumimoji="1" lang="en-US" altLang="zh-CN" sz="2400" b="0" i="1" smtClean="0">
                            <a:solidFill>
                              <a:schemeClr val="tx1"/>
                            </a:solidFill>
                            <a:latin typeface="Cambria Math" panose="02040503050406030204" pitchFamily="18" charset="0"/>
                            <a:ea typeface="微软雅黑" panose="020B0503020204020204" pitchFamily="34" charset="-122"/>
                          </a:rPr>
                          <m:t>⋯</m:t>
                        </m:r>
                      </m:oMath>
                    </m:oMathPara>
                  </a14:m>
                  <a:endParaRPr lang="zh-CN" altLang="en-US" sz="2400" dirty="0">
                    <a:solidFill>
                      <a:schemeClr val="tx1"/>
                    </a:solidFill>
                  </a:endParaRPr>
                </a:p>
              </p:txBody>
            </p:sp>
          </mc:Choice>
          <mc:Fallback xmlns="">
            <p:sp>
              <p:nvSpPr>
                <p:cNvPr id="50" name="文本框 49">
                  <a:extLst>
                    <a:ext uri="{FF2B5EF4-FFF2-40B4-BE49-F238E27FC236}">
                      <a16:creationId xmlns:a16="http://schemas.microsoft.com/office/drawing/2014/main" id="{F189AB59-70D3-6D5A-FF56-22B50B7F5F6D}"/>
                    </a:ext>
                  </a:extLst>
                </p:cNvPr>
                <p:cNvSpPr txBox="1">
                  <a:spLocks noRot="1" noChangeAspect="1" noMove="1" noResize="1" noEditPoints="1" noAdjustHandles="1" noChangeArrowheads="1" noChangeShapeType="1" noTextEdit="1"/>
                </p:cNvSpPr>
                <p:nvPr/>
              </p:nvSpPr>
              <p:spPr>
                <a:xfrm>
                  <a:off x="9504000" y="4356000"/>
                  <a:ext cx="504000" cy="504000"/>
                </a:xfrm>
                <a:prstGeom prst="rect">
                  <a:avLst/>
                </a:prstGeom>
                <a:blipFill>
                  <a:blip r:embed="rId3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3889310B-E31A-2126-7260-308C4BC02F32}"/>
                    </a:ext>
                  </a:extLst>
                </p:cNvPr>
                <p:cNvSpPr txBox="1"/>
                <p:nvPr/>
              </p:nvSpPr>
              <p:spPr>
                <a:xfrm>
                  <a:off x="7524000" y="5580000"/>
                  <a:ext cx="648000" cy="432000"/>
                </a:xfrm>
                <a:prstGeom prst="rect">
                  <a:avLst/>
                </a:prstGeom>
                <a:noFill/>
              </p:spPr>
              <p:txBody>
                <a:bodyPr wrap="square">
                  <a:spAutoFit/>
                </a:bodyPr>
                <a:lstStyle/>
                <a:p>
                  <a:pPr algn="ctr"/>
                  <a14:m>
                    <m:oMath xmlns:m="http://schemas.openxmlformats.org/officeDocument/2006/math">
                      <m:sSub>
                        <m:sSubPr>
                          <m:ctrlPr>
                            <a:rPr kumimoji="1" lang="en-US" altLang="zh-CN" sz="2400" b="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I</m:t>
                          </m:r>
                          <m:r>
                            <a:rPr kumimoji="1" lang="en-US" altLang="zh-CN" sz="2400" b="0" i="0" smtClean="0">
                              <a:solidFill>
                                <a:schemeClr val="tx1"/>
                              </a:solidFill>
                              <a:latin typeface="Cambria Math" panose="02040503050406030204" pitchFamily="18" charset="0"/>
                              <a:ea typeface="微软雅黑" panose="020B0503020204020204" pitchFamily="34" charset="-122"/>
                            </a:rPr>
                            <m:t>/</m:t>
                          </m:r>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O</m:t>
                          </m:r>
                        </m:e>
                        <m:sub>
                          <m:r>
                            <a:rPr kumimoji="1" lang="en-US" altLang="zh-CN" sz="2400" b="0" i="0" smtClean="0">
                              <a:solidFill>
                                <a:schemeClr val="tx1"/>
                              </a:solidFill>
                              <a:latin typeface="Cambria Math" panose="02040503050406030204" pitchFamily="18" charset="0"/>
                              <a:ea typeface="微软雅黑" panose="020B0503020204020204" pitchFamily="34" charset="-122"/>
                            </a:rPr>
                            <m:t>0</m:t>
                          </m:r>
                        </m:sub>
                      </m:sSub>
                    </m:oMath>
                  </a14:m>
                  <a:r>
                    <a:rPr kumimoji="1" lang="en-US" altLang="zh-CN" sz="2400" dirty="0">
                      <a:solidFill>
                        <a:schemeClr val="tx1"/>
                      </a:solidFill>
                      <a:latin typeface="微软雅黑" panose="020B0503020204020204" pitchFamily="34" charset="-122"/>
                      <a:ea typeface="微软雅黑" panose="020B0503020204020204" pitchFamily="34" charset="-122"/>
                    </a:rPr>
                    <a:t> </a:t>
                  </a:r>
                  <a:endParaRPr lang="zh-CN" altLang="en-US" sz="2400" dirty="0">
                    <a:solidFill>
                      <a:schemeClr val="tx1"/>
                    </a:solidFill>
                  </a:endParaRPr>
                </a:p>
              </p:txBody>
            </p:sp>
          </mc:Choice>
          <mc:Fallback xmlns="">
            <p:sp>
              <p:nvSpPr>
                <p:cNvPr id="51" name="文本框 50">
                  <a:extLst>
                    <a:ext uri="{FF2B5EF4-FFF2-40B4-BE49-F238E27FC236}">
                      <a16:creationId xmlns:a16="http://schemas.microsoft.com/office/drawing/2014/main" id="{3889310B-E31A-2126-7260-308C4BC02F32}"/>
                    </a:ext>
                  </a:extLst>
                </p:cNvPr>
                <p:cNvSpPr txBox="1">
                  <a:spLocks noRot="1" noChangeAspect="1" noMove="1" noResize="1" noEditPoints="1" noAdjustHandles="1" noChangeArrowheads="1" noChangeShapeType="1" noTextEdit="1"/>
                </p:cNvSpPr>
                <p:nvPr/>
              </p:nvSpPr>
              <p:spPr>
                <a:xfrm>
                  <a:off x="7524000" y="5580000"/>
                  <a:ext cx="648000" cy="432000"/>
                </a:xfrm>
                <a:prstGeom prst="rect">
                  <a:avLst/>
                </a:prstGeom>
                <a:blipFill>
                  <a:blip r:embed="rId31"/>
                  <a:stretch>
                    <a:fillRect l="-11215" r="-4673" b="-253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E1A2F9F6-E2DC-B6D0-A3A9-7242BCA58C9F}"/>
                    </a:ext>
                  </a:extLst>
                </p:cNvPr>
                <p:cNvSpPr txBox="1"/>
                <p:nvPr/>
              </p:nvSpPr>
              <p:spPr>
                <a:xfrm>
                  <a:off x="8316000" y="5580000"/>
                  <a:ext cx="648000" cy="432000"/>
                </a:xfrm>
                <a:prstGeom prst="rect">
                  <a:avLst/>
                </a:prstGeom>
                <a:noFill/>
              </p:spPr>
              <p:txBody>
                <a:bodyPr wrap="square">
                  <a:spAutoFit/>
                </a:bodyPr>
                <a:lstStyle/>
                <a:p>
                  <a:pPr algn="ctr"/>
                  <a14:m>
                    <m:oMath xmlns:m="http://schemas.openxmlformats.org/officeDocument/2006/math">
                      <m:sSub>
                        <m:sSubPr>
                          <m:ctrlPr>
                            <a:rPr kumimoji="1" lang="en-US" altLang="zh-CN" sz="2400" b="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400">
                              <a:latin typeface="Cambria Math" panose="02040503050406030204" pitchFamily="18" charset="0"/>
                              <a:ea typeface="微软雅黑" panose="020B0503020204020204" pitchFamily="34" charset="-122"/>
                            </a:rPr>
                            <m:t>I</m:t>
                          </m:r>
                          <m:r>
                            <a:rPr kumimoji="1" lang="en-US" altLang="zh-CN" sz="2400">
                              <a:latin typeface="Cambria Math" panose="02040503050406030204" pitchFamily="18" charset="0"/>
                              <a:ea typeface="微软雅黑" panose="020B0503020204020204" pitchFamily="34" charset="-122"/>
                            </a:rPr>
                            <m:t>/</m:t>
                          </m:r>
                          <m:r>
                            <m:rPr>
                              <m:sty m:val="p"/>
                            </m:rPr>
                            <a:rPr kumimoji="1" lang="en-US" altLang="zh-CN" sz="2400">
                              <a:latin typeface="Cambria Math" panose="02040503050406030204" pitchFamily="18" charset="0"/>
                              <a:ea typeface="微软雅黑" panose="020B0503020204020204" pitchFamily="34" charset="-122"/>
                            </a:rPr>
                            <m:t>O</m:t>
                          </m:r>
                        </m:e>
                        <m:sub>
                          <m:r>
                            <a:rPr kumimoji="1" lang="en-US" altLang="zh-CN" sz="2400" i="1">
                              <a:latin typeface="Cambria Math" panose="02040503050406030204" pitchFamily="18" charset="0"/>
                              <a:ea typeface="微软雅黑" panose="020B0503020204020204" pitchFamily="34" charset="-122"/>
                            </a:rPr>
                            <m:t>1</m:t>
                          </m:r>
                        </m:sub>
                      </m:sSub>
                    </m:oMath>
                  </a14:m>
                  <a:r>
                    <a:rPr kumimoji="1" lang="en-US" altLang="zh-CN" sz="2400" dirty="0">
                      <a:solidFill>
                        <a:schemeClr val="tx1"/>
                      </a:solidFill>
                      <a:latin typeface="微软雅黑" panose="020B0503020204020204" pitchFamily="34" charset="-122"/>
                      <a:ea typeface="微软雅黑" panose="020B0503020204020204" pitchFamily="34" charset="-122"/>
                    </a:rPr>
                    <a:t> </a:t>
                  </a:r>
                  <a:endParaRPr lang="zh-CN" altLang="en-US" sz="2400" dirty="0">
                    <a:solidFill>
                      <a:schemeClr val="tx1"/>
                    </a:solidFill>
                  </a:endParaRPr>
                </a:p>
              </p:txBody>
            </p:sp>
          </mc:Choice>
          <mc:Fallback xmlns="">
            <p:sp>
              <p:nvSpPr>
                <p:cNvPr id="52" name="文本框 51">
                  <a:extLst>
                    <a:ext uri="{FF2B5EF4-FFF2-40B4-BE49-F238E27FC236}">
                      <a16:creationId xmlns:a16="http://schemas.microsoft.com/office/drawing/2014/main" id="{E1A2F9F6-E2DC-B6D0-A3A9-7242BCA58C9F}"/>
                    </a:ext>
                  </a:extLst>
                </p:cNvPr>
                <p:cNvSpPr txBox="1">
                  <a:spLocks noRot="1" noChangeAspect="1" noMove="1" noResize="1" noEditPoints="1" noAdjustHandles="1" noChangeArrowheads="1" noChangeShapeType="1" noTextEdit="1"/>
                </p:cNvSpPr>
                <p:nvPr/>
              </p:nvSpPr>
              <p:spPr>
                <a:xfrm>
                  <a:off x="8316000" y="5580000"/>
                  <a:ext cx="648000" cy="432000"/>
                </a:xfrm>
                <a:prstGeom prst="rect">
                  <a:avLst/>
                </a:prstGeom>
                <a:blipFill>
                  <a:blip r:embed="rId32"/>
                  <a:stretch>
                    <a:fillRect l="-11321" r="-5660" b="-253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BA08B277-78FE-D938-30FF-C43C09664873}"/>
                    </a:ext>
                  </a:extLst>
                </p:cNvPr>
                <p:cNvSpPr txBox="1"/>
                <p:nvPr/>
              </p:nvSpPr>
              <p:spPr>
                <a:xfrm>
                  <a:off x="9108000" y="5580000"/>
                  <a:ext cx="648000" cy="432000"/>
                </a:xfrm>
                <a:prstGeom prst="rect">
                  <a:avLst/>
                </a:prstGeom>
                <a:noFill/>
              </p:spPr>
              <p:txBody>
                <a:bodyPr wrap="square">
                  <a:spAutoFit/>
                </a:bodyPr>
                <a:lstStyle/>
                <a:p>
                  <a:pPr algn="ctr"/>
                  <a14:m>
                    <m:oMath xmlns:m="http://schemas.openxmlformats.org/officeDocument/2006/math">
                      <m:sSub>
                        <m:sSubPr>
                          <m:ctrlPr>
                            <a:rPr kumimoji="1" lang="en-US" altLang="zh-CN" sz="2400" b="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400">
                              <a:latin typeface="Cambria Math" panose="02040503050406030204" pitchFamily="18" charset="0"/>
                              <a:ea typeface="微软雅黑" panose="020B0503020204020204" pitchFamily="34" charset="-122"/>
                            </a:rPr>
                            <m:t>I</m:t>
                          </m:r>
                          <m:r>
                            <a:rPr kumimoji="1" lang="en-US" altLang="zh-CN" sz="2400">
                              <a:latin typeface="Cambria Math" panose="02040503050406030204" pitchFamily="18" charset="0"/>
                              <a:ea typeface="微软雅黑" panose="020B0503020204020204" pitchFamily="34" charset="-122"/>
                            </a:rPr>
                            <m:t>/</m:t>
                          </m:r>
                          <m:r>
                            <m:rPr>
                              <m:sty m:val="p"/>
                            </m:rPr>
                            <a:rPr kumimoji="1" lang="en-US" altLang="zh-CN" sz="2400">
                              <a:latin typeface="Cambria Math" panose="02040503050406030204" pitchFamily="18" charset="0"/>
                              <a:ea typeface="微软雅黑" panose="020B0503020204020204" pitchFamily="34" charset="-122"/>
                            </a:rPr>
                            <m:t>O</m:t>
                          </m:r>
                        </m:e>
                        <m:sub>
                          <m:r>
                            <a:rPr kumimoji="1" lang="en-US" altLang="zh-CN" sz="2400" i="1">
                              <a:latin typeface="Cambria Math" panose="02040503050406030204" pitchFamily="18" charset="0"/>
                              <a:ea typeface="微软雅黑" panose="020B0503020204020204" pitchFamily="34" charset="-122"/>
                            </a:rPr>
                            <m:t>2</m:t>
                          </m:r>
                        </m:sub>
                      </m:sSub>
                    </m:oMath>
                  </a14:m>
                  <a:r>
                    <a:rPr kumimoji="1" lang="en-US" altLang="zh-CN" sz="2400" dirty="0">
                      <a:solidFill>
                        <a:schemeClr val="tx1"/>
                      </a:solidFill>
                      <a:latin typeface="微软雅黑" panose="020B0503020204020204" pitchFamily="34" charset="-122"/>
                      <a:ea typeface="微软雅黑" panose="020B0503020204020204" pitchFamily="34" charset="-122"/>
                    </a:rPr>
                    <a:t> </a:t>
                  </a:r>
                  <a:endParaRPr lang="zh-CN" altLang="en-US" sz="2400" dirty="0">
                    <a:solidFill>
                      <a:schemeClr val="tx1"/>
                    </a:solidFill>
                  </a:endParaRPr>
                </a:p>
              </p:txBody>
            </p:sp>
          </mc:Choice>
          <mc:Fallback xmlns="">
            <p:sp>
              <p:nvSpPr>
                <p:cNvPr id="53" name="文本框 52">
                  <a:extLst>
                    <a:ext uri="{FF2B5EF4-FFF2-40B4-BE49-F238E27FC236}">
                      <a16:creationId xmlns:a16="http://schemas.microsoft.com/office/drawing/2014/main" id="{BA08B277-78FE-D938-30FF-C43C09664873}"/>
                    </a:ext>
                  </a:extLst>
                </p:cNvPr>
                <p:cNvSpPr txBox="1">
                  <a:spLocks noRot="1" noChangeAspect="1" noMove="1" noResize="1" noEditPoints="1" noAdjustHandles="1" noChangeArrowheads="1" noChangeShapeType="1" noTextEdit="1"/>
                </p:cNvSpPr>
                <p:nvPr/>
              </p:nvSpPr>
              <p:spPr>
                <a:xfrm>
                  <a:off x="9108000" y="5580000"/>
                  <a:ext cx="648000" cy="432000"/>
                </a:xfrm>
                <a:prstGeom prst="rect">
                  <a:avLst/>
                </a:prstGeom>
                <a:blipFill>
                  <a:blip r:embed="rId33"/>
                  <a:stretch>
                    <a:fillRect l="-11321" r="-5660" b="-253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4C4137F0-CC9B-517E-B84B-97E8A56414FA}"/>
                    </a:ext>
                  </a:extLst>
                </p:cNvPr>
                <p:cNvSpPr txBox="1"/>
                <p:nvPr/>
              </p:nvSpPr>
              <p:spPr>
                <a:xfrm>
                  <a:off x="9900000" y="5580000"/>
                  <a:ext cx="648000" cy="432000"/>
                </a:xfrm>
                <a:prstGeom prst="rect">
                  <a:avLst/>
                </a:prstGeom>
                <a:noFill/>
              </p:spPr>
              <p:txBody>
                <a:bodyPr wrap="square">
                  <a:spAutoFit/>
                </a:bodyPr>
                <a:lstStyle/>
                <a:p>
                  <a:pPr algn="ctr"/>
                  <a14:m>
                    <m:oMath xmlns:m="http://schemas.openxmlformats.org/officeDocument/2006/math">
                      <m:sSub>
                        <m:sSubPr>
                          <m:ctrlPr>
                            <a:rPr kumimoji="1" lang="en-US" altLang="zh-CN" sz="2400" b="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400">
                              <a:latin typeface="Cambria Math" panose="02040503050406030204" pitchFamily="18" charset="0"/>
                              <a:ea typeface="微软雅黑" panose="020B0503020204020204" pitchFamily="34" charset="-122"/>
                            </a:rPr>
                            <m:t>I</m:t>
                          </m:r>
                          <m:r>
                            <a:rPr kumimoji="1" lang="en-US" altLang="zh-CN" sz="2400">
                              <a:latin typeface="Cambria Math" panose="02040503050406030204" pitchFamily="18" charset="0"/>
                              <a:ea typeface="微软雅黑" panose="020B0503020204020204" pitchFamily="34" charset="-122"/>
                            </a:rPr>
                            <m:t>/</m:t>
                          </m:r>
                          <m:r>
                            <m:rPr>
                              <m:sty m:val="p"/>
                            </m:rPr>
                            <a:rPr kumimoji="1" lang="en-US" altLang="zh-CN" sz="2400">
                              <a:latin typeface="Cambria Math" panose="02040503050406030204" pitchFamily="18" charset="0"/>
                              <a:ea typeface="微软雅黑" panose="020B0503020204020204" pitchFamily="34" charset="-122"/>
                            </a:rPr>
                            <m:t>O</m:t>
                          </m:r>
                        </m:e>
                        <m:sub>
                          <m:r>
                            <a:rPr kumimoji="1" lang="en-US" altLang="zh-CN" sz="2400" i="1">
                              <a:latin typeface="Cambria Math" panose="02040503050406030204" pitchFamily="18" charset="0"/>
                              <a:ea typeface="微软雅黑" panose="020B0503020204020204" pitchFamily="34" charset="-122"/>
                            </a:rPr>
                            <m:t>3</m:t>
                          </m:r>
                        </m:sub>
                      </m:sSub>
                    </m:oMath>
                  </a14:m>
                  <a:r>
                    <a:rPr kumimoji="1" lang="en-US" altLang="zh-CN" sz="2400" dirty="0">
                      <a:solidFill>
                        <a:schemeClr val="tx1"/>
                      </a:solidFill>
                      <a:latin typeface="微软雅黑" panose="020B0503020204020204" pitchFamily="34" charset="-122"/>
                      <a:ea typeface="微软雅黑" panose="020B0503020204020204" pitchFamily="34" charset="-122"/>
                    </a:rPr>
                    <a:t> </a:t>
                  </a:r>
                  <a:endParaRPr lang="zh-CN" altLang="en-US" sz="2400" dirty="0">
                    <a:solidFill>
                      <a:schemeClr val="tx1"/>
                    </a:solidFill>
                  </a:endParaRPr>
                </a:p>
              </p:txBody>
            </p:sp>
          </mc:Choice>
          <mc:Fallback xmlns="">
            <p:sp>
              <p:nvSpPr>
                <p:cNvPr id="54" name="文本框 53">
                  <a:extLst>
                    <a:ext uri="{FF2B5EF4-FFF2-40B4-BE49-F238E27FC236}">
                      <a16:creationId xmlns:a16="http://schemas.microsoft.com/office/drawing/2014/main" id="{4C4137F0-CC9B-517E-B84B-97E8A56414FA}"/>
                    </a:ext>
                  </a:extLst>
                </p:cNvPr>
                <p:cNvSpPr txBox="1">
                  <a:spLocks noRot="1" noChangeAspect="1" noMove="1" noResize="1" noEditPoints="1" noAdjustHandles="1" noChangeArrowheads="1" noChangeShapeType="1" noTextEdit="1"/>
                </p:cNvSpPr>
                <p:nvPr/>
              </p:nvSpPr>
              <p:spPr>
                <a:xfrm>
                  <a:off x="9900000" y="5580000"/>
                  <a:ext cx="648000" cy="432000"/>
                </a:xfrm>
                <a:prstGeom prst="rect">
                  <a:avLst/>
                </a:prstGeom>
                <a:blipFill>
                  <a:blip r:embed="rId34"/>
                  <a:stretch>
                    <a:fillRect l="-12264" r="-5660" b="-25352"/>
                  </a:stretch>
                </a:blipFill>
              </p:spPr>
              <p:txBody>
                <a:bodyPr/>
                <a:lstStyle/>
                <a:p>
                  <a:r>
                    <a:rPr lang="zh-CN" altLang="en-US">
                      <a:noFill/>
                    </a:rPr>
                    <a:t> </a:t>
                  </a:r>
                </a:p>
              </p:txBody>
            </p:sp>
          </mc:Fallback>
        </mc:AlternateContent>
        <p:cxnSp>
          <p:nvCxnSpPr>
            <p:cNvPr id="59" name="直接连接符 58">
              <a:extLst>
                <a:ext uri="{FF2B5EF4-FFF2-40B4-BE49-F238E27FC236}">
                  <a16:creationId xmlns:a16="http://schemas.microsoft.com/office/drawing/2014/main" id="{8782015B-C4AA-BC08-FE39-AC3CCCF47CA3}"/>
                </a:ext>
              </a:extLst>
            </p:cNvPr>
            <p:cNvCxnSpPr>
              <a:cxnSpLocks/>
            </p:cNvCxnSpPr>
            <p:nvPr/>
          </p:nvCxnSpPr>
          <p:spPr>
            <a:xfrm flipH="1">
              <a:off x="7848000" y="6048000"/>
              <a:ext cx="0" cy="21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36205A3F-9934-6C75-8B97-B210CC9E0702}"/>
                </a:ext>
              </a:extLst>
            </p:cNvPr>
            <p:cNvCxnSpPr>
              <a:cxnSpLocks/>
            </p:cNvCxnSpPr>
            <p:nvPr/>
          </p:nvCxnSpPr>
          <p:spPr>
            <a:xfrm>
              <a:off x="7812000" y="3960000"/>
              <a:ext cx="0" cy="3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D2E6A69-8F39-4B04-27A4-9D21EC7CC147}"/>
                </a:ext>
              </a:extLst>
            </p:cNvPr>
            <p:cNvCxnSpPr>
              <a:cxnSpLocks/>
            </p:cNvCxnSpPr>
            <p:nvPr/>
          </p:nvCxnSpPr>
          <p:spPr>
            <a:xfrm>
              <a:off x="8478000" y="3600000"/>
              <a:ext cx="0" cy="75608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8" name="椭圆 87">
              <a:extLst>
                <a:ext uri="{FF2B5EF4-FFF2-40B4-BE49-F238E27FC236}">
                  <a16:creationId xmlns:a16="http://schemas.microsoft.com/office/drawing/2014/main" id="{13B711BA-28C3-BEF5-B35D-E25FE6101ECE}"/>
                </a:ext>
              </a:extLst>
            </p:cNvPr>
            <p:cNvSpPr/>
            <p:nvPr/>
          </p:nvSpPr>
          <p:spPr>
            <a:xfrm>
              <a:off x="7740000" y="4194000"/>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89" name="椭圆 88">
              <a:extLst>
                <a:ext uri="{FF2B5EF4-FFF2-40B4-BE49-F238E27FC236}">
                  <a16:creationId xmlns:a16="http://schemas.microsoft.com/office/drawing/2014/main" id="{CAF66FB1-F63B-A91B-23B7-6107998BD275}"/>
                </a:ext>
              </a:extLst>
            </p:cNvPr>
            <p:cNvSpPr/>
            <p:nvPr/>
          </p:nvSpPr>
          <p:spPr>
            <a:xfrm>
              <a:off x="8406000" y="4194000"/>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90" name="直接连接符 89">
              <a:extLst>
                <a:ext uri="{FF2B5EF4-FFF2-40B4-BE49-F238E27FC236}">
                  <a16:creationId xmlns:a16="http://schemas.microsoft.com/office/drawing/2014/main" id="{00DB4884-32D3-56EA-D2CF-9EA79792381F}"/>
                </a:ext>
              </a:extLst>
            </p:cNvPr>
            <p:cNvCxnSpPr>
              <a:cxnSpLocks/>
            </p:cNvCxnSpPr>
            <p:nvPr/>
          </p:nvCxnSpPr>
          <p:spPr>
            <a:xfrm>
              <a:off x="9180000" y="3060000"/>
              <a:ext cx="0" cy="129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07A3460C-ED72-096B-7E48-A2DCC3F82942}"/>
                </a:ext>
              </a:extLst>
            </p:cNvPr>
            <p:cNvCxnSpPr>
              <a:cxnSpLocks/>
            </p:cNvCxnSpPr>
            <p:nvPr/>
          </p:nvCxnSpPr>
          <p:spPr>
            <a:xfrm>
              <a:off x="10260000" y="2160000"/>
              <a:ext cx="0" cy="219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1" name="文本框 100">
                  <a:extLst>
                    <a:ext uri="{FF2B5EF4-FFF2-40B4-BE49-F238E27FC236}">
                      <a16:creationId xmlns:a16="http://schemas.microsoft.com/office/drawing/2014/main" id="{8E84C6D3-7DBB-93B4-D8F0-9EF0076329C3}"/>
                    </a:ext>
                  </a:extLst>
                </p:cNvPr>
                <p:cNvSpPr txBox="1"/>
                <p:nvPr/>
              </p:nvSpPr>
              <p:spPr>
                <a:xfrm>
                  <a:off x="7596000" y="6228000"/>
                  <a:ext cx="504000" cy="461665"/>
                </a:xfrm>
                <a:prstGeom prst="rect">
                  <a:avLst/>
                </a:prstGeom>
                <a:noFill/>
              </p:spPr>
              <p:txBody>
                <a:bodyPr wrap="square">
                  <a:spAutoFit/>
                </a:bodyPr>
                <a:lstStyle/>
                <a:p>
                  <a:pPr algn="ctr"/>
                  <a14:m>
                    <m:oMath xmlns:m="http://schemas.openxmlformats.org/officeDocument/2006/math">
                      <m:sSub>
                        <m:sSubPr>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4</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endParaRPr lang="zh-CN" altLang="en-US" sz="2400" dirty="0">
                    <a:solidFill>
                      <a:schemeClr val="accent5">
                        <a:lumMod val="75000"/>
                      </a:schemeClr>
                    </a:solidFill>
                  </a:endParaRPr>
                </a:p>
              </p:txBody>
            </p:sp>
          </mc:Choice>
          <mc:Fallback xmlns="">
            <p:sp>
              <p:nvSpPr>
                <p:cNvPr id="101" name="文本框 100">
                  <a:extLst>
                    <a:ext uri="{FF2B5EF4-FFF2-40B4-BE49-F238E27FC236}">
                      <a16:creationId xmlns:a16="http://schemas.microsoft.com/office/drawing/2014/main" id="{8E84C6D3-7DBB-93B4-D8F0-9EF0076329C3}"/>
                    </a:ext>
                  </a:extLst>
                </p:cNvPr>
                <p:cNvSpPr txBox="1">
                  <a:spLocks noRot="1" noChangeAspect="1" noMove="1" noResize="1" noEditPoints="1" noAdjustHandles="1" noChangeArrowheads="1" noChangeShapeType="1" noTextEdit="1"/>
                </p:cNvSpPr>
                <p:nvPr/>
              </p:nvSpPr>
              <p:spPr>
                <a:xfrm>
                  <a:off x="7596000" y="6228000"/>
                  <a:ext cx="504000" cy="461665"/>
                </a:xfrm>
                <a:prstGeom prst="rect">
                  <a:avLst/>
                </a:prstGeom>
                <a:blipFill>
                  <a:blip r:embed="rId35"/>
                  <a:stretch>
                    <a:fillRect l="-4819" b="-1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 name="文本框 101">
                  <a:extLst>
                    <a:ext uri="{FF2B5EF4-FFF2-40B4-BE49-F238E27FC236}">
                      <a16:creationId xmlns:a16="http://schemas.microsoft.com/office/drawing/2014/main" id="{5A0A29E6-B7A1-F47E-E988-EDBA1939839E}"/>
                    </a:ext>
                  </a:extLst>
                </p:cNvPr>
                <p:cNvSpPr txBox="1"/>
                <p:nvPr/>
              </p:nvSpPr>
              <p:spPr>
                <a:xfrm>
                  <a:off x="8388000" y="6228000"/>
                  <a:ext cx="504000" cy="461665"/>
                </a:xfrm>
                <a:prstGeom prst="rect">
                  <a:avLst/>
                </a:prstGeom>
                <a:noFill/>
              </p:spPr>
              <p:txBody>
                <a:bodyPr wrap="square">
                  <a:spAutoFit/>
                </a:bodyPr>
                <a:lstStyle/>
                <a:p>
                  <a:pPr algn="ctr"/>
                  <a14:m>
                    <m:oMath xmlns:m="http://schemas.openxmlformats.org/officeDocument/2006/math">
                      <m:sSub>
                        <m:sSubPr>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5</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endParaRPr lang="zh-CN" altLang="en-US" sz="2400" dirty="0">
                    <a:solidFill>
                      <a:schemeClr val="accent5">
                        <a:lumMod val="75000"/>
                      </a:schemeClr>
                    </a:solidFill>
                  </a:endParaRPr>
                </a:p>
              </p:txBody>
            </p:sp>
          </mc:Choice>
          <mc:Fallback xmlns="">
            <p:sp>
              <p:nvSpPr>
                <p:cNvPr id="102" name="文本框 101">
                  <a:extLst>
                    <a:ext uri="{FF2B5EF4-FFF2-40B4-BE49-F238E27FC236}">
                      <a16:creationId xmlns:a16="http://schemas.microsoft.com/office/drawing/2014/main" id="{5A0A29E6-B7A1-F47E-E988-EDBA1939839E}"/>
                    </a:ext>
                  </a:extLst>
                </p:cNvPr>
                <p:cNvSpPr txBox="1">
                  <a:spLocks noRot="1" noChangeAspect="1" noMove="1" noResize="1" noEditPoints="1" noAdjustHandles="1" noChangeArrowheads="1" noChangeShapeType="1" noTextEdit="1"/>
                </p:cNvSpPr>
                <p:nvPr/>
              </p:nvSpPr>
              <p:spPr>
                <a:xfrm>
                  <a:off x="8388000" y="6228000"/>
                  <a:ext cx="504000" cy="461665"/>
                </a:xfrm>
                <a:prstGeom prst="rect">
                  <a:avLst/>
                </a:prstGeom>
                <a:blipFill>
                  <a:blip r:embed="rId36"/>
                  <a:stretch>
                    <a:fillRect l="-4819" b="-2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3" name="文本框 102">
                  <a:extLst>
                    <a:ext uri="{FF2B5EF4-FFF2-40B4-BE49-F238E27FC236}">
                      <a16:creationId xmlns:a16="http://schemas.microsoft.com/office/drawing/2014/main" id="{99A4EC24-10AD-9BDA-15C9-F16F170FC4DE}"/>
                    </a:ext>
                  </a:extLst>
                </p:cNvPr>
                <p:cNvSpPr txBox="1"/>
                <p:nvPr/>
              </p:nvSpPr>
              <p:spPr>
                <a:xfrm>
                  <a:off x="9180000" y="6228000"/>
                  <a:ext cx="504000" cy="461665"/>
                </a:xfrm>
                <a:prstGeom prst="rect">
                  <a:avLst/>
                </a:prstGeom>
                <a:noFill/>
              </p:spPr>
              <p:txBody>
                <a:bodyPr wrap="square">
                  <a:spAutoFit/>
                </a:bodyPr>
                <a:lstStyle/>
                <a:p>
                  <a:pPr algn="ctr"/>
                  <a14:m>
                    <m:oMath xmlns:m="http://schemas.openxmlformats.org/officeDocument/2006/math">
                      <m:sSub>
                        <m:sSubPr>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6</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endParaRPr lang="zh-CN" altLang="en-US" sz="2400" dirty="0">
                    <a:solidFill>
                      <a:schemeClr val="accent5">
                        <a:lumMod val="75000"/>
                      </a:schemeClr>
                    </a:solidFill>
                  </a:endParaRPr>
                </a:p>
              </p:txBody>
            </p:sp>
          </mc:Choice>
          <mc:Fallback xmlns="">
            <p:sp>
              <p:nvSpPr>
                <p:cNvPr id="103" name="文本框 102">
                  <a:extLst>
                    <a:ext uri="{FF2B5EF4-FFF2-40B4-BE49-F238E27FC236}">
                      <a16:creationId xmlns:a16="http://schemas.microsoft.com/office/drawing/2014/main" id="{99A4EC24-10AD-9BDA-15C9-F16F170FC4DE}"/>
                    </a:ext>
                  </a:extLst>
                </p:cNvPr>
                <p:cNvSpPr txBox="1">
                  <a:spLocks noRot="1" noChangeAspect="1" noMove="1" noResize="1" noEditPoints="1" noAdjustHandles="1" noChangeArrowheads="1" noChangeShapeType="1" noTextEdit="1"/>
                </p:cNvSpPr>
                <p:nvPr/>
              </p:nvSpPr>
              <p:spPr>
                <a:xfrm>
                  <a:off x="9180000" y="6228000"/>
                  <a:ext cx="504000" cy="461665"/>
                </a:xfrm>
                <a:prstGeom prst="rect">
                  <a:avLst/>
                </a:prstGeom>
                <a:blipFill>
                  <a:blip r:embed="rId37"/>
                  <a:stretch>
                    <a:fillRect l="-4819" b="-1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4" name="文本框 103">
                  <a:extLst>
                    <a:ext uri="{FF2B5EF4-FFF2-40B4-BE49-F238E27FC236}">
                      <a16:creationId xmlns:a16="http://schemas.microsoft.com/office/drawing/2014/main" id="{490E31D8-6399-065C-BB22-0B6E9ED7D848}"/>
                    </a:ext>
                  </a:extLst>
                </p:cNvPr>
                <p:cNvSpPr txBox="1"/>
                <p:nvPr/>
              </p:nvSpPr>
              <p:spPr>
                <a:xfrm>
                  <a:off x="9972000" y="6228000"/>
                  <a:ext cx="504000" cy="461665"/>
                </a:xfrm>
                <a:prstGeom prst="rect">
                  <a:avLst/>
                </a:prstGeom>
                <a:noFill/>
              </p:spPr>
              <p:txBody>
                <a:bodyPr wrap="square">
                  <a:spAutoFit/>
                </a:bodyPr>
                <a:lstStyle/>
                <a:p>
                  <a:pPr algn="ctr"/>
                  <a14:m>
                    <m:oMath xmlns:m="http://schemas.openxmlformats.org/officeDocument/2006/math">
                      <m:sSub>
                        <m:sSubPr>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7</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endParaRPr lang="zh-CN" altLang="en-US" sz="2400" dirty="0">
                    <a:solidFill>
                      <a:schemeClr val="accent5">
                        <a:lumMod val="75000"/>
                      </a:schemeClr>
                    </a:solidFill>
                  </a:endParaRPr>
                </a:p>
              </p:txBody>
            </p:sp>
          </mc:Choice>
          <mc:Fallback xmlns="">
            <p:sp>
              <p:nvSpPr>
                <p:cNvPr id="104" name="文本框 103">
                  <a:extLst>
                    <a:ext uri="{FF2B5EF4-FFF2-40B4-BE49-F238E27FC236}">
                      <a16:creationId xmlns:a16="http://schemas.microsoft.com/office/drawing/2014/main" id="{490E31D8-6399-065C-BB22-0B6E9ED7D848}"/>
                    </a:ext>
                  </a:extLst>
                </p:cNvPr>
                <p:cNvSpPr txBox="1">
                  <a:spLocks noRot="1" noChangeAspect="1" noMove="1" noResize="1" noEditPoints="1" noAdjustHandles="1" noChangeArrowheads="1" noChangeShapeType="1" noTextEdit="1"/>
                </p:cNvSpPr>
                <p:nvPr/>
              </p:nvSpPr>
              <p:spPr>
                <a:xfrm>
                  <a:off x="9972000" y="6228000"/>
                  <a:ext cx="504000" cy="461665"/>
                </a:xfrm>
                <a:prstGeom prst="rect">
                  <a:avLst/>
                </a:prstGeom>
                <a:blipFill>
                  <a:blip r:embed="rId38"/>
                  <a:stretch>
                    <a:fillRect l="-4819" b="-1333"/>
                  </a:stretch>
                </a:blipFill>
              </p:spPr>
              <p:txBody>
                <a:bodyPr/>
                <a:lstStyle/>
                <a:p>
                  <a:r>
                    <a:rPr lang="zh-CN" altLang="en-US">
                      <a:noFill/>
                    </a:rPr>
                    <a:t> </a:t>
                  </a:r>
                </a:p>
              </p:txBody>
            </p:sp>
          </mc:Fallback>
        </mc:AlternateContent>
        <p:cxnSp>
          <p:nvCxnSpPr>
            <p:cNvPr id="105" name="直接连接符 104">
              <a:extLst>
                <a:ext uri="{FF2B5EF4-FFF2-40B4-BE49-F238E27FC236}">
                  <a16:creationId xmlns:a16="http://schemas.microsoft.com/office/drawing/2014/main" id="{305DB347-8A37-F05F-B99F-DCE25C5F8563}"/>
                </a:ext>
              </a:extLst>
            </p:cNvPr>
            <p:cNvCxnSpPr>
              <a:cxnSpLocks/>
            </p:cNvCxnSpPr>
            <p:nvPr/>
          </p:nvCxnSpPr>
          <p:spPr>
            <a:xfrm flipH="1">
              <a:off x="8640000" y="6048000"/>
              <a:ext cx="0" cy="21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6FA3B3DF-52F3-482A-3F27-B77483854D99}"/>
                </a:ext>
              </a:extLst>
            </p:cNvPr>
            <p:cNvCxnSpPr>
              <a:cxnSpLocks/>
            </p:cNvCxnSpPr>
            <p:nvPr/>
          </p:nvCxnSpPr>
          <p:spPr>
            <a:xfrm flipH="1">
              <a:off x="9432000" y="6048000"/>
              <a:ext cx="0" cy="21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56A4B235-6A33-0160-BAAD-5DD64BD82DE2}"/>
                </a:ext>
              </a:extLst>
            </p:cNvPr>
            <p:cNvCxnSpPr>
              <a:cxnSpLocks/>
            </p:cNvCxnSpPr>
            <p:nvPr/>
          </p:nvCxnSpPr>
          <p:spPr>
            <a:xfrm flipH="1">
              <a:off x="10224000" y="6048000"/>
              <a:ext cx="0" cy="21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110700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0D7F0-5624-79B2-7857-45637D9DD6D4}"/>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251C6B05-79B0-E0E7-70C1-A0CA0076EA74}"/>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0528E3C0-B344-0F70-684C-375A48EB92F9}"/>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E1AFF984-51B8-DBC9-1A2E-54A5043B0144}"/>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B94FE441-C4F6-726E-790F-7004CB88E906}"/>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E65E5CE2-88A3-1775-6698-91903B4D546D}"/>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21</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278B1776-0B3B-16AA-78DB-0CC80E222208}"/>
                  </a:ext>
                </a:extLst>
              </p:cNvPr>
              <p:cNvSpPr txBox="1"/>
              <p:nvPr/>
            </p:nvSpPr>
            <p:spPr>
              <a:xfrm>
                <a:off x="360000" y="828000"/>
                <a:ext cx="10772035" cy="109196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字数扩展</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用四片容量为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8K </a:t>
                </a:r>
                <a14:m>
                  <m:oMath xmlns:m="http://schemas.openxmlformats.org/officeDocument/2006/math">
                    <m:r>
                      <a:rPr kumimoji="1" lang="en-US" altLang="zh-CN" sz="2400" i="1">
                        <a:solidFill>
                          <a:schemeClr val="accent5">
                            <a:lumMod val="75000"/>
                          </a:schemeClr>
                        </a:solidFill>
                        <a:latin typeface="Cambria Math" panose="02040503050406030204" pitchFamily="18" charset="0"/>
                        <a:ea typeface="Cambria Math" panose="02040503050406030204" pitchFamily="18" charset="0"/>
                      </a:rPr>
                      <m:t>×</m:t>
                    </m:r>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8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位的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RAM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芯片构成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32K </a:t>
                </a:r>
                <a14:m>
                  <m:oMath xmlns:m="http://schemas.openxmlformats.org/officeDocument/2006/math">
                    <m:r>
                      <a:rPr kumimoji="1" lang="en-US" altLang="zh-CN" sz="2400" i="1">
                        <a:solidFill>
                          <a:schemeClr val="accent5">
                            <a:lumMod val="75000"/>
                          </a:schemeClr>
                        </a:solidFill>
                        <a:latin typeface="Cambria Math" panose="02040503050406030204" pitchFamily="18" charset="0"/>
                        <a:ea typeface="Cambria Math" panose="02040503050406030204" pitchFamily="18" charset="0"/>
                      </a:rPr>
                      <m:t>×</m:t>
                    </m:r>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8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位的存储器</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9" name="文本框 8">
                <a:extLst>
                  <a:ext uri="{FF2B5EF4-FFF2-40B4-BE49-F238E27FC236}">
                    <a16:creationId xmlns:a16="http://schemas.microsoft.com/office/drawing/2014/main" id="{278B1776-0B3B-16AA-78DB-0CC80E222208}"/>
                  </a:ext>
                </a:extLst>
              </p:cNvPr>
              <p:cNvSpPr txBox="1">
                <a:spLocks noRot="1" noChangeAspect="1" noMove="1" noResize="1" noEditPoints="1" noAdjustHandles="1" noChangeArrowheads="1" noChangeShapeType="1" noTextEdit="1"/>
              </p:cNvSpPr>
              <p:nvPr/>
            </p:nvSpPr>
            <p:spPr>
              <a:xfrm>
                <a:off x="360000" y="828000"/>
                <a:ext cx="10772035" cy="1091966"/>
              </a:xfrm>
              <a:prstGeom prst="rect">
                <a:avLst/>
              </a:prstGeom>
              <a:blipFill>
                <a:blip r:embed="rId3"/>
                <a:stretch>
                  <a:fillRect l="-1019" t="-2235" b="-12291"/>
                </a:stretch>
              </a:blipFill>
            </p:spPr>
            <p:txBody>
              <a:bodyPr/>
              <a:lstStyle/>
              <a:p>
                <a:r>
                  <a:rPr lang="zh-CN" altLang="en-US">
                    <a:noFill/>
                  </a:rPr>
                  <a:t> </a:t>
                </a:r>
              </a:p>
            </p:txBody>
          </p:sp>
        </mc:Fallback>
      </mc:AlternateContent>
      <p:sp>
        <p:nvSpPr>
          <p:cNvPr id="3" name="标题 1">
            <a:extLst>
              <a:ext uri="{FF2B5EF4-FFF2-40B4-BE49-F238E27FC236}">
                <a16:creationId xmlns:a16="http://schemas.microsoft.com/office/drawing/2014/main" id="{9FE8FA6D-4DD5-3E79-BDB4-FA0E10863698}"/>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存储器的容量扩展</a:t>
            </a:r>
            <a:endParaRPr lang="en-US" altLang="zh-CN" sz="3000" dirty="0">
              <a:solidFill>
                <a:srgbClr val="FFFF00"/>
              </a:solidFill>
            </a:endParaRPr>
          </a:p>
        </p:txBody>
      </p:sp>
      <p:grpSp>
        <p:nvGrpSpPr>
          <p:cNvPr id="66" name="组合 65">
            <a:extLst>
              <a:ext uri="{FF2B5EF4-FFF2-40B4-BE49-F238E27FC236}">
                <a16:creationId xmlns:a16="http://schemas.microsoft.com/office/drawing/2014/main" id="{C813965F-DA1C-1759-3BC6-3CF816470E65}"/>
              </a:ext>
            </a:extLst>
          </p:cNvPr>
          <p:cNvGrpSpPr/>
          <p:nvPr/>
        </p:nvGrpSpPr>
        <p:grpSpPr>
          <a:xfrm>
            <a:off x="360000" y="2016000"/>
            <a:ext cx="11124000" cy="4572000"/>
            <a:chOff x="252000" y="2016000"/>
            <a:chExt cx="11124000" cy="4572000"/>
          </a:xfrm>
        </p:grpSpPr>
        <p:sp>
          <p:nvSpPr>
            <p:cNvPr id="165" name="矩形 164">
              <a:extLst>
                <a:ext uri="{FF2B5EF4-FFF2-40B4-BE49-F238E27FC236}">
                  <a16:creationId xmlns:a16="http://schemas.microsoft.com/office/drawing/2014/main" id="{C38FA82D-CF65-4A3A-0568-002608F7258A}"/>
                </a:ext>
              </a:extLst>
            </p:cNvPr>
            <p:cNvSpPr/>
            <p:nvPr/>
          </p:nvSpPr>
          <p:spPr>
            <a:xfrm>
              <a:off x="5148000" y="2016000"/>
              <a:ext cx="2736000" cy="1080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solidFill>
                    <a:srgbClr val="7030A0"/>
                  </a:solidFill>
                  <a:latin typeface="微软雅黑" panose="020B0503020204020204" pitchFamily="34" charset="-122"/>
                  <a:ea typeface="微软雅黑" panose="020B0503020204020204" pitchFamily="34" charset="-122"/>
                </a:rPr>
                <a:t>2 </a:t>
              </a:r>
              <a:r>
                <a:rPr lang="zh-CN" altLang="en-US" sz="1600" dirty="0">
                  <a:solidFill>
                    <a:srgbClr val="7030A0"/>
                  </a:solidFill>
                  <a:latin typeface="微软雅黑" panose="020B0503020204020204" pitchFamily="34" charset="-122"/>
                  <a:ea typeface="微软雅黑" panose="020B0503020204020204" pitchFamily="34" charset="-122"/>
                </a:rPr>
                <a:t>线 </a:t>
              </a:r>
              <a:r>
                <a:rPr lang="en-US" altLang="zh-CN" sz="1600" dirty="0">
                  <a:solidFill>
                    <a:srgbClr val="7030A0"/>
                  </a:solidFill>
                  <a:latin typeface="微软雅黑" panose="020B0503020204020204" pitchFamily="34" charset="-122"/>
                  <a:ea typeface="微软雅黑" panose="020B0503020204020204" pitchFamily="34" charset="-122"/>
                </a:rPr>
                <a:t>– 4 </a:t>
              </a:r>
              <a:r>
                <a:rPr lang="zh-CN" altLang="en-US" sz="1600" dirty="0">
                  <a:solidFill>
                    <a:srgbClr val="7030A0"/>
                  </a:solidFill>
                  <a:latin typeface="微软雅黑" panose="020B0503020204020204" pitchFamily="34" charset="-122"/>
                  <a:ea typeface="微软雅黑" panose="020B0503020204020204" pitchFamily="34" charset="-122"/>
                </a:rPr>
                <a:t>线译码器</a:t>
              </a:r>
            </a:p>
          </p:txBody>
        </p:sp>
        <mc:AlternateContent xmlns:mc="http://schemas.openxmlformats.org/markup-compatibility/2006" xmlns:a14="http://schemas.microsoft.com/office/drawing/2010/main">
          <mc:Choice Requires="a14">
            <p:sp>
              <p:nvSpPr>
                <p:cNvPr id="166" name="文本框 165">
                  <a:extLst>
                    <a:ext uri="{FF2B5EF4-FFF2-40B4-BE49-F238E27FC236}">
                      <a16:creationId xmlns:a16="http://schemas.microsoft.com/office/drawing/2014/main" id="{59254F01-C65D-EB33-EF93-7B9709E13439}"/>
                    </a:ext>
                  </a:extLst>
                </p:cNvPr>
                <p:cNvSpPr txBox="1"/>
                <p:nvPr/>
              </p:nvSpPr>
              <p:spPr>
                <a:xfrm>
                  <a:off x="5148000" y="2016000"/>
                  <a:ext cx="504000" cy="43200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kumimoji="1" lang="en-US" altLang="zh-CN" sz="2000" i="1">
                                <a:latin typeface="Cambria Math" panose="02040503050406030204" pitchFamily="18" charset="0"/>
                                <a:ea typeface="微软雅黑" panose="020B0503020204020204" pitchFamily="34" charset="-122"/>
                              </a:rPr>
                            </m:ctrlPr>
                          </m:sSubPr>
                          <m:e>
                            <m:r>
                              <m:rPr>
                                <m:sty m:val="p"/>
                              </m:rPr>
                              <a:rPr kumimoji="1" lang="en-US" altLang="zh-CN" sz="2000">
                                <a:latin typeface="Cambria Math" panose="02040503050406030204" pitchFamily="18" charset="0"/>
                                <a:ea typeface="微软雅黑" panose="020B0503020204020204" pitchFamily="34" charset="-122"/>
                              </a:rPr>
                              <m:t>A</m:t>
                            </m:r>
                          </m:e>
                          <m:sub>
                            <m:r>
                              <a:rPr kumimoji="1" lang="en-US" altLang="zh-CN" sz="2000">
                                <a:latin typeface="Cambria Math" panose="02040503050406030204" pitchFamily="18" charset="0"/>
                                <a:ea typeface="微软雅黑" panose="020B0503020204020204" pitchFamily="34" charset="-122"/>
                              </a:rPr>
                              <m:t>1</m:t>
                            </m:r>
                          </m:sub>
                        </m:sSub>
                      </m:oMath>
                    </m:oMathPara>
                  </a14:m>
                  <a:endParaRPr lang="zh-CN" altLang="en-US" sz="2000" dirty="0">
                    <a:solidFill>
                      <a:schemeClr val="tx1"/>
                    </a:solidFill>
                  </a:endParaRPr>
                </a:p>
              </p:txBody>
            </p:sp>
          </mc:Choice>
          <mc:Fallback xmlns="">
            <p:sp>
              <p:nvSpPr>
                <p:cNvPr id="166" name="文本框 165">
                  <a:extLst>
                    <a:ext uri="{FF2B5EF4-FFF2-40B4-BE49-F238E27FC236}">
                      <a16:creationId xmlns:a16="http://schemas.microsoft.com/office/drawing/2014/main" id="{59254F01-C65D-EB33-EF93-7B9709E13439}"/>
                    </a:ext>
                  </a:extLst>
                </p:cNvPr>
                <p:cNvSpPr txBox="1">
                  <a:spLocks noRot="1" noChangeAspect="1" noMove="1" noResize="1" noEditPoints="1" noAdjustHandles="1" noChangeArrowheads="1" noChangeShapeType="1" noTextEdit="1"/>
                </p:cNvSpPr>
                <p:nvPr/>
              </p:nvSpPr>
              <p:spPr>
                <a:xfrm>
                  <a:off x="5148000" y="2016000"/>
                  <a:ext cx="504000" cy="43200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7" name="文本框 166">
                  <a:extLst>
                    <a:ext uri="{FF2B5EF4-FFF2-40B4-BE49-F238E27FC236}">
                      <a16:creationId xmlns:a16="http://schemas.microsoft.com/office/drawing/2014/main" id="{1DDF14A0-D7A9-0A7A-73B6-205534FE1179}"/>
                    </a:ext>
                  </a:extLst>
                </p:cNvPr>
                <p:cNvSpPr txBox="1"/>
                <p:nvPr/>
              </p:nvSpPr>
              <p:spPr>
                <a:xfrm>
                  <a:off x="7416000" y="2160000"/>
                  <a:ext cx="504000" cy="432000"/>
                </a:xfrm>
                <a:prstGeom prst="rect">
                  <a:avLst/>
                </a:prstGeom>
                <a:noFill/>
              </p:spPr>
              <p:txBody>
                <a:bodyPr wrap="square">
                  <a:spAutoFit/>
                </a:bodyPr>
                <a:lstStyle/>
                <a:p>
                  <a14:m>
                    <m:oMath xmlns:m="http://schemas.openxmlformats.org/officeDocument/2006/math">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EN</m:t>
                      </m:r>
                    </m:oMath>
                  </a14:m>
                  <a:r>
                    <a:rPr kumimoji="1" lang="en-US" altLang="zh-CN" sz="2000" dirty="0">
                      <a:solidFill>
                        <a:schemeClr val="tx1"/>
                      </a:solidFill>
                      <a:latin typeface="微软雅黑" panose="020B0503020204020204" pitchFamily="34" charset="-122"/>
                      <a:ea typeface="微软雅黑" panose="020B0503020204020204" pitchFamily="34" charset="-122"/>
                    </a:rPr>
                    <a:t> </a:t>
                  </a:r>
                  <a:endParaRPr lang="zh-CN" altLang="en-US" sz="2000" dirty="0">
                    <a:solidFill>
                      <a:schemeClr val="tx1"/>
                    </a:solidFill>
                  </a:endParaRPr>
                </a:p>
              </p:txBody>
            </p:sp>
          </mc:Choice>
          <mc:Fallback xmlns="">
            <p:sp>
              <p:nvSpPr>
                <p:cNvPr id="167" name="文本框 166">
                  <a:extLst>
                    <a:ext uri="{FF2B5EF4-FFF2-40B4-BE49-F238E27FC236}">
                      <a16:creationId xmlns:a16="http://schemas.microsoft.com/office/drawing/2014/main" id="{1DDF14A0-D7A9-0A7A-73B6-205534FE1179}"/>
                    </a:ext>
                  </a:extLst>
                </p:cNvPr>
                <p:cNvSpPr txBox="1">
                  <a:spLocks noRot="1" noChangeAspect="1" noMove="1" noResize="1" noEditPoints="1" noAdjustHandles="1" noChangeArrowheads="1" noChangeShapeType="1" noTextEdit="1"/>
                </p:cNvSpPr>
                <p:nvPr/>
              </p:nvSpPr>
              <p:spPr>
                <a:xfrm>
                  <a:off x="7416000" y="2160000"/>
                  <a:ext cx="504000" cy="43200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0" name="文本框 169">
                  <a:extLst>
                    <a:ext uri="{FF2B5EF4-FFF2-40B4-BE49-F238E27FC236}">
                      <a16:creationId xmlns:a16="http://schemas.microsoft.com/office/drawing/2014/main" id="{FFAD6E2E-1EA3-360E-0DD2-6359AAD371AF}"/>
                    </a:ext>
                  </a:extLst>
                </p:cNvPr>
                <p:cNvSpPr txBox="1"/>
                <p:nvPr/>
              </p:nvSpPr>
              <p:spPr>
                <a:xfrm>
                  <a:off x="5148000" y="2376000"/>
                  <a:ext cx="504000" cy="43200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kumimoji="1" lang="en-US" altLang="zh-CN" sz="2000" i="1">
                                <a:latin typeface="Cambria Math" panose="02040503050406030204" pitchFamily="18" charset="0"/>
                                <a:ea typeface="微软雅黑" panose="020B0503020204020204" pitchFamily="34" charset="-122"/>
                              </a:rPr>
                            </m:ctrlPr>
                          </m:sSubPr>
                          <m:e>
                            <m:r>
                              <m:rPr>
                                <m:sty m:val="p"/>
                              </m:rPr>
                              <a:rPr kumimoji="1" lang="en-US" altLang="zh-CN" sz="2000">
                                <a:latin typeface="Cambria Math" panose="02040503050406030204" pitchFamily="18" charset="0"/>
                                <a:ea typeface="微软雅黑" panose="020B0503020204020204" pitchFamily="34" charset="-122"/>
                              </a:rPr>
                              <m:t>A</m:t>
                            </m:r>
                          </m:e>
                          <m:sub>
                            <m:r>
                              <a:rPr kumimoji="1" lang="en-US" altLang="zh-CN" sz="2000" i="1" smtClean="0">
                                <a:latin typeface="Cambria Math" panose="02040503050406030204" pitchFamily="18" charset="0"/>
                                <a:ea typeface="微软雅黑" panose="020B0503020204020204" pitchFamily="34" charset="-122"/>
                              </a:rPr>
                              <m:t>0</m:t>
                            </m:r>
                          </m:sub>
                        </m:sSub>
                      </m:oMath>
                    </m:oMathPara>
                  </a14:m>
                  <a:endParaRPr lang="zh-CN" altLang="en-US" sz="2000" dirty="0">
                    <a:solidFill>
                      <a:schemeClr val="tx1"/>
                    </a:solidFill>
                  </a:endParaRPr>
                </a:p>
              </p:txBody>
            </p:sp>
          </mc:Choice>
          <mc:Fallback xmlns="">
            <p:sp>
              <p:nvSpPr>
                <p:cNvPr id="170" name="文本框 169">
                  <a:extLst>
                    <a:ext uri="{FF2B5EF4-FFF2-40B4-BE49-F238E27FC236}">
                      <a16:creationId xmlns:a16="http://schemas.microsoft.com/office/drawing/2014/main" id="{FFAD6E2E-1EA3-360E-0DD2-6359AAD371AF}"/>
                    </a:ext>
                  </a:extLst>
                </p:cNvPr>
                <p:cNvSpPr txBox="1">
                  <a:spLocks noRot="1" noChangeAspect="1" noMove="1" noResize="1" noEditPoints="1" noAdjustHandles="1" noChangeArrowheads="1" noChangeShapeType="1" noTextEdit="1"/>
                </p:cNvSpPr>
                <p:nvPr/>
              </p:nvSpPr>
              <p:spPr>
                <a:xfrm>
                  <a:off x="5148000" y="2376000"/>
                  <a:ext cx="504000" cy="43200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9" name="文本框 168">
                  <a:extLst>
                    <a:ext uri="{FF2B5EF4-FFF2-40B4-BE49-F238E27FC236}">
                      <a16:creationId xmlns:a16="http://schemas.microsoft.com/office/drawing/2014/main" id="{4FD2A0D8-3C99-3A93-5A9F-63380D17EE7B}"/>
                    </a:ext>
                  </a:extLst>
                </p:cNvPr>
                <p:cNvSpPr txBox="1"/>
                <p:nvPr/>
              </p:nvSpPr>
              <p:spPr>
                <a:xfrm>
                  <a:off x="5490000" y="2700000"/>
                  <a:ext cx="432000" cy="43200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Y</m:t>
                            </m:r>
                          </m:e>
                          <m:sub>
                            <m:r>
                              <a:rPr kumimoji="1" lang="en-US" altLang="zh-CN" sz="2000" i="1">
                                <a:latin typeface="Cambria Math" panose="02040503050406030204" pitchFamily="18" charset="0"/>
                                <a:ea typeface="微软雅黑" panose="020B0503020204020204" pitchFamily="34" charset="-122"/>
                              </a:rPr>
                              <m:t>3</m:t>
                            </m:r>
                          </m:sub>
                        </m:sSub>
                      </m:oMath>
                    </m:oMathPara>
                  </a14:m>
                  <a:endParaRPr lang="zh-CN" altLang="en-US" sz="2000" dirty="0">
                    <a:solidFill>
                      <a:schemeClr val="tx1"/>
                    </a:solidFill>
                  </a:endParaRPr>
                </a:p>
              </p:txBody>
            </p:sp>
          </mc:Choice>
          <mc:Fallback xmlns="">
            <p:sp>
              <p:nvSpPr>
                <p:cNvPr id="169" name="文本框 168">
                  <a:extLst>
                    <a:ext uri="{FF2B5EF4-FFF2-40B4-BE49-F238E27FC236}">
                      <a16:creationId xmlns:a16="http://schemas.microsoft.com/office/drawing/2014/main" id="{4FD2A0D8-3C99-3A93-5A9F-63380D17EE7B}"/>
                    </a:ext>
                  </a:extLst>
                </p:cNvPr>
                <p:cNvSpPr txBox="1">
                  <a:spLocks noRot="1" noChangeAspect="1" noMove="1" noResize="1" noEditPoints="1" noAdjustHandles="1" noChangeArrowheads="1" noChangeShapeType="1" noTextEdit="1"/>
                </p:cNvSpPr>
                <p:nvPr/>
              </p:nvSpPr>
              <p:spPr>
                <a:xfrm>
                  <a:off x="5490000" y="2700000"/>
                  <a:ext cx="432000" cy="43200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1" name="文本框 170">
                  <a:extLst>
                    <a:ext uri="{FF2B5EF4-FFF2-40B4-BE49-F238E27FC236}">
                      <a16:creationId xmlns:a16="http://schemas.microsoft.com/office/drawing/2014/main" id="{0D66D5C5-AF6D-D624-7A53-DD030F851631}"/>
                    </a:ext>
                  </a:extLst>
                </p:cNvPr>
                <p:cNvSpPr txBox="1"/>
                <p:nvPr/>
              </p:nvSpPr>
              <p:spPr>
                <a:xfrm>
                  <a:off x="6030000" y="2700000"/>
                  <a:ext cx="432000" cy="43200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Y</m:t>
                            </m:r>
                          </m:e>
                          <m:sub>
                            <m:r>
                              <a:rPr kumimoji="1" lang="en-US" altLang="zh-CN" sz="2000" b="0" i="1" smtClean="0">
                                <a:latin typeface="Cambria Math" panose="02040503050406030204" pitchFamily="18" charset="0"/>
                                <a:ea typeface="微软雅黑" panose="020B0503020204020204" pitchFamily="34" charset="-122"/>
                              </a:rPr>
                              <m:t>2</m:t>
                            </m:r>
                          </m:sub>
                        </m:sSub>
                      </m:oMath>
                    </m:oMathPara>
                  </a14:m>
                  <a:endParaRPr lang="zh-CN" altLang="en-US" sz="2000" dirty="0">
                    <a:solidFill>
                      <a:schemeClr val="tx1"/>
                    </a:solidFill>
                  </a:endParaRPr>
                </a:p>
              </p:txBody>
            </p:sp>
          </mc:Choice>
          <mc:Fallback xmlns="">
            <p:sp>
              <p:nvSpPr>
                <p:cNvPr id="171" name="文本框 170">
                  <a:extLst>
                    <a:ext uri="{FF2B5EF4-FFF2-40B4-BE49-F238E27FC236}">
                      <a16:creationId xmlns:a16="http://schemas.microsoft.com/office/drawing/2014/main" id="{0D66D5C5-AF6D-D624-7A53-DD030F851631}"/>
                    </a:ext>
                  </a:extLst>
                </p:cNvPr>
                <p:cNvSpPr txBox="1">
                  <a:spLocks noRot="1" noChangeAspect="1" noMove="1" noResize="1" noEditPoints="1" noAdjustHandles="1" noChangeArrowheads="1" noChangeShapeType="1" noTextEdit="1"/>
                </p:cNvSpPr>
                <p:nvPr/>
              </p:nvSpPr>
              <p:spPr>
                <a:xfrm>
                  <a:off x="6030000" y="2700000"/>
                  <a:ext cx="432000" cy="43200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2" name="文本框 171">
                  <a:extLst>
                    <a:ext uri="{FF2B5EF4-FFF2-40B4-BE49-F238E27FC236}">
                      <a16:creationId xmlns:a16="http://schemas.microsoft.com/office/drawing/2014/main" id="{54490E03-2BA1-77D1-FDA6-F942BF3E8889}"/>
                    </a:ext>
                  </a:extLst>
                </p:cNvPr>
                <p:cNvSpPr txBox="1"/>
                <p:nvPr/>
              </p:nvSpPr>
              <p:spPr>
                <a:xfrm>
                  <a:off x="6570000" y="2700000"/>
                  <a:ext cx="432000" cy="43200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Y</m:t>
                            </m:r>
                          </m:e>
                          <m:sub>
                            <m:r>
                              <a:rPr kumimoji="1" lang="en-US" altLang="zh-CN" sz="2000" b="0" i="1" smtClean="0">
                                <a:solidFill>
                                  <a:schemeClr val="tx1"/>
                                </a:solidFill>
                                <a:latin typeface="Cambria Math" panose="02040503050406030204" pitchFamily="18" charset="0"/>
                                <a:ea typeface="微软雅黑" panose="020B0503020204020204" pitchFamily="34" charset="-122"/>
                              </a:rPr>
                              <m:t>1</m:t>
                            </m:r>
                          </m:sub>
                        </m:sSub>
                      </m:oMath>
                    </m:oMathPara>
                  </a14:m>
                  <a:endParaRPr lang="zh-CN" altLang="en-US" sz="2000" dirty="0">
                    <a:solidFill>
                      <a:schemeClr val="tx1"/>
                    </a:solidFill>
                  </a:endParaRPr>
                </a:p>
              </p:txBody>
            </p:sp>
          </mc:Choice>
          <mc:Fallback xmlns="">
            <p:sp>
              <p:nvSpPr>
                <p:cNvPr id="172" name="文本框 171">
                  <a:extLst>
                    <a:ext uri="{FF2B5EF4-FFF2-40B4-BE49-F238E27FC236}">
                      <a16:creationId xmlns:a16="http://schemas.microsoft.com/office/drawing/2014/main" id="{54490E03-2BA1-77D1-FDA6-F942BF3E8889}"/>
                    </a:ext>
                  </a:extLst>
                </p:cNvPr>
                <p:cNvSpPr txBox="1">
                  <a:spLocks noRot="1" noChangeAspect="1" noMove="1" noResize="1" noEditPoints="1" noAdjustHandles="1" noChangeArrowheads="1" noChangeShapeType="1" noTextEdit="1"/>
                </p:cNvSpPr>
                <p:nvPr/>
              </p:nvSpPr>
              <p:spPr>
                <a:xfrm>
                  <a:off x="6570000" y="2700000"/>
                  <a:ext cx="432000" cy="43200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3" name="文本框 172">
                  <a:extLst>
                    <a:ext uri="{FF2B5EF4-FFF2-40B4-BE49-F238E27FC236}">
                      <a16:creationId xmlns:a16="http://schemas.microsoft.com/office/drawing/2014/main" id="{83ED6CC1-75E8-C9BC-121B-E3DEC75D696D}"/>
                    </a:ext>
                  </a:extLst>
                </p:cNvPr>
                <p:cNvSpPr txBox="1"/>
                <p:nvPr/>
              </p:nvSpPr>
              <p:spPr>
                <a:xfrm>
                  <a:off x="7110000" y="2700000"/>
                  <a:ext cx="432000" cy="43200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Y</m:t>
                            </m:r>
                          </m:e>
                          <m:sub>
                            <m:r>
                              <a:rPr kumimoji="1" lang="en-US" altLang="zh-CN" sz="2000" b="0" i="1" smtClean="0">
                                <a:solidFill>
                                  <a:schemeClr val="tx1"/>
                                </a:solidFill>
                                <a:latin typeface="Cambria Math" panose="02040503050406030204" pitchFamily="18" charset="0"/>
                                <a:ea typeface="微软雅黑" panose="020B0503020204020204" pitchFamily="34" charset="-122"/>
                              </a:rPr>
                              <m:t>0</m:t>
                            </m:r>
                          </m:sub>
                        </m:sSub>
                      </m:oMath>
                    </m:oMathPara>
                  </a14:m>
                  <a:endParaRPr lang="zh-CN" altLang="en-US" sz="2000" dirty="0">
                    <a:solidFill>
                      <a:schemeClr val="tx1"/>
                    </a:solidFill>
                  </a:endParaRPr>
                </a:p>
              </p:txBody>
            </p:sp>
          </mc:Choice>
          <mc:Fallback xmlns="">
            <p:sp>
              <p:nvSpPr>
                <p:cNvPr id="173" name="文本框 172">
                  <a:extLst>
                    <a:ext uri="{FF2B5EF4-FFF2-40B4-BE49-F238E27FC236}">
                      <a16:creationId xmlns:a16="http://schemas.microsoft.com/office/drawing/2014/main" id="{83ED6CC1-75E8-C9BC-121B-E3DEC75D696D}"/>
                    </a:ext>
                  </a:extLst>
                </p:cNvPr>
                <p:cNvSpPr txBox="1">
                  <a:spLocks noRot="1" noChangeAspect="1" noMove="1" noResize="1" noEditPoints="1" noAdjustHandles="1" noChangeArrowheads="1" noChangeShapeType="1" noTextEdit="1"/>
                </p:cNvSpPr>
                <p:nvPr/>
              </p:nvSpPr>
              <p:spPr>
                <a:xfrm>
                  <a:off x="7110000" y="2700000"/>
                  <a:ext cx="432000" cy="432000"/>
                </a:xfrm>
                <a:prstGeom prst="rect">
                  <a:avLst/>
                </a:prstGeom>
                <a:blipFill>
                  <a:blip r:embed="rId10"/>
                  <a:stretch>
                    <a:fillRect/>
                  </a:stretch>
                </a:blipFill>
              </p:spPr>
              <p:txBody>
                <a:bodyPr/>
                <a:lstStyle/>
                <a:p>
                  <a:r>
                    <a:rPr lang="zh-CN" altLang="en-US">
                      <a:noFill/>
                    </a:rPr>
                    <a:t> </a:t>
                  </a:r>
                </a:p>
              </p:txBody>
            </p:sp>
          </mc:Fallback>
        </mc:AlternateContent>
        <p:cxnSp>
          <p:nvCxnSpPr>
            <p:cNvPr id="181" name="直接连接符 180">
              <a:extLst>
                <a:ext uri="{FF2B5EF4-FFF2-40B4-BE49-F238E27FC236}">
                  <a16:creationId xmlns:a16="http://schemas.microsoft.com/office/drawing/2014/main" id="{2F43E7F2-5619-EB0F-53E0-40D0073CA74E}"/>
                </a:ext>
              </a:extLst>
            </p:cNvPr>
            <p:cNvCxnSpPr>
              <a:cxnSpLocks/>
            </p:cNvCxnSpPr>
            <p:nvPr/>
          </p:nvCxnSpPr>
          <p:spPr>
            <a:xfrm>
              <a:off x="5706000" y="3096000"/>
              <a:ext cx="0" cy="30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3" name="直接连接符 182">
              <a:extLst>
                <a:ext uri="{FF2B5EF4-FFF2-40B4-BE49-F238E27FC236}">
                  <a16:creationId xmlns:a16="http://schemas.microsoft.com/office/drawing/2014/main" id="{97B193DD-5665-9200-8DA2-C6C3977D8BE1}"/>
                </a:ext>
              </a:extLst>
            </p:cNvPr>
            <p:cNvCxnSpPr>
              <a:cxnSpLocks/>
            </p:cNvCxnSpPr>
            <p:nvPr/>
          </p:nvCxnSpPr>
          <p:spPr>
            <a:xfrm>
              <a:off x="6246000" y="3096000"/>
              <a:ext cx="0" cy="30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直接连接符 183">
              <a:extLst>
                <a:ext uri="{FF2B5EF4-FFF2-40B4-BE49-F238E27FC236}">
                  <a16:creationId xmlns:a16="http://schemas.microsoft.com/office/drawing/2014/main" id="{1498C38D-0BF6-5597-9D18-972AC8E34E1D}"/>
                </a:ext>
              </a:extLst>
            </p:cNvPr>
            <p:cNvCxnSpPr>
              <a:cxnSpLocks/>
            </p:cNvCxnSpPr>
            <p:nvPr/>
          </p:nvCxnSpPr>
          <p:spPr>
            <a:xfrm>
              <a:off x="6786000" y="3096000"/>
              <a:ext cx="0" cy="414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直接连接符 184">
              <a:extLst>
                <a:ext uri="{FF2B5EF4-FFF2-40B4-BE49-F238E27FC236}">
                  <a16:creationId xmlns:a16="http://schemas.microsoft.com/office/drawing/2014/main" id="{E3BE0063-1E9F-1089-18D2-B92EF2BFE77F}"/>
                </a:ext>
              </a:extLst>
            </p:cNvPr>
            <p:cNvCxnSpPr>
              <a:cxnSpLocks/>
            </p:cNvCxnSpPr>
            <p:nvPr/>
          </p:nvCxnSpPr>
          <p:spPr>
            <a:xfrm>
              <a:off x="7326000" y="3096000"/>
              <a:ext cx="0" cy="30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76" name="椭圆 175">
              <a:extLst>
                <a:ext uri="{FF2B5EF4-FFF2-40B4-BE49-F238E27FC236}">
                  <a16:creationId xmlns:a16="http://schemas.microsoft.com/office/drawing/2014/main" id="{422D3770-33E1-9472-3C47-281A5C892B14}"/>
                </a:ext>
              </a:extLst>
            </p:cNvPr>
            <p:cNvSpPr/>
            <p:nvPr/>
          </p:nvSpPr>
          <p:spPr>
            <a:xfrm>
              <a:off x="5652000" y="311400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201" name="直接连接符 200">
              <a:extLst>
                <a:ext uri="{FF2B5EF4-FFF2-40B4-BE49-F238E27FC236}">
                  <a16:creationId xmlns:a16="http://schemas.microsoft.com/office/drawing/2014/main" id="{362891FD-A539-C622-05FB-EB0828DBDAA8}"/>
                </a:ext>
              </a:extLst>
            </p:cNvPr>
            <p:cNvCxnSpPr>
              <a:cxnSpLocks/>
            </p:cNvCxnSpPr>
            <p:nvPr/>
          </p:nvCxnSpPr>
          <p:spPr>
            <a:xfrm flipH="1">
              <a:off x="3186000" y="3402000"/>
              <a:ext cx="25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直接连接符 237">
              <a:extLst>
                <a:ext uri="{FF2B5EF4-FFF2-40B4-BE49-F238E27FC236}">
                  <a16:creationId xmlns:a16="http://schemas.microsoft.com/office/drawing/2014/main" id="{7FE951F5-9AE9-63B6-87BB-2EC63F041BCD}"/>
                </a:ext>
              </a:extLst>
            </p:cNvPr>
            <p:cNvCxnSpPr>
              <a:cxnSpLocks/>
            </p:cNvCxnSpPr>
            <p:nvPr/>
          </p:nvCxnSpPr>
          <p:spPr>
            <a:xfrm flipH="1">
              <a:off x="5885999" y="3402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 name="直接连接符 241">
              <a:extLst>
                <a:ext uri="{FF2B5EF4-FFF2-40B4-BE49-F238E27FC236}">
                  <a16:creationId xmlns:a16="http://schemas.microsoft.com/office/drawing/2014/main" id="{846B384B-BA2D-D22E-7E56-10B8EA9CA0B0}"/>
                </a:ext>
              </a:extLst>
            </p:cNvPr>
            <p:cNvCxnSpPr>
              <a:cxnSpLocks/>
            </p:cNvCxnSpPr>
            <p:nvPr/>
          </p:nvCxnSpPr>
          <p:spPr>
            <a:xfrm flipH="1">
              <a:off x="6786000" y="3510000"/>
              <a:ext cx="18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6" name="直接连接符 245">
              <a:extLst>
                <a:ext uri="{FF2B5EF4-FFF2-40B4-BE49-F238E27FC236}">
                  <a16:creationId xmlns:a16="http://schemas.microsoft.com/office/drawing/2014/main" id="{9437B191-8738-2C88-52D4-C106230FD2DA}"/>
                </a:ext>
              </a:extLst>
            </p:cNvPr>
            <p:cNvCxnSpPr>
              <a:cxnSpLocks/>
            </p:cNvCxnSpPr>
            <p:nvPr/>
          </p:nvCxnSpPr>
          <p:spPr>
            <a:xfrm flipH="1">
              <a:off x="7326000" y="3402000"/>
              <a:ext cx="378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0" name="直接连接符 249">
              <a:extLst>
                <a:ext uri="{FF2B5EF4-FFF2-40B4-BE49-F238E27FC236}">
                  <a16:creationId xmlns:a16="http://schemas.microsoft.com/office/drawing/2014/main" id="{72C31CD0-0A16-FA62-9300-7DD47AACDED6}"/>
                </a:ext>
              </a:extLst>
            </p:cNvPr>
            <p:cNvCxnSpPr>
              <a:cxnSpLocks/>
            </p:cNvCxnSpPr>
            <p:nvPr/>
          </p:nvCxnSpPr>
          <p:spPr>
            <a:xfrm flipH="1">
              <a:off x="1296000" y="3672000"/>
              <a:ext cx="923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7" name="直接连接符 256">
              <a:extLst>
                <a:ext uri="{FF2B5EF4-FFF2-40B4-BE49-F238E27FC236}">
                  <a16:creationId xmlns:a16="http://schemas.microsoft.com/office/drawing/2014/main" id="{6C304EBD-65E0-ABAA-E9DD-17C1CCD5F405}"/>
                </a:ext>
              </a:extLst>
            </p:cNvPr>
            <p:cNvCxnSpPr>
              <a:cxnSpLocks/>
            </p:cNvCxnSpPr>
            <p:nvPr/>
          </p:nvCxnSpPr>
          <p:spPr>
            <a:xfrm flipH="1">
              <a:off x="1296000" y="4068000"/>
              <a:ext cx="8388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3" name="文本框 272">
                  <a:extLst>
                    <a:ext uri="{FF2B5EF4-FFF2-40B4-BE49-F238E27FC236}">
                      <a16:creationId xmlns:a16="http://schemas.microsoft.com/office/drawing/2014/main" id="{30495D21-8C79-C621-5722-C68588B7FD9C}"/>
                    </a:ext>
                  </a:extLst>
                </p:cNvPr>
                <p:cNvSpPr txBox="1"/>
                <p:nvPr/>
              </p:nvSpPr>
              <p:spPr>
                <a:xfrm>
                  <a:off x="252000" y="3888000"/>
                  <a:ext cx="1008000" cy="36000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kumimoji="1" lang="en-US" altLang="zh-CN" sz="20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000">
                                <a:solidFill>
                                  <a:schemeClr val="accent5">
                                    <a:lumMod val="75000"/>
                                  </a:schemeClr>
                                </a:solidFill>
                                <a:latin typeface="Cambria Math" panose="02040503050406030204" pitchFamily="18" charset="0"/>
                                <a:ea typeface="微软雅黑" panose="020B0503020204020204" pitchFamily="34" charset="-122"/>
                              </a:rPr>
                              <m:t>A</m:t>
                            </m:r>
                          </m:e>
                          <m:sub>
                            <m:r>
                              <a:rPr kumimoji="1" lang="en-US" altLang="zh-CN" sz="2000">
                                <a:solidFill>
                                  <a:schemeClr val="accent5">
                                    <a:lumMod val="75000"/>
                                  </a:schemeClr>
                                </a:solidFill>
                                <a:latin typeface="Cambria Math" panose="02040503050406030204" pitchFamily="18" charset="0"/>
                                <a:ea typeface="微软雅黑" panose="020B0503020204020204" pitchFamily="34" charset="-122"/>
                              </a:rPr>
                              <m:t>1</m:t>
                            </m:r>
                            <m: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t>2</m:t>
                            </m:r>
                          </m:sub>
                        </m:sSub>
                        <m: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000">
                                <a:solidFill>
                                  <a:schemeClr val="accent5">
                                    <a:lumMod val="75000"/>
                                  </a:schemeClr>
                                </a:solidFill>
                                <a:latin typeface="Cambria Math" panose="02040503050406030204" pitchFamily="18" charset="0"/>
                                <a:ea typeface="微软雅黑" panose="020B0503020204020204" pitchFamily="34" charset="-122"/>
                              </a:rPr>
                              <m:t>A</m:t>
                            </m:r>
                          </m:e>
                          <m:sub>
                            <m: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t>0</m:t>
                            </m:r>
                          </m:sub>
                        </m:sSub>
                      </m:oMath>
                    </m:oMathPara>
                  </a14:m>
                  <a:endParaRPr lang="zh-CN" altLang="en-US" sz="2000" dirty="0">
                    <a:solidFill>
                      <a:schemeClr val="accent5">
                        <a:lumMod val="75000"/>
                      </a:schemeClr>
                    </a:solidFill>
                  </a:endParaRPr>
                </a:p>
              </p:txBody>
            </p:sp>
          </mc:Choice>
          <mc:Fallback xmlns="">
            <p:sp>
              <p:nvSpPr>
                <p:cNvPr id="273" name="文本框 272">
                  <a:extLst>
                    <a:ext uri="{FF2B5EF4-FFF2-40B4-BE49-F238E27FC236}">
                      <a16:creationId xmlns:a16="http://schemas.microsoft.com/office/drawing/2014/main" id="{30495D21-8C79-C621-5722-C68588B7FD9C}"/>
                    </a:ext>
                  </a:extLst>
                </p:cNvPr>
                <p:cNvSpPr txBox="1">
                  <a:spLocks noRot="1" noChangeAspect="1" noMove="1" noResize="1" noEditPoints="1" noAdjustHandles="1" noChangeArrowheads="1" noChangeShapeType="1" noTextEdit="1"/>
                </p:cNvSpPr>
                <p:nvPr/>
              </p:nvSpPr>
              <p:spPr>
                <a:xfrm>
                  <a:off x="252000" y="3888000"/>
                  <a:ext cx="1008000" cy="360000"/>
                </a:xfrm>
                <a:prstGeom prst="rect">
                  <a:avLst/>
                </a:prstGeom>
                <a:blipFill>
                  <a:blip r:embed="rId11"/>
                  <a:stretch>
                    <a:fillRect b="-101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4" name="文本框 273">
                  <a:extLst>
                    <a:ext uri="{FF2B5EF4-FFF2-40B4-BE49-F238E27FC236}">
                      <a16:creationId xmlns:a16="http://schemas.microsoft.com/office/drawing/2014/main" id="{E064A975-90D5-410D-278C-D495514C6503}"/>
                    </a:ext>
                  </a:extLst>
                </p:cNvPr>
                <p:cNvSpPr txBox="1"/>
                <p:nvPr/>
              </p:nvSpPr>
              <p:spPr>
                <a:xfrm>
                  <a:off x="252000" y="3492000"/>
                  <a:ext cx="1008000" cy="360000"/>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acc>
                          <m:accPr>
                            <m:chr m:val="̅"/>
                            <m:ctrlPr>
                              <a:rPr kumimoji="1" lang="en-US" altLang="zh-CN" sz="2000" i="1" smtClean="0">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WE</m:t>
                            </m:r>
                          </m:e>
                        </m:acc>
                      </m:oMath>
                    </m:oMathPara>
                  </a14:m>
                  <a:endParaRPr lang="zh-CN" altLang="en-US" sz="2000" dirty="0">
                    <a:solidFill>
                      <a:schemeClr val="accent5">
                        <a:lumMod val="75000"/>
                      </a:schemeClr>
                    </a:solidFill>
                  </a:endParaRPr>
                </a:p>
              </p:txBody>
            </p:sp>
          </mc:Choice>
          <mc:Fallback xmlns="">
            <p:sp>
              <p:nvSpPr>
                <p:cNvPr id="274" name="文本框 273">
                  <a:extLst>
                    <a:ext uri="{FF2B5EF4-FFF2-40B4-BE49-F238E27FC236}">
                      <a16:creationId xmlns:a16="http://schemas.microsoft.com/office/drawing/2014/main" id="{E064A975-90D5-410D-278C-D495514C6503}"/>
                    </a:ext>
                  </a:extLst>
                </p:cNvPr>
                <p:cNvSpPr txBox="1">
                  <a:spLocks noRot="1" noChangeAspect="1" noMove="1" noResize="1" noEditPoints="1" noAdjustHandles="1" noChangeArrowheads="1" noChangeShapeType="1" noTextEdit="1"/>
                </p:cNvSpPr>
                <p:nvPr/>
              </p:nvSpPr>
              <p:spPr>
                <a:xfrm>
                  <a:off x="252000" y="3492000"/>
                  <a:ext cx="1008000" cy="360000"/>
                </a:xfrm>
                <a:prstGeom prst="rect">
                  <a:avLst/>
                </a:prstGeom>
                <a:blipFill>
                  <a:blip r:embed="rId12"/>
                  <a:stretch>
                    <a:fillRect r="-606" b="-3390"/>
                  </a:stretch>
                </a:blipFill>
              </p:spPr>
              <p:txBody>
                <a:bodyPr/>
                <a:lstStyle/>
                <a:p>
                  <a:r>
                    <a:rPr lang="zh-CN" altLang="en-US">
                      <a:noFill/>
                    </a:rPr>
                    <a:t> </a:t>
                  </a:r>
                </a:p>
              </p:txBody>
            </p:sp>
          </mc:Fallback>
        </mc:AlternateContent>
        <p:cxnSp>
          <p:nvCxnSpPr>
            <p:cNvPr id="279" name="直接连接符 278">
              <a:extLst>
                <a:ext uri="{FF2B5EF4-FFF2-40B4-BE49-F238E27FC236}">
                  <a16:creationId xmlns:a16="http://schemas.microsoft.com/office/drawing/2014/main" id="{A267404D-52C4-A979-5C43-BC58263E137B}"/>
                </a:ext>
              </a:extLst>
            </p:cNvPr>
            <p:cNvCxnSpPr>
              <a:cxnSpLocks/>
            </p:cNvCxnSpPr>
            <p:nvPr/>
          </p:nvCxnSpPr>
          <p:spPr>
            <a:xfrm flipH="1">
              <a:off x="2376000" y="5904000"/>
              <a:ext cx="7920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8" name="文本框 297">
                  <a:extLst>
                    <a:ext uri="{FF2B5EF4-FFF2-40B4-BE49-F238E27FC236}">
                      <a16:creationId xmlns:a16="http://schemas.microsoft.com/office/drawing/2014/main" id="{150066F2-6A76-90AF-CA60-08B4F985EBAA}"/>
                    </a:ext>
                  </a:extLst>
                </p:cNvPr>
                <p:cNvSpPr txBox="1"/>
                <p:nvPr/>
              </p:nvSpPr>
              <p:spPr>
                <a:xfrm>
                  <a:off x="5976000" y="6228000"/>
                  <a:ext cx="900000" cy="360000"/>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D</m:t>
                            </m:r>
                          </m:e>
                          <m:sub>
                            <m: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t>7</m:t>
                            </m:r>
                          </m:sub>
                        </m:sSub>
                        <m: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D</m:t>
                            </m:r>
                          </m:e>
                          <m:sub>
                            <m:r>
                              <a:rPr kumimoji="1" lang="en-US" altLang="zh-CN" sz="2000" i="1" smtClean="0">
                                <a:solidFill>
                                  <a:schemeClr val="accent5">
                                    <a:lumMod val="75000"/>
                                  </a:schemeClr>
                                </a:solidFill>
                                <a:latin typeface="Cambria Math" panose="02040503050406030204" pitchFamily="18" charset="0"/>
                                <a:ea typeface="微软雅黑" panose="020B0503020204020204" pitchFamily="34" charset="-122"/>
                              </a:rPr>
                              <m:t>0</m:t>
                            </m:r>
                          </m:sub>
                        </m:sSub>
                      </m:oMath>
                    </m:oMathPara>
                  </a14:m>
                  <a:endParaRPr lang="zh-CN" altLang="en-US" sz="2000" dirty="0">
                    <a:solidFill>
                      <a:schemeClr val="accent5">
                        <a:lumMod val="75000"/>
                      </a:schemeClr>
                    </a:solidFill>
                  </a:endParaRPr>
                </a:p>
              </p:txBody>
            </p:sp>
          </mc:Choice>
          <mc:Fallback xmlns="">
            <p:sp>
              <p:nvSpPr>
                <p:cNvPr id="298" name="文本框 297">
                  <a:extLst>
                    <a:ext uri="{FF2B5EF4-FFF2-40B4-BE49-F238E27FC236}">
                      <a16:creationId xmlns:a16="http://schemas.microsoft.com/office/drawing/2014/main" id="{150066F2-6A76-90AF-CA60-08B4F985EBAA}"/>
                    </a:ext>
                  </a:extLst>
                </p:cNvPr>
                <p:cNvSpPr txBox="1">
                  <a:spLocks noRot="1" noChangeAspect="1" noMove="1" noResize="1" noEditPoints="1" noAdjustHandles="1" noChangeArrowheads="1" noChangeShapeType="1" noTextEdit="1"/>
                </p:cNvSpPr>
                <p:nvPr/>
              </p:nvSpPr>
              <p:spPr>
                <a:xfrm>
                  <a:off x="5976000" y="6228000"/>
                  <a:ext cx="900000" cy="360000"/>
                </a:xfrm>
                <a:prstGeom prst="rect">
                  <a:avLst/>
                </a:prstGeom>
                <a:blipFill>
                  <a:blip r:embed="rId13"/>
                  <a:stretch>
                    <a:fillRect b="-10169"/>
                  </a:stretch>
                </a:blipFill>
              </p:spPr>
              <p:txBody>
                <a:bodyPr/>
                <a:lstStyle/>
                <a:p>
                  <a:r>
                    <a:rPr lang="zh-CN" altLang="en-US">
                      <a:noFill/>
                    </a:rPr>
                    <a:t> </a:t>
                  </a:r>
                </a:p>
              </p:txBody>
            </p:sp>
          </mc:Fallback>
        </mc:AlternateContent>
        <p:cxnSp>
          <p:nvCxnSpPr>
            <p:cNvPr id="299" name="直接连接符 298">
              <a:extLst>
                <a:ext uri="{FF2B5EF4-FFF2-40B4-BE49-F238E27FC236}">
                  <a16:creationId xmlns:a16="http://schemas.microsoft.com/office/drawing/2014/main" id="{249A48B6-2934-37D5-3200-5300AEAE0D0A}"/>
                </a:ext>
              </a:extLst>
            </p:cNvPr>
            <p:cNvCxnSpPr>
              <a:cxnSpLocks/>
            </p:cNvCxnSpPr>
            <p:nvPr/>
          </p:nvCxnSpPr>
          <p:spPr>
            <a:xfrm flipH="1">
              <a:off x="4824000" y="2232000"/>
              <a:ext cx="32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0" name="直接连接符 299">
              <a:extLst>
                <a:ext uri="{FF2B5EF4-FFF2-40B4-BE49-F238E27FC236}">
                  <a16:creationId xmlns:a16="http://schemas.microsoft.com/office/drawing/2014/main" id="{89836A57-B326-8647-F17D-2935EE067746}"/>
                </a:ext>
              </a:extLst>
            </p:cNvPr>
            <p:cNvCxnSpPr>
              <a:cxnSpLocks/>
            </p:cNvCxnSpPr>
            <p:nvPr/>
          </p:nvCxnSpPr>
          <p:spPr>
            <a:xfrm flipH="1">
              <a:off x="4823470" y="2593228"/>
              <a:ext cx="32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1" name="文本框 300">
                  <a:extLst>
                    <a:ext uri="{FF2B5EF4-FFF2-40B4-BE49-F238E27FC236}">
                      <a16:creationId xmlns:a16="http://schemas.microsoft.com/office/drawing/2014/main" id="{7E4150FD-290B-1C80-C624-A8996E59F456}"/>
                    </a:ext>
                  </a:extLst>
                </p:cNvPr>
                <p:cNvSpPr txBox="1"/>
                <p:nvPr/>
              </p:nvSpPr>
              <p:spPr>
                <a:xfrm>
                  <a:off x="4320000" y="2016000"/>
                  <a:ext cx="504000" cy="43200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kumimoji="1" lang="en-US" altLang="zh-CN" sz="20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000">
                                <a:solidFill>
                                  <a:schemeClr val="accent5">
                                    <a:lumMod val="75000"/>
                                  </a:schemeClr>
                                </a:solidFill>
                                <a:latin typeface="Cambria Math" panose="02040503050406030204" pitchFamily="18" charset="0"/>
                                <a:ea typeface="微软雅黑" panose="020B0503020204020204" pitchFamily="34" charset="-122"/>
                              </a:rPr>
                              <m:t>A</m:t>
                            </m:r>
                          </m:e>
                          <m:sub>
                            <m:r>
                              <a:rPr kumimoji="1" lang="en-US" altLang="zh-CN" sz="2000">
                                <a:solidFill>
                                  <a:schemeClr val="accent5">
                                    <a:lumMod val="75000"/>
                                  </a:schemeClr>
                                </a:solidFill>
                                <a:latin typeface="Cambria Math" panose="02040503050406030204" pitchFamily="18" charset="0"/>
                                <a:ea typeface="微软雅黑" panose="020B0503020204020204" pitchFamily="34" charset="-122"/>
                              </a:rPr>
                              <m:t>1</m:t>
                            </m:r>
                            <m: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4</m:t>
                            </m:r>
                          </m:sub>
                        </m:sSub>
                      </m:oMath>
                    </m:oMathPara>
                  </a14:m>
                  <a:endParaRPr lang="zh-CN" altLang="en-US" sz="2000" dirty="0">
                    <a:solidFill>
                      <a:schemeClr val="accent5">
                        <a:lumMod val="75000"/>
                      </a:schemeClr>
                    </a:solidFill>
                  </a:endParaRPr>
                </a:p>
              </p:txBody>
            </p:sp>
          </mc:Choice>
          <mc:Fallback xmlns="">
            <p:sp>
              <p:nvSpPr>
                <p:cNvPr id="301" name="文本框 300">
                  <a:extLst>
                    <a:ext uri="{FF2B5EF4-FFF2-40B4-BE49-F238E27FC236}">
                      <a16:creationId xmlns:a16="http://schemas.microsoft.com/office/drawing/2014/main" id="{7E4150FD-290B-1C80-C624-A8996E59F456}"/>
                    </a:ext>
                  </a:extLst>
                </p:cNvPr>
                <p:cNvSpPr txBox="1">
                  <a:spLocks noRot="1" noChangeAspect="1" noMove="1" noResize="1" noEditPoints="1" noAdjustHandles="1" noChangeArrowheads="1" noChangeShapeType="1" noTextEdit="1"/>
                </p:cNvSpPr>
                <p:nvPr/>
              </p:nvSpPr>
              <p:spPr>
                <a:xfrm>
                  <a:off x="4320000" y="2016000"/>
                  <a:ext cx="504000" cy="432000"/>
                </a:xfrm>
                <a:prstGeom prst="rect">
                  <a:avLst/>
                </a:prstGeom>
                <a:blipFill>
                  <a:blip r:embed="rId14"/>
                  <a:stretch>
                    <a:fillRect r="-24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2" name="文本框 301">
                  <a:extLst>
                    <a:ext uri="{FF2B5EF4-FFF2-40B4-BE49-F238E27FC236}">
                      <a16:creationId xmlns:a16="http://schemas.microsoft.com/office/drawing/2014/main" id="{BFC0D58D-7A7E-25A8-9CDB-D714F4AE700E}"/>
                    </a:ext>
                  </a:extLst>
                </p:cNvPr>
                <p:cNvSpPr txBox="1"/>
                <p:nvPr/>
              </p:nvSpPr>
              <p:spPr>
                <a:xfrm>
                  <a:off x="4320000" y="2376000"/>
                  <a:ext cx="504000" cy="43200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kumimoji="1" lang="en-US" altLang="zh-CN" sz="20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000">
                                <a:solidFill>
                                  <a:schemeClr val="accent5">
                                    <a:lumMod val="75000"/>
                                  </a:schemeClr>
                                </a:solidFill>
                                <a:latin typeface="Cambria Math" panose="02040503050406030204" pitchFamily="18" charset="0"/>
                                <a:ea typeface="微软雅黑" panose="020B0503020204020204" pitchFamily="34" charset="-122"/>
                              </a:rPr>
                              <m:t>A</m:t>
                            </m:r>
                          </m:e>
                          <m:sub>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13</m:t>
                            </m:r>
                          </m:sub>
                        </m:sSub>
                      </m:oMath>
                    </m:oMathPara>
                  </a14:m>
                  <a:endParaRPr lang="zh-CN" altLang="en-US" sz="2000" dirty="0">
                    <a:solidFill>
                      <a:schemeClr val="accent5">
                        <a:lumMod val="75000"/>
                      </a:schemeClr>
                    </a:solidFill>
                  </a:endParaRPr>
                </a:p>
              </p:txBody>
            </p:sp>
          </mc:Choice>
          <mc:Fallback xmlns="">
            <p:sp>
              <p:nvSpPr>
                <p:cNvPr id="302" name="文本框 301">
                  <a:extLst>
                    <a:ext uri="{FF2B5EF4-FFF2-40B4-BE49-F238E27FC236}">
                      <a16:creationId xmlns:a16="http://schemas.microsoft.com/office/drawing/2014/main" id="{BFC0D58D-7A7E-25A8-9CDB-D714F4AE700E}"/>
                    </a:ext>
                  </a:extLst>
                </p:cNvPr>
                <p:cNvSpPr txBox="1">
                  <a:spLocks noRot="1" noChangeAspect="1" noMove="1" noResize="1" noEditPoints="1" noAdjustHandles="1" noChangeArrowheads="1" noChangeShapeType="1" noTextEdit="1"/>
                </p:cNvSpPr>
                <p:nvPr/>
              </p:nvSpPr>
              <p:spPr>
                <a:xfrm>
                  <a:off x="4320000" y="2376000"/>
                  <a:ext cx="504000" cy="432000"/>
                </a:xfrm>
                <a:prstGeom prst="rect">
                  <a:avLst/>
                </a:prstGeom>
                <a:blipFill>
                  <a:blip r:embed="rId15"/>
                  <a:stretch>
                    <a:fillRect r="-2410"/>
                  </a:stretch>
                </a:blipFill>
              </p:spPr>
              <p:txBody>
                <a:bodyPr/>
                <a:lstStyle/>
                <a:p>
                  <a:r>
                    <a:rPr lang="zh-CN" altLang="en-US">
                      <a:noFill/>
                    </a:rPr>
                    <a:t> </a:t>
                  </a:r>
                </a:p>
              </p:txBody>
            </p:sp>
          </mc:Fallback>
        </mc:AlternateContent>
        <p:cxnSp>
          <p:nvCxnSpPr>
            <p:cNvPr id="304" name="直接连接符 303">
              <a:extLst>
                <a:ext uri="{FF2B5EF4-FFF2-40B4-BE49-F238E27FC236}">
                  <a16:creationId xmlns:a16="http://schemas.microsoft.com/office/drawing/2014/main" id="{C903D27A-9C6C-3B3F-BB62-DB3FA0CD9D39}"/>
                </a:ext>
              </a:extLst>
            </p:cNvPr>
            <p:cNvCxnSpPr>
              <a:cxnSpLocks/>
            </p:cNvCxnSpPr>
            <p:nvPr/>
          </p:nvCxnSpPr>
          <p:spPr>
            <a:xfrm flipH="1">
              <a:off x="7884000" y="2358000"/>
              <a:ext cx="28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03" name="椭圆 302">
              <a:extLst>
                <a:ext uri="{FF2B5EF4-FFF2-40B4-BE49-F238E27FC236}">
                  <a16:creationId xmlns:a16="http://schemas.microsoft.com/office/drawing/2014/main" id="{743672A7-781A-07FB-B36F-92696CA6C7AE}"/>
                </a:ext>
              </a:extLst>
            </p:cNvPr>
            <p:cNvSpPr/>
            <p:nvPr/>
          </p:nvSpPr>
          <p:spPr>
            <a:xfrm>
              <a:off x="7902000" y="230400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307" name="直接连接符 306">
              <a:extLst>
                <a:ext uri="{FF2B5EF4-FFF2-40B4-BE49-F238E27FC236}">
                  <a16:creationId xmlns:a16="http://schemas.microsoft.com/office/drawing/2014/main" id="{8B75DA74-7BBB-F6EA-A643-086B1E434A0C}"/>
                </a:ext>
              </a:extLst>
            </p:cNvPr>
            <p:cNvCxnSpPr>
              <a:cxnSpLocks/>
            </p:cNvCxnSpPr>
            <p:nvPr/>
          </p:nvCxnSpPr>
          <p:spPr>
            <a:xfrm>
              <a:off x="8172000" y="23580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 name="直接连接符 307">
              <a:extLst>
                <a:ext uri="{FF2B5EF4-FFF2-40B4-BE49-F238E27FC236}">
                  <a16:creationId xmlns:a16="http://schemas.microsoft.com/office/drawing/2014/main" id="{5D5ED542-2DAC-129D-6A31-66035B1ED8FD}"/>
                </a:ext>
              </a:extLst>
            </p:cNvPr>
            <p:cNvCxnSpPr>
              <a:cxnSpLocks/>
            </p:cNvCxnSpPr>
            <p:nvPr/>
          </p:nvCxnSpPr>
          <p:spPr>
            <a:xfrm flipH="1">
              <a:off x="8028000" y="2664000"/>
              <a:ext cx="288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椭圆 9">
              <a:extLst>
                <a:ext uri="{FF2B5EF4-FFF2-40B4-BE49-F238E27FC236}">
                  <a16:creationId xmlns:a16="http://schemas.microsoft.com/office/drawing/2014/main" id="{E5F51496-EC60-2535-96B7-C2C609C924E0}"/>
                </a:ext>
              </a:extLst>
            </p:cNvPr>
            <p:cNvSpPr/>
            <p:nvPr/>
          </p:nvSpPr>
          <p:spPr>
            <a:xfrm>
              <a:off x="6192000" y="311400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6E5DC3AD-332D-B9EC-18FC-A6EBCC01ED78}"/>
                </a:ext>
              </a:extLst>
            </p:cNvPr>
            <p:cNvSpPr/>
            <p:nvPr/>
          </p:nvSpPr>
          <p:spPr>
            <a:xfrm>
              <a:off x="6732000" y="311400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CACF94E1-B0BB-EECA-A26C-843602028D26}"/>
                </a:ext>
              </a:extLst>
            </p:cNvPr>
            <p:cNvSpPr/>
            <p:nvPr/>
          </p:nvSpPr>
          <p:spPr>
            <a:xfrm>
              <a:off x="7272000" y="311400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41" name="矩形 140">
                  <a:extLst>
                    <a:ext uri="{FF2B5EF4-FFF2-40B4-BE49-F238E27FC236}">
                      <a16:creationId xmlns:a16="http://schemas.microsoft.com/office/drawing/2014/main" id="{2BE6AA34-8571-E992-39D9-1124FA43FF57}"/>
                    </a:ext>
                  </a:extLst>
                </p:cNvPr>
                <p:cNvSpPr/>
                <p:nvPr/>
              </p:nvSpPr>
              <p:spPr>
                <a:xfrm>
                  <a:off x="1296000" y="4464000"/>
                  <a:ext cx="2160000" cy="1080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r"/>
                  <a:r>
                    <a:rPr lang="en-US" altLang="zh-CN" sz="1600" dirty="0">
                      <a:solidFill>
                        <a:srgbClr val="7030A0"/>
                      </a:solidFill>
                      <a:latin typeface="微软雅黑" panose="020B0503020204020204" pitchFamily="34" charset="-122"/>
                      <a:ea typeface="微软雅黑" panose="020B0503020204020204" pitchFamily="34" charset="-122"/>
                    </a:rPr>
                    <a:t>        8K </a:t>
                  </a:r>
                  <a14:m>
                    <m:oMath xmlns:m="http://schemas.openxmlformats.org/officeDocument/2006/math">
                      <m:r>
                        <a:rPr kumimoji="1" lang="en-US" altLang="zh-CN" sz="1600" i="1">
                          <a:solidFill>
                            <a:srgbClr val="7030A0"/>
                          </a:solidFill>
                          <a:latin typeface="Cambria Math" panose="02040503050406030204" pitchFamily="18" charset="0"/>
                          <a:ea typeface="Cambria Math" panose="02040503050406030204" pitchFamily="18" charset="0"/>
                        </a:rPr>
                        <m:t>×</m:t>
                      </m:r>
                    </m:oMath>
                  </a14:m>
                  <a:r>
                    <a:rPr lang="en-US" altLang="zh-CN" sz="1600" dirty="0">
                      <a:solidFill>
                        <a:srgbClr val="7030A0"/>
                      </a:solidFill>
                      <a:latin typeface="微软雅黑" panose="020B0503020204020204" pitchFamily="34" charset="-122"/>
                      <a:ea typeface="微软雅黑" panose="020B0503020204020204" pitchFamily="34" charset="-122"/>
                    </a:rPr>
                    <a:t> 8 </a:t>
                  </a:r>
                  <a:r>
                    <a:rPr lang="zh-CN" altLang="en-US" sz="1600" dirty="0">
                      <a:solidFill>
                        <a:srgbClr val="7030A0"/>
                      </a:solidFill>
                      <a:latin typeface="微软雅黑" panose="020B0503020204020204" pitchFamily="34" charset="-122"/>
                      <a:ea typeface="微软雅黑" panose="020B0503020204020204" pitchFamily="34" charset="-122"/>
                    </a:rPr>
                    <a:t>位（</a:t>
                  </a:r>
                  <a:r>
                    <a:rPr lang="en-US" altLang="zh-CN" sz="1600" dirty="0">
                      <a:solidFill>
                        <a:srgbClr val="7030A0"/>
                      </a:solidFill>
                      <a:latin typeface="微软雅黑" panose="020B0503020204020204" pitchFamily="34" charset="-122"/>
                      <a:ea typeface="微软雅黑" panose="020B0503020204020204" pitchFamily="34" charset="-122"/>
                    </a:rPr>
                    <a:t>3</a:t>
                  </a:r>
                  <a:r>
                    <a:rPr lang="zh-CN" altLang="en-US" sz="1600" dirty="0">
                      <a:solidFill>
                        <a:srgbClr val="7030A0"/>
                      </a:solidFill>
                      <a:latin typeface="微软雅黑" panose="020B0503020204020204" pitchFamily="34" charset="-122"/>
                      <a:ea typeface="微软雅黑" panose="020B0503020204020204" pitchFamily="34" charset="-122"/>
                    </a:rPr>
                    <a:t>）</a:t>
                  </a:r>
                </a:p>
              </p:txBody>
            </p:sp>
          </mc:Choice>
          <mc:Fallback xmlns="">
            <p:sp>
              <p:nvSpPr>
                <p:cNvPr id="141" name="矩形 140">
                  <a:extLst>
                    <a:ext uri="{FF2B5EF4-FFF2-40B4-BE49-F238E27FC236}">
                      <a16:creationId xmlns:a16="http://schemas.microsoft.com/office/drawing/2014/main" id="{2BE6AA34-8571-E992-39D9-1124FA43FF57}"/>
                    </a:ext>
                  </a:extLst>
                </p:cNvPr>
                <p:cNvSpPr>
                  <a:spLocks noRot="1" noChangeAspect="1" noMove="1" noResize="1" noEditPoints="1" noAdjustHandles="1" noChangeArrowheads="1" noChangeShapeType="1" noTextEdit="1"/>
                </p:cNvSpPr>
                <p:nvPr/>
              </p:nvSpPr>
              <p:spPr>
                <a:xfrm>
                  <a:off x="1296000" y="4464000"/>
                  <a:ext cx="2160000" cy="1080000"/>
                </a:xfrm>
                <a:prstGeom prst="rect">
                  <a:avLst/>
                </a:prstGeom>
                <a:blipFill>
                  <a:blip r:embed="rId16"/>
                  <a:stretch>
                    <a:fillRect r="-836"/>
                  </a:stretch>
                </a:blipFill>
                <a:ln w="25400"/>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5" name="文本框 104">
                  <a:extLst>
                    <a:ext uri="{FF2B5EF4-FFF2-40B4-BE49-F238E27FC236}">
                      <a16:creationId xmlns:a16="http://schemas.microsoft.com/office/drawing/2014/main" id="{9FE1FD92-1D64-2BAB-3E2B-030825BEFBC1}"/>
                    </a:ext>
                  </a:extLst>
                </p:cNvPr>
                <p:cNvSpPr txBox="1"/>
                <p:nvPr/>
              </p:nvSpPr>
              <p:spPr>
                <a:xfrm>
                  <a:off x="1260000" y="4428000"/>
                  <a:ext cx="972000" cy="36000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kumimoji="1" lang="en-US" altLang="zh-CN" sz="2000" i="1" smtClean="0">
                                <a:latin typeface="Cambria Math" panose="02040503050406030204" pitchFamily="18" charset="0"/>
                                <a:ea typeface="微软雅黑" panose="020B0503020204020204" pitchFamily="34" charset="-122"/>
                              </a:rPr>
                            </m:ctrlPr>
                          </m:sSubPr>
                          <m:e>
                            <m:r>
                              <m:rPr>
                                <m:sty m:val="p"/>
                              </m:rPr>
                              <a:rPr kumimoji="1" lang="en-US" altLang="zh-CN" sz="2000">
                                <a:latin typeface="Cambria Math" panose="02040503050406030204" pitchFamily="18" charset="0"/>
                                <a:ea typeface="微软雅黑" panose="020B0503020204020204" pitchFamily="34" charset="-122"/>
                              </a:rPr>
                              <m:t>A</m:t>
                            </m:r>
                          </m:e>
                          <m:sub>
                            <m:r>
                              <a:rPr kumimoji="1" lang="en-US" altLang="zh-CN" sz="2000">
                                <a:latin typeface="Cambria Math" panose="02040503050406030204" pitchFamily="18" charset="0"/>
                                <a:ea typeface="微软雅黑" panose="020B0503020204020204" pitchFamily="34" charset="-122"/>
                              </a:rPr>
                              <m:t>1</m:t>
                            </m:r>
                            <m:r>
                              <a:rPr kumimoji="1" lang="en-US" altLang="zh-CN" sz="2000" i="1">
                                <a:latin typeface="Cambria Math" panose="02040503050406030204" pitchFamily="18" charset="0"/>
                                <a:ea typeface="微软雅黑" panose="020B0503020204020204" pitchFamily="34" charset="-122"/>
                              </a:rPr>
                              <m:t>2</m:t>
                            </m:r>
                          </m:sub>
                        </m:sSub>
                        <m:r>
                          <a:rPr kumimoji="1" lang="en-US" altLang="zh-CN" sz="2000" i="1">
                            <a:latin typeface="Cambria Math" panose="02040503050406030204" pitchFamily="18" charset="0"/>
                            <a:ea typeface="微软雅黑" panose="020B0503020204020204" pitchFamily="34" charset="-122"/>
                          </a:rPr>
                          <m:t>~</m:t>
                        </m:r>
                        <m:sSub>
                          <m:sSubPr>
                            <m:ctrlPr>
                              <a:rPr kumimoji="1" lang="en-US" altLang="zh-CN" sz="2000" i="1">
                                <a:latin typeface="Cambria Math" panose="02040503050406030204" pitchFamily="18" charset="0"/>
                                <a:ea typeface="微软雅黑" panose="020B0503020204020204" pitchFamily="34" charset="-122"/>
                              </a:rPr>
                            </m:ctrlPr>
                          </m:sSubPr>
                          <m:e>
                            <m:r>
                              <m:rPr>
                                <m:sty m:val="p"/>
                              </m:rPr>
                              <a:rPr kumimoji="1" lang="en-US" altLang="zh-CN" sz="2000">
                                <a:latin typeface="Cambria Math" panose="02040503050406030204" pitchFamily="18" charset="0"/>
                                <a:ea typeface="微软雅黑" panose="020B0503020204020204" pitchFamily="34" charset="-122"/>
                              </a:rPr>
                              <m:t>A</m:t>
                            </m:r>
                          </m:e>
                          <m:sub>
                            <m:r>
                              <a:rPr kumimoji="1" lang="en-US" altLang="zh-CN" sz="2000" i="1">
                                <a:latin typeface="Cambria Math" panose="02040503050406030204" pitchFamily="18" charset="0"/>
                                <a:ea typeface="微软雅黑" panose="020B0503020204020204" pitchFamily="34" charset="-122"/>
                              </a:rPr>
                              <m:t>0</m:t>
                            </m:r>
                          </m:sub>
                        </m:sSub>
                      </m:oMath>
                    </m:oMathPara>
                  </a14:m>
                  <a:endParaRPr lang="zh-CN" altLang="en-US" sz="2000" dirty="0">
                    <a:solidFill>
                      <a:schemeClr val="tx1"/>
                    </a:solidFill>
                  </a:endParaRPr>
                </a:p>
              </p:txBody>
            </p:sp>
          </mc:Choice>
          <mc:Fallback xmlns="">
            <p:sp>
              <p:nvSpPr>
                <p:cNvPr id="105" name="文本框 104">
                  <a:extLst>
                    <a:ext uri="{FF2B5EF4-FFF2-40B4-BE49-F238E27FC236}">
                      <a16:creationId xmlns:a16="http://schemas.microsoft.com/office/drawing/2014/main" id="{9FE1FD92-1D64-2BAB-3E2B-030825BEFBC1}"/>
                    </a:ext>
                  </a:extLst>
                </p:cNvPr>
                <p:cNvSpPr txBox="1">
                  <a:spLocks noRot="1" noChangeAspect="1" noMove="1" noResize="1" noEditPoints="1" noAdjustHandles="1" noChangeArrowheads="1" noChangeShapeType="1" noTextEdit="1"/>
                </p:cNvSpPr>
                <p:nvPr/>
              </p:nvSpPr>
              <p:spPr>
                <a:xfrm>
                  <a:off x="1260000" y="4428000"/>
                  <a:ext cx="972000" cy="360000"/>
                </a:xfrm>
                <a:prstGeom prst="rect">
                  <a:avLst/>
                </a:prstGeom>
                <a:blipFill>
                  <a:blip r:embed="rId17"/>
                  <a:stretch>
                    <a:fillRect r="-1250" b="-118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2" name="文本框 141">
                  <a:extLst>
                    <a:ext uri="{FF2B5EF4-FFF2-40B4-BE49-F238E27FC236}">
                      <a16:creationId xmlns:a16="http://schemas.microsoft.com/office/drawing/2014/main" id="{4E3D253A-9D75-9596-9743-235D4CD9A132}"/>
                    </a:ext>
                  </a:extLst>
                </p:cNvPr>
                <p:cNvSpPr txBox="1"/>
                <p:nvPr/>
              </p:nvSpPr>
              <p:spPr>
                <a:xfrm>
                  <a:off x="2967880" y="4428000"/>
                  <a:ext cx="432000" cy="360000"/>
                </a:xfrm>
                <a:prstGeom prst="rect">
                  <a:avLst/>
                </a:prstGeom>
                <a:noFill/>
              </p:spPr>
              <p:txBody>
                <a:bodyPr wrap="square">
                  <a:spAutoFit/>
                </a:bodyPr>
                <a:lstStyle/>
                <a:p>
                  <a14:m>
                    <m:oMath xmlns:m="http://schemas.openxmlformats.org/officeDocument/2006/math">
                      <m:r>
                        <m:rPr>
                          <m:sty m:val="p"/>
                        </m:rPr>
                        <a:rPr kumimoji="1" lang="en-US" altLang="zh-CN" sz="2000">
                          <a:latin typeface="Cambria Math" panose="02040503050406030204" pitchFamily="18" charset="0"/>
                          <a:ea typeface="微软雅黑" panose="020B0503020204020204" pitchFamily="34" charset="-122"/>
                        </a:rPr>
                        <m:t>C</m:t>
                      </m:r>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E</m:t>
                      </m:r>
                    </m:oMath>
                  </a14:m>
                  <a:r>
                    <a:rPr kumimoji="1" lang="en-US" altLang="zh-CN" sz="2000" dirty="0">
                      <a:solidFill>
                        <a:schemeClr val="tx1"/>
                      </a:solidFill>
                      <a:latin typeface="微软雅黑" panose="020B0503020204020204" pitchFamily="34" charset="-122"/>
                      <a:ea typeface="微软雅黑" panose="020B0503020204020204" pitchFamily="34" charset="-122"/>
                    </a:rPr>
                    <a:t> </a:t>
                  </a:r>
                  <a:endParaRPr lang="zh-CN" altLang="en-US" sz="2000" dirty="0">
                    <a:solidFill>
                      <a:schemeClr val="tx1"/>
                    </a:solidFill>
                  </a:endParaRPr>
                </a:p>
              </p:txBody>
            </p:sp>
          </mc:Choice>
          <mc:Fallback xmlns="">
            <p:sp>
              <p:nvSpPr>
                <p:cNvPr id="142" name="文本框 141">
                  <a:extLst>
                    <a:ext uri="{FF2B5EF4-FFF2-40B4-BE49-F238E27FC236}">
                      <a16:creationId xmlns:a16="http://schemas.microsoft.com/office/drawing/2014/main" id="{4E3D253A-9D75-9596-9743-235D4CD9A132}"/>
                    </a:ext>
                  </a:extLst>
                </p:cNvPr>
                <p:cNvSpPr txBox="1">
                  <a:spLocks noRot="1" noChangeAspect="1" noMove="1" noResize="1" noEditPoints="1" noAdjustHandles="1" noChangeArrowheads="1" noChangeShapeType="1" noTextEdit="1"/>
                </p:cNvSpPr>
                <p:nvPr/>
              </p:nvSpPr>
              <p:spPr>
                <a:xfrm>
                  <a:off x="2967880" y="4428000"/>
                  <a:ext cx="432000" cy="360000"/>
                </a:xfrm>
                <a:prstGeom prst="rect">
                  <a:avLst/>
                </a:prstGeom>
                <a:blipFill>
                  <a:blip r:embed="rId18"/>
                  <a:stretch>
                    <a:fillRect r="-10000" b="-33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3" name="文本框 142">
                  <a:extLst>
                    <a:ext uri="{FF2B5EF4-FFF2-40B4-BE49-F238E27FC236}">
                      <a16:creationId xmlns:a16="http://schemas.microsoft.com/office/drawing/2014/main" id="{939F708C-5B70-B321-3422-2CB6293958C2}"/>
                    </a:ext>
                  </a:extLst>
                </p:cNvPr>
                <p:cNvSpPr txBox="1"/>
                <p:nvPr/>
              </p:nvSpPr>
              <p:spPr>
                <a:xfrm>
                  <a:off x="2340000" y="4428000"/>
                  <a:ext cx="540000" cy="36000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kumimoji="1" lang="en-US" altLang="zh-CN" sz="2000">
                            <a:latin typeface="Cambria Math" panose="02040503050406030204" pitchFamily="18" charset="0"/>
                            <a:ea typeface="微软雅黑" panose="020B0503020204020204" pitchFamily="34" charset="-122"/>
                          </a:rPr>
                          <m:t>WE</m:t>
                        </m:r>
                      </m:oMath>
                    </m:oMathPara>
                  </a14:m>
                  <a:endParaRPr lang="zh-CN" altLang="en-US" sz="2000" dirty="0">
                    <a:solidFill>
                      <a:schemeClr val="tx1"/>
                    </a:solidFill>
                  </a:endParaRPr>
                </a:p>
              </p:txBody>
            </p:sp>
          </mc:Choice>
          <mc:Fallback xmlns="">
            <p:sp>
              <p:nvSpPr>
                <p:cNvPr id="143" name="文本框 142">
                  <a:extLst>
                    <a:ext uri="{FF2B5EF4-FFF2-40B4-BE49-F238E27FC236}">
                      <a16:creationId xmlns:a16="http://schemas.microsoft.com/office/drawing/2014/main" id="{939F708C-5B70-B321-3422-2CB6293958C2}"/>
                    </a:ext>
                  </a:extLst>
                </p:cNvPr>
                <p:cNvSpPr txBox="1">
                  <a:spLocks noRot="1" noChangeAspect="1" noMove="1" noResize="1" noEditPoints="1" noAdjustHandles="1" noChangeArrowheads="1" noChangeShapeType="1" noTextEdit="1"/>
                </p:cNvSpPr>
                <p:nvPr/>
              </p:nvSpPr>
              <p:spPr>
                <a:xfrm>
                  <a:off x="2340000" y="4428000"/>
                  <a:ext cx="540000" cy="360000"/>
                </a:xfrm>
                <a:prstGeom prst="rect">
                  <a:avLst/>
                </a:prstGeom>
                <a:blipFill>
                  <a:blip r:embed="rId19"/>
                  <a:stretch>
                    <a:fillRect r="-4545" b="-33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4" name="文本框 143">
                  <a:extLst>
                    <a:ext uri="{FF2B5EF4-FFF2-40B4-BE49-F238E27FC236}">
                      <a16:creationId xmlns:a16="http://schemas.microsoft.com/office/drawing/2014/main" id="{CD1C69D7-6802-E6D3-75B6-437F16837BDB}"/>
                    </a:ext>
                  </a:extLst>
                </p:cNvPr>
                <p:cNvSpPr txBox="1"/>
                <p:nvPr/>
              </p:nvSpPr>
              <p:spPr>
                <a:xfrm>
                  <a:off x="1944000" y="5148000"/>
                  <a:ext cx="864000" cy="400110"/>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D</m:t>
                            </m:r>
                          </m:e>
                          <m:sub>
                            <m:r>
                              <a:rPr kumimoji="1" lang="en-US" altLang="zh-CN" sz="2000" i="1">
                                <a:latin typeface="Cambria Math" panose="02040503050406030204" pitchFamily="18" charset="0"/>
                                <a:ea typeface="微软雅黑" panose="020B0503020204020204" pitchFamily="34" charset="-122"/>
                              </a:rPr>
                              <m:t>7</m:t>
                            </m:r>
                          </m:sub>
                        </m:sSub>
                        <m:r>
                          <a:rPr kumimoji="1" lang="en-US" altLang="zh-CN" sz="2000" i="1">
                            <a:latin typeface="Cambria Math" panose="02040503050406030204" pitchFamily="18" charset="0"/>
                            <a:ea typeface="微软雅黑" panose="020B0503020204020204" pitchFamily="34" charset="-122"/>
                          </a:rPr>
                          <m:t>~</m:t>
                        </m:r>
                        <m:sSub>
                          <m:sSubPr>
                            <m:ctrlPr>
                              <a:rPr kumimoji="1" lang="en-US" altLang="zh-CN" sz="2000" i="1">
                                <a:latin typeface="Cambria Math" panose="02040503050406030204" pitchFamily="18" charset="0"/>
                                <a:ea typeface="微软雅黑" panose="020B0503020204020204" pitchFamily="34" charset="-122"/>
                              </a:rPr>
                            </m:ctrlPr>
                          </m:sSubPr>
                          <m:e>
                            <m:r>
                              <m:rPr>
                                <m:sty m:val="p"/>
                              </m:rPr>
                              <a:rPr kumimoji="1" lang="en-US" altLang="zh-CN" sz="2000" b="0" i="0" smtClean="0">
                                <a:latin typeface="Cambria Math" panose="02040503050406030204" pitchFamily="18" charset="0"/>
                                <a:ea typeface="微软雅黑" panose="020B0503020204020204" pitchFamily="34" charset="-122"/>
                              </a:rPr>
                              <m:t>D</m:t>
                            </m:r>
                          </m:e>
                          <m:sub>
                            <m:r>
                              <a:rPr kumimoji="1" lang="en-US" altLang="zh-CN" sz="2000" i="1" smtClean="0">
                                <a:latin typeface="Cambria Math" panose="02040503050406030204" pitchFamily="18" charset="0"/>
                                <a:ea typeface="微软雅黑" panose="020B0503020204020204" pitchFamily="34" charset="-122"/>
                              </a:rPr>
                              <m:t>0</m:t>
                            </m:r>
                          </m:sub>
                        </m:sSub>
                      </m:oMath>
                    </m:oMathPara>
                  </a14:m>
                  <a:endParaRPr lang="zh-CN" altLang="en-US" sz="2000" dirty="0">
                    <a:solidFill>
                      <a:schemeClr val="tx1"/>
                    </a:solidFill>
                  </a:endParaRPr>
                </a:p>
              </p:txBody>
            </p:sp>
          </mc:Choice>
          <mc:Fallback xmlns="">
            <p:sp>
              <p:nvSpPr>
                <p:cNvPr id="144" name="文本框 143">
                  <a:extLst>
                    <a:ext uri="{FF2B5EF4-FFF2-40B4-BE49-F238E27FC236}">
                      <a16:creationId xmlns:a16="http://schemas.microsoft.com/office/drawing/2014/main" id="{CD1C69D7-6802-E6D3-75B6-437F16837BDB}"/>
                    </a:ext>
                  </a:extLst>
                </p:cNvPr>
                <p:cNvSpPr txBox="1">
                  <a:spLocks noRot="1" noChangeAspect="1" noMove="1" noResize="1" noEditPoints="1" noAdjustHandles="1" noChangeArrowheads="1" noChangeShapeType="1" noTextEdit="1"/>
                </p:cNvSpPr>
                <p:nvPr/>
              </p:nvSpPr>
              <p:spPr>
                <a:xfrm>
                  <a:off x="1944000" y="5148000"/>
                  <a:ext cx="864000" cy="400110"/>
                </a:xfrm>
                <a:prstGeom prst="rect">
                  <a:avLst/>
                </a:prstGeom>
                <a:blipFill>
                  <a:blip r:embed="rId20"/>
                  <a:stretch>
                    <a:fillRect r="-4255"/>
                  </a:stretch>
                </a:blipFill>
              </p:spPr>
              <p:txBody>
                <a:bodyPr/>
                <a:lstStyle/>
                <a:p>
                  <a:r>
                    <a:rPr lang="zh-CN" altLang="en-US">
                      <a:noFill/>
                    </a:rPr>
                    <a:t> </a:t>
                  </a:r>
                </a:p>
              </p:txBody>
            </p:sp>
          </mc:Fallback>
        </mc:AlternateContent>
        <p:cxnSp>
          <p:nvCxnSpPr>
            <p:cNvPr id="207" name="直接连接符 206">
              <a:extLst>
                <a:ext uri="{FF2B5EF4-FFF2-40B4-BE49-F238E27FC236}">
                  <a16:creationId xmlns:a16="http://schemas.microsoft.com/office/drawing/2014/main" id="{2898F422-69EB-6364-6DA3-59634E95FAA0}"/>
                </a:ext>
              </a:extLst>
            </p:cNvPr>
            <p:cNvCxnSpPr>
              <a:cxnSpLocks/>
            </p:cNvCxnSpPr>
            <p:nvPr/>
          </p:nvCxnSpPr>
          <p:spPr>
            <a:xfrm>
              <a:off x="2610000" y="3672000"/>
              <a:ext cx="0" cy="75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直接连接符 207">
              <a:extLst>
                <a:ext uri="{FF2B5EF4-FFF2-40B4-BE49-F238E27FC236}">
                  <a16:creationId xmlns:a16="http://schemas.microsoft.com/office/drawing/2014/main" id="{ED3D006B-FBDC-AD76-DB82-542AFC280042}"/>
                </a:ext>
              </a:extLst>
            </p:cNvPr>
            <p:cNvCxnSpPr>
              <a:cxnSpLocks/>
            </p:cNvCxnSpPr>
            <p:nvPr/>
          </p:nvCxnSpPr>
          <p:spPr>
            <a:xfrm>
              <a:off x="3186000" y="3402000"/>
              <a:ext cx="0" cy="10269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3" name="椭圆 202">
              <a:extLst>
                <a:ext uri="{FF2B5EF4-FFF2-40B4-BE49-F238E27FC236}">
                  <a16:creationId xmlns:a16="http://schemas.microsoft.com/office/drawing/2014/main" id="{DE14C2F2-BD7C-782E-6205-9D53F5583174}"/>
                </a:ext>
              </a:extLst>
            </p:cNvPr>
            <p:cNvSpPr/>
            <p:nvPr/>
          </p:nvSpPr>
          <p:spPr>
            <a:xfrm>
              <a:off x="2556000" y="433800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04" name="椭圆 203">
              <a:extLst>
                <a:ext uri="{FF2B5EF4-FFF2-40B4-BE49-F238E27FC236}">
                  <a16:creationId xmlns:a16="http://schemas.microsoft.com/office/drawing/2014/main" id="{B9CBE375-7BD9-A2E1-66A2-C6F52DA9B4A1}"/>
                </a:ext>
              </a:extLst>
            </p:cNvPr>
            <p:cNvSpPr/>
            <p:nvPr/>
          </p:nvSpPr>
          <p:spPr>
            <a:xfrm>
              <a:off x="3130862" y="433800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258" name="直接连接符 257">
              <a:extLst>
                <a:ext uri="{FF2B5EF4-FFF2-40B4-BE49-F238E27FC236}">
                  <a16:creationId xmlns:a16="http://schemas.microsoft.com/office/drawing/2014/main" id="{E067E227-529C-D902-3D44-6EF05732BA6E}"/>
                </a:ext>
              </a:extLst>
            </p:cNvPr>
            <p:cNvCxnSpPr>
              <a:cxnSpLocks/>
            </p:cNvCxnSpPr>
            <p:nvPr/>
          </p:nvCxnSpPr>
          <p:spPr>
            <a:xfrm>
              <a:off x="1746000" y="4068000"/>
              <a:ext cx="0" cy="396094"/>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5" name="直接连接符 274">
              <a:extLst>
                <a:ext uri="{FF2B5EF4-FFF2-40B4-BE49-F238E27FC236}">
                  <a16:creationId xmlns:a16="http://schemas.microsoft.com/office/drawing/2014/main" id="{DBDE0164-FB2B-006B-56E4-111AA718440E}"/>
                </a:ext>
              </a:extLst>
            </p:cNvPr>
            <p:cNvCxnSpPr>
              <a:cxnSpLocks/>
              <a:stCxn id="141" idx="2"/>
            </p:cNvCxnSpPr>
            <p:nvPr/>
          </p:nvCxnSpPr>
          <p:spPr>
            <a:xfrm flipH="1">
              <a:off x="2375998" y="5544000"/>
              <a:ext cx="0" cy="360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77" name="椭圆 176">
              <a:extLst>
                <a:ext uri="{FF2B5EF4-FFF2-40B4-BE49-F238E27FC236}">
                  <a16:creationId xmlns:a16="http://schemas.microsoft.com/office/drawing/2014/main" id="{190A2C45-EF94-55D3-2B8D-F664BB8B07D7}"/>
                </a:ext>
              </a:extLst>
            </p:cNvPr>
            <p:cNvSpPr/>
            <p:nvPr/>
          </p:nvSpPr>
          <p:spPr>
            <a:xfrm>
              <a:off x="1674000" y="3996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F7ED9823-8AA0-1985-A678-D71303CB6C15}"/>
                    </a:ext>
                  </a:extLst>
                </p:cNvPr>
                <p:cNvSpPr/>
                <p:nvPr/>
              </p:nvSpPr>
              <p:spPr>
                <a:xfrm>
                  <a:off x="3996000" y="4464000"/>
                  <a:ext cx="2160000" cy="1080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r"/>
                  <a:r>
                    <a:rPr lang="en-US" altLang="zh-CN" sz="1600" dirty="0">
                      <a:solidFill>
                        <a:srgbClr val="7030A0"/>
                      </a:solidFill>
                      <a:latin typeface="微软雅黑" panose="020B0503020204020204" pitchFamily="34" charset="-122"/>
                      <a:ea typeface="微软雅黑" panose="020B0503020204020204" pitchFamily="34" charset="-122"/>
                    </a:rPr>
                    <a:t>        8K </a:t>
                  </a:r>
                  <a14:m>
                    <m:oMath xmlns:m="http://schemas.openxmlformats.org/officeDocument/2006/math">
                      <m:r>
                        <a:rPr kumimoji="1" lang="en-US" altLang="zh-CN" sz="1600" i="1">
                          <a:solidFill>
                            <a:srgbClr val="7030A0"/>
                          </a:solidFill>
                          <a:latin typeface="Cambria Math" panose="02040503050406030204" pitchFamily="18" charset="0"/>
                          <a:ea typeface="Cambria Math" panose="02040503050406030204" pitchFamily="18" charset="0"/>
                        </a:rPr>
                        <m:t>×</m:t>
                      </m:r>
                    </m:oMath>
                  </a14:m>
                  <a:r>
                    <a:rPr lang="en-US" altLang="zh-CN" sz="1600" dirty="0">
                      <a:solidFill>
                        <a:srgbClr val="7030A0"/>
                      </a:solidFill>
                      <a:latin typeface="微软雅黑" panose="020B0503020204020204" pitchFamily="34" charset="-122"/>
                      <a:ea typeface="微软雅黑" panose="020B0503020204020204" pitchFamily="34" charset="-122"/>
                    </a:rPr>
                    <a:t> 8 </a:t>
                  </a:r>
                  <a:r>
                    <a:rPr lang="zh-CN" altLang="en-US" sz="1600" dirty="0">
                      <a:solidFill>
                        <a:srgbClr val="7030A0"/>
                      </a:solidFill>
                      <a:latin typeface="微软雅黑" panose="020B0503020204020204" pitchFamily="34" charset="-122"/>
                      <a:ea typeface="微软雅黑" panose="020B0503020204020204" pitchFamily="34" charset="-122"/>
                    </a:rPr>
                    <a:t>位（</a:t>
                  </a:r>
                  <a:r>
                    <a:rPr lang="en-US" altLang="zh-CN" sz="1600" dirty="0">
                      <a:solidFill>
                        <a:srgbClr val="7030A0"/>
                      </a:solidFill>
                      <a:latin typeface="微软雅黑" panose="020B0503020204020204" pitchFamily="34" charset="-122"/>
                      <a:ea typeface="微软雅黑" panose="020B0503020204020204" pitchFamily="34" charset="-122"/>
                    </a:rPr>
                    <a:t>2</a:t>
                  </a:r>
                  <a:r>
                    <a:rPr lang="zh-CN" altLang="en-US" sz="1600" dirty="0">
                      <a:solidFill>
                        <a:srgbClr val="7030A0"/>
                      </a:solidFill>
                      <a:latin typeface="微软雅黑" panose="020B0503020204020204" pitchFamily="34" charset="-122"/>
                      <a:ea typeface="微软雅黑" panose="020B0503020204020204" pitchFamily="34" charset="-122"/>
                    </a:rPr>
                    <a:t>）</a:t>
                  </a:r>
                </a:p>
              </p:txBody>
            </p:sp>
          </mc:Choice>
          <mc:Fallback xmlns="">
            <p:sp>
              <p:nvSpPr>
                <p:cNvPr id="17" name="矩形 16">
                  <a:extLst>
                    <a:ext uri="{FF2B5EF4-FFF2-40B4-BE49-F238E27FC236}">
                      <a16:creationId xmlns:a16="http://schemas.microsoft.com/office/drawing/2014/main" id="{F7ED9823-8AA0-1985-A678-D71303CB6C15}"/>
                    </a:ext>
                  </a:extLst>
                </p:cNvPr>
                <p:cNvSpPr>
                  <a:spLocks noRot="1" noChangeAspect="1" noMove="1" noResize="1" noEditPoints="1" noAdjustHandles="1" noChangeArrowheads="1" noChangeShapeType="1" noTextEdit="1"/>
                </p:cNvSpPr>
                <p:nvPr/>
              </p:nvSpPr>
              <p:spPr>
                <a:xfrm>
                  <a:off x="3996000" y="4464000"/>
                  <a:ext cx="2160000" cy="1080000"/>
                </a:xfrm>
                <a:prstGeom prst="rect">
                  <a:avLst/>
                </a:prstGeom>
                <a:blipFill>
                  <a:blip r:embed="rId21"/>
                  <a:stretch>
                    <a:fillRect r="-836"/>
                  </a:stretch>
                </a:blipFill>
                <a:ln w="25400"/>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C7F12E1C-9A6E-25CD-8D1A-D0B3E5C0E63B}"/>
                    </a:ext>
                  </a:extLst>
                </p:cNvPr>
                <p:cNvSpPr txBox="1"/>
                <p:nvPr/>
              </p:nvSpPr>
              <p:spPr>
                <a:xfrm>
                  <a:off x="3960000" y="4428000"/>
                  <a:ext cx="972000" cy="36000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kumimoji="1" lang="en-US" altLang="zh-CN" sz="2000" i="1" smtClean="0">
                                <a:latin typeface="Cambria Math" panose="02040503050406030204" pitchFamily="18" charset="0"/>
                                <a:ea typeface="微软雅黑" panose="020B0503020204020204" pitchFamily="34" charset="-122"/>
                              </a:rPr>
                            </m:ctrlPr>
                          </m:sSubPr>
                          <m:e>
                            <m:r>
                              <m:rPr>
                                <m:sty m:val="p"/>
                              </m:rPr>
                              <a:rPr kumimoji="1" lang="en-US" altLang="zh-CN" sz="2000">
                                <a:latin typeface="Cambria Math" panose="02040503050406030204" pitchFamily="18" charset="0"/>
                                <a:ea typeface="微软雅黑" panose="020B0503020204020204" pitchFamily="34" charset="-122"/>
                              </a:rPr>
                              <m:t>A</m:t>
                            </m:r>
                          </m:e>
                          <m:sub>
                            <m:r>
                              <a:rPr kumimoji="1" lang="en-US" altLang="zh-CN" sz="2000">
                                <a:latin typeface="Cambria Math" panose="02040503050406030204" pitchFamily="18" charset="0"/>
                                <a:ea typeface="微软雅黑" panose="020B0503020204020204" pitchFamily="34" charset="-122"/>
                              </a:rPr>
                              <m:t>1</m:t>
                            </m:r>
                            <m:r>
                              <a:rPr kumimoji="1" lang="en-US" altLang="zh-CN" sz="2000" i="1">
                                <a:latin typeface="Cambria Math" panose="02040503050406030204" pitchFamily="18" charset="0"/>
                                <a:ea typeface="微软雅黑" panose="020B0503020204020204" pitchFamily="34" charset="-122"/>
                              </a:rPr>
                              <m:t>2</m:t>
                            </m:r>
                          </m:sub>
                        </m:sSub>
                        <m:r>
                          <a:rPr kumimoji="1" lang="en-US" altLang="zh-CN" sz="2000" i="1">
                            <a:latin typeface="Cambria Math" panose="02040503050406030204" pitchFamily="18" charset="0"/>
                            <a:ea typeface="微软雅黑" panose="020B0503020204020204" pitchFamily="34" charset="-122"/>
                          </a:rPr>
                          <m:t>~</m:t>
                        </m:r>
                        <m:sSub>
                          <m:sSubPr>
                            <m:ctrlPr>
                              <a:rPr kumimoji="1" lang="en-US" altLang="zh-CN" sz="2000" i="1">
                                <a:latin typeface="Cambria Math" panose="02040503050406030204" pitchFamily="18" charset="0"/>
                                <a:ea typeface="微软雅黑" panose="020B0503020204020204" pitchFamily="34" charset="-122"/>
                              </a:rPr>
                            </m:ctrlPr>
                          </m:sSubPr>
                          <m:e>
                            <m:r>
                              <m:rPr>
                                <m:sty m:val="p"/>
                              </m:rPr>
                              <a:rPr kumimoji="1" lang="en-US" altLang="zh-CN" sz="2000">
                                <a:latin typeface="Cambria Math" panose="02040503050406030204" pitchFamily="18" charset="0"/>
                                <a:ea typeface="微软雅黑" panose="020B0503020204020204" pitchFamily="34" charset="-122"/>
                              </a:rPr>
                              <m:t>A</m:t>
                            </m:r>
                          </m:e>
                          <m:sub>
                            <m:r>
                              <a:rPr kumimoji="1" lang="en-US" altLang="zh-CN" sz="2000" i="1">
                                <a:latin typeface="Cambria Math" panose="02040503050406030204" pitchFamily="18" charset="0"/>
                                <a:ea typeface="微软雅黑" panose="020B0503020204020204" pitchFamily="34" charset="-122"/>
                              </a:rPr>
                              <m:t>0</m:t>
                            </m:r>
                          </m:sub>
                        </m:sSub>
                      </m:oMath>
                    </m:oMathPara>
                  </a14:m>
                  <a:endParaRPr lang="zh-CN" altLang="en-US" sz="2000" dirty="0">
                    <a:solidFill>
                      <a:schemeClr val="tx1"/>
                    </a:solidFill>
                  </a:endParaRPr>
                </a:p>
              </p:txBody>
            </p:sp>
          </mc:Choice>
          <mc:Fallback xmlns="">
            <p:sp>
              <p:nvSpPr>
                <p:cNvPr id="18" name="文本框 17">
                  <a:extLst>
                    <a:ext uri="{FF2B5EF4-FFF2-40B4-BE49-F238E27FC236}">
                      <a16:creationId xmlns:a16="http://schemas.microsoft.com/office/drawing/2014/main" id="{C7F12E1C-9A6E-25CD-8D1A-D0B3E5C0E63B}"/>
                    </a:ext>
                  </a:extLst>
                </p:cNvPr>
                <p:cNvSpPr txBox="1">
                  <a:spLocks noRot="1" noChangeAspect="1" noMove="1" noResize="1" noEditPoints="1" noAdjustHandles="1" noChangeArrowheads="1" noChangeShapeType="1" noTextEdit="1"/>
                </p:cNvSpPr>
                <p:nvPr/>
              </p:nvSpPr>
              <p:spPr>
                <a:xfrm>
                  <a:off x="3960000" y="4428000"/>
                  <a:ext cx="972000" cy="360000"/>
                </a:xfrm>
                <a:prstGeom prst="rect">
                  <a:avLst/>
                </a:prstGeom>
                <a:blipFill>
                  <a:blip r:embed="rId22"/>
                  <a:stretch>
                    <a:fillRect r="-1250" b="-118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932300FB-2BAA-6037-F677-F36CBD14E8D7}"/>
                    </a:ext>
                  </a:extLst>
                </p:cNvPr>
                <p:cNvSpPr txBox="1"/>
                <p:nvPr/>
              </p:nvSpPr>
              <p:spPr>
                <a:xfrm>
                  <a:off x="5667880" y="4428000"/>
                  <a:ext cx="432000" cy="360000"/>
                </a:xfrm>
                <a:prstGeom prst="rect">
                  <a:avLst/>
                </a:prstGeom>
                <a:noFill/>
              </p:spPr>
              <p:txBody>
                <a:bodyPr wrap="square">
                  <a:spAutoFit/>
                </a:bodyPr>
                <a:lstStyle/>
                <a:p>
                  <a14:m>
                    <m:oMath xmlns:m="http://schemas.openxmlformats.org/officeDocument/2006/math">
                      <m:r>
                        <m:rPr>
                          <m:sty m:val="p"/>
                        </m:rPr>
                        <a:rPr kumimoji="1" lang="en-US" altLang="zh-CN" sz="2000">
                          <a:latin typeface="Cambria Math" panose="02040503050406030204" pitchFamily="18" charset="0"/>
                          <a:ea typeface="微软雅黑" panose="020B0503020204020204" pitchFamily="34" charset="-122"/>
                        </a:rPr>
                        <m:t>C</m:t>
                      </m:r>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E</m:t>
                      </m:r>
                    </m:oMath>
                  </a14:m>
                  <a:r>
                    <a:rPr kumimoji="1" lang="en-US" altLang="zh-CN" sz="2000" dirty="0">
                      <a:solidFill>
                        <a:schemeClr val="tx1"/>
                      </a:solidFill>
                      <a:latin typeface="微软雅黑" panose="020B0503020204020204" pitchFamily="34" charset="-122"/>
                      <a:ea typeface="微软雅黑" panose="020B0503020204020204" pitchFamily="34" charset="-122"/>
                    </a:rPr>
                    <a:t> </a:t>
                  </a:r>
                  <a:endParaRPr lang="zh-CN" altLang="en-US" sz="2000" dirty="0">
                    <a:solidFill>
                      <a:schemeClr val="tx1"/>
                    </a:solidFill>
                  </a:endParaRPr>
                </a:p>
              </p:txBody>
            </p:sp>
          </mc:Choice>
          <mc:Fallback xmlns="">
            <p:sp>
              <p:nvSpPr>
                <p:cNvPr id="19" name="文本框 18">
                  <a:extLst>
                    <a:ext uri="{FF2B5EF4-FFF2-40B4-BE49-F238E27FC236}">
                      <a16:creationId xmlns:a16="http://schemas.microsoft.com/office/drawing/2014/main" id="{932300FB-2BAA-6037-F677-F36CBD14E8D7}"/>
                    </a:ext>
                  </a:extLst>
                </p:cNvPr>
                <p:cNvSpPr txBox="1">
                  <a:spLocks noRot="1" noChangeAspect="1" noMove="1" noResize="1" noEditPoints="1" noAdjustHandles="1" noChangeArrowheads="1" noChangeShapeType="1" noTextEdit="1"/>
                </p:cNvSpPr>
                <p:nvPr/>
              </p:nvSpPr>
              <p:spPr>
                <a:xfrm>
                  <a:off x="5667880" y="4428000"/>
                  <a:ext cx="432000" cy="360000"/>
                </a:xfrm>
                <a:prstGeom prst="rect">
                  <a:avLst/>
                </a:prstGeom>
                <a:blipFill>
                  <a:blip r:embed="rId23"/>
                  <a:stretch>
                    <a:fillRect r="-9859" b="-33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F1F0E0C4-2DC7-C5DA-3454-4B5A17A1DBB6}"/>
                    </a:ext>
                  </a:extLst>
                </p:cNvPr>
                <p:cNvSpPr txBox="1"/>
                <p:nvPr/>
              </p:nvSpPr>
              <p:spPr>
                <a:xfrm>
                  <a:off x="5040000" y="4428000"/>
                  <a:ext cx="540000" cy="36000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kumimoji="1" lang="en-US" altLang="zh-CN" sz="2000">
                            <a:latin typeface="Cambria Math" panose="02040503050406030204" pitchFamily="18" charset="0"/>
                            <a:ea typeface="微软雅黑" panose="020B0503020204020204" pitchFamily="34" charset="-122"/>
                          </a:rPr>
                          <m:t>WE</m:t>
                        </m:r>
                      </m:oMath>
                    </m:oMathPara>
                  </a14:m>
                  <a:endParaRPr lang="zh-CN" altLang="en-US" sz="2000" dirty="0">
                    <a:solidFill>
                      <a:schemeClr val="tx1"/>
                    </a:solidFill>
                  </a:endParaRPr>
                </a:p>
              </p:txBody>
            </p:sp>
          </mc:Choice>
          <mc:Fallback xmlns="">
            <p:sp>
              <p:nvSpPr>
                <p:cNvPr id="20" name="文本框 19">
                  <a:extLst>
                    <a:ext uri="{FF2B5EF4-FFF2-40B4-BE49-F238E27FC236}">
                      <a16:creationId xmlns:a16="http://schemas.microsoft.com/office/drawing/2014/main" id="{F1F0E0C4-2DC7-C5DA-3454-4B5A17A1DBB6}"/>
                    </a:ext>
                  </a:extLst>
                </p:cNvPr>
                <p:cNvSpPr txBox="1">
                  <a:spLocks noRot="1" noChangeAspect="1" noMove="1" noResize="1" noEditPoints="1" noAdjustHandles="1" noChangeArrowheads="1" noChangeShapeType="1" noTextEdit="1"/>
                </p:cNvSpPr>
                <p:nvPr/>
              </p:nvSpPr>
              <p:spPr>
                <a:xfrm>
                  <a:off x="5040000" y="4428000"/>
                  <a:ext cx="540000" cy="360000"/>
                </a:xfrm>
                <a:prstGeom prst="rect">
                  <a:avLst/>
                </a:prstGeom>
                <a:blipFill>
                  <a:blip r:embed="rId24"/>
                  <a:stretch>
                    <a:fillRect r="-4494" b="-33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BF10E417-199A-E53C-672A-0DFF903B5544}"/>
                    </a:ext>
                  </a:extLst>
                </p:cNvPr>
                <p:cNvSpPr txBox="1"/>
                <p:nvPr/>
              </p:nvSpPr>
              <p:spPr>
                <a:xfrm>
                  <a:off x="4644000" y="5148000"/>
                  <a:ext cx="864000" cy="400110"/>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D</m:t>
                            </m:r>
                          </m:e>
                          <m:sub>
                            <m:r>
                              <a:rPr kumimoji="1" lang="en-US" altLang="zh-CN" sz="2000" i="1">
                                <a:latin typeface="Cambria Math" panose="02040503050406030204" pitchFamily="18" charset="0"/>
                                <a:ea typeface="微软雅黑" panose="020B0503020204020204" pitchFamily="34" charset="-122"/>
                              </a:rPr>
                              <m:t>7</m:t>
                            </m:r>
                          </m:sub>
                        </m:sSub>
                        <m:r>
                          <a:rPr kumimoji="1" lang="en-US" altLang="zh-CN" sz="2000" i="1">
                            <a:latin typeface="Cambria Math" panose="02040503050406030204" pitchFamily="18" charset="0"/>
                            <a:ea typeface="微软雅黑" panose="020B0503020204020204" pitchFamily="34" charset="-122"/>
                          </a:rPr>
                          <m:t>~</m:t>
                        </m:r>
                        <m:sSub>
                          <m:sSubPr>
                            <m:ctrlPr>
                              <a:rPr kumimoji="1" lang="en-US" altLang="zh-CN" sz="2000" i="1">
                                <a:latin typeface="Cambria Math" panose="02040503050406030204" pitchFamily="18" charset="0"/>
                                <a:ea typeface="微软雅黑" panose="020B0503020204020204" pitchFamily="34" charset="-122"/>
                              </a:rPr>
                            </m:ctrlPr>
                          </m:sSubPr>
                          <m:e>
                            <m:r>
                              <m:rPr>
                                <m:sty m:val="p"/>
                              </m:rPr>
                              <a:rPr kumimoji="1" lang="en-US" altLang="zh-CN" sz="2000" b="0" i="0" smtClean="0">
                                <a:latin typeface="Cambria Math" panose="02040503050406030204" pitchFamily="18" charset="0"/>
                                <a:ea typeface="微软雅黑" panose="020B0503020204020204" pitchFamily="34" charset="-122"/>
                              </a:rPr>
                              <m:t>D</m:t>
                            </m:r>
                          </m:e>
                          <m:sub>
                            <m:r>
                              <a:rPr kumimoji="1" lang="en-US" altLang="zh-CN" sz="2000" i="1" smtClean="0">
                                <a:latin typeface="Cambria Math" panose="02040503050406030204" pitchFamily="18" charset="0"/>
                                <a:ea typeface="微软雅黑" panose="020B0503020204020204" pitchFamily="34" charset="-122"/>
                              </a:rPr>
                              <m:t>0</m:t>
                            </m:r>
                          </m:sub>
                        </m:sSub>
                      </m:oMath>
                    </m:oMathPara>
                  </a14:m>
                  <a:endParaRPr lang="zh-CN" altLang="en-US" sz="2000" dirty="0">
                    <a:solidFill>
                      <a:schemeClr val="tx1"/>
                    </a:solidFill>
                  </a:endParaRPr>
                </a:p>
              </p:txBody>
            </p:sp>
          </mc:Choice>
          <mc:Fallback xmlns="">
            <p:sp>
              <p:nvSpPr>
                <p:cNvPr id="21" name="文本框 20">
                  <a:extLst>
                    <a:ext uri="{FF2B5EF4-FFF2-40B4-BE49-F238E27FC236}">
                      <a16:creationId xmlns:a16="http://schemas.microsoft.com/office/drawing/2014/main" id="{BF10E417-199A-E53C-672A-0DFF903B5544}"/>
                    </a:ext>
                  </a:extLst>
                </p:cNvPr>
                <p:cNvSpPr txBox="1">
                  <a:spLocks noRot="1" noChangeAspect="1" noMove="1" noResize="1" noEditPoints="1" noAdjustHandles="1" noChangeArrowheads="1" noChangeShapeType="1" noTextEdit="1"/>
                </p:cNvSpPr>
                <p:nvPr/>
              </p:nvSpPr>
              <p:spPr>
                <a:xfrm>
                  <a:off x="4644000" y="5148000"/>
                  <a:ext cx="864000" cy="400110"/>
                </a:xfrm>
                <a:prstGeom prst="rect">
                  <a:avLst/>
                </a:prstGeom>
                <a:blipFill>
                  <a:blip r:embed="rId25"/>
                  <a:stretch>
                    <a:fillRect r="-4255"/>
                  </a:stretch>
                </a:blipFill>
              </p:spPr>
              <p:txBody>
                <a:bodyPr/>
                <a:lstStyle/>
                <a:p>
                  <a:r>
                    <a:rPr lang="zh-CN" altLang="en-US">
                      <a:noFill/>
                    </a:rPr>
                    <a:t> </a:t>
                  </a:r>
                </a:p>
              </p:txBody>
            </p:sp>
          </mc:Fallback>
        </mc:AlternateContent>
        <p:cxnSp>
          <p:nvCxnSpPr>
            <p:cNvPr id="22" name="直接连接符 21">
              <a:extLst>
                <a:ext uri="{FF2B5EF4-FFF2-40B4-BE49-F238E27FC236}">
                  <a16:creationId xmlns:a16="http://schemas.microsoft.com/office/drawing/2014/main" id="{DD52F9A8-7C5B-34F5-A3F2-5BEC26B1B2E9}"/>
                </a:ext>
              </a:extLst>
            </p:cNvPr>
            <p:cNvCxnSpPr>
              <a:cxnSpLocks/>
            </p:cNvCxnSpPr>
            <p:nvPr/>
          </p:nvCxnSpPr>
          <p:spPr>
            <a:xfrm>
              <a:off x="5310000" y="3672000"/>
              <a:ext cx="0" cy="75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63083881-D532-95CB-2BFD-7F8AFAC1CCB9}"/>
                </a:ext>
              </a:extLst>
            </p:cNvPr>
            <p:cNvCxnSpPr>
              <a:cxnSpLocks/>
            </p:cNvCxnSpPr>
            <p:nvPr/>
          </p:nvCxnSpPr>
          <p:spPr>
            <a:xfrm>
              <a:off x="5886000" y="3402000"/>
              <a:ext cx="0" cy="102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椭圆 23">
              <a:extLst>
                <a:ext uri="{FF2B5EF4-FFF2-40B4-BE49-F238E27FC236}">
                  <a16:creationId xmlns:a16="http://schemas.microsoft.com/office/drawing/2014/main" id="{CF751F1F-B1F5-6FF6-546F-306D1DCEC879}"/>
                </a:ext>
              </a:extLst>
            </p:cNvPr>
            <p:cNvSpPr/>
            <p:nvPr/>
          </p:nvSpPr>
          <p:spPr>
            <a:xfrm>
              <a:off x="5256000" y="433800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57F9E366-CF98-2AD1-328D-A2329BED9D87}"/>
                </a:ext>
              </a:extLst>
            </p:cNvPr>
            <p:cNvSpPr/>
            <p:nvPr/>
          </p:nvSpPr>
          <p:spPr>
            <a:xfrm>
              <a:off x="5830862" y="433800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26" name="直接连接符 25">
              <a:extLst>
                <a:ext uri="{FF2B5EF4-FFF2-40B4-BE49-F238E27FC236}">
                  <a16:creationId xmlns:a16="http://schemas.microsoft.com/office/drawing/2014/main" id="{A4703D7A-DB45-10E1-7E00-ECC95F3DD45D}"/>
                </a:ext>
              </a:extLst>
            </p:cNvPr>
            <p:cNvCxnSpPr>
              <a:cxnSpLocks/>
            </p:cNvCxnSpPr>
            <p:nvPr/>
          </p:nvCxnSpPr>
          <p:spPr>
            <a:xfrm>
              <a:off x="4446000" y="4068000"/>
              <a:ext cx="0" cy="396094"/>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1462557D-6D46-12AB-EEE8-40436F695045}"/>
                </a:ext>
              </a:extLst>
            </p:cNvPr>
            <p:cNvCxnSpPr>
              <a:cxnSpLocks/>
              <a:stCxn id="17" idx="2"/>
            </p:cNvCxnSpPr>
            <p:nvPr/>
          </p:nvCxnSpPr>
          <p:spPr>
            <a:xfrm flipH="1">
              <a:off x="5075998" y="5544000"/>
              <a:ext cx="0" cy="360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椭圆 27">
              <a:extLst>
                <a:ext uri="{FF2B5EF4-FFF2-40B4-BE49-F238E27FC236}">
                  <a16:creationId xmlns:a16="http://schemas.microsoft.com/office/drawing/2014/main" id="{E5619FC8-4D40-31E0-E1F3-AB690A182232}"/>
                </a:ext>
              </a:extLst>
            </p:cNvPr>
            <p:cNvSpPr/>
            <p:nvPr/>
          </p:nvSpPr>
          <p:spPr>
            <a:xfrm>
              <a:off x="4374000" y="3996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id="{C0E6EAA4-EE95-F41D-93CF-7A3E797D9733}"/>
                    </a:ext>
                  </a:extLst>
                </p:cNvPr>
                <p:cNvSpPr/>
                <p:nvPr/>
              </p:nvSpPr>
              <p:spPr>
                <a:xfrm>
                  <a:off x="6696000" y="4464000"/>
                  <a:ext cx="2160000" cy="1080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r"/>
                  <a:r>
                    <a:rPr lang="en-US" altLang="zh-CN" sz="1600" dirty="0">
                      <a:solidFill>
                        <a:srgbClr val="7030A0"/>
                      </a:solidFill>
                      <a:latin typeface="微软雅黑" panose="020B0503020204020204" pitchFamily="34" charset="-122"/>
                      <a:ea typeface="微软雅黑" panose="020B0503020204020204" pitchFamily="34" charset="-122"/>
                    </a:rPr>
                    <a:t>        8K </a:t>
                  </a:r>
                  <a14:m>
                    <m:oMath xmlns:m="http://schemas.openxmlformats.org/officeDocument/2006/math">
                      <m:r>
                        <a:rPr kumimoji="1" lang="en-US" altLang="zh-CN" sz="1600" i="1">
                          <a:solidFill>
                            <a:srgbClr val="7030A0"/>
                          </a:solidFill>
                          <a:latin typeface="Cambria Math" panose="02040503050406030204" pitchFamily="18" charset="0"/>
                          <a:ea typeface="Cambria Math" panose="02040503050406030204" pitchFamily="18" charset="0"/>
                        </a:rPr>
                        <m:t>×</m:t>
                      </m:r>
                    </m:oMath>
                  </a14:m>
                  <a:r>
                    <a:rPr lang="en-US" altLang="zh-CN" sz="1600" dirty="0">
                      <a:solidFill>
                        <a:srgbClr val="7030A0"/>
                      </a:solidFill>
                      <a:latin typeface="微软雅黑" panose="020B0503020204020204" pitchFamily="34" charset="-122"/>
                      <a:ea typeface="微软雅黑" panose="020B0503020204020204" pitchFamily="34" charset="-122"/>
                    </a:rPr>
                    <a:t> 8 </a:t>
                  </a:r>
                  <a:r>
                    <a:rPr lang="zh-CN" altLang="en-US" sz="1600" dirty="0">
                      <a:solidFill>
                        <a:srgbClr val="7030A0"/>
                      </a:solidFill>
                      <a:latin typeface="微软雅黑" panose="020B0503020204020204" pitchFamily="34" charset="-122"/>
                      <a:ea typeface="微软雅黑" panose="020B0503020204020204" pitchFamily="34" charset="-122"/>
                    </a:rPr>
                    <a:t>位（</a:t>
                  </a:r>
                  <a:r>
                    <a:rPr lang="en-US" altLang="zh-CN" sz="1600" dirty="0">
                      <a:solidFill>
                        <a:srgbClr val="7030A0"/>
                      </a:solidFill>
                      <a:latin typeface="微软雅黑" panose="020B0503020204020204" pitchFamily="34" charset="-122"/>
                      <a:ea typeface="微软雅黑" panose="020B0503020204020204" pitchFamily="34" charset="-122"/>
                    </a:rPr>
                    <a:t>1</a:t>
                  </a:r>
                  <a:r>
                    <a:rPr lang="zh-CN" altLang="en-US" sz="1600" dirty="0">
                      <a:solidFill>
                        <a:srgbClr val="7030A0"/>
                      </a:solidFill>
                      <a:latin typeface="微软雅黑" panose="020B0503020204020204" pitchFamily="34" charset="-122"/>
                      <a:ea typeface="微软雅黑" panose="020B0503020204020204" pitchFamily="34" charset="-122"/>
                    </a:rPr>
                    <a:t>）</a:t>
                  </a:r>
                </a:p>
              </p:txBody>
            </p:sp>
          </mc:Choice>
          <mc:Fallback xmlns="">
            <p:sp>
              <p:nvSpPr>
                <p:cNvPr id="30" name="矩形 29">
                  <a:extLst>
                    <a:ext uri="{FF2B5EF4-FFF2-40B4-BE49-F238E27FC236}">
                      <a16:creationId xmlns:a16="http://schemas.microsoft.com/office/drawing/2014/main" id="{C0E6EAA4-EE95-F41D-93CF-7A3E797D9733}"/>
                    </a:ext>
                  </a:extLst>
                </p:cNvPr>
                <p:cNvSpPr>
                  <a:spLocks noRot="1" noChangeAspect="1" noMove="1" noResize="1" noEditPoints="1" noAdjustHandles="1" noChangeArrowheads="1" noChangeShapeType="1" noTextEdit="1"/>
                </p:cNvSpPr>
                <p:nvPr/>
              </p:nvSpPr>
              <p:spPr>
                <a:xfrm>
                  <a:off x="6696000" y="4464000"/>
                  <a:ext cx="2160000" cy="1080000"/>
                </a:xfrm>
                <a:prstGeom prst="rect">
                  <a:avLst/>
                </a:prstGeom>
                <a:blipFill>
                  <a:blip r:embed="rId26"/>
                  <a:stretch>
                    <a:fillRect r="-1117"/>
                  </a:stretch>
                </a:blipFill>
                <a:ln w="25400"/>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7D03A106-3755-92C4-BD0F-B1FC2103FEBB}"/>
                    </a:ext>
                  </a:extLst>
                </p:cNvPr>
                <p:cNvSpPr txBox="1"/>
                <p:nvPr/>
              </p:nvSpPr>
              <p:spPr>
                <a:xfrm>
                  <a:off x="6660000" y="4428000"/>
                  <a:ext cx="972000" cy="36000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kumimoji="1" lang="en-US" altLang="zh-CN" sz="2000" i="1" smtClean="0">
                                <a:latin typeface="Cambria Math" panose="02040503050406030204" pitchFamily="18" charset="0"/>
                                <a:ea typeface="微软雅黑" panose="020B0503020204020204" pitchFamily="34" charset="-122"/>
                              </a:rPr>
                            </m:ctrlPr>
                          </m:sSubPr>
                          <m:e>
                            <m:r>
                              <m:rPr>
                                <m:sty m:val="p"/>
                              </m:rPr>
                              <a:rPr kumimoji="1" lang="en-US" altLang="zh-CN" sz="2000">
                                <a:latin typeface="Cambria Math" panose="02040503050406030204" pitchFamily="18" charset="0"/>
                                <a:ea typeface="微软雅黑" panose="020B0503020204020204" pitchFamily="34" charset="-122"/>
                              </a:rPr>
                              <m:t>A</m:t>
                            </m:r>
                          </m:e>
                          <m:sub>
                            <m:r>
                              <a:rPr kumimoji="1" lang="en-US" altLang="zh-CN" sz="2000">
                                <a:latin typeface="Cambria Math" panose="02040503050406030204" pitchFamily="18" charset="0"/>
                                <a:ea typeface="微软雅黑" panose="020B0503020204020204" pitchFamily="34" charset="-122"/>
                              </a:rPr>
                              <m:t>1</m:t>
                            </m:r>
                            <m:r>
                              <a:rPr kumimoji="1" lang="en-US" altLang="zh-CN" sz="2000" i="1">
                                <a:latin typeface="Cambria Math" panose="02040503050406030204" pitchFamily="18" charset="0"/>
                                <a:ea typeface="微软雅黑" panose="020B0503020204020204" pitchFamily="34" charset="-122"/>
                              </a:rPr>
                              <m:t>2</m:t>
                            </m:r>
                          </m:sub>
                        </m:sSub>
                        <m:r>
                          <a:rPr kumimoji="1" lang="en-US" altLang="zh-CN" sz="2000" i="1">
                            <a:latin typeface="Cambria Math" panose="02040503050406030204" pitchFamily="18" charset="0"/>
                            <a:ea typeface="微软雅黑" panose="020B0503020204020204" pitchFamily="34" charset="-122"/>
                          </a:rPr>
                          <m:t>~</m:t>
                        </m:r>
                        <m:sSub>
                          <m:sSubPr>
                            <m:ctrlPr>
                              <a:rPr kumimoji="1" lang="en-US" altLang="zh-CN" sz="2000" i="1">
                                <a:latin typeface="Cambria Math" panose="02040503050406030204" pitchFamily="18" charset="0"/>
                                <a:ea typeface="微软雅黑" panose="020B0503020204020204" pitchFamily="34" charset="-122"/>
                              </a:rPr>
                            </m:ctrlPr>
                          </m:sSubPr>
                          <m:e>
                            <m:r>
                              <m:rPr>
                                <m:sty m:val="p"/>
                              </m:rPr>
                              <a:rPr kumimoji="1" lang="en-US" altLang="zh-CN" sz="2000">
                                <a:latin typeface="Cambria Math" panose="02040503050406030204" pitchFamily="18" charset="0"/>
                                <a:ea typeface="微软雅黑" panose="020B0503020204020204" pitchFamily="34" charset="-122"/>
                              </a:rPr>
                              <m:t>A</m:t>
                            </m:r>
                          </m:e>
                          <m:sub>
                            <m:r>
                              <a:rPr kumimoji="1" lang="en-US" altLang="zh-CN" sz="2000" i="1">
                                <a:latin typeface="Cambria Math" panose="02040503050406030204" pitchFamily="18" charset="0"/>
                                <a:ea typeface="微软雅黑" panose="020B0503020204020204" pitchFamily="34" charset="-122"/>
                              </a:rPr>
                              <m:t>0</m:t>
                            </m:r>
                          </m:sub>
                        </m:sSub>
                      </m:oMath>
                    </m:oMathPara>
                  </a14:m>
                  <a:endParaRPr lang="zh-CN" altLang="en-US" sz="2000" dirty="0">
                    <a:solidFill>
                      <a:schemeClr val="tx1"/>
                    </a:solidFill>
                  </a:endParaRPr>
                </a:p>
              </p:txBody>
            </p:sp>
          </mc:Choice>
          <mc:Fallback xmlns="">
            <p:sp>
              <p:nvSpPr>
                <p:cNvPr id="31" name="文本框 30">
                  <a:extLst>
                    <a:ext uri="{FF2B5EF4-FFF2-40B4-BE49-F238E27FC236}">
                      <a16:creationId xmlns:a16="http://schemas.microsoft.com/office/drawing/2014/main" id="{7D03A106-3755-92C4-BD0F-B1FC2103FEBB}"/>
                    </a:ext>
                  </a:extLst>
                </p:cNvPr>
                <p:cNvSpPr txBox="1">
                  <a:spLocks noRot="1" noChangeAspect="1" noMove="1" noResize="1" noEditPoints="1" noAdjustHandles="1" noChangeArrowheads="1" noChangeShapeType="1" noTextEdit="1"/>
                </p:cNvSpPr>
                <p:nvPr/>
              </p:nvSpPr>
              <p:spPr>
                <a:xfrm>
                  <a:off x="6660000" y="4428000"/>
                  <a:ext cx="972000" cy="360000"/>
                </a:xfrm>
                <a:prstGeom prst="rect">
                  <a:avLst/>
                </a:prstGeom>
                <a:blipFill>
                  <a:blip r:embed="rId27"/>
                  <a:stretch>
                    <a:fillRect r="-1250" b="-118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DBF8A3CD-A8A1-1617-CB12-7413C96D6C17}"/>
                    </a:ext>
                  </a:extLst>
                </p:cNvPr>
                <p:cNvSpPr txBox="1"/>
                <p:nvPr/>
              </p:nvSpPr>
              <p:spPr>
                <a:xfrm>
                  <a:off x="8367880" y="4428000"/>
                  <a:ext cx="432000" cy="360000"/>
                </a:xfrm>
                <a:prstGeom prst="rect">
                  <a:avLst/>
                </a:prstGeom>
                <a:noFill/>
              </p:spPr>
              <p:txBody>
                <a:bodyPr wrap="square">
                  <a:spAutoFit/>
                </a:bodyPr>
                <a:lstStyle/>
                <a:p>
                  <a14:m>
                    <m:oMath xmlns:m="http://schemas.openxmlformats.org/officeDocument/2006/math">
                      <m:r>
                        <m:rPr>
                          <m:sty m:val="p"/>
                        </m:rPr>
                        <a:rPr kumimoji="1" lang="en-US" altLang="zh-CN" sz="2000">
                          <a:latin typeface="Cambria Math" panose="02040503050406030204" pitchFamily="18" charset="0"/>
                          <a:ea typeface="微软雅黑" panose="020B0503020204020204" pitchFamily="34" charset="-122"/>
                        </a:rPr>
                        <m:t>C</m:t>
                      </m:r>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E</m:t>
                      </m:r>
                    </m:oMath>
                  </a14:m>
                  <a:r>
                    <a:rPr kumimoji="1" lang="en-US" altLang="zh-CN" sz="2000" dirty="0">
                      <a:solidFill>
                        <a:schemeClr val="tx1"/>
                      </a:solidFill>
                      <a:latin typeface="微软雅黑" panose="020B0503020204020204" pitchFamily="34" charset="-122"/>
                      <a:ea typeface="微软雅黑" panose="020B0503020204020204" pitchFamily="34" charset="-122"/>
                    </a:rPr>
                    <a:t> </a:t>
                  </a:r>
                  <a:endParaRPr lang="zh-CN" altLang="en-US" sz="2000" dirty="0">
                    <a:solidFill>
                      <a:schemeClr val="tx1"/>
                    </a:solidFill>
                  </a:endParaRPr>
                </a:p>
              </p:txBody>
            </p:sp>
          </mc:Choice>
          <mc:Fallback xmlns="">
            <p:sp>
              <p:nvSpPr>
                <p:cNvPr id="32" name="文本框 31">
                  <a:extLst>
                    <a:ext uri="{FF2B5EF4-FFF2-40B4-BE49-F238E27FC236}">
                      <a16:creationId xmlns:a16="http://schemas.microsoft.com/office/drawing/2014/main" id="{DBF8A3CD-A8A1-1617-CB12-7413C96D6C17}"/>
                    </a:ext>
                  </a:extLst>
                </p:cNvPr>
                <p:cNvSpPr txBox="1">
                  <a:spLocks noRot="1" noChangeAspect="1" noMove="1" noResize="1" noEditPoints="1" noAdjustHandles="1" noChangeArrowheads="1" noChangeShapeType="1" noTextEdit="1"/>
                </p:cNvSpPr>
                <p:nvPr/>
              </p:nvSpPr>
              <p:spPr>
                <a:xfrm>
                  <a:off x="8367880" y="4428000"/>
                  <a:ext cx="432000" cy="360000"/>
                </a:xfrm>
                <a:prstGeom prst="rect">
                  <a:avLst/>
                </a:prstGeom>
                <a:blipFill>
                  <a:blip r:embed="rId28"/>
                  <a:stretch>
                    <a:fillRect r="-9859" b="-33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D0C43B5D-A9BD-204F-90AB-F9C723D9D331}"/>
                    </a:ext>
                  </a:extLst>
                </p:cNvPr>
                <p:cNvSpPr txBox="1"/>
                <p:nvPr/>
              </p:nvSpPr>
              <p:spPr>
                <a:xfrm>
                  <a:off x="7740000" y="4428000"/>
                  <a:ext cx="540000" cy="36000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kumimoji="1" lang="en-US" altLang="zh-CN" sz="2000">
                            <a:latin typeface="Cambria Math" panose="02040503050406030204" pitchFamily="18" charset="0"/>
                            <a:ea typeface="微软雅黑" panose="020B0503020204020204" pitchFamily="34" charset="-122"/>
                          </a:rPr>
                          <m:t>WE</m:t>
                        </m:r>
                      </m:oMath>
                    </m:oMathPara>
                  </a14:m>
                  <a:endParaRPr lang="zh-CN" altLang="en-US" sz="2000" dirty="0">
                    <a:solidFill>
                      <a:schemeClr val="tx1"/>
                    </a:solidFill>
                  </a:endParaRPr>
                </a:p>
              </p:txBody>
            </p:sp>
          </mc:Choice>
          <mc:Fallback xmlns="">
            <p:sp>
              <p:nvSpPr>
                <p:cNvPr id="33" name="文本框 32">
                  <a:extLst>
                    <a:ext uri="{FF2B5EF4-FFF2-40B4-BE49-F238E27FC236}">
                      <a16:creationId xmlns:a16="http://schemas.microsoft.com/office/drawing/2014/main" id="{D0C43B5D-A9BD-204F-90AB-F9C723D9D331}"/>
                    </a:ext>
                  </a:extLst>
                </p:cNvPr>
                <p:cNvSpPr txBox="1">
                  <a:spLocks noRot="1" noChangeAspect="1" noMove="1" noResize="1" noEditPoints="1" noAdjustHandles="1" noChangeArrowheads="1" noChangeShapeType="1" noTextEdit="1"/>
                </p:cNvSpPr>
                <p:nvPr/>
              </p:nvSpPr>
              <p:spPr>
                <a:xfrm>
                  <a:off x="7740000" y="4428000"/>
                  <a:ext cx="540000" cy="360000"/>
                </a:xfrm>
                <a:prstGeom prst="rect">
                  <a:avLst/>
                </a:prstGeom>
                <a:blipFill>
                  <a:blip r:embed="rId29"/>
                  <a:stretch>
                    <a:fillRect r="-4494" b="-33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64A42079-20E1-3E11-695B-7DE2AA74BB41}"/>
                    </a:ext>
                  </a:extLst>
                </p:cNvPr>
                <p:cNvSpPr txBox="1"/>
                <p:nvPr/>
              </p:nvSpPr>
              <p:spPr>
                <a:xfrm>
                  <a:off x="7344000" y="5148000"/>
                  <a:ext cx="864000" cy="400110"/>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D</m:t>
                            </m:r>
                          </m:e>
                          <m:sub>
                            <m:r>
                              <a:rPr kumimoji="1" lang="en-US" altLang="zh-CN" sz="2000" i="1">
                                <a:latin typeface="Cambria Math" panose="02040503050406030204" pitchFamily="18" charset="0"/>
                                <a:ea typeface="微软雅黑" panose="020B0503020204020204" pitchFamily="34" charset="-122"/>
                              </a:rPr>
                              <m:t>7</m:t>
                            </m:r>
                          </m:sub>
                        </m:sSub>
                        <m:r>
                          <a:rPr kumimoji="1" lang="en-US" altLang="zh-CN" sz="2000" i="1">
                            <a:latin typeface="Cambria Math" panose="02040503050406030204" pitchFamily="18" charset="0"/>
                            <a:ea typeface="微软雅黑" panose="020B0503020204020204" pitchFamily="34" charset="-122"/>
                          </a:rPr>
                          <m:t>~</m:t>
                        </m:r>
                        <m:sSub>
                          <m:sSubPr>
                            <m:ctrlPr>
                              <a:rPr kumimoji="1" lang="en-US" altLang="zh-CN" sz="2000" i="1">
                                <a:latin typeface="Cambria Math" panose="02040503050406030204" pitchFamily="18" charset="0"/>
                                <a:ea typeface="微软雅黑" panose="020B0503020204020204" pitchFamily="34" charset="-122"/>
                              </a:rPr>
                            </m:ctrlPr>
                          </m:sSubPr>
                          <m:e>
                            <m:r>
                              <m:rPr>
                                <m:sty m:val="p"/>
                              </m:rPr>
                              <a:rPr kumimoji="1" lang="en-US" altLang="zh-CN" sz="2000" b="0" i="0" smtClean="0">
                                <a:latin typeface="Cambria Math" panose="02040503050406030204" pitchFamily="18" charset="0"/>
                                <a:ea typeface="微软雅黑" panose="020B0503020204020204" pitchFamily="34" charset="-122"/>
                              </a:rPr>
                              <m:t>D</m:t>
                            </m:r>
                          </m:e>
                          <m:sub>
                            <m:r>
                              <a:rPr kumimoji="1" lang="en-US" altLang="zh-CN" sz="2000" i="1" smtClean="0">
                                <a:latin typeface="Cambria Math" panose="02040503050406030204" pitchFamily="18" charset="0"/>
                                <a:ea typeface="微软雅黑" panose="020B0503020204020204" pitchFamily="34" charset="-122"/>
                              </a:rPr>
                              <m:t>0</m:t>
                            </m:r>
                          </m:sub>
                        </m:sSub>
                      </m:oMath>
                    </m:oMathPara>
                  </a14:m>
                  <a:endParaRPr lang="zh-CN" altLang="en-US" sz="2000" dirty="0">
                    <a:solidFill>
                      <a:schemeClr val="tx1"/>
                    </a:solidFill>
                  </a:endParaRPr>
                </a:p>
              </p:txBody>
            </p:sp>
          </mc:Choice>
          <mc:Fallback xmlns="">
            <p:sp>
              <p:nvSpPr>
                <p:cNvPr id="34" name="文本框 33">
                  <a:extLst>
                    <a:ext uri="{FF2B5EF4-FFF2-40B4-BE49-F238E27FC236}">
                      <a16:creationId xmlns:a16="http://schemas.microsoft.com/office/drawing/2014/main" id="{64A42079-20E1-3E11-695B-7DE2AA74BB41}"/>
                    </a:ext>
                  </a:extLst>
                </p:cNvPr>
                <p:cNvSpPr txBox="1">
                  <a:spLocks noRot="1" noChangeAspect="1" noMove="1" noResize="1" noEditPoints="1" noAdjustHandles="1" noChangeArrowheads="1" noChangeShapeType="1" noTextEdit="1"/>
                </p:cNvSpPr>
                <p:nvPr/>
              </p:nvSpPr>
              <p:spPr>
                <a:xfrm>
                  <a:off x="7344000" y="5148000"/>
                  <a:ext cx="864000" cy="400110"/>
                </a:xfrm>
                <a:prstGeom prst="rect">
                  <a:avLst/>
                </a:prstGeom>
                <a:blipFill>
                  <a:blip r:embed="rId30"/>
                  <a:stretch>
                    <a:fillRect r="-3521"/>
                  </a:stretch>
                </a:blipFill>
              </p:spPr>
              <p:txBody>
                <a:bodyPr/>
                <a:lstStyle/>
                <a:p>
                  <a:r>
                    <a:rPr lang="zh-CN" altLang="en-US">
                      <a:noFill/>
                    </a:rPr>
                    <a:t> </a:t>
                  </a:r>
                </a:p>
              </p:txBody>
            </p:sp>
          </mc:Fallback>
        </mc:AlternateContent>
        <p:cxnSp>
          <p:nvCxnSpPr>
            <p:cNvPr id="35" name="直接连接符 34">
              <a:extLst>
                <a:ext uri="{FF2B5EF4-FFF2-40B4-BE49-F238E27FC236}">
                  <a16:creationId xmlns:a16="http://schemas.microsoft.com/office/drawing/2014/main" id="{B5AFC8BA-48D9-C114-0ED6-62967C816927}"/>
                </a:ext>
              </a:extLst>
            </p:cNvPr>
            <p:cNvCxnSpPr>
              <a:cxnSpLocks/>
            </p:cNvCxnSpPr>
            <p:nvPr/>
          </p:nvCxnSpPr>
          <p:spPr>
            <a:xfrm>
              <a:off x="8010000" y="3672000"/>
              <a:ext cx="0" cy="75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A711C426-6F1C-7D5B-0D11-5A52619C45C9}"/>
                </a:ext>
              </a:extLst>
            </p:cNvPr>
            <p:cNvCxnSpPr>
              <a:cxnSpLocks/>
            </p:cNvCxnSpPr>
            <p:nvPr/>
          </p:nvCxnSpPr>
          <p:spPr>
            <a:xfrm>
              <a:off x="8586000" y="3510000"/>
              <a:ext cx="0" cy="91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椭圆 36">
              <a:extLst>
                <a:ext uri="{FF2B5EF4-FFF2-40B4-BE49-F238E27FC236}">
                  <a16:creationId xmlns:a16="http://schemas.microsoft.com/office/drawing/2014/main" id="{AEDB5966-DE7E-7267-18F3-E826AE180392}"/>
                </a:ext>
              </a:extLst>
            </p:cNvPr>
            <p:cNvSpPr/>
            <p:nvPr/>
          </p:nvSpPr>
          <p:spPr>
            <a:xfrm>
              <a:off x="7956000" y="433800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0357E3F5-E5A2-44CA-FC0C-EEDA8565F465}"/>
                </a:ext>
              </a:extLst>
            </p:cNvPr>
            <p:cNvSpPr/>
            <p:nvPr/>
          </p:nvSpPr>
          <p:spPr>
            <a:xfrm>
              <a:off x="8530862" y="433800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39" name="直接连接符 38">
              <a:extLst>
                <a:ext uri="{FF2B5EF4-FFF2-40B4-BE49-F238E27FC236}">
                  <a16:creationId xmlns:a16="http://schemas.microsoft.com/office/drawing/2014/main" id="{7420534B-A6EB-E208-A29E-641CB54F97B6}"/>
                </a:ext>
              </a:extLst>
            </p:cNvPr>
            <p:cNvCxnSpPr>
              <a:cxnSpLocks/>
            </p:cNvCxnSpPr>
            <p:nvPr/>
          </p:nvCxnSpPr>
          <p:spPr>
            <a:xfrm>
              <a:off x="7146000" y="4068000"/>
              <a:ext cx="0" cy="396094"/>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6F30448A-9C97-BBA6-D330-0248D8008F81}"/>
                </a:ext>
              </a:extLst>
            </p:cNvPr>
            <p:cNvCxnSpPr>
              <a:cxnSpLocks/>
              <a:stCxn id="30" idx="2"/>
            </p:cNvCxnSpPr>
            <p:nvPr/>
          </p:nvCxnSpPr>
          <p:spPr>
            <a:xfrm flipH="1">
              <a:off x="7775998" y="5544000"/>
              <a:ext cx="0" cy="360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椭圆 40">
              <a:extLst>
                <a:ext uri="{FF2B5EF4-FFF2-40B4-BE49-F238E27FC236}">
                  <a16:creationId xmlns:a16="http://schemas.microsoft.com/office/drawing/2014/main" id="{F78CA163-8A2F-0B38-BC17-422DA5191C5C}"/>
                </a:ext>
              </a:extLst>
            </p:cNvPr>
            <p:cNvSpPr/>
            <p:nvPr/>
          </p:nvSpPr>
          <p:spPr>
            <a:xfrm>
              <a:off x="7074000" y="3996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id="{767F7763-6B39-A52C-EC4A-83BD12F460F6}"/>
                    </a:ext>
                  </a:extLst>
                </p:cNvPr>
                <p:cNvSpPr/>
                <p:nvPr/>
              </p:nvSpPr>
              <p:spPr>
                <a:xfrm>
                  <a:off x="9216000" y="4464000"/>
                  <a:ext cx="2160000" cy="1080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r"/>
                  <a:r>
                    <a:rPr lang="en-US" altLang="zh-CN" sz="1600" dirty="0">
                      <a:solidFill>
                        <a:srgbClr val="7030A0"/>
                      </a:solidFill>
                      <a:latin typeface="微软雅黑" panose="020B0503020204020204" pitchFamily="34" charset="-122"/>
                      <a:ea typeface="微软雅黑" panose="020B0503020204020204" pitchFamily="34" charset="-122"/>
                    </a:rPr>
                    <a:t>        8K </a:t>
                  </a:r>
                  <a14:m>
                    <m:oMath xmlns:m="http://schemas.openxmlformats.org/officeDocument/2006/math">
                      <m:r>
                        <a:rPr kumimoji="1" lang="en-US" altLang="zh-CN" sz="1600" i="1">
                          <a:solidFill>
                            <a:srgbClr val="7030A0"/>
                          </a:solidFill>
                          <a:latin typeface="Cambria Math" panose="02040503050406030204" pitchFamily="18" charset="0"/>
                          <a:ea typeface="Cambria Math" panose="02040503050406030204" pitchFamily="18" charset="0"/>
                        </a:rPr>
                        <m:t>×</m:t>
                      </m:r>
                    </m:oMath>
                  </a14:m>
                  <a:r>
                    <a:rPr lang="en-US" altLang="zh-CN" sz="1600" dirty="0">
                      <a:solidFill>
                        <a:srgbClr val="7030A0"/>
                      </a:solidFill>
                      <a:latin typeface="微软雅黑" panose="020B0503020204020204" pitchFamily="34" charset="-122"/>
                      <a:ea typeface="微软雅黑" panose="020B0503020204020204" pitchFamily="34" charset="-122"/>
                    </a:rPr>
                    <a:t> 8 </a:t>
                  </a:r>
                  <a:r>
                    <a:rPr lang="zh-CN" altLang="en-US" sz="1600" dirty="0">
                      <a:solidFill>
                        <a:srgbClr val="7030A0"/>
                      </a:solidFill>
                      <a:latin typeface="微软雅黑" panose="020B0503020204020204" pitchFamily="34" charset="-122"/>
                      <a:ea typeface="微软雅黑" panose="020B0503020204020204" pitchFamily="34" charset="-122"/>
                    </a:rPr>
                    <a:t>位（</a:t>
                  </a:r>
                  <a:r>
                    <a:rPr lang="en-US" altLang="zh-CN" sz="1600" dirty="0">
                      <a:solidFill>
                        <a:srgbClr val="7030A0"/>
                      </a:solidFill>
                      <a:latin typeface="微软雅黑" panose="020B0503020204020204" pitchFamily="34" charset="-122"/>
                      <a:ea typeface="微软雅黑" panose="020B0503020204020204" pitchFamily="34" charset="-122"/>
                    </a:rPr>
                    <a:t>0</a:t>
                  </a:r>
                  <a:r>
                    <a:rPr lang="zh-CN" altLang="en-US" sz="1600" dirty="0">
                      <a:solidFill>
                        <a:srgbClr val="7030A0"/>
                      </a:solidFill>
                      <a:latin typeface="微软雅黑" panose="020B0503020204020204" pitchFamily="34" charset="-122"/>
                      <a:ea typeface="微软雅黑" panose="020B0503020204020204" pitchFamily="34" charset="-122"/>
                    </a:rPr>
                    <a:t>）</a:t>
                  </a:r>
                </a:p>
              </p:txBody>
            </p:sp>
          </mc:Choice>
          <mc:Fallback xmlns="">
            <p:sp>
              <p:nvSpPr>
                <p:cNvPr id="43" name="矩形 42">
                  <a:extLst>
                    <a:ext uri="{FF2B5EF4-FFF2-40B4-BE49-F238E27FC236}">
                      <a16:creationId xmlns:a16="http://schemas.microsoft.com/office/drawing/2014/main" id="{767F7763-6B39-A52C-EC4A-83BD12F460F6}"/>
                    </a:ext>
                  </a:extLst>
                </p:cNvPr>
                <p:cNvSpPr>
                  <a:spLocks noRot="1" noChangeAspect="1" noMove="1" noResize="1" noEditPoints="1" noAdjustHandles="1" noChangeArrowheads="1" noChangeShapeType="1" noTextEdit="1"/>
                </p:cNvSpPr>
                <p:nvPr/>
              </p:nvSpPr>
              <p:spPr>
                <a:xfrm>
                  <a:off x="9216000" y="4464000"/>
                  <a:ext cx="2160000" cy="1080000"/>
                </a:xfrm>
                <a:prstGeom prst="rect">
                  <a:avLst/>
                </a:prstGeom>
                <a:blipFill>
                  <a:blip r:embed="rId31"/>
                  <a:stretch>
                    <a:fillRect r="-838"/>
                  </a:stretch>
                </a:blipFill>
                <a:ln w="25400"/>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4459F83C-B613-C8F2-68FD-6845B9967CE1}"/>
                    </a:ext>
                  </a:extLst>
                </p:cNvPr>
                <p:cNvSpPr txBox="1"/>
                <p:nvPr/>
              </p:nvSpPr>
              <p:spPr>
                <a:xfrm>
                  <a:off x="9180000" y="4428000"/>
                  <a:ext cx="972000" cy="36000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kumimoji="1" lang="en-US" altLang="zh-CN" sz="2000" i="1" smtClean="0">
                                <a:latin typeface="Cambria Math" panose="02040503050406030204" pitchFamily="18" charset="0"/>
                                <a:ea typeface="微软雅黑" panose="020B0503020204020204" pitchFamily="34" charset="-122"/>
                              </a:rPr>
                            </m:ctrlPr>
                          </m:sSubPr>
                          <m:e>
                            <m:r>
                              <m:rPr>
                                <m:sty m:val="p"/>
                              </m:rPr>
                              <a:rPr kumimoji="1" lang="en-US" altLang="zh-CN" sz="2000">
                                <a:latin typeface="Cambria Math" panose="02040503050406030204" pitchFamily="18" charset="0"/>
                                <a:ea typeface="微软雅黑" panose="020B0503020204020204" pitchFamily="34" charset="-122"/>
                              </a:rPr>
                              <m:t>A</m:t>
                            </m:r>
                          </m:e>
                          <m:sub>
                            <m:r>
                              <a:rPr kumimoji="1" lang="en-US" altLang="zh-CN" sz="2000">
                                <a:latin typeface="Cambria Math" panose="02040503050406030204" pitchFamily="18" charset="0"/>
                                <a:ea typeface="微软雅黑" panose="020B0503020204020204" pitchFamily="34" charset="-122"/>
                              </a:rPr>
                              <m:t>1</m:t>
                            </m:r>
                            <m:r>
                              <a:rPr kumimoji="1" lang="en-US" altLang="zh-CN" sz="2000" i="1">
                                <a:latin typeface="Cambria Math" panose="02040503050406030204" pitchFamily="18" charset="0"/>
                                <a:ea typeface="微软雅黑" panose="020B0503020204020204" pitchFamily="34" charset="-122"/>
                              </a:rPr>
                              <m:t>2</m:t>
                            </m:r>
                          </m:sub>
                        </m:sSub>
                        <m:r>
                          <a:rPr kumimoji="1" lang="en-US" altLang="zh-CN" sz="2000" i="1">
                            <a:latin typeface="Cambria Math" panose="02040503050406030204" pitchFamily="18" charset="0"/>
                            <a:ea typeface="微软雅黑" panose="020B0503020204020204" pitchFamily="34" charset="-122"/>
                          </a:rPr>
                          <m:t>~</m:t>
                        </m:r>
                        <m:sSub>
                          <m:sSubPr>
                            <m:ctrlPr>
                              <a:rPr kumimoji="1" lang="en-US" altLang="zh-CN" sz="2000" i="1">
                                <a:latin typeface="Cambria Math" panose="02040503050406030204" pitchFamily="18" charset="0"/>
                                <a:ea typeface="微软雅黑" panose="020B0503020204020204" pitchFamily="34" charset="-122"/>
                              </a:rPr>
                            </m:ctrlPr>
                          </m:sSubPr>
                          <m:e>
                            <m:r>
                              <m:rPr>
                                <m:sty m:val="p"/>
                              </m:rPr>
                              <a:rPr kumimoji="1" lang="en-US" altLang="zh-CN" sz="2000">
                                <a:latin typeface="Cambria Math" panose="02040503050406030204" pitchFamily="18" charset="0"/>
                                <a:ea typeface="微软雅黑" panose="020B0503020204020204" pitchFamily="34" charset="-122"/>
                              </a:rPr>
                              <m:t>A</m:t>
                            </m:r>
                          </m:e>
                          <m:sub>
                            <m:r>
                              <a:rPr kumimoji="1" lang="en-US" altLang="zh-CN" sz="2000" i="1">
                                <a:latin typeface="Cambria Math" panose="02040503050406030204" pitchFamily="18" charset="0"/>
                                <a:ea typeface="微软雅黑" panose="020B0503020204020204" pitchFamily="34" charset="-122"/>
                              </a:rPr>
                              <m:t>0</m:t>
                            </m:r>
                          </m:sub>
                        </m:sSub>
                      </m:oMath>
                    </m:oMathPara>
                  </a14:m>
                  <a:endParaRPr lang="zh-CN" altLang="en-US" sz="2000" dirty="0">
                    <a:solidFill>
                      <a:schemeClr val="tx1"/>
                    </a:solidFill>
                  </a:endParaRPr>
                </a:p>
              </p:txBody>
            </p:sp>
          </mc:Choice>
          <mc:Fallback xmlns="">
            <p:sp>
              <p:nvSpPr>
                <p:cNvPr id="44" name="文本框 43">
                  <a:extLst>
                    <a:ext uri="{FF2B5EF4-FFF2-40B4-BE49-F238E27FC236}">
                      <a16:creationId xmlns:a16="http://schemas.microsoft.com/office/drawing/2014/main" id="{4459F83C-B613-C8F2-68FD-6845B9967CE1}"/>
                    </a:ext>
                  </a:extLst>
                </p:cNvPr>
                <p:cNvSpPr txBox="1">
                  <a:spLocks noRot="1" noChangeAspect="1" noMove="1" noResize="1" noEditPoints="1" noAdjustHandles="1" noChangeArrowheads="1" noChangeShapeType="1" noTextEdit="1"/>
                </p:cNvSpPr>
                <p:nvPr/>
              </p:nvSpPr>
              <p:spPr>
                <a:xfrm>
                  <a:off x="9180000" y="4428000"/>
                  <a:ext cx="972000" cy="360000"/>
                </a:xfrm>
                <a:prstGeom prst="rect">
                  <a:avLst/>
                </a:prstGeom>
                <a:blipFill>
                  <a:blip r:embed="rId32"/>
                  <a:stretch>
                    <a:fillRect r="-1887" b="-118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B83E1EE9-59B2-DCCB-F89D-6557699ECE7B}"/>
                    </a:ext>
                  </a:extLst>
                </p:cNvPr>
                <p:cNvSpPr txBox="1"/>
                <p:nvPr/>
              </p:nvSpPr>
              <p:spPr>
                <a:xfrm>
                  <a:off x="10887880" y="4428000"/>
                  <a:ext cx="432000" cy="360000"/>
                </a:xfrm>
                <a:prstGeom prst="rect">
                  <a:avLst/>
                </a:prstGeom>
                <a:noFill/>
              </p:spPr>
              <p:txBody>
                <a:bodyPr wrap="square">
                  <a:spAutoFit/>
                </a:bodyPr>
                <a:lstStyle/>
                <a:p>
                  <a14:m>
                    <m:oMath xmlns:m="http://schemas.openxmlformats.org/officeDocument/2006/math">
                      <m:r>
                        <m:rPr>
                          <m:sty m:val="p"/>
                        </m:rPr>
                        <a:rPr kumimoji="1" lang="en-US" altLang="zh-CN" sz="2000">
                          <a:latin typeface="Cambria Math" panose="02040503050406030204" pitchFamily="18" charset="0"/>
                          <a:ea typeface="微软雅黑" panose="020B0503020204020204" pitchFamily="34" charset="-122"/>
                        </a:rPr>
                        <m:t>C</m:t>
                      </m:r>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E</m:t>
                      </m:r>
                    </m:oMath>
                  </a14:m>
                  <a:r>
                    <a:rPr kumimoji="1" lang="en-US" altLang="zh-CN" sz="2000" dirty="0">
                      <a:solidFill>
                        <a:schemeClr val="tx1"/>
                      </a:solidFill>
                      <a:latin typeface="微软雅黑" panose="020B0503020204020204" pitchFamily="34" charset="-122"/>
                      <a:ea typeface="微软雅黑" panose="020B0503020204020204" pitchFamily="34" charset="-122"/>
                    </a:rPr>
                    <a:t> </a:t>
                  </a:r>
                  <a:endParaRPr lang="zh-CN" altLang="en-US" sz="2000" dirty="0">
                    <a:solidFill>
                      <a:schemeClr val="tx1"/>
                    </a:solidFill>
                  </a:endParaRPr>
                </a:p>
              </p:txBody>
            </p:sp>
          </mc:Choice>
          <mc:Fallback xmlns="">
            <p:sp>
              <p:nvSpPr>
                <p:cNvPr id="45" name="文本框 44">
                  <a:extLst>
                    <a:ext uri="{FF2B5EF4-FFF2-40B4-BE49-F238E27FC236}">
                      <a16:creationId xmlns:a16="http://schemas.microsoft.com/office/drawing/2014/main" id="{B83E1EE9-59B2-DCCB-F89D-6557699ECE7B}"/>
                    </a:ext>
                  </a:extLst>
                </p:cNvPr>
                <p:cNvSpPr txBox="1">
                  <a:spLocks noRot="1" noChangeAspect="1" noMove="1" noResize="1" noEditPoints="1" noAdjustHandles="1" noChangeArrowheads="1" noChangeShapeType="1" noTextEdit="1"/>
                </p:cNvSpPr>
                <p:nvPr/>
              </p:nvSpPr>
              <p:spPr>
                <a:xfrm>
                  <a:off x="10887880" y="4428000"/>
                  <a:ext cx="432000" cy="360000"/>
                </a:xfrm>
                <a:prstGeom prst="rect">
                  <a:avLst/>
                </a:prstGeom>
                <a:blipFill>
                  <a:blip r:embed="rId33"/>
                  <a:stretch>
                    <a:fillRect r="-8451" b="-33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02BB66E9-FD55-CC7E-5D54-601F89F87FA0}"/>
                    </a:ext>
                  </a:extLst>
                </p:cNvPr>
                <p:cNvSpPr txBox="1"/>
                <p:nvPr/>
              </p:nvSpPr>
              <p:spPr>
                <a:xfrm>
                  <a:off x="10260000" y="4428000"/>
                  <a:ext cx="540000" cy="36000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kumimoji="1" lang="en-US" altLang="zh-CN" sz="2000">
                            <a:latin typeface="Cambria Math" panose="02040503050406030204" pitchFamily="18" charset="0"/>
                            <a:ea typeface="微软雅黑" panose="020B0503020204020204" pitchFamily="34" charset="-122"/>
                          </a:rPr>
                          <m:t>WE</m:t>
                        </m:r>
                      </m:oMath>
                    </m:oMathPara>
                  </a14:m>
                  <a:endParaRPr lang="zh-CN" altLang="en-US" sz="2000" dirty="0">
                    <a:solidFill>
                      <a:schemeClr val="tx1"/>
                    </a:solidFill>
                  </a:endParaRPr>
                </a:p>
              </p:txBody>
            </p:sp>
          </mc:Choice>
          <mc:Fallback xmlns="">
            <p:sp>
              <p:nvSpPr>
                <p:cNvPr id="46" name="文本框 45">
                  <a:extLst>
                    <a:ext uri="{FF2B5EF4-FFF2-40B4-BE49-F238E27FC236}">
                      <a16:creationId xmlns:a16="http://schemas.microsoft.com/office/drawing/2014/main" id="{02BB66E9-FD55-CC7E-5D54-601F89F87FA0}"/>
                    </a:ext>
                  </a:extLst>
                </p:cNvPr>
                <p:cNvSpPr txBox="1">
                  <a:spLocks noRot="1" noChangeAspect="1" noMove="1" noResize="1" noEditPoints="1" noAdjustHandles="1" noChangeArrowheads="1" noChangeShapeType="1" noTextEdit="1"/>
                </p:cNvSpPr>
                <p:nvPr/>
              </p:nvSpPr>
              <p:spPr>
                <a:xfrm>
                  <a:off x="10260000" y="4428000"/>
                  <a:ext cx="540000" cy="360000"/>
                </a:xfrm>
                <a:prstGeom prst="rect">
                  <a:avLst/>
                </a:prstGeom>
                <a:blipFill>
                  <a:blip r:embed="rId34"/>
                  <a:stretch>
                    <a:fillRect r="-4545" b="-33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A2159011-7024-CCBD-70D4-36CC8BBB3F34}"/>
                    </a:ext>
                  </a:extLst>
                </p:cNvPr>
                <p:cNvSpPr txBox="1"/>
                <p:nvPr/>
              </p:nvSpPr>
              <p:spPr>
                <a:xfrm>
                  <a:off x="9864000" y="5148000"/>
                  <a:ext cx="864000" cy="400110"/>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D</m:t>
                            </m:r>
                          </m:e>
                          <m:sub>
                            <m:r>
                              <a:rPr kumimoji="1" lang="en-US" altLang="zh-CN" sz="2000" i="1">
                                <a:latin typeface="Cambria Math" panose="02040503050406030204" pitchFamily="18" charset="0"/>
                                <a:ea typeface="微软雅黑" panose="020B0503020204020204" pitchFamily="34" charset="-122"/>
                              </a:rPr>
                              <m:t>7</m:t>
                            </m:r>
                          </m:sub>
                        </m:sSub>
                        <m:r>
                          <a:rPr kumimoji="1" lang="en-US" altLang="zh-CN" sz="2000" i="1">
                            <a:latin typeface="Cambria Math" panose="02040503050406030204" pitchFamily="18" charset="0"/>
                            <a:ea typeface="微软雅黑" panose="020B0503020204020204" pitchFamily="34" charset="-122"/>
                          </a:rPr>
                          <m:t>~</m:t>
                        </m:r>
                        <m:sSub>
                          <m:sSubPr>
                            <m:ctrlPr>
                              <a:rPr kumimoji="1" lang="en-US" altLang="zh-CN" sz="2000" i="1">
                                <a:latin typeface="Cambria Math" panose="02040503050406030204" pitchFamily="18" charset="0"/>
                                <a:ea typeface="微软雅黑" panose="020B0503020204020204" pitchFamily="34" charset="-122"/>
                              </a:rPr>
                            </m:ctrlPr>
                          </m:sSubPr>
                          <m:e>
                            <m:r>
                              <m:rPr>
                                <m:sty m:val="p"/>
                              </m:rPr>
                              <a:rPr kumimoji="1" lang="en-US" altLang="zh-CN" sz="2000" b="0" i="0" smtClean="0">
                                <a:latin typeface="Cambria Math" panose="02040503050406030204" pitchFamily="18" charset="0"/>
                                <a:ea typeface="微软雅黑" panose="020B0503020204020204" pitchFamily="34" charset="-122"/>
                              </a:rPr>
                              <m:t>D</m:t>
                            </m:r>
                          </m:e>
                          <m:sub>
                            <m:r>
                              <a:rPr kumimoji="1" lang="en-US" altLang="zh-CN" sz="2000" i="1" smtClean="0">
                                <a:latin typeface="Cambria Math" panose="02040503050406030204" pitchFamily="18" charset="0"/>
                                <a:ea typeface="微软雅黑" panose="020B0503020204020204" pitchFamily="34" charset="-122"/>
                              </a:rPr>
                              <m:t>0</m:t>
                            </m:r>
                          </m:sub>
                        </m:sSub>
                      </m:oMath>
                    </m:oMathPara>
                  </a14:m>
                  <a:endParaRPr lang="zh-CN" altLang="en-US" sz="2000" dirty="0">
                    <a:solidFill>
                      <a:schemeClr val="tx1"/>
                    </a:solidFill>
                  </a:endParaRPr>
                </a:p>
              </p:txBody>
            </p:sp>
          </mc:Choice>
          <mc:Fallback xmlns="">
            <p:sp>
              <p:nvSpPr>
                <p:cNvPr id="47" name="文本框 46">
                  <a:extLst>
                    <a:ext uri="{FF2B5EF4-FFF2-40B4-BE49-F238E27FC236}">
                      <a16:creationId xmlns:a16="http://schemas.microsoft.com/office/drawing/2014/main" id="{A2159011-7024-CCBD-70D4-36CC8BBB3F34}"/>
                    </a:ext>
                  </a:extLst>
                </p:cNvPr>
                <p:cNvSpPr txBox="1">
                  <a:spLocks noRot="1" noChangeAspect="1" noMove="1" noResize="1" noEditPoints="1" noAdjustHandles="1" noChangeArrowheads="1" noChangeShapeType="1" noTextEdit="1"/>
                </p:cNvSpPr>
                <p:nvPr/>
              </p:nvSpPr>
              <p:spPr>
                <a:xfrm>
                  <a:off x="9864000" y="5148000"/>
                  <a:ext cx="864000" cy="400110"/>
                </a:xfrm>
                <a:prstGeom prst="rect">
                  <a:avLst/>
                </a:prstGeom>
                <a:blipFill>
                  <a:blip r:embed="rId35"/>
                  <a:stretch>
                    <a:fillRect r="-3521"/>
                  </a:stretch>
                </a:blipFill>
              </p:spPr>
              <p:txBody>
                <a:bodyPr/>
                <a:lstStyle/>
                <a:p>
                  <a:r>
                    <a:rPr lang="zh-CN" altLang="en-US">
                      <a:noFill/>
                    </a:rPr>
                    <a:t> </a:t>
                  </a:r>
                </a:p>
              </p:txBody>
            </p:sp>
          </mc:Fallback>
        </mc:AlternateContent>
        <p:cxnSp>
          <p:nvCxnSpPr>
            <p:cNvPr id="48" name="直接连接符 47">
              <a:extLst>
                <a:ext uri="{FF2B5EF4-FFF2-40B4-BE49-F238E27FC236}">
                  <a16:creationId xmlns:a16="http://schemas.microsoft.com/office/drawing/2014/main" id="{BC04AE07-F352-42F4-F764-99CE8C7CCE7E}"/>
                </a:ext>
              </a:extLst>
            </p:cNvPr>
            <p:cNvCxnSpPr>
              <a:cxnSpLocks/>
            </p:cNvCxnSpPr>
            <p:nvPr/>
          </p:nvCxnSpPr>
          <p:spPr>
            <a:xfrm>
              <a:off x="10530000" y="3672000"/>
              <a:ext cx="0" cy="75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43AE6809-CF2A-A773-4066-B61A3212C8EC}"/>
                </a:ext>
              </a:extLst>
            </p:cNvPr>
            <p:cNvCxnSpPr>
              <a:cxnSpLocks/>
            </p:cNvCxnSpPr>
            <p:nvPr/>
          </p:nvCxnSpPr>
          <p:spPr>
            <a:xfrm>
              <a:off x="11106000" y="3402000"/>
              <a:ext cx="0" cy="1044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椭圆 49">
              <a:extLst>
                <a:ext uri="{FF2B5EF4-FFF2-40B4-BE49-F238E27FC236}">
                  <a16:creationId xmlns:a16="http://schemas.microsoft.com/office/drawing/2014/main" id="{7F70BEED-F3D6-D9F5-B115-3C645948CB0B}"/>
                </a:ext>
              </a:extLst>
            </p:cNvPr>
            <p:cNvSpPr/>
            <p:nvPr/>
          </p:nvSpPr>
          <p:spPr>
            <a:xfrm>
              <a:off x="10476000" y="433800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51" name="椭圆 50">
              <a:extLst>
                <a:ext uri="{FF2B5EF4-FFF2-40B4-BE49-F238E27FC236}">
                  <a16:creationId xmlns:a16="http://schemas.microsoft.com/office/drawing/2014/main" id="{7698E9BC-2E6B-741B-FEC7-E8DE8B7476AF}"/>
                </a:ext>
              </a:extLst>
            </p:cNvPr>
            <p:cNvSpPr/>
            <p:nvPr/>
          </p:nvSpPr>
          <p:spPr>
            <a:xfrm>
              <a:off x="11050862" y="433800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52" name="直接连接符 51">
              <a:extLst>
                <a:ext uri="{FF2B5EF4-FFF2-40B4-BE49-F238E27FC236}">
                  <a16:creationId xmlns:a16="http://schemas.microsoft.com/office/drawing/2014/main" id="{B13488C7-DFF2-5EB6-8F1E-7681622212FB}"/>
                </a:ext>
              </a:extLst>
            </p:cNvPr>
            <p:cNvCxnSpPr>
              <a:cxnSpLocks/>
            </p:cNvCxnSpPr>
            <p:nvPr/>
          </p:nvCxnSpPr>
          <p:spPr>
            <a:xfrm>
              <a:off x="9666000" y="4068000"/>
              <a:ext cx="0" cy="396094"/>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E9446DA0-C55D-3C8E-3A67-2292A41D763C}"/>
                </a:ext>
              </a:extLst>
            </p:cNvPr>
            <p:cNvCxnSpPr>
              <a:cxnSpLocks/>
              <a:stCxn id="43" idx="2"/>
            </p:cNvCxnSpPr>
            <p:nvPr/>
          </p:nvCxnSpPr>
          <p:spPr>
            <a:xfrm flipH="1">
              <a:off x="10295998" y="5544000"/>
              <a:ext cx="0" cy="360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椭圆 54">
              <a:extLst>
                <a:ext uri="{FF2B5EF4-FFF2-40B4-BE49-F238E27FC236}">
                  <a16:creationId xmlns:a16="http://schemas.microsoft.com/office/drawing/2014/main" id="{BB3BFB8A-FD81-79D7-0BD1-45C794CE7688}"/>
                </a:ext>
              </a:extLst>
            </p:cNvPr>
            <p:cNvSpPr/>
            <p:nvPr/>
          </p:nvSpPr>
          <p:spPr>
            <a:xfrm>
              <a:off x="5004000" y="5832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56" name="椭圆 55">
              <a:extLst>
                <a:ext uri="{FF2B5EF4-FFF2-40B4-BE49-F238E27FC236}">
                  <a16:creationId xmlns:a16="http://schemas.microsoft.com/office/drawing/2014/main" id="{88A66344-666E-F6EB-ED83-A2DDE34D0ED3}"/>
                </a:ext>
              </a:extLst>
            </p:cNvPr>
            <p:cNvSpPr/>
            <p:nvPr/>
          </p:nvSpPr>
          <p:spPr>
            <a:xfrm>
              <a:off x="7704000" y="5832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58" name="椭圆 57">
              <a:extLst>
                <a:ext uri="{FF2B5EF4-FFF2-40B4-BE49-F238E27FC236}">
                  <a16:creationId xmlns:a16="http://schemas.microsoft.com/office/drawing/2014/main" id="{60433CAA-B5F5-9849-A6CD-A2AA39809D4B}"/>
                </a:ext>
              </a:extLst>
            </p:cNvPr>
            <p:cNvSpPr/>
            <p:nvPr/>
          </p:nvSpPr>
          <p:spPr>
            <a:xfrm>
              <a:off x="6354000" y="5832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59" name="直接连接符 58">
              <a:extLst>
                <a:ext uri="{FF2B5EF4-FFF2-40B4-BE49-F238E27FC236}">
                  <a16:creationId xmlns:a16="http://schemas.microsoft.com/office/drawing/2014/main" id="{8684DBF5-CD73-4792-7243-EF3BDC5192E0}"/>
                </a:ext>
              </a:extLst>
            </p:cNvPr>
            <p:cNvCxnSpPr>
              <a:cxnSpLocks/>
            </p:cNvCxnSpPr>
            <p:nvPr/>
          </p:nvCxnSpPr>
          <p:spPr>
            <a:xfrm flipH="1">
              <a:off x="6426000" y="5904000"/>
              <a:ext cx="0" cy="360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3" name="椭圆 62">
              <a:extLst>
                <a:ext uri="{FF2B5EF4-FFF2-40B4-BE49-F238E27FC236}">
                  <a16:creationId xmlns:a16="http://schemas.microsoft.com/office/drawing/2014/main" id="{6DF04929-7D90-8419-629D-5055203CC8FD}"/>
                </a:ext>
              </a:extLst>
            </p:cNvPr>
            <p:cNvSpPr/>
            <p:nvPr/>
          </p:nvSpPr>
          <p:spPr>
            <a:xfrm>
              <a:off x="5238000" y="3600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64" name="椭圆 63">
              <a:extLst>
                <a:ext uri="{FF2B5EF4-FFF2-40B4-BE49-F238E27FC236}">
                  <a16:creationId xmlns:a16="http://schemas.microsoft.com/office/drawing/2014/main" id="{E71B1082-D62C-B048-784A-E111017F1153}"/>
                </a:ext>
              </a:extLst>
            </p:cNvPr>
            <p:cNvSpPr/>
            <p:nvPr/>
          </p:nvSpPr>
          <p:spPr>
            <a:xfrm>
              <a:off x="2538000" y="3600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65" name="椭圆 64">
              <a:extLst>
                <a:ext uri="{FF2B5EF4-FFF2-40B4-BE49-F238E27FC236}">
                  <a16:creationId xmlns:a16="http://schemas.microsoft.com/office/drawing/2014/main" id="{5394BB7C-33BE-9852-5362-9D8728E68173}"/>
                </a:ext>
              </a:extLst>
            </p:cNvPr>
            <p:cNvSpPr/>
            <p:nvPr/>
          </p:nvSpPr>
          <p:spPr>
            <a:xfrm>
              <a:off x="7938000" y="3600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Tree>
    <p:extLst>
      <p:ext uri="{BB962C8B-B14F-4D97-AF65-F5344CB8AC3E}">
        <p14:creationId xmlns:p14="http://schemas.microsoft.com/office/powerpoint/2010/main" val="29237173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FEB142-39A8-3D14-10FB-AE69E3443E4A}"/>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作业</a:t>
            </a:r>
            <a:endParaRPr lang="zh-CN" altLang="en-US" sz="3000" dirty="0">
              <a:solidFill>
                <a:srgbClr val="FFFF00"/>
              </a:solidFill>
            </a:endParaRPr>
          </a:p>
        </p:txBody>
      </p:sp>
      <p:sp>
        <p:nvSpPr>
          <p:cNvPr id="5" name="文本框 4">
            <a:extLst>
              <a:ext uri="{FF2B5EF4-FFF2-40B4-BE49-F238E27FC236}">
                <a16:creationId xmlns:a16="http://schemas.microsoft.com/office/drawing/2014/main" id="{C3B7170B-E3C7-8884-9AC5-84E71770EE45}"/>
              </a:ext>
            </a:extLst>
          </p:cNvPr>
          <p:cNvSpPr txBox="1"/>
          <p:nvPr/>
        </p:nvSpPr>
        <p:spPr>
          <a:xfrm>
            <a:off x="360001" y="828000"/>
            <a:ext cx="9042416" cy="3549498"/>
          </a:xfrm>
          <a:prstGeom prst="rect">
            <a:avLst/>
          </a:prstGeom>
          <a:noFill/>
        </p:spPr>
        <p:txBody>
          <a:bodyPr wrap="square">
            <a:spAutoFit/>
          </a:bodyPr>
          <a:lstStyle/>
          <a:p>
            <a:pPr>
              <a:lnSpc>
                <a:spcPct val="110000"/>
              </a:lnSpc>
              <a:spcAft>
                <a:spcPct val="30000"/>
              </a:spcAft>
              <a:defRPr/>
            </a:pPr>
            <a:r>
              <a:rPr lang="zh-CN" altLang="en-US" sz="2800" kern="0" dirty="0">
                <a:solidFill>
                  <a:srgbClr val="C00000"/>
                </a:solidFill>
                <a:latin typeface="微软雅黑" panose="020B0503020204020204" pitchFamily="34" charset="-122"/>
                <a:ea typeface="微软雅黑" panose="020B0503020204020204" pitchFamily="34" charset="-122"/>
              </a:rPr>
              <a:t>电子技术基础（数字部分）</a:t>
            </a:r>
            <a:endParaRPr lang="en-US" altLang="zh-CN" sz="2800" kern="0" dirty="0">
              <a:solidFill>
                <a:srgbClr val="C00000"/>
              </a:solidFill>
              <a:latin typeface="微软雅黑" panose="020B0503020204020204" pitchFamily="34" charset="-122"/>
              <a:ea typeface="微软雅黑" panose="020B0503020204020204" pitchFamily="34" charset="-122"/>
            </a:endParaRPr>
          </a:p>
          <a:p>
            <a:pPr>
              <a:lnSpc>
                <a:spcPct val="110000"/>
              </a:lnSpc>
              <a:spcAft>
                <a:spcPct val="30000"/>
              </a:spcAft>
              <a:defRPr/>
            </a:pP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11 </a:t>
            </a:r>
            <a:r>
              <a:rPr lang="zh-CN" altLang="en-US" sz="2800" kern="0" dirty="0">
                <a:solidFill>
                  <a:schemeClr val="accent5">
                    <a:lumMod val="75000"/>
                  </a:schemeClr>
                </a:solidFill>
                <a:latin typeface="微软雅黑" panose="020B0503020204020204" pitchFamily="34" charset="-122"/>
                <a:ea typeface="微软雅黑" panose="020B0503020204020204" pitchFamily="34" charset="-122"/>
              </a:rPr>
              <a:t>月 </a:t>
            </a: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28 </a:t>
            </a:r>
            <a:r>
              <a:rPr lang="zh-CN" altLang="en-US" sz="2800" kern="0" dirty="0">
                <a:solidFill>
                  <a:schemeClr val="accent5">
                    <a:lumMod val="75000"/>
                  </a:schemeClr>
                </a:solidFill>
                <a:latin typeface="微软雅黑" panose="020B0503020204020204" pitchFamily="34" charset="-122"/>
                <a:ea typeface="微软雅黑" panose="020B0503020204020204" pitchFamily="34" charset="-122"/>
              </a:rPr>
              <a:t>日的作业</a:t>
            </a:r>
            <a:endParaRPr lang="en-US" altLang="zh-CN" sz="2800" kern="0" dirty="0">
              <a:solidFill>
                <a:schemeClr val="accent5">
                  <a:lumMod val="75000"/>
                </a:schemeClr>
              </a:solidFill>
              <a:latin typeface="微软雅黑" panose="020B0503020204020204" pitchFamily="34" charset="-122"/>
              <a:ea typeface="微软雅黑" panose="020B0503020204020204" pitchFamily="34" charset="-122"/>
            </a:endParaRPr>
          </a:p>
          <a:p>
            <a:pPr>
              <a:lnSpc>
                <a:spcPct val="110000"/>
              </a:lnSpc>
              <a:spcAft>
                <a:spcPct val="30000"/>
              </a:spcAft>
              <a:defRPr/>
            </a:pP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P351 </a:t>
            </a:r>
            <a:r>
              <a:rPr lang="en-US" altLang="zh-CN" sz="2800" kern="0">
                <a:solidFill>
                  <a:schemeClr val="accent5">
                    <a:lumMod val="75000"/>
                  </a:schemeClr>
                </a:solidFill>
                <a:latin typeface="微软雅黑" panose="020B0503020204020204" pitchFamily="34" charset="-122"/>
                <a:ea typeface="微软雅黑" panose="020B0503020204020204" pitchFamily="34" charset="-122"/>
              </a:rPr>
              <a:t>- 353</a:t>
            </a:r>
            <a:r>
              <a:rPr lang="zh-CN" altLang="en-US" sz="2800" kern="0">
                <a:solidFill>
                  <a:schemeClr val="accent5">
                    <a:lumMod val="75000"/>
                  </a:schemeClr>
                </a:solidFill>
                <a:latin typeface="微软雅黑" panose="020B0503020204020204" pitchFamily="34" charset="-122"/>
                <a:ea typeface="微软雅黑" panose="020B0503020204020204" pitchFamily="34" charset="-122"/>
              </a:rPr>
              <a:t>：</a:t>
            </a:r>
            <a:endParaRPr lang="en-US" altLang="zh-CN" sz="2800" kern="0" dirty="0">
              <a:solidFill>
                <a:schemeClr val="accent5">
                  <a:lumMod val="75000"/>
                </a:schemeClr>
              </a:solidFill>
              <a:latin typeface="微软雅黑" panose="020B0503020204020204" pitchFamily="34" charset="-122"/>
              <a:ea typeface="微软雅黑" panose="020B0503020204020204" pitchFamily="34" charset="-122"/>
            </a:endParaRPr>
          </a:p>
          <a:p>
            <a:pPr lvl="1">
              <a:lnSpc>
                <a:spcPct val="110000"/>
              </a:lnSpc>
              <a:spcAft>
                <a:spcPct val="30000"/>
              </a:spcAft>
              <a:defRPr/>
            </a:pP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7</a:t>
            </a:r>
            <a:r>
              <a:rPr lang="zh-CN" altLang="en-US" sz="2800" kern="0" dirty="0">
                <a:solidFill>
                  <a:schemeClr val="accent5">
                    <a:lumMod val="75000"/>
                  </a:schemeClr>
                </a:solidFill>
                <a:latin typeface="微软雅黑" panose="020B0503020204020204" pitchFamily="34" charset="-122"/>
                <a:ea typeface="微软雅黑" panose="020B0503020204020204" pitchFamily="34" charset="-122"/>
              </a:rPr>
              <a:t>.</a:t>
            </a: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1</a:t>
            </a:r>
            <a:r>
              <a:rPr lang="zh-CN" altLang="en-US" sz="2800" kern="0" dirty="0">
                <a:solidFill>
                  <a:schemeClr val="accent5">
                    <a:lumMod val="75000"/>
                  </a:schemeClr>
                </a:solidFill>
                <a:latin typeface="微软雅黑" panose="020B0503020204020204" pitchFamily="34" charset="-122"/>
                <a:ea typeface="微软雅黑" panose="020B0503020204020204" pitchFamily="34" charset="-122"/>
              </a:rPr>
              <a:t>.1</a:t>
            </a:r>
            <a:endParaRPr lang="en-US" altLang="zh-CN" sz="2800" kern="0" dirty="0">
              <a:solidFill>
                <a:schemeClr val="accent5">
                  <a:lumMod val="75000"/>
                </a:schemeClr>
              </a:solidFill>
              <a:latin typeface="微软雅黑" panose="020B0503020204020204" pitchFamily="34" charset="-122"/>
              <a:ea typeface="微软雅黑" panose="020B0503020204020204" pitchFamily="34" charset="-122"/>
            </a:endParaRPr>
          </a:p>
          <a:p>
            <a:pPr lvl="1">
              <a:lnSpc>
                <a:spcPct val="110000"/>
              </a:lnSpc>
              <a:spcAft>
                <a:spcPct val="30000"/>
              </a:spcAft>
              <a:defRPr/>
            </a:pP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7.1.4</a:t>
            </a:r>
          </a:p>
          <a:p>
            <a:pPr lvl="1">
              <a:lnSpc>
                <a:spcPct val="110000"/>
              </a:lnSpc>
              <a:spcAft>
                <a:spcPct val="30000"/>
              </a:spcAft>
              <a:defRPr/>
            </a:pP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7.2.3</a:t>
            </a:r>
          </a:p>
        </p:txBody>
      </p:sp>
    </p:spTree>
    <p:extLst>
      <p:ext uri="{BB962C8B-B14F-4D97-AF65-F5344CB8AC3E}">
        <p14:creationId xmlns:p14="http://schemas.microsoft.com/office/powerpoint/2010/main" val="184151833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5400">
          <a:solidFill>
            <a:schemeClr val="tx1"/>
          </a:solidFill>
        </a:ln>
      </a:spPr>
      <a:bodyPr rtlCol="0" anchor="ctr"/>
      <a:lstStyle>
        <a:defPPr algn="ctr">
          <a:defRPr/>
        </a:defPPr>
      </a:lstStyle>
      <a:style>
        <a:lnRef idx="2">
          <a:schemeClr val="dk1"/>
        </a:lnRef>
        <a:fillRef idx="1">
          <a:schemeClr val="lt1"/>
        </a:fillRef>
        <a:effectRef idx="0">
          <a:schemeClr val="dk1"/>
        </a:effectRef>
        <a:fontRef idx="minor">
          <a:schemeClr val="dk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30993</TotalTime>
  <Words>2762</Words>
  <Application>Microsoft Office PowerPoint</Application>
  <PresentationFormat>宽屏</PresentationFormat>
  <Paragraphs>785</Paragraphs>
  <Slides>22</Slides>
  <Notes>22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22</vt:i4>
      </vt:variant>
    </vt:vector>
  </HeadingPairs>
  <TitlesOfParts>
    <vt:vector size="30" baseType="lpstr">
      <vt:lpstr>等线</vt:lpstr>
      <vt:lpstr>宋体</vt:lpstr>
      <vt:lpstr>微软雅黑</vt:lpstr>
      <vt:lpstr>Arial</vt:lpstr>
      <vt:lpstr>Cambria Math</vt:lpstr>
      <vt:lpstr>Candara</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Ada Liao</dc:creator>
  <cp:lastModifiedBy>QF</cp:lastModifiedBy>
  <cp:revision>1450</cp:revision>
  <dcterms:created xsi:type="dcterms:W3CDTF">2024-12-23T04:28:42Z</dcterms:created>
  <dcterms:modified xsi:type="dcterms:W3CDTF">2025-12-29T10:59:18Z</dcterms:modified>
</cp:coreProperties>
</file>