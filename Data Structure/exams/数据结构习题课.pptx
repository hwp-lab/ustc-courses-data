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数据结构</a:t>
            </a:r>
            <a:r>
              <a:rPr lang="zh-CN" altLang="zh-CN"/>
              <a:t>习题课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复习</a:t>
            </a:r>
            <a:r>
              <a:rPr lang="zh-CN" altLang="en-US"/>
              <a:t>重点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线性</a:t>
            </a:r>
            <a:r>
              <a:rPr lang="zh-CN" altLang="en-US"/>
              <a:t>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重点概念：</a:t>
            </a:r>
            <a:r>
              <a:rPr lang="en-US" altLang="zh-CN"/>
              <a:t>1.</a:t>
            </a:r>
            <a:r>
              <a:rPr lang="zh-CN" altLang="en-US"/>
              <a:t>线性表中的前驱、后继，序偶关系</a:t>
            </a:r>
            <a:r>
              <a:rPr lang="en-US" altLang="zh-CN"/>
              <a:t>  2.</a:t>
            </a:r>
            <a:r>
              <a:rPr lang="zh-CN" altLang="en-US"/>
              <a:t>掌握顺序表，单链表，双向链表，循环链表，哨兵节点等概念和用法</a:t>
            </a:r>
            <a:endParaRPr lang="zh-CN" altLang="en-US"/>
          </a:p>
          <a:p>
            <a:r>
              <a:rPr lang="zh-CN" altLang="en-US"/>
              <a:t>需要掌握的算法：遍历，插入，删除，查找，初始化，销毁等</a:t>
            </a:r>
            <a:r>
              <a:rPr lang="en-US" altLang="zh-CN"/>
              <a:t>    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对应知识点习题：数据结构习题集</a:t>
            </a:r>
            <a:r>
              <a:rPr lang="en-US" altLang="zh-CN">
                <a:solidFill>
                  <a:schemeClr val="accent6"/>
                </a:solidFill>
              </a:rPr>
              <a:t>2.11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2.15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2.26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2.33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2.41</a:t>
            </a:r>
            <a:r>
              <a:rPr lang="zh-CN" altLang="en-US"/>
              <a:t>，以及</a:t>
            </a:r>
            <a:r>
              <a:rPr lang="zh-CN" altLang="en-US"/>
              <a:t>第三章其他带</a:t>
            </a:r>
            <a:r>
              <a:rPr lang="en-US" altLang="zh-CN"/>
              <a:t>“</a:t>
            </a:r>
            <a:r>
              <a:rPr lang="zh-CN" altLang="en-US"/>
              <a:t>黑色菱形</a:t>
            </a:r>
            <a:r>
              <a:rPr lang="en-US" altLang="zh-CN"/>
              <a:t>”</a:t>
            </a:r>
            <a:r>
              <a:rPr lang="zh-CN" altLang="en-US"/>
              <a:t>的算法题。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栈和</a:t>
            </a:r>
            <a:r>
              <a:rPr lang="zh-CN" altLang="en-US"/>
              <a:t>队列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重点概念：</a:t>
            </a:r>
            <a:r>
              <a:rPr lang="en-US" altLang="zh-CN"/>
              <a:t>1.</a:t>
            </a:r>
            <a:r>
              <a:rPr lang="zh-CN" altLang="en-US"/>
              <a:t>栈：栈顶，栈底，出栈，入栈，</a:t>
            </a:r>
            <a:r>
              <a:rPr lang="zh-CN" altLang="en-US">
                <a:solidFill>
                  <a:srgbClr val="FF0000"/>
                </a:solidFill>
              </a:rPr>
              <a:t>后进先出</a:t>
            </a:r>
            <a:r>
              <a:rPr lang="en-US" altLang="zh-CN">
                <a:solidFill>
                  <a:srgbClr val="FF0000"/>
                </a:solidFill>
              </a:rPr>
              <a:t>    </a:t>
            </a:r>
            <a:r>
              <a:rPr lang="zh-CN" altLang="en-US"/>
              <a:t>队列：队头，队尾，入队，出队，</a:t>
            </a:r>
            <a:r>
              <a:rPr lang="zh-CN" altLang="en-US">
                <a:solidFill>
                  <a:srgbClr val="FF0000"/>
                </a:solidFill>
              </a:rPr>
              <a:t>先进先出</a:t>
            </a:r>
            <a:r>
              <a:rPr lang="en-US" altLang="zh-CN">
                <a:solidFill>
                  <a:srgbClr val="FF0000"/>
                </a:solidFill>
              </a:rPr>
              <a:t>   </a:t>
            </a:r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掌握</a:t>
            </a:r>
            <a:r>
              <a:rPr lang="zh-CN" altLang="en-US"/>
              <a:t>顺序栈，链式栈，循环队列（队空，队满如何判断</a:t>
            </a:r>
            <a:r>
              <a:rPr lang="en-US" altLang="zh-CN"/>
              <a:t> </a:t>
            </a:r>
            <a:r>
              <a:rPr lang="en-US" altLang="zh-CN">
                <a:solidFill>
                  <a:schemeClr val="accent6"/>
                </a:solidFill>
              </a:rPr>
              <a:t>Q.front == Q.rear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 Q.front == (Q.rear + 1) % MAXSIZE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需要掌握的算法：不同存储结构</a:t>
            </a:r>
            <a:r>
              <a:rPr lang="zh-CN" altLang="en-US"/>
              <a:t>的入栈，出栈。入队，出队，循环队列。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对应知识点习题：数据结构习题集</a:t>
            </a:r>
            <a:r>
              <a:rPr lang="en-US" altLang="zh-CN">
                <a:solidFill>
                  <a:schemeClr val="accent6"/>
                </a:solidFill>
              </a:rPr>
              <a:t>3.15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3.17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3.25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3.28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3.30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以及</a:t>
            </a:r>
            <a:r>
              <a:rPr lang="zh-CN" altLang="en-US">
                <a:sym typeface="+mn-ea"/>
              </a:rPr>
              <a:t>第三章其他带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黑色菱形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的算法题。</a:t>
            </a:r>
            <a:endParaRPr lang="zh-CN" altLang="en-US"/>
          </a:p>
          <a:p>
            <a:endParaRPr lang="en-US" altLang="zh-CN"/>
          </a:p>
          <a:p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重点概念：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串长，空串，子串，母串，</a:t>
            </a:r>
            <a:r>
              <a:rPr lang="zh-CN" altLang="en-US">
                <a:solidFill>
                  <a:schemeClr val="accent6"/>
                </a:solidFill>
              </a:rPr>
              <a:t>模式匹配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2.</a:t>
            </a:r>
            <a:r>
              <a:rPr lang="zh-CN" altLang="en-US"/>
              <a:t>掌握串的顺序实现：（</a:t>
            </a:r>
            <a:r>
              <a:rPr lang="en-US" altLang="zh-CN"/>
              <a:t>1</a:t>
            </a:r>
            <a:r>
              <a:rPr lang="zh-CN" altLang="en-US"/>
              <a:t>）定长实现（使用字符数组）（</a:t>
            </a:r>
            <a:r>
              <a:rPr lang="en-US" altLang="zh-CN"/>
              <a:t>2</a:t>
            </a:r>
            <a:r>
              <a:rPr lang="zh-CN" altLang="en-US"/>
              <a:t>）堆实现（使用字符指针）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掌握串的块链实现（类似链式存储，每个节点称作一个块，一个块可以存放单个或多个字符）</a:t>
            </a:r>
            <a:endParaRPr lang="zh-CN" altLang="en-US"/>
          </a:p>
          <a:p>
            <a:r>
              <a:rPr lang="zh-CN" altLang="en-US">
                <a:sym typeface="+mn-ea"/>
              </a:rPr>
              <a:t>需要掌握的算法：</a:t>
            </a:r>
            <a:r>
              <a:rPr lang="zh-CN" altLang="en-US"/>
              <a:t>模式匹配算法：</a:t>
            </a:r>
            <a:r>
              <a:rPr lang="en-US" altLang="zh-CN">
                <a:solidFill>
                  <a:schemeClr val="accent6"/>
                </a:solidFill>
              </a:rPr>
              <a:t>KMP</a:t>
            </a:r>
            <a:r>
              <a:rPr lang="zh-CN" altLang="en-US">
                <a:solidFill>
                  <a:schemeClr val="tx1"/>
                </a:solidFill>
              </a:rPr>
              <a:t>，弄清楚</a:t>
            </a:r>
            <a:r>
              <a:rPr lang="en-US" altLang="zh-CN">
                <a:solidFill>
                  <a:schemeClr val="accent6"/>
                </a:solidFill>
              </a:rPr>
              <a:t>Next</a:t>
            </a:r>
            <a:r>
              <a:rPr lang="zh-CN" altLang="en-US">
                <a:solidFill>
                  <a:schemeClr val="accent6"/>
                </a:solidFill>
              </a:rPr>
              <a:t>函数</a:t>
            </a:r>
            <a:r>
              <a:rPr lang="zh-CN" altLang="en-US">
                <a:solidFill>
                  <a:schemeClr val="tx1"/>
                </a:solidFill>
              </a:rPr>
              <a:t>如何计算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  <a:p>
            <a:r>
              <a:rPr lang="en-US" altLang="zh-CN"/>
              <a:t> </a:t>
            </a:r>
            <a:r>
              <a:rPr lang="zh-CN" altLang="en-US">
                <a:sym typeface="+mn-ea"/>
              </a:rPr>
              <a:t>对应知识点习题：数据结构习题集</a:t>
            </a:r>
            <a:r>
              <a:rPr lang="en-US" altLang="zh-CN">
                <a:solidFill>
                  <a:srgbClr val="FF0000"/>
                </a:solidFill>
              </a:rPr>
              <a:t>4.13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</a:rPr>
              <a:t>4.18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</a:rPr>
              <a:t>4.20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</a:rPr>
              <a:t>4.23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</a:rPr>
              <a:t>4.29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以及第</a:t>
            </a:r>
            <a:r>
              <a:rPr lang="zh-CN" altLang="en-US">
                <a:sym typeface="+mn-ea"/>
              </a:rPr>
              <a:t>四章其他带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黑色菱形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的算法题。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数组和广义</a:t>
            </a:r>
            <a:r>
              <a:rPr lang="zh-CN" altLang="en-US"/>
              <a:t>线性表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重点概念：</a:t>
            </a:r>
            <a:r>
              <a:rPr lang="en-US" altLang="zh-CN"/>
              <a:t>1.n</a:t>
            </a:r>
            <a:r>
              <a:rPr lang="zh-CN" altLang="en-US"/>
              <a:t>维数组，稀疏矩阵，特殊矩阵。</a:t>
            </a:r>
            <a:r>
              <a:rPr lang="en-US" altLang="zh-CN"/>
              <a:t>2.</a:t>
            </a:r>
            <a:r>
              <a:rPr lang="zh-CN" altLang="en-US"/>
              <a:t>其顺序实现，多维数组下标和地址的映射关系，特殊矩阵的压缩存储：三元组表，十字链表，广义表的存储。</a:t>
            </a:r>
            <a:endParaRPr lang="zh-CN" altLang="en-US"/>
          </a:p>
          <a:p>
            <a:r>
              <a:rPr lang="zh-CN" altLang="en-US">
                <a:sym typeface="+mn-ea"/>
              </a:rPr>
              <a:t>需要掌握的算法：</a:t>
            </a:r>
            <a:r>
              <a:rPr lang="zh-CN" altLang="en-US">
                <a:solidFill>
                  <a:schemeClr val="accent6"/>
                </a:solidFill>
              </a:rPr>
              <a:t>多维数组下标和地址的映射计算（如给一个</a:t>
            </a:r>
            <a:r>
              <a:rPr lang="en-US" altLang="zh-CN">
                <a:solidFill>
                  <a:schemeClr val="accent6"/>
                </a:solidFill>
              </a:rPr>
              <a:t>4</a:t>
            </a:r>
            <a:r>
              <a:rPr lang="zh-CN" altLang="en-US">
                <a:solidFill>
                  <a:schemeClr val="accent6"/>
                </a:solidFill>
              </a:rPr>
              <a:t>维数组</a:t>
            </a:r>
            <a:r>
              <a:rPr lang="en-US" altLang="zh-CN">
                <a:solidFill>
                  <a:schemeClr val="accent6"/>
                </a:solidFill>
              </a:rPr>
              <a:t>A[3][4][5][6],</a:t>
            </a:r>
            <a:r>
              <a:rPr lang="zh-CN" altLang="en-US">
                <a:solidFill>
                  <a:schemeClr val="accent6"/>
                </a:solidFill>
              </a:rPr>
              <a:t>求</a:t>
            </a:r>
            <a:r>
              <a:rPr lang="en-US" altLang="zh-CN">
                <a:solidFill>
                  <a:schemeClr val="accent6"/>
                </a:solidFill>
              </a:rPr>
              <a:t>A1223</a:t>
            </a:r>
            <a:r>
              <a:rPr lang="zh-CN" altLang="en-US">
                <a:solidFill>
                  <a:schemeClr val="accent6"/>
                </a:solidFill>
              </a:rPr>
              <a:t>的地址）</a:t>
            </a:r>
            <a:r>
              <a:rPr lang="zh-CN" altLang="en-US"/>
              <a:t>，稀疏矩阵置换（三元组表），</a:t>
            </a:r>
            <a:r>
              <a:rPr lang="zh-CN" altLang="en-US">
                <a:solidFill>
                  <a:schemeClr val="accent6"/>
                </a:solidFill>
              </a:rPr>
              <a:t>广义表的构造以及其运算</a:t>
            </a:r>
            <a:endParaRPr lang="zh-CN" altLang="en-US">
              <a:solidFill>
                <a:schemeClr val="accent6"/>
              </a:solidFill>
            </a:endParaRPr>
          </a:p>
          <a:p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ym typeface="+mn-ea"/>
              </a:rPr>
              <a:t>对应知识点习题：数据结构习题集</a:t>
            </a:r>
            <a:r>
              <a:rPr lang="en-US" altLang="zh-CN">
                <a:solidFill>
                  <a:schemeClr val="accent6"/>
                </a:solidFill>
              </a:rPr>
              <a:t>5.19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5.21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5.25</a:t>
            </a:r>
            <a:r>
              <a:rPr lang="zh-CN" altLang="en-US">
                <a:solidFill>
                  <a:schemeClr val="accent6"/>
                </a:solidFill>
              </a:rPr>
              <a:t>，</a:t>
            </a:r>
            <a:r>
              <a:rPr lang="en-US" altLang="zh-CN">
                <a:solidFill>
                  <a:schemeClr val="accent6"/>
                </a:solidFill>
              </a:rPr>
              <a:t>5.30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zh-CN" altLang="en-US">
                <a:sym typeface="+mn-ea"/>
              </a:rPr>
              <a:t>以及第</a:t>
            </a:r>
            <a:r>
              <a:rPr lang="zh-CN" altLang="en-US">
                <a:sym typeface="+mn-ea"/>
              </a:rPr>
              <a:t>五章其他带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黑色菱形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的算法题。</a:t>
            </a:r>
            <a:endParaRPr lang="zh-CN" altLang="en-US"/>
          </a:p>
          <a:p>
            <a:endParaRPr lang="en-US" altLang="zh-CN"/>
          </a:p>
          <a:p>
            <a:endParaRPr lang="zh-CN" altLang="en-US">
              <a:solidFill>
                <a:schemeClr val="accent6"/>
              </a:solidFill>
            </a:endParaRPr>
          </a:p>
          <a:p>
            <a:endParaRPr lang="zh-CN" altLang="en-US">
              <a:solidFill>
                <a:schemeClr val="accent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WPS 演示</Application>
  <PresentationFormat>宽屏</PresentationFormat>
  <Paragraphs>43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rm`~</cp:lastModifiedBy>
  <cp:revision>155</cp:revision>
  <dcterms:created xsi:type="dcterms:W3CDTF">2019-06-19T02:08:00Z</dcterms:created>
  <dcterms:modified xsi:type="dcterms:W3CDTF">2024-12-10T12:36:02Z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B79A5A8340884F6EACE30767854EC925_11</vt:lpwstr>
  </property>
</Properties>
</file>