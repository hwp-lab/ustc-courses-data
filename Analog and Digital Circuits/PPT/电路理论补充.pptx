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1354" r:id="rId2"/>
    <p:sldId id="6935" r:id="rId3"/>
    <p:sldId id="7180" r:id="rId4"/>
    <p:sldId id="7181" r:id="rId5"/>
    <p:sldId id="7182" r:id="rId6"/>
    <p:sldId id="7184" r:id="rId7"/>
    <p:sldId id="7185" r:id="rId8"/>
    <p:sldId id="7187" r:id="rId9"/>
    <p:sldId id="7186" r:id="rId10"/>
    <p:sldId id="7189" r:id="rId11"/>
    <p:sldId id="7196" r:id="rId12"/>
    <p:sldId id="7195" r:id="rId13"/>
    <p:sldId id="7197" r:id="rId14"/>
    <p:sldId id="7188" r:id="rId15"/>
    <p:sldId id="7191" r:id="rId16"/>
    <p:sldId id="7202" r:id="rId17"/>
    <p:sldId id="7203" r:id="rId18"/>
    <p:sldId id="7192" r:id="rId19"/>
    <p:sldId id="7194" r:id="rId20"/>
    <p:sldId id="7200" r:id="rId21"/>
    <p:sldId id="7201" r:id="rId22"/>
    <p:sldId id="7198" r:id="rId23"/>
    <p:sldId id="7199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DE7"/>
    <a:srgbClr val="FF00FF"/>
    <a:srgbClr val="00FF00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48" autoAdjust="0"/>
    <p:restoredTop sz="91188" autoAdjust="0"/>
  </p:normalViewPr>
  <p:slideViewPr>
    <p:cSldViewPr snapToGrid="0">
      <p:cViewPr varScale="1">
        <p:scale>
          <a:sx n="85" d="100"/>
          <a:sy n="85" d="100"/>
        </p:scale>
        <p:origin x="6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230" y="3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3336B957-0C23-1CDE-A2B8-044701C667D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07E1FBC-070D-8861-8D9C-258144CACEA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72CA61-C7A7-44C1-8225-2F3B25FCEFE9}" type="datetimeFigureOut">
              <a:rPr lang="zh-CN" altLang="en-US" smtClean="0"/>
              <a:t>2026/1/17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E964B15-02A6-96D1-7025-FFA5019E5E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1ABE5DA-4AAF-6256-556A-73DB14F76B4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1A6520-B727-41E0-BB1B-FA4B49A625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10418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6499D7-817A-4BF8-98BA-7E2BFEC27B52}" type="datetimeFigureOut">
              <a:rPr lang="zh-CN" altLang="en-US" smtClean="0"/>
              <a:t>2026/1/17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F8E926-3218-4A05-BE3C-00B734B06F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4201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49EC6D-DB1F-44A4-BAF7-4CD4248B20AA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83064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4834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在电力系统中，高电压远距离的电力传输线是比较典型的分布参数电路</a:t>
            </a:r>
            <a:endParaRPr lang="en-US" altLang="zh-CN" dirty="0"/>
          </a:p>
          <a:p>
            <a:r>
              <a:rPr lang="zh-CN" altLang="en-US" dirty="0"/>
              <a:t>本课程只涉及集总电路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47245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48547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16A76-D898-EE9C-36E8-14A7BD421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03236D7-CE7E-55DA-85D8-72171CC890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39AFCF9-9FAF-E25D-B404-BE0DC9B997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一个电子的电量为 </a:t>
            </a:r>
            <a:r>
              <a:rPr lang="en-US" altLang="zh-CN" dirty="0"/>
              <a:t>1.6 x 10^(-19) C</a:t>
            </a:r>
          </a:p>
          <a:p>
            <a:endParaRPr lang="en-US" altLang="zh-CN" dirty="0"/>
          </a:p>
          <a:p>
            <a:r>
              <a:rPr lang="en-US" altLang="zh-CN" dirty="0"/>
              <a:t>1 C </a:t>
            </a:r>
            <a:r>
              <a:rPr lang="zh-CN" altLang="en-US" dirty="0"/>
              <a:t>等于 </a:t>
            </a:r>
            <a:r>
              <a:rPr lang="en-US" altLang="zh-CN" dirty="0"/>
              <a:t>1 A </a:t>
            </a:r>
            <a:r>
              <a:rPr lang="zh-CN" altLang="en-US" dirty="0"/>
              <a:t>的电量在 </a:t>
            </a:r>
            <a:r>
              <a:rPr lang="en-US" altLang="zh-CN" dirty="0"/>
              <a:t>1 </a:t>
            </a:r>
            <a:r>
              <a:rPr lang="zh-CN" altLang="en-US" dirty="0"/>
              <a:t>秒内通过导体横截面的电荷量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当两点电压为 </a:t>
            </a:r>
            <a:r>
              <a:rPr lang="en-US" altLang="zh-CN" dirty="0"/>
              <a:t>1 V </a:t>
            </a:r>
            <a:r>
              <a:rPr lang="zh-CN" altLang="en-US" dirty="0"/>
              <a:t>时，</a:t>
            </a:r>
            <a:r>
              <a:rPr lang="en-US" altLang="zh-CN" dirty="0"/>
              <a:t>1 C </a:t>
            </a:r>
            <a:r>
              <a:rPr lang="zh-CN" altLang="en-US" dirty="0"/>
              <a:t>的电荷从一点移动到另一点电势能变化为 </a:t>
            </a:r>
            <a:r>
              <a:rPr lang="en-US" altLang="zh-CN" dirty="0"/>
              <a:t>1 J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B6C76F-4CA4-555D-E03B-CDD1B4BFDA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69137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9B4BB-C516-7359-1E2C-20ABF9385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A75D0B0-1EA4-A794-23CA-84A3319033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C7F2F61-4508-1FE3-AA35-1C92E9F0ED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直流和交流的一般定义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4CD6B4-C099-9D76-18F6-8B3CD4A9C2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62650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7002C-0BF6-4C4D-BB3D-25FDBCAC5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E65DD70-2F2B-B8A1-767E-3BC3BE368F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F7EEE60-652B-5628-A5AB-B519A7EC3A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参考方向可与真实方向无关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176607-A55E-4026-3804-EC7F381A24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68207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AE1B4-3C33-23D3-E53C-793B74C6D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B3152BF-7D3A-A650-C159-08575B5D10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CB709B9-7401-9179-A8E8-B4617D4ECF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参考方向可与真实方向无关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6C9A35-8F3B-FE47-50B7-BC38718F64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0491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7BAB9-2C07-0B2E-007C-069EEEEA6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0735250-27C4-0023-062E-582FCA2B4F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52E2E30-305D-7A2D-5E88-3625BAF3C8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参考方向可与真实方向无关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61817B-BB96-6257-F32E-3478E4AA9D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85734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EEBF7-CBA3-36EA-087D-C6CEEC6D7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180E1B4-5494-D613-1809-AC89ABCFAA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28FF366-C64C-5854-3574-065DD0B2C1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参考方向可与真实方向无关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4C579B-8A1F-6CE6-8FD2-BCF9BE7070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92132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线性元件的输入量与输出量呈正比例关系，比如电阻、电容、电感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电容和电感虽然不满足欧姆定律，但其输入量与输出量有线性关系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非线性元件如二极管、三极管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3270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如果是计算“流出”该节点的电流代数和，那么参考方向是从节点向外的支路电流是正号，参考方向是向节点内的支路电流是负号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节点可以为广义节点，即一个闭合的面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i_1 = i_2</a:t>
            </a:r>
          </a:p>
          <a:p>
            <a:r>
              <a:rPr lang="en-US" altLang="zh-CN" dirty="0"/>
              <a:t>i_3 = i_4 = i_5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58334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47657-1CDA-CDB8-79C4-D231867BB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4255440-3A05-C779-FF7F-EB14FB4AC5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22A0E3B-611A-A64A-8E09-F396A2E8DF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如果是计算“流出”该节点的电流代数和，那么参考方向是从节点向外的支路电流是正号，参考方向是向节点内的支路电流是负号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节点可以为广义节点，即一个闭合的面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i_1 = i_2</a:t>
            </a:r>
          </a:p>
          <a:p>
            <a:r>
              <a:rPr lang="en-US" altLang="zh-CN" dirty="0"/>
              <a:t>i_3 = i_4 = i_5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A044E9E-856D-A61E-9B07-EBC20C5B08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54837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2E297-A8F5-6FA4-52AB-3C5D3121F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FFD7E53-AB85-DA57-8A32-4CD4A3E804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EE76754-7709-6208-0466-A5813639B9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如果是计算“流出”该节点的电流代数和，那么参考方向是从节点向外的支路电流是正号，参考方向是向节点内的支路电流是负号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节点可以为广义节点，即一个闭合的面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i_1 = i_2</a:t>
            </a:r>
          </a:p>
          <a:p>
            <a:r>
              <a:rPr lang="en-US" altLang="zh-CN" dirty="0"/>
              <a:t>i_3 = i_4 = i_5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EDA9800-1AE5-2009-0075-E5B387284A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71144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参考电压降方向即为从参考正极指向</a:t>
            </a:r>
            <a:r>
              <a:rPr lang="zh-CN" altLang="en-US"/>
              <a:t>参考负极的方向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35803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只有线性电路才具有叠加性，非线性电路不能应用叠加原理</a:t>
            </a:r>
            <a:endParaRPr lang="en-US" altLang="zh-CN" dirty="0"/>
          </a:p>
          <a:p>
            <a:r>
              <a:rPr lang="zh-CN" altLang="en-US" dirty="0"/>
              <a:t>只有独立电源才能置零处理，受控源勿强制置零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功率计算不能使用叠加原理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示例中同理可以算出 </a:t>
            </a:r>
            <a:r>
              <a:rPr lang="en-US" altLang="zh-CN" dirty="0"/>
              <a:t>v_1 </a:t>
            </a:r>
            <a:r>
              <a:rPr lang="zh-CN" altLang="en-US" dirty="0"/>
              <a:t>和 </a:t>
            </a:r>
            <a:r>
              <a:rPr lang="en-US" altLang="zh-CN" dirty="0"/>
              <a:t>v_2</a:t>
            </a:r>
          </a:p>
          <a:p>
            <a:endParaRPr lang="en-US" altLang="zh-CN" dirty="0"/>
          </a:p>
          <a:p>
            <a:r>
              <a:rPr lang="zh-CN" altLang="en-US" dirty="0"/>
              <a:t>强制独立电压源为 </a:t>
            </a:r>
            <a:r>
              <a:rPr lang="en-US" altLang="zh-CN" dirty="0"/>
              <a:t>0</a:t>
            </a:r>
            <a:r>
              <a:rPr lang="zh-CN" altLang="en-US" dirty="0"/>
              <a:t>，即令其电压的值为 </a:t>
            </a:r>
            <a:r>
              <a:rPr lang="en-US" altLang="zh-CN" dirty="0"/>
              <a:t>0</a:t>
            </a:r>
            <a:r>
              <a:rPr lang="zh-CN" altLang="en-US" dirty="0"/>
              <a:t>，因此，其所在部分相当于短路；</a:t>
            </a:r>
            <a:endParaRPr lang="en-US" altLang="zh-CN" dirty="0"/>
          </a:p>
          <a:p>
            <a:r>
              <a:rPr lang="zh-CN" altLang="en-US" dirty="0"/>
              <a:t>强制独立电流源为 </a:t>
            </a:r>
            <a:r>
              <a:rPr lang="en-US" altLang="zh-CN" dirty="0"/>
              <a:t>0</a:t>
            </a:r>
            <a:r>
              <a:rPr lang="zh-CN" altLang="en-US" dirty="0"/>
              <a:t>，即令其电流的值为 </a:t>
            </a:r>
            <a:r>
              <a:rPr lang="en-US" altLang="zh-CN" dirty="0"/>
              <a:t>0</a:t>
            </a:r>
            <a:r>
              <a:rPr lang="zh-CN" altLang="en-US" dirty="0"/>
              <a:t>，因此，其所在支路相当于开路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8027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7A973-234D-B04F-4032-D5AD3AD59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C3C98E9-E79D-8802-70FE-30C6F084DC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3CAA4A3-970E-5A5B-17FB-1D1FC263B5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模电教材 </a:t>
            </a:r>
            <a:r>
              <a:rPr lang="en-US" altLang="zh-CN" dirty="0"/>
              <a:t>P486 - 487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68B0FF-2A23-5374-8EBE-28B683699C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69943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8B7AE-67E2-1DBC-1F82-CD8244749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F268C08-C191-2DC8-27EA-7E35E2B3EB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D093E48-C273-2EE2-D474-34D9F0852D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模电教材 </a:t>
            </a:r>
            <a:r>
              <a:rPr lang="en-US" altLang="zh-CN" dirty="0"/>
              <a:t>P486 - 487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93E68-ED7B-DD5B-810B-B575FE3B6A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83367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638EC-FED1-11BD-DB33-806E63B13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A71C18C-2278-4C46-DBDD-4F0C2384A5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9777286-548A-D066-4B01-D83BCF01AC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模电教材 </a:t>
            </a:r>
            <a:r>
              <a:rPr lang="en-US" altLang="zh-CN" dirty="0"/>
              <a:t>P486 - 487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39D540B-B722-3354-CDD9-4B75A40CE1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14540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AB059-EA2E-E5CD-581A-1FB4A29B2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59AEFFB-082F-060A-1557-07B579101C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0CACABD-27A4-CD75-4BE8-287735AAF3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i</a:t>
            </a:r>
            <a:r>
              <a:rPr lang="en-US" altLang="zh-CN" dirty="0"/>
              <a:t> = 8 A	u = 0 V</a:t>
            </a:r>
          </a:p>
          <a:p>
            <a:r>
              <a:rPr lang="en-US" altLang="zh-CN" dirty="0"/>
              <a:t>u = -10 V	</a:t>
            </a:r>
            <a:r>
              <a:rPr lang="en-US" altLang="zh-CN" dirty="0" err="1"/>
              <a:t>i</a:t>
            </a:r>
            <a:r>
              <a:rPr lang="en-US" altLang="zh-CN" dirty="0"/>
              <a:t> = 8 A</a:t>
            </a:r>
          </a:p>
          <a:p>
            <a:r>
              <a:rPr lang="en-US" altLang="zh-CN" dirty="0"/>
              <a:t>u = -2 V	</a:t>
            </a:r>
            <a:r>
              <a:rPr lang="en-US" altLang="zh-CN" dirty="0" err="1"/>
              <a:t>i</a:t>
            </a:r>
            <a:r>
              <a:rPr lang="en-US" altLang="zh-CN"/>
              <a:t> = 2 A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D57A31-1739-7A62-761E-5EC04FD080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57041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6" descr="bg3">
            <a:extLst>
              <a:ext uri="{FF2B5EF4-FFF2-40B4-BE49-F238E27FC236}">
                <a16:creationId xmlns:a16="http://schemas.microsoft.com/office/drawing/2014/main" id="{3C12D28E-7FDA-416A-89CF-B41CFE8C1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t="80031" b="16504"/>
          <a:stretch>
            <a:fillRect/>
          </a:stretch>
        </p:blipFill>
        <p:spPr bwMode="auto">
          <a:xfrm flipV="1">
            <a:off x="0" y="1711615"/>
            <a:ext cx="12192000" cy="4378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</p:pic>
      <p:pic>
        <p:nvPicPr>
          <p:cNvPr id="9" name="Picture 17" descr="bg3">
            <a:extLst>
              <a:ext uri="{FF2B5EF4-FFF2-40B4-BE49-F238E27FC236}">
                <a16:creationId xmlns:a16="http://schemas.microsoft.com/office/drawing/2014/main" id="{6256C6DD-5C6C-4934-AE0F-6E767F3C2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t="48767" b="15891"/>
          <a:stretch>
            <a:fillRect/>
          </a:stretch>
        </p:blipFill>
        <p:spPr bwMode="auto">
          <a:xfrm>
            <a:off x="0" y="1930558"/>
            <a:ext cx="12192000" cy="2777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10" descr="2">
            <a:extLst>
              <a:ext uri="{FF2B5EF4-FFF2-40B4-BE49-F238E27FC236}">
                <a16:creationId xmlns:a16="http://schemas.microsoft.com/office/drawing/2014/main" id="{12F893B6-5430-4116-B41C-027E149AB2E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clrChange>
              <a:clrFrom>
                <a:srgbClr val="E8E8EA"/>
              </a:clrFrom>
              <a:clrTo>
                <a:srgbClr val="E8E8EA">
                  <a:alpha val="0"/>
                </a:srgbClr>
              </a:clrTo>
            </a:clrChange>
          </a:blip>
          <a:srcRect l="3981" t="5824" r="52233" b="80846"/>
          <a:stretch/>
        </p:blipFill>
        <p:spPr bwMode="auto">
          <a:xfrm>
            <a:off x="0" y="278392"/>
            <a:ext cx="4244196" cy="914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5851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4" descr="bg2">
            <a:extLst>
              <a:ext uri="{FF2B5EF4-FFF2-40B4-BE49-F238E27FC236}">
                <a16:creationId xmlns:a16="http://schemas.microsoft.com/office/drawing/2014/main" id="{B5E88CDA-D72A-4EE5-A041-54DDE04C08EC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/>
          <a:srcRect r="31108" b="84377"/>
          <a:stretch/>
        </p:blipFill>
        <p:spPr bwMode="auto">
          <a:xfrm>
            <a:off x="0" y="1"/>
            <a:ext cx="12192000" cy="575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37589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3057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18" Type="http://schemas.openxmlformats.org/officeDocument/2006/relationships/image" Target="../media/image49.png"/><Relationship Id="rId3" Type="http://schemas.openxmlformats.org/officeDocument/2006/relationships/image" Target="../media/image34.png"/><Relationship Id="rId21" Type="http://schemas.openxmlformats.org/officeDocument/2006/relationships/image" Target="../media/image52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" Type="http://schemas.openxmlformats.org/officeDocument/2006/relationships/image" Target="../media/image33.png"/><Relationship Id="rId16" Type="http://schemas.openxmlformats.org/officeDocument/2006/relationships/image" Target="../media/image47.png"/><Relationship Id="rId20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5" Type="http://schemas.openxmlformats.org/officeDocument/2006/relationships/image" Target="../media/image46.png"/><Relationship Id="rId23" Type="http://schemas.openxmlformats.org/officeDocument/2006/relationships/image" Target="../media/image54.png"/><Relationship Id="rId10" Type="http://schemas.openxmlformats.org/officeDocument/2006/relationships/image" Target="../media/image41.png"/><Relationship Id="rId19" Type="http://schemas.openxmlformats.org/officeDocument/2006/relationships/image" Target="../media/image50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Relationship Id="rId22" Type="http://schemas.openxmlformats.org/officeDocument/2006/relationships/image" Target="../media/image5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13" Type="http://schemas.openxmlformats.org/officeDocument/2006/relationships/image" Target="../media/image300.png"/><Relationship Id="rId18" Type="http://schemas.openxmlformats.org/officeDocument/2006/relationships/image" Target="../media/image350.png"/><Relationship Id="rId3" Type="http://schemas.openxmlformats.org/officeDocument/2006/relationships/image" Target="../media/image200.png"/><Relationship Id="rId7" Type="http://schemas.openxmlformats.org/officeDocument/2006/relationships/image" Target="../media/image240.png"/><Relationship Id="rId12" Type="http://schemas.openxmlformats.org/officeDocument/2006/relationships/image" Target="../media/image290.png"/><Relationship Id="rId17" Type="http://schemas.openxmlformats.org/officeDocument/2006/relationships/image" Target="../media/image340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3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0.png"/><Relationship Id="rId11" Type="http://schemas.openxmlformats.org/officeDocument/2006/relationships/image" Target="../media/image280.png"/><Relationship Id="rId5" Type="http://schemas.openxmlformats.org/officeDocument/2006/relationships/image" Target="../media/image220.png"/><Relationship Id="rId15" Type="http://schemas.openxmlformats.org/officeDocument/2006/relationships/image" Target="../media/image320.png"/><Relationship Id="rId10" Type="http://schemas.openxmlformats.org/officeDocument/2006/relationships/image" Target="../media/image270.png"/><Relationship Id="rId4" Type="http://schemas.openxmlformats.org/officeDocument/2006/relationships/image" Target="../media/image210.png"/><Relationship Id="rId9" Type="http://schemas.openxmlformats.org/officeDocument/2006/relationships/image" Target="../media/image260.png"/><Relationship Id="rId14" Type="http://schemas.openxmlformats.org/officeDocument/2006/relationships/image" Target="../media/image31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13" Type="http://schemas.openxmlformats.org/officeDocument/2006/relationships/image" Target="../media/image300.png"/><Relationship Id="rId18" Type="http://schemas.openxmlformats.org/officeDocument/2006/relationships/image" Target="../media/image350.png"/><Relationship Id="rId3" Type="http://schemas.openxmlformats.org/officeDocument/2006/relationships/image" Target="../media/image200.png"/><Relationship Id="rId7" Type="http://schemas.openxmlformats.org/officeDocument/2006/relationships/image" Target="../media/image240.png"/><Relationship Id="rId12" Type="http://schemas.openxmlformats.org/officeDocument/2006/relationships/image" Target="../media/image290.png"/><Relationship Id="rId17" Type="http://schemas.openxmlformats.org/officeDocument/2006/relationships/image" Target="../media/image340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0.png"/><Relationship Id="rId11" Type="http://schemas.openxmlformats.org/officeDocument/2006/relationships/image" Target="../media/image280.png"/><Relationship Id="rId5" Type="http://schemas.openxmlformats.org/officeDocument/2006/relationships/image" Target="../media/image220.png"/><Relationship Id="rId15" Type="http://schemas.openxmlformats.org/officeDocument/2006/relationships/image" Target="../media/image320.png"/><Relationship Id="rId10" Type="http://schemas.openxmlformats.org/officeDocument/2006/relationships/image" Target="../media/image270.png"/><Relationship Id="rId4" Type="http://schemas.openxmlformats.org/officeDocument/2006/relationships/image" Target="../media/image210.png"/><Relationship Id="rId9" Type="http://schemas.openxmlformats.org/officeDocument/2006/relationships/image" Target="../media/image260.png"/><Relationship Id="rId14" Type="http://schemas.openxmlformats.org/officeDocument/2006/relationships/image" Target="../media/image31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13" Type="http://schemas.openxmlformats.org/officeDocument/2006/relationships/image" Target="../media/image300.png"/><Relationship Id="rId18" Type="http://schemas.openxmlformats.org/officeDocument/2006/relationships/image" Target="../media/image350.png"/><Relationship Id="rId3" Type="http://schemas.openxmlformats.org/officeDocument/2006/relationships/image" Target="../media/image200.png"/><Relationship Id="rId7" Type="http://schemas.openxmlformats.org/officeDocument/2006/relationships/image" Target="../media/image240.png"/><Relationship Id="rId12" Type="http://schemas.openxmlformats.org/officeDocument/2006/relationships/image" Target="../media/image290.png"/><Relationship Id="rId17" Type="http://schemas.openxmlformats.org/officeDocument/2006/relationships/image" Target="../media/image3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0.png"/><Relationship Id="rId11" Type="http://schemas.openxmlformats.org/officeDocument/2006/relationships/image" Target="../media/image280.png"/><Relationship Id="rId5" Type="http://schemas.openxmlformats.org/officeDocument/2006/relationships/image" Target="../media/image220.png"/><Relationship Id="rId15" Type="http://schemas.openxmlformats.org/officeDocument/2006/relationships/image" Target="../media/image320.png"/><Relationship Id="rId10" Type="http://schemas.openxmlformats.org/officeDocument/2006/relationships/image" Target="../media/image270.png"/><Relationship Id="rId19" Type="http://schemas.openxmlformats.org/officeDocument/2006/relationships/image" Target="../media/image56.png"/><Relationship Id="rId4" Type="http://schemas.openxmlformats.org/officeDocument/2006/relationships/image" Target="../media/image210.png"/><Relationship Id="rId9" Type="http://schemas.openxmlformats.org/officeDocument/2006/relationships/image" Target="../media/image260.png"/><Relationship Id="rId14" Type="http://schemas.openxmlformats.org/officeDocument/2006/relationships/image" Target="../media/image31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png"/><Relationship Id="rId13" Type="http://schemas.openxmlformats.org/officeDocument/2006/relationships/image" Target="../media/image290.png"/><Relationship Id="rId18" Type="http://schemas.openxmlformats.org/officeDocument/2006/relationships/image" Target="../media/image390.png"/><Relationship Id="rId3" Type="http://schemas.openxmlformats.org/officeDocument/2006/relationships/image" Target="../media/image360.png"/><Relationship Id="rId7" Type="http://schemas.openxmlformats.org/officeDocument/2006/relationships/image" Target="../media/image230.png"/><Relationship Id="rId12" Type="http://schemas.openxmlformats.org/officeDocument/2006/relationships/image" Target="../media/image280.png"/><Relationship Id="rId17" Type="http://schemas.openxmlformats.org/officeDocument/2006/relationships/image" Target="../media/image380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3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0.png"/><Relationship Id="rId11" Type="http://schemas.openxmlformats.org/officeDocument/2006/relationships/image" Target="../media/image270.png"/><Relationship Id="rId5" Type="http://schemas.openxmlformats.org/officeDocument/2006/relationships/image" Target="../media/image210.png"/><Relationship Id="rId15" Type="http://schemas.openxmlformats.org/officeDocument/2006/relationships/image" Target="../media/image310.png"/><Relationship Id="rId10" Type="http://schemas.openxmlformats.org/officeDocument/2006/relationships/image" Target="../media/image260.png"/><Relationship Id="rId19" Type="http://schemas.openxmlformats.org/officeDocument/2006/relationships/image" Target="../media/image400.png"/><Relationship Id="rId4" Type="http://schemas.openxmlformats.org/officeDocument/2006/relationships/image" Target="../media/image561.png"/><Relationship Id="rId9" Type="http://schemas.openxmlformats.org/officeDocument/2006/relationships/image" Target="../media/image250.png"/><Relationship Id="rId14" Type="http://schemas.openxmlformats.org/officeDocument/2006/relationships/image" Target="../media/image30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3.png"/><Relationship Id="rId3" Type="http://schemas.openxmlformats.org/officeDocument/2006/relationships/image" Target="../media/image550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560.png"/><Relationship Id="rId9" Type="http://schemas.openxmlformats.org/officeDocument/2006/relationships/image" Target="../media/image6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5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12" Type="http://schemas.openxmlformats.org/officeDocument/2006/relationships/image" Target="../media/image7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67.png"/><Relationship Id="rId10" Type="http://schemas.openxmlformats.org/officeDocument/2006/relationships/image" Target="../media/image72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Relationship Id="rId14" Type="http://schemas.openxmlformats.org/officeDocument/2006/relationships/image" Target="../media/image7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8" Type="http://schemas.openxmlformats.org/officeDocument/2006/relationships/image" Target="../media/image80.png"/><Relationship Id="rId3" Type="http://schemas.openxmlformats.org/officeDocument/2006/relationships/image" Target="../media/image77.png"/><Relationship Id="rId7" Type="http://schemas.openxmlformats.org/officeDocument/2006/relationships/image" Target="../media/image69.png"/><Relationship Id="rId17" Type="http://schemas.openxmlformats.org/officeDocument/2006/relationships/image" Target="../media/image79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7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15" Type="http://schemas.openxmlformats.org/officeDocument/2006/relationships/image" Target="../media/image770.png"/><Relationship Id="rId19" Type="http://schemas.openxmlformats.org/officeDocument/2006/relationships/image" Target="../media/image81.png"/><Relationship Id="rId4" Type="http://schemas.openxmlformats.org/officeDocument/2006/relationships/image" Target="../media/image66.png"/><Relationship Id="rId14" Type="http://schemas.openxmlformats.org/officeDocument/2006/relationships/image" Target="../media/image76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5.png"/><Relationship Id="rId18" Type="http://schemas.openxmlformats.org/officeDocument/2006/relationships/image" Target="../media/image80.png"/><Relationship Id="rId3" Type="http://schemas.openxmlformats.org/officeDocument/2006/relationships/image" Target="../media/image82.png"/><Relationship Id="rId7" Type="http://schemas.openxmlformats.org/officeDocument/2006/relationships/image" Target="../media/image69.png"/><Relationship Id="rId12" Type="http://schemas.openxmlformats.org/officeDocument/2006/relationships/image" Target="../media/image74.png"/><Relationship Id="rId17" Type="http://schemas.openxmlformats.org/officeDocument/2006/relationships/image" Target="../media/image79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7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67.png"/><Relationship Id="rId15" Type="http://schemas.openxmlformats.org/officeDocument/2006/relationships/image" Target="../media/image770.png"/><Relationship Id="rId10" Type="http://schemas.openxmlformats.org/officeDocument/2006/relationships/image" Target="../media/image72.png"/><Relationship Id="rId19" Type="http://schemas.openxmlformats.org/officeDocument/2006/relationships/image" Target="../media/image81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Relationship Id="rId14" Type="http://schemas.openxmlformats.org/officeDocument/2006/relationships/image" Target="../media/image76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89073248-787E-5D40-AE5E-610E41D0A30C}"/>
              </a:ext>
            </a:extLst>
          </p:cNvPr>
          <p:cNvSpPr txBox="1">
            <a:spLocks/>
          </p:cNvSpPr>
          <p:nvPr/>
        </p:nvSpPr>
        <p:spPr>
          <a:xfrm>
            <a:off x="0" y="2817091"/>
            <a:ext cx="12191999" cy="1226516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zh-CN" altLang="en-US" sz="5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电路理论补充</a:t>
            </a:r>
            <a:endParaRPr lang="en-US" altLang="zh-CN" sz="5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D42438B-9455-BCBC-7490-250107AE8BAC}"/>
              </a:ext>
            </a:extLst>
          </p:cNvPr>
          <p:cNvSpPr/>
          <p:nvPr/>
        </p:nvSpPr>
        <p:spPr>
          <a:xfrm>
            <a:off x="0" y="252787"/>
            <a:ext cx="4271375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图片包含 图形用户界面&#10;&#10;描述已自动生成">
            <a:extLst>
              <a:ext uri="{FF2B5EF4-FFF2-40B4-BE49-F238E27FC236}">
                <a16:creationId xmlns:a16="http://schemas.microsoft.com/office/drawing/2014/main" id="{36B95622-439B-2F01-3763-4744D210F1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38" t="27915" r="8682" b="26692"/>
          <a:stretch/>
        </p:blipFill>
        <p:spPr>
          <a:xfrm>
            <a:off x="0" y="0"/>
            <a:ext cx="4405745" cy="99842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3570352-420A-0C13-044B-FD4A338CD6AA}"/>
              </a:ext>
            </a:extLst>
          </p:cNvPr>
          <p:cNvSpPr txBox="1"/>
          <p:nvPr/>
        </p:nvSpPr>
        <p:spPr>
          <a:xfrm>
            <a:off x="0" y="1931813"/>
            <a:ext cx="95319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模拟与数字电路 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(Analog and Digital Circuits)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7EF3C51-ACC3-CEB4-0CD3-FB5FA64AEC1C}"/>
              </a:ext>
            </a:extLst>
          </p:cNvPr>
          <p:cNvSpPr/>
          <p:nvPr/>
        </p:nvSpPr>
        <p:spPr>
          <a:xfrm>
            <a:off x="0" y="6352426"/>
            <a:ext cx="12192000" cy="505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计算机科学与技术学院本科课程</a:t>
            </a:r>
          </a:p>
        </p:txBody>
      </p:sp>
    </p:spTree>
    <p:extLst>
      <p:ext uri="{BB962C8B-B14F-4D97-AF65-F5344CB8AC3E}">
        <p14:creationId xmlns:p14="http://schemas.microsoft.com/office/powerpoint/2010/main" val="2533195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24A8A429-A57A-A971-5B68-36C274978AD5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内容提纲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F45B4BAD-F1AF-DA8F-D325-2AEA13223897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84CADB5B-DD68-FB6B-CE4A-4D568A53302E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7" name="箭头: 五边形 6">
                <a:extLst>
                  <a:ext uri="{FF2B5EF4-FFF2-40B4-BE49-F238E27FC236}">
                    <a16:creationId xmlns:a16="http://schemas.microsoft.com/office/drawing/2014/main" id="{D9CA2CB5-31A5-2271-2D0D-B793AF350D1F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" name="箭头: V 形 7">
                <a:extLst>
                  <a:ext uri="{FF2B5EF4-FFF2-40B4-BE49-F238E27FC236}">
                    <a16:creationId xmlns:a16="http://schemas.microsoft.com/office/drawing/2014/main" id="{015BBDD1-4572-5612-26B6-27B8BA888977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" name="灯片编号占位符 3">
              <a:extLst>
                <a:ext uri="{FF2B5EF4-FFF2-40B4-BE49-F238E27FC236}">
                  <a16:creationId xmlns:a16="http://schemas.microsoft.com/office/drawing/2014/main" id="{98A25324-8856-1585-AC55-264ACE01D509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7C59336C-2E43-B8C7-2F16-40C607CA1C08}"/>
              </a:ext>
            </a:extLst>
          </p:cNvPr>
          <p:cNvSpPr txBox="1"/>
          <p:nvPr/>
        </p:nvSpPr>
        <p:spPr>
          <a:xfrm>
            <a:off x="1296000" y="1296000"/>
            <a:ext cx="8294141" cy="3907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电路的定义</a:t>
            </a:r>
            <a:endParaRPr lang="en-US" altLang="zh-CN" sz="3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71500" indent="-5715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电路的基本变量</a:t>
            </a:r>
            <a:endParaRPr lang="en-US" altLang="zh-CN" sz="3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71500" indent="-5715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独立电源和受控电源</a:t>
            </a:r>
            <a:endParaRPr lang="en-US" altLang="zh-CN" sz="3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71500" indent="-5715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电路分析的相关定律和定理</a:t>
            </a:r>
            <a:endParaRPr lang="en-US" altLang="zh-CN" sz="3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71500" indent="-5715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32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7439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E278D-112F-5B16-600E-4D8E8941A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473C08-719F-1647-FE79-68C7D11684A2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电路的定义</a:t>
            </a:r>
            <a:endParaRPr lang="en-US" altLang="zh-CN" sz="3000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2299487-3666-71A7-190C-7B51B05125EF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BBD271D1-4CA2-0AFA-1A6E-175B3470A85E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" name="箭头: 五边形 5">
                <a:extLst>
                  <a:ext uri="{FF2B5EF4-FFF2-40B4-BE49-F238E27FC236}">
                    <a16:creationId xmlns:a16="http://schemas.microsoft.com/office/drawing/2014/main" id="{3B30306B-54D0-6905-11CA-5FF45D0944D2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箭头: V 形 6">
                <a:extLst>
                  <a:ext uri="{FF2B5EF4-FFF2-40B4-BE49-F238E27FC236}">
                    <a16:creationId xmlns:a16="http://schemas.microsoft.com/office/drawing/2014/main" id="{9493E542-EA95-877F-AFD1-9141807788BD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灯片编号占位符 3">
              <a:extLst>
                <a:ext uri="{FF2B5EF4-FFF2-40B4-BE49-F238E27FC236}">
                  <a16:creationId xmlns:a16="http://schemas.microsoft.com/office/drawing/2014/main" id="{47632507-065C-CC9F-180C-3806821B6EC5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3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E0E4A737-D98D-7409-2D7B-8CAA1A8AE28C}"/>
              </a:ext>
            </a:extLst>
          </p:cNvPr>
          <p:cNvSpPr txBox="1"/>
          <p:nvPr/>
        </p:nvSpPr>
        <p:spPr>
          <a:xfrm>
            <a:off x="360000" y="828000"/>
            <a:ext cx="11412900" cy="5253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：由电气元件通过导线连接形成的闭合导电回路（电流流通的路径）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电气元件：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电源、电阻、电容、电感等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分布参数电路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电路尺寸大于工作信号波长或两者属于同一数量级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电路中同一瞬间相邻两点的电位和电流都不相同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电路中的电压电流除了与时间有关，还与空间距离有关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集总参数电路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集总电路（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Lumped Circuits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电路尺寸远远小于工作信号波长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电路由集总参数元件组成，是理想化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简化的模型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电路中的电压电流仅为时间的函数</a:t>
            </a: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91835D02-C20E-A49E-0F86-231114A12DB2}"/>
              </a:ext>
            </a:extLst>
          </p:cNvPr>
          <p:cNvGrpSpPr/>
          <p:nvPr/>
        </p:nvGrpSpPr>
        <p:grpSpPr>
          <a:xfrm>
            <a:off x="9360000" y="3600000"/>
            <a:ext cx="2396724" cy="2010663"/>
            <a:chOff x="2113774" y="3990645"/>
            <a:chExt cx="2396724" cy="2010663"/>
          </a:xfrm>
        </p:grpSpPr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6A7166B8-EB4A-9464-BC08-CBE5ED86697D}"/>
                </a:ext>
              </a:extLst>
            </p:cNvPr>
            <p:cNvSpPr txBox="1"/>
            <p:nvPr/>
          </p:nvSpPr>
          <p:spPr>
            <a:xfrm>
              <a:off x="2987323" y="3990645"/>
              <a:ext cx="67855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电灯</a:t>
              </a:r>
              <a:endParaRPr lang="zh-CN" altLang="en-US" dirty="0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781DF7E8-85AC-9916-A280-26892C0AFCC8}"/>
                </a:ext>
              </a:extLst>
            </p:cNvPr>
            <p:cNvSpPr/>
            <p:nvPr/>
          </p:nvSpPr>
          <p:spPr>
            <a:xfrm>
              <a:off x="2359041" y="4608443"/>
              <a:ext cx="1935125" cy="1392865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65912B5D-AE1A-414A-E927-ECB60EBA9191}"/>
                </a:ext>
              </a:extLst>
            </p:cNvPr>
            <p:cNvSpPr/>
            <p:nvPr/>
          </p:nvSpPr>
          <p:spPr>
            <a:xfrm>
              <a:off x="2113774" y="5249303"/>
              <a:ext cx="490533" cy="111144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17F87920-EB7A-83B0-1BC1-F01B5D6D0162}"/>
                </a:ext>
              </a:extLst>
            </p:cNvPr>
            <p:cNvCxnSpPr/>
            <p:nvPr/>
          </p:nvCxnSpPr>
          <p:spPr>
            <a:xfrm>
              <a:off x="2157447" y="5251976"/>
              <a:ext cx="403185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F47603ED-9C2C-8B1C-E9C4-C651268DC4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58243" y="5359262"/>
              <a:ext cx="201591" cy="118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31FBADB2-44D6-33DD-4508-1DCA0BD60DCA}"/>
                </a:ext>
              </a:extLst>
            </p:cNvPr>
            <p:cNvSpPr/>
            <p:nvPr/>
          </p:nvSpPr>
          <p:spPr>
            <a:xfrm>
              <a:off x="4207916" y="5110818"/>
              <a:ext cx="201592" cy="388114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72D55506-B590-0421-3DDF-6AD4241F37C0}"/>
                </a:ext>
              </a:extLst>
            </p:cNvPr>
            <p:cNvSpPr/>
            <p:nvPr/>
          </p:nvSpPr>
          <p:spPr>
            <a:xfrm>
              <a:off x="4254566" y="5083552"/>
              <a:ext cx="79200" cy="792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075E3BE6-55D4-3D3E-3593-D6A7E9D5F507}"/>
                </a:ext>
              </a:extLst>
            </p:cNvPr>
            <p:cNvSpPr/>
            <p:nvPr/>
          </p:nvSpPr>
          <p:spPr>
            <a:xfrm>
              <a:off x="4254566" y="5446998"/>
              <a:ext cx="79200" cy="792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198F1A50-9B0E-6C70-AA81-45259A42E5E0}"/>
                </a:ext>
              </a:extLst>
            </p:cNvPr>
            <p:cNvCxnSpPr>
              <a:cxnSpLocks/>
              <a:stCxn id="41" idx="5"/>
            </p:cNvCxnSpPr>
            <p:nvPr/>
          </p:nvCxnSpPr>
          <p:spPr>
            <a:xfrm>
              <a:off x="4322167" y="5151153"/>
              <a:ext cx="188331" cy="248901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9CE8B781-3353-7925-F76C-0914D8D79923}"/>
                </a:ext>
              </a:extLst>
            </p:cNvPr>
            <p:cNvSpPr txBox="1"/>
            <p:nvPr/>
          </p:nvSpPr>
          <p:spPr>
            <a:xfrm>
              <a:off x="2521859" y="5120731"/>
              <a:ext cx="67855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电源</a:t>
              </a:r>
              <a:endParaRPr lang="zh-CN" altLang="en-US" dirty="0"/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BFB9EA4B-CFB0-6303-C268-462E18575230}"/>
                </a:ext>
              </a:extLst>
            </p:cNvPr>
            <p:cNvSpPr txBox="1"/>
            <p:nvPr/>
          </p:nvSpPr>
          <p:spPr>
            <a:xfrm>
              <a:off x="3611417" y="5120731"/>
              <a:ext cx="67855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开关</a:t>
              </a:r>
              <a:endParaRPr lang="zh-CN" altLang="en-US" dirty="0"/>
            </a:p>
          </p:txBody>
        </p: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9F4A287B-5801-08B7-DCFB-0E797FE6CBE2}"/>
                </a:ext>
              </a:extLst>
            </p:cNvPr>
            <p:cNvSpPr/>
            <p:nvPr/>
          </p:nvSpPr>
          <p:spPr>
            <a:xfrm>
              <a:off x="3076024" y="4358062"/>
              <a:ext cx="501157" cy="50115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E2C5922C-FA0C-5A2E-6E7A-ED2F8770FD20}"/>
                </a:ext>
              </a:extLst>
            </p:cNvPr>
            <p:cNvCxnSpPr>
              <a:cxnSpLocks/>
              <a:stCxn id="46" idx="1"/>
              <a:endCxn id="46" idx="5"/>
            </p:cNvCxnSpPr>
            <p:nvPr/>
          </p:nvCxnSpPr>
          <p:spPr>
            <a:xfrm>
              <a:off x="3149417" y="4431455"/>
              <a:ext cx="354371" cy="354371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37FCE5F1-212C-CC15-3D14-052CB0033D6C}"/>
                </a:ext>
              </a:extLst>
            </p:cNvPr>
            <p:cNvCxnSpPr>
              <a:cxnSpLocks/>
              <a:stCxn id="46" idx="7"/>
              <a:endCxn id="46" idx="3"/>
            </p:cNvCxnSpPr>
            <p:nvPr/>
          </p:nvCxnSpPr>
          <p:spPr>
            <a:xfrm flipH="1">
              <a:off x="3149417" y="4431455"/>
              <a:ext cx="354371" cy="354371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C40BE05C-E285-C590-6145-FE8DA64B1E03}"/>
              </a:ext>
            </a:extLst>
          </p:cNvPr>
          <p:cNvSpPr/>
          <p:nvPr/>
        </p:nvSpPr>
        <p:spPr>
          <a:xfrm>
            <a:off x="792000" y="3996475"/>
            <a:ext cx="6156000" cy="50115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79627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5F76A1-3D00-2ED7-2C19-1D5675E5E5C6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电路的定义</a:t>
            </a:r>
            <a:endParaRPr lang="en-US" altLang="zh-CN" sz="3000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BC91FF03-F22E-25AA-003D-7673D188A5E9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E87E4AB1-E2AC-E13D-981A-277B4152AC96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" name="箭头: 五边形 5">
                <a:extLst>
                  <a:ext uri="{FF2B5EF4-FFF2-40B4-BE49-F238E27FC236}">
                    <a16:creationId xmlns:a16="http://schemas.microsoft.com/office/drawing/2014/main" id="{C496A21A-8925-3AAB-CF92-FCAAC5576CB3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箭头: V 形 6">
                <a:extLst>
                  <a:ext uri="{FF2B5EF4-FFF2-40B4-BE49-F238E27FC236}">
                    <a16:creationId xmlns:a16="http://schemas.microsoft.com/office/drawing/2014/main" id="{C518857A-B391-7ECB-FF95-DE08EEF6C24B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灯片编号占位符 3">
              <a:extLst>
                <a:ext uri="{FF2B5EF4-FFF2-40B4-BE49-F238E27FC236}">
                  <a16:creationId xmlns:a16="http://schemas.microsoft.com/office/drawing/2014/main" id="{D9065DAA-63BC-66CF-F761-4A301907CCF6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4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0F5812D2-AE18-4CE4-7DC2-7335911508B2}"/>
              </a:ext>
            </a:extLst>
          </p:cNvPr>
          <p:cNvSpPr txBox="1"/>
          <p:nvPr/>
        </p:nvSpPr>
        <p:spPr>
          <a:xfrm>
            <a:off x="360000" y="828000"/>
            <a:ext cx="10308140" cy="2055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集总参数元件</a:t>
            </a:r>
            <a:r>
              <a:rPr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集总元件：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每种元件只反映一种基本电磁现象，可由数学方法加以定义，比如，电阻（电能消耗）、电容（电场）、电感（磁场）、电压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电流源等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元件的电磁过程都集中在元件内部，忽略电磁场空间分布效应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F9301D2-3371-FB0E-D58E-A1386B123E2C}"/>
              </a:ext>
            </a:extLst>
          </p:cNvPr>
          <p:cNvSpPr txBox="1"/>
          <p:nvPr/>
        </p:nvSpPr>
        <p:spPr>
          <a:xfrm>
            <a:off x="694801" y="4320000"/>
            <a:ext cx="21599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电阻</a:t>
            </a:r>
            <a:endParaRPr lang="zh-CN" altLang="en-US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CF43BD7-3C3A-7A92-A025-AA2095F6A9C2}"/>
              </a:ext>
            </a:extLst>
          </p:cNvPr>
          <p:cNvSpPr txBox="1"/>
          <p:nvPr/>
        </p:nvSpPr>
        <p:spPr>
          <a:xfrm>
            <a:off x="5015999" y="4320000"/>
            <a:ext cx="21599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电容</a:t>
            </a:r>
            <a:endParaRPr lang="zh-CN" altLang="en-US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B89520F-7739-DC9E-6B1B-68F6E339C961}"/>
              </a:ext>
            </a:extLst>
          </p:cNvPr>
          <p:cNvSpPr txBox="1"/>
          <p:nvPr/>
        </p:nvSpPr>
        <p:spPr>
          <a:xfrm>
            <a:off x="9334798" y="4320000"/>
            <a:ext cx="21599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电感</a:t>
            </a:r>
            <a:endParaRPr lang="zh-CN" altLang="en-US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BCF23297-CA56-10DA-2BAF-A49B7EEEB2BE}"/>
              </a:ext>
            </a:extLst>
          </p:cNvPr>
          <p:cNvCxnSpPr>
            <a:cxnSpLocks/>
          </p:cNvCxnSpPr>
          <p:nvPr/>
        </p:nvCxnSpPr>
        <p:spPr>
          <a:xfrm>
            <a:off x="9334800" y="3780000"/>
            <a:ext cx="2160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76CD8C3A-BFE7-57CD-E4BA-1E86820C27D5}"/>
              </a:ext>
            </a:extLst>
          </p:cNvPr>
          <p:cNvGrpSpPr/>
          <p:nvPr/>
        </p:nvGrpSpPr>
        <p:grpSpPr>
          <a:xfrm>
            <a:off x="5015999" y="3366000"/>
            <a:ext cx="2160000" cy="829742"/>
            <a:chOff x="5015999" y="3294472"/>
            <a:chExt cx="2160000" cy="829742"/>
          </a:xfrm>
        </p:grpSpPr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E2B6ECC5-B282-4994-EA27-5EF9D4D587A9}"/>
                </a:ext>
              </a:extLst>
            </p:cNvPr>
            <p:cNvCxnSpPr>
              <a:cxnSpLocks/>
            </p:cNvCxnSpPr>
            <p:nvPr/>
          </p:nvCxnSpPr>
          <p:spPr>
            <a:xfrm>
              <a:off x="5015999" y="3709343"/>
              <a:ext cx="216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8176E878-4799-DD6F-5656-E8C8C173BD50}"/>
                </a:ext>
              </a:extLst>
            </p:cNvPr>
            <p:cNvSpPr/>
            <p:nvPr/>
          </p:nvSpPr>
          <p:spPr>
            <a:xfrm>
              <a:off x="5950657" y="3574283"/>
              <a:ext cx="302400" cy="270120"/>
            </a:xfrm>
            <a:prstGeom prst="rect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B0C70363-3FF1-A6FB-F7AE-4F914421D69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535786" y="3709343"/>
              <a:ext cx="82974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6202E536-4364-1E8B-4648-965E1943529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838186" y="3709343"/>
              <a:ext cx="82974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矩形 25">
            <a:extLst>
              <a:ext uri="{FF2B5EF4-FFF2-40B4-BE49-F238E27FC236}">
                <a16:creationId xmlns:a16="http://schemas.microsoft.com/office/drawing/2014/main" id="{5A0A1F53-225A-3EC6-0C16-BC0F4EEA14E3}"/>
              </a:ext>
            </a:extLst>
          </p:cNvPr>
          <p:cNvSpPr/>
          <p:nvPr/>
        </p:nvSpPr>
        <p:spPr>
          <a:xfrm>
            <a:off x="9875775" y="3645811"/>
            <a:ext cx="1080000" cy="270120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51AA3DCD-4037-ADC4-275D-03E0B716695B}"/>
              </a:ext>
            </a:extLst>
          </p:cNvPr>
          <p:cNvGrpSpPr/>
          <p:nvPr/>
        </p:nvGrpSpPr>
        <p:grpSpPr>
          <a:xfrm>
            <a:off x="9874800" y="3619333"/>
            <a:ext cx="1080000" cy="360000"/>
            <a:chOff x="9908137" y="3617528"/>
            <a:chExt cx="1080000" cy="360000"/>
          </a:xfrm>
        </p:grpSpPr>
        <p:sp>
          <p:nvSpPr>
            <p:cNvPr id="59" name="弧形 58">
              <a:extLst>
                <a:ext uri="{FF2B5EF4-FFF2-40B4-BE49-F238E27FC236}">
                  <a16:creationId xmlns:a16="http://schemas.microsoft.com/office/drawing/2014/main" id="{87C82BFC-7945-04C2-97A4-92685131D604}"/>
                </a:ext>
              </a:extLst>
            </p:cNvPr>
            <p:cNvSpPr/>
            <p:nvPr/>
          </p:nvSpPr>
          <p:spPr>
            <a:xfrm>
              <a:off x="9908137" y="3617528"/>
              <a:ext cx="216000" cy="360000"/>
            </a:xfrm>
            <a:prstGeom prst="arc">
              <a:avLst>
                <a:gd name="adj1" fmla="val 10781683"/>
                <a:gd name="adj2" fmla="val 0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0" name="弧形 59">
              <a:extLst>
                <a:ext uri="{FF2B5EF4-FFF2-40B4-BE49-F238E27FC236}">
                  <a16:creationId xmlns:a16="http://schemas.microsoft.com/office/drawing/2014/main" id="{9A1D92D7-D277-4A60-47EF-520CF565CFDA}"/>
                </a:ext>
              </a:extLst>
            </p:cNvPr>
            <p:cNvSpPr/>
            <p:nvPr/>
          </p:nvSpPr>
          <p:spPr>
            <a:xfrm>
              <a:off x="10124137" y="3617528"/>
              <a:ext cx="216000" cy="360000"/>
            </a:xfrm>
            <a:prstGeom prst="arc">
              <a:avLst>
                <a:gd name="adj1" fmla="val 10781683"/>
                <a:gd name="adj2" fmla="val 0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弧形 60">
              <a:extLst>
                <a:ext uri="{FF2B5EF4-FFF2-40B4-BE49-F238E27FC236}">
                  <a16:creationId xmlns:a16="http://schemas.microsoft.com/office/drawing/2014/main" id="{09BE7D42-79AF-AECC-DC47-7209EDB95E25}"/>
                </a:ext>
              </a:extLst>
            </p:cNvPr>
            <p:cNvSpPr/>
            <p:nvPr/>
          </p:nvSpPr>
          <p:spPr>
            <a:xfrm>
              <a:off x="10340137" y="3617528"/>
              <a:ext cx="216000" cy="360000"/>
            </a:xfrm>
            <a:prstGeom prst="arc">
              <a:avLst>
                <a:gd name="adj1" fmla="val 10781683"/>
                <a:gd name="adj2" fmla="val 0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2" name="弧形 61">
              <a:extLst>
                <a:ext uri="{FF2B5EF4-FFF2-40B4-BE49-F238E27FC236}">
                  <a16:creationId xmlns:a16="http://schemas.microsoft.com/office/drawing/2014/main" id="{E53647A5-8F8D-8520-7589-961106269D14}"/>
                </a:ext>
              </a:extLst>
            </p:cNvPr>
            <p:cNvSpPr/>
            <p:nvPr/>
          </p:nvSpPr>
          <p:spPr>
            <a:xfrm>
              <a:off x="10556137" y="3617528"/>
              <a:ext cx="216000" cy="360000"/>
            </a:xfrm>
            <a:prstGeom prst="arc">
              <a:avLst>
                <a:gd name="adj1" fmla="val 10781683"/>
                <a:gd name="adj2" fmla="val 0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63" name="弧形 62">
              <a:extLst>
                <a:ext uri="{FF2B5EF4-FFF2-40B4-BE49-F238E27FC236}">
                  <a16:creationId xmlns:a16="http://schemas.microsoft.com/office/drawing/2014/main" id="{35623F05-8A76-15F7-60C7-880DF7C2CEF7}"/>
                </a:ext>
              </a:extLst>
            </p:cNvPr>
            <p:cNvSpPr/>
            <p:nvPr/>
          </p:nvSpPr>
          <p:spPr>
            <a:xfrm>
              <a:off x="10772137" y="3617528"/>
              <a:ext cx="216000" cy="360000"/>
            </a:xfrm>
            <a:prstGeom prst="arc">
              <a:avLst>
                <a:gd name="adj1" fmla="val 10781683"/>
                <a:gd name="adj2" fmla="val 0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</p:grpSp>
      <p:sp>
        <p:nvSpPr>
          <p:cNvPr id="67" name="文本框 66">
            <a:extLst>
              <a:ext uri="{FF2B5EF4-FFF2-40B4-BE49-F238E27FC236}">
                <a16:creationId xmlns:a16="http://schemas.microsoft.com/office/drawing/2014/main" id="{5D630FE0-70CA-026D-FC26-F66319D856AB}"/>
              </a:ext>
            </a:extLst>
          </p:cNvPr>
          <p:cNvSpPr txBox="1"/>
          <p:nvPr/>
        </p:nvSpPr>
        <p:spPr>
          <a:xfrm>
            <a:off x="2855999" y="6030000"/>
            <a:ext cx="21599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电压源</a:t>
            </a:r>
            <a:endParaRPr lang="zh-CN" altLang="en-US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CF81CEC5-9D12-D0F4-EB43-1EA923621D0F}"/>
              </a:ext>
            </a:extLst>
          </p:cNvPr>
          <p:cNvGrpSpPr/>
          <p:nvPr/>
        </p:nvGrpSpPr>
        <p:grpSpPr>
          <a:xfrm>
            <a:off x="2855999" y="4974301"/>
            <a:ext cx="2160000" cy="873959"/>
            <a:chOff x="2855999" y="4974301"/>
            <a:chExt cx="2160000" cy="873959"/>
          </a:xfrm>
        </p:grpSpPr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D1F1BDBA-DF43-6A39-B4D2-D5B031AC8684}"/>
                </a:ext>
              </a:extLst>
            </p:cNvPr>
            <p:cNvSpPr/>
            <p:nvPr/>
          </p:nvSpPr>
          <p:spPr>
            <a:xfrm>
              <a:off x="3575997" y="5128260"/>
              <a:ext cx="720000" cy="720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9361668F-7F21-40D9-FF1C-C6366E7E49A5}"/>
                </a:ext>
              </a:extLst>
            </p:cNvPr>
            <p:cNvCxnSpPr>
              <a:cxnSpLocks/>
            </p:cNvCxnSpPr>
            <p:nvPr/>
          </p:nvCxnSpPr>
          <p:spPr>
            <a:xfrm>
              <a:off x="2855999" y="5488260"/>
              <a:ext cx="216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24795CC5-4E97-3235-447F-C4B15E9133B0}"/>
                    </a:ext>
                  </a:extLst>
                </p:cNvPr>
                <p:cNvSpPr txBox="1"/>
                <p:nvPr/>
              </p:nvSpPr>
              <p:spPr>
                <a:xfrm>
                  <a:off x="3214800" y="4974301"/>
                  <a:ext cx="72000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24795CC5-4E97-3235-447F-C4B15E9133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4800" y="4974301"/>
                  <a:ext cx="720000" cy="461665"/>
                </a:xfrm>
                <a:prstGeom prst="rect">
                  <a:avLst/>
                </a:prstGeom>
                <a:blipFill>
                  <a:blip r:embed="rId3"/>
                  <a:stretch>
                    <a:fillRect l="-8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9347BB01-FCEC-3B28-5056-600787350122}"/>
                    </a:ext>
                  </a:extLst>
                </p:cNvPr>
                <p:cNvSpPr txBox="1"/>
                <p:nvPr/>
              </p:nvSpPr>
              <p:spPr>
                <a:xfrm>
                  <a:off x="3934800" y="4975200"/>
                  <a:ext cx="72000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9347BB01-FCEC-3B28-5056-6007873501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4800" y="4975200"/>
                  <a:ext cx="720000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4" name="文本框 73">
            <a:extLst>
              <a:ext uri="{FF2B5EF4-FFF2-40B4-BE49-F238E27FC236}">
                <a16:creationId xmlns:a16="http://schemas.microsoft.com/office/drawing/2014/main" id="{FCC87DC6-5770-F0C5-FCBC-4E29A2F812A7}"/>
              </a:ext>
            </a:extLst>
          </p:cNvPr>
          <p:cNvSpPr txBox="1"/>
          <p:nvPr/>
        </p:nvSpPr>
        <p:spPr>
          <a:xfrm>
            <a:off x="7174800" y="6030899"/>
            <a:ext cx="21599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电流源</a:t>
            </a:r>
            <a:endParaRPr lang="zh-CN" altLang="en-US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84F79C60-FAB5-114F-DF90-BC49430D45CA}"/>
              </a:ext>
            </a:extLst>
          </p:cNvPr>
          <p:cNvGrpSpPr/>
          <p:nvPr/>
        </p:nvGrpSpPr>
        <p:grpSpPr>
          <a:xfrm>
            <a:off x="7174800" y="5129159"/>
            <a:ext cx="2160000" cy="720000"/>
            <a:chOff x="7174800" y="5129159"/>
            <a:chExt cx="2160000" cy="720000"/>
          </a:xfrm>
        </p:grpSpPr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A035AA79-525F-DA74-B4C6-B89916A984FF}"/>
                </a:ext>
              </a:extLst>
            </p:cNvPr>
            <p:cNvCxnSpPr>
              <a:cxnSpLocks/>
            </p:cNvCxnSpPr>
            <p:nvPr/>
          </p:nvCxnSpPr>
          <p:spPr>
            <a:xfrm>
              <a:off x="7174800" y="5489159"/>
              <a:ext cx="216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E22F6441-F1D5-749A-AEDA-C8DA9EEB6677}"/>
                </a:ext>
              </a:extLst>
            </p:cNvPr>
            <p:cNvSpPr/>
            <p:nvPr/>
          </p:nvSpPr>
          <p:spPr>
            <a:xfrm>
              <a:off x="7894798" y="5129159"/>
              <a:ext cx="720000" cy="720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537D8F60-191F-3BF6-BB8F-800B4AAA61B0}"/>
                </a:ext>
              </a:extLst>
            </p:cNvPr>
            <p:cNvCxnSpPr>
              <a:cxnSpLocks/>
              <a:stCxn id="75" idx="0"/>
              <a:endCxn id="75" idx="4"/>
            </p:cNvCxnSpPr>
            <p:nvPr/>
          </p:nvCxnSpPr>
          <p:spPr>
            <a:xfrm>
              <a:off x="8254798" y="5129159"/>
              <a:ext cx="0" cy="72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D84213E3-A47D-D7E9-60E5-B29A8843003A}"/>
                </a:ext>
              </a:extLst>
            </p:cNvPr>
            <p:cNvCxnSpPr>
              <a:cxnSpLocks/>
              <a:stCxn id="75" idx="6"/>
            </p:cNvCxnSpPr>
            <p:nvPr/>
          </p:nvCxnSpPr>
          <p:spPr>
            <a:xfrm>
              <a:off x="8614798" y="5489159"/>
              <a:ext cx="564828" cy="0"/>
            </a:xfrm>
            <a:prstGeom prst="line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A58661C4-60E1-4CEC-2B03-684B8F208EA8}"/>
              </a:ext>
            </a:extLst>
          </p:cNvPr>
          <p:cNvGrpSpPr/>
          <p:nvPr/>
        </p:nvGrpSpPr>
        <p:grpSpPr>
          <a:xfrm>
            <a:off x="694800" y="3387930"/>
            <a:ext cx="2160000" cy="784920"/>
            <a:chOff x="694800" y="3128400"/>
            <a:chExt cx="2160000" cy="784920"/>
          </a:xfrm>
        </p:grpSpPr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584F47E9-DDC9-3A45-2F5D-CFFF94521317}"/>
                </a:ext>
              </a:extLst>
            </p:cNvPr>
            <p:cNvGrpSpPr/>
            <p:nvPr/>
          </p:nvGrpSpPr>
          <p:grpSpPr>
            <a:xfrm>
              <a:off x="694800" y="3643200"/>
              <a:ext cx="2160000" cy="270120"/>
              <a:chOff x="1546697" y="3566418"/>
              <a:chExt cx="2160000" cy="270120"/>
            </a:xfrm>
          </p:grpSpPr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138C61B7-2463-B6F1-ADEE-CE075AF812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46697" y="3701478"/>
                <a:ext cx="21600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E5B80111-2096-14AA-4A9E-003D307DFADD}"/>
                  </a:ext>
                </a:extLst>
              </p:cNvPr>
              <p:cNvSpPr/>
              <p:nvPr/>
            </p:nvSpPr>
            <p:spPr>
              <a:xfrm>
                <a:off x="2062922" y="3566418"/>
                <a:ext cx="1127550" cy="27012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</p:grp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FF143072-8E54-7D17-52E3-4636C4DB49F0}"/>
                </a:ext>
              </a:extLst>
            </p:cNvPr>
            <p:cNvCxnSpPr>
              <a:cxnSpLocks/>
            </p:cNvCxnSpPr>
            <p:nvPr/>
          </p:nvCxnSpPr>
          <p:spPr>
            <a:xfrm>
              <a:off x="694800" y="3282210"/>
              <a:ext cx="216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FF91EADC-E671-593E-B33F-A9CB20CEE210}"/>
                </a:ext>
              </a:extLst>
            </p:cNvPr>
            <p:cNvSpPr/>
            <p:nvPr/>
          </p:nvSpPr>
          <p:spPr>
            <a:xfrm>
              <a:off x="1211025" y="3147150"/>
              <a:ext cx="1127550" cy="270120"/>
            </a:xfrm>
            <a:prstGeom prst="rect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7E32B9BF-93C5-FDED-D85E-9C37FCE7128E}"/>
                </a:ext>
              </a:extLst>
            </p:cNvPr>
            <p:cNvGrpSpPr/>
            <p:nvPr/>
          </p:nvGrpSpPr>
          <p:grpSpPr>
            <a:xfrm>
              <a:off x="1211025" y="3128400"/>
              <a:ext cx="1127550" cy="309600"/>
              <a:chOff x="1211032" y="3128400"/>
              <a:chExt cx="1210072" cy="309600"/>
            </a:xfrm>
          </p:grpSpPr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E6FAA0BC-CD7E-3837-362B-61ACAD099AE6}"/>
                  </a:ext>
                </a:extLst>
              </p:cNvPr>
              <p:cNvCxnSpPr>
                <a:cxnSpLocks/>
                <a:stCxn id="13" idx="1"/>
              </p:cNvCxnSpPr>
              <p:nvPr/>
            </p:nvCxnSpPr>
            <p:spPr>
              <a:xfrm flipV="1">
                <a:off x="1211032" y="3128400"/>
                <a:ext cx="75831" cy="15381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BAD08A73-27CA-E7C1-0EDB-64C816F6149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286863" y="3128400"/>
                <a:ext cx="151200" cy="3096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D291D716-C6FF-F384-A94D-B620309CF44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38063" y="3128400"/>
                <a:ext cx="151200" cy="3096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780B762E-AA60-E959-2690-DC3246A3E65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589262" y="3128400"/>
                <a:ext cx="151200" cy="3096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5A798017-2663-C07A-B7A7-7362ADF3E87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40461" y="3128400"/>
                <a:ext cx="151200" cy="3096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4DE77828-0401-5AC7-CFE1-CC55140061C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891661" y="3128400"/>
                <a:ext cx="151200" cy="3096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70A84128-CB45-C215-55A5-F9743A757F4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42860" y="3128400"/>
                <a:ext cx="151200" cy="3096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1BEBBC34-86B7-9A87-BD22-F895C8C5CA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194060" y="3128400"/>
                <a:ext cx="151200" cy="3096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3B088D78-2E8B-BF1E-2683-84479AFBD7BA}"/>
                  </a:ext>
                </a:extLst>
              </p:cNvPr>
              <p:cNvCxnSpPr>
                <a:cxnSpLocks/>
                <a:endCxn id="13" idx="3"/>
              </p:cNvCxnSpPr>
              <p:nvPr/>
            </p:nvCxnSpPr>
            <p:spPr>
              <a:xfrm flipV="1">
                <a:off x="2345259" y="3282210"/>
                <a:ext cx="75845" cy="15473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710357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E302E-95A4-50F4-CDF1-BB02FAD05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BE993F-3D88-C136-B2AD-702B9107A43E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集总电路的基本变量</a:t>
            </a:r>
            <a:endParaRPr lang="en-US" altLang="zh-CN" sz="3000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678A091-DA6E-BD5D-FA14-A4047EFE1A40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B8F4F4E2-4D8C-3C36-2B47-D1C236F2BED2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" name="箭头: 五边形 5">
                <a:extLst>
                  <a:ext uri="{FF2B5EF4-FFF2-40B4-BE49-F238E27FC236}">
                    <a16:creationId xmlns:a16="http://schemas.microsoft.com/office/drawing/2014/main" id="{90E915E0-E7B9-5D8C-0008-AB7A3F8B91E1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箭头: V 形 6">
                <a:extLst>
                  <a:ext uri="{FF2B5EF4-FFF2-40B4-BE49-F238E27FC236}">
                    <a16:creationId xmlns:a16="http://schemas.microsoft.com/office/drawing/2014/main" id="{FFE8B32D-07B9-DD1F-7416-6B3D9E200171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灯片编号占位符 3">
              <a:extLst>
                <a:ext uri="{FF2B5EF4-FFF2-40B4-BE49-F238E27FC236}">
                  <a16:creationId xmlns:a16="http://schemas.microsoft.com/office/drawing/2014/main" id="{D016477E-258D-813D-B44B-172DE550D060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5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0E29EF9-685C-2532-7BE2-D8C411C0C541}"/>
                  </a:ext>
                </a:extLst>
              </p:cNvPr>
              <p:cNvSpPr txBox="1"/>
              <p:nvPr/>
            </p:nvSpPr>
            <p:spPr>
              <a:xfrm>
                <a:off x="360000" y="828000"/>
                <a:ext cx="10724011" cy="51761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电路的基本变量</a:t>
                </a:r>
                <a:endParaRPr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电流：单位时间内通过导体横截面的电量，符号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𝐼</m:t>
                    </m:r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或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𝑖</m:t>
                    </m:r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，单位为安培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</m:oMath>
                </a14:m>
                <a:endParaRPr lang="en-US" altLang="zh-CN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电量表示电荷的数量，符号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𝑄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或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𝑞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，单位为库仑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C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，电流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𝑖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𝑡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d</m:t>
                        </m:r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𝑞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d</m:t>
                        </m:r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𝑡</m:t>
                        </m:r>
                      </m:den>
                    </m:f>
                  </m:oMath>
                </a14:m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电压（电位差）：两点之间的电势差，符号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𝑈</m:t>
                    </m:r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ea typeface="微软雅黑" panose="020B0503020204020204" pitchFamily="34" charset="-122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𝑉</m:t>
                    </m:r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𝑢</m:t>
                    </m:r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或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𝑣</m:t>
                    </m:r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，单位为伏特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V</m:t>
                    </m:r>
                  </m:oMath>
                </a14:m>
                <a:endParaRPr lang="en-US" altLang="zh-CN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单位正电荷从 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点移动 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点时所获得或失去的电势能（符号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𝑊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或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𝑤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，单位为焦耳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J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），电压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𝑢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𝑡</m:t>
                        </m:r>
                      </m:e>
                    </m:d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d</m:t>
                        </m:r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𝑤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d</m:t>
                        </m:r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𝑞</m:t>
                        </m:r>
                      </m:den>
                    </m:f>
                  </m:oMath>
                </a14:m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电压是推动自由电荷定向移动形成电流的原因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电阻</a:t>
                </a:r>
                <a:r>
                  <a:rPr lang="en-US" altLang="zh-CN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电容</a:t>
                </a:r>
                <a:r>
                  <a:rPr lang="en-US" altLang="zh-CN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电感</a:t>
                </a:r>
                <a:r>
                  <a:rPr lang="zh-CN" altLang="en-US" sz="240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：线性响应</a:t>
                </a:r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，无方向性</a:t>
                </a:r>
                <a:endParaRPr lang="en-US" altLang="zh-CN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0E29EF9-685C-2532-7BE2-D8C411C0C5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8000"/>
                <a:ext cx="10724011" cy="5176161"/>
              </a:xfrm>
              <a:prstGeom prst="rect">
                <a:avLst/>
              </a:prstGeom>
              <a:blipFill>
                <a:blip r:embed="rId3"/>
                <a:stretch>
                  <a:fillRect l="-1137" t="-471" r="-3354" b="-17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8492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C55FF-F7C7-6169-3AF8-8942AB89A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BC3131-2319-3B44-2E60-C09189820524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集总电路的基本变量</a:t>
            </a:r>
            <a:endParaRPr lang="en-US" altLang="zh-CN" sz="3000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E6CB81D-04F6-FD94-2859-D4AFFE4BB0F5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E3BDF02F-9E6C-552A-883E-723EE2F5C5ED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" name="箭头: 五边形 5">
                <a:extLst>
                  <a:ext uri="{FF2B5EF4-FFF2-40B4-BE49-F238E27FC236}">
                    <a16:creationId xmlns:a16="http://schemas.microsoft.com/office/drawing/2014/main" id="{FB0806A0-96A1-B73E-17B4-685625245D27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箭头: V 形 6">
                <a:extLst>
                  <a:ext uri="{FF2B5EF4-FFF2-40B4-BE49-F238E27FC236}">
                    <a16:creationId xmlns:a16="http://schemas.microsoft.com/office/drawing/2014/main" id="{1ECF83CD-7FDA-E389-FBA5-5320121FB3D7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灯片编号占位符 3">
              <a:extLst>
                <a:ext uri="{FF2B5EF4-FFF2-40B4-BE49-F238E27FC236}">
                  <a16:creationId xmlns:a16="http://schemas.microsoft.com/office/drawing/2014/main" id="{FE6987CC-1587-5C5D-3486-C216CCA55570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6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67ECDB9-6707-8ADC-AE8B-A39AEB202F0C}"/>
                  </a:ext>
                </a:extLst>
              </p:cNvPr>
              <p:cNvSpPr txBox="1"/>
              <p:nvPr/>
            </p:nvSpPr>
            <p:spPr>
              <a:xfrm>
                <a:off x="359999" y="828000"/>
                <a:ext cx="11003326" cy="24985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电流</a:t>
                </a:r>
                <a:endParaRPr lang="en-US" altLang="zh-CN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直流电流（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Direct Current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DC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）：电流的大小和方向不随时间变化，也称恒定电流，可大写符号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𝐼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表示 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交流电流（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Alternating Current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AC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）：电流的大小和方向随时间变化，可用小写符号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𝑖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表示 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67ECDB9-6707-8ADC-AE8B-A39AEB202F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99" y="828000"/>
                <a:ext cx="11003326" cy="2498504"/>
              </a:xfrm>
              <a:prstGeom prst="rect">
                <a:avLst/>
              </a:prstGeom>
              <a:blipFill>
                <a:blip r:embed="rId3"/>
                <a:stretch>
                  <a:fillRect l="-997" t="-976" r="-1108" b="-46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857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F1088-0FC4-181F-C115-89282483B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36EC4E-5F23-70AD-4F03-48AC507788C9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集总电路的基本变量</a:t>
            </a:r>
            <a:endParaRPr lang="en-US" altLang="zh-CN" sz="3000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225EF21-B1E9-3005-88D0-E60864A36B0C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F7ED17FC-5550-0731-2363-8E6D7750B418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" name="箭头: 五边形 5">
                <a:extLst>
                  <a:ext uri="{FF2B5EF4-FFF2-40B4-BE49-F238E27FC236}">
                    <a16:creationId xmlns:a16="http://schemas.microsoft.com/office/drawing/2014/main" id="{DF6429A3-38D8-0F15-3403-FACACC54558A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箭头: V 形 6">
                <a:extLst>
                  <a:ext uri="{FF2B5EF4-FFF2-40B4-BE49-F238E27FC236}">
                    <a16:creationId xmlns:a16="http://schemas.microsoft.com/office/drawing/2014/main" id="{F0D676D8-6290-A1A4-ABB3-AC271DE2D173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灯片编号占位符 3">
              <a:extLst>
                <a:ext uri="{FF2B5EF4-FFF2-40B4-BE49-F238E27FC236}">
                  <a16:creationId xmlns:a16="http://schemas.microsoft.com/office/drawing/2014/main" id="{09EA3F8B-646B-EB56-9FFD-6AE9336DA449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7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C564C5EF-0A8E-75C0-3D3B-EE8CAB1E443F}"/>
              </a:ext>
            </a:extLst>
          </p:cNvPr>
          <p:cNvSpPr txBox="1"/>
          <p:nvPr/>
        </p:nvSpPr>
        <p:spPr>
          <a:xfrm>
            <a:off x="359999" y="828000"/>
            <a:ext cx="11426839" cy="2132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电流</a:t>
            </a:r>
            <a:endParaRPr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电流方向：正电荷运动的方向（电子运动的反方向）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电流的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参考方向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：可任意定，也称为电流的正方向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如果电流的真实方向与参考方向一致，电流为正值；方向相反，电流为负值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E9E184D-9CB0-C069-29DF-7F6925BA97C2}"/>
                  </a:ext>
                </a:extLst>
              </p:cNvPr>
              <p:cNvSpPr txBox="1"/>
              <p:nvPr/>
            </p:nvSpPr>
            <p:spPr>
              <a:xfrm>
                <a:off x="359999" y="3600000"/>
                <a:ext cx="1100309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例：一群电子匀速向右运动，电流的真实方向为向左；设电流绝对值为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</m:t>
                    </m:r>
                    <m:r>
                      <a:rPr lang="en-US" altLang="zh-CN" sz="24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</m:oMath>
                </a14:m>
                <a:endParaRPr lang="en-US" altLang="zh-CN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E9E184D-9CB0-C069-29DF-7F6925BA9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99" y="3600000"/>
                <a:ext cx="11003094" cy="461665"/>
              </a:xfrm>
              <a:prstGeom prst="rect">
                <a:avLst/>
              </a:prstGeom>
              <a:blipFill>
                <a:blip r:embed="rId3"/>
                <a:stretch>
                  <a:fillRect t="-10667" b="-3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1" name="组合 50">
            <a:extLst>
              <a:ext uri="{FF2B5EF4-FFF2-40B4-BE49-F238E27FC236}">
                <a16:creationId xmlns:a16="http://schemas.microsoft.com/office/drawing/2014/main" id="{D7FAD361-3001-CDCD-646B-4AED17493022}"/>
              </a:ext>
            </a:extLst>
          </p:cNvPr>
          <p:cNvGrpSpPr/>
          <p:nvPr/>
        </p:nvGrpSpPr>
        <p:grpSpPr>
          <a:xfrm>
            <a:off x="1080000" y="4680000"/>
            <a:ext cx="2762305" cy="1066447"/>
            <a:chOff x="1317046" y="4183402"/>
            <a:chExt cx="2762305" cy="1066447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4DB68AFE-B1C5-F926-8E6E-CB5C0FBC5ED2}"/>
                </a:ext>
              </a:extLst>
            </p:cNvPr>
            <p:cNvSpPr/>
            <p:nvPr/>
          </p:nvSpPr>
          <p:spPr>
            <a:xfrm>
              <a:off x="1731453" y="4481897"/>
              <a:ext cx="288813" cy="288813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B1729EED-3CEF-A685-4241-6B52935BAD0D}"/>
                </a:ext>
              </a:extLst>
            </p:cNvPr>
            <p:cNvCxnSpPr>
              <a:cxnSpLocks/>
            </p:cNvCxnSpPr>
            <p:nvPr/>
          </p:nvCxnSpPr>
          <p:spPr>
            <a:xfrm>
              <a:off x="1803892" y="4626304"/>
              <a:ext cx="14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7842979D-9100-58D0-D39D-886D05F24603}"/>
                </a:ext>
              </a:extLst>
            </p:cNvPr>
            <p:cNvCxnSpPr>
              <a:cxnSpLocks/>
              <a:stCxn id="11" idx="6"/>
            </p:cNvCxnSpPr>
            <p:nvPr/>
          </p:nvCxnSpPr>
          <p:spPr>
            <a:xfrm>
              <a:off x="2020266" y="4626304"/>
              <a:ext cx="540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9BDE0F06-37A2-E7F6-2218-40142E816220}"/>
                </a:ext>
              </a:extLst>
            </p:cNvPr>
            <p:cNvSpPr/>
            <p:nvPr/>
          </p:nvSpPr>
          <p:spPr>
            <a:xfrm>
              <a:off x="1461453" y="4834428"/>
              <a:ext cx="288813" cy="288813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3FA19485-076F-5A3A-161D-60307269F428}"/>
                </a:ext>
              </a:extLst>
            </p:cNvPr>
            <p:cNvCxnSpPr>
              <a:cxnSpLocks/>
            </p:cNvCxnSpPr>
            <p:nvPr/>
          </p:nvCxnSpPr>
          <p:spPr>
            <a:xfrm>
              <a:off x="1533892" y="4978835"/>
              <a:ext cx="14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D33ABC2E-E101-643A-583F-15D87E1BCBFF}"/>
                </a:ext>
              </a:extLst>
            </p:cNvPr>
            <p:cNvCxnSpPr>
              <a:cxnSpLocks/>
              <a:stCxn id="26" idx="6"/>
            </p:cNvCxnSpPr>
            <p:nvPr/>
          </p:nvCxnSpPr>
          <p:spPr>
            <a:xfrm>
              <a:off x="1750266" y="4978835"/>
              <a:ext cx="540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78D7AFD5-466B-4D57-812A-33FFA7073C0B}"/>
                </a:ext>
              </a:extLst>
            </p:cNvPr>
            <p:cNvSpPr/>
            <p:nvPr/>
          </p:nvSpPr>
          <p:spPr>
            <a:xfrm>
              <a:off x="2290266" y="4722942"/>
              <a:ext cx="288813" cy="288813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27BC9B30-D658-A09E-C29A-E1AB279497E4}"/>
                </a:ext>
              </a:extLst>
            </p:cNvPr>
            <p:cNvCxnSpPr>
              <a:cxnSpLocks/>
            </p:cNvCxnSpPr>
            <p:nvPr/>
          </p:nvCxnSpPr>
          <p:spPr>
            <a:xfrm>
              <a:off x="2362705" y="4867349"/>
              <a:ext cx="14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E64DB9A8-9BB0-8DB5-EE64-71FB7B13C07A}"/>
                </a:ext>
              </a:extLst>
            </p:cNvPr>
            <p:cNvCxnSpPr>
              <a:cxnSpLocks/>
              <a:stCxn id="29" idx="6"/>
            </p:cNvCxnSpPr>
            <p:nvPr/>
          </p:nvCxnSpPr>
          <p:spPr>
            <a:xfrm>
              <a:off x="2579079" y="4867349"/>
              <a:ext cx="540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EB737B8C-5388-36C3-DCF6-0D39E11B3866}"/>
                </a:ext>
              </a:extLst>
            </p:cNvPr>
            <p:cNvSpPr/>
            <p:nvPr/>
          </p:nvSpPr>
          <p:spPr>
            <a:xfrm>
              <a:off x="2695149" y="4417577"/>
              <a:ext cx="288813" cy="288813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542F3359-8007-5D85-4C0C-D4BF858E3112}"/>
                </a:ext>
              </a:extLst>
            </p:cNvPr>
            <p:cNvCxnSpPr>
              <a:cxnSpLocks/>
            </p:cNvCxnSpPr>
            <p:nvPr/>
          </p:nvCxnSpPr>
          <p:spPr>
            <a:xfrm>
              <a:off x="2767588" y="4561984"/>
              <a:ext cx="14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2B4ADFC9-FA85-87D0-1DCA-85EB1D8C529D}"/>
                </a:ext>
              </a:extLst>
            </p:cNvPr>
            <p:cNvCxnSpPr>
              <a:cxnSpLocks/>
              <a:stCxn id="32" idx="6"/>
            </p:cNvCxnSpPr>
            <p:nvPr/>
          </p:nvCxnSpPr>
          <p:spPr>
            <a:xfrm>
              <a:off x="2983962" y="4561984"/>
              <a:ext cx="540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BE90020B-ECE3-B153-2C49-E0971A1C9B7F}"/>
                </a:ext>
              </a:extLst>
            </p:cNvPr>
            <p:cNvSpPr/>
            <p:nvPr/>
          </p:nvSpPr>
          <p:spPr>
            <a:xfrm>
              <a:off x="2194488" y="4195903"/>
              <a:ext cx="288813" cy="288813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E8EB28B0-4070-97B1-4630-01373A928637}"/>
                </a:ext>
              </a:extLst>
            </p:cNvPr>
            <p:cNvCxnSpPr>
              <a:cxnSpLocks/>
            </p:cNvCxnSpPr>
            <p:nvPr/>
          </p:nvCxnSpPr>
          <p:spPr>
            <a:xfrm>
              <a:off x="2266927" y="4340310"/>
              <a:ext cx="14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AFC65223-79EE-B9BB-5753-5925737B73D5}"/>
                </a:ext>
              </a:extLst>
            </p:cNvPr>
            <p:cNvCxnSpPr>
              <a:cxnSpLocks/>
              <a:stCxn id="35" idx="6"/>
            </p:cNvCxnSpPr>
            <p:nvPr/>
          </p:nvCxnSpPr>
          <p:spPr>
            <a:xfrm>
              <a:off x="2483301" y="4340310"/>
              <a:ext cx="540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658B2647-293E-93B0-588B-A3DFBFF6534D}"/>
                </a:ext>
              </a:extLst>
            </p:cNvPr>
            <p:cNvSpPr/>
            <p:nvPr/>
          </p:nvSpPr>
          <p:spPr>
            <a:xfrm>
              <a:off x="2817318" y="4961036"/>
              <a:ext cx="288813" cy="288813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D1FE82D7-FDF9-381A-DA98-98416A40E59D}"/>
                </a:ext>
              </a:extLst>
            </p:cNvPr>
            <p:cNvCxnSpPr>
              <a:cxnSpLocks/>
            </p:cNvCxnSpPr>
            <p:nvPr/>
          </p:nvCxnSpPr>
          <p:spPr>
            <a:xfrm>
              <a:off x="2889757" y="5105443"/>
              <a:ext cx="14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06E368C4-8225-DC11-D386-B9534EC52CAA}"/>
                </a:ext>
              </a:extLst>
            </p:cNvPr>
            <p:cNvCxnSpPr>
              <a:cxnSpLocks/>
              <a:stCxn id="38" idx="6"/>
            </p:cNvCxnSpPr>
            <p:nvPr/>
          </p:nvCxnSpPr>
          <p:spPr>
            <a:xfrm>
              <a:off x="3106131" y="5105443"/>
              <a:ext cx="540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BE9F57DF-D42E-72A3-62E0-AAAE14846CD6}"/>
                </a:ext>
              </a:extLst>
            </p:cNvPr>
            <p:cNvSpPr/>
            <p:nvPr/>
          </p:nvSpPr>
          <p:spPr>
            <a:xfrm>
              <a:off x="1317046" y="4273171"/>
              <a:ext cx="288813" cy="288813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50C7F8FE-0052-C6FA-2E3D-50BAF13A556A}"/>
                </a:ext>
              </a:extLst>
            </p:cNvPr>
            <p:cNvCxnSpPr>
              <a:cxnSpLocks/>
            </p:cNvCxnSpPr>
            <p:nvPr/>
          </p:nvCxnSpPr>
          <p:spPr>
            <a:xfrm>
              <a:off x="1389485" y="4417578"/>
              <a:ext cx="14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609FD820-52F6-58D5-CA50-2CB67821ADB6}"/>
                </a:ext>
              </a:extLst>
            </p:cNvPr>
            <p:cNvCxnSpPr>
              <a:cxnSpLocks/>
              <a:stCxn id="41" idx="6"/>
            </p:cNvCxnSpPr>
            <p:nvPr/>
          </p:nvCxnSpPr>
          <p:spPr>
            <a:xfrm>
              <a:off x="1605859" y="4417578"/>
              <a:ext cx="540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6318756B-D625-18DF-894C-E4570385482F}"/>
                </a:ext>
              </a:extLst>
            </p:cNvPr>
            <p:cNvSpPr/>
            <p:nvPr/>
          </p:nvSpPr>
          <p:spPr>
            <a:xfrm>
              <a:off x="3250538" y="4667293"/>
              <a:ext cx="288813" cy="288813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E15E1D52-F9E8-2751-23A5-F3F098CB4725}"/>
                </a:ext>
              </a:extLst>
            </p:cNvPr>
            <p:cNvCxnSpPr>
              <a:cxnSpLocks/>
            </p:cNvCxnSpPr>
            <p:nvPr/>
          </p:nvCxnSpPr>
          <p:spPr>
            <a:xfrm>
              <a:off x="3322977" y="4811700"/>
              <a:ext cx="14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278AFBF5-7198-CFF6-1723-78DDB4929422}"/>
                </a:ext>
              </a:extLst>
            </p:cNvPr>
            <p:cNvCxnSpPr>
              <a:cxnSpLocks/>
              <a:stCxn id="44" idx="6"/>
            </p:cNvCxnSpPr>
            <p:nvPr/>
          </p:nvCxnSpPr>
          <p:spPr>
            <a:xfrm>
              <a:off x="3539351" y="4811700"/>
              <a:ext cx="540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2F9F1405-4F59-FF2D-A1C2-D854D9AB7C14}"/>
                </a:ext>
              </a:extLst>
            </p:cNvPr>
            <p:cNvSpPr/>
            <p:nvPr/>
          </p:nvSpPr>
          <p:spPr>
            <a:xfrm>
              <a:off x="3148894" y="4183402"/>
              <a:ext cx="288813" cy="288813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706485DF-AA5E-9950-9E8B-2A4DD9E9584D}"/>
                </a:ext>
              </a:extLst>
            </p:cNvPr>
            <p:cNvCxnSpPr>
              <a:cxnSpLocks/>
            </p:cNvCxnSpPr>
            <p:nvPr/>
          </p:nvCxnSpPr>
          <p:spPr>
            <a:xfrm>
              <a:off x="3221333" y="4327809"/>
              <a:ext cx="14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432C3420-0B4E-43B8-65BB-1AEDD8C9B1FA}"/>
                </a:ext>
              </a:extLst>
            </p:cNvPr>
            <p:cNvCxnSpPr>
              <a:cxnSpLocks/>
              <a:stCxn id="47" idx="6"/>
            </p:cNvCxnSpPr>
            <p:nvPr/>
          </p:nvCxnSpPr>
          <p:spPr>
            <a:xfrm>
              <a:off x="3437707" y="4327809"/>
              <a:ext cx="540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7A09C515-A1B4-DA7C-95ED-6918F409F5BF}"/>
                  </a:ext>
                </a:extLst>
              </p:cNvPr>
              <p:cNvSpPr txBox="1"/>
              <p:nvPr/>
            </p:nvSpPr>
            <p:spPr>
              <a:xfrm>
                <a:off x="4320000" y="4680000"/>
                <a:ext cx="6722317" cy="9079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当参考方向为向左，电流为正值</a:t>
                </a:r>
                <a:r>
                  <a:rPr lang="en-US" altLang="zh-CN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𝐼</m:t>
                    </m:r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 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</m:oMath>
                </a14:m>
                <a:endParaRPr lang="en-US" altLang="zh-CN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spcAft>
                    <a:spcPts val="600"/>
                  </a:spcAft>
                </a:pPr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当参考方向为向右，电流为负值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𝐼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=−1 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</m:oMath>
                </a14:m>
                <a:endParaRPr lang="zh-CN" altLang="en-US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7A09C515-A1B4-DA7C-95ED-6918F409F5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0000" y="4680000"/>
                <a:ext cx="6722317" cy="907941"/>
              </a:xfrm>
              <a:prstGeom prst="rect">
                <a:avLst/>
              </a:prstGeom>
              <a:blipFill>
                <a:blip r:embed="rId4"/>
                <a:stretch>
                  <a:fillRect t="-5369" b="-147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1650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949C9-14F3-3592-A841-80576DD19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23719A-7DD6-0AF9-AFCD-69B3EEE1E977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集总电路的基本变量</a:t>
            </a:r>
            <a:endParaRPr lang="en-US" altLang="zh-CN" sz="3000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4B23CD51-6288-694C-0ED8-FCB4BA0CE14D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FB0F7487-7309-13DA-3BE0-CBD16B59A6EE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" name="箭头: 五边形 5">
                <a:extLst>
                  <a:ext uri="{FF2B5EF4-FFF2-40B4-BE49-F238E27FC236}">
                    <a16:creationId xmlns:a16="http://schemas.microsoft.com/office/drawing/2014/main" id="{A4FCC8D8-CFA6-448A-0A7E-8B088B3ED38F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箭头: V 形 6">
                <a:extLst>
                  <a:ext uri="{FF2B5EF4-FFF2-40B4-BE49-F238E27FC236}">
                    <a16:creationId xmlns:a16="http://schemas.microsoft.com/office/drawing/2014/main" id="{DCCC0DD8-FAF1-5436-AB59-F716C4FDDB51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灯片编号占位符 3">
              <a:extLst>
                <a:ext uri="{FF2B5EF4-FFF2-40B4-BE49-F238E27FC236}">
                  <a16:creationId xmlns:a16="http://schemas.microsoft.com/office/drawing/2014/main" id="{E2CADB4B-9145-BEFB-9C83-9DFB2A15814A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8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17FB686-8ED1-B48E-74AB-89EE2B5F1851}"/>
                  </a:ext>
                </a:extLst>
              </p:cNvPr>
              <p:cNvSpPr txBox="1"/>
              <p:nvPr/>
            </p:nvSpPr>
            <p:spPr>
              <a:xfrm>
                <a:off x="359999" y="828000"/>
                <a:ext cx="11159600" cy="16121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电压</a:t>
                </a:r>
                <a:endParaRPr lang="en-US" altLang="zh-CN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直流电压（恒定电压）：电压的大小和极性都不随时间变化，可表示为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𝑈</m:t>
                    </m:r>
                  </m:oMath>
                </a14:m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交流电压（交变电压）：电压的大小和极性都随时间变化，可表示为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𝑢</m:t>
                    </m:r>
                  </m:oMath>
                </a14:m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17FB686-8ED1-B48E-74AB-89EE2B5F18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99" y="828000"/>
                <a:ext cx="11159600" cy="1612108"/>
              </a:xfrm>
              <a:prstGeom prst="rect">
                <a:avLst/>
              </a:prstGeom>
              <a:blipFill>
                <a:blip r:embed="rId3"/>
                <a:stretch>
                  <a:fillRect l="-983" t="-1515" b="-79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B48F636A-80C0-F4DB-5510-3EEB8A0866F1}"/>
              </a:ext>
            </a:extLst>
          </p:cNvPr>
          <p:cNvSpPr txBox="1"/>
          <p:nvPr/>
        </p:nvSpPr>
        <p:spPr>
          <a:xfrm>
            <a:off x="694801" y="6057810"/>
            <a:ext cx="21599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电阻</a:t>
            </a:r>
            <a:endParaRPr lang="zh-CN" altLang="en-US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C9C1BB9-CDE7-253E-F0C7-E8E130ABF738}"/>
              </a:ext>
            </a:extLst>
          </p:cNvPr>
          <p:cNvSpPr txBox="1"/>
          <p:nvPr/>
        </p:nvSpPr>
        <p:spPr>
          <a:xfrm>
            <a:off x="5015999" y="6057810"/>
            <a:ext cx="21599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电容</a:t>
            </a:r>
            <a:endParaRPr lang="zh-CN" altLang="en-US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F306E69-F90C-08B2-472C-D1BFA2661ED1}"/>
              </a:ext>
            </a:extLst>
          </p:cNvPr>
          <p:cNvSpPr txBox="1"/>
          <p:nvPr/>
        </p:nvSpPr>
        <p:spPr>
          <a:xfrm>
            <a:off x="9334798" y="6057810"/>
            <a:ext cx="21599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电感</a:t>
            </a:r>
            <a:endParaRPr lang="zh-CN" altLang="en-US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B8DFCE57-1DA9-1AAA-E667-58BC02639FED}"/>
              </a:ext>
            </a:extLst>
          </p:cNvPr>
          <p:cNvCxnSpPr>
            <a:cxnSpLocks/>
          </p:cNvCxnSpPr>
          <p:nvPr/>
        </p:nvCxnSpPr>
        <p:spPr>
          <a:xfrm>
            <a:off x="9334800" y="5517810"/>
            <a:ext cx="2160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B07E537E-BC1F-EF43-5804-99D399AEFFCB}"/>
              </a:ext>
            </a:extLst>
          </p:cNvPr>
          <p:cNvGrpSpPr/>
          <p:nvPr/>
        </p:nvGrpSpPr>
        <p:grpSpPr>
          <a:xfrm>
            <a:off x="5015999" y="5103810"/>
            <a:ext cx="2160000" cy="829742"/>
            <a:chOff x="5015999" y="3294472"/>
            <a:chExt cx="2160000" cy="829742"/>
          </a:xfrm>
        </p:grpSpPr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742036BC-554A-2A78-B086-01F1D715CDB0}"/>
                </a:ext>
              </a:extLst>
            </p:cNvPr>
            <p:cNvCxnSpPr>
              <a:cxnSpLocks/>
            </p:cNvCxnSpPr>
            <p:nvPr/>
          </p:nvCxnSpPr>
          <p:spPr>
            <a:xfrm>
              <a:off x="5015999" y="3709343"/>
              <a:ext cx="216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814A6388-2750-B6A5-BF17-95474E2A4447}"/>
                </a:ext>
              </a:extLst>
            </p:cNvPr>
            <p:cNvSpPr/>
            <p:nvPr/>
          </p:nvSpPr>
          <p:spPr>
            <a:xfrm>
              <a:off x="5950657" y="3574283"/>
              <a:ext cx="302400" cy="270120"/>
            </a:xfrm>
            <a:prstGeom prst="rect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AD76C98E-AA86-F394-A2C2-E3A88629C71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535786" y="3709343"/>
              <a:ext cx="82974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E8412E24-DA00-43F1-9C14-F69CF918AA0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838186" y="3709343"/>
              <a:ext cx="82974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矩形 25">
            <a:extLst>
              <a:ext uri="{FF2B5EF4-FFF2-40B4-BE49-F238E27FC236}">
                <a16:creationId xmlns:a16="http://schemas.microsoft.com/office/drawing/2014/main" id="{6D0608CA-4F5A-8D58-6C5D-C7BC3481E470}"/>
              </a:ext>
            </a:extLst>
          </p:cNvPr>
          <p:cNvSpPr/>
          <p:nvPr/>
        </p:nvSpPr>
        <p:spPr>
          <a:xfrm>
            <a:off x="9875775" y="5383621"/>
            <a:ext cx="1080000" cy="270120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9DC5C713-5A3D-D718-9C5E-9811197597A0}"/>
              </a:ext>
            </a:extLst>
          </p:cNvPr>
          <p:cNvGrpSpPr/>
          <p:nvPr/>
        </p:nvGrpSpPr>
        <p:grpSpPr>
          <a:xfrm>
            <a:off x="9874800" y="5357143"/>
            <a:ext cx="1080000" cy="360000"/>
            <a:chOff x="9908137" y="3617528"/>
            <a:chExt cx="1080000" cy="360000"/>
          </a:xfrm>
        </p:grpSpPr>
        <p:sp>
          <p:nvSpPr>
            <p:cNvPr id="28" name="弧形 27">
              <a:extLst>
                <a:ext uri="{FF2B5EF4-FFF2-40B4-BE49-F238E27FC236}">
                  <a16:creationId xmlns:a16="http://schemas.microsoft.com/office/drawing/2014/main" id="{49CAE483-21DF-E29B-C057-0577C96D08A7}"/>
                </a:ext>
              </a:extLst>
            </p:cNvPr>
            <p:cNvSpPr/>
            <p:nvPr/>
          </p:nvSpPr>
          <p:spPr>
            <a:xfrm>
              <a:off x="9908137" y="3617528"/>
              <a:ext cx="216000" cy="360000"/>
            </a:xfrm>
            <a:prstGeom prst="arc">
              <a:avLst>
                <a:gd name="adj1" fmla="val 10781683"/>
                <a:gd name="adj2" fmla="val 0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29" name="弧形 28">
              <a:extLst>
                <a:ext uri="{FF2B5EF4-FFF2-40B4-BE49-F238E27FC236}">
                  <a16:creationId xmlns:a16="http://schemas.microsoft.com/office/drawing/2014/main" id="{ED9C2923-65DE-CFF4-032A-CF8F47E39FBD}"/>
                </a:ext>
              </a:extLst>
            </p:cNvPr>
            <p:cNvSpPr/>
            <p:nvPr/>
          </p:nvSpPr>
          <p:spPr>
            <a:xfrm>
              <a:off x="10124137" y="3617528"/>
              <a:ext cx="216000" cy="360000"/>
            </a:xfrm>
            <a:prstGeom prst="arc">
              <a:avLst>
                <a:gd name="adj1" fmla="val 10781683"/>
                <a:gd name="adj2" fmla="val 0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30" name="弧形 29">
              <a:extLst>
                <a:ext uri="{FF2B5EF4-FFF2-40B4-BE49-F238E27FC236}">
                  <a16:creationId xmlns:a16="http://schemas.microsoft.com/office/drawing/2014/main" id="{DB9FAC41-BBB7-F879-C8E6-952CC5E9F9A1}"/>
                </a:ext>
              </a:extLst>
            </p:cNvPr>
            <p:cNvSpPr/>
            <p:nvPr/>
          </p:nvSpPr>
          <p:spPr>
            <a:xfrm>
              <a:off x="10340137" y="3617528"/>
              <a:ext cx="216000" cy="360000"/>
            </a:xfrm>
            <a:prstGeom prst="arc">
              <a:avLst>
                <a:gd name="adj1" fmla="val 10781683"/>
                <a:gd name="adj2" fmla="val 0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31" name="弧形 30">
              <a:extLst>
                <a:ext uri="{FF2B5EF4-FFF2-40B4-BE49-F238E27FC236}">
                  <a16:creationId xmlns:a16="http://schemas.microsoft.com/office/drawing/2014/main" id="{F4A6912E-F53F-0690-03B2-7DF1740F94BD}"/>
                </a:ext>
              </a:extLst>
            </p:cNvPr>
            <p:cNvSpPr/>
            <p:nvPr/>
          </p:nvSpPr>
          <p:spPr>
            <a:xfrm>
              <a:off x="10556137" y="3617528"/>
              <a:ext cx="216000" cy="360000"/>
            </a:xfrm>
            <a:prstGeom prst="arc">
              <a:avLst>
                <a:gd name="adj1" fmla="val 10781683"/>
                <a:gd name="adj2" fmla="val 0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32" name="弧形 31">
              <a:extLst>
                <a:ext uri="{FF2B5EF4-FFF2-40B4-BE49-F238E27FC236}">
                  <a16:creationId xmlns:a16="http://schemas.microsoft.com/office/drawing/2014/main" id="{796E4621-34AF-C580-6E5B-66716DAF2C04}"/>
                </a:ext>
              </a:extLst>
            </p:cNvPr>
            <p:cNvSpPr/>
            <p:nvPr/>
          </p:nvSpPr>
          <p:spPr>
            <a:xfrm>
              <a:off x="10772137" y="3617528"/>
              <a:ext cx="216000" cy="360000"/>
            </a:xfrm>
            <a:prstGeom prst="arc">
              <a:avLst>
                <a:gd name="adj1" fmla="val 10781683"/>
                <a:gd name="adj2" fmla="val 0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3C89F5FC-8778-7E8C-8BF7-CFE6D80ADFFF}"/>
              </a:ext>
            </a:extLst>
          </p:cNvPr>
          <p:cNvGrpSpPr/>
          <p:nvPr/>
        </p:nvGrpSpPr>
        <p:grpSpPr>
          <a:xfrm>
            <a:off x="694800" y="5125740"/>
            <a:ext cx="2160000" cy="784920"/>
            <a:chOff x="694800" y="3128400"/>
            <a:chExt cx="2160000" cy="784920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6D72CB2F-E69F-1FA3-8EAF-819E5912D24D}"/>
                </a:ext>
              </a:extLst>
            </p:cNvPr>
            <p:cNvGrpSpPr/>
            <p:nvPr/>
          </p:nvGrpSpPr>
          <p:grpSpPr>
            <a:xfrm>
              <a:off x="694800" y="3643200"/>
              <a:ext cx="2160000" cy="270120"/>
              <a:chOff x="1546697" y="3566418"/>
              <a:chExt cx="2160000" cy="270120"/>
            </a:xfrm>
          </p:grpSpPr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82E5A28F-6F59-3C68-36AE-F6C37848A1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46697" y="3701478"/>
                <a:ext cx="21600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186B4A6F-AC0B-082B-0A5D-015E0EF15D81}"/>
                  </a:ext>
                </a:extLst>
              </p:cNvPr>
              <p:cNvSpPr/>
              <p:nvPr/>
            </p:nvSpPr>
            <p:spPr>
              <a:xfrm>
                <a:off x="2062922" y="3566418"/>
                <a:ext cx="1127550" cy="27012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</p:grp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10702AD9-4E59-E289-ECD8-586645C3F86B}"/>
                </a:ext>
              </a:extLst>
            </p:cNvPr>
            <p:cNvCxnSpPr>
              <a:cxnSpLocks/>
            </p:cNvCxnSpPr>
            <p:nvPr/>
          </p:nvCxnSpPr>
          <p:spPr>
            <a:xfrm>
              <a:off x="694800" y="3282210"/>
              <a:ext cx="216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3AE62A60-A15A-BA8E-8A5D-CDBD65879B4E}"/>
                </a:ext>
              </a:extLst>
            </p:cNvPr>
            <p:cNvSpPr/>
            <p:nvPr/>
          </p:nvSpPr>
          <p:spPr>
            <a:xfrm>
              <a:off x="1211025" y="3147150"/>
              <a:ext cx="1127550" cy="270120"/>
            </a:xfrm>
            <a:prstGeom prst="rect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3973799C-ED4A-9929-F29D-7469D7349BE9}"/>
                </a:ext>
              </a:extLst>
            </p:cNvPr>
            <p:cNvGrpSpPr/>
            <p:nvPr/>
          </p:nvGrpSpPr>
          <p:grpSpPr>
            <a:xfrm>
              <a:off x="1211025" y="3128400"/>
              <a:ext cx="1127550" cy="309600"/>
              <a:chOff x="1211032" y="3128400"/>
              <a:chExt cx="1210072" cy="309600"/>
            </a:xfrm>
          </p:grpSpPr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4858A4E0-1B5D-3AE7-3216-C269C07962FD}"/>
                  </a:ext>
                </a:extLst>
              </p:cNvPr>
              <p:cNvCxnSpPr>
                <a:cxnSpLocks/>
                <a:stCxn id="36" idx="1"/>
              </p:cNvCxnSpPr>
              <p:nvPr/>
            </p:nvCxnSpPr>
            <p:spPr>
              <a:xfrm flipV="1">
                <a:off x="1211032" y="3128400"/>
                <a:ext cx="75831" cy="15381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3C2B8E91-A883-7BFE-52C3-2EDFC325E51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286863" y="3128400"/>
                <a:ext cx="151200" cy="3096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81888660-3765-B548-28C5-A5C6F517C30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38063" y="3128400"/>
                <a:ext cx="151200" cy="3096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F89B243A-8FB9-8327-9EED-DE50C81B5B2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589262" y="3128400"/>
                <a:ext cx="151200" cy="3096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0222B50F-051D-5F3E-E566-2402F929E2E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40461" y="3128400"/>
                <a:ext cx="151200" cy="3096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90E0802A-1B21-AF3A-6830-E3EBC2E6DE1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891661" y="3128400"/>
                <a:ext cx="151200" cy="3096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C36A007B-F20F-2A0A-1B4E-67A156AF62C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42860" y="3128400"/>
                <a:ext cx="151200" cy="3096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FB5E7C27-651D-73C4-ED55-AFBFBE47448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194060" y="3128400"/>
                <a:ext cx="151200" cy="3096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0497770D-8349-F1F7-3A78-EAE19CB7EB75}"/>
                  </a:ext>
                </a:extLst>
              </p:cNvPr>
              <p:cNvCxnSpPr>
                <a:cxnSpLocks/>
                <a:endCxn id="36" idx="3"/>
              </p:cNvCxnSpPr>
              <p:nvPr/>
            </p:nvCxnSpPr>
            <p:spPr>
              <a:xfrm flipV="1">
                <a:off x="2345259" y="3282210"/>
                <a:ext cx="75845" cy="15473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8BF27AFC-48F7-D080-9901-6D802D0FC058}"/>
              </a:ext>
            </a:extLst>
          </p:cNvPr>
          <p:cNvGrpSpPr/>
          <p:nvPr/>
        </p:nvGrpSpPr>
        <p:grpSpPr>
          <a:xfrm>
            <a:off x="4197873" y="3528000"/>
            <a:ext cx="3793854" cy="874800"/>
            <a:chOff x="4197873" y="3600000"/>
            <a:chExt cx="3793854" cy="874800"/>
          </a:xfrm>
        </p:grpSpPr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0C11D888-1378-7E69-6BFE-ADD79CB710EB}"/>
                </a:ext>
              </a:extLst>
            </p:cNvPr>
            <p:cNvCxnSpPr>
              <a:cxnSpLocks/>
              <a:stCxn id="54" idx="6"/>
              <a:endCxn id="55" idx="2"/>
            </p:cNvCxnSpPr>
            <p:nvPr/>
          </p:nvCxnSpPr>
          <p:spPr>
            <a:xfrm>
              <a:off x="5014800" y="4113959"/>
              <a:ext cx="2160000" cy="84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26032DCD-AB2C-22C7-98CF-A26541B0DBCF}"/>
                    </a:ext>
                  </a:extLst>
                </p:cNvPr>
                <p:cNvSpPr txBox="1"/>
                <p:nvPr/>
              </p:nvSpPr>
              <p:spPr>
                <a:xfrm>
                  <a:off x="5194800" y="3600000"/>
                  <a:ext cx="72000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26032DCD-AB2C-22C7-98CF-A26541B0DB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94800" y="3600000"/>
                  <a:ext cx="720000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19ABA98E-BF12-19E7-55CA-2538BAE7F5A9}"/>
                    </a:ext>
                  </a:extLst>
                </p:cNvPr>
                <p:cNvSpPr txBox="1"/>
                <p:nvPr/>
              </p:nvSpPr>
              <p:spPr>
                <a:xfrm>
                  <a:off x="6274800" y="3600000"/>
                  <a:ext cx="72000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19ABA98E-BF12-19E7-55CA-2538BAE7F5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74800" y="3600000"/>
                  <a:ext cx="720000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BD567FF4-9380-C6BA-6FCB-D081F432FE62}"/>
                </a:ext>
              </a:extLst>
            </p:cNvPr>
            <p:cNvSpPr/>
            <p:nvPr/>
          </p:nvSpPr>
          <p:spPr>
            <a:xfrm>
              <a:off x="5734800" y="3754800"/>
              <a:ext cx="720000" cy="720000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DCAB2428-1B82-8A6D-A506-55637994B9B4}"/>
                </a:ext>
              </a:extLst>
            </p:cNvPr>
            <p:cNvSpPr/>
            <p:nvPr/>
          </p:nvSpPr>
          <p:spPr>
            <a:xfrm>
              <a:off x="4834800" y="4023959"/>
              <a:ext cx="180000" cy="180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732B2A8E-55AE-0EDB-DC07-F299D066F41B}"/>
                </a:ext>
              </a:extLst>
            </p:cNvPr>
            <p:cNvSpPr/>
            <p:nvPr/>
          </p:nvSpPr>
          <p:spPr>
            <a:xfrm>
              <a:off x="7174800" y="4024800"/>
              <a:ext cx="180000" cy="180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C73F46DF-CC3C-88E8-7C30-FA44911BAE70}"/>
                </a:ext>
              </a:extLst>
            </p:cNvPr>
            <p:cNvSpPr txBox="1"/>
            <p:nvPr/>
          </p:nvSpPr>
          <p:spPr>
            <a:xfrm>
              <a:off x="4197873" y="3843959"/>
              <a:ext cx="720000" cy="54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zh-CN" altLang="en-US" sz="2800" dirty="0">
                <a:solidFill>
                  <a:srgbClr val="002060"/>
                </a:solidFill>
              </a:endParaRP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D1E977F3-CF45-16D0-958A-A58D782408E2}"/>
                </a:ext>
              </a:extLst>
            </p:cNvPr>
            <p:cNvSpPr txBox="1"/>
            <p:nvPr/>
          </p:nvSpPr>
          <p:spPr>
            <a:xfrm>
              <a:off x="7271727" y="3843959"/>
              <a:ext cx="720000" cy="54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lang="zh-CN" altLang="en-US" sz="2800" dirty="0">
                <a:solidFill>
                  <a:srgbClr val="00206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2497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2ECE6-0DE1-82A6-070B-23EF0FF7F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A2FE92-08FF-A491-A1FA-284318F38ED4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集总电路的基本变量</a:t>
            </a:r>
            <a:endParaRPr lang="en-US" altLang="zh-CN" sz="3000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C6AA6E89-28F3-5B8A-221E-4DB996900F2A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84323D31-636F-5213-35DC-2E6FD1A4984D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" name="箭头: 五边形 5">
                <a:extLst>
                  <a:ext uri="{FF2B5EF4-FFF2-40B4-BE49-F238E27FC236}">
                    <a16:creationId xmlns:a16="http://schemas.microsoft.com/office/drawing/2014/main" id="{992A1C10-FFAD-D22B-E765-229EC41FBFC3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箭头: V 形 6">
                <a:extLst>
                  <a:ext uri="{FF2B5EF4-FFF2-40B4-BE49-F238E27FC236}">
                    <a16:creationId xmlns:a16="http://schemas.microsoft.com/office/drawing/2014/main" id="{D6FE53D1-6E0B-08F2-0394-1E1E3D4D98B6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灯片编号占位符 3">
              <a:extLst>
                <a:ext uri="{FF2B5EF4-FFF2-40B4-BE49-F238E27FC236}">
                  <a16:creationId xmlns:a16="http://schemas.microsoft.com/office/drawing/2014/main" id="{A750F155-7D3B-61DF-4624-85428EC57016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9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FDAED33-FD2D-3498-F9CA-8DE3ECF835FB}"/>
                  </a:ext>
                </a:extLst>
              </p:cNvPr>
              <p:cNvSpPr txBox="1"/>
              <p:nvPr/>
            </p:nvSpPr>
            <p:spPr>
              <a:xfrm>
                <a:off x="359999" y="828000"/>
                <a:ext cx="11159600" cy="56193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电压</a:t>
                </a:r>
                <a:endParaRPr lang="en-US" altLang="zh-CN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如果正电荷从 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点移动到 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点后，电势能升高，则 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为低电位（负极），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为高电位（正极）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如果正电荷从 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点移动到 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点后，电势能降低，则 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为高电位（正极），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为低电位（负极）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在元件或电路两端用“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”和“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”来表示电压的</a:t>
                </a:r>
                <a:r>
                  <a:rPr lang="zh-CN" altLang="en-US" sz="24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参考极性</a:t>
                </a:r>
                <a:endParaRPr lang="en-US" altLang="zh-CN" sz="2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如果电压的真实极性与参考极性一致，电压为正值；极性相反，电压为负值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𝑈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或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𝑢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ab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表示 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 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之间的电压（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为参考正极，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为参考负极）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FDAED33-FD2D-3498-F9CA-8DE3ECF835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99" y="828000"/>
                <a:ext cx="11159600" cy="5619359"/>
              </a:xfrm>
              <a:prstGeom prst="rect">
                <a:avLst/>
              </a:prstGeom>
              <a:blipFill>
                <a:blip r:embed="rId3"/>
                <a:stretch>
                  <a:fillRect l="-983" t="-434" r="-819" b="-15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3" name="组合 52">
            <a:extLst>
              <a:ext uri="{FF2B5EF4-FFF2-40B4-BE49-F238E27FC236}">
                <a16:creationId xmlns:a16="http://schemas.microsoft.com/office/drawing/2014/main" id="{40E629D2-4283-A9D9-3926-5C334336D084}"/>
              </a:ext>
            </a:extLst>
          </p:cNvPr>
          <p:cNvGrpSpPr/>
          <p:nvPr/>
        </p:nvGrpSpPr>
        <p:grpSpPr>
          <a:xfrm>
            <a:off x="4197873" y="3528000"/>
            <a:ext cx="3793854" cy="874800"/>
            <a:chOff x="4197873" y="3600000"/>
            <a:chExt cx="3793854" cy="87480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CAE6486C-CC08-EFBD-155C-115130959720}"/>
                </a:ext>
              </a:extLst>
            </p:cNvPr>
            <p:cNvCxnSpPr>
              <a:cxnSpLocks/>
              <a:stCxn id="18" idx="6"/>
              <a:endCxn id="21" idx="2"/>
            </p:cNvCxnSpPr>
            <p:nvPr/>
          </p:nvCxnSpPr>
          <p:spPr>
            <a:xfrm>
              <a:off x="5014800" y="4113959"/>
              <a:ext cx="2160000" cy="84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A339770C-A970-2C6F-9C33-6EE7027F2E61}"/>
                    </a:ext>
                  </a:extLst>
                </p:cNvPr>
                <p:cNvSpPr txBox="1"/>
                <p:nvPr/>
              </p:nvSpPr>
              <p:spPr>
                <a:xfrm>
                  <a:off x="5194800" y="3600000"/>
                  <a:ext cx="72000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A339770C-A970-2C6F-9C33-6EE7027F2E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94800" y="3600000"/>
                  <a:ext cx="720000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0DA3982E-AF94-B243-D89B-E7CE9483CD33}"/>
                    </a:ext>
                  </a:extLst>
                </p:cNvPr>
                <p:cNvSpPr txBox="1"/>
                <p:nvPr/>
              </p:nvSpPr>
              <p:spPr>
                <a:xfrm>
                  <a:off x="6274800" y="3600000"/>
                  <a:ext cx="72000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0DA3982E-AF94-B243-D89B-E7CE9483CD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74800" y="3600000"/>
                  <a:ext cx="720000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8BAB7821-1CAF-63CB-4F78-5BE8AFFF8028}"/>
                </a:ext>
              </a:extLst>
            </p:cNvPr>
            <p:cNvSpPr/>
            <p:nvPr/>
          </p:nvSpPr>
          <p:spPr>
            <a:xfrm>
              <a:off x="5734800" y="3754800"/>
              <a:ext cx="720000" cy="720000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7188C68E-C905-BE87-2DD9-278EEAC1718B}"/>
                </a:ext>
              </a:extLst>
            </p:cNvPr>
            <p:cNvSpPr/>
            <p:nvPr/>
          </p:nvSpPr>
          <p:spPr>
            <a:xfrm>
              <a:off x="4834800" y="4023959"/>
              <a:ext cx="180000" cy="180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238E8FD4-871F-B62B-ADA6-48266A74B2DC}"/>
                </a:ext>
              </a:extLst>
            </p:cNvPr>
            <p:cNvSpPr/>
            <p:nvPr/>
          </p:nvSpPr>
          <p:spPr>
            <a:xfrm>
              <a:off x="7174800" y="4024800"/>
              <a:ext cx="180000" cy="180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325550C9-57E3-2BC0-D184-335CAFD2F581}"/>
                </a:ext>
              </a:extLst>
            </p:cNvPr>
            <p:cNvSpPr txBox="1"/>
            <p:nvPr/>
          </p:nvSpPr>
          <p:spPr>
            <a:xfrm>
              <a:off x="4197873" y="3843959"/>
              <a:ext cx="720000" cy="54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zh-CN" altLang="en-US" sz="2800" dirty="0">
                <a:solidFill>
                  <a:srgbClr val="002060"/>
                </a:solidFill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D07C80BA-AA6F-8E20-FBB4-AF65674F150E}"/>
                </a:ext>
              </a:extLst>
            </p:cNvPr>
            <p:cNvSpPr txBox="1"/>
            <p:nvPr/>
          </p:nvSpPr>
          <p:spPr>
            <a:xfrm>
              <a:off x="7271727" y="3843959"/>
              <a:ext cx="720000" cy="54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lang="zh-CN" altLang="en-US" sz="2800" dirty="0">
                <a:solidFill>
                  <a:srgbClr val="00206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65830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60890-6AE4-0649-6F6F-C5D2F5B7E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C55CB3-BD2E-2671-E29D-F13B63A9616F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集总电路的基本变量</a:t>
            </a:r>
            <a:endParaRPr lang="en-US" altLang="zh-CN" sz="3000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39497C46-958F-6121-495F-526F778CAAF7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FE55798A-DF1B-1418-A73F-BF8F0393AA8B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" name="箭头: 五边形 5">
                <a:extLst>
                  <a:ext uri="{FF2B5EF4-FFF2-40B4-BE49-F238E27FC236}">
                    <a16:creationId xmlns:a16="http://schemas.microsoft.com/office/drawing/2014/main" id="{04BF0B32-36F1-3451-8199-410D6F722050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箭头: V 形 6">
                <a:extLst>
                  <a:ext uri="{FF2B5EF4-FFF2-40B4-BE49-F238E27FC236}">
                    <a16:creationId xmlns:a16="http://schemas.microsoft.com/office/drawing/2014/main" id="{210B2CA8-528E-F4F2-7C8F-D87DCE8C5B8F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灯片编号占位符 3">
              <a:extLst>
                <a:ext uri="{FF2B5EF4-FFF2-40B4-BE49-F238E27FC236}">
                  <a16:creationId xmlns:a16="http://schemas.microsoft.com/office/drawing/2014/main" id="{759E0DCA-BFD3-7EFD-56B1-45698425B3A1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10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FD99540-F139-9FAA-1979-2879E2043E04}"/>
                  </a:ext>
                </a:extLst>
              </p:cNvPr>
              <p:cNvSpPr txBox="1"/>
              <p:nvPr/>
            </p:nvSpPr>
            <p:spPr>
              <a:xfrm>
                <a:off x="359999" y="828000"/>
                <a:ext cx="10303882" cy="20553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电压和电流的方向关联：</a:t>
                </a:r>
                <a:endParaRPr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电流参考方向与电压参考正极“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”到参考负极“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”的方向一致，则称电压降和电流的参考方向一致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尽量让电流的参考方向为高电位流到低电位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FD99540-F139-9FAA-1979-2879E2043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99" y="828000"/>
                <a:ext cx="10303882" cy="2055306"/>
              </a:xfrm>
              <a:prstGeom prst="rect">
                <a:avLst/>
              </a:prstGeom>
              <a:blipFill>
                <a:blip r:embed="rId3"/>
                <a:stretch>
                  <a:fillRect l="-1065" t="-1187" b="-59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6" name="组合 65">
            <a:extLst>
              <a:ext uri="{FF2B5EF4-FFF2-40B4-BE49-F238E27FC236}">
                <a16:creationId xmlns:a16="http://schemas.microsoft.com/office/drawing/2014/main" id="{D8ECB110-FC81-FB01-F968-ED711E44CD22}"/>
              </a:ext>
            </a:extLst>
          </p:cNvPr>
          <p:cNvGrpSpPr/>
          <p:nvPr/>
        </p:nvGrpSpPr>
        <p:grpSpPr>
          <a:xfrm>
            <a:off x="9000000" y="2160000"/>
            <a:ext cx="2706624" cy="1392865"/>
            <a:chOff x="4268338" y="4320000"/>
            <a:chExt cx="2706624" cy="1392865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F60DFD24-A830-9413-AEB4-1A25836D65DD}"/>
                </a:ext>
              </a:extLst>
            </p:cNvPr>
            <p:cNvSpPr/>
            <p:nvPr/>
          </p:nvSpPr>
          <p:spPr>
            <a:xfrm>
              <a:off x="4518917" y="4320000"/>
              <a:ext cx="1935125" cy="1392865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8C19811A-4564-64B6-C6F2-72EB9B94E9CC}"/>
                </a:ext>
              </a:extLst>
            </p:cNvPr>
            <p:cNvSpPr/>
            <p:nvPr/>
          </p:nvSpPr>
          <p:spPr>
            <a:xfrm>
              <a:off x="4268338" y="4765853"/>
              <a:ext cx="501157" cy="50115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AFC599A0-323D-0B6D-B051-A0D94E21E070}"/>
                </a:ext>
              </a:extLst>
            </p:cNvPr>
            <p:cNvCxnSpPr>
              <a:cxnSpLocks/>
              <a:stCxn id="44" idx="0"/>
            </p:cNvCxnSpPr>
            <p:nvPr/>
          </p:nvCxnSpPr>
          <p:spPr>
            <a:xfrm>
              <a:off x="4518917" y="4765853"/>
              <a:ext cx="0" cy="51800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5A05C5D3-1944-D61B-AAE5-B59E77897C12}"/>
                </a:ext>
              </a:extLst>
            </p:cNvPr>
            <p:cNvSpPr/>
            <p:nvPr/>
          </p:nvSpPr>
          <p:spPr>
            <a:xfrm>
              <a:off x="6382043" y="4728431"/>
              <a:ext cx="144000" cy="576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E8E79A98-3EE4-7E73-9E65-B4104376BCCD}"/>
                    </a:ext>
                  </a:extLst>
                </p:cNvPr>
                <p:cNvSpPr txBox="1"/>
                <p:nvPr/>
              </p:nvSpPr>
              <p:spPr>
                <a:xfrm>
                  <a:off x="4742962" y="4416266"/>
                  <a:ext cx="468000" cy="120032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lang="en-US" altLang="zh-CN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𝑈</m:t>
                        </m:r>
                      </m:oMath>
                    </m:oMathPara>
                  </a14:m>
                  <a:endParaRPr lang="en-US" altLang="zh-CN" sz="2400" b="0" i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E8E79A98-3EE4-7E73-9E65-B4104376BC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2962" y="4416266"/>
                  <a:ext cx="468000" cy="120032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D09073F9-FE02-F9DA-F70A-FA58562ADBFC}"/>
                    </a:ext>
                  </a:extLst>
                </p:cNvPr>
                <p:cNvSpPr txBox="1"/>
                <p:nvPr/>
              </p:nvSpPr>
              <p:spPr>
                <a:xfrm>
                  <a:off x="6506962" y="4416265"/>
                  <a:ext cx="468000" cy="120032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lang="en-US" altLang="zh-CN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</m:oMath>
                    </m:oMathPara>
                  </a14:m>
                  <a:endParaRPr lang="en-US" altLang="zh-CN" sz="2400" i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D09073F9-FE02-F9DA-F70A-FA58562ADB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06962" y="4416265"/>
                  <a:ext cx="468000" cy="120032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4" name="直接箭头连接符 63">
              <a:extLst>
                <a:ext uri="{FF2B5EF4-FFF2-40B4-BE49-F238E27FC236}">
                  <a16:creationId xmlns:a16="http://schemas.microsoft.com/office/drawing/2014/main" id="{6E6BD5A4-7206-56D1-A137-4FA2DB8CF859}"/>
                </a:ext>
              </a:extLst>
            </p:cNvPr>
            <p:cNvCxnSpPr/>
            <p:nvPr/>
          </p:nvCxnSpPr>
          <p:spPr>
            <a:xfrm>
              <a:off x="6167598" y="4728431"/>
              <a:ext cx="0" cy="576000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50274E70-24FA-4B9C-7ECD-66FF20EBF037}"/>
                    </a:ext>
                  </a:extLst>
                </p:cNvPr>
                <p:cNvSpPr txBox="1"/>
                <p:nvPr/>
              </p:nvSpPr>
              <p:spPr>
                <a:xfrm>
                  <a:off x="5883672" y="4782430"/>
                  <a:ext cx="358505" cy="468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𝐼</m:t>
                        </m:r>
                      </m:oMath>
                    </m:oMathPara>
                  </a14:m>
                  <a:endParaRPr lang="en-US" altLang="zh-CN" sz="2400" i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50274E70-24FA-4B9C-7ECD-66FF20EBF0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83672" y="4782430"/>
                  <a:ext cx="358505" cy="468000"/>
                </a:xfrm>
                <a:prstGeom prst="rect">
                  <a:avLst/>
                </a:prstGeom>
                <a:blipFill>
                  <a:blip r:embed="rId6"/>
                  <a:stretch>
                    <a:fillRect l="-847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7" name="文本框 66">
            <a:extLst>
              <a:ext uri="{FF2B5EF4-FFF2-40B4-BE49-F238E27FC236}">
                <a16:creationId xmlns:a16="http://schemas.microsoft.com/office/drawing/2014/main" id="{C867536A-F900-E0AB-114D-3D7B06AFCB7A}"/>
              </a:ext>
            </a:extLst>
          </p:cNvPr>
          <p:cNvSpPr txBox="1"/>
          <p:nvPr/>
        </p:nvSpPr>
        <p:spPr>
          <a:xfrm>
            <a:off x="360000" y="3168000"/>
            <a:ext cx="9287508" cy="2575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电路变量分析前的注意事项：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电路中标出的电流方向和电压极性均为参考方向和参考极性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电路中给出了参考方向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极性，按照所给的方向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极性来分析；如果没有给，则需自行选定参考方向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极性，并在图上标出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没有参考方向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极性的电流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电压没有分析的意义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39991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51FE8-62AA-3819-C7F5-282E1684D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2F369C19-B947-8C7D-BD70-E38F51FB9B0D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2D04D7C1-E8E5-0E8D-1695-0BDAB1222762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" name="箭头: 五边形 5">
                <a:extLst>
                  <a:ext uri="{FF2B5EF4-FFF2-40B4-BE49-F238E27FC236}">
                    <a16:creationId xmlns:a16="http://schemas.microsoft.com/office/drawing/2014/main" id="{C3338873-F960-DE4E-29F7-31808AF79BC2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箭头: V 形 6">
                <a:extLst>
                  <a:ext uri="{FF2B5EF4-FFF2-40B4-BE49-F238E27FC236}">
                    <a16:creationId xmlns:a16="http://schemas.microsoft.com/office/drawing/2014/main" id="{7BBCBA65-D1DB-5018-58AA-168F182E0155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灯片编号占位符 3">
              <a:extLst>
                <a:ext uri="{FF2B5EF4-FFF2-40B4-BE49-F238E27FC236}">
                  <a16:creationId xmlns:a16="http://schemas.microsoft.com/office/drawing/2014/main" id="{49D0A6D2-8F7E-8C3F-60BF-279958179E19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11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8" name="标题 1">
            <a:extLst>
              <a:ext uri="{FF2B5EF4-FFF2-40B4-BE49-F238E27FC236}">
                <a16:creationId xmlns:a16="http://schemas.microsoft.com/office/drawing/2014/main" id="{F79AB31A-3F3E-AA87-E2CD-7D34D2F896E8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集总电路的基本变量</a:t>
            </a:r>
            <a:endParaRPr lang="en-US" altLang="zh-CN" sz="3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11EC059-5303-20DE-9A56-AF664FA03C56}"/>
                  </a:ext>
                </a:extLst>
              </p:cNvPr>
              <p:cNvSpPr txBox="1"/>
              <p:nvPr/>
            </p:nvSpPr>
            <p:spPr>
              <a:xfrm>
                <a:off x="359999" y="828000"/>
                <a:ext cx="8064001" cy="10937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电阻：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𝑅</m:t>
                    </m:r>
                    <m:r>
                      <a:rPr lang="en-US" altLang="zh-CN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altLang="zh-CN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𝑈</m:t>
                        </m:r>
                      </m:num>
                      <m:den>
                        <m:r>
                          <a:rPr lang="en-US" altLang="zh-CN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𝐼</m:t>
                        </m:r>
                      </m:den>
                    </m:f>
                    <m:r>
                      <a:rPr lang="en-US" altLang="zh-CN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altLang="zh-CN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𝑢</m:t>
                        </m:r>
                        <m:r>
                          <a:rPr lang="en-US" altLang="zh-CN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r>
                          <a:rPr lang="en-US" altLang="zh-CN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𝑡</m:t>
                        </m:r>
                        <m:r>
                          <a:rPr lang="en-US" altLang="zh-CN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</m:num>
                      <m:den>
                        <m:r>
                          <a:rPr lang="en-US" altLang="zh-CN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  <m:r>
                          <a:rPr lang="en-US" altLang="zh-CN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r>
                          <a:rPr lang="en-US" altLang="zh-CN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𝑡</m:t>
                        </m:r>
                        <m:r>
                          <a:rPr lang="en-US" altLang="zh-CN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</m:den>
                    </m:f>
                  </m:oMath>
                </a14:m>
                <a:endParaRPr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71550" lvl="1" indent="-51435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串联：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𝑅</m:t>
                    </m:r>
                    <m:r>
                      <a:rPr lang="en-US" altLang="zh-CN" sz="2400" i="1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zh-CN" sz="2400" i="1" dirty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sz="2400" b="0" i="1" dirty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  <m:r>
                          <a:rPr lang="en-US" altLang="zh-CN" sz="2400" b="0" i="1" dirty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=1</m:t>
                        </m:r>
                      </m:sub>
                      <m:sup>
                        <m:r>
                          <a:rPr lang="en-US" altLang="zh-CN" sz="2400" b="0" i="1" dirty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CN" sz="2400" i="1" dirty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dirty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 b="0" i="1" dirty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，总电阻值大于任何一个电阻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11EC059-5303-20DE-9A56-AF664FA03C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99" y="828000"/>
                <a:ext cx="8064001" cy="1093761"/>
              </a:xfrm>
              <a:prstGeom prst="rect">
                <a:avLst/>
              </a:prstGeom>
              <a:blipFill>
                <a:blip r:embed="rId2"/>
                <a:stretch>
                  <a:fillRect l="-1361" t="-2235" b="-832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组合 35">
            <a:extLst>
              <a:ext uri="{FF2B5EF4-FFF2-40B4-BE49-F238E27FC236}">
                <a16:creationId xmlns:a16="http://schemas.microsoft.com/office/drawing/2014/main" id="{8F47CE91-0260-EBA7-9238-8BBDC7018DBC}"/>
              </a:ext>
            </a:extLst>
          </p:cNvPr>
          <p:cNvGrpSpPr/>
          <p:nvPr/>
        </p:nvGrpSpPr>
        <p:grpSpPr>
          <a:xfrm>
            <a:off x="1080000" y="1908000"/>
            <a:ext cx="3600000" cy="612000"/>
            <a:chOff x="1800000" y="2124000"/>
            <a:chExt cx="3600000" cy="612000"/>
          </a:xfrm>
        </p:grpSpPr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C8BE45DA-FB98-64E4-348B-4D255D4C691A}"/>
                </a:ext>
              </a:extLst>
            </p:cNvPr>
            <p:cNvCxnSpPr>
              <a:cxnSpLocks/>
            </p:cNvCxnSpPr>
            <p:nvPr/>
          </p:nvCxnSpPr>
          <p:spPr>
            <a:xfrm>
              <a:off x="1800000" y="2628000"/>
              <a:ext cx="360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5B7C3ADD-18DF-34E0-61AF-478852C535D6}"/>
                </a:ext>
              </a:extLst>
            </p:cNvPr>
            <p:cNvSpPr/>
            <p:nvPr/>
          </p:nvSpPr>
          <p:spPr>
            <a:xfrm>
              <a:off x="2124000" y="2520000"/>
              <a:ext cx="576000" cy="216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F37D689E-7CCA-0687-9B43-06FD30530723}"/>
                </a:ext>
              </a:extLst>
            </p:cNvPr>
            <p:cNvSpPr/>
            <p:nvPr/>
          </p:nvSpPr>
          <p:spPr>
            <a:xfrm>
              <a:off x="2916000" y="2520000"/>
              <a:ext cx="576000" cy="216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6B84EDD9-EDC6-4775-3B5D-6C0474EBC7B7}"/>
                </a:ext>
              </a:extLst>
            </p:cNvPr>
            <p:cNvSpPr/>
            <p:nvPr/>
          </p:nvSpPr>
          <p:spPr>
            <a:xfrm>
              <a:off x="3708000" y="2520000"/>
              <a:ext cx="576000" cy="216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228BE1E8-85F8-91CA-3B10-57CF0435C7F7}"/>
                </a:ext>
              </a:extLst>
            </p:cNvPr>
            <p:cNvSpPr/>
            <p:nvPr/>
          </p:nvSpPr>
          <p:spPr>
            <a:xfrm>
              <a:off x="4500000" y="2520000"/>
              <a:ext cx="576000" cy="216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878EB22E-2FF6-6E07-D9EF-D0748FB76B28}"/>
                    </a:ext>
                  </a:extLst>
                </p:cNvPr>
                <p:cNvSpPr txBox="1"/>
                <p:nvPr/>
              </p:nvSpPr>
              <p:spPr>
                <a:xfrm>
                  <a:off x="2196000" y="2124000"/>
                  <a:ext cx="4320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878EB22E-2FF6-6E07-D9EF-D0748FB76B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6000" y="2124000"/>
                  <a:ext cx="432000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ACF4AA18-B26B-AED4-3D5B-9C4F03B6EF88}"/>
                    </a:ext>
                  </a:extLst>
                </p:cNvPr>
                <p:cNvSpPr txBox="1"/>
                <p:nvPr/>
              </p:nvSpPr>
              <p:spPr>
                <a:xfrm>
                  <a:off x="2988000" y="2124000"/>
                  <a:ext cx="4320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ACF4AA18-B26B-AED4-3D5B-9C4F03B6EF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8000" y="2124000"/>
                  <a:ext cx="432000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468D9FF7-F333-4FAB-2942-1EECAC5B13C0}"/>
                    </a:ext>
                  </a:extLst>
                </p:cNvPr>
                <p:cNvSpPr txBox="1"/>
                <p:nvPr/>
              </p:nvSpPr>
              <p:spPr>
                <a:xfrm>
                  <a:off x="3780000" y="2124000"/>
                  <a:ext cx="4320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468D9FF7-F333-4FAB-2942-1EECAC5B13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80000" y="2124000"/>
                  <a:ext cx="432000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95D61805-A465-AF46-513E-68615814B654}"/>
                    </a:ext>
                  </a:extLst>
                </p:cNvPr>
                <p:cNvSpPr txBox="1"/>
                <p:nvPr/>
              </p:nvSpPr>
              <p:spPr>
                <a:xfrm>
                  <a:off x="4572000" y="2124000"/>
                  <a:ext cx="4320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95D61805-A465-AF46-513E-68615814B6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2000" y="2124000"/>
                  <a:ext cx="432000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CB1C7AD3-5133-FC0C-AA93-E5F2EBBCBC43}"/>
              </a:ext>
            </a:extLst>
          </p:cNvPr>
          <p:cNvGrpSpPr/>
          <p:nvPr/>
        </p:nvGrpSpPr>
        <p:grpSpPr>
          <a:xfrm>
            <a:off x="1080000" y="3420000"/>
            <a:ext cx="3600000" cy="1202401"/>
            <a:chOff x="6120000" y="2854799"/>
            <a:chExt cx="3600000" cy="1202401"/>
          </a:xfrm>
        </p:grpSpPr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0302D2D6-CCB2-4867-538F-09A3CD2A9695}"/>
                </a:ext>
              </a:extLst>
            </p:cNvPr>
            <p:cNvCxnSpPr>
              <a:cxnSpLocks/>
            </p:cNvCxnSpPr>
            <p:nvPr/>
          </p:nvCxnSpPr>
          <p:spPr>
            <a:xfrm>
              <a:off x="8316000" y="2916000"/>
              <a:ext cx="0" cy="10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9F73D5E8-3A36-819F-D83C-09F80C81B7D7}"/>
                </a:ext>
              </a:extLst>
            </p:cNvPr>
            <p:cNvCxnSpPr>
              <a:cxnSpLocks/>
            </p:cNvCxnSpPr>
            <p:nvPr/>
          </p:nvCxnSpPr>
          <p:spPr>
            <a:xfrm>
              <a:off x="7524000" y="2916000"/>
              <a:ext cx="0" cy="10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61CD90F9-F0C4-950F-A7B4-BA79E9C0AE4A}"/>
                </a:ext>
              </a:extLst>
            </p:cNvPr>
            <p:cNvCxnSpPr>
              <a:cxnSpLocks/>
            </p:cNvCxnSpPr>
            <p:nvPr/>
          </p:nvCxnSpPr>
          <p:spPr>
            <a:xfrm>
              <a:off x="6732000" y="2916000"/>
              <a:ext cx="0" cy="10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F2627E95-39B8-EB91-D545-F079089399BB}"/>
                </a:ext>
              </a:extLst>
            </p:cNvPr>
            <p:cNvCxnSpPr>
              <a:cxnSpLocks/>
            </p:cNvCxnSpPr>
            <p:nvPr/>
          </p:nvCxnSpPr>
          <p:spPr>
            <a:xfrm>
              <a:off x="9108000" y="2916000"/>
              <a:ext cx="0" cy="10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701D2B6E-B57F-66A0-B487-922018E4C6ED}"/>
                </a:ext>
              </a:extLst>
            </p:cNvPr>
            <p:cNvCxnSpPr>
              <a:cxnSpLocks/>
            </p:cNvCxnSpPr>
            <p:nvPr/>
          </p:nvCxnSpPr>
          <p:spPr>
            <a:xfrm>
              <a:off x="6120000" y="2916000"/>
              <a:ext cx="360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0FFDD47D-CD41-A7F5-AFB4-E53489C46C5C}"/>
                </a:ext>
              </a:extLst>
            </p:cNvPr>
            <p:cNvSpPr/>
            <p:nvPr/>
          </p:nvSpPr>
          <p:spPr>
            <a:xfrm>
              <a:off x="6624000" y="3168000"/>
              <a:ext cx="216000" cy="576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3C5979BE-BCED-AF87-48DE-D9CFCFE351CD}"/>
                    </a:ext>
                  </a:extLst>
                </p:cNvPr>
                <p:cNvSpPr txBox="1"/>
                <p:nvPr/>
              </p:nvSpPr>
              <p:spPr>
                <a:xfrm>
                  <a:off x="6804000" y="3272400"/>
                  <a:ext cx="4320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3C5979BE-BCED-AF87-48DE-D9CFCFE351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4000" y="3272400"/>
                  <a:ext cx="432000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119A263E-4136-4E30-853B-DB70E53FC1E7}"/>
                    </a:ext>
                  </a:extLst>
                </p:cNvPr>
                <p:cNvSpPr txBox="1"/>
                <p:nvPr/>
              </p:nvSpPr>
              <p:spPr>
                <a:xfrm>
                  <a:off x="7596000" y="3272400"/>
                  <a:ext cx="4320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119A263E-4136-4E30-853B-DB70E53FC1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96000" y="3272400"/>
                  <a:ext cx="432000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276CE997-4315-444D-8BA9-8059FDB83478}"/>
                    </a:ext>
                  </a:extLst>
                </p:cNvPr>
                <p:cNvSpPr txBox="1"/>
                <p:nvPr/>
              </p:nvSpPr>
              <p:spPr>
                <a:xfrm>
                  <a:off x="8388000" y="3272400"/>
                  <a:ext cx="4320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276CE997-4315-444D-8BA9-8059FDB834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8000" y="3272400"/>
                  <a:ext cx="432000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511B28E7-760A-D8B3-9161-AA2FA57712DD}"/>
                    </a:ext>
                  </a:extLst>
                </p:cNvPr>
                <p:cNvSpPr txBox="1"/>
                <p:nvPr/>
              </p:nvSpPr>
              <p:spPr>
                <a:xfrm>
                  <a:off x="9180000" y="3272400"/>
                  <a:ext cx="4320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511B28E7-760A-D8B3-9161-AA2FA57712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80000" y="3272400"/>
                  <a:ext cx="432000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53DD172A-4FE0-48E2-D4A5-F5DD6667877F}"/>
                </a:ext>
              </a:extLst>
            </p:cNvPr>
            <p:cNvSpPr/>
            <p:nvPr/>
          </p:nvSpPr>
          <p:spPr>
            <a:xfrm>
              <a:off x="7416000" y="3168000"/>
              <a:ext cx="216000" cy="576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2479DA1F-F8CB-E4B9-A559-A20253B874B7}"/>
                </a:ext>
              </a:extLst>
            </p:cNvPr>
            <p:cNvSpPr/>
            <p:nvPr/>
          </p:nvSpPr>
          <p:spPr>
            <a:xfrm>
              <a:off x="8208000" y="3168000"/>
              <a:ext cx="216000" cy="576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EAEDA2DB-4B3C-E4EF-3530-387B2E9DA632}"/>
                </a:ext>
              </a:extLst>
            </p:cNvPr>
            <p:cNvSpPr/>
            <p:nvPr/>
          </p:nvSpPr>
          <p:spPr>
            <a:xfrm>
              <a:off x="9000000" y="3168000"/>
              <a:ext cx="216000" cy="576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3C96171A-FBE8-E527-5CA0-9375C525D27C}"/>
                </a:ext>
              </a:extLst>
            </p:cNvPr>
            <p:cNvCxnSpPr>
              <a:cxnSpLocks/>
            </p:cNvCxnSpPr>
            <p:nvPr/>
          </p:nvCxnSpPr>
          <p:spPr>
            <a:xfrm>
              <a:off x="6120000" y="3996000"/>
              <a:ext cx="360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E457A4AE-826E-4179-E6FE-49AABBFECC14}"/>
                </a:ext>
              </a:extLst>
            </p:cNvPr>
            <p:cNvSpPr/>
            <p:nvPr/>
          </p:nvSpPr>
          <p:spPr>
            <a:xfrm>
              <a:off x="6670800" y="2854799"/>
              <a:ext cx="122400" cy="12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3B7CACF0-84B7-E495-9C95-A805168DD666}"/>
                </a:ext>
              </a:extLst>
            </p:cNvPr>
            <p:cNvSpPr/>
            <p:nvPr/>
          </p:nvSpPr>
          <p:spPr>
            <a:xfrm>
              <a:off x="7462800" y="2854799"/>
              <a:ext cx="122400" cy="12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9396E072-A11B-2043-22A5-FCAFE84C3546}"/>
                </a:ext>
              </a:extLst>
            </p:cNvPr>
            <p:cNvSpPr/>
            <p:nvPr/>
          </p:nvSpPr>
          <p:spPr>
            <a:xfrm>
              <a:off x="8254800" y="2854800"/>
              <a:ext cx="122400" cy="12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>
              <a:extLst>
                <a:ext uri="{FF2B5EF4-FFF2-40B4-BE49-F238E27FC236}">
                  <a16:creationId xmlns:a16="http://schemas.microsoft.com/office/drawing/2014/main" id="{2290B624-1AC5-B640-1ACE-39B0544A8A57}"/>
                </a:ext>
              </a:extLst>
            </p:cNvPr>
            <p:cNvSpPr/>
            <p:nvPr/>
          </p:nvSpPr>
          <p:spPr>
            <a:xfrm>
              <a:off x="9046800" y="2854800"/>
              <a:ext cx="122400" cy="12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>
              <a:extLst>
                <a:ext uri="{FF2B5EF4-FFF2-40B4-BE49-F238E27FC236}">
                  <a16:creationId xmlns:a16="http://schemas.microsoft.com/office/drawing/2014/main" id="{59A2DF85-B021-6DEE-8807-8638F4746E01}"/>
                </a:ext>
              </a:extLst>
            </p:cNvPr>
            <p:cNvSpPr/>
            <p:nvPr/>
          </p:nvSpPr>
          <p:spPr>
            <a:xfrm>
              <a:off x="6670800" y="3934800"/>
              <a:ext cx="122400" cy="12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>
              <a:extLst>
                <a:ext uri="{FF2B5EF4-FFF2-40B4-BE49-F238E27FC236}">
                  <a16:creationId xmlns:a16="http://schemas.microsoft.com/office/drawing/2014/main" id="{24F8CFE8-2F8E-3F92-7B3D-CB4540864E9C}"/>
                </a:ext>
              </a:extLst>
            </p:cNvPr>
            <p:cNvSpPr/>
            <p:nvPr/>
          </p:nvSpPr>
          <p:spPr>
            <a:xfrm>
              <a:off x="7462800" y="3934800"/>
              <a:ext cx="122400" cy="12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F190C5D0-BCEF-A7A4-65D9-F99CF5ACF4B5}"/>
                </a:ext>
              </a:extLst>
            </p:cNvPr>
            <p:cNvSpPr/>
            <p:nvPr/>
          </p:nvSpPr>
          <p:spPr>
            <a:xfrm>
              <a:off x="8254800" y="3934800"/>
              <a:ext cx="122400" cy="12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F283B05D-4757-5066-48DE-778962DE0D33}"/>
                </a:ext>
              </a:extLst>
            </p:cNvPr>
            <p:cNvSpPr/>
            <p:nvPr/>
          </p:nvSpPr>
          <p:spPr>
            <a:xfrm>
              <a:off x="9046800" y="3934800"/>
              <a:ext cx="122400" cy="12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6" name="文本框 75">
            <a:extLst>
              <a:ext uri="{FF2B5EF4-FFF2-40B4-BE49-F238E27FC236}">
                <a16:creationId xmlns:a16="http://schemas.microsoft.com/office/drawing/2014/main" id="{6BFBC5B1-268E-5BA4-A6C5-26AAA0DF2902}"/>
              </a:ext>
            </a:extLst>
          </p:cNvPr>
          <p:cNvSpPr txBox="1"/>
          <p:nvPr/>
        </p:nvSpPr>
        <p:spPr>
          <a:xfrm>
            <a:off x="360000" y="4788000"/>
            <a:ext cx="9206056" cy="1679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电容：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在直流通路中，可视为断路；在交流通路中，可视为短路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电感：本课程不涉及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7A1D1299-1F59-BBC6-4AF1-1AB109959DCE}"/>
              </a:ext>
            </a:extLst>
          </p:cNvPr>
          <p:cNvGrpSpPr/>
          <p:nvPr/>
        </p:nvGrpSpPr>
        <p:grpSpPr>
          <a:xfrm>
            <a:off x="9720000" y="5256000"/>
            <a:ext cx="1548000" cy="576239"/>
            <a:chOff x="5015999" y="3294472"/>
            <a:chExt cx="2160000" cy="829742"/>
          </a:xfrm>
        </p:grpSpPr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380C33F8-A974-825D-8360-FC2F1633263E}"/>
                </a:ext>
              </a:extLst>
            </p:cNvPr>
            <p:cNvCxnSpPr>
              <a:cxnSpLocks/>
            </p:cNvCxnSpPr>
            <p:nvPr/>
          </p:nvCxnSpPr>
          <p:spPr>
            <a:xfrm>
              <a:off x="5015999" y="3709343"/>
              <a:ext cx="216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177D65E6-9B87-2EBF-3101-9EE76AC049B3}"/>
                </a:ext>
              </a:extLst>
            </p:cNvPr>
            <p:cNvSpPr/>
            <p:nvPr/>
          </p:nvSpPr>
          <p:spPr>
            <a:xfrm>
              <a:off x="5950657" y="3574283"/>
              <a:ext cx="302400" cy="270120"/>
            </a:xfrm>
            <a:prstGeom prst="rect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CFB4B821-EA50-B50E-FAC4-762174A90E0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535786" y="3709343"/>
              <a:ext cx="82974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3D871389-17B4-DD3E-D5F4-1E58C8F9212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838186" y="3709343"/>
              <a:ext cx="82974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930DB435-68F3-9F12-0D10-BC9728221C3A}"/>
                  </a:ext>
                </a:extLst>
              </p:cNvPr>
              <p:cNvSpPr txBox="1"/>
              <p:nvPr/>
            </p:nvSpPr>
            <p:spPr>
              <a:xfrm>
                <a:off x="359999" y="2772000"/>
                <a:ext cx="10303882" cy="4997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971550" lvl="1" indent="-51435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并联：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𝑅</m:t>
                    </m:r>
                    <m:r>
                      <a:rPr lang="en-US" altLang="zh-CN" sz="2400" i="1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altLang="zh-CN" sz="24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24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dirty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nary>
                          <m:naryPr>
                            <m:chr m:val="∑"/>
                            <m:limLoc m:val="subSup"/>
                            <m:ctrlPr>
                              <a:rPr lang="en-US" altLang="zh-CN" sz="2400" i="1" dirty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zh-CN" sz="2400" i="1" dirty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𝑘</m:t>
                            </m:r>
                            <m:r>
                              <a:rPr lang="en-US" altLang="zh-CN" sz="2400" i="1" dirty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400" i="1" dirty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  <m:e>
                            <m:f>
                              <m:fPr>
                                <m:type m:val="lin"/>
                                <m:ctrlPr>
                                  <a:rPr lang="en-US" altLang="zh-CN" sz="2400" i="1" dirty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 dirty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CN" sz="2400" i="1" dirty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 dirty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zh-CN" sz="2400" i="1" dirty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𝑘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altLang="zh-CN" sz="2400" b="0" i="1" dirty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)</m:t>
                            </m:r>
                          </m:e>
                        </m:nary>
                      </m:den>
                    </m:f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，总电阻值小于任何一个电阻</a:t>
                </a:r>
              </a:p>
            </p:txBody>
          </p:sp>
        </mc:Choice>
        <mc:Fallback xmlns=""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930DB435-68F3-9F12-0D10-BC9728221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99" y="2772000"/>
                <a:ext cx="10303882" cy="499752"/>
              </a:xfrm>
              <a:prstGeom prst="rect">
                <a:avLst/>
              </a:prstGeom>
              <a:blipFill>
                <a:blip r:embed="rId11"/>
                <a:stretch>
                  <a:fillRect t="-112195" b="-1817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0" name="组合 99">
            <a:extLst>
              <a:ext uri="{FF2B5EF4-FFF2-40B4-BE49-F238E27FC236}">
                <a16:creationId xmlns:a16="http://schemas.microsoft.com/office/drawing/2014/main" id="{F80A890A-40B5-2410-A1E1-6516F3A32119}"/>
              </a:ext>
            </a:extLst>
          </p:cNvPr>
          <p:cNvGrpSpPr/>
          <p:nvPr/>
        </p:nvGrpSpPr>
        <p:grpSpPr>
          <a:xfrm>
            <a:off x="6480000" y="1908000"/>
            <a:ext cx="1224000" cy="612000"/>
            <a:chOff x="5760000" y="1980000"/>
            <a:chExt cx="1224000" cy="612000"/>
          </a:xfrm>
        </p:grpSpPr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FEB32DF6-A6F3-636D-D2E7-579F0FDAFEE9}"/>
                </a:ext>
              </a:extLst>
            </p:cNvPr>
            <p:cNvCxnSpPr>
              <a:cxnSpLocks/>
            </p:cNvCxnSpPr>
            <p:nvPr/>
          </p:nvCxnSpPr>
          <p:spPr>
            <a:xfrm>
              <a:off x="5760000" y="2484000"/>
              <a:ext cx="1224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10A14394-258D-CD07-9E04-C664F1053385}"/>
                </a:ext>
              </a:extLst>
            </p:cNvPr>
            <p:cNvSpPr/>
            <p:nvPr/>
          </p:nvSpPr>
          <p:spPr>
            <a:xfrm>
              <a:off x="6084000" y="2376000"/>
              <a:ext cx="576000" cy="216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8A1D8DFD-A0D9-9381-F9AD-42153A4E7FB9}"/>
                    </a:ext>
                  </a:extLst>
                </p:cNvPr>
                <p:cNvSpPr txBox="1"/>
                <p:nvPr/>
              </p:nvSpPr>
              <p:spPr>
                <a:xfrm>
                  <a:off x="6156000" y="1980000"/>
                  <a:ext cx="4320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𝑅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8A1D8DFD-A0D9-9381-F9AD-42153A4E7F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56000" y="1980000"/>
                  <a:ext cx="432000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1" name="箭头: 右 100">
            <a:extLst>
              <a:ext uri="{FF2B5EF4-FFF2-40B4-BE49-F238E27FC236}">
                <a16:creationId xmlns:a16="http://schemas.microsoft.com/office/drawing/2014/main" id="{2C102F67-D4F8-BE97-7940-395F926437FF}"/>
              </a:ext>
            </a:extLst>
          </p:cNvPr>
          <p:cNvSpPr/>
          <p:nvPr/>
        </p:nvSpPr>
        <p:spPr>
          <a:xfrm>
            <a:off x="5436000" y="2268000"/>
            <a:ext cx="324000" cy="288000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4FC047E6-16EB-5834-494D-797A3D47351C}"/>
              </a:ext>
            </a:extLst>
          </p:cNvPr>
          <p:cNvGrpSpPr/>
          <p:nvPr/>
        </p:nvGrpSpPr>
        <p:grpSpPr>
          <a:xfrm>
            <a:off x="6480000" y="3420000"/>
            <a:ext cx="1224000" cy="1202401"/>
            <a:chOff x="6480000" y="3420000"/>
            <a:chExt cx="1224000" cy="1202401"/>
          </a:xfrm>
        </p:grpSpPr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41169AA7-FA96-3F2D-0A06-144BBC9ED520}"/>
                </a:ext>
              </a:extLst>
            </p:cNvPr>
            <p:cNvCxnSpPr>
              <a:cxnSpLocks/>
            </p:cNvCxnSpPr>
            <p:nvPr/>
          </p:nvCxnSpPr>
          <p:spPr>
            <a:xfrm>
              <a:off x="7092000" y="3481201"/>
              <a:ext cx="0" cy="10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3BA519D4-2556-D6CD-68E2-DECE3B43BC33}"/>
                </a:ext>
              </a:extLst>
            </p:cNvPr>
            <p:cNvCxnSpPr>
              <a:cxnSpLocks/>
            </p:cNvCxnSpPr>
            <p:nvPr/>
          </p:nvCxnSpPr>
          <p:spPr>
            <a:xfrm>
              <a:off x="6480000" y="3481201"/>
              <a:ext cx="1224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2A0A0D02-E5AA-48D1-ECA4-A43CF07CBCAF}"/>
                </a:ext>
              </a:extLst>
            </p:cNvPr>
            <p:cNvSpPr/>
            <p:nvPr/>
          </p:nvSpPr>
          <p:spPr>
            <a:xfrm>
              <a:off x="6984000" y="3733201"/>
              <a:ext cx="216000" cy="576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文本框 108">
                  <a:extLst>
                    <a:ext uri="{FF2B5EF4-FFF2-40B4-BE49-F238E27FC236}">
                      <a16:creationId xmlns:a16="http://schemas.microsoft.com/office/drawing/2014/main" id="{7C784B7D-0C4E-F52A-AFED-7C9E835C8ADF}"/>
                    </a:ext>
                  </a:extLst>
                </p:cNvPr>
                <p:cNvSpPr txBox="1"/>
                <p:nvPr/>
              </p:nvSpPr>
              <p:spPr>
                <a:xfrm>
                  <a:off x="7164000" y="3837601"/>
                  <a:ext cx="37079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𝑅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9" name="文本框 108">
                  <a:extLst>
                    <a:ext uri="{FF2B5EF4-FFF2-40B4-BE49-F238E27FC236}">
                      <a16:creationId xmlns:a16="http://schemas.microsoft.com/office/drawing/2014/main" id="{7C784B7D-0C4E-F52A-AFED-7C9E835C8A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64000" y="3837601"/>
                  <a:ext cx="370795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B8C0A6D7-8C3D-74B8-75C8-D211841C8848}"/>
                </a:ext>
              </a:extLst>
            </p:cNvPr>
            <p:cNvCxnSpPr>
              <a:cxnSpLocks/>
            </p:cNvCxnSpPr>
            <p:nvPr/>
          </p:nvCxnSpPr>
          <p:spPr>
            <a:xfrm>
              <a:off x="6480000" y="4561201"/>
              <a:ext cx="1224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椭圆 116">
              <a:extLst>
                <a:ext uri="{FF2B5EF4-FFF2-40B4-BE49-F238E27FC236}">
                  <a16:creationId xmlns:a16="http://schemas.microsoft.com/office/drawing/2014/main" id="{6E69F3DC-623B-60AE-3061-8B17A3E9DF80}"/>
                </a:ext>
              </a:extLst>
            </p:cNvPr>
            <p:cNvSpPr/>
            <p:nvPr/>
          </p:nvSpPr>
          <p:spPr>
            <a:xfrm>
              <a:off x="7030800" y="3420000"/>
              <a:ext cx="122400" cy="12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" name="椭圆 120">
              <a:extLst>
                <a:ext uri="{FF2B5EF4-FFF2-40B4-BE49-F238E27FC236}">
                  <a16:creationId xmlns:a16="http://schemas.microsoft.com/office/drawing/2014/main" id="{2F935160-B5E8-83C2-B17B-7309D271D019}"/>
                </a:ext>
              </a:extLst>
            </p:cNvPr>
            <p:cNvSpPr/>
            <p:nvPr/>
          </p:nvSpPr>
          <p:spPr>
            <a:xfrm>
              <a:off x="7030800" y="4500001"/>
              <a:ext cx="122400" cy="12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5" name="箭头: 右 124">
            <a:extLst>
              <a:ext uri="{FF2B5EF4-FFF2-40B4-BE49-F238E27FC236}">
                <a16:creationId xmlns:a16="http://schemas.microsoft.com/office/drawing/2014/main" id="{26C50E28-CB8F-0669-56EA-9C9D9AFCC1EF}"/>
              </a:ext>
            </a:extLst>
          </p:cNvPr>
          <p:cNvSpPr/>
          <p:nvPr/>
        </p:nvSpPr>
        <p:spPr>
          <a:xfrm>
            <a:off x="5436000" y="3877201"/>
            <a:ext cx="324000" cy="288000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187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5A8467-B43C-3D5B-F347-7466C139F801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独立电源和受控电源</a:t>
            </a:r>
            <a:endParaRPr lang="en-US" altLang="zh-CN" sz="3000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B072D145-2C0E-0C77-80A5-2C1BE599408B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693FA993-9B43-CF18-B29C-0711A03FBCF9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" name="箭头: 五边形 5">
                <a:extLst>
                  <a:ext uri="{FF2B5EF4-FFF2-40B4-BE49-F238E27FC236}">
                    <a16:creationId xmlns:a16="http://schemas.microsoft.com/office/drawing/2014/main" id="{EA8A44BD-A85D-E2B7-2299-65AB43C423C1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箭头: V 形 6">
                <a:extLst>
                  <a:ext uri="{FF2B5EF4-FFF2-40B4-BE49-F238E27FC236}">
                    <a16:creationId xmlns:a16="http://schemas.microsoft.com/office/drawing/2014/main" id="{A4342915-5D50-815E-DF9A-48C16C4CC2AD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灯片编号占位符 3">
              <a:extLst>
                <a:ext uri="{FF2B5EF4-FFF2-40B4-BE49-F238E27FC236}">
                  <a16:creationId xmlns:a16="http://schemas.microsoft.com/office/drawing/2014/main" id="{F6A04AD9-A6F8-581B-4EA6-E3938B8353F3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12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024A1D3C-62B8-DFD2-C691-36FB47C5071A}"/>
              </a:ext>
            </a:extLst>
          </p:cNvPr>
          <p:cNvSpPr txBox="1"/>
          <p:nvPr/>
        </p:nvSpPr>
        <p:spPr>
          <a:xfrm>
            <a:off x="359998" y="828000"/>
            <a:ext cx="11825999" cy="2652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电源：为电路提供能量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理想独立电压源：无论外部如何，其输出电压保持恒定或按照给定的时间函数变化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理想独立电流源：无论外部如何，其输出电流保持恒定或按照给定的时间函数变化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理想独立电源自身无能量消耗，是从实际电源抽象出来的元件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用圆形符号表示，名称可省略“独立”二字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3132920-3B56-9362-E98C-EE8DD535978C}"/>
              </a:ext>
            </a:extLst>
          </p:cNvPr>
          <p:cNvSpPr txBox="1"/>
          <p:nvPr/>
        </p:nvSpPr>
        <p:spPr>
          <a:xfrm>
            <a:off x="2855999" y="6030000"/>
            <a:ext cx="21599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电压源</a:t>
            </a:r>
            <a:endParaRPr lang="zh-CN" altLang="en-US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E39CB5C-870B-D173-F919-AA7FEE6C3B08}"/>
              </a:ext>
            </a:extLst>
          </p:cNvPr>
          <p:cNvGrpSpPr/>
          <p:nvPr/>
        </p:nvGrpSpPr>
        <p:grpSpPr>
          <a:xfrm>
            <a:off x="2855999" y="4974301"/>
            <a:ext cx="2160000" cy="873959"/>
            <a:chOff x="2855999" y="4974301"/>
            <a:chExt cx="2160000" cy="873959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BE81E847-E861-6973-79B4-0E8061AEA463}"/>
                </a:ext>
              </a:extLst>
            </p:cNvPr>
            <p:cNvSpPr/>
            <p:nvPr/>
          </p:nvSpPr>
          <p:spPr>
            <a:xfrm>
              <a:off x="3575997" y="5128260"/>
              <a:ext cx="720000" cy="720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76E80F36-1081-931C-DC11-5295DC6DD43F}"/>
                </a:ext>
              </a:extLst>
            </p:cNvPr>
            <p:cNvCxnSpPr>
              <a:cxnSpLocks/>
            </p:cNvCxnSpPr>
            <p:nvPr/>
          </p:nvCxnSpPr>
          <p:spPr>
            <a:xfrm>
              <a:off x="2855999" y="5488260"/>
              <a:ext cx="216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45BDB794-5ADE-3520-852C-14E7813ABCFE}"/>
                    </a:ext>
                  </a:extLst>
                </p:cNvPr>
                <p:cNvSpPr txBox="1"/>
                <p:nvPr/>
              </p:nvSpPr>
              <p:spPr>
                <a:xfrm>
                  <a:off x="3214800" y="4974301"/>
                  <a:ext cx="72000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24795CC5-4E97-3235-447F-C4B15E9133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4800" y="4974301"/>
                  <a:ext cx="720000" cy="461665"/>
                </a:xfrm>
                <a:prstGeom prst="rect">
                  <a:avLst/>
                </a:prstGeom>
                <a:blipFill>
                  <a:blip r:embed="rId3"/>
                  <a:stretch>
                    <a:fillRect l="-8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8AC8C1D4-2593-DC90-1ED4-725A49F8052A}"/>
                    </a:ext>
                  </a:extLst>
                </p:cNvPr>
                <p:cNvSpPr txBox="1"/>
                <p:nvPr/>
              </p:nvSpPr>
              <p:spPr>
                <a:xfrm>
                  <a:off x="3934800" y="4975200"/>
                  <a:ext cx="72000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9347BB01-FCEC-3B28-5056-6007873501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4800" y="4975200"/>
                  <a:ext cx="720000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67F623E4-F566-C7F8-7B2A-6F9257F1BDE7}"/>
              </a:ext>
            </a:extLst>
          </p:cNvPr>
          <p:cNvSpPr txBox="1"/>
          <p:nvPr/>
        </p:nvSpPr>
        <p:spPr>
          <a:xfrm>
            <a:off x="7174800" y="6030899"/>
            <a:ext cx="21599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电流源</a:t>
            </a:r>
            <a:endParaRPr lang="zh-CN" altLang="en-US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0B7B7EB0-7535-7FDA-162F-730D1FD84B4A}"/>
              </a:ext>
            </a:extLst>
          </p:cNvPr>
          <p:cNvGrpSpPr/>
          <p:nvPr/>
        </p:nvGrpSpPr>
        <p:grpSpPr>
          <a:xfrm>
            <a:off x="7174800" y="5129159"/>
            <a:ext cx="2160000" cy="720000"/>
            <a:chOff x="7174800" y="5129159"/>
            <a:chExt cx="2160000" cy="720000"/>
          </a:xfrm>
        </p:grpSpPr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F04A3476-71CB-90B4-B32D-1214E68378B7}"/>
                </a:ext>
              </a:extLst>
            </p:cNvPr>
            <p:cNvCxnSpPr>
              <a:cxnSpLocks/>
            </p:cNvCxnSpPr>
            <p:nvPr/>
          </p:nvCxnSpPr>
          <p:spPr>
            <a:xfrm>
              <a:off x="7174800" y="5489159"/>
              <a:ext cx="216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1EF8E60-6F81-52DF-111A-7C83FBB772F5}"/>
                </a:ext>
              </a:extLst>
            </p:cNvPr>
            <p:cNvSpPr/>
            <p:nvPr/>
          </p:nvSpPr>
          <p:spPr>
            <a:xfrm>
              <a:off x="7894798" y="5129159"/>
              <a:ext cx="720000" cy="720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DA36F73-F924-0934-30F3-0028D88EA3C3}"/>
                </a:ext>
              </a:extLst>
            </p:cNvPr>
            <p:cNvCxnSpPr>
              <a:cxnSpLocks/>
              <a:stCxn id="18" idx="0"/>
              <a:endCxn id="18" idx="4"/>
            </p:cNvCxnSpPr>
            <p:nvPr/>
          </p:nvCxnSpPr>
          <p:spPr>
            <a:xfrm>
              <a:off x="8254798" y="5129159"/>
              <a:ext cx="0" cy="72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54AABD89-DF8D-6C55-98DA-C95A95AA832A}"/>
                </a:ext>
              </a:extLst>
            </p:cNvPr>
            <p:cNvCxnSpPr>
              <a:cxnSpLocks/>
              <a:stCxn id="18" idx="6"/>
            </p:cNvCxnSpPr>
            <p:nvPr/>
          </p:nvCxnSpPr>
          <p:spPr>
            <a:xfrm>
              <a:off x="8614798" y="5489159"/>
              <a:ext cx="564828" cy="0"/>
            </a:xfrm>
            <a:prstGeom prst="line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AB7B7E68-8CC5-FE1A-3756-B3024D94A2BB}"/>
              </a:ext>
            </a:extLst>
          </p:cNvPr>
          <p:cNvCxnSpPr>
            <a:cxnSpLocks/>
          </p:cNvCxnSpPr>
          <p:nvPr/>
        </p:nvCxnSpPr>
        <p:spPr>
          <a:xfrm>
            <a:off x="2854800" y="4420411"/>
            <a:ext cx="2160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0A048990-571C-8AEB-4E09-0140534016CA}"/>
                  </a:ext>
                </a:extLst>
              </p:cNvPr>
              <p:cNvSpPr txBox="1"/>
              <p:nvPr/>
            </p:nvSpPr>
            <p:spPr>
              <a:xfrm>
                <a:off x="3213601" y="3906452"/>
                <a:ext cx="7200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0A048990-571C-8AEB-4E09-014053401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3601" y="3906452"/>
                <a:ext cx="720000" cy="461665"/>
              </a:xfrm>
              <a:prstGeom prst="rect">
                <a:avLst/>
              </a:prstGeom>
              <a:blipFill>
                <a:blip r:embed="rId5"/>
                <a:stretch>
                  <a:fillRect l="-8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9611AF3D-E0E4-8685-79AA-6A80F0FED5E9}"/>
                  </a:ext>
                </a:extLst>
              </p:cNvPr>
              <p:cNvSpPr txBox="1"/>
              <p:nvPr/>
            </p:nvSpPr>
            <p:spPr>
              <a:xfrm>
                <a:off x="3933601" y="3907351"/>
                <a:ext cx="7200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9611AF3D-E0E4-8685-79AA-6A80F0FED5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3601" y="3907351"/>
                <a:ext cx="72000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矩形 25">
            <a:extLst>
              <a:ext uri="{FF2B5EF4-FFF2-40B4-BE49-F238E27FC236}">
                <a16:creationId xmlns:a16="http://schemas.microsoft.com/office/drawing/2014/main" id="{50C1433A-675E-E461-FF85-9550B9512F85}"/>
              </a:ext>
            </a:extLst>
          </p:cNvPr>
          <p:cNvSpPr/>
          <p:nvPr/>
        </p:nvSpPr>
        <p:spPr>
          <a:xfrm>
            <a:off x="3807601" y="3931410"/>
            <a:ext cx="252000" cy="9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29DA588C-0A3C-4C2F-B666-6F6F1CC95ECC}"/>
              </a:ext>
            </a:extLst>
          </p:cNvPr>
          <p:cNvCxnSpPr/>
          <p:nvPr/>
        </p:nvCxnSpPr>
        <p:spPr>
          <a:xfrm>
            <a:off x="4056313" y="4240800"/>
            <a:ext cx="0" cy="36000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1259FC28-8CD5-BA51-0C0E-DA9167BCFDBC}"/>
              </a:ext>
            </a:extLst>
          </p:cNvPr>
          <p:cNvCxnSpPr/>
          <p:nvPr/>
        </p:nvCxnSpPr>
        <p:spPr>
          <a:xfrm>
            <a:off x="3807601" y="4060800"/>
            <a:ext cx="0" cy="72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52855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AC735-BDEE-E326-52D2-A664C0B85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2D8332-053A-8FF4-371F-F3D9E996592F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独立电源和受控电源</a:t>
            </a:r>
            <a:endParaRPr lang="en-US" altLang="zh-CN" sz="3000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814CEAF-2B84-5E9B-F422-BEECE0A26B02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1E6EBB0D-08E3-D876-B908-9AEF1833E93A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" name="箭头: 五边形 5">
                <a:extLst>
                  <a:ext uri="{FF2B5EF4-FFF2-40B4-BE49-F238E27FC236}">
                    <a16:creationId xmlns:a16="http://schemas.microsoft.com/office/drawing/2014/main" id="{1FE33092-1F08-9A58-8B56-1D6B587D8A35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箭头: V 形 6">
                <a:extLst>
                  <a:ext uri="{FF2B5EF4-FFF2-40B4-BE49-F238E27FC236}">
                    <a16:creationId xmlns:a16="http://schemas.microsoft.com/office/drawing/2014/main" id="{E8A9F0AC-2B97-A087-A036-2147ED777742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灯片编号占位符 3">
              <a:extLst>
                <a:ext uri="{FF2B5EF4-FFF2-40B4-BE49-F238E27FC236}">
                  <a16:creationId xmlns:a16="http://schemas.microsoft.com/office/drawing/2014/main" id="{F3BFD7FC-C6A9-DF47-5E0B-69917EA43297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13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6AA48BD6-3176-D34D-12A0-40DCFCA786E7}"/>
              </a:ext>
            </a:extLst>
          </p:cNvPr>
          <p:cNvSpPr txBox="1"/>
          <p:nvPr/>
        </p:nvSpPr>
        <p:spPr>
          <a:xfrm>
            <a:off x="359998" y="828000"/>
            <a:ext cx="10119507" cy="1612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受控电源：包含控制支路和受控支路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受控电源不是严格意义上的电源，用菱形符号表示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可分为如下四种受控源（每个图中左边为控制支路，右边为受控支路）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4" name="组合 93">
            <a:extLst>
              <a:ext uri="{FF2B5EF4-FFF2-40B4-BE49-F238E27FC236}">
                <a16:creationId xmlns:a16="http://schemas.microsoft.com/office/drawing/2014/main" id="{0E23AD29-505C-6CBD-B104-051C92C92686}"/>
              </a:ext>
            </a:extLst>
          </p:cNvPr>
          <p:cNvGrpSpPr/>
          <p:nvPr/>
        </p:nvGrpSpPr>
        <p:grpSpPr>
          <a:xfrm>
            <a:off x="360000" y="2592000"/>
            <a:ext cx="3015017" cy="2025913"/>
            <a:chOff x="828000" y="2395752"/>
            <a:chExt cx="3015017" cy="20259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9E2D8164-2B87-A9B2-E811-D16E7482F89D}"/>
                    </a:ext>
                  </a:extLst>
                </p:cNvPr>
                <p:cNvSpPr txBox="1"/>
                <p:nvPr/>
              </p:nvSpPr>
              <p:spPr>
                <a:xfrm>
                  <a:off x="3034800" y="2397600"/>
                  <a:ext cx="50491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9E2D8164-2B87-A9B2-E811-D16E7482F8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34800" y="2397600"/>
                  <a:ext cx="50491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0528DEC9-0000-9A8C-B7AD-FBDC37DFD8BE}"/>
                    </a:ext>
                  </a:extLst>
                </p:cNvPr>
                <p:cNvSpPr txBox="1"/>
                <p:nvPr/>
              </p:nvSpPr>
              <p:spPr>
                <a:xfrm>
                  <a:off x="2071307" y="2772000"/>
                  <a:ext cx="483594" cy="9233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kumimoji="1" lang="en-US" altLang="zh-CN" b="0" i="1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  <a:p>
                  <a:endParaRPr kumimoji="1" lang="en-US" altLang="zh-CN" b="0" i="1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kumimoji="1" lang="en-US" altLang="zh-CN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0528DEC9-0000-9A8C-B7AD-FBDC37DFD8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71307" y="2772000"/>
                  <a:ext cx="483594" cy="92333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A2BE4693-AB51-B0CA-5D62-2404619B8AD8}"/>
                    </a:ext>
                  </a:extLst>
                </p:cNvPr>
                <p:cNvSpPr txBox="1"/>
                <p:nvPr/>
              </p:nvSpPr>
              <p:spPr>
                <a:xfrm>
                  <a:off x="1080000" y="2395752"/>
                  <a:ext cx="504917" cy="3600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A2BE4693-AB51-B0CA-5D62-2404619B8A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0000" y="2395752"/>
                  <a:ext cx="504917" cy="360000"/>
                </a:xfrm>
                <a:prstGeom prst="rect">
                  <a:avLst/>
                </a:prstGeom>
                <a:blipFill>
                  <a:blip r:embed="rId4"/>
                  <a:stretch>
                    <a:fillRect b="-169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5939845A-C17E-1598-EFE5-516E0FF04244}"/>
                    </a:ext>
                  </a:extLst>
                </p:cNvPr>
                <p:cNvSpPr txBox="1"/>
                <p:nvPr/>
              </p:nvSpPr>
              <p:spPr>
                <a:xfrm>
                  <a:off x="828000" y="2772000"/>
                  <a:ext cx="471026" cy="9233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kumimoji="1" lang="en-US" altLang="zh-CN" b="0" i="1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b="0" i="1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kumimoji="1" lang="en-US" altLang="zh-CN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5939845A-C17E-1598-EFE5-516E0FF042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8000" y="2772000"/>
                  <a:ext cx="471026" cy="92333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2" name="流程图: 决策 81">
              <a:extLst>
                <a:ext uri="{FF2B5EF4-FFF2-40B4-BE49-F238E27FC236}">
                  <a16:creationId xmlns:a16="http://schemas.microsoft.com/office/drawing/2014/main" id="{76C3EABC-CB0F-287C-ED23-EE2A0CBD4531}"/>
                </a:ext>
              </a:extLst>
            </p:cNvPr>
            <p:cNvSpPr/>
            <p:nvPr/>
          </p:nvSpPr>
          <p:spPr>
            <a:xfrm>
              <a:off x="2290168" y="3034800"/>
              <a:ext cx="360000" cy="360000"/>
            </a:xfrm>
            <a:prstGeom prst="flowChartDecision">
              <a:avLst/>
            </a:prstGeom>
            <a:solidFill>
              <a:schemeClr val="bg1"/>
            </a:solidFill>
            <a:ln w="254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655C7888-76DE-C4AB-58EE-62266E2DA819}"/>
                    </a:ext>
                  </a:extLst>
                </p:cNvPr>
                <p:cNvSpPr txBox="1"/>
                <p:nvPr/>
              </p:nvSpPr>
              <p:spPr>
                <a:xfrm>
                  <a:off x="2448000" y="3155441"/>
                  <a:ext cx="61670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zh-CN" altLang="en-US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  <m:sSub>
                          <m:sSubPr>
                            <m:ctrlPr>
                              <a:rPr kumimoji="1" lang="en-US" altLang="zh-CN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655C7888-76DE-C4AB-58EE-62266E2DA8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48000" y="3155441"/>
                  <a:ext cx="616707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直线连接符 5">
              <a:extLst>
                <a:ext uri="{FF2B5EF4-FFF2-40B4-BE49-F238E27FC236}">
                  <a16:creationId xmlns:a16="http://schemas.microsoft.com/office/drawing/2014/main" id="{29F67135-8DF3-DBEC-44EF-33F9BE319A32}"/>
                </a:ext>
              </a:extLst>
            </p:cNvPr>
            <p:cNvCxnSpPr>
              <a:cxnSpLocks/>
              <a:stCxn id="33" idx="6"/>
              <a:endCxn id="34" idx="2"/>
            </p:cNvCxnSpPr>
            <p:nvPr/>
          </p:nvCxnSpPr>
          <p:spPr>
            <a:xfrm>
              <a:off x="1210168" y="2765084"/>
              <a:ext cx="589832" cy="0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97F84A53-48E7-DEDD-9583-6E5E6D198B2D}"/>
                </a:ext>
              </a:extLst>
            </p:cNvPr>
            <p:cNvSpPr/>
            <p:nvPr/>
          </p:nvSpPr>
          <p:spPr>
            <a:xfrm>
              <a:off x="1080000" y="2700000"/>
              <a:ext cx="130168" cy="1301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3A992788-19E4-4721-912C-9FDAD4BF8EF9}"/>
                </a:ext>
              </a:extLst>
            </p:cNvPr>
            <p:cNvSpPr/>
            <p:nvPr/>
          </p:nvSpPr>
          <p:spPr>
            <a:xfrm>
              <a:off x="1800000" y="2700000"/>
              <a:ext cx="130168" cy="1301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784C05C4-3170-5834-5A12-925B8EF75A2E}"/>
                </a:ext>
              </a:extLst>
            </p:cNvPr>
            <p:cNvSpPr txBox="1"/>
            <p:nvPr/>
          </p:nvSpPr>
          <p:spPr>
            <a:xfrm>
              <a:off x="1080000" y="3960000"/>
              <a:ext cx="245283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压控电压源</a:t>
              </a:r>
              <a:endParaRPr kumimoji="1"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54E9623F-928C-9827-B900-F5412A1372AE}"/>
                </a:ext>
              </a:extLst>
            </p:cNvPr>
            <p:cNvSpPr/>
            <p:nvPr/>
          </p:nvSpPr>
          <p:spPr>
            <a:xfrm>
              <a:off x="1644709" y="2629362"/>
              <a:ext cx="1330711" cy="117225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8569F5F5-BCBF-4D9B-A23D-98377F5290BA}"/>
                </a:ext>
              </a:extLst>
            </p:cNvPr>
            <p:cNvCxnSpPr/>
            <p:nvPr/>
          </p:nvCxnSpPr>
          <p:spPr>
            <a:xfrm>
              <a:off x="1221892" y="2765084"/>
              <a:ext cx="360000" cy="0"/>
            </a:xfrm>
            <a:prstGeom prst="line">
              <a:avLst/>
            </a:prstGeom>
            <a:ln w="25400">
              <a:solidFill>
                <a:schemeClr val="accent5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线连接符 5">
              <a:extLst>
                <a:ext uri="{FF2B5EF4-FFF2-40B4-BE49-F238E27FC236}">
                  <a16:creationId xmlns:a16="http://schemas.microsoft.com/office/drawing/2014/main" id="{E5FEFE14-D11F-7657-9087-BBB85F558081}"/>
                </a:ext>
              </a:extLst>
            </p:cNvPr>
            <p:cNvCxnSpPr>
              <a:cxnSpLocks/>
              <a:stCxn id="67" idx="6"/>
              <a:endCxn id="68" idx="2"/>
            </p:cNvCxnSpPr>
            <p:nvPr/>
          </p:nvCxnSpPr>
          <p:spPr>
            <a:xfrm>
              <a:off x="1210168" y="3665084"/>
              <a:ext cx="589832" cy="0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6E960BC7-957B-75E3-155B-C1B4DD73503C}"/>
                </a:ext>
              </a:extLst>
            </p:cNvPr>
            <p:cNvSpPr/>
            <p:nvPr/>
          </p:nvSpPr>
          <p:spPr>
            <a:xfrm>
              <a:off x="1080000" y="3600000"/>
              <a:ext cx="130168" cy="1301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FFBDE154-3B58-420D-5274-D5C75C871C32}"/>
                </a:ext>
              </a:extLst>
            </p:cNvPr>
            <p:cNvSpPr/>
            <p:nvPr/>
          </p:nvSpPr>
          <p:spPr>
            <a:xfrm>
              <a:off x="1800000" y="3600000"/>
              <a:ext cx="130168" cy="1301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70" name="直线连接符 5">
              <a:extLst>
                <a:ext uri="{FF2B5EF4-FFF2-40B4-BE49-F238E27FC236}">
                  <a16:creationId xmlns:a16="http://schemas.microsoft.com/office/drawing/2014/main" id="{496986E9-D002-0F2D-0DC6-8E48BDBA5400}"/>
                </a:ext>
              </a:extLst>
            </p:cNvPr>
            <p:cNvCxnSpPr>
              <a:cxnSpLocks/>
              <a:endCxn id="72" idx="2"/>
            </p:cNvCxnSpPr>
            <p:nvPr/>
          </p:nvCxnSpPr>
          <p:spPr>
            <a:xfrm>
              <a:off x="2470168" y="2765084"/>
              <a:ext cx="9325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椭圆 71">
              <a:extLst>
                <a:ext uri="{FF2B5EF4-FFF2-40B4-BE49-F238E27FC236}">
                  <a16:creationId xmlns:a16="http://schemas.microsoft.com/office/drawing/2014/main" id="{350CDEF8-1966-7C16-A490-5030EEAF0FE7}"/>
                </a:ext>
              </a:extLst>
            </p:cNvPr>
            <p:cNvSpPr/>
            <p:nvPr/>
          </p:nvSpPr>
          <p:spPr>
            <a:xfrm>
              <a:off x="3402668" y="2700000"/>
              <a:ext cx="130168" cy="1301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74" name="直线连接符 5">
              <a:extLst>
                <a:ext uri="{FF2B5EF4-FFF2-40B4-BE49-F238E27FC236}">
                  <a16:creationId xmlns:a16="http://schemas.microsoft.com/office/drawing/2014/main" id="{E1DA4D8F-E394-89CE-5823-DC428CF26FC7}"/>
                </a:ext>
              </a:extLst>
            </p:cNvPr>
            <p:cNvCxnSpPr>
              <a:cxnSpLocks/>
              <a:endCxn id="76" idx="2"/>
            </p:cNvCxnSpPr>
            <p:nvPr/>
          </p:nvCxnSpPr>
          <p:spPr>
            <a:xfrm>
              <a:off x="2470168" y="3665084"/>
              <a:ext cx="9325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CECC935D-CFB8-B2F8-0BA7-F559F55E2949}"/>
                </a:ext>
              </a:extLst>
            </p:cNvPr>
            <p:cNvSpPr/>
            <p:nvPr/>
          </p:nvSpPr>
          <p:spPr>
            <a:xfrm>
              <a:off x="3402668" y="3600000"/>
              <a:ext cx="130168" cy="1301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80" name="直线连接符 5">
              <a:extLst>
                <a:ext uri="{FF2B5EF4-FFF2-40B4-BE49-F238E27FC236}">
                  <a16:creationId xmlns:a16="http://schemas.microsoft.com/office/drawing/2014/main" id="{739D2169-FD14-852C-9345-C7CF473A57D6}"/>
                </a:ext>
              </a:extLst>
            </p:cNvPr>
            <p:cNvCxnSpPr>
              <a:cxnSpLocks/>
            </p:cNvCxnSpPr>
            <p:nvPr/>
          </p:nvCxnSpPr>
          <p:spPr>
            <a:xfrm>
              <a:off x="2470168" y="2765084"/>
              <a:ext cx="0" cy="900000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线连接符 5">
              <a:extLst>
                <a:ext uri="{FF2B5EF4-FFF2-40B4-BE49-F238E27FC236}">
                  <a16:creationId xmlns:a16="http://schemas.microsoft.com/office/drawing/2014/main" id="{258FED98-4699-5486-37AB-35CBDA7164BE}"/>
                </a:ext>
              </a:extLst>
            </p:cNvPr>
            <p:cNvCxnSpPr>
              <a:cxnSpLocks/>
              <a:stCxn id="82" idx="0"/>
              <a:endCxn id="82" idx="2"/>
            </p:cNvCxnSpPr>
            <p:nvPr/>
          </p:nvCxnSpPr>
          <p:spPr>
            <a:xfrm>
              <a:off x="2470168" y="3034800"/>
              <a:ext cx="0" cy="360000"/>
            </a:xfrm>
            <a:prstGeom prst="line">
              <a:avLst/>
            </a:prstGeom>
            <a:ln w="25400">
              <a:solidFill>
                <a:schemeClr val="accent5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E8135508-AEE9-44F3-E4A9-BE608896F522}"/>
                    </a:ext>
                  </a:extLst>
                </p:cNvPr>
                <p:cNvSpPr txBox="1"/>
                <p:nvPr/>
              </p:nvSpPr>
              <p:spPr>
                <a:xfrm>
                  <a:off x="3366668" y="2773505"/>
                  <a:ext cx="476349" cy="9233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kumimoji="1" lang="en-US" altLang="zh-CN" b="0" i="1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b="0" i="1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kumimoji="1" lang="en-US" altLang="zh-CN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E8135508-AEE9-44F3-E4A9-BE608896F5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6668" y="2773505"/>
                  <a:ext cx="476349" cy="92333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78DC8AF7-E20B-7C8B-789D-EB13086966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30176" y="2765084"/>
              <a:ext cx="360000" cy="0"/>
            </a:xfrm>
            <a:prstGeom prst="line">
              <a:avLst/>
            </a:prstGeom>
            <a:ln w="25400">
              <a:solidFill>
                <a:schemeClr val="accent5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3" name="组合 122">
            <a:extLst>
              <a:ext uri="{FF2B5EF4-FFF2-40B4-BE49-F238E27FC236}">
                <a16:creationId xmlns:a16="http://schemas.microsoft.com/office/drawing/2014/main" id="{40145A43-2EFF-6885-2193-13FF0C9599BE}"/>
              </a:ext>
            </a:extLst>
          </p:cNvPr>
          <p:cNvGrpSpPr/>
          <p:nvPr/>
        </p:nvGrpSpPr>
        <p:grpSpPr>
          <a:xfrm>
            <a:off x="3168000" y="4320000"/>
            <a:ext cx="3015017" cy="2025913"/>
            <a:chOff x="3257983" y="4387080"/>
            <a:chExt cx="3015017" cy="20259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AD0A1259-4ED7-8B0B-5D8D-FE83872C6F57}"/>
                    </a:ext>
                  </a:extLst>
                </p:cNvPr>
                <p:cNvSpPr txBox="1"/>
                <p:nvPr/>
              </p:nvSpPr>
              <p:spPr>
                <a:xfrm>
                  <a:off x="5464783" y="4388928"/>
                  <a:ext cx="50491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AD0A1259-4ED7-8B0B-5D8D-FE83872C6F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4783" y="4388928"/>
                  <a:ext cx="50491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89F0D390-6736-F623-7B4D-B3758C9F6EB1}"/>
                    </a:ext>
                  </a:extLst>
                </p:cNvPr>
                <p:cNvSpPr txBox="1"/>
                <p:nvPr/>
              </p:nvSpPr>
              <p:spPr>
                <a:xfrm>
                  <a:off x="3509983" y="4387080"/>
                  <a:ext cx="504917" cy="3600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89F0D390-6736-F623-7B4D-B3758C9F6E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09983" y="4387080"/>
                  <a:ext cx="504917" cy="36000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5C07131B-9B0B-6016-DDFD-BBA3348E7E10}"/>
                    </a:ext>
                  </a:extLst>
                </p:cNvPr>
                <p:cNvSpPr txBox="1"/>
                <p:nvPr/>
              </p:nvSpPr>
              <p:spPr>
                <a:xfrm>
                  <a:off x="3257983" y="4763328"/>
                  <a:ext cx="471026" cy="9233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kumimoji="1" lang="en-US" altLang="zh-CN" b="0" i="1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b="0" i="1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kumimoji="1" lang="en-US" altLang="zh-CN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5C07131B-9B0B-6016-DDFD-BBA3348E7E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57983" y="4763328"/>
                  <a:ext cx="471026" cy="92333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632ED014-9894-323B-0517-8E45AE0846BE}"/>
                    </a:ext>
                  </a:extLst>
                </p:cNvPr>
                <p:cNvSpPr txBox="1"/>
                <p:nvPr/>
              </p:nvSpPr>
              <p:spPr>
                <a:xfrm>
                  <a:off x="4877983" y="5146769"/>
                  <a:ext cx="6272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sSub>
                          <m:sSubPr>
                            <m:ctrlPr>
                              <a:rPr kumimoji="1" lang="en-US" altLang="zh-CN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632ED014-9894-323B-0517-8E45AE0846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7983" y="5146769"/>
                  <a:ext cx="627288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2" name="直线连接符 5">
              <a:extLst>
                <a:ext uri="{FF2B5EF4-FFF2-40B4-BE49-F238E27FC236}">
                  <a16:creationId xmlns:a16="http://schemas.microsoft.com/office/drawing/2014/main" id="{48A72EE2-AC81-52BB-9D02-F5C870A4D016}"/>
                </a:ext>
              </a:extLst>
            </p:cNvPr>
            <p:cNvCxnSpPr>
              <a:cxnSpLocks/>
              <a:stCxn id="103" idx="6"/>
              <a:endCxn id="104" idx="2"/>
            </p:cNvCxnSpPr>
            <p:nvPr/>
          </p:nvCxnSpPr>
          <p:spPr>
            <a:xfrm>
              <a:off x="3640151" y="4756412"/>
              <a:ext cx="589832" cy="0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椭圆 102">
              <a:extLst>
                <a:ext uri="{FF2B5EF4-FFF2-40B4-BE49-F238E27FC236}">
                  <a16:creationId xmlns:a16="http://schemas.microsoft.com/office/drawing/2014/main" id="{5D980B96-D570-D1C7-0AD9-772D1260140C}"/>
                </a:ext>
              </a:extLst>
            </p:cNvPr>
            <p:cNvSpPr/>
            <p:nvPr/>
          </p:nvSpPr>
          <p:spPr>
            <a:xfrm>
              <a:off x="3509983" y="4691328"/>
              <a:ext cx="130168" cy="1301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4" name="椭圆 103">
              <a:extLst>
                <a:ext uri="{FF2B5EF4-FFF2-40B4-BE49-F238E27FC236}">
                  <a16:creationId xmlns:a16="http://schemas.microsoft.com/office/drawing/2014/main" id="{8E05475D-A3EC-1260-31BD-FF40980F0C29}"/>
                </a:ext>
              </a:extLst>
            </p:cNvPr>
            <p:cNvSpPr/>
            <p:nvPr/>
          </p:nvSpPr>
          <p:spPr>
            <a:xfrm>
              <a:off x="4229983" y="4691328"/>
              <a:ext cx="130168" cy="1301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D6CF60BA-0698-CE97-7D38-0998C9906CD4}"/>
                </a:ext>
              </a:extLst>
            </p:cNvPr>
            <p:cNvSpPr txBox="1"/>
            <p:nvPr/>
          </p:nvSpPr>
          <p:spPr>
            <a:xfrm>
              <a:off x="3509983" y="5951328"/>
              <a:ext cx="245283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压控电流源</a:t>
              </a:r>
              <a:endParaRPr kumimoji="1"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06EECBE1-3366-1F6F-D2BB-65324DAA45B0}"/>
                </a:ext>
              </a:extLst>
            </p:cNvPr>
            <p:cNvSpPr/>
            <p:nvPr/>
          </p:nvSpPr>
          <p:spPr>
            <a:xfrm>
              <a:off x="4074692" y="4620690"/>
              <a:ext cx="1330711" cy="117225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0DFF3F95-8A67-2D0A-B790-827B38460E1D}"/>
                </a:ext>
              </a:extLst>
            </p:cNvPr>
            <p:cNvCxnSpPr/>
            <p:nvPr/>
          </p:nvCxnSpPr>
          <p:spPr>
            <a:xfrm>
              <a:off x="3651875" y="4756412"/>
              <a:ext cx="360000" cy="0"/>
            </a:xfrm>
            <a:prstGeom prst="line">
              <a:avLst/>
            </a:prstGeom>
            <a:ln w="25400">
              <a:solidFill>
                <a:schemeClr val="accent5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线连接符 5">
              <a:extLst>
                <a:ext uri="{FF2B5EF4-FFF2-40B4-BE49-F238E27FC236}">
                  <a16:creationId xmlns:a16="http://schemas.microsoft.com/office/drawing/2014/main" id="{98BBD3C5-D8F8-FBF4-8436-6E992AF0C94B}"/>
                </a:ext>
              </a:extLst>
            </p:cNvPr>
            <p:cNvCxnSpPr>
              <a:cxnSpLocks/>
              <a:stCxn id="109" idx="6"/>
              <a:endCxn id="110" idx="2"/>
            </p:cNvCxnSpPr>
            <p:nvPr/>
          </p:nvCxnSpPr>
          <p:spPr>
            <a:xfrm>
              <a:off x="3640151" y="5656412"/>
              <a:ext cx="589832" cy="0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椭圆 108">
              <a:extLst>
                <a:ext uri="{FF2B5EF4-FFF2-40B4-BE49-F238E27FC236}">
                  <a16:creationId xmlns:a16="http://schemas.microsoft.com/office/drawing/2014/main" id="{E2A9F2C1-D488-B1CF-F80C-3F3388270A1C}"/>
                </a:ext>
              </a:extLst>
            </p:cNvPr>
            <p:cNvSpPr/>
            <p:nvPr/>
          </p:nvSpPr>
          <p:spPr>
            <a:xfrm>
              <a:off x="3509983" y="5591328"/>
              <a:ext cx="130168" cy="1301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0" name="椭圆 109">
              <a:extLst>
                <a:ext uri="{FF2B5EF4-FFF2-40B4-BE49-F238E27FC236}">
                  <a16:creationId xmlns:a16="http://schemas.microsoft.com/office/drawing/2014/main" id="{1218BD07-DF79-27B3-7819-9913FE950AFF}"/>
                </a:ext>
              </a:extLst>
            </p:cNvPr>
            <p:cNvSpPr/>
            <p:nvPr/>
          </p:nvSpPr>
          <p:spPr>
            <a:xfrm>
              <a:off x="4229983" y="5591328"/>
              <a:ext cx="130168" cy="1301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111" name="直线连接符 5">
              <a:extLst>
                <a:ext uri="{FF2B5EF4-FFF2-40B4-BE49-F238E27FC236}">
                  <a16:creationId xmlns:a16="http://schemas.microsoft.com/office/drawing/2014/main" id="{42D13A84-4EE3-76B5-31CF-2B0445FF0BC9}"/>
                </a:ext>
              </a:extLst>
            </p:cNvPr>
            <p:cNvCxnSpPr>
              <a:cxnSpLocks/>
              <a:endCxn id="112" idx="2"/>
            </p:cNvCxnSpPr>
            <p:nvPr/>
          </p:nvCxnSpPr>
          <p:spPr>
            <a:xfrm>
              <a:off x="4900151" y="4756412"/>
              <a:ext cx="9325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椭圆 111">
              <a:extLst>
                <a:ext uri="{FF2B5EF4-FFF2-40B4-BE49-F238E27FC236}">
                  <a16:creationId xmlns:a16="http://schemas.microsoft.com/office/drawing/2014/main" id="{5A3BC7D7-EC18-3273-9063-E2C45DC43182}"/>
                </a:ext>
              </a:extLst>
            </p:cNvPr>
            <p:cNvSpPr/>
            <p:nvPr/>
          </p:nvSpPr>
          <p:spPr>
            <a:xfrm>
              <a:off x="5832651" y="4691328"/>
              <a:ext cx="130168" cy="1301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113" name="直线连接符 5">
              <a:extLst>
                <a:ext uri="{FF2B5EF4-FFF2-40B4-BE49-F238E27FC236}">
                  <a16:creationId xmlns:a16="http://schemas.microsoft.com/office/drawing/2014/main" id="{F23B7DA0-50A1-B364-B004-16381F73B07A}"/>
                </a:ext>
              </a:extLst>
            </p:cNvPr>
            <p:cNvCxnSpPr>
              <a:cxnSpLocks/>
              <a:endCxn id="114" idx="2"/>
            </p:cNvCxnSpPr>
            <p:nvPr/>
          </p:nvCxnSpPr>
          <p:spPr>
            <a:xfrm>
              <a:off x="4900151" y="5656412"/>
              <a:ext cx="9325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椭圆 113">
              <a:extLst>
                <a:ext uri="{FF2B5EF4-FFF2-40B4-BE49-F238E27FC236}">
                  <a16:creationId xmlns:a16="http://schemas.microsoft.com/office/drawing/2014/main" id="{8F9FA96E-2ED4-ABAF-08B8-381A33ACCAFF}"/>
                </a:ext>
              </a:extLst>
            </p:cNvPr>
            <p:cNvSpPr/>
            <p:nvPr/>
          </p:nvSpPr>
          <p:spPr>
            <a:xfrm>
              <a:off x="5832651" y="5591328"/>
              <a:ext cx="130168" cy="1301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115" name="直线连接符 5">
              <a:extLst>
                <a:ext uri="{FF2B5EF4-FFF2-40B4-BE49-F238E27FC236}">
                  <a16:creationId xmlns:a16="http://schemas.microsoft.com/office/drawing/2014/main" id="{4CBF43EC-9164-E952-501D-42184DF66F60}"/>
                </a:ext>
              </a:extLst>
            </p:cNvPr>
            <p:cNvCxnSpPr>
              <a:cxnSpLocks/>
            </p:cNvCxnSpPr>
            <p:nvPr/>
          </p:nvCxnSpPr>
          <p:spPr>
            <a:xfrm>
              <a:off x="4900151" y="4756412"/>
              <a:ext cx="0" cy="900000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5AF41F22-5256-6F1C-A7F6-E32BFD762920}"/>
                    </a:ext>
                  </a:extLst>
                </p:cNvPr>
                <p:cNvSpPr txBox="1"/>
                <p:nvPr/>
              </p:nvSpPr>
              <p:spPr>
                <a:xfrm>
                  <a:off x="5796651" y="4764833"/>
                  <a:ext cx="476349" cy="9233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kumimoji="1" lang="en-US" altLang="zh-CN" b="0" i="1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b="0" i="1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kumimoji="1" lang="en-US" altLang="zh-CN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5AF41F22-5256-6F1C-A7F6-E32BFD7629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96651" y="4764833"/>
                  <a:ext cx="476349" cy="92333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033049EA-D538-EB3D-C874-5E85C39913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60159" y="4756412"/>
              <a:ext cx="360000" cy="0"/>
            </a:xfrm>
            <a:prstGeom prst="line">
              <a:avLst/>
            </a:prstGeom>
            <a:ln w="25400">
              <a:solidFill>
                <a:schemeClr val="accent5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流程图: 决策 99">
              <a:extLst>
                <a:ext uri="{FF2B5EF4-FFF2-40B4-BE49-F238E27FC236}">
                  <a16:creationId xmlns:a16="http://schemas.microsoft.com/office/drawing/2014/main" id="{C94E38A8-5E09-C6EF-D855-8978F8DE6683}"/>
                </a:ext>
              </a:extLst>
            </p:cNvPr>
            <p:cNvSpPr/>
            <p:nvPr/>
          </p:nvSpPr>
          <p:spPr>
            <a:xfrm>
              <a:off x="4720151" y="5026128"/>
              <a:ext cx="360000" cy="360000"/>
            </a:xfrm>
            <a:prstGeom prst="flowChartDecision">
              <a:avLst/>
            </a:prstGeom>
            <a:solidFill>
              <a:schemeClr val="bg1"/>
            </a:solidFill>
            <a:ln w="254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6" name="直线连接符 5">
              <a:extLst>
                <a:ext uri="{FF2B5EF4-FFF2-40B4-BE49-F238E27FC236}">
                  <a16:creationId xmlns:a16="http://schemas.microsoft.com/office/drawing/2014/main" id="{DA24C44B-1357-864E-1448-E9220A4C86C7}"/>
                </a:ext>
              </a:extLst>
            </p:cNvPr>
            <p:cNvCxnSpPr>
              <a:cxnSpLocks/>
              <a:stCxn id="100" idx="1"/>
            </p:cNvCxnSpPr>
            <p:nvPr/>
          </p:nvCxnSpPr>
          <p:spPr>
            <a:xfrm>
              <a:off x="4720151" y="5206128"/>
              <a:ext cx="360000" cy="0"/>
            </a:xfrm>
            <a:prstGeom prst="line">
              <a:avLst/>
            </a:prstGeom>
            <a:ln w="25400">
              <a:solidFill>
                <a:schemeClr val="accent5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39CB9F17-83D6-6EA2-FAEE-2FB702C0E1C8}"/>
                </a:ext>
              </a:extLst>
            </p:cNvPr>
            <p:cNvCxnSpPr>
              <a:cxnSpLocks/>
            </p:cNvCxnSpPr>
            <p:nvPr/>
          </p:nvCxnSpPr>
          <p:spPr>
            <a:xfrm>
              <a:off x="4900151" y="5382490"/>
              <a:ext cx="0" cy="273922"/>
            </a:xfrm>
            <a:prstGeom prst="line">
              <a:avLst/>
            </a:prstGeom>
            <a:ln w="25400">
              <a:solidFill>
                <a:schemeClr val="accent5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E2EC69AD-8CF2-B736-EAE3-E4B37E0D4990}"/>
              </a:ext>
            </a:extLst>
          </p:cNvPr>
          <p:cNvGrpSpPr/>
          <p:nvPr/>
        </p:nvGrpSpPr>
        <p:grpSpPr>
          <a:xfrm>
            <a:off x="5976000" y="2592000"/>
            <a:ext cx="3015017" cy="2025913"/>
            <a:chOff x="828000" y="2395752"/>
            <a:chExt cx="3015017" cy="20259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文本框 124">
                  <a:extLst>
                    <a:ext uri="{FF2B5EF4-FFF2-40B4-BE49-F238E27FC236}">
                      <a16:creationId xmlns:a16="http://schemas.microsoft.com/office/drawing/2014/main" id="{47CFF22D-5D3C-740A-3044-8ADFCF89A382}"/>
                    </a:ext>
                  </a:extLst>
                </p:cNvPr>
                <p:cNvSpPr txBox="1"/>
                <p:nvPr/>
              </p:nvSpPr>
              <p:spPr>
                <a:xfrm>
                  <a:off x="3034800" y="2397600"/>
                  <a:ext cx="50491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125" name="文本框 124">
                  <a:extLst>
                    <a:ext uri="{FF2B5EF4-FFF2-40B4-BE49-F238E27FC236}">
                      <a16:creationId xmlns:a16="http://schemas.microsoft.com/office/drawing/2014/main" id="{47CFF22D-5D3C-740A-3044-8ADFCF89A3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34800" y="2397600"/>
                  <a:ext cx="50491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文本框 125">
                  <a:extLst>
                    <a:ext uri="{FF2B5EF4-FFF2-40B4-BE49-F238E27FC236}">
                      <a16:creationId xmlns:a16="http://schemas.microsoft.com/office/drawing/2014/main" id="{9F63999A-60F9-0D46-50DF-1D1B86D0982B}"/>
                    </a:ext>
                  </a:extLst>
                </p:cNvPr>
                <p:cNvSpPr txBox="1"/>
                <p:nvPr/>
              </p:nvSpPr>
              <p:spPr>
                <a:xfrm>
                  <a:off x="2071307" y="2772000"/>
                  <a:ext cx="483594" cy="9233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kumimoji="1" lang="en-US" altLang="zh-CN" b="0" i="1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  <a:p>
                  <a:endParaRPr kumimoji="1" lang="en-US" altLang="zh-CN" b="0" i="1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kumimoji="1" lang="en-US" altLang="zh-CN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26" name="文本框 125">
                  <a:extLst>
                    <a:ext uri="{FF2B5EF4-FFF2-40B4-BE49-F238E27FC236}">
                      <a16:creationId xmlns:a16="http://schemas.microsoft.com/office/drawing/2014/main" id="{9F63999A-60F9-0D46-50DF-1D1B86D098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71307" y="2772000"/>
                  <a:ext cx="483594" cy="92333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文本框 126">
                  <a:extLst>
                    <a:ext uri="{FF2B5EF4-FFF2-40B4-BE49-F238E27FC236}">
                      <a16:creationId xmlns:a16="http://schemas.microsoft.com/office/drawing/2014/main" id="{1EEBD685-0FD2-B080-9912-F472EAF38A2E}"/>
                    </a:ext>
                  </a:extLst>
                </p:cNvPr>
                <p:cNvSpPr txBox="1"/>
                <p:nvPr/>
              </p:nvSpPr>
              <p:spPr>
                <a:xfrm>
                  <a:off x="1080000" y="2395752"/>
                  <a:ext cx="504917" cy="3600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127" name="文本框 126">
                  <a:extLst>
                    <a:ext uri="{FF2B5EF4-FFF2-40B4-BE49-F238E27FC236}">
                      <a16:creationId xmlns:a16="http://schemas.microsoft.com/office/drawing/2014/main" id="{1EEBD685-0FD2-B080-9912-F472EAF38A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0000" y="2395752"/>
                  <a:ext cx="504917" cy="360000"/>
                </a:xfrm>
                <a:prstGeom prst="rect">
                  <a:avLst/>
                </a:prstGeom>
                <a:blipFill>
                  <a:blip r:embed="rId15"/>
                  <a:stretch>
                    <a:fillRect b="-169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324C40FD-5A46-9C65-735B-920695C4064A}"/>
                    </a:ext>
                  </a:extLst>
                </p:cNvPr>
                <p:cNvSpPr txBox="1"/>
                <p:nvPr/>
              </p:nvSpPr>
              <p:spPr>
                <a:xfrm>
                  <a:off x="828000" y="2772000"/>
                  <a:ext cx="471026" cy="9233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kumimoji="1" lang="en-US" altLang="zh-CN" b="0" i="1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b="0" i="1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kumimoji="1" lang="en-US" altLang="zh-CN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324C40FD-5A46-9C65-735B-920695C406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8000" y="2772000"/>
                  <a:ext cx="471026" cy="92333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9" name="流程图: 决策 128">
              <a:extLst>
                <a:ext uri="{FF2B5EF4-FFF2-40B4-BE49-F238E27FC236}">
                  <a16:creationId xmlns:a16="http://schemas.microsoft.com/office/drawing/2014/main" id="{C1144002-7970-4BD5-3FFE-ABD44A13A9F2}"/>
                </a:ext>
              </a:extLst>
            </p:cNvPr>
            <p:cNvSpPr/>
            <p:nvPr/>
          </p:nvSpPr>
          <p:spPr>
            <a:xfrm>
              <a:off x="2290168" y="3034800"/>
              <a:ext cx="360000" cy="360000"/>
            </a:xfrm>
            <a:prstGeom prst="flowChartDecision">
              <a:avLst/>
            </a:prstGeom>
            <a:solidFill>
              <a:schemeClr val="bg1"/>
            </a:solidFill>
            <a:ln w="254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文本框 129">
                  <a:extLst>
                    <a:ext uri="{FF2B5EF4-FFF2-40B4-BE49-F238E27FC236}">
                      <a16:creationId xmlns:a16="http://schemas.microsoft.com/office/drawing/2014/main" id="{C9D67FF7-6A38-5A69-9E97-D7B6AB60BCBE}"/>
                    </a:ext>
                  </a:extLst>
                </p:cNvPr>
                <p:cNvSpPr txBox="1"/>
                <p:nvPr/>
              </p:nvSpPr>
              <p:spPr>
                <a:xfrm>
                  <a:off x="2484000" y="3155441"/>
                  <a:ext cx="5370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sSub>
                          <m:sSubPr>
                            <m:ctrlPr>
                              <a:rPr kumimoji="1" lang="en-US" altLang="zh-CN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0" name="文本框 129">
                  <a:extLst>
                    <a:ext uri="{FF2B5EF4-FFF2-40B4-BE49-F238E27FC236}">
                      <a16:creationId xmlns:a16="http://schemas.microsoft.com/office/drawing/2014/main" id="{C9D67FF7-6A38-5A69-9E97-D7B6AB60BC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84000" y="3155441"/>
                  <a:ext cx="537006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1" name="直线连接符 5">
              <a:extLst>
                <a:ext uri="{FF2B5EF4-FFF2-40B4-BE49-F238E27FC236}">
                  <a16:creationId xmlns:a16="http://schemas.microsoft.com/office/drawing/2014/main" id="{85FEFD3F-0C3B-36E6-4656-60AF264DCD98}"/>
                </a:ext>
              </a:extLst>
            </p:cNvPr>
            <p:cNvCxnSpPr>
              <a:cxnSpLocks/>
              <a:stCxn id="132" idx="6"/>
              <a:endCxn id="133" idx="2"/>
            </p:cNvCxnSpPr>
            <p:nvPr/>
          </p:nvCxnSpPr>
          <p:spPr>
            <a:xfrm>
              <a:off x="1210168" y="2765084"/>
              <a:ext cx="589832" cy="0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椭圆 131">
              <a:extLst>
                <a:ext uri="{FF2B5EF4-FFF2-40B4-BE49-F238E27FC236}">
                  <a16:creationId xmlns:a16="http://schemas.microsoft.com/office/drawing/2014/main" id="{2F42858E-42BF-51E6-D236-106460DFD304}"/>
                </a:ext>
              </a:extLst>
            </p:cNvPr>
            <p:cNvSpPr/>
            <p:nvPr/>
          </p:nvSpPr>
          <p:spPr>
            <a:xfrm>
              <a:off x="1080000" y="2700000"/>
              <a:ext cx="130168" cy="1301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3" name="椭圆 132">
              <a:extLst>
                <a:ext uri="{FF2B5EF4-FFF2-40B4-BE49-F238E27FC236}">
                  <a16:creationId xmlns:a16="http://schemas.microsoft.com/office/drawing/2014/main" id="{167F9B23-2B55-97A2-51CC-A01678E1AF2A}"/>
                </a:ext>
              </a:extLst>
            </p:cNvPr>
            <p:cNvSpPr/>
            <p:nvPr/>
          </p:nvSpPr>
          <p:spPr>
            <a:xfrm>
              <a:off x="1800000" y="2700000"/>
              <a:ext cx="130168" cy="1301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4" name="文本框 133">
              <a:extLst>
                <a:ext uri="{FF2B5EF4-FFF2-40B4-BE49-F238E27FC236}">
                  <a16:creationId xmlns:a16="http://schemas.microsoft.com/office/drawing/2014/main" id="{A8445BCA-07E0-0594-11C9-6DCAD42EEBB3}"/>
                </a:ext>
              </a:extLst>
            </p:cNvPr>
            <p:cNvSpPr txBox="1"/>
            <p:nvPr/>
          </p:nvSpPr>
          <p:spPr>
            <a:xfrm>
              <a:off x="1080000" y="3960000"/>
              <a:ext cx="245283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流控电压源</a:t>
              </a:r>
              <a:endParaRPr kumimoji="1"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35" name="矩形 134">
              <a:extLst>
                <a:ext uri="{FF2B5EF4-FFF2-40B4-BE49-F238E27FC236}">
                  <a16:creationId xmlns:a16="http://schemas.microsoft.com/office/drawing/2014/main" id="{FBD9C8F0-9D57-3037-1F91-37421CBC4517}"/>
                </a:ext>
              </a:extLst>
            </p:cNvPr>
            <p:cNvSpPr/>
            <p:nvPr/>
          </p:nvSpPr>
          <p:spPr>
            <a:xfrm>
              <a:off x="1644709" y="2629362"/>
              <a:ext cx="1330711" cy="117225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FEDBF76D-A217-C151-3DB2-86286365C9E6}"/>
                </a:ext>
              </a:extLst>
            </p:cNvPr>
            <p:cNvCxnSpPr/>
            <p:nvPr/>
          </p:nvCxnSpPr>
          <p:spPr>
            <a:xfrm>
              <a:off x="1221892" y="2765084"/>
              <a:ext cx="360000" cy="0"/>
            </a:xfrm>
            <a:prstGeom prst="line">
              <a:avLst/>
            </a:prstGeom>
            <a:ln w="25400">
              <a:solidFill>
                <a:schemeClr val="accent5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线连接符 5">
              <a:extLst>
                <a:ext uri="{FF2B5EF4-FFF2-40B4-BE49-F238E27FC236}">
                  <a16:creationId xmlns:a16="http://schemas.microsoft.com/office/drawing/2014/main" id="{80AA47EE-D164-BA5D-E51D-B7C2D3F2431F}"/>
                </a:ext>
              </a:extLst>
            </p:cNvPr>
            <p:cNvCxnSpPr>
              <a:cxnSpLocks/>
              <a:stCxn id="138" idx="6"/>
              <a:endCxn id="139" idx="2"/>
            </p:cNvCxnSpPr>
            <p:nvPr/>
          </p:nvCxnSpPr>
          <p:spPr>
            <a:xfrm>
              <a:off x="1210168" y="3665084"/>
              <a:ext cx="589832" cy="0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椭圆 137">
              <a:extLst>
                <a:ext uri="{FF2B5EF4-FFF2-40B4-BE49-F238E27FC236}">
                  <a16:creationId xmlns:a16="http://schemas.microsoft.com/office/drawing/2014/main" id="{B4D0008A-E946-A428-A051-5D0316B2A55D}"/>
                </a:ext>
              </a:extLst>
            </p:cNvPr>
            <p:cNvSpPr/>
            <p:nvPr/>
          </p:nvSpPr>
          <p:spPr>
            <a:xfrm>
              <a:off x="1080000" y="3600000"/>
              <a:ext cx="130168" cy="1301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9" name="椭圆 138">
              <a:extLst>
                <a:ext uri="{FF2B5EF4-FFF2-40B4-BE49-F238E27FC236}">
                  <a16:creationId xmlns:a16="http://schemas.microsoft.com/office/drawing/2014/main" id="{C1834A8E-DF3E-F48F-76A8-51E9C1834B33}"/>
                </a:ext>
              </a:extLst>
            </p:cNvPr>
            <p:cNvSpPr/>
            <p:nvPr/>
          </p:nvSpPr>
          <p:spPr>
            <a:xfrm>
              <a:off x="1800000" y="3600000"/>
              <a:ext cx="130168" cy="1301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140" name="直线连接符 5">
              <a:extLst>
                <a:ext uri="{FF2B5EF4-FFF2-40B4-BE49-F238E27FC236}">
                  <a16:creationId xmlns:a16="http://schemas.microsoft.com/office/drawing/2014/main" id="{197C8771-DE2B-14A4-277D-B40BA3758E29}"/>
                </a:ext>
              </a:extLst>
            </p:cNvPr>
            <p:cNvCxnSpPr>
              <a:cxnSpLocks/>
              <a:endCxn id="141" idx="2"/>
            </p:cNvCxnSpPr>
            <p:nvPr/>
          </p:nvCxnSpPr>
          <p:spPr>
            <a:xfrm>
              <a:off x="2470168" y="2765084"/>
              <a:ext cx="9325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椭圆 140">
              <a:extLst>
                <a:ext uri="{FF2B5EF4-FFF2-40B4-BE49-F238E27FC236}">
                  <a16:creationId xmlns:a16="http://schemas.microsoft.com/office/drawing/2014/main" id="{C2C6F7C2-1536-DF25-96FA-CC18B8EF9FA4}"/>
                </a:ext>
              </a:extLst>
            </p:cNvPr>
            <p:cNvSpPr/>
            <p:nvPr/>
          </p:nvSpPr>
          <p:spPr>
            <a:xfrm>
              <a:off x="3402668" y="2700000"/>
              <a:ext cx="130168" cy="1301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142" name="直线连接符 5">
              <a:extLst>
                <a:ext uri="{FF2B5EF4-FFF2-40B4-BE49-F238E27FC236}">
                  <a16:creationId xmlns:a16="http://schemas.microsoft.com/office/drawing/2014/main" id="{DAD022DF-74B1-DEE8-5CD7-AD5F256D2CC5}"/>
                </a:ext>
              </a:extLst>
            </p:cNvPr>
            <p:cNvCxnSpPr>
              <a:cxnSpLocks/>
              <a:endCxn id="143" idx="2"/>
            </p:cNvCxnSpPr>
            <p:nvPr/>
          </p:nvCxnSpPr>
          <p:spPr>
            <a:xfrm>
              <a:off x="2470168" y="3665084"/>
              <a:ext cx="9325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3" name="椭圆 142">
              <a:extLst>
                <a:ext uri="{FF2B5EF4-FFF2-40B4-BE49-F238E27FC236}">
                  <a16:creationId xmlns:a16="http://schemas.microsoft.com/office/drawing/2014/main" id="{E2EC52B0-714D-87C0-0B11-7FB5D0375F8F}"/>
                </a:ext>
              </a:extLst>
            </p:cNvPr>
            <p:cNvSpPr/>
            <p:nvPr/>
          </p:nvSpPr>
          <p:spPr>
            <a:xfrm>
              <a:off x="3402668" y="3600000"/>
              <a:ext cx="130168" cy="1301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144" name="直线连接符 5">
              <a:extLst>
                <a:ext uri="{FF2B5EF4-FFF2-40B4-BE49-F238E27FC236}">
                  <a16:creationId xmlns:a16="http://schemas.microsoft.com/office/drawing/2014/main" id="{B6A26B85-B325-4C92-128C-68F4C83069A2}"/>
                </a:ext>
              </a:extLst>
            </p:cNvPr>
            <p:cNvCxnSpPr>
              <a:cxnSpLocks/>
            </p:cNvCxnSpPr>
            <p:nvPr/>
          </p:nvCxnSpPr>
          <p:spPr>
            <a:xfrm>
              <a:off x="2470168" y="2765084"/>
              <a:ext cx="0" cy="900000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线连接符 5">
              <a:extLst>
                <a:ext uri="{FF2B5EF4-FFF2-40B4-BE49-F238E27FC236}">
                  <a16:creationId xmlns:a16="http://schemas.microsoft.com/office/drawing/2014/main" id="{073B8677-7FAF-7339-1661-9FFDA691B8BF}"/>
                </a:ext>
              </a:extLst>
            </p:cNvPr>
            <p:cNvCxnSpPr>
              <a:cxnSpLocks/>
              <a:stCxn id="129" idx="0"/>
              <a:endCxn id="129" idx="2"/>
            </p:cNvCxnSpPr>
            <p:nvPr/>
          </p:nvCxnSpPr>
          <p:spPr>
            <a:xfrm>
              <a:off x="2470168" y="3034800"/>
              <a:ext cx="0" cy="360000"/>
            </a:xfrm>
            <a:prstGeom prst="line">
              <a:avLst/>
            </a:prstGeom>
            <a:ln w="25400">
              <a:solidFill>
                <a:schemeClr val="accent5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513BB093-5B9E-21D2-3409-27FF0F0219EF}"/>
                    </a:ext>
                  </a:extLst>
                </p:cNvPr>
                <p:cNvSpPr txBox="1"/>
                <p:nvPr/>
              </p:nvSpPr>
              <p:spPr>
                <a:xfrm>
                  <a:off x="3366668" y="2773505"/>
                  <a:ext cx="476349" cy="9233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kumimoji="1" lang="en-US" altLang="zh-CN" b="0" i="1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b="0" i="1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kumimoji="1" lang="en-US" altLang="zh-CN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513BB093-5B9E-21D2-3409-27FF0F0219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6668" y="2773505"/>
                  <a:ext cx="476349" cy="92333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7" name="直接连接符 146">
              <a:extLst>
                <a:ext uri="{FF2B5EF4-FFF2-40B4-BE49-F238E27FC236}">
                  <a16:creationId xmlns:a16="http://schemas.microsoft.com/office/drawing/2014/main" id="{6EEFAAD4-CA15-2882-3880-00B0680DE3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30176" y="2765084"/>
              <a:ext cx="360000" cy="0"/>
            </a:xfrm>
            <a:prstGeom prst="line">
              <a:avLst/>
            </a:prstGeom>
            <a:ln w="25400">
              <a:solidFill>
                <a:schemeClr val="accent5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8" name="组合 147">
            <a:extLst>
              <a:ext uri="{FF2B5EF4-FFF2-40B4-BE49-F238E27FC236}">
                <a16:creationId xmlns:a16="http://schemas.microsoft.com/office/drawing/2014/main" id="{5875AA4B-A2C4-DB6D-A6C4-55A25ED0D4E7}"/>
              </a:ext>
            </a:extLst>
          </p:cNvPr>
          <p:cNvGrpSpPr/>
          <p:nvPr/>
        </p:nvGrpSpPr>
        <p:grpSpPr>
          <a:xfrm>
            <a:off x="8784000" y="4320000"/>
            <a:ext cx="3015017" cy="2025913"/>
            <a:chOff x="3257983" y="4387080"/>
            <a:chExt cx="3015017" cy="20259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9" name="文本框 148">
                  <a:extLst>
                    <a:ext uri="{FF2B5EF4-FFF2-40B4-BE49-F238E27FC236}">
                      <a16:creationId xmlns:a16="http://schemas.microsoft.com/office/drawing/2014/main" id="{159EEF37-A4F9-3275-1E08-846BDCA84041}"/>
                    </a:ext>
                  </a:extLst>
                </p:cNvPr>
                <p:cNvSpPr txBox="1"/>
                <p:nvPr/>
              </p:nvSpPr>
              <p:spPr>
                <a:xfrm>
                  <a:off x="5464783" y="4388928"/>
                  <a:ext cx="50491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149" name="文本框 148">
                  <a:extLst>
                    <a:ext uri="{FF2B5EF4-FFF2-40B4-BE49-F238E27FC236}">
                      <a16:creationId xmlns:a16="http://schemas.microsoft.com/office/drawing/2014/main" id="{159EEF37-A4F9-3275-1E08-846BDCA840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4783" y="4388928"/>
                  <a:ext cx="504917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文本框 149">
                  <a:extLst>
                    <a:ext uri="{FF2B5EF4-FFF2-40B4-BE49-F238E27FC236}">
                      <a16:creationId xmlns:a16="http://schemas.microsoft.com/office/drawing/2014/main" id="{757D559E-4D42-FD5D-13AD-65B656C0674C}"/>
                    </a:ext>
                  </a:extLst>
                </p:cNvPr>
                <p:cNvSpPr txBox="1"/>
                <p:nvPr/>
              </p:nvSpPr>
              <p:spPr>
                <a:xfrm>
                  <a:off x="3509983" y="4387080"/>
                  <a:ext cx="504917" cy="3600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150" name="文本框 149">
                  <a:extLst>
                    <a:ext uri="{FF2B5EF4-FFF2-40B4-BE49-F238E27FC236}">
                      <a16:creationId xmlns:a16="http://schemas.microsoft.com/office/drawing/2014/main" id="{757D559E-4D42-FD5D-13AD-65B656C067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09983" y="4387080"/>
                  <a:ext cx="504917" cy="36000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文本框 150">
                  <a:extLst>
                    <a:ext uri="{FF2B5EF4-FFF2-40B4-BE49-F238E27FC236}">
                      <a16:creationId xmlns:a16="http://schemas.microsoft.com/office/drawing/2014/main" id="{4BF62AD1-0C5D-AD61-168E-F8301078EE9D}"/>
                    </a:ext>
                  </a:extLst>
                </p:cNvPr>
                <p:cNvSpPr txBox="1"/>
                <p:nvPr/>
              </p:nvSpPr>
              <p:spPr>
                <a:xfrm>
                  <a:off x="3257983" y="4763328"/>
                  <a:ext cx="471026" cy="9233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kumimoji="1" lang="en-US" altLang="zh-CN" b="0" i="1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b="0" i="1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kumimoji="1" lang="en-US" altLang="zh-CN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1" name="文本框 150">
                  <a:extLst>
                    <a:ext uri="{FF2B5EF4-FFF2-40B4-BE49-F238E27FC236}">
                      <a16:creationId xmlns:a16="http://schemas.microsoft.com/office/drawing/2014/main" id="{4BF62AD1-0C5D-AD61-168E-F8301078EE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57983" y="4763328"/>
                  <a:ext cx="471026" cy="92333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93F41BA0-4045-BCAC-1A42-A73EC4F693E8}"/>
                    </a:ext>
                  </a:extLst>
                </p:cNvPr>
                <p:cNvSpPr txBox="1"/>
                <p:nvPr/>
              </p:nvSpPr>
              <p:spPr>
                <a:xfrm>
                  <a:off x="4913983" y="5146769"/>
                  <a:ext cx="56797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zh-CN" altLang="en-US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  <m:sSub>
                          <m:sSubPr>
                            <m:ctrlPr>
                              <a:rPr kumimoji="1" lang="en-US" altLang="zh-CN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93F41BA0-4045-BCAC-1A42-A73EC4F693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3983" y="5146769"/>
                  <a:ext cx="567976" cy="369332"/>
                </a:xfrm>
                <a:prstGeom prst="rect">
                  <a:avLst/>
                </a:prstGeom>
                <a:blipFill>
                  <a:blip r:embed="rId22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3" name="直线连接符 5">
              <a:extLst>
                <a:ext uri="{FF2B5EF4-FFF2-40B4-BE49-F238E27FC236}">
                  <a16:creationId xmlns:a16="http://schemas.microsoft.com/office/drawing/2014/main" id="{5E2EA5C6-CADD-FC65-41CD-6C48EFAD8ADB}"/>
                </a:ext>
              </a:extLst>
            </p:cNvPr>
            <p:cNvCxnSpPr>
              <a:cxnSpLocks/>
              <a:stCxn id="154" idx="6"/>
              <a:endCxn id="155" idx="2"/>
            </p:cNvCxnSpPr>
            <p:nvPr/>
          </p:nvCxnSpPr>
          <p:spPr>
            <a:xfrm>
              <a:off x="3640151" y="4756412"/>
              <a:ext cx="589832" cy="0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椭圆 153">
              <a:extLst>
                <a:ext uri="{FF2B5EF4-FFF2-40B4-BE49-F238E27FC236}">
                  <a16:creationId xmlns:a16="http://schemas.microsoft.com/office/drawing/2014/main" id="{511DC040-636C-32A3-3AEB-FBECDFD3E146}"/>
                </a:ext>
              </a:extLst>
            </p:cNvPr>
            <p:cNvSpPr/>
            <p:nvPr/>
          </p:nvSpPr>
          <p:spPr>
            <a:xfrm>
              <a:off x="3509983" y="4691328"/>
              <a:ext cx="130168" cy="1301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5" name="椭圆 154">
              <a:extLst>
                <a:ext uri="{FF2B5EF4-FFF2-40B4-BE49-F238E27FC236}">
                  <a16:creationId xmlns:a16="http://schemas.microsoft.com/office/drawing/2014/main" id="{25970635-08A5-F841-2264-579D1CA78FF1}"/>
                </a:ext>
              </a:extLst>
            </p:cNvPr>
            <p:cNvSpPr/>
            <p:nvPr/>
          </p:nvSpPr>
          <p:spPr>
            <a:xfrm>
              <a:off x="4229983" y="4691328"/>
              <a:ext cx="130168" cy="1301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6" name="文本框 155">
              <a:extLst>
                <a:ext uri="{FF2B5EF4-FFF2-40B4-BE49-F238E27FC236}">
                  <a16:creationId xmlns:a16="http://schemas.microsoft.com/office/drawing/2014/main" id="{8B0587AA-E738-FCD9-0A4C-4C94D9427979}"/>
                </a:ext>
              </a:extLst>
            </p:cNvPr>
            <p:cNvSpPr txBox="1"/>
            <p:nvPr/>
          </p:nvSpPr>
          <p:spPr>
            <a:xfrm>
              <a:off x="3509983" y="5951328"/>
              <a:ext cx="245283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流控电流源</a:t>
              </a:r>
              <a:endParaRPr kumimoji="1"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57" name="矩形 156">
              <a:extLst>
                <a:ext uri="{FF2B5EF4-FFF2-40B4-BE49-F238E27FC236}">
                  <a16:creationId xmlns:a16="http://schemas.microsoft.com/office/drawing/2014/main" id="{2D90665B-16A2-4025-BF8B-2E1A0F2E4FFF}"/>
                </a:ext>
              </a:extLst>
            </p:cNvPr>
            <p:cNvSpPr/>
            <p:nvPr/>
          </p:nvSpPr>
          <p:spPr>
            <a:xfrm>
              <a:off x="4074692" y="4620690"/>
              <a:ext cx="1330711" cy="117225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cxnSp>
          <p:nvCxnSpPr>
            <p:cNvPr id="158" name="直接连接符 157">
              <a:extLst>
                <a:ext uri="{FF2B5EF4-FFF2-40B4-BE49-F238E27FC236}">
                  <a16:creationId xmlns:a16="http://schemas.microsoft.com/office/drawing/2014/main" id="{D1A7EAA4-BE20-1932-2B07-1F98121F971F}"/>
                </a:ext>
              </a:extLst>
            </p:cNvPr>
            <p:cNvCxnSpPr/>
            <p:nvPr/>
          </p:nvCxnSpPr>
          <p:spPr>
            <a:xfrm>
              <a:off x="3651875" y="4756412"/>
              <a:ext cx="360000" cy="0"/>
            </a:xfrm>
            <a:prstGeom prst="line">
              <a:avLst/>
            </a:prstGeom>
            <a:ln w="25400">
              <a:solidFill>
                <a:schemeClr val="accent5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线连接符 5">
              <a:extLst>
                <a:ext uri="{FF2B5EF4-FFF2-40B4-BE49-F238E27FC236}">
                  <a16:creationId xmlns:a16="http://schemas.microsoft.com/office/drawing/2014/main" id="{9730B59B-103D-9F3B-C942-C843DA758274}"/>
                </a:ext>
              </a:extLst>
            </p:cNvPr>
            <p:cNvCxnSpPr>
              <a:cxnSpLocks/>
              <a:stCxn id="160" idx="6"/>
              <a:endCxn id="161" idx="2"/>
            </p:cNvCxnSpPr>
            <p:nvPr/>
          </p:nvCxnSpPr>
          <p:spPr>
            <a:xfrm>
              <a:off x="3640151" y="5656412"/>
              <a:ext cx="589832" cy="0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椭圆 159">
              <a:extLst>
                <a:ext uri="{FF2B5EF4-FFF2-40B4-BE49-F238E27FC236}">
                  <a16:creationId xmlns:a16="http://schemas.microsoft.com/office/drawing/2014/main" id="{4ADE9930-D76C-377C-5C36-E9B3EBD7460C}"/>
                </a:ext>
              </a:extLst>
            </p:cNvPr>
            <p:cNvSpPr/>
            <p:nvPr/>
          </p:nvSpPr>
          <p:spPr>
            <a:xfrm>
              <a:off x="3509983" y="5591328"/>
              <a:ext cx="130168" cy="1301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1" name="椭圆 160">
              <a:extLst>
                <a:ext uri="{FF2B5EF4-FFF2-40B4-BE49-F238E27FC236}">
                  <a16:creationId xmlns:a16="http://schemas.microsoft.com/office/drawing/2014/main" id="{1DB12D54-F66D-012E-4975-386275073317}"/>
                </a:ext>
              </a:extLst>
            </p:cNvPr>
            <p:cNvSpPr/>
            <p:nvPr/>
          </p:nvSpPr>
          <p:spPr>
            <a:xfrm>
              <a:off x="4229983" y="5591328"/>
              <a:ext cx="130168" cy="1301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162" name="直线连接符 5">
              <a:extLst>
                <a:ext uri="{FF2B5EF4-FFF2-40B4-BE49-F238E27FC236}">
                  <a16:creationId xmlns:a16="http://schemas.microsoft.com/office/drawing/2014/main" id="{B12D8D23-DBBF-1AA4-89B2-898C3288B286}"/>
                </a:ext>
              </a:extLst>
            </p:cNvPr>
            <p:cNvCxnSpPr>
              <a:cxnSpLocks/>
              <a:endCxn id="163" idx="2"/>
            </p:cNvCxnSpPr>
            <p:nvPr/>
          </p:nvCxnSpPr>
          <p:spPr>
            <a:xfrm>
              <a:off x="4900151" y="4756412"/>
              <a:ext cx="9325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椭圆 162">
              <a:extLst>
                <a:ext uri="{FF2B5EF4-FFF2-40B4-BE49-F238E27FC236}">
                  <a16:creationId xmlns:a16="http://schemas.microsoft.com/office/drawing/2014/main" id="{3F46481B-D2C3-D952-BA6D-459E314010AC}"/>
                </a:ext>
              </a:extLst>
            </p:cNvPr>
            <p:cNvSpPr/>
            <p:nvPr/>
          </p:nvSpPr>
          <p:spPr>
            <a:xfrm>
              <a:off x="5832651" y="4691328"/>
              <a:ext cx="130168" cy="1301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164" name="直线连接符 5">
              <a:extLst>
                <a:ext uri="{FF2B5EF4-FFF2-40B4-BE49-F238E27FC236}">
                  <a16:creationId xmlns:a16="http://schemas.microsoft.com/office/drawing/2014/main" id="{4E3692F7-33B1-651B-E1EE-D9D15F0E7EAD}"/>
                </a:ext>
              </a:extLst>
            </p:cNvPr>
            <p:cNvCxnSpPr>
              <a:cxnSpLocks/>
              <a:endCxn id="165" idx="2"/>
            </p:cNvCxnSpPr>
            <p:nvPr/>
          </p:nvCxnSpPr>
          <p:spPr>
            <a:xfrm>
              <a:off x="4900151" y="5656412"/>
              <a:ext cx="9325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5" name="椭圆 164">
              <a:extLst>
                <a:ext uri="{FF2B5EF4-FFF2-40B4-BE49-F238E27FC236}">
                  <a16:creationId xmlns:a16="http://schemas.microsoft.com/office/drawing/2014/main" id="{0B1CDDC9-5B75-D2ED-01FD-C0B48D646941}"/>
                </a:ext>
              </a:extLst>
            </p:cNvPr>
            <p:cNvSpPr/>
            <p:nvPr/>
          </p:nvSpPr>
          <p:spPr>
            <a:xfrm>
              <a:off x="5832651" y="5591328"/>
              <a:ext cx="130168" cy="1301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166" name="直线连接符 5">
              <a:extLst>
                <a:ext uri="{FF2B5EF4-FFF2-40B4-BE49-F238E27FC236}">
                  <a16:creationId xmlns:a16="http://schemas.microsoft.com/office/drawing/2014/main" id="{B1084D1C-593A-5401-DD3E-ADEA6CEF232D}"/>
                </a:ext>
              </a:extLst>
            </p:cNvPr>
            <p:cNvCxnSpPr>
              <a:cxnSpLocks/>
            </p:cNvCxnSpPr>
            <p:nvPr/>
          </p:nvCxnSpPr>
          <p:spPr>
            <a:xfrm>
              <a:off x="4900151" y="4756412"/>
              <a:ext cx="0" cy="900000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7" name="文本框 166">
                  <a:extLst>
                    <a:ext uri="{FF2B5EF4-FFF2-40B4-BE49-F238E27FC236}">
                      <a16:creationId xmlns:a16="http://schemas.microsoft.com/office/drawing/2014/main" id="{CB94C69C-DC4D-5825-FBAC-DBE52BFE1A8B}"/>
                    </a:ext>
                  </a:extLst>
                </p:cNvPr>
                <p:cNvSpPr txBox="1"/>
                <p:nvPr/>
              </p:nvSpPr>
              <p:spPr>
                <a:xfrm>
                  <a:off x="5796651" y="4764833"/>
                  <a:ext cx="476349" cy="9233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kumimoji="1" lang="en-US" altLang="zh-CN" b="0" i="1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b="0" i="1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kumimoji="1" lang="en-US" altLang="zh-CN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67" name="文本框 166">
                  <a:extLst>
                    <a:ext uri="{FF2B5EF4-FFF2-40B4-BE49-F238E27FC236}">
                      <a16:creationId xmlns:a16="http://schemas.microsoft.com/office/drawing/2014/main" id="{CB94C69C-DC4D-5825-FBAC-DBE52BFE1A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96651" y="4764833"/>
                  <a:ext cx="476349" cy="923330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8" name="直接连接符 167">
              <a:extLst>
                <a:ext uri="{FF2B5EF4-FFF2-40B4-BE49-F238E27FC236}">
                  <a16:creationId xmlns:a16="http://schemas.microsoft.com/office/drawing/2014/main" id="{520C58A4-E72B-64EA-3B3C-64BBDCD5EF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60159" y="4756412"/>
              <a:ext cx="360000" cy="0"/>
            </a:xfrm>
            <a:prstGeom prst="line">
              <a:avLst/>
            </a:prstGeom>
            <a:ln w="25400">
              <a:solidFill>
                <a:schemeClr val="accent5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9" name="流程图: 决策 168">
              <a:extLst>
                <a:ext uri="{FF2B5EF4-FFF2-40B4-BE49-F238E27FC236}">
                  <a16:creationId xmlns:a16="http://schemas.microsoft.com/office/drawing/2014/main" id="{B1F32E22-91BB-7DB6-F5FF-CCA9A48CF3A6}"/>
                </a:ext>
              </a:extLst>
            </p:cNvPr>
            <p:cNvSpPr/>
            <p:nvPr/>
          </p:nvSpPr>
          <p:spPr>
            <a:xfrm>
              <a:off x="4720151" y="5026128"/>
              <a:ext cx="360000" cy="360000"/>
            </a:xfrm>
            <a:prstGeom prst="flowChartDecision">
              <a:avLst/>
            </a:prstGeom>
            <a:solidFill>
              <a:schemeClr val="bg1"/>
            </a:solidFill>
            <a:ln w="254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70" name="直线连接符 5">
              <a:extLst>
                <a:ext uri="{FF2B5EF4-FFF2-40B4-BE49-F238E27FC236}">
                  <a16:creationId xmlns:a16="http://schemas.microsoft.com/office/drawing/2014/main" id="{0137B1E9-8FBC-0DE1-32AE-428F2F81667D}"/>
                </a:ext>
              </a:extLst>
            </p:cNvPr>
            <p:cNvCxnSpPr>
              <a:cxnSpLocks/>
              <a:stCxn id="169" idx="1"/>
            </p:cNvCxnSpPr>
            <p:nvPr/>
          </p:nvCxnSpPr>
          <p:spPr>
            <a:xfrm>
              <a:off x="4720151" y="5206128"/>
              <a:ext cx="360000" cy="0"/>
            </a:xfrm>
            <a:prstGeom prst="line">
              <a:avLst/>
            </a:prstGeom>
            <a:ln w="25400">
              <a:solidFill>
                <a:schemeClr val="accent5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直接连接符 170">
              <a:extLst>
                <a:ext uri="{FF2B5EF4-FFF2-40B4-BE49-F238E27FC236}">
                  <a16:creationId xmlns:a16="http://schemas.microsoft.com/office/drawing/2014/main" id="{09717CF2-9064-A795-1676-998392043CE7}"/>
                </a:ext>
              </a:extLst>
            </p:cNvPr>
            <p:cNvCxnSpPr>
              <a:cxnSpLocks/>
            </p:cNvCxnSpPr>
            <p:nvPr/>
          </p:nvCxnSpPr>
          <p:spPr>
            <a:xfrm>
              <a:off x="4900151" y="5382490"/>
              <a:ext cx="0" cy="273922"/>
            </a:xfrm>
            <a:prstGeom prst="line">
              <a:avLst/>
            </a:prstGeom>
            <a:ln w="25400">
              <a:solidFill>
                <a:schemeClr val="accent5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767659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61D16F-02B8-55C2-AE31-767B79A18B3B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电路分析的相关定律和定理</a:t>
            </a:r>
            <a:endParaRPr lang="en-US" altLang="zh-CN" sz="30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C4B9D64-266F-AEC9-1105-20784FFA0A4B}"/>
              </a:ext>
            </a:extLst>
          </p:cNvPr>
          <p:cNvSpPr txBox="1"/>
          <p:nvPr/>
        </p:nvSpPr>
        <p:spPr>
          <a:xfrm>
            <a:off x="359999" y="828000"/>
            <a:ext cx="11679601" cy="4954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电路分析的相关定律和定理：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基尔霍夫定律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描述电路网络中电流关系和电压关系的基本定律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基于电荷守恒和能量守恒基本法则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包括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基尔霍夫电流定律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基尔霍夫电压定律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叠加定理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用于分析线性电路（指完全由线性元件、独立源或线性受控源构成的电路）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戴维南定理和诺顿定理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用于求解等效电路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90B3C73D-E048-D344-ED39-EC3B824A6834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6924A1E4-03AE-DF57-BB47-5B537EE21FCA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7" name="箭头: 五边形 6">
                <a:extLst>
                  <a:ext uri="{FF2B5EF4-FFF2-40B4-BE49-F238E27FC236}">
                    <a16:creationId xmlns:a16="http://schemas.microsoft.com/office/drawing/2014/main" id="{BC0B5CC3-D4A4-D4C5-5A04-04212E71F609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" name="箭头: V 形 7">
                <a:extLst>
                  <a:ext uri="{FF2B5EF4-FFF2-40B4-BE49-F238E27FC236}">
                    <a16:creationId xmlns:a16="http://schemas.microsoft.com/office/drawing/2014/main" id="{238FF777-C0F6-4798-4AAF-3D4B7CB8466F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" name="灯片编号占位符 3">
              <a:extLst>
                <a:ext uri="{FF2B5EF4-FFF2-40B4-BE49-F238E27FC236}">
                  <a16:creationId xmlns:a16="http://schemas.microsoft.com/office/drawing/2014/main" id="{84CA2C5F-8962-B126-B913-02A03B1B392A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14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600036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1076D-0B4F-096A-227A-0FBD12277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976376-2906-253A-4C22-F35F6FF72C59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电路分析的相关定律和定理</a:t>
            </a:r>
            <a:endParaRPr lang="en-US" altLang="zh-CN" sz="3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F32EE80-92C0-1DBB-F099-5509D71A8243}"/>
                  </a:ext>
                </a:extLst>
              </p:cNvPr>
              <p:cNvSpPr txBox="1"/>
              <p:nvPr/>
            </p:nvSpPr>
            <p:spPr>
              <a:xfrm>
                <a:off x="360000" y="828000"/>
                <a:ext cx="11306443" cy="16766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基尔霍夫电流定律（</a:t>
                </a:r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Kirchhoff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′</m:t>
                    </m:r>
                  </m:oMath>
                </a14:m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Current Laws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KCL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）：</a:t>
                </a:r>
                <a:endParaRPr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在集总电路中，对任一节点，在任何时刻，流出（或流进）该节点的所有支路电流的代数和为 </a:t>
                </a:r>
                <a:r>
                  <a:rPr lang="en-US" altLang="zh-CN" sz="28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F32EE80-92C0-1DBB-F099-5509D71A82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8000"/>
                <a:ext cx="11306443" cy="1676677"/>
              </a:xfrm>
              <a:prstGeom prst="rect">
                <a:avLst/>
              </a:prstGeom>
              <a:blipFill>
                <a:blip r:embed="rId3"/>
                <a:stretch>
                  <a:fillRect l="-970" t="-1455" b="-94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:a16="http://schemas.microsoft.com/office/drawing/2014/main" id="{7D2005E9-3761-FCBC-6D11-BD5EBC7F67B6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A15EF4D6-319D-03AD-DFD1-CAD0C2BFB470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7" name="箭头: 五边形 6">
                <a:extLst>
                  <a:ext uri="{FF2B5EF4-FFF2-40B4-BE49-F238E27FC236}">
                    <a16:creationId xmlns:a16="http://schemas.microsoft.com/office/drawing/2014/main" id="{38D501B4-7EC0-D672-732C-FE0FE9FE19E0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" name="箭头: V 形 7">
                <a:extLst>
                  <a:ext uri="{FF2B5EF4-FFF2-40B4-BE49-F238E27FC236}">
                    <a16:creationId xmlns:a16="http://schemas.microsoft.com/office/drawing/2014/main" id="{5CF3039D-41C7-97F0-38C7-375C7C4DA827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" name="灯片编号占位符 3">
              <a:extLst>
                <a:ext uri="{FF2B5EF4-FFF2-40B4-BE49-F238E27FC236}">
                  <a16:creationId xmlns:a16="http://schemas.microsoft.com/office/drawing/2014/main" id="{C890A939-8C90-C320-553B-D91D6E7215C8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15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0546CCAE-BF9E-A662-DCB4-F61465A7E445}"/>
              </a:ext>
            </a:extLst>
          </p:cNvPr>
          <p:cNvGrpSpPr/>
          <p:nvPr/>
        </p:nvGrpSpPr>
        <p:grpSpPr>
          <a:xfrm>
            <a:off x="6480000" y="2520000"/>
            <a:ext cx="5220000" cy="4000110"/>
            <a:chOff x="6840000" y="2160000"/>
            <a:chExt cx="5220000" cy="4000110"/>
          </a:xfrm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B43A9B6C-F1CC-191D-557D-9E284B36BAB7}"/>
                </a:ext>
              </a:extLst>
            </p:cNvPr>
            <p:cNvSpPr/>
            <p:nvPr/>
          </p:nvSpPr>
          <p:spPr>
            <a:xfrm>
              <a:off x="7308000" y="3996000"/>
              <a:ext cx="576000" cy="576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B61CC7D7-8ABE-96AD-F2E3-5100E04C7869}"/>
                </a:ext>
              </a:extLst>
            </p:cNvPr>
            <p:cNvSpPr/>
            <p:nvPr/>
          </p:nvSpPr>
          <p:spPr>
            <a:xfrm>
              <a:off x="7595617" y="2844000"/>
              <a:ext cx="3600000" cy="2880000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2F5B8B45-09E5-8AC8-06F7-F60271A8771B}"/>
                    </a:ext>
                  </a:extLst>
                </p:cNvPr>
                <p:cNvSpPr txBox="1"/>
                <p:nvPr/>
              </p:nvSpPr>
              <p:spPr>
                <a:xfrm>
                  <a:off x="6840000" y="3672000"/>
                  <a:ext cx="504000" cy="122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lang="en-US" altLang="zh-CN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s</m:t>
                            </m:r>
                          </m:sub>
                        </m:sSub>
                      </m:oMath>
                    </m:oMathPara>
                  </a14:m>
                  <a:endParaRPr lang="en-US" altLang="zh-CN" sz="2400" i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2F5B8B45-09E5-8AC8-06F7-F60271A877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40000" y="3672000"/>
                  <a:ext cx="504000" cy="12240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A6E3D3BE-0B60-EADD-CF13-A17ACD2EC5AD}"/>
                </a:ext>
              </a:extLst>
            </p:cNvPr>
            <p:cNvCxnSpPr/>
            <p:nvPr/>
          </p:nvCxnSpPr>
          <p:spPr>
            <a:xfrm>
              <a:off x="9828000" y="3384000"/>
              <a:ext cx="0" cy="576000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EB339F1B-ED2F-140A-26CC-1EF3AE7C4B36}"/>
                    </a:ext>
                  </a:extLst>
                </p:cNvPr>
                <p:cNvSpPr txBox="1"/>
                <p:nvPr/>
              </p:nvSpPr>
              <p:spPr>
                <a:xfrm>
                  <a:off x="9828000" y="3384000"/>
                  <a:ext cx="432000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000" i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EB339F1B-ED2F-140A-26CC-1EF3AE7C4B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28000" y="3384000"/>
                  <a:ext cx="432000" cy="504000"/>
                </a:xfrm>
                <a:prstGeom prst="rect">
                  <a:avLst/>
                </a:prstGeom>
                <a:blipFill>
                  <a:blip r:embed="rId5"/>
                  <a:stretch>
                    <a:fillRect l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093038B5-A613-57C9-C364-09CAB1DF70B1}"/>
                </a:ext>
              </a:extLst>
            </p:cNvPr>
            <p:cNvCxnSpPr>
              <a:cxnSpLocks/>
              <a:stCxn id="13" idx="0"/>
              <a:endCxn id="13" idx="2"/>
            </p:cNvCxnSpPr>
            <p:nvPr/>
          </p:nvCxnSpPr>
          <p:spPr>
            <a:xfrm>
              <a:off x="9395617" y="2844000"/>
              <a:ext cx="0" cy="288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7E7E730A-5138-329A-9A36-8538909963BD}"/>
                </a:ext>
              </a:extLst>
            </p:cNvPr>
            <p:cNvSpPr/>
            <p:nvPr/>
          </p:nvSpPr>
          <p:spPr>
            <a:xfrm>
              <a:off x="9144000" y="3384000"/>
              <a:ext cx="504000" cy="504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FF33D2B3-8C81-99F1-4879-26CA9E695D29}"/>
                </a:ext>
              </a:extLst>
            </p:cNvPr>
            <p:cNvSpPr/>
            <p:nvPr/>
          </p:nvSpPr>
          <p:spPr>
            <a:xfrm>
              <a:off x="9144000" y="4680000"/>
              <a:ext cx="504000" cy="504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38A91E8B-10AC-A947-8399-53B6090890D4}"/>
                </a:ext>
              </a:extLst>
            </p:cNvPr>
            <p:cNvSpPr/>
            <p:nvPr/>
          </p:nvSpPr>
          <p:spPr>
            <a:xfrm>
              <a:off x="10944000" y="3103200"/>
              <a:ext cx="504000" cy="504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3DFA1238-4FD0-5250-CCF6-4A53224208AD}"/>
                </a:ext>
              </a:extLst>
            </p:cNvPr>
            <p:cNvSpPr/>
            <p:nvPr/>
          </p:nvSpPr>
          <p:spPr>
            <a:xfrm>
              <a:off x="10944000" y="4032000"/>
              <a:ext cx="504000" cy="504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B09E0479-688B-502A-DE62-BD11E93BE2DA}"/>
                </a:ext>
              </a:extLst>
            </p:cNvPr>
            <p:cNvSpPr/>
            <p:nvPr/>
          </p:nvSpPr>
          <p:spPr>
            <a:xfrm>
              <a:off x="10944000" y="4964400"/>
              <a:ext cx="504000" cy="504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DDF9EBF4-EC4D-D884-ECA6-06432FB6D650}"/>
                </a:ext>
              </a:extLst>
            </p:cNvPr>
            <p:cNvSpPr/>
            <p:nvPr/>
          </p:nvSpPr>
          <p:spPr>
            <a:xfrm>
              <a:off x="9334800" y="2780929"/>
              <a:ext cx="122400" cy="1224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68ECEBA9-50A8-7B24-23A3-BDCAE50C2927}"/>
                </a:ext>
              </a:extLst>
            </p:cNvPr>
            <p:cNvSpPr/>
            <p:nvPr/>
          </p:nvSpPr>
          <p:spPr>
            <a:xfrm>
              <a:off x="9334800" y="4222800"/>
              <a:ext cx="122400" cy="1224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3CF1CCE1-EEE1-7DC2-F982-2D691A9784D4}"/>
                </a:ext>
              </a:extLst>
            </p:cNvPr>
            <p:cNvSpPr/>
            <p:nvPr/>
          </p:nvSpPr>
          <p:spPr>
            <a:xfrm>
              <a:off x="9334417" y="5662800"/>
              <a:ext cx="122400" cy="1224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CB2C78AF-82C3-3053-1679-5ABFCEF85747}"/>
                </a:ext>
              </a:extLst>
            </p:cNvPr>
            <p:cNvSpPr/>
            <p:nvPr/>
          </p:nvSpPr>
          <p:spPr>
            <a:xfrm>
              <a:off x="11134800" y="4687200"/>
              <a:ext cx="122400" cy="1224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8D2CFE74-BE09-C941-0709-F9C55B963A1B}"/>
                </a:ext>
              </a:extLst>
            </p:cNvPr>
            <p:cNvSpPr/>
            <p:nvPr/>
          </p:nvSpPr>
          <p:spPr>
            <a:xfrm>
              <a:off x="11134034" y="3758400"/>
              <a:ext cx="122400" cy="1224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ED497A30-B8FA-EA11-B326-C808EAE878EA}"/>
                </a:ext>
              </a:extLst>
            </p:cNvPr>
            <p:cNvCxnSpPr/>
            <p:nvPr/>
          </p:nvCxnSpPr>
          <p:spPr>
            <a:xfrm>
              <a:off x="9828000" y="4680000"/>
              <a:ext cx="0" cy="576000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B6DB585F-1358-0009-2605-4C63D1F3B2EF}"/>
                    </a:ext>
                  </a:extLst>
                </p:cNvPr>
                <p:cNvSpPr txBox="1"/>
                <p:nvPr/>
              </p:nvSpPr>
              <p:spPr>
                <a:xfrm>
                  <a:off x="9828000" y="4680000"/>
                  <a:ext cx="432000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2000" i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B6DB585F-1358-0009-2605-4C63D1F3B2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28000" y="4680000"/>
                  <a:ext cx="432000" cy="504000"/>
                </a:xfrm>
                <a:prstGeom prst="rect">
                  <a:avLst/>
                </a:prstGeom>
                <a:blipFill>
                  <a:blip r:embed="rId6"/>
                  <a:stretch>
                    <a:fillRect l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2FCD09A7-2DF2-9A50-F330-31B8EC86B217}"/>
                </a:ext>
              </a:extLst>
            </p:cNvPr>
            <p:cNvCxnSpPr/>
            <p:nvPr/>
          </p:nvCxnSpPr>
          <p:spPr>
            <a:xfrm>
              <a:off x="11628000" y="3103200"/>
              <a:ext cx="0" cy="576000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3F8F172A-262D-AAC7-FB6E-EA28CD20EE20}"/>
                    </a:ext>
                  </a:extLst>
                </p:cNvPr>
                <p:cNvSpPr txBox="1"/>
                <p:nvPr/>
              </p:nvSpPr>
              <p:spPr>
                <a:xfrm>
                  <a:off x="11628000" y="3103200"/>
                  <a:ext cx="432000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sz="2000" i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3F8F172A-262D-AAC7-FB6E-EA28CD20EE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28000" y="3103200"/>
                  <a:ext cx="432000" cy="504000"/>
                </a:xfrm>
                <a:prstGeom prst="rect">
                  <a:avLst/>
                </a:prstGeom>
                <a:blipFill>
                  <a:blip r:embed="rId7"/>
                  <a:stretch>
                    <a:fillRect l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3F50023E-50A3-47F9-C9D0-F9ECA1E239C3}"/>
                </a:ext>
              </a:extLst>
            </p:cNvPr>
            <p:cNvCxnSpPr/>
            <p:nvPr/>
          </p:nvCxnSpPr>
          <p:spPr>
            <a:xfrm>
              <a:off x="11628000" y="4032000"/>
              <a:ext cx="0" cy="576000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DF474B5B-00CD-93DE-4BFE-212E8F410ABD}"/>
                    </a:ext>
                  </a:extLst>
                </p:cNvPr>
                <p:cNvSpPr txBox="1"/>
                <p:nvPr/>
              </p:nvSpPr>
              <p:spPr>
                <a:xfrm>
                  <a:off x="11628000" y="4032000"/>
                  <a:ext cx="432000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altLang="zh-CN" sz="2000" i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DF474B5B-00CD-93DE-4BFE-212E8F410A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28000" y="4032000"/>
                  <a:ext cx="432000" cy="504000"/>
                </a:xfrm>
                <a:prstGeom prst="rect">
                  <a:avLst/>
                </a:prstGeom>
                <a:blipFill>
                  <a:blip r:embed="rId8"/>
                  <a:stretch>
                    <a:fillRect l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594ABC2F-3767-366E-F706-9B3759131FFB}"/>
                </a:ext>
              </a:extLst>
            </p:cNvPr>
            <p:cNvCxnSpPr/>
            <p:nvPr/>
          </p:nvCxnSpPr>
          <p:spPr>
            <a:xfrm>
              <a:off x="11628000" y="4964400"/>
              <a:ext cx="0" cy="576000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1294359F-CBFD-7493-1BC5-6B8CB6814E80}"/>
                    </a:ext>
                  </a:extLst>
                </p:cNvPr>
                <p:cNvSpPr txBox="1"/>
                <p:nvPr/>
              </p:nvSpPr>
              <p:spPr>
                <a:xfrm>
                  <a:off x="11628000" y="4964400"/>
                  <a:ext cx="432000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altLang="zh-CN" sz="2000" i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1294359F-CBFD-7493-1BC5-6B8CB6814E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28000" y="4964400"/>
                  <a:ext cx="432000" cy="504000"/>
                </a:xfrm>
                <a:prstGeom prst="rect">
                  <a:avLst/>
                </a:prstGeom>
                <a:blipFill>
                  <a:blip r:embed="rId9"/>
                  <a:stretch>
                    <a:fillRect l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0DA76BD5-5736-0E62-8D6F-3FD0300CF8E6}"/>
                    </a:ext>
                  </a:extLst>
                </p:cNvPr>
                <p:cNvSpPr txBox="1"/>
                <p:nvPr/>
              </p:nvSpPr>
              <p:spPr>
                <a:xfrm>
                  <a:off x="8676000" y="3240000"/>
                  <a:ext cx="504000" cy="8309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lang="en-US" altLang="zh-CN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000" i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lang="zh-CN" altLang="en-US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0DA76BD5-5736-0E62-8D6F-3FD0300CF8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76000" y="3240000"/>
                  <a:ext cx="504000" cy="83099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F1396F73-C450-91C2-622D-4066078453E0}"/>
                    </a:ext>
                  </a:extLst>
                </p:cNvPr>
                <p:cNvSpPr txBox="1"/>
                <p:nvPr/>
              </p:nvSpPr>
              <p:spPr>
                <a:xfrm>
                  <a:off x="8676000" y="4536000"/>
                  <a:ext cx="504000" cy="8309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lang="en-US" altLang="zh-CN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2000" i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lang="zh-CN" altLang="en-US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F1396F73-C450-91C2-622D-4066078453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76000" y="4536000"/>
                  <a:ext cx="504000" cy="83099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7ECF94F5-A20A-DC2D-7E5E-974B8EA55575}"/>
                    </a:ext>
                  </a:extLst>
                </p:cNvPr>
                <p:cNvSpPr txBox="1"/>
                <p:nvPr/>
              </p:nvSpPr>
              <p:spPr>
                <a:xfrm>
                  <a:off x="10476000" y="2959200"/>
                  <a:ext cx="504000" cy="8309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lang="en-US" altLang="zh-CN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sz="2000" i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lang="zh-CN" altLang="en-US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7ECF94F5-A20A-DC2D-7E5E-974B8EA555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76000" y="2959200"/>
                  <a:ext cx="504000" cy="83099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A1C88232-68A3-7239-14A8-249D5760E0A7}"/>
                    </a:ext>
                  </a:extLst>
                </p:cNvPr>
                <p:cNvSpPr txBox="1"/>
                <p:nvPr/>
              </p:nvSpPr>
              <p:spPr>
                <a:xfrm>
                  <a:off x="10476000" y="3889000"/>
                  <a:ext cx="504000" cy="8309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lang="en-US" altLang="zh-CN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altLang="zh-CN" sz="2000" i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lang="zh-CN" altLang="en-US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A1C88232-68A3-7239-14A8-249D5760E0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76000" y="3889000"/>
                  <a:ext cx="504000" cy="83099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A949DE12-69D5-A125-D8E9-14DEB4B429D8}"/>
                    </a:ext>
                  </a:extLst>
                </p:cNvPr>
                <p:cNvSpPr txBox="1"/>
                <p:nvPr/>
              </p:nvSpPr>
              <p:spPr>
                <a:xfrm>
                  <a:off x="10476000" y="4820400"/>
                  <a:ext cx="504000" cy="8309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lang="en-US" altLang="zh-CN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altLang="zh-CN" sz="2000" i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lang="zh-CN" altLang="en-US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A949DE12-69D5-A125-D8E9-14DEB4B429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76000" y="4820400"/>
                  <a:ext cx="504000" cy="83099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FB5381B0-DC93-D008-E54C-BB4CA7242730}"/>
                    </a:ext>
                  </a:extLst>
                </p:cNvPr>
                <p:cNvSpPr txBox="1"/>
                <p:nvPr/>
              </p:nvSpPr>
              <p:spPr>
                <a:xfrm>
                  <a:off x="8280000" y="2160000"/>
                  <a:ext cx="576000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s</m:t>
                            </m:r>
                          </m:sub>
                        </m:sSub>
                      </m:oMath>
                    </m:oMathPara>
                  </a14:m>
                  <a:endParaRPr lang="en-US" altLang="zh-CN" sz="2400" i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FB5381B0-DC93-D008-E54C-BB4CA72427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80000" y="2160000"/>
                  <a:ext cx="576000" cy="50400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44FE3AE1-5B19-98F4-955E-98829A8BC725}"/>
                </a:ext>
              </a:extLst>
            </p:cNvPr>
            <p:cNvCxnSpPr/>
            <p:nvPr/>
          </p:nvCxnSpPr>
          <p:spPr>
            <a:xfrm>
              <a:off x="8280000" y="2664000"/>
              <a:ext cx="576000" cy="0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521B1BFD-E67A-A118-8DEE-EC7DA303A855}"/>
                </a:ext>
              </a:extLst>
            </p:cNvPr>
            <p:cNvSpPr txBox="1"/>
            <p:nvPr/>
          </p:nvSpPr>
          <p:spPr>
            <a:xfrm>
              <a:off x="9107999" y="2412000"/>
              <a:ext cx="57600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A1E3FA90-85E8-ABA8-8FD1-F2C02227E0BC}"/>
                </a:ext>
              </a:extLst>
            </p:cNvPr>
            <p:cNvSpPr txBox="1"/>
            <p:nvPr/>
          </p:nvSpPr>
          <p:spPr>
            <a:xfrm>
              <a:off x="9324000" y="4068000"/>
              <a:ext cx="57600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2E13740-1D76-7DB3-F727-85FEE4CDB050}"/>
                </a:ext>
              </a:extLst>
            </p:cNvPr>
            <p:cNvSpPr txBox="1"/>
            <p:nvPr/>
          </p:nvSpPr>
          <p:spPr>
            <a:xfrm>
              <a:off x="9107617" y="5760000"/>
              <a:ext cx="57600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A58FCC1D-40A0-AD4C-B628-EA02347E7419}"/>
                </a:ext>
              </a:extLst>
            </p:cNvPr>
            <p:cNvSpPr txBox="1"/>
            <p:nvPr/>
          </p:nvSpPr>
          <p:spPr>
            <a:xfrm>
              <a:off x="11088000" y="3619772"/>
              <a:ext cx="576000" cy="3996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7AADEA69-BDAD-817A-0EC5-D6D600371136}"/>
                </a:ext>
              </a:extLst>
            </p:cNvPr>
            <p:cNvSpPr txBox="1"/>
            <p:nvPr/>
          </p:nvSpPr>
          <p:spPr>
            <a:xfrm>
              <a:off x="11088000" y="4551742"/>
              <a:ext cx="576000" cy="3996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21B29899-D4FD-D2C3-4BB6-218580B06E46}"/>
                  </a:ext>
                </a:extLst>
              </p:cNvPr>
              <p:cNvSpPr txBox="1"/>
              <p:nvPr/>
            </p:nvSpPr>
            <p:spPr>
              <a:xfrm>
                <a:off x="9360000" y="2232000"/>
                <a:ext cx="256809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s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3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=0</m:t>
                      </m:r>
                    </m:oMath>
                  </m:oMathPara>
                </a14:m>
                <a:endParaRPr lang="en-US" altLang="zh-CN" sz="2400" i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21B29899-D4FD-D2C3-4BB6-218580B06E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0000" y="2232000"/>
                <a:ext cx="2568093" cy="461665"/>
              </a:xfrm>
              <a:prstGeom prst="rect">
                <a:avLst/>
              </a:prstGeom>
              <a:blipFill>
                <a:blip r:embed="rId16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椭圆 46">
            <a:extLst>
              <a:ext uri="{FF2B5EF4-FFF2-40B4-BE49-F238E27FC236}">
                <a16:creationId xmlns:a16="http://schemas.microsoft.com/office/drawing/2014/main" id="{F6709446-8DEC-F893-4913-D52BCCE14223}"/>
              </a:ext>
            </a:extLst>
          </p:cNvPr>
          <p:cNvSpPr/>
          <p:nvPr/>
        </p:nvSpPr>
        <p:spPr>
          <a:xfrm>
            <a:off x="8712000" y="2808000"/>
            <a:ext cx="648000" cy="648000"/>
          </a:xfrm>
          <a:prstGeom prst="ellipse">
            <a:avLst/>
          </a:prstGeom>
          <a:noFill/>
          <a:ln w="254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410B0604-C0BA-36AD-29C8-4DF6B479D0A2}"/>
              </a:ext>
            </a:extLst>
          </p:cNvPr>
          <p:cNvCxnSpPr>
            <a:cxnSpLocks/>
            <a:stCxn id="47" idx="7"/>
          </p:cNvCxnSpPr>
          <p:nvPr/>
        </p:nvCxnSpPr>
        <p:spPr>
          <a:xfrm flipV="1">
            <a:off x="9265103" y="2657486"/>
            <a:ext cx="360000" cy="245411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AD244B87-9688-0732-2ACA-4F8D97FB7AB4}"/>
                  </a:ext>
                </a:extLst>
              </p:cNvPr>
              <p:cNvSpPr txBox="1"/>
              <p:nvPr/>
            </p:nvSpPr>
            <p:spPr>
              <a:xfrm>
                <a:off x="360000" y="2520000"/>
                <a:ext cx="4586654" cy="9388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2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ctrlPr>
                            <a:rPr lang="en-US" altLang="zh-CN" sz="280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2800" b="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𝑘</m:t>
                          </m:r>
                          <m:r>
                            <a:rPr lang="en-US" altLang="zh-CN" sz="2800" b="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800" b="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sz="2800" b="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sz="2800" b="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𝑡</m:t>
                          </m:r>
                          <m:r>
                            <a:rPr lang="en-US" altLang="zh-CN" sz="2800" b="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)</m:t>
                          </m:r>
                        </m:e>
                      </m:nary>
                      <m:r>
                        <a:rPr lang="en-US" altLang="zh-CN" sz="2800" b="0" i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=0</m:t>
                      </m:r>
                    </m:oMath>
                  </m:oMathPara>
                </a14:m>
                <a:endParaRPr lang="zh-CN" altLang="en-US" sz="28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AD244B87-9688-0732-2ACA-4F8D97FB7A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2520000"/>
                <a:ext cx="4586654" cy="93884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60B93427-83A0-C8CA-6D74-1C1515EC83D0}"/>
                  </a:ext>
                </a:extLst>
              </p:cNvPr>
              <p:cNvSpPr txBox="1"/>
              <p:nvPr/>
            </p:nvSpPr>
            <p:spPr>
              <a:xfrm>
                <a:off x="359998" y="3600000"/>
                <a:ext cx="5507620" cy="29447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sub>
                    </m:sSub>
                    <m:r>
                      <a:rPr lang="en-US" altLang="zh-CN" sz="2400" i="1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2400" i="1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𝑡</m:t>
                    </m:r>
                    <m:r>
                      <a:rPr lang="en-US" altLang="zh-CN" sz="2400" b="0" i="1" dirty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𝑡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时刻流出（或流进）该节点的第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𝑘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条支路的电流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：该节点处的支路数量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代数和：根据参考方向确定每条支路电流的正负号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原理：电荷不会凭空产生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消失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60B93427-83A0-C8CA-6D74-1C1515EC83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98" y="3600000"/>
                <a:ext cx="5507620" cy="2944781"/>
              </a:xfrm>
              <a:prstGeom prst="rect">
                <a:avLst/>
              </a:prstGeom>
              <a:blipFill>
                <a:blip r:embed="rId18"/>
                <a:stretch>
                  <a:fillRect t="-414" b="-39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7050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4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89747-D59E-FDD0-E1A9-8B8060867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F7582D-01D6-8B03-0F3B-53996CDB8F53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电路分析的相关定律和定理</a:t>
            </a:r>
            <a:endParaRPr lang="en-US" altLang="zh-CN" sz="3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4845342-1FDD-5A2A-DA6C-11C0C8C48954}"/>
                  </a:ext>
                </a:extLst>
              </p:cNvPr>
              <p:cNvSpPr txBox="1"/>
              <p:nvPr/>
            </p:nvSpPr>
            <p:spPr>
              <a:xfrm>
                <a:off x="360000" y="828000"/>
                <a:ext cx="11306443" cy="16766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基尔霍夫电流定律（</a:t>
                </a:r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Kirchhoff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′</m:t>
                    </m:r>
                  </m:oMath>
                </a14:m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Current Laws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KCL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）：</a:t>
                </a:r>
                <a:endParaRPr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在集总电路中，对任一节点，在任何时刻，流出（或流进）该节点的所有支路电流的代数和为 </a:t>
                </a:r>
                <a:r>
                  <a:rPr lang="en-US" altLang="zh-CN" sz="28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F32EE80-92C0-1DBB-F099-5509D71A82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8000"/>
                <a:ext cx="11306443" cy="1676677"/>
              </a:xfrm>
              <a:prstGeom prst="rect">
                <a:avLst/>
              </a:prstGeom>
              <a:blipFill>
                <a:blip r:embed="rId3"/>
                <a:stretch>
                  <a:fillRect l="-970" t="-1455" b="-94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:a16="http://schemas.microsoft.com/office/drawing/2014/main" id="{DD3A965D-843E-C2CB-8B77-032BBDAD3926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082EF66C-EA77-73EC-B493-4D489CAD51A4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7" name="箭头: 五边形 6">
                <a:extLst>
                  <a:ext uri="{FF2B5EF4-FFF2-40B4-BE49-F238E27FC236}">
                    <a16:creationId xmlns:a16="http://schemas.microsoft.com/office/drawing/2014/main" id="{7A634BEB-D978-B7C0-9049-7A2290DF7C5F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" name="箭头: V 形 7">
                <a:extLst>
                  <a:ext uri="{FF2B5EF4-FFF2-40B4-BE49-F238E27FC236}">
                    <a16:creationId xmlns:a16="http://schemas.microsoft.com/office/drawing/2014/main" id="{51C00856-55E1-8791-23BE-8BC8DDAD0B73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" name="灯片编号占位符 3">
              <a:extLst>
                <a:ext uri="{FF2B5EF4-FFF2-40B4-BE49-F238E27FC236}">
                  <a16:creationId xmlns:a16="http://schemas.microsoft.com/office/drawing/2014/main" id="{1EB422EB-EEFD-62FC-4205-56DE320597DF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16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8C34B701-594A-0C25-ECFB-D07D1611F288}"/>
              </a:ext>
            </a:extLst>
          </p:cNvPr>
          <p:cNvGrpSpPr/>
          <p:nvPr/>
        </p:nvGrpSpPr>
        <p:grpSpPr>
          <a:xfrm>
            <a:off x="6480000" y="2520000"/>
            <a:ext cx="5220000" cy="4000110"/>
            <a:chOff x="6840000" y="2160000"/>
            <a:chExt cx="5220000" cy="4000110"/>
          </a:xfrm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78783CBA-99B6-1CE5-7CAA-BDF4519CA238}"/>
                </a:ext>
              </a:extLst>
            </p:cNvPr>
            <p:cNvSpPr/>
            <p:nvPr/>
          </p:nvSpPr>
          <p:spPr>
            <a:xfrm>
              <a:off x="7308000" y="3996000"/>
              <a:ext cx="576000" cy="576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C48E3BAF-FA0F-45B0-A93C-D729EF1D0D97}"/>
                </a:ext>
              </a:extLst>
            </p:cNvPr>
            <p:cNvSpPr/>
            <p:nvPr/>
          </p:nvSpPr>
          <p:spPr>
            <a:xfrm>
              <a:off x="7595617" y="2844000"/>
              <a:ext cx="3600000" cy="2880000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F0FA3E51-B1BB-FC75-D83F-D782097C3063}"/>
                    </a:ext>
                  </a:extLst>
                </p:cNvPr>
                <p:cNvSpPr txBox="1"/>
                <p:nvPr/>
              </p:nvSpPr>
              <p:spPr>
                <a:xfrm>
                  <a:off x="6840000" y="3672000"/>
                  <a:ext cx="504000" cy="122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lang="en-US" altLang="zh-CN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s</m:t>
                            </m:r>
                          </m:sub>
                        </m:sSub>
                      </m:oMath>
                    </m:oMathPara>
                  </a14:m>
                  <a:endParaRPr lang="en-US" altLang="zh-CN" sz="2400" i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2F5B8B45-09E5-8AC8-06F7-F60271A877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40000" y="3672000"/>
                  <a:ext cx="504000" cy="12240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B19431CA-9FAE-8E0F-226E-0595E2378528}"/>
                </a:ext>
              </a:extLst>
            </p:cNvPr>
            <p:cNvCxnSpPr/>
            <p:nvPr/>
          </p:nvCxnSpPr>
          <p:spPr>
            <a:xfrm>
              <a:off x="9828000" y="3384000"/>
              <a:ext cx="0" cy="576000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13C85C70-8D52-0028-B6C7-E5584127EA25}"/>
                    </a:ext>
                  </a:extLst>
                </p:cNvPr>
                <p:cNvSpPr txBox="1"/>
                <p:nvPr/>
              </p:nvSpPr>
              <p:spPr>
                <a:xfrm>
                  <a:off x="9828000" y="3384000"/>
                  <a:ext cx="432000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000" i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EB339F1B-ED2F-140A-26CC-1EF3AE7C4B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28000" y="3384000"/>
                  <a:ext cx="432000" cy="504000"/>
                </a:xfrm>
                <a:prstGeom prst="rect">
                  <a:avLst/>
                </a:prstGeom>
                <a:blipFill>
                  <a:blip r:embed="rId5"/>
                  <a:stretch>
                    <a:fillRect l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966407CF-1109-D6FA-F507-609E16083E22}"/>
                </a:ext>
              </a:extLst>
            </p:cNvPr>
            <p:cNvCxnSpPr>
              <a:cxnSpLocks/>
              <a:stCxn id="13" idx="0"/>
              <a:endCxn id="13" idx="2"/>
            </p:cNvCxnSpPr>
            <p:nvPr/>
          </p:nvCxnSpPr>
          <p:spPr>
            <a:xfrm>
              <a:off x="9395617" y="2844000"/>
              <a:ext cx="0" cy="288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D003A606-F8BB-8337-FDF9-31B83CE4BFA9}"/>
                </a:ext>
              </a:extLst>
            </p:cNvPr>
            <p:cNvSpPr/>
            <p:nvPr/>
          </p:nvSpPr>
          <p:spPr>
            <a:xfrm>
              <a:off x="9144000" y="3384000"/>
              <a:ext cx="504000" cy="504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3AD57512-136E-1569-15CE-4BEF07F28F1C}"/>
                </a:ext>
              </a:extLst>
            </p:cNvPr>
            <p:cNvSpPr/>
            <p:nvPr/>
          </p:nvSpPr>
          <p:spPr>
            <a:xfrm>
              <a:off x="9144000" y="4680000"/>
              <a:ext cx="504000" cy="504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FFAC8635-7E5C-24A7-239E-7B971270D244}"/>
                </a:ext>
              </a:extLst>
            </p:cNvPr>
            <p:cNvSpPr/>
            <p:nvPr/>
          </p:nvSpPr>
          <p:spPr>
            <a:xfrm>
              <a:off x="10944000" y="3103200"/>
              <a:ext cx="504000" cy="504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F0FE0487-5189-80BB-139A-6ECAE8368062}"/>
                </a:ext>
              </a:extLst>
            </p:cNvPr>
            <p:cNvSpPr/>
            <p:nvPr/>
          </p:nvSpPr>
          <p:spPr>
            <a:xfrm>
              <a:off x="10944000" y="4032000"/>
              <a:ext cx="504000" cy="504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356A77C4-FCB9-A07D-016D-F5146A2D7C41}"/>
                </a:ext>
              </a:extLst>
            </p:cNvPr>
            <p:cNvSpPr/>
            <p:nvPr/>
          </p:nvSpPr>
          <p:spPr>
            <a:xfrm>
              <a:off x="10944000" y="4964400"/>
              <a:ext cx="504000" cy="504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29B08DA0-444B-18C6-F226-E478F42B1B70}"/>
                </a:ext>
              </a:extLst>
            </p:cNvPr>
            <p:cNvSpPr/>
            <p:nvPr/>
          </p:nvSpPr>
          <p:spPr>
            <a:xfrm>
              <a:off x="9334800" y="2780929"/>
              <a:ext cx="122400" cy="1224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5D64EDFB-EAED-48D4-C8BC-38A16B29F8CA}"/>
                </a:ext>
              </a:extLst>
            </p:cNvPr>
            <p:cNvSpPr/>
            <p:nvPr/>
          </p:nvSpPr>
          <p:spPr>
            <a:xfrm>
              <a:off x="9334800" y="4222800"/>
              <a:ext cx="122400" cy="1224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069370B6-D703-05B9-4285-36A2055CD6A6}"/>
                </a:ext>
              </a:extLst>
            </p:cNvPr>
            <p:cNvSpPr/>
            <p:nvPr/>
          </p:nvSpPr>
          <p:spPr>
            <a:xfrm>
              <a:off x="9334417" y="5662800"/>
              <a:ext cx="122400" cy="1224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0F582F0B-A7F2-C802-BF14-EAFFBD2B324B}"/>
                </a:ext>
              </a:extLst>
            </p:cNvPr>
            <p:cNvSpPr/>
            <p:nvPr/>
          </p:nvSpPr>
          <p:spPr>
            <a:xfrm>
              <a:off x="11134800" y="4687200"/>
              <a:ext cx="122400" cy="1224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D3BBFD48-EAC1-8ECC-7BCA-3F7E2170486D}"/>
                </a:ext>
              </a:extLst>
            </p:cNvPr>
            <p:cNvSpPr/>
            <p:nvPr/>
          </p:nvSpPr>
          <p:spPr>
            <a:xfrm>
              <a:off x="11134034" y="3758400"/>
              <a:ext cx="122400" cy="1224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AFED2C79-31FD-5F5F-0C0C-2F35FC7304F9}"/>
                </a:ext>
              </a:extLst>
            </p:cNvPr>
            <p:cNvCxnSpPr/>
            <p:nvPr/>
          </p:nvCxnSpPr>
          <p:spPr>
            <a:xfrm>
              <a:off x="9828000" y="4680000"/>
              <a:ext cx="0" cy="576000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172808AA-2BB4-AB9A-923F-1F2AC054E0D6}"/>
                    </a:ext>
                  </a:extLst>
                </p:cNvPr>
                <p:cNvSpPr txBox="1"/>
                <p:nvPr/>
              </p:nvSpPr>
              <p:spPr>
                <a:xfrm>
                  <a:off x="9828000" y="4680000"/>
                  <a:ext cx="432000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2000" i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B6DB585F-1358-0009-2605-4C63D1F3B2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28000" y="4680000"/>
                  <a:ext cx="432000" cy="504000"/>
                </a:xfrm>
                <a:prstGeom prst="rect">
                  <a:avLst/>
                </a:prstGeom>
                <a:blipFill>
                  <a:blip r:embed="rId6"/>
                  <a:stretch>
                    <a:fillRect l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88BFAB79-7893-8EA2-0447-42A672827915}"/>
                </a:ext>
              </a:extLst>
            </p:cNvPr>
            <p:cNvCxnSpPr/>
            <p:nvPr/>
          </p:nvCxnSpPr>
          <p:spPr>
            <a:xfrm>
              <a:off x="11628000" y="3103200"/>
              <a:ext cx="0" cy="576000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067BE367-C0DE-9310-D96B-0E9F3098E5BC}"/>
                    </a:ext>
                  </a:extLst>
                </p:cNvPr>
                <p:cNvSpPr txBox="1"/>
                <p:nvPr/>
              </p:nvSpPr>
              <p:spPr>
                <a:xfrm>
                  <a:off x="11628000" y="3103200"/>
                  <a:ext cx="432000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sz="2000" i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3F8F172A-262D-AAC7-FB6E-EA28CD20EE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28000" y="3103200"/>
                  <a:ext cx="432000" cy="504000"/>
                </a:xfrm>
                <a:prstGeom prst="rect">
                  <a:avLst/>
                </a:prstGeom>
                <a:blipFill>
                  <a:blip r:embed="rId7"/>
                  <a:stretch>
                    <a:fillRect l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9269CB22-DAF2-62DF-D20E-81B5F0E14BC8}"/>
                </a:ext>
              </a:extLst>
            </p:cNvPr>
            <p:cNvCxnSpPr/>
            <p:nvPr/>
          </p:nvCxnSpPr>
          <p:spPr>
            <a:xfrm>
              <a:off x="11628000" y="4032000"/>
              <a:ext cx="0" cy="576000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3A3FF26B-4AF6-96C4-2A88-68E91CAAB0F2}"/>
                    </a:ext>
                  </a:extLst>
                </p:cNvPr>
                <p:cNvSpPr txBox="1"/>
                <p:nvPr/>
              </p:nvSpPr>
              <p:spPr>
                <a:xfrm>
                  <a:off x="11628000" y="4032000"/>
                  <a:ext cx="432000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altLang="zh-CN" sz="2000" i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DF474B5B-00CD-93DE-4BFE-212E8F410A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28000" y="4032000"/>
                  <a:ext cx="432000" cy="504000"/>
                </a:xfrm>
                <a:prstGeom prst="rect">
                  <a:avLst/>
                </a:prstGeom>
                <a:blipFill>
                  <a:blip r:embed="rId8"/>
                  <a:stretch>
                    <a:fillRect l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D96052C2-6C8A-D384-A15B-798E2DAC20C9}"/>
                </a:ext>
              </a:extLst>
            </p:cNvPr>
            <p:cNvCxnSpPr/>
            <p:nvPr/>
          </p:nvCxnSpPr>
          <p:spPr>
            <a:xfrm>
              <a:off x="11628000" y="4964400"/>
              <a:ext cx="0" cy="576000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A252070F-5EFC-BD25-A3E7-64BAD4D02FA4}"/>
                    </a:ext>
                  </a:extLst>
                </p:cNvPr>
                <p:cNvSpPr txBox="1"/>
                <p:nvPr/>
              </p:nvSpPr>
              <p:spPr>
                <a:xfrm>
                  <a:off x="11628000" y="4964400"/>
                  <a:ext cx="432000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altLang="zh-CN" sz="2000" i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1294359F-CBFD-7493-1BC5-6B8CB6814E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28000" y="4964400"/>
                  <a:ext cx="432000" cy="504000"/>
                </a:xfrm>
                <a:prstGeom prst="rect">
                  <a:avLst/>
                </a:prstGeom>
                <a:blipFill>
                  <a:blip r:embed="rId9"/>
                  <a:stretch>
                    <a:fillRect l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C560FF4D-24B2-1E99-AA21-BEA955C8077D}"/>
                    </a:ext>
                  </a:extLst>
                </p:cNvPr>
                <p:cNvSpPr txBox="1"/>
                <p:nvPr/>
              </p:nvSpPr>
              <p:spPr>
                <a:xfrm>
                  <a:off x="8676000" y="3240000"/>
                  <a:ext cx="504000" cy="8309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lang="en-US" altLang="zh-CN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000" i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lang="zh-CN" altLang="en-US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0DA76BD5-5736-0E62-8D6F-3FD0300CF8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76000" y="3240000"/>
                  <a:ext cx="504000" cy="83099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79B5D4A2-298F-2DE5-4F32-8032E8E3A5DA}"/>
                    </a:ext>
                  </a:extLst>
                </p:cNvPr>
                <p:cNvSpPr txBox="1"/>
                <p:nvPr/>
              </p:nvSpPr>
              <p:spPr>
                <a:xfrm>
                  <a:off x="8676000" y="4536000"/>
                  <a:ext cx="504000" cy="8309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lang="en-US" altLang="zh-CN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2000" i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lang="zh-CN" altLang="en-US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F1396F73-C450-91C2-622D-4066078453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76000" y="4536000"/>
                  <a:ext cx="504000" cy="83099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A13DF15E-F787-1E13-BD5C-F615230A1BB5}"/>
                    </a:ext>
                  </a:extLst>
                </p:cNvPr>
                <p:cNvSpPr txBox="1"/>
                <p:nvPr/>
              </p:nvSpPr>
              <p:spPr>
                <a:xfrm>
                  <a:off x="10476000" y="2959200"/>
                  <a:ext cx="504000" cy="8309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lang="en-US" altLang="zh-CN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sz="2000" i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lang="zh-CN" altLang="en-US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7ECF94F5-A20A-DC2D-7E5E-974B8EA555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76000" y="2959200"/>
                  <a:ext cx="504000" cy="83099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382235DD-BFBF-7F68-5614-AA11CE8768E5}"/>
                    </a:ext>
                  </a:extLst>
                </p:cNvPr>
                <p:cNvSpPr txBox="1"/>
                <p:nvPr/>
              </p:nvSpPr>
              <p:spPr>
                <a:xfrm>
                  <a:off x="10476000" y="3889000"/>
                  <a:ext cx="504000" cy="8309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lang="en-US" altLang="zh-CN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altLang="zh-CN" sz="2000" i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lang="zh-CN" altLang="en-US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A1C88232-68A3-7239-14A8-249D5760E0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76000" y="3889000"/>
                  <a:ext cx="504000" cy="83099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63DC1D47-393A-4862-7F2F-EA6B66056525}"/>
                    </a:ext>
                  </a:extLst>
                </p:cNvPr>
                <p:cNvSpPr txBox="1"/>
                <p:nvPr/>
              </p:nvSpPr>
              <p:spPr>
                <a:xfrm>
                  <a:off x="10476000" y="4820400"/>
                  <a:ext cx="504000" cy="8309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lang="en-US" altLang="zh-CN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altLang="zh-CN" sz="2000" i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lang="zh-CN" altLang="en-US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A949DE12-69D5-A125-D8E9-14DEB4B429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76000" y="4820400"/>
                  <a:ext cx="504000" cy="83099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25947E35-555C-1C0B-B697-AFE05F2D8C13}"/>
                    </a:ext>
                  </a:extLst>
                </p:cNvPr>
                <p:cNvSpPr txBox="1"/>
                <p:nvPr/>
              </p:nvSpPr>
              <p:spPr>
                <a:xfrm>
                  <a:off x="8280000" y="2160000"/>
                  <a:ext cx="576000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s</m:t>
                            </m:r>
                          </m:sub>
                        </m:sSub>
                      </m:oMath>
                    </m:oMathPara>
                  </a14:m>
                  <a:endParaRPr lang="en-US" altLang="zh-CN" sz="2400" i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FB5381B0-DC93-D008-E54C-BB4CA72427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80000" y="2160000"/>
                  <a:ext cx="576000" cy="50400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3782C253-7B4B-4882-49FD-4370A2C5A26E}"/>
                </a:ext>
              </a:extLst>
            </p:cNvPr>
            <p:cNvCxnSpPr/>
            <p:nvPr/>
          </p:nvCxnSpPr>
          <p:spPr>
            <a:xfrm>
              <a:off x="8280000" y="2664000"/>
              <a:ext cx="576000" cy="0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1969EC9F-7DFB-303D-A7A4-AE9E486BE9D1}"/>
                </a:ext>
              </a:extLst>
            </p:cNvPr>
            <p:cNvSpPr txBox="1"/>
            <p:nvPr/>
          </p:nvSpPr>
          <p:spPr>
            <a:xfrm>
              <a:off x="9107999" y="2412000"/>
              <a:ext cx="57600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665DCAD9-622F-5B05-D504-00C9839E951F}"/>
                </a:ext>
              </a:extLst>
            </p:cNvPr>
            <p:cNvSpPr txBox="1"/>
            <p:nvPr/>
          </p:nvSpPr>
          <p:spPr>
            <a:xfrm>
              <a:off x="9324000" y="4068000"/>
              <a:ext cx="57600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9EA01909-BF09-5C51-AF3E-BFFEB577FA03}"/>
                </a:ext>
              </a:extLst>
            </p:cNvPr>
            <p:cNvSpPr txBox="1"/>
            <p:nvPr/>
          </p:nvSpPr>
          <p:spPr>
            <a:xfrm>
              <a:off x="9107617" y="5760000"/>
              <a:ext cx="57600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ADCA1D06-919C-5544-4651-9C8824A41489}"/>
                </a:ext>
              </a:extLst>
            </p:cNvPr>
            <p:cNvSpPr txBox="1"/>
            <p:nvPr/>
          </p:nvSpPr>
          <p:spPr>
            <a:xfrm>
              <a:off x="11088000" y="3619772"/>
              <a:ext cx="576000" cy="3996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1930BF5-FF2F-B311-8D16-FEDA32881219}"/>
                </a:ext>
              </a:extLst>
            </p:cNvPr>
            <p:cNvSpPr txBox="1"/>
            <p:nvPr/>
          </p:nvSpPr>
          <p:spPr>
            <a:xfrm>
              <a:off x="11088000" y="4551742"/>
              <a:ext cx="576000" cy="3996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6F453BB7-0EDF-673B-FDC7-8B9ECABCC61B}"/>
                  </a:ext>
                </a:extLst>
              </p:cNvPr>
              <p:cNvSpPr txBox="1"/>
              <p:nvPr/>
            </p:nvSpPr>
            <p:spPr>
              <a:xfrm>
                <a:off x="6263618" y="6263999"/>
                <a:ext cx="183134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s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=0</m:t>
                      </m:r>
                    </m:oMath>
                  </m:oMathPara>
                </a14:m>
                <a:endParaRPr lang="en-US" altLang="zh-CN" sz="2400" i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6F453BB7-0EDF-673B-FDC7-8B9ECABCC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3618" y="6263999"/>
                <a:ext cx="1831340" cy="46166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椭圆 46">
            <a:extLst>
              <a:ext uri="{FF2B5EF4-FFF2-40B4-BE49-F238E27FC236}">
                <a16:creationId xmlns:a16="http://schemas.microsoft.com/office/drawing/2014/main" id="{F1A2E2C6-BE50-64CD-36A7-26AE66C76449}"/>
              </a:ext>
            </a:extLst>
          </p:cNvPr>
          <p:cNvSpPr/>
          <p:nvPr/>
        </p:nvSpPr>
        <p:spPr>
          <a:xfrm>
            <a:off x="7920000" y="2566644"/>
            <a:ext cx="4094791" cy="4180678"/>
          </a:xfrm>
          <a:prstGeom prst="ellipse">
            <a:avLst/>
          </a:prstGeom>
          <a:noFill/>
          <a:ln w="254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92AB00DC-534D-E16E-724B-B67D8CB87612}"/>
              </a:ext>
            </a:extLst>
          </p:cNvPr>
          <p:cNvCxnSpPr>
            <a:cxnSpLocks/>
            <a:stCxn id="47" idx="3"/>
            <a:endCxn id="25" idx="3"/>
          </p:cNvCxnSpPr>
          <p:nvPr/>
        </p:nvCxnSpPr>
        <p:spPr>
          <a:xfrm flipH="1">
            <a:off x="8094958" y="6135076"/>
            <a:ext cx="424710" cy="359756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BB0FC820-6A69-6EC9-61AD-12BCD8569BDB}"/>
                  </a:ext>
                </a:extLst>
              </p:cNvPr>
              <p:cNvSpPr txBox="1"/>
              <p:nvPr/>
            </p:nvSpPr>
            <p:spPr>
              <a:xfrm>
                <a:off x="360000" y="2520000"/>
                <a:ext cx="4586654" cy="9388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2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ctrlPr>
                            <a:rPr lang="en-US" altLang="zh-CN" sz="280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2800" b="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𝑘</m:t>
                          </m:r>
                          <m:r>
                            <a:rPr lang="en-US" altLang="zh-CN" sz="2800" b="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800" b="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sz="2800" b="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sz="2800" b="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𝑡</m:t>
                          </m:r>
                          <m:r>
                            <a:rPr lang="en-US" altLang="zh-CN" sz="2800" b="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)</m:t>
                          </m:r>
                        </m:e>
                      </m:nary>
                      <m:r>
                        <a:rPr lang="en-US" altLang="zh-CN" sz="2800" b="0" i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=0</m:t>
                      </m:r>
                    </m:oMath>
                  </m:oMathPara>
                </a14:m>
                <a:endParaRPr lang="zh-CN" altLang="en-US" sz="28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AD244B87-9688-0732-2ACA-4F8D97FB7A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2520000"/>
                <a:ext cx="4586654" cy="93884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C9E3C4BE-954A-47A9-2716-FC0977DA3FFE}"/>
                  </a:ext>
                </a:extLst>
              </p:cNvPr>
              <p:cNvSpPr txBox="1"/>
              <p:nvPr/>
            </p:nvSpPr>
            <p:spPr>
              <a:xfrm>
                <a:off x="359998" y="3600000"/>
                <a:ext cx="5507620" cy="29447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sub>
                    </m:sSub>
                    <m:r>
                      <a:rPr lang="en-US" altLang="zh-CN" sz="2400" i="1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2400" i="1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𝑡</m:t>
                    </m:r>
                    <m:r>
                      <a:rPr lang="en-US" altLang="zh-CN" sz="2400" b="0" i="1" dirty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𝑡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时刻流出（或流进）该节点的第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𝑘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条支路的电流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：该节点处的支路数量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代数和：根据参考方向确定每条支路电流的正负号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原理：电荷不会凭空产生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消失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60B93427-83A0-C8CA-6D74-1C1515EC83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98" y="3600000"/>
                <a:ext cx="5507620" cy="2944781"/>
              </a:xfrm>
              <a:prstGeom prst="rect">
                <a:avLst/>
              </a:prstGeom>
              <a:blipFill>
                <a:blip r:embed="rId18"/>
                <a:stretch>
                  <a:fillRect t="-414" b="-39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7797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4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1293C-B853-0BEF-4158-31E1D393E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AED8D4-BCDB-57ED-3362-DD9703DC3F64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电路分析的相关定律和定理</a:t>
            </a:r>
            <a:endParaRPr lang="en-US" altLang="zh-CN" sz="3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AF42B3F-68A4-8384-6CC5-620C1948D4AF}"/>
                  </a:ext>
                </a:extLst>
              </p:cNvPr>
              <p:cNvSpPr txBox="1"/>
              <p:nvPr/>
            </p:nvSpPr>
            <p:spPr>
              <a:xfrm>
                <a:off x="360000" y="828000"/>
                <a:ext cx="11306443" cy="16766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基尔霍夫电流定律（</a:t>
                </a:r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Kirchhoff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′</m:t>
                    </m:r>
                  </m:oMath>
                </a14:m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Current Laws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KCL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）：</a:t>
                </a:r>
                <a:endParaRPr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在集总电路中，对任一节点，在任何时刻，流出（或流进）该节点的所有支路电流的代数和为 </a:t>
                </a:r>
                <a:r>
                  <a:rPr lang="en-US" altLang="zh-CN" sz="28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F32EE80-92C0-1DBB-F099-5509D71A82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8000"/>
                <a:ext cx="11306443" cy="1676677"/>
              </a:xfrm>
              <a:prstGeom prst="rect">
                <a:avLst/>
              </a:prstGeom>
              <a:blipFill>
                <a:blip r:embed="rId3"/>
                <a:stretch>
                  <a:fillRect l="-970" t="-1455" b="-94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:a16="http://schemas.microsoft.com/office/drawing/2014/main" id="{C04395DD-EB65-0A6F-E2FE-FFA2BC50C3AC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169A6613-C91F-7CAB-4190-DC23C8126AE2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7" name="箭头: 五边形 6">
                <a:extLst>
                  <a:ext uri="{FF2B5EF4-FFF2-40B4-BE49-F238E27FC236}">
                    <a16:creationId xmlns:a16="http://schemas.microsoft.com/office/drawing/2014/main" id="{1F83C983-514E-521B-D7C0-3927E1422087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" name="箭头: V 形 7">
                <a:extLst>
                  <a:ext uri="{FF2B5EF4-FFF2-40B4-BE49-F238E27FC236}">
                    <a16:creationId xmlns:a16="http://schemas.microsoft.com/office/drawing/2014/main" id="{D442D861-700E-426D-BFE9-A729A5E7E702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" name="灯片编号占位符 3">
              <a:extLst>
                <a:ext uri="{FF2B5EF4-FFF2-40B4-BE49-F238E27FC236}">
                  <a16:creationId xmlns:a16="http://schemas.microsoft.com/office/drawing/2014/main" id="{438AE3C9-9701-CC61-7ED2-8A630C62B385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17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91234E1E-BDD9-BBEE-DC51-F481BA181C67}"/>
              </a:ext>
            </a:extLst>
          </p:cNvPr>
          <p:cNvGrpSpPr/>
          <p:nvPr/>
        </p:nvGrpSpPr>
        <p:grpSpPr>
          <a:xfrm>
            <a:off x="6480000" y="2520000"/>
            <a:ext cx="5220000" cy="4000110"/>
            <a:chOff x="6840000" y="2160000"/>
            <a:chExt cx="5220000" cy="4000110"/>
          </a:xfrm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2371E704-87EB-B18F-9CC5-50BFD0462701}"/>
                </a:ext>
              </a:extLst>
            </p:cNvPr>
            <p:cNvSpPr/>
            <p:nvPr/>
          </p:nvSpPr>
          <p:spPr>
            <a:xfrm>
              <a:off x="7308000" y="3996000"/>
              <a:ext cx="576000" cy="576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87D77805-D49C-D4D7-26C6-0329C629E5E4}"/>
                </a:ext>
              </a:extLst>
            </p:cNvPr>
            <p:cNvSpPr/>
            <p:nvPr/>
          </p:nvSpPr>
          <p:spPr>
            <a:xfrm>
              <a:off x="7595617" y="2844000"/>
              <a:ext cx="3600000" cy="2880000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31E0CCB2-4493-9FF4-3EDE-DA1048B730A2}"/>
                    </a:ext>
                  </a:extLst>
                </p:cNvPr>
                <p:cNvSpPr txBox="1"/>
                <p:nvPr/>
              </p:nvSpPr>
              <p:spPr>
                <a:xfrm>
                  <a:off x="6840000" y="3672000"/>
                  <a:ext cx="504000" cy="122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lang="en-US" altLang="zh-CN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s</m:t>
                            </m:r>
                          </m:sub>
                        </m:sSub>
                      </m:oMath>
                    </m:oMathPara>
                  </a14:m>
                  <a:endParaRPr lang="en-US" altLang="zh-CN" sz="2400" i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2F5B8B45-09E5-8AC8-06F7-F60271A877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40000" y="3672000"/>
                  <a:ext cx="504000" cy="12240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7A669C2B-0B96-D500-0DBB-7E83F698F4B9}"/>
                </a:ext>
              </a:extLst>
            </p:cNvPr>
            <p:cNvCxnSpPr/>
            <p:nvPr/>
          </p:nvCxnSpPr>
          <p:spPr>
            <a:xfrm>
              <a:off x="9828000" y="3384000"/>
              <a:ext cx="0" cy="576000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8CEC5817-8AFB-D230-FF18-24C5A3BA881E}"/>
                    </a:ext>
                  </a:extLst>
                </p:cNvPr>
                <p:cNvSpPr txBox="1"/>
                <p:nvPr/>
              </p:nvSpPr>
              <p:spPr>
                <a:xfrm>
                  <a:off x="9828000" y="3384000"/>
                  <a:ext cx="432000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000" i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EB339F1B-ED2F-140A-26CC-1EF3AE7C4B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28000" y="3384000"/>
                  <a:ext cx="432000" cy="504000"/>
                </a:xfrm>
                <a:prstGeom prst="rect">
                  <a:avLst/>
                </a:prstGeom>
                <a:blipFill>
                  <a:blip r:embed="rId5"/>
                  <a:stretch>
                    <a:fillRect l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38183F89-EDA3-BF04-983A-7FB59D8FF3B0}"/>
                </a:ext>
              </a:extLst>
            </p:cNvPr>
            <p:cNvCxnSpPr>
              <a:cxnSpLocks/>
              <a:stCxn id="13" idx="0"/>
              <a:endCxn id="13" idx="2"/>
            </p:cNvCxnSpPr>
            <p:nvPr/>
          </p:nvCxnSpPr>
          <p:spPr>
            <a:xfrm>
              <a:off x="9395617" y="2844000"/>
              <a:ext cx="0" cy="288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49172A17-0A19-D64C-AACA-1EE0760B3571}"/>
                </a:ext>
              </a:extLst>
            </p:cNvPr>
            <p:cNvSpPr/>
            <p:nvPr/>
          </p:nvSpPr>
          <p:spPr>
            <a:xfrm>
              <a:off x="9144000" y="3384000"/>
              <a:ext cx="504000" cy="504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93A806C7-CBF6-181A-9977-8D282EFB7E23}"/>
                </a:ext>
              </a:extLst>
            </p:cNvPr>
            <p:cNvSpPr/>
            <p:nvPr/>
          </p:nvSpPr>
          <p:spPr>
            <a:xfrm>
              <a:off x="9144000" y="4680000"/>
              <a:ext cx="504000" cy="504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16ECD168-A5A4-D42B-AECB-D988876B67C3}"/>
                </a:ext>
              </a:extLst>
            </p:cNvPr>
            <p:cNvSpPr/>
            <p:nvPr/>
          </p:nvSpPr>
          <p:spPr>
            <a:xfrm>
              <a:off x="10944000" y="3103200"/>
              <a:ext cx="504000" cy="504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DA74F8A3-3881-2506-64AE-1CEB2AAB20D4}"/>
                </a:ext>
              </a:extLst>
            </p:cNvPr>
            <p:cNvSpPr/>
            <p:nvPr/>
          </p:nvSpPr>
          <p:spPr>
            <a:xfrm>
              <a:off x="10944000" y="4032000"/>
              <a:ext cx="504000" cy="504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B953A4D0-7926-046F-8B0C-6F2DCC021EE7}"/>
                </a:ext>
              </a:extLst>
            </p:cNvPr>
            <p:cNvSpPr/>
            <p:nvPr/>
          </p:nvSpPr>
          <p:spPr>
            <a:xfrm>
              <a:off x="10944000" y="4964400"/>
              <a:ext cx="504000" cy="504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20647893-1BD2-A6DE-7F0B-5FC05FC072DD}"/>
                </a:ext>
              </a:extLst>
            </p:cNvPr>
            <p:cNvSpPr/>
            <p:nvPr/>
          </p:nvSpPr>
          <p:spPr>
            <a:xfrm>
              <a:off x="9334800" y="2780929"/>
              <a:ext cx="122400" cy="1224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2C339F9B-7BF2-4D37-752A-2958234A2BD3}"/>
                </a:ext>
              </a:extLst>
            </p:cNvPr>
            <p:cNvSpPr/>
            <p:nvPr/>
          </p:nvSpPr>
          <p:spPr>
            <a:xfrm>
              <a:off x="9334800" y="4222800"/>
              <a:ext cx="122400" cy="1224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AF691CD7-521C-1AFE-9C88-6619F411495E}"/>
                </a:ext>
              </a:extLst>
            </p:cNvPr>
            <p:cNvSpPr/>
            <p:nvPr/>
          </p:nvSpPr>
          <p:spPr>
            <a:xfrm>
              <a:off x="9334417" y="5662800"/>
              <a:ext cx="122400" cy="1224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2D496040-0055-1564-33A2-D2D430AD45EF}"/>
                </a:ext>
              </a:extLst>
            </p:cNvPr>
            <p:cNvSpPr/>
            <p:nvPr/>
          </p:nvSpPr>
          <p:spPr>
            <a:xfrm>
              <a:off x="11134800" y="4687200"/>
              <a:ext cx="122400" cy="1224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03D65073-CA95-B7D4-C2D1-DD14BD2964F1}"/>
                </a:ext>
              </a:extLst>
            </p:cNvPr>
            <p:cNvSpPr/>
            <p:nvPr/>
          </p:nvSpPr>
          <p:spPr>
            <a:xfrm>
              <a:off x="11134034" y="3758400"/>
              <a:ext cx="122400" cy="1224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2E0AD7E1-171A-BC79-7F39-6CB2EBF85FF8}"/>
                </a:ext>
              </a:extLst>
            </p:cNvPr>
            <p:cNvCxnSpPr/>
            <p:nvPr/>
          </p:nvCxnSpPr>
          <p:spPr>
            <a:xfrm>
              <a:off x="9828000" y="4680000"/>
              <a:ext cx="0" cy="576000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DF0D5313-F8B4-E2C9-84EF-5FE8437C1CC0}"/>
                    </a:ext>
                  </a:extLst>
                </p:cNvPr>
                <p:cNvSpPr txBox="1"/>
                <p:nvPr/>
              </p:nvSpPr>
              <p:spPr>
                <a:xfrm>
                  <a:off x="9828000" y="4680000"/>
                  <a:ext cx="432000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2000" i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B6DB585F-1358-0009-2605-4C63D1F3B2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28000" y="4680000"/>
                  <a:ext cx="432000" cy="504000"/>
                </a:xfrm>
                <a:prstGeom prst="rect">
                  <a:avLst/>
                </a:prstGeom>
                <a:blipFill>
                  <a:blip r:embed="rId6"/>
                  <a:stretch>
                    <a:fillRect l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966939DC-F93A-1995-EE56-A7C8C76A4913}"/>
                </a:ext>
              </a:extLst>
            </p:cNvPr>
            <p:cNvCxnSpPr/>
            <p:nvPr/>
          </p:nvCxnSpPr>
          <p:spPr>
            <a:xfrm>
              <a:off x="11628000" y="3103200"/>
              <a:ext cx="0" cy="576000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37330A9A-09C6-A63A-94DC-B7811702DBD3}"/>
                    </a:ext>
                  </a:extLst>
                </p:cNvPr>
                <p:cNvSpPr txBox="1"/>
                <p:nvPr/>
              </p:nvSpPr>
              <p:spPr>
                <a:xfrm>
                  <a:off x="11628000" y="3103200"/>
                  <a:ext cx="432000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sz="2000" i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3F8F172A-262D-AAC7-FB6E-EA28CD20EE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28000" y="3103200"/>
                  <a:ext cx="432000" cy="504000"/>
                </a:xfrm>
                <a:prstGeom prst="rect">
                  <a:avLst/>
                </a:prstGeom>
                <a:blipFill>
                  <a:blip r:embed="rId7"/>
                  <a:stretch>
                    <a:fillRect l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34AA0044-DE5D-2D40-0AD9-C5CE43AF72CF}"/>
                </a:ext>
              </a:extLst>
            </p:cNvPr>
            <p:cNvCxnSpPr/>
            <p:nvPr/>
          </p:nvCxnSpPr>
          <p:spPr>
            <a:xfrm>
              <a:off x="11628000" y="4032000"/>
              <a:ext cx="0" cy="576000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BD6E8285-3B9A-0892-4901-F18D987E1C70}"/>
                    </a:ext>
                  </a:extLst>
                </p:cNvPr>
                <p:cNvSpPr txBox="1"/>
                <p:nvPr/>
              </p:nvSpPr>
              <p:spPr>
                <a:xfrm>
                  <a:off x="11628000" y="4032000"/>
                  <a:ext cx="432000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altLang="zh-CN" sz="2000" i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DF474B5B-00CD-93DE-4BFE-212E8F410A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28000" y="4032000"/>
                  <a:ext cx="432000" cy="504000"/>
                </a:xfrm>
                <a:prstGeom prst="rect">
                  <a:avLst/>
                </a:prstGeom>
                <a:blipFill>
                  <a:blip r:embed="rId8"/>
                  <a:stretch>
                    <a:fillRect l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A28E1B8A-29CE-B8E2-5220-CDF8C8026A1A}"/>
                </a:ext>
              </a:extLst>
            </p:cNvPr>
            <p:cNvCxnSpPr/>
            <p:nvPr/>
          </p:nvCxnSpPr>
          <p:spPr>
            <a:xfrm>
              <a:off x="11628000" y="4964400"/>
              <a:ext cx="0" cy="576000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5577D95B-BA2A-4118-F162-E44AF39607A1}"/>
                    </a:ext>
                  </a:extLst>
                </p:cNvPr>
                <p:cNvSpPr txBox="1"/>
                <p:nvPr/>
              </p:nvSpPr>
              <p:spPr>
                <a:xfrm>
                  <a:off x="11628000" y="4964400"/>
                  <a:ext cx="432000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altLang="zh-CN" sz="2000" i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1294359F-CBFD-7493-1BC5-6B8CB6814E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28000" y="4964400"/>
                  <a:ext cx="432000" cy="504000"/>
                </a:xfrm>
                <a:prstGeom prst="rect">
                  <a:avLst/>
                </a:prstGeom>
                <a:blipFill>
                  <a:blip r:embed="rId9"/>
                  <a:stretch>
                    <a:fillRect l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6E1B45F1-1355-BEAD-BCF3-D31CEDB6843B}"/>
                    </a:ext>
                  </a:extLst>
                </p:cNvPr>
                <p:cNvSpPr txBox="1"/>
                <p:nvPr/>
              </p:nvSpPr>
              <p:spPr>
                <a:xfrm>
                  <a:off x="8676000" y="3240000"/>
                  <a:ext cx="504000" cy="8309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lang="en-US" altLang="zh-CN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000" i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lang="zh-CN" altLang="en-US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0DA76BD5-5736-0E62-8D6F-3FD0300CF8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76000" y="3240000"/>
                  <a:ext cx="504000" cy="83099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22229D19-F102-57FF-CF91-51FDC98793A2}"/>
                    </a:ext>
                  </a:extLst>
                </p:cNvPr>
                <p:cNvSpPr txBox="1"/>
                <p:nvPr/>
              </p:nvSpPr>
              <p:spPr>
                <a:xfrm>
                  <a:off x="8676000" y="4536000"/>
                  <a:ext cx="504000" cy="8309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lang="en-US" altLang="zh-CN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2000" i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lang="zh-CN" altLang="en-US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F1396F73-C450-91C2-622D-4066078453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76000" y="4536000"/>
                  <a:ext cx="504000" cy="83099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A942514D-6DF1-F1EB-B0C3-51CFD146BE8F}"/>
                    </a:ext>
                  </a:extLst>
                </p:cNvPr>
                <p:cNvSpPr txBox="1"/>
                <p:nvPr/>
              </p:nvSpPr>
              <p:spPr>
                <a:xfrm>
                  <a:off x="10476000" y="2959200"/>
                  <a:ext cx="504000" cy="8309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lang="en-US" altLang="zh-CN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sz="2000" i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lang="zh-CN" altLang="en-US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7ECF94F5-A20A-DC2D-7E5E-974B8EA555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76000" y="2959200"/>
                  <a:ext cx="504000" cy="83099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F6F67EFB-FBFE-0AE1-A7BE-B8D8AB46A29C}"/>
                    </a:ext>
                  </a:extLst>
                </p:cNvPr>
                <p:cNvSpPr txBox="1"/>
                <p:nvPr/>
              </p:nvSpPr>
              <p:spPr>
                <a:xfrm>
                  <a:off x="10476000" y="3889000"/>
                  <a:ext cx="504000" cy="8309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lang="en-US" altLang="zh-CN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altLang="zh-CN" sz="2000" i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lang="zh-CN" altLang="en-US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A1C88232-68A3-7239-14A8-249D5760E0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76000" y="3889000"/>
                  <a:ext cx="504000" cy="83099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6FF03CF2-0012-01C8-9253-076DE2FD2BE3}"/>
                    </a:ext>
                  </a:extLst>
                </p:cNvPr>
                <p:cNvSpPr txBox="1"/>
                <p:nvPr/>
              </p:nvSpPr>
              <p:spPr>
                <a:xfrm>
                  <a:off x="10476000" y="4820400"/>
                  <a:ext cx="504000" cy="8309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lang="en-US" altLang="zh-CN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altLang="zh-CN" sz="2000" i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lang="zh-CN" altLang="en-US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A949DE12-69D5-A125-D8E9-14DEB4B429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76000" y="4820400"/>
                  <a:ext cx="504000" cy="83099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84BFE4E2-0837-A5B4-D95B-C8A46619DA38}"/>
                    </a:ext>
                  </a:extLst>
                </p:cNvPr>
                <p:cNvSpPr txBox="1"/>
                <p:nvPr/>
              </p:nvSpPr>
              <p:spPr>
                <a:xfrm>
                  <a:off x="8280000" y="2160000"/>
                  <a:ext cx="576000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s</m:t>
                            </m:r>
                          </m:sub>
                        </m:sSub>
                      </m:oMath>
                    </m:oMathPara>
                  </a14:m>
                  <a:endParaRPr lang="en-US" altLang="zh-CN" sz="2400" i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FB5381B0-DC93-D008-E54C-BB4CA72427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80000" y="2160000"/>
                  <a:ext cx="576000" cy="50400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385BAEE6-6A40-8080-69A3-707C72129308}"/>
                </a:ext>
              </a:extLst>
            </p:cNvPr>
            <p:cNvCxnSpPr/>
            <p:nvPr/>
          </p:nvCxnSpPr>
          <p:spPr>
            <a:xfrm>
              <a:off x="8280000" y="2664000"/>
              <a:ext cx="576000" cy="0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DAB14B9-F81E-F770-783B-05B05256CAE1}"/>
                </a:ext>
              </a:extLst>
            </p:cNvPr>
            <p:cNvSpPr txBox="1"/>
            <p:nvPr/>
          </p:nvSpPr>
          <p:spPr>
            <a:xfrm>
              <a:off x="9107999" y="2412000"/>
              <a:ext cx="57600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80A94A27-F39D-F101-D204-5A1F05F9F44B}"/>
                </a:ext>
              </a:extLst>
            </p:cNvPr>
            <p:cNvSpPr txBox="1"/>
            <p:nvPr/>
          </p:nvSpPr>
          <p:spPr>
            <a:xfrm>
              <a:off x="9324000" y="4068000"/>
              <a:ext cx="57600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A84F8A40-65D7-748A-388D-7F9E6B702D4A}"/>
                </a:ext>
              </a:extLst>
            </p:cNvPr>
            <p:cNvSpPr txBox="1"/>
            <p:nvPr/>
          </p:nvSpPr>
          <p:spPr>
            <a:xfrm>
              <a:off x="9107617" y="5760000"/>
              <a:ext cx="57600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71FB06A3-BD2F-1A20-6E3C-CCDECC7B14F5}"/>
                </a:ext>
              </a:extLst>
            </p:cNvPr>
            <p:cNvSpPr txBox="1"/>
            <p:nvPr/>
          </p:nvSpPr>
          <p:spPr>
            <a:xfrm>
              <a:off x="11088000" y="3619772"/>
              <a:ext cx="576000" cy="3996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2A1C71A4-02F0-964C-7E3C-652719613F97}"/>
                </a:ext>
              </a:extLst>
            </p:cNvPr>
            <p:cNvSpPr txBox="1"/>
            <p:nvPr/>
          </p:nvSpPr>
          <p:spPr>
            <a:xfrm>
              <a:off x="11088000" y="4551742"/>
              <a:ext cx="576000" cy="3996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</p:txBody>
        </p:sp>
      </p:grp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B27DF8CA-03DB-17BF-3BB8-6D986F4234D5}"/>
              </a:ext>
            </a:extLst>
          </p:cNvPr>
          <p:cNvCxnSpPr>
            <a:cxnSpLocks/>
            <a:stCxn id="10" idx="2"/>
          </p:cNvCxnSpPr>
          <p:nvPr/>
        </p:nvCxnSpPr>
        <p:spPr>
          <a:xfrm flipV="1">
            <a:off x="10058400" y="2694170"/>
            <a:ext cx="216310" cy="414790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CF00D3E4-0CEA-5C6A-6058-A10CF0881999}"/>
                  </a:ext>
                </a:extLst>
              </p:cNvPr>
              <p:cNvSpPr txBox="1"/>
              <p:nvPr/>
            </p:nvSpPr>
            <p:spPr>
              <a:xfrm>
                <a:off x="360000" y="2520000"/>
                <a:ext cx="4586654" cy="9388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2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ctrlPr>
                            <a:rPr lang="en-US" altLang="zh-CN" sz="280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2800" b="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𝑘</m:t>
                          </m:r>
                          <m:r>
                            <a:rPr lang="en-US" altLang="zh-CN" sz="2800" b="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800" b="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sz="2800" b="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sz="2800" b="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𝑡</m:t>
                          </m:r>
                          <m:r>
                            <a:rPr lang="en-US" altLang="zh-CN" sz="2800" b="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)</m:t>
                          </m:r>
                        </m:e>
                      </m:nary>
                      <m:r>
                        <a:rPr lang="en-US" altLang="zh-CN" sz="2800" b="0" i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=0</m:t>
                      </m:r>
                    </m:oMath>
                  </m:oMathPara>
                </a14:m>
                <a:endParaRPr lang="zh-CN" altLang="en-US" sz="28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AD244B87-9688-0732-2ACA-4F8D97FB7A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2520000"/>
                <a:ext cx="4586654" cy="93884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061BAF31-BA0C-7446-433D-0267FB20EE5A}"/>
                  </a:ext>
                </a:extLst>
              </p:cNvPr>
              <p:cNvSpPr txBox="1"/>
              <p:nvPr/>
            </p:nvSpPr>
            <p:spPr>
              <a:xfrm>
                <a:off x="359998" y="3600000"/>
                <a:ext cx="5507620" cy="29447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sub>
                    </m:sSub>
                    <m:r>
                      <a:rPr lang="en-US" altLang="zh-CN" sz="2400" i="1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2400" i="1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𝑡</m:t>
                    </m:r>
                    <m:r>
                      <a:rPr lang="en-US" altLang="zh-CN" sz="2400" b="0" i="1" dirty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𝑡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时刻流出（或流进）该节点的第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𝑘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条支路的电流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：该节点处的支路数量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代数和：根据参考方向确定每条支路电流的正负号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原理：电荷不会凭空产生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消失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60B93427-83A0-C8CA-6D74-1C1515EC83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98" y="3600000"/>
                <a:ext cx="5507620" cy="2944781"/>
              </a:xfrm>
              <a:prstGeom prst="rect">
                <a:avLst/>
              </a:prstGeom>
              <a:blipFill>
                <a:blip r:embed="rId18"/>
                <a:stretch>
                  <a:fillRect t="-414" b="-39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64282691-00C9-44F6-755D-39E3DDBBC11C}"/>
              </a:ext>
            </a:extLst>
          </p:cNvPr>
          <p:cNvSpPr/>
          <p:nvPr/>
        </p:nvSpPr>
        <p:spPr>
          <a:xfrm>
            <a:off x="6287056" y="2971497"/>
            <a:ext cx="5560924" cy="3701268"/>
          </a:xfrm>
          <a:custGeom>
            <a:avLst/>
            <a:gdLst>
              <a:gd name="connsiteX0" fmla="*/ 281384 w 5560924"/>
              <a:gd name="connsiteY0" fmla="*/ 838503 h 3701268"/>
              <a:gd name="connsiteX1" fmla="*/ 2064464 w 5560924"/>
              <a:gd name="connsiteY1" fmla="*/ 632763 h 3701268"/>
              <a:gd name="connsiteX2" fmla="*/ 3771344 w 5560924"/>
              <a:gd name="connsiteY2" fmla="*/ 137463 h 3701268"/>
              <a:gd name="connsiteX3" fmla="*/ 4975304 w 5560924"/>
              <a:gd name="connsiteY3" fmla="*/ 61263 h 3701268"/>
              <a:gd name="connsiteX4" fmla="*/ 5386784 w 5560924"/>
              <a:gd name="connsiteY4" fmla="*/ 945183 h 3701268"/>
              <a:gd name="connsiteX5" fmla="*/ 5341064 w 5560924"/>
              <a:gd name="connsiteY5" fmla="*/ 2857803 h 3701268"/>
              <a:gd name="connsiteX6" fmla="*/ 2803604 w 5560924"/>
              <a:gd name="connsiteY6" fmla="*/ 3688383 h 3701268"/>
              <a:gd name="connsiteX7" fmla="*/ 593804 w 5560924"/>
              <a:gd name="connsiteY7" fmla="*/ 3215943 h 3701268"/>
              <a:gd name="connsiteX8" fmla="*/ 29924 w 5560924"/>
              <a:gd name="connsiteY8" fmla="*/ 1371903 h 3701268"/>
              <a:gd name="connsiteX9" fmla="*/ 281384 w 5560924"/>
              <a:gd name="connsiteY9" fmla="*/ 838503 h 3701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560924" h="3701268">
                <a:moveTo>
                  <a:pt x="281384" y="838503"/>
                </a:moveTo>
                <a:cubicBezTo>
                  <a:pt x="620474" y="715313"/>
                  <a:pt x="1482804" y="749603"/>
                  <a:pt x="2064464" y="632763"/>
                </a:cubicBezTo>
                <a:cubicBezTo>
                  <a:pt x="2646124" y="515923"/>
                  <a:pt x="3286204" y="232713"/>
                  <a:pt x="3771344" y="137463"/>
                </a:cubicBezTo>
                <a:cubicBezTo>
                  <a:pt x="4256484" y="42213"/>
                  <a:pt x="4706064" y="-73357"/>
                  <a:pt x="4975304" y="61263"/>
                </a:cubicBezTo>
                <a:cubicBezTo>
                  <a:pt x="5244544" y="195883"/>
                  <a:pt x="5325824" y="479093"/>
                  <a:pt x="5386784" y="945183"/>
                </a:cubicBezTo>
                <a:cubicBezTo>
                  <a:pt x="5447744" y="1411273"/>
                  <a:pt x="5771594" y="2400603"/>
                  <a:pt x="5341064" y="2857803"/>
                </a:cubicBezTo>
                <a:cubicBezTo>
                  <a:pt x="4910534" y="3315003"/>
                  <a:pt x="3594814" y="3628693"/>
                  <a:pt x="2803604" y="3688383"/>
                </a:cubicBezTo>
                <a:cubicBezTo>
                  <a:pt x="2012394" y="3748073"/>
                  <a:pt x="1056084" y="3602023"/>
                  <a:pt x="593804" y="3215943"/>
                </a:cubicBezTo>
                <a:cubicBezTo>
                  <a:pt x="131524" y="2829863"/>
                  <a:pt x="74374" y="1770683"/>
                  <a:pt x="29924" y="1371903"/>
                </a:cubicBezTo>
                <a:cubicBezTo>
                  <a:pt x="-14526" y="973123"/>
                  <a:pt x="-57706" y="961693"/>
                  <a:pt x="281384" y="838503"/>
                </a:cubicBezTo>
                <a:close/>
              </a:path>
            </a:pathLst>
          </a:custGeom>
          <a:noFill/>
          <a:ln w="254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DCF62CA7-1682-E93C-BEA5-EACB2CE36383}"/>
                  </a:ext>
                </a:extLst>
              </p:cNvPr>
              <p:cNvSpPr txBox="1"/>
              <p:nvPr/>
            </p:nvSpPr>
            <p:spPr>
              <a:xfrm>
                <a:off x="9588093" y="2232505"/>
                <a:ext cx="23400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s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3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=0</m:t>
                      </m:r>
                    </m:oMath>
                  </m:oMathPara>
                </a14:m>
                <a:endParaRPr lang="en-US" altLang="zh-CN" sz="2400" i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DCF62CA7-1682-E93C-BEA5-EACB2CE36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8093" y="2232505"/>
                <a:ext cx="2340000" cy="461665"/>
              </a:xfrm>
              <a:prstGeom prst="rect">
                <a:avLst/>
              </a:prstGeom>
              <a:blipFill>
                <a:blip r:embed="rId19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0787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5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073F7-7EE9-58A6-20B1-0E4A1C82A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7389E3-BCD3-805A-F6F1-2A068D5EA2D2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电路分析的相关定律和定理</a:t>
            </a:r>
            <a:endParaRPr lang="en-US" altLang="zh-CN" sz="3000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B36F9D79-7BA6-CF88-EA04-7A47D853B196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2404083C-581B-C28B-3248-A90025FEC5C5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7" name="箭头: 五边形 6">
                <a:extLst>
                  <a:ext uri="{FF2B5EF4-FFF2-40B4-BE49-F238E27FC236}">
                    <a16:creationId xmlns:a16="http://schemas.microsoft.com/office/drawing/2014/main" id="{14099C87-E38D-DA7C-7C7C-11DD080327A9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" name="箭头: V 形 7">
                <a:extLst>
                  <a:ext uri="{FF2B5EF4-FFF2-40B4-BE49-F238E27FC236}">
                    <a16:creationId xmlns:a16="http://schemas.microsoft.com/office/drawing/2014/main" id="{E7ABD540-00E4-A5E0-26A4-8DE0D0898063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" name="灯片编号占位符 3">
              <a:extLst>
                <a:ext uri="{FF2B5EF4-FFF2-40B4-BE49-F238E27FC236}">
                  <a16:creationId xmlns:a16="http://schemas.microsoft.com/office/drawing/2014/main" id="{5E1F9123-9B89-F9D7-6C5D-5C210FD89178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18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E1A7096A-C955-8CC1-5D79-179593E71452}"/>
                  </a:ext>
                </a:extLst>
              </p:cNvPr>
              <p:cNvSpPr txBox="1"/>
              <p:nvPr/>
            </p:nvSpPr>
            <p:spPr>
              <a:xfrm>
                <a:off x="360000" y="2520000"/>
                <a:ext cx="4586654" cy="9388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2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ctrlPr>
                            <a:rPr lang="en-US" altLang="zh-CN" sz="280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2800" b="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𝑘</m:t>
                          </m:r>
                          <m:r>
                            <a:rPr lang="en-US" altLang="zh-CN" sz="2800" b="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800" b="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sz="2800" i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sz="2800" i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𝑡</m:t>
                          </m:r>
                          <m:r>
                            <a:rPr lang="en-US" altLang="zh-CN" sz="2800" b="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)</m:t>
                          </m:r>
                        </m:e>
                      </m:nary>
                      <m:r>
                        <a:rPr lang="en-US" altLang="zh-CN" sz="2800" b="0" i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=0</m:t>
                      </m:r>
                    </m:oMath>
                  </m:oMathPara>
                </a14:m>
                <a:endParaRPr lang="zh-CN" altLang="en-US" sz="28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E1A7096A-C955-8CC1-5D79-179593E714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2520000"/>
                <a:ext cx="4586654" cy="9388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395FD7D8-AC4F-B137-45B5-AC06F904E4D7}"/>
                  </a:ext>
                </a:extLst>
              </p:cNvPr>
              <p:cNvSpPr txBox="1"/>
              <p:nvPr/>
            </p:nvSpPr>
            <p:spPr>
              <a:xfrm>
                <a:off x="359996" y="3600000"/>
                <a:ext cx="5760022" cy="29447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sub>
                    </m:sSub>
                    <m:r>
                      <a:rPr lang="en-US" altLang="zh-CN" sz="2400" i="1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2400" i="1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𝑡</m:t>
                    </m:r>
                    <m:r>
                      <a:rPr lang="en-US" altLang="zh-CN" sz="2400" b="0" i="1" dirty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𝑡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时刻该回路中的第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𝑘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个元件的电压降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：该回路的元件数量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元件的参考电压降与回路方向一致，该电压降取“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”，否则取“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”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原理：能量不会凭空产生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消失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395FD7D8-AC4F-B137-45B5-AC06F904E4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96" y="3600000"/>
                <a:ext cx="5760022" cy="2944781"/>
              </a:xfrm>
              <a:prstGeom prst="rect">
                <a:avLst/>
              </a:prstGeom>
              <a:blipFill>
                <a:blip r:embed="rId4"/>
                <a:stretch>
                  <a:fillRect t="-414" r="-5397" b="-39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组合 22">
            <a:extLst>
              <a:ext uri="{FF2B5EF4-FFF2-40B4-BE49-F238E27FC236}">
                <a16:creationId xmlns:a16="http://schemas.microsoft.com/office/drawing/2014/main" id="{540B854B-6D67-E0E4-BC47-2E78A579A638}"/>
              </a:ext>
            </a:extLst>
          </p:cNvPr>
          <p:cNvGrpSpPr/>
          <p:nvPr/>
        </p:nvGrpSpPr>
        <p:grpSpPr>
          <a:xfrm>
            <a:off x="6480000" y="2520000"/>
            <a:ext cx="5220000" cy="4000110"/>
            <a:chOff x="6840000" y="2160000"/>
            <a:chExt cx="5220000" cy="4000110"/>
          </a:xfrm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8A061EA-0A5A-181E-5231-D48200EFBCF3}"/>
                </a:ext>
              </a:extLst>
            </p:cNvPr>
            <p:cNvSpPr/>
            <p:nvPr/>
          </p:nvSpPr>
          <p:spPr>
            <a:xfrm>
              <a:off x="7308000" y="3996000"/>
              <a:ext cx="576000" cy="576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9EE5A2EA-97BD-E54E-FA3D-6F2F9CF7D6AE}"/>
                </a:ext>
              </a:extLst>
            </p:cNvPr>
            <p:cNvSpPr/>
            <p:nvPr/>
          </p:nvSpPr>
          <p:spPr>
            <a:xfrm>
              <a:off x="7595617" y="2844000"/>
              <a:ext cx="3600000" cy="2880000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2D1224F7-99E2-40F2-40C3-35714BAB81FB}"/>
                    </a:ext>
                  </a:extLst>
                </p:cNvPr>
                <p:cNvSpPr txBox="1"/>
                <p:nvPr/>
              </p:nvSpPr>
              <p:spPr>
                <a:xfrm>
                  <a:off x="6840000" y="3672000"/>
                  <a:ext cx="504000" cy="122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lang="en-US" altLang="zh-CN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s</m:t>
                            </m:r>
                          </m:sub>
                        </m:sSub>
                      </m:oMath>
                    </m:oMathPara>
                  </a14:m>
                  <a:endParaRPr lang="en-US" altLang="zh-CN" sz="2400" i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2D1224F7-99E2-40F2-40C3-35714BAB81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40000" y="3672000"/>
                  <a:ext cx="504000" cy="122400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E8D44979-A5AC-F20F-D07B-9A9AD784D231}"/>
                </a:ext>
              </a:extLst>
            </p:cNvPr>
            <p:cNvCxnSpPr/>
            <p:nvPr/>
          </p:nvCxnSpPr>
          <p:spPr>
            <a:xfrm>
              <a:off x="9828000" y="3384000"/>
              <a:ext cx="0" cy="576000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1CA2B574-AA06-3765-963B-7B271D72AE15}"/>
                    </a:ext>
                  </a:extLst>
                </p:cNvPr>
                <p:cNvSpPr txBox="1"/>
                <p:nvPr/>
              </p:nvSpPr>
              <p:spPr>
                <a:xfrm>
                  <a:off x="9828000" y="3384000"/>
                  <a:ext cx="432000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000" i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1CA2B574-AA06-3765-963B-7B271D72AE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28000" y="3384000"/>
                  <a:ext cx="432000" cy="504000"/>
                </a:xfrm>
                <a:prstGeom prst="rect">
                  <a:avLst/>
                </a:prstGeom>
                <a:blipFill>
                  <a:blip r:embed="rId6"/>
                  <a:stretch>
                    <a:fillRect l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952327D6-86C8-D3E9-2087-25CAE5BCFA9A}"/>
                </a:ext>
              </a:extLst>
            </p:cNvPr>
            <p:cNvCxnSpPr>
              <a:cxnSpLocks/>
              <a:stCxn id="13" idx="0"/>
              <a:endCxn id="13" idx="2"/>
            </p:cNvCxnSpPr>
            <p:nvPr/>
          </p:nvCxnSpPr>
          <p:spPr>
            <a:xfrm>
              <a:off x="9395617" y="2844000"/>
              <a:ext cx="0" cy="288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DA0E238E-0F05-D751-5E41-6A6B2978D705}"/>
                </a:ext>
              </a:extLst>
            </p:cNvPr>
            <p:cNvSpPr/>
            <p:nvPr/>
          </p:nvSpPr>
          <p:spPr>
            <a:xfrm>
              <a:off x="9144000" y="3384000"/>
              <a:ext cx="504000" cy="504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0C84DD87-1C5F-2CCB-D617-75AAEC1FC502}"/>
                </a:ext>
              </a:extLst>
            </p:cNvPr>
            <p:cNvSpPr/>
            <p:nvPr/>
          </p:nvSpPr>
          <p:spPr>
            <a:xfrm>
              <a:off x="9144000" y="4680000"/>
              <a:ext cx="504000" cy="504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E7E8AECC-2943-56D6-F52E-0BF69FF403BA}"/>
                </a:ext>
              </a:extLst>
            </p:cNvPr>
            <p:cNvSpPr/>
            <p:nvPr/>
          </p:nvSpPr>
          <p:spPr>
            <a:xfrm>
              <a:off x="10944000" y="3103200"/>
              <a:ext cx="504000" cy="504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1F3B5BAE-3266-ACCB-30FA-B5ABF24522DA}"/>
                </a:ext>
              </a:extLst>
            </p:cNvPr>
            <p:cNvSpPr/>
            <p:nvPr/>
          </p:nvSpPr>
          <p:spPr>
            <a:xfrm>
              <a:off x="10944000" y="4032000"/>
              <a:ext cx="504000" cy="504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D99E1205-1E80-447A-605C-78121E447F86}"/>
                </a:ext>
              </a:extLst>
            </p:cNvPr>
            <p:cNvSpPr/>
            <p:nvPr/>
          </p:nvSpPr>
          <p:spPr>
            <a:xfrm>
              <a:off x="10944000" y="4964400"/>
              <a:ext cx="504000" cy="504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DE8CB2A9-6A06-D6FF-6173-696C26BCDB06}"/>
                </a:ext>
              </a:extLst>
            </p:cNvPr>
            <p:cNvSpPr/>
            <p:nvPr/>
          </p:nvSpPr>
          <p:spPr>
            <a:xfrm>
              <a:off x="9334800" y="2780929"/>
              <a:ext cx="122400" cy="1224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C08C551D-3200-A578-9001-28C515976BDD}"/>
                </a:ext>
              </a:extLst>
            </p:cNvPr>
            <p:cNvSpPr/>
            <p:nvPr/>
          </p:nvSpPr>
          <p:spPr>
            <a:xfrm>
              <a:off x="9334800" y="4222800"/>
              <a:ext cx="122400" cy="1224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4C46C7C8-0B1B-502E-1B47-C9C039E67477}"/>
                </a:ext>
              </a:extLst>
            </p:cNvPr>
            <p:cNvSpPr/>
            <p:nvPr/>
          </p:nvSpPr>
          <p:spPr>
            <a:xfrm>
              <a:off x="9334417" y="5662800"/>
              <a:ext cx="122400" cy="1224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98D64205-80CD-985F-3204-4FE725CA23AE}"/>
                </a:ext>
              </a:extLst>
            </p:cNvPr>
            <p:cNvSpPr/>
            <p:nvPr/>
          </p:nvSpPr>
          <p:spPr>
            <a:xfrm>
              <a:off x="11134800" y="4687200"/>
              <a:ext cx="122400" cy="1224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036EC16D-AE02-D1B5-214A-F740C019E819}"/>
                </a:ext>
              </a:extLst>
            </p:cNvPr>
            <p:cNvSpPr/>
            <p:nvPr/>
          </p:nvSpPr>
          <p:spPr>
            <a:xfrm>
              <a:off x="11134034" y="3758400"/>
              <a:ext cx="122400" cy="1224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5F88D797-80A3-5B57-5BAE-FDD5704537CF}"/>
                </a:ext>
              </a:extLst>
            </p:cNvPr>
            <p:cNvCxnSpPr/>
            <p:nvPr/>
          </p:nvCxnSpPr>
          <p:spPr>
            <a:xfrm>
              <a:off x="9828000" y="4680000"/>
              <a:ext cx="0" cy="576000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94343FE5-52B9-0454-4827-688A4EBBF5A5}"/>
                    </a:ext>
                  </a:extLst>
                </p:cNvPr>
                <p:cNvSpPr txBox="1"/>
                <p:nvPr/>
              </p:nvSpPr>
              <p:spPr>
                <a:xfrm>
                  <a:off x="9828000" y="4680000"/>
                  <a:ext cx="432000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2000" i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94343FE5-52B9-0454-4827-688A4EBBF5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28000" y="4680000"/>
                  <a:ext cx="432000" cy="504000"/>
                </a:xfrm>
                <a:prstGeom prst="rect">
                  <a:avLst/>
                </a:prstGeom>
                <a:blipFill>
                  <a:blip r:embed="rId7"/>
                  <a:stretch>
                    <a:fillRect l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BF86ADF2-FA37-8CD5-94B9-0A459E59F97F}"/>
                </a:ext>
              </a:extLst>
            </p:cNvPr>
            <p:cNvCxnSpPr/>
            <p:nvPr/>
          </p:nvCxnSpPr>
          <p:spPr>
            <a:xfrm>
              <a:off x="11628000" y="3103200"/>
              <a:ext cx="0" cy="576000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BC339571-51D9-EDDC-1D04-790B6D5DDE40}"/>
                    </a:ext>
                  </a:extLst>
                </p:cNvPr>
                <p:cNvSpPr txBox="1"/>
                <p:nvPr/>
              </p:nvSpPr>
              <p:spPr>
                <a:xfrm>
                  <a:off x="11628000" y="3103200"/>
                  <a:ext cx="432000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sz="2000" i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BC339571-51D9-EDDC-1D04-790B6D5DDE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28000" y="3103200"/>
                  <a:ext cx="432000" cy="504000"/>
                </a:xfrm>
                <a:prstGeom prst="rect">
                  <a:avLst/>
                </a:prstGeom>
                <a:blipFill>
                  <a:blip r:embed="rId8"/>
                  <a:stretch>
                    <a:fillRect l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F3C901C8-317C-D574-6BCC-A65326E63FBB}"/>
                </a:ext>
              </a:extLst>
            </p:cNvPr>
            <p:cNvCxnSpPr/>
            <p:nvPr/>
          </p:nvCxnSpPr>
          <p:spPr>
            <a:xfrm>
              <a:off x="11628000" y="4032000"/>
              <a:ext cx="0" cy="576000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D8C381C4-BC77-FE86-DEAE-54ADE3FA884B}"/>
                    </a:ext>
                  </a:extLst>
                </p:cNvPr>
                <p:cNvSpPr txBox="1"/>
                <p:nvPr/>
              </p:nvSpPr>
              <p:spPr>
                <a:xfrm>
                  <a:off x="11628000" y="4032000"/>
                  <a:ext cx="432000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altLang="zh-CN" sz="2000" i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D8C381C4-BC77-FE86-DEAE-54ADE3FA88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28000" y="4032000"/>
                  <a:ext cx="432000" cy="504000"/>
                </a:xfrm>
                <a:prstGeom prst="rect">
                  <a:avLst/>
                </a:prstGeom>
                <a:blipFill>
                  <a:blip r:embed="rId9"/>
                  <a:stretch>
                    <a:fillRect l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71E43927-7852-FE1C-66D3-8CE71B698093}"/>
                </a:ext>
              </a:extLst>
            </p:cNvPr>
            <p:cNvCxnSpPr/>
            <p:nvPr/>
          </p:nvCxnSpPr>
          <p:spPr>
            <a:xfrm>
              <a:off x="11628000" y="4964400"/>
              <a:ext cx="0" cy="576000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96CC8FB4-85E6-069D-B4F0-A1E7F95EE594}"/>
                    </a:ext>
                  </a:extLst>
                </p:cNvPr>
                <p:cNvSpPr txBox="1"/>
                <p:nvPr/>
              </p:nvSpPr>
              <p:spPr>
                <a:xfrm>
                  <a:off x="11628000" y="4964400"/>
                  <a:ext cx="432000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altLang="zh-CN" sz="2000" i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96CC8FB4-85E6-069D-B4F0-A1E7F95EE5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28000" y="4964400"/>
                  <a:ext cx="432000" cy="504000"/>
                </a:xfrm>
                <a:prstGeom prst="rect">
                  <a:avLst/>
                </a:prstGeom>
                <a:blipFill>
                  <a:blip r:embed="rId10"/>
                  <a:stretch>
                    <a:fillRect l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B5814DE7-FA7F-A1BB-CAF5-9B2BFF0AD796}"/>
                    </a:ext>
                  </a:extLst>
                </p:cNvPr>
                <p:cNvSpPr txBox="1"/>
                <p:nvPr/>
              </p:nvSpPr>
              <p:spPr>
                <a:xfrm>
                  <a:off x="8676000" y="3240000"/>
                  <a:ext cx="504000" cy="8309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lang="en-US" altLang="zh-CN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000" i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lang="zh-CN" altLang="en-US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B5814DE7-FA7F-A1BB-CAF5-9B2BFF0AD7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76000" y="3240000"/>
                  <a:ext cx="504000" cy="83099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409AC022-E048-2BD6-EB07-7EC6B761F646}"/>
                    </a:ext>
                  </a:extLst>
                </p:cNvPr>
                <p:cNvSpPr txBox="1"/>
                <p:nvPr/>
              </p:nvSpPr>
              <p:spPr>
                <a:xfrm>
                  <a:off x="8676000" y="4536000"/>
                  <a:ext cx="504000" cy="8309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lang="en-US" altLang="zh-CN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2000" i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lang="zh-CN" altLang="en-US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409AC022-E048-2BD6-EB07-7EC6B761F6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76000" y="4536000"/>
                  <a:ext cx="504000" cy="83099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111D7846-F29F-5CA5-4CE7-EBEAE39DADC8}"/>
                    </a:ext>
                  </a:extLst>
                </p:cNvPr>
                <p:cNvSpPr txBox="1"/>
                <p:nvPr/>
              </p:nvSpPr>
              <p:spPr>
                <a:xfrm>
                  <a:off x="10476000" y="2959200"/>
                  <a:ext cx="504000" cy="8309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lang="en-US" altLang="zh-CN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sz="2000" i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lang="zh-CN" altLang="en-US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111D7846-F29F-5CA5-4CE7-EBEAE39DAD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76000" y="2959200"/>
                  <a:ext cx="504000" cy="83099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5287FA36-50D1-C443-DFAF-A2CC577836BD}"/>
                    </a:ext>
                  </a:extLst>
                </p:cNvPr>
                <p:cNvSpPr txBox="1"/>
                <p:nvPr/>
              </p:nvSpPr>
              <p:spPr>
                <a:xfrm>
                  <a:off x="10476000" y="3889000"/>
                  <a:ext cx="504000" cy="8309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lang="en-US" altLang="zh-CN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altLang="zh-CN" sz="2000" i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lang="zh-CN" altLang="en-US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5287FA36-50D1-C443-DFAF-A2CC577836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76000" y="3889000"/>
                  <a:ext cx="504000" cy="83099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C3C7EBD8-A2B0-1744-6CD1-170B083A8E4C}"/>
                    </a:ext>
                  </a:extLst>
                </p:cNvPr>
                <p:cNvSpPr txBox="1"/>
                <p:nvPr/>
              </p:nvSpPr>
              <p:spPr>
                <a:xfrm>
                  <a:off x="10476000" y="4820400"/>
                  <a:ext cx="504000" cy="8309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lang="en-US" altLang="zh-CN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altLang="zh-CN" sz="2000" i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lang="zh-CN" altLang="en-US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C3C7EBD8-A2B0-1744-6CD1-170B083A8E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76000" y="4820400"/>
                  <a:ext cx="504000" cy="830997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AAD1F53A-018A-2C25-AE38-498A7F096ED1}"/>
                    </a:ext>
                  </a:extLst>
                </p:cNvPr>
                <p:cNvSpPr txBox="1"/>
                <p:nvPr/>
              </p:nvSpPr>
              <p:spPr>
                <a:xfrm>
                  <a:off x="8280000" y="2160000"/>
                  <a:ext cx="576000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s</m:t>
                            </m:r>
                          </m:sub>
                        </m:sSub>
                      </m:oMath>
                    </m:oMathPara>
                  </a14:m>
                  <a:endParaRPr lang="en-US" altLang="zh-CN" sz="2400" i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AAD1F53A-018A-2C25-AE38-498A7F096E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80000" y="2160000"/>
                  <a:ext cx="576000" cy="50400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D357349A-0E03-2F48-EC92-3394FC20F527}"/>
                </a:ext>
              </a:extLst>
            </p:cNvPr>
            <p:cNvCxnSpPr/>
            <p:nvPr/>
          </p:nvCxnSpPr>
          <p:spPr>
            <a:xfrm>
              <a:off x="8280000" y="2664000"/>
              <a:ext cx="576000" cy="0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AE333E8-840F-A039-54C2-27F8AED1E8A7}"/>
                </a:ext>
              </a:extLst>
            </p:cNvPr>
            <p:cNvSpPr txBox="1"/>
            <p:nvPr/>
          </p:nvSpPr>
          <p:spPr>
            <a:xfrm>
              <a:off x="9107999" y="2412000"/>
              <a:ext cx="57600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6826F06F-66BC-C156-230B-3C80EE790D7F}"/>
                </a:ext>
              </a:extLst>
            </p:cNvPr>
            <p:cNvSpPr txBox="1"/>
            <p:nvPr/>
          </p:nvSpPr>
          <p:spPr>
            <a:xfrm>
              <a:off x="9324000" y="4068000"/>
              <a:ext cx="57600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10C093A2-1363-5F57-B7F3-741E1DB519EC}"/>
                </a:ext>
              </a:extLst>
            </p:cNvPr>
            <p:cNvSpPr txBox="1"/>
            <p:nvPr/>
          </p:nvSpPr>
          <p:spPr>
            <a:xfrm>
              <a:off x="9107617" y="5760000"/>
              <a:ext cx="57600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DB6C38E8-E8CA-5EFF-81BB-787C38EBDD46}"/>
                </a:ext>
              </a:extLst>
            </p:cNvPr>
            <p:cNvSpPr txBox="1"/>
            <p:nvPr/>
          </p:nvSpPr>
          <p:spPr>
            <a:xfrm>
              <a:off x="11088000" y="3619772"/>
              <a:ext cx="576000" cy="3996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560E8F6E-F1EF-8A47-784A-4376258DB5A4}"/>
                </a:ext>
              </a:extLst>
            </p:cNvPr>
            <p:cNvSpPr txBox="1"/>
            <p:nvPr/>
          </p:nvSpPr>
          <p:spPr>
            <a:xfrm>
              <a:off x="11088000" y="4551742"/>
              <a:ext cx="576000" cy="3996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</p:txBody>
        </p:sp>
      </p:grpSp>
      <p:sp>
        <p:nvSpPr>
          <p:cNvPr id="50" name="弧形 49">
            <a:extLst>
              <a:ext uri="{FF2B5EF4-FFF2-40B4-BE49-F238E27FC236}">
                <a16:creationId xmlns:a16="http://schemas.microsoft.com/office/drawing/2014/main" id="{D50A7AA7-C2F5-45EF-90B2-7B1B69CCDDB0}"/>
              </a:ext>
            </a:extLst>
          </p:cNvPr>
          <p:cNvSpPr/>
          <p:nvPr/>
        </p:nvSpPr>
        <p:spPr>
          <a:xfrm>
            <a:off x="7308000" y="3348000"/>
            <a:ext cx="2880000" cy="2592000"/>
          </a:xfrm>
          <a:prstGeom prst="arc">
            <a:avLst>
              <a:gd name="adj1" fmla="val 12756627"/>
              <a:gd name="adj2" fmla="val 8901498"/>
            </a:avLst>
          </a:prstGeom>
          <a:ln w="25400">
            <a:solidFill>
              <a:srgbClr val="FF0000"/>
            </a:solidFill>
            <a:prstDash val="sys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弧形 50">
            <a:extLst>
              <a:ext uri="{FF2B5EF4-FFF2-40B4-BE49-F238E27FC236}">
                <a16:creationId xmlns:a16="http://schemas.microsoft.com/office/drawing/2014/main" id="{2CA36A85-870B-899D-7160-02085AB069B1}"/>
              </a:ext>
            </a:extLst>
          </p:cNvPr>
          <p:cNvSpPr/>
          <p:nvPr/>
        </p:nvSpPr>
        <p:spPr>
          <a:xfrm>
            <a:off x="7668000" y="3924000"/>
            <a:ext cx="720000" cy="1440000"/>
          </a:xfrm>
          <a:prstGeom prst="arc">
            <a:avLst>
              <a:gd name="adj1" fmla="val 3040111"/>
              <a:gd name="adj2" fmla="val 18613563"/>
            </a:avLst>
          </a:prstGeom>
          <a:ln w="25400">
            <a:solidFill>
              <a:srgbClr val="FF0000"/>
            </a:solidFill>
            <a:prstDash val="sys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CC09A677-0E25-35C1-9430-9BFA3A000EFE}"/>
                  </a:ext>
                </a:extLst>
              </p:cNvPr>
              <p:cNvSpPr txBox="1"/>
              <p:nvPr/>
            </p:nvSpPr>
            <p:spPr>
              <a:xfrm>
                <a:off x="8417148" y="2232000"/>
                <a:ext cx="361209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s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3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4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5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=0</m:t>
                      </m:r>
                    </m:oMath>
                  </m:oMathPara>
                </a14:m>
                <a:endParaRPr lang="en-US" altLang="zh-CN" sz="2400" i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CC09A677-0E25-35C1-9430-9BFA3A000E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7148" y="2232000"/>
                <a:ext cx="3612093" cy="461665"/>
              </a:xfrm>
              <a:prstGeom prst="rect">
                <a:avLst/>
              </a:prstGeom>
              <a:blipFill>
                <a:blip r:embed="rId17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EB1F82E7-2D74-10D7-C5BF-4505346431F7}"/>
              </a:ext>
            </a:extLst>
          </p:cNvPr>
          <p:cNvCxnSpPr>
            <a:cxnSpLocks/>
          </p:cNvCxnSpPr>
          <p:nvPr/>
        </p:nvCxnSpPr>
        <p:spPr>
          <a:xfrm flipV="1">
            <a:off x="9323617" y="2656800"/>
            <a:ext cx="301486" cy="805714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B3A038B3-D325-C919-E52A-E1FAD2657A8F}"/>
              </a:ext>
            </a:extLst>
          </p:cNvPr>
          <p:cNvCxnSpPr>
            <a:cxnSpLocks/>
          </p:cNvCxnSpPr>
          <p:nvPr/>
        </p:nvCxnSpPr>
        <p:spPr>
          <a:xfrm flipH="1">
            <a:off x="7797114" y="5353973"/>
            <a:ext cx="194030" cy="966082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66CB6F45-C4EF-DD45-E103-17E860C976EA}"/>
                  </a:ext>
                </a:extLst>
              </p:cNvPr>
              <p:cNvSpPr txBox="1"/>
              <p:nvPr/>
            </p:nvSpPr>
            <p:spPr>
              <a:xfrm>
                <a:off x="6228191" y="6274412"/>
                <a:ext cx="259161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s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=0</m:t>
                      </m:r>
                    </m:oMath>
                  </m:oMathPara>
                </a14:m>
                <a:endParaRPr lang="en-US" altLang="zh-CN" sz="2400" i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66CB6F45-C4EF-DD45-E103-17E860C97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8191" y="6274412"/>
                <a:ext cx="2591617" cy="461665"/>
              </a:xfrm>
              <a:prstGeom prst="rect">
                <a:avLst/>
              </a:prstGeom>
              <a:blipFill>
                <a:blip r:embed="rId18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88157B6C-F41D-721E-F27D-C5651A0DF571}"/>
                  </a:ext>
                </a:extLst>
              </p:cNvPr>
              <p:cNvSpPr txBox="1"/>
              <p:nvPr/>
            </p:nvSpPr>
            <p:spPr>
              <a:xfrm>
                <a:off x="360000" y="828000"/>
                <a:ext cx="11306443" cy="16766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基尔霍夫电压定律（</a:t>
                </a:r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Kirchhoff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′</m:t>
                    </m:r>
                  </m:oMath>
                </a14:m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Voltage Laws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KVL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）：</a:t>
                </a:r>
                <a:endParaRPr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在集总电路中，对任一回路，在任何时刻，沿着该回路的所有元件电压降的代数和为</a:t>
                </a:r>
                <a:r>
                  <a:rPr lang="zh-CN" altLang="en-US" sz="28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8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</a:p>
            </p:txBody>
          </p:sp>
        </mc:Choice>
        <mc:Fallback xmlns="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88157B6C-F41D-721E-F27D-C5651A0DF5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8000"/>
                <a:ext cx="11306443" cy="1676677"/>
              </a:xfrm>
              <a:prstGeom prst="rect">
                <a:avLst/>
              </a:prstGeom>
              <a:blipFill>
                <a:blip r:embed="rId19"/>
                <a:stretch>
                  <a:fillRect l="-970" t="-1455" b="-94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6525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6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AF780A-0765-2BFA-7EB5-709D72D6F0DE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电路分析的相关定律和定理</a:t>
            </a:r>
            <a:endParaRPr lang="en-US" altLang="zh-CN" sz="3000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B720A28C-6F66-8148-ED2C-82ACD9C0EF7C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9FDB8A56-B746-BB74-8069-5A54040E8A90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" name="箭头: 五边形 5">
                <a:extLst>
                  <a:ext uri="{FF2B5EF4-FFF2-40B4-BE49-F238E27FC236}">
                    <a16:creationId xmlns:a16="http://schemas.microsoft.com/office/drawing/2014/main" id="{93A79C83-7914-9D68-5F9A-0BE635846A98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箭头: V 形 6">
                <a:extLst>
                  <a:ext uri="{FF2B5EF4-FFF2-40B4-BE49-F238E27FC236}">
                    <a16:creationId xmlns:a16="http://schemas.microsoft.com/office/drawing/2014/main" id="{ED21E0F2-7B5E-DA58-EC38-430C45253FF2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灯片编号占位符 3">
              <a:extLst>
                <a:ext uri="{FF2B5EF4-FFF2-40B4-BE49-F238E27FC236}">
                  <a16:creationId xmlns:a16="http://schemas.microsoft.com/office/drawing/2014/main" id="{2EFFFAC2-5BA4-980A-86B9-14927D4878EC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19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609D97EC-F9B5-B375-B95D-E22F9DFF4191}"/>
              </a:ext>
            </a:extLst>
          </p:cNvPr>
          <p:cNvSpPr txBox="1"/>
          <p:nvPr/>
        </p:nvSpPr>
        <p:spPr>
          <a:xfrm>
            <a:off x="360001" y="828000"/>
            <a:ext cx="11159598" cy="2270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叠加定理（</a:t>
            </a:r>
            <a:r>
              <a:rPr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Superposition Theorem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线性电路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中，任何支路</a:t>
            </a:r>
            <a:r>
              <a:rPr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元件的电流</a:t>
            </a:r>
            <a:r>
              <a:rPr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电压都可以看作是每个独立电源单独作用于电路时，该支路上所产生的电流或电压的代数和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独立电源单独作用时，强制令其它独立源为 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，即电压源短路，电流源开路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9C9DCA2C-4E7F-86A7-716B-364B4198E3DA}"/>
              </a:ext>
            </a:extLst>
          </p:cNvPr>
          <p:cNvGrpSpPr/>
          <p:nvPr/>
        </p:nvGrpSpPr>
        <p:grpSpPr>
          <a:xfrm>
            <a:off x="720000" y="3600000"/>
            <a:ext cx="4455082" cy="2087098"/>
            <a:chOff x="360000" y="3384830"/>
            <a:chExt cx="4455082" cy="208709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EE87FECD-CD30-9A5C-80A9-F1511BE8DA3C}"/>
                    </a:ext>
                  </a:extLst>
                </p:cNvPr>
                <p:cNvSpPr txBox="1"/>
                <p:nvPr/>
              </p:nvSpPr>
              <p:spPr>
                <a:xfrm>
                  <a:off x="4239082" y="4421381"/>
                  <a:ext cx="576000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s</m:t>
                            </m:r>
                          </m:sub>
                        </m:sSub>
                      </m:oMath>
                    </m:oMathPara>
                  </a14:m>
                  <a:endParaRPr lang="en-US" altLang="zh-CN" sz="2400" i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EE87FECD-CD30-9A5C-80A9-F1511BE8DA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9082" y="4421381"/>
                  <a:ext cx="576000" cy="5040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93193504-268E-E0D3-03A0-A6E914DF23F7}"/>
                </a:ext>
              </a:extLst>
            </p:cNvPr>
            <p:cNvSpPr/>
            <p:nvPr/>
          </p:nvSpPr>
          <p:spPr>
            <a:xfrm>
              <a:off x="729138" y="4402728"/>
              <a:ext cx="576000" cy="576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221DA45C-4260-6328-2E26-7DB5CBCCD353}"/>
                </a:ext>
              </a:extLst>
            </p:cNvPr>
            <p:cNvSpPr/>
            <p:nvPr/>
          </p:nvSpPr>
          <p:spPr>
            <a:xfrm>
              <a:off x="1017139" y="3970728"/>
              <a:ext cx="2880000" cy="1440000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D525BC67-A270-340F-C2DB-93DADDE9DC48}"/>
                    </a:ext>
                  </a:extLst>
                </p:cNvPr>
                <p:cNvSpPr txBox="1"/>
                <p:nvPr/>
              </p:nvSpPr>
              <p:spPr>
                <a:xfrm>
                  <a:off x="1043004" y="3384830"/>
                  <a:ext cx="112513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</m:oMath>
                  </a14:m>
                  <a:r>
                    <a:rPr lang="en-US" altLang="zh-CN" sz="24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altLang="zh-CN" sz="2400" i="1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</m:oMath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D525BC67-A270-340F-C2DB-93DADDE9DC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3004" y="3384830"/>
                  <a:ext cx="1125136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541" b="-2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A6654D4A-9F15-0246-96A5-2689AECC174B}"/>
                </a:ext>
              </a:extLst>
            </p:cNvPr>
            <p:cNvCxnSpPr/>
            <p:nvPr/>
          </p:nvCxnSpPr>
          <p:spPr>
            <a:xfrm>
              <a:off x="4279901" y="4402728"/>
              <a:ext cx="0" cy="576000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4B7456B0-7A91-FB2F-08A2-95541EBA82BA}"/>
                </a:ext>
              </a:extLst>
            </p:cNvPr>
            <p:cNvCxnSpPr>
              <a:cxnSpLocks/>
            </p:cNvCxnSpPr>
            <p:nvPr/>
          </p:nvCxnSpPr>
          <p:spPr>
            <a:xfrm>
              <a:off x="2844002" y="3970728"/>
              <a:ext cx="0" cy="144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D78C4019-48CA-7C3E-8463-B3BF4043B540}"/>
                </a:ext>
              </a:extLst>
            </p:cNvPr>
            <p:cNvSpPr/>
            <p:nvPr/>
          </p:nvSpPr>
          <p:spPr>
            <a:xfrm>
              <a:off x="2736000" y="4550442"/>
              <a:ext cx="216000" cy="576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F71EAE8B-6347-4BDA-1632-F607FEA2A3E4}"/>
                </a:ext>
              </a:extLst>
            </p:cNvPr>
            <p:cNvSpPr/>
            <p:nvPr/>
          </p:nvSpPr>
          <p:spPr>
            <a:xfrm>
              <a:off x="1294391" y="3862728"/>
              <a:ext cx="576000" cy="216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160C8480-F6FB-B146-ACDD-F706AACDAB72}"/>
                </a:ext>
              </a:extLst>
            </p:cNvPr>
            <p:cNvSpPr/>
            <p:nvPr/>
          </p:nvSpPr>
          <p:spPr>
            <a:xfrm>
              <a:off x="2782802" y="3909528"/>
              <a:ext cx="122400" cy="1224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66A6CFF1-C89D-C0D9-9175-DE759E212AF1}"/>
                </a:ext>
              </a:extLst>
            </p:cNvPr>
            <p:cNvCxnSpPr/>
            <p:nvPr/>
          </p:nvCxnSpPr>
          <p:spPr>
            <a:xfrm>
              <a:off x="2195170" y="3868932"/>
              <a:ext cx="576000" cy="0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7676BBC7-A570-10CF-A08B-405FB70A1D3C}"/>
                </a:ext>
              </a:extLst>
            </p:cNvPr>
            <p:cNvSpPr/>
            <p:nvPr/>
          </p:nvSpPr>
          <p:spPr>
            <a:xfrm>
              <a:off x="2782802" y="5349528"/>
              <a:ext cx="122400" cy="1224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DBB8702D-8584-DD6B-7AF8-9D23E4839B5D}"/>
                </a:ext>
              </a:extLst>
            </p:cNvPr>
            <p:cNvSpPr/>
            <p:nvPr/>
          </p:nvSpPr>
          <p:spPr>
            <a:xfrm>
              <a:off x="3609139" y="4402728"/>
              <a:ext cx="576000" cy="576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D008F15B-7138-B0B4-5E87-4FF886E54D59}"/>
                </a:ext>
              </a:extLst>
            </p:cNvPr>
            <p:cNvCxnSpPr>
              <a:cxnSpLocks/>
              <a:stCxn id="50" idx="6"/>
              <a:endCxn id="50" idx="2"/>
            </p:cNvCxnSpPr>
            <p:nvPr/>
          </p:nvCxnSpPr>
          <p:spPr>
            <a:xfrm flipH="1">
              <a:off x="3609139" y="4690728"/>
              <a:ext cx="57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3B3D6FC2-F265-23F0-7314-84008F470014}"/>
                </a:ext>
              </a:extLst>
            </p:cNvPr>
            <p:cNvCxnSpPr>
              <a:cxnSpLocks/>
            </p:cNvCxnSpPr>
            <p:nvPr/>
          </p:nvCxnSpPr>
          <p:spPr>
            <a:xfrm>
              <a:off x="2736000" y="4048020"/>
              <a:ext cx="0" cy="424147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9B6B1B9B-8A3E-3F31-4F9C-2F36E912FB85}"/>
                    </a:ext>
                  </a:extLst>
                </p:cNvPr>
                <p:cNvSpPr txBox="1"/>
                <p:nvPr/>
              </p:nvSpPr>
              <p:spPr>
                <a:xfrm>
                  <a:off x="1343628" y="4007510"/>
                  <a:ext cx="57600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400" i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9B6B1B9B-8A3E-3F31-4F9C-2F36E912FB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43628" y="4007510"/>
                  <a:ext cx="576000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3158" b="-2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F385F8EF-0515-330E-492C-7BB10B8BB09E}"/>
                    </a:ext>
                  </a:extLst>
                </p:cNvPr>
                <p:cNvSpPr txBox="1"/>
                <p:nvPr/>
              </p:nvSpPr>
              <p:spPr>
                <a:xfrm>
                  <a:off x="360000" y="4078728"/>
                  <a:ext cx="504000" cy="122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lang="en-US" altLang="zh-CN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s</m:t>
                            </m:r>
                          </m:sub>
                        </m:sSub>
                      </m:oMath>
                    </m:oMathPara>
                  </a14:m>
                  <a:endParaRPr lang="en-US" altLang="zh-CN" sz="2400" i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F385F8EF-0515-330E-492C-7BB10B8BB0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000" y="4078728"/>
                  <a:ext cx="504000" cy="1224000"/>
                </a:xfrm>
                <a:prstGeom prst="rect">
                  <a:avLst/>
                </a:prstGeom>
                <a:blipFill>
                  <a:blip r:embed="rId6"/>
                  <a:stretch>
                    <a:fillRect l="-120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2852AE65-E7F6-3581-2975-6035C791AE53}"/>
                    </a:ext>
                  </a:extLst>
                </p:cNvPr>
                <p:cNvSpPr txBox="1"/>
                <p:nvPr/>
              </p:nvSpPr>
              <p:spPr>
                <a:xfrm>
                  <a:off x="2268000" y="4590262"/>
                  <a:ext cx="57600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2400" i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2852AE65-E7F6-3581-2975-6035C791AE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68000" y="4590262"/>
                  <a:ext cx="576000" cy="461665"/>
                </a:xfrm>
                <a:prstGeom prst="rect">
                  <a:avLst/>
                </a:prstGeom>
                <a:blipFill>
                  <a:blip r:embed="rId7"/>
                  <a:stretch>
                    <a:fillRect l="-5263" b="-26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A95A3C3D-E96E-FD03-C634-21F19AE8F65D}"/>
                    </a:ext>
                  </a:extLst>
                </p:cNvPr>
                <p:cNvSpPr txBox="1"/>
                <p:nvPr/>
              </p:nvSpPr>
              <p:spPr>
                <a:xfrm>
                  <a:off x="2952000" y="4209095"/>
                  <a:ext cx="504000" cy="122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lang="en-US" altLang="zh-CN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2400" i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A95A3C3D-E96E-FD03-C634-21F19AE8F6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2000" y="4209095"/>
                  <a:ext cx="504000" cy="1224000"/>
                </a:xfrm>
                <a:prstGeom prst="rect">
                  <a:avLst/>
                </a:prstGeom>
                <a:blipFill>
                  <a:blip r:embed="rId8"/>
                  <a:stretch>
                    <a:fillRect l="-48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565CE04B-93A0-C342-463B-B45BC372430C}"/>
                    </a:ext>
                  </a:extLst>
                </p:cNvPr>
                <p:cNvSpPr txBox="1"/>
                <p:nvPr/>
              </p:nvSpPr>
              <p:spPr>
                <a:xfrm>
                  <a:off x="2376000" y="3398748"/>
                  <a:ext cx="489319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565CE04B-93A0-C342-463B-B45BC37243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76000" y="3398748"/>
                  <a:ext cx="489319" cy="461665"/>
                </a:xfrm>
                <a:prstGeom prst="rect">
                  <a:avLst/>
                </a:prstGeom>
                <a:blipFill>
                  <a:blip r:embed="rId9"/>
                  <a:stretch>
                    <a:fillRect l="-5000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4FCB9164-E268-A828-EA44-E917BAD965A6}"/>
                    </a:ext>
                  </a:extLst>
                </p:cNvPr>
                <p:cNvSpPr txBox="1"/>
                <p:nvPr/>
              </p:nvSpPr>
              <p:spPr>
                <a:xfrm>
                  <a:off x="2356413" y="3947135"/>
                  <a:ext cx="489319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4FCB9164-E268-A828-EA44-E917BAD965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6413" y="3947135"/>
                  <a:ext cx="489319" cy="461665"/>
                </a:xfrm>
                <a:prstGeom prst="rect">
                  <a:avLst/>
                </a:prstGeom>
                <a:blipFill>
                  <a:blip r:embed="rId10"/>
                  <a:stretch>
                    <a:fillRect l="-5000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DB55DC12-6F13-CD28-56CD-9B06BAFB2EFE}"/>
                  </a:ext>
                </a:extLst>
              </p:cNvPr>
              <p:cNvSpPr txBox="1"/>
              <p:nvPr/>
            </p:nvSpPr>
            <p:spPr>
              <a:xfrm>
                <a:off x="9000001" y="4320000"/>
                <a:ext cx="2252350" cy="967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e>
                        <m:sub>
                          <m:r>
                            <a:rPr lang="en-US" altLang="zh-CN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e>
                        <m:sub>
                          <m:r>
                            <a:rPr lang="en-US" altLang="zh-CN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′</m:t>
                          </m:r>
                        </m:sup>
                      </m:sSubSup>
                      <m:r>
                        <a:rPr lang="en-US" altLang="zh-CN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Sup>
                        <m:sSubSupPr>
                          <m:ctrlPr>
                            <a:rPr lang="en-US" altLang="zh-CN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e>
                        <m:sub>
                          <m:r>
                            <a:rPr lang="en-US" altLang="zh-CN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′′</m:t>
                          </m:r>
                        </m:sup>
                      </m:sSubSup>
                    </m:oMath>
                  </m:oMathPara>
                </a14:m>
                <a:endParaRPr lang="en-US" altLang="zh-CN" sz="28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e>
                        <m:sub>
                          <m:r>
                            <a:rPr lang="en-US" altLang="zh-CN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28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e>
                        <m:sub>
                          <m:r>
                            <a:rPr lang="en-US" altLang="zh-CN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′</m:t>
                          </m:r>
                        </m:sup>
                      </m:sSubSup>
                      <m:r>
                        <a:rPr lang="en-US" altLang="zh-CN" sz="28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Sup>
                        <m:sSubSupPr>
                          <m:ctrlPr>
                            <a:rPr lang="en-US" altLang="zh-CN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e>
                        <m:sub>
                          <m:r>
                            <a:rPr lang="en-US" altLang="zh-CN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′′</m:t>
                          </m:r>
                        </m:sup>
                      </m:sSubSup>
                    </m:oMath>
                  </m:oMathPara>
                </a14:m>
                <a:endParaRPr lang="en-US" altLang="zh-CN" sz="28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DB55DC12-6F13-CD28-56CD-9B06BAFB2E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0001" y="4320000"/>
                <a:ext cx="2252350" cy="96795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图片 18">
            <a:extLst>
              <a:ext uri="{FF2B5EF4-FFF2-40B4-BE49-F238E27FC236}">
                <a16:creationId xmlns:a16="http://schemas.microsoft.com/office/drawing/2014/main" id="{C55AD5D0-E489-ACE0-5585-072D766B3EE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00000" y="3060000"/>
            <a:ext cx="3546469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8470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6A24D-027C-6B3E-1FF7-1B6640AD0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A52E-774D-9291-AE1C-BDDF0F628B8C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电路分析的相关定律和定理</a:t>
            </a:r>
            <a:endParaRPr lang="en-US" altLang="zh-CN" sz="3000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805601D-75C4-1CE6-B49E-264933899482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0D9CFDD9-ADD5-6295-245C-37766D64852A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" name="箭头: 五边形 5">
                <a:extLst>
                  <a:ext uri="{FF2B5EF4-FFF2-40B4-BE49-F238E27FC236}">
                    <a16:creationId xmlns:a16="http://schemas.microsoft.com/office/drawing/2014/main" id="{69608ED9-4CC2-D990-0AF7-90A07C8A6AA2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箭头: V 形 6">
                <a:extLst>
                  <a:ext uri="{FF2B5EF4-FFF2-40B4-BE49-F238E27FC236}">
                    <a16:creationId xmlns:a16="http://schemas.microsoft.com/office/drawing/2014/main" id="{A64F6A9E-9779-C61C-75B7-AD7B111E071F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灯片编号占位符 3">
              <a:extLst>
                <a:ext uri="{FF2B5EF4-FFF2-40B4-BE49-F238E27FC236}">
                  <a16:creationId xmlns:a16="http://schemas.microsoft.com/office/drawing/2014/main" id="{5723D163-21C2-5F72-69CD-6DA29E2DDC15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20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68A7743-9DCF-6091-2031-48429714A258}"/>
                  </a:ext>
                </a:extLst>
              </p:cNvPr>
              <p:cNvSpPr txBox="1"/>
              <p:nvPr/>
            </p:nvSpPr>
            <p:spPr>
              <a:xfrm>
                <a:off x="360000" y="828000"/>
                <a:ext cx="10825451" cy="16766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戴维南定理（</a:t>
                </a:r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Thevenin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′</m:t>
                    </m:r>
                  </m:oMath>
                </a14:m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 Theorem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）：</a:t>
                </a:r>
                <a:endParaRPr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任意一个线性含源电阻单口网络，就端口特性而言，可以等效为一个电压源和一个电阻串联 </a:t>
                </a:r>
                <a:endParaRPr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68A7743-9DCF-6091-2031-48429714A2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8000"/>
                <a:ext cx="10825451" cy="1676677"/>
              </a:xfrm>
              <a:prstGeom prst="rect">
                <a:avLst/>
              </a:prstGeom>
              <a:blipFill>
                <a:blip r:embed="rId3"/>
                <a:stretch>
                  <a:fillRect l="-1014" t="-1455" b="-94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8" name="组合 97">
            <a:extLst>
              <a:ext uri="{FF2B5EF4-FFF2-40B4-BE49-F238E27FC236}">
                <a16:creationId xmlns:a16="http://schemas.microsoft.com/office/drawing/2014/main" id="{BCDABE13-039D-59B6-83EB-5E45C4B4BEBB}"/>
              </a:ext>
            </a:extLst>
          </p:cNvPr>
          <p:cNvGrpSpPr/>
          <p:nvPr/>
        </p:nvGrpSpPr>
        <p:grpSpPr>
          <a:xfrm>
            <a:off x="720000" y="2520000"/>
            <a:ext cx="2700000" cy="1900908"/>
            <a:chOff x="720000" y="4392757"/>
            <a:chExt cx="2700000" cy="19009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43BC1D83-4617-025F-A3C3-B89D6D9846C0}"/>
                    </a:ext>
                  </a:extLst>
                </p:cNvPr>
                <p:cNvSpPr txBox="1"/>
                <p:nvPr/>
              </p:nvSpPr>
              <p:spPr>
                <a:xfrm>
                  <a:off x="2844000" y="5832000"/>
                  <a:ext cx="37316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  <m:r>
                          <a:rPr lang="en-US" altLang="zh-CN" sz="24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′</m:t>
                        </m:r>
                      </m:oMath>
                    </m:oMathPara>
                  </a14:m>
                  <a:endParaRPr lang="en-US" altLang="zh-CN" sz="2400" i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DE3676EC-7411-B92B-82AE-695B49EFA9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44000" y="5832000"/>
                  <a:ext cx="373160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31148" r="-491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4F5C7D34-EB5A-AF51-2446-BB0930222A92}"/>
                    </a:ext>
                  </a:extLst>
                </p:cNvPr>
                <p:cNvSpPr txBox="1"/>
                <p:nvPr/>
              </p:nvSpPr>
              <p:spPr>
                <a:xfrm>
                  <a:off x="2844000" y="4536000"/>
                  <a:ext cx="37316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oMath>
                    </m:oMathPara>
                  </a14:m>
                  <a:endParaRPr lang="en-US" altLang="zh-CN" sz="2400" i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57486D0F-A9CB-D0FC-F58E-ED04638C3A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44000" y="4536000"/>
                  <a:ext cx="373160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1639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D6EE83D8-73BF-475F-5F8F-C76082EE09B2}"/>
                    </a:ext>
                  </a:extLst>
                </p:cNvPr>
                <p:cNvSpPr txBox="1"/>
                <p:nvPr/>
              </p:nvSpPr>
              <p:spPr>
                <a:xfrm>
                  <a:off x="2214000" y="4392757"/>
                  <a:ext cx="57600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A</m:t>
                            </m:r>
                          </m:sub>
                        </m:sSub>
                      </m:oMath>
                    </m:oMathPara>
                  </a14:m>
                  <a:endParaRPr lang="en-US" altLang="zh-CN" sz="2400" i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EFCED5C6-3866-358D-B7B8-448689E452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4000" y="4392757"/>
                  <a:ext cx="576000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6D3C8813-4FA0-CD8A-0157-A12DD4E0D1AC}"/>
                </a:ext>
              </a:extLst>
            </p:cNvPr>
            <p:cNvCxnSpPr/>
            <p:nvPr/>
          </p:nvCxnSpPr>
          <p:spPr>
            <a:xfrm>
              <a:off x="2232000" y="4860000"/>
              <a:ext cx="540000" cy="0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5EC51443-5A06-0708-6555-BC9BFD7CCE6D}"/>
                    </a:ext>
                  </a:extLst>
                </p:cNvPr>
                <p:cNvSpPr txBox="1"/>
                <p:nvPr/>
              </p:nvSpPr>
              <p:spPr>
                <a:xfrm>
                  <a:off x="2916000" y="4838528"/>
                  <a:ext cx="504000" cy="122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lang="en-US" altLang="zh-CN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A</m:t>
                            </m:r>
                          </m:sub>
                        </m:sSub>
                      </m:oMath>
                    </m:oMathPara>
                  </a14:m>
                  <a:endParaRPr lang="en-US" altLang="zh-CN" sz="2400" i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8F5B4762-C8E7-D9DC-8D8D-27DFE01399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6000" y="4838528"/>
                  <a:ext cx="504000" cy="1224000"/>
                </a:xfrm>
                <a:prstGeom prst="rect">
                  <a:avLst/>
                </a:prstGeom>
                <a:blipFill>
                  <a:blip r:embed="rId7"/>
                  <a:stretch>
                    <a:fillRect l="-72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6A2D4B5-08F7-7F59-1E3A-CD3271907287}"/>
                </a:ext>
              </a:extLst>
            </p:cNvPr>
            <p:cNvSpPr/>
            <p:nvPr/>
          </p:nvSpPr>
          <p:spPr>
            <a:xfrm>
              <a:off x="720000" y="4680000"/>
              <a:ext cx="1440000" cy="1440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线性含源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电阻网络</a:t>
              </a:r>
            </a:p>
          </p:txBody>
        </p:sp>
        <p:cxnSp>
          <p:nvCxnSpPr>
            <p:cNvPr id="22" name="直线连接符 5">
              <a:extLst>
                <a:ext uri="{FF2B5EF4-FFF2-40B4-BE49-F238E27FC236}">
                  <a16:creationId xmlns:a16="http://schemas.microsoft.com/office/drawing/2014/main" id="{97E4855E-713F-6634-CF82-5A2E212FD6A8}"/>
                </a:ext>
              </a:extLst>
            </p:cNvPr>
            <p:cNvCxnSpPr>
              <a:cxnSpLocks/>
              <a:endCxn id="23" idx="2"/>
            </p:cNvCxnSpPr>
            <p:nvPr/>
          </p:nvCxnSpPr>
          <p:spPr>
            <a:xfrm>
              <a:off x="2160000" y="4970160"/>
              <a:ext cx="64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E9BEF0A7-3D3A-5F91-96EA-EA8E825578E6}"/>
                </a:ext>
              </a:extLst>
            </p:cNvPr>
            <p:cNvSpPr/>
            <p:nvPr/>
          </p:nvSpPr>
          <p:spPr>
            <a:xfrm>
              <a:off x="2808000" y="4905076"/>
              <a:ext cx="130168" cy="1301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26" name="直线连接符 5">
              <a:extLst>
                <a:ext uri="{FF2B5EF4-FFF2-40B4-BE49-F238E27FC236}">
                  <a16:creationId xmlns:a16="http://schemas.microsoft.com/office/drawing/2014/main" id="{D2A934FA-A154-F04C-D29C-4F2621C86356}"/>
                </a:ext>
              </a:extLst>
            </p:cNvPr>
            <p:cNvCxnSpPr>
              <a:cxnSpLocks/>
              <a:endCxn id="27" idx="2"/>
            </p:cNvCxnSpPr>
            <p:nvPr/>
          </p:nvCxnSpPr>
          <p:spPr>
            <a:xfrm>
              <a:off x="2160000" y="5870160"/>
              <a:ext cx="64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07CDE5EB-3624-98D3-76A1-B606BCD1B5A8}"/>
                </a:ext>
              </a:extLst>
            </p:cNvPr>
            <p:cNvSpPr/>
            <p:nvPr/>
          </p:nvSpPr>
          <p:spPr>
            <a:xfrm>
              <a:off x="2808000" y="5805076"/>
              <a:ext cx="130168" cy="1301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FC9710BC-A35B-3115-5442-0BCE8A9F302F}"/>
              </a:ext>
            </a:extLst>
          </p:cNvPr>
          <p:cNvGrpSpPr/>
          <p:nvPr/>
        </p:nvGrpSpPr>
        <p:grpSpPr>
          <a:xfrm>
            <a:off x="5119200" y="2520000"/>
            <a:ext cx="2692800" cy="1900475"/>
            <a:chOff x="3960000" y="4392757"/>
            <a:chExt cx="2692800" cy="1900475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548C6125-82C7-0565-7B23-75C89C99B530}"/>
                </a:ext>
              </a:extLst>
            </p:cNvPr>
            <p:cNvSpPr/>
            <p:nvPr/>
          </p:nvSpPr>
          <p:spPr>
            <a:xfrm>
              <a:off x="4384800" y="5202097"/>
              <a:ext cx="432000" cy="432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0C9A0E1B-171D-448D-F513-EEB7D43E89C3}"/>
                    </a:ext>
                  </a:extLst>
                </p:cNvPr>
                <p:cNvSpPr txBox="1"/>
                <p:nvPr/>
              </p:nvSpPr>
              <p:spPr>
                <a:xfrm>
                  <a:off x="4752601" y="4440417"/>
                  <a:ext cx="57600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Th</m:t>
                            </m:r>
                          </m:sub>
                        </m:sSub>
                      </m:oMath>
                    </m:oMathPara>
                  </a14:m>
                  <a:endParaRPr lang="en-US" altLang="zh-CN" sz="2400" i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090A5015-A346-229A-F8C8-9835C3CE47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2601" y="4440417"/>
                  <a:ext cx="576000" cy="461665"/>
                </a:xfrm>
                <a:prstGeom prst="rect">
                  <a:avLst/>
                </a:prstGeom>
                <a:blipFill>
                  <a:blip r:embed="rId8"/>
                  <a:stretch>
                    <a:fillRect l="-19149" b="-5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直线连接符 5">
              <a:extLst>
                <a:ext uri="{FF2B5EF4-FFF2-40B4-BE49-F238E27FC236}">
                  <a16:creationId xmlns:a16="http://schemas.microsoft.com/office/drawing/2014/main" id="{4B6D6DF3-5392-F5B9-CCF3-E77DB079800D}"/>
                </a:ext>
              </a:extLst>
            </p:cNvPr>
            <p:cNvCxnSpPr>
              <a:cxnSpLocks/>
              <a:endCxn id="32" idx="2"/>
            </p:cNvCxnSpPr>
            <p:nvPr/>
          </p:nvCxnSpPr>
          <p:spPr>
            <a:xfrm>
              <a:off x="4600800" y="4970160"/>
              <a:ext cx="144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4EB81A3E-3F73-CEC6-047A-F6A43DF71210}"/>
                </a:ext>
              </a:extLst>
            </p:cNvPr>
            <p:cNvSpPr/>
            <p:nvPr/>
          </p:nvSpPr>
          <p:spPr>
            <a:xfrm>
              <a:off x="6040800" y="4905076"/>
              <a:ext cx="130168" cy="1301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33" name="直线连接符 5">
              <a:extLst>
                <a:ext uri="{FF2B5EF4-FFF2-40B4-BE49-F238E27FC236}">
                  <a16:creationId xmlns:a16="http://schemas.microsoft.com/office/drawing/2014/main" id="{80B0571B-17F8-F863-F7EB-4F7CD21B61E0}"/>
                </a:ext>
              </a:extLst>
            </p:cNvPr>
            <p:cNvCxnSpPr>
              <a:cxnSpLocks/>
              <a:endCxn id="34" idx="2"/>
            </p:cNvCxnSpPr>
            <p:nvPr/>
          </p:nvCxnSpPr>
          <p:spPr>
            <a:xfrm>
              <a:off x="4600800" y="5870160"/>
              <a:ext cx="144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626D5823-7ED0-4AA7-B72C-6EFBD5B29C33}"/>
                </a:ext>
              </a:extLst>
            </p:cNvPr>
            <p:cNvSpPr/>
            <p:nvPr/>
          </p:nvSpPr>
          <p:spPr>
            <a:xfrm>
              <a:off x="6040800" y="5805076"/>
              <a:ext cx="130168" cy="1301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43" name="直线连接符 5">
              <a:extLst>
                <a:ext uri="{FF2B5EF4-FFF2-40B4-BE49-F238E27FC236}">
                  <a16:creationId xmlns:a16="http://schemas.microsoft.com/office/drawing/2014/main" id="{CCBA4D7D-08DC-3084-D3F4-821CC3BC0A69}"/>
                </a:ext>
              </a:extLst>
            </p:cNvPr>
            <p:cNvCxnSpPr>
              <a:cxnSpLocks/>
            </p:cNvCxnSpPr>
            <p:nvPr/>
          </p:nvCxnSpPr>
          <p:spPr>
            <a:xfrm>
              <a:off x="4600800" y="4970160"/>
              <a:ext cx="0" cy="900000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9DD353C-3578-825C-2EFF-58F5DAE0F224}"/>
                </a:ext>
              </a:extLst>
            </p:cNvPr>
            <p:cNvSpPr/>
            <p:nvPr/>
          </p:nvSpPr>
          <p:spPr>
            <a:xfrm>
              <a:off x="4788601" y="4898160"/>
              <a:ext cx="504000" cy="144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B21FD464-FC4B-AC11-08F5-DCAF4858098F}"/>
                    </a:ext>
                  </a:extLst>
                </p:cNvPr>
                <p:cNvSpPr txBox="1"/>
                <p:nvPr/>
              </p:nvSpPr>
              <p:spPr>
                <a:xfrm>
                  <a:off x="6148800" y="4838400"/>
                  <a:ext cx="504000" cy="122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lang="en-US" altLang="zh-CN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A</m:t>
                            </m:r>
                          </m:sub>
                        </m:sSub>
                      </m:oMath>
                    </m:oMathPara>
                  </a14:m>
                  <a:endParaRPr lang="en-US" altLang="zh-CN" sz="2400" i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CA53322F-4866-3590-9A46-7BC45C0C70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8800" y="4838400"/>
                  <a:ext cx="504000" cy="1224000"/>
                </a:xfrm>
                <a:prstGeom prst="rect">
                  <a:avLst/>
                </a:prstGeom>
                <a:blipFill>
                  <a:blip r:embed="rId9"/>
                  <a:stretch>
                    <a:fillRect l="-731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32467784-A7B1-FCDB-231D-10755399151C}"/>
                    </a:ext>
                  </a:extLst>
                </p:cNvPr>
                <p:cNvSpPr txBox="1"/>
                <p:nvPr/>
              </p:nvSpPr>
              <p:spPr>
                <a:xfrm>
                  <a:off x="6076800" y="5831567"/>
                  <a:ext cx="37316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  <m:r>
                          <a:rPr lang="en-US" altLang="zh-CN" sz="24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′</m:t>
                        </m:r>
                      </m:oMath>
                    </m:oMathPara>
                  </a14:m>
                  <a:endParaRPr lang="en-US" altLang="zh-CN" sz="2400" i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61DDC9BF-605B-2270-0840-B99F3D6F69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76800" y="5831567"/>
                  <a:ext cx="373160" cy="461665"/>
                </a:xfrm>
                <a:prstGeom prst="rect">
                  <a:avLst/>
                </a:prstGeom>
                <a:blipFill>
                  <a:blip r:embed="rId10"/>
                  <a:stretch>
                    <a:fillRect l="-29508" r="-65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2E1EDE92-9B6C-5805-06E2-D234CAD67CDF}"/>
                    </a:ext>
                  </a:extLst>
                </p:cNvPr>
                <p:cNvSpPr txBox="1"/>
                <p:nvPr/>
              </p:nvSpPr>
              <p:spPr>
                <a:xfrm>
                  <a:off x="6076800" y="4535567"/>
                  <a:ext cx="37316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oMath>
                    </m:oMathPara>
                  </a14:m>
                  <a:endParaRPr lang="en-US" altLang="zh-CN" sz="2400" i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7EC898C4-EC1E-113D-8BDE-4AF2B01001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76800" y="4535567"/>
                  <a:ext cx="373160" cy="461665"/>
                </a:xfrm>
                <a:prstGeom prst="rect">
                  <a:avLst/>
                </a:prstGeom>
                <a:blipFill>
                  <a:blip r:embed="rId11"/>
                  <a:stretch>
                    <a:fillRect l="-1639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7501232A-042B-E49D-2F6E-9DE4EE37D6E2}"/>
                    </a:ext>
                  </a:extLst>
                </p:cNvPr>
                <p:cNvSpPr txBox="1"/>
                <p:nvPr/>
              </p:nvSpPr>
              <p:spPr>
                <a:xfrm>
                  <a:off x="3960000" y="4838400"/>
                  <a:ext cx="504000" cy="122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lang="en-US" altLang="zh-CN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Th</m:t>
                            </m:r>
                          </m:sub>
                        </m:sSub>
                      </m:oMath>
                    </m:oMathPara>
                  </a14:m>
                  <a:endParaRPr lang="en-US" altLang="zh-CN" sz="2400" i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DC208AAB-AD39-0575-E2C8-D5B40DA3FC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0000" y="4838400"/>
                  <a:ext cx="504000" cy="1224000"/>
                </a:xfrm>
                <a:prstGeom prst="rect">
                  <a:avLst/>
                </a:prstGeom>
                <a:blipFill>
                  <a:blip r:embed="rId12"/>
                  <a:stretch>
                    <a:fillRect l="-20732" r="-122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0FBF4FB8-638B-83D9-3C5A-2B11CB5C8756}"/>
                    </a:ext>
                  </a:extLst>
                </p:cNvPr>
                <p:cNvSpPr txBox="1"/>
                <p:nvPr/>
              </p:nvSpPr>
              <p:spPr>
                <a:xfrm>
                  <a:off x="5446800" y="4392757"/>
                  <a:ext cx="57600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A</m:t>
                            </m:r>
                          </m:sub>
                        </m:sSub>
                      </m:oMath>
                    </m:oMathPara>
                  </a14:m>
                  <a:endParaRPr lang="en-US" altLang="zh-CN" sz="2400" i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4B9D5B06-D8ED-148B-E8C4-FF2EBE2687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46800" y="4392757"/>
                  <a:ext cx="576000" cy="461665"/>
                </a:xfrm>
                <a:prstGeom prst="rect">
                  <a:avLst/>
                </a:prstGeom>
                <a:blipFill>
                  <a:blip r:embed="rId13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1" name="直接箭头连接符 70">
              <a:extLst>
                <a:ext uri="{FF2B5EF4-FFF2-40B4-BE49-F238E27FC236}">
                  <a16:creationId xmlns:a16="http://schemas.microsoft.com/office/drawing/2014/main" id="{71FA1947-AD4B-A1A9-DAFF-8FAA2A41D670}"/>
                </a:ext>
              </a:extLst>
            </p:cNvPr>
            <p:cNvCxnSpPr/>
            <p:nvPr/>
          </p:nvCxnSpPr>
          <p:spPr>
            <a:xfrm>
              <a:off x="5464800" y="4860000"/>
              <a:ext cx="540000" cy="0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箭头: 右 11">
            <a:extLst>
              <a:ext uri="{FF2B5EF4-FFF2-40B4-BE49-F238E27FC236}">
                <a16:creationId xmlns:a16="http://schemas.microsoft.com/office/drawing/2014/main" id="{734C275D-FCE1-11BF-39F1-920D20880982}"/>
              </a:ext>
            </a:extLst>
          </p:cNvPr>
          <p:cNvSpPr/>
          <p:nvPr/>
        </p:nvSpPr>
        <p:spPr>
          <a:xfrm>
            <a:off x="3960000" y="3311243"/>
            <a:ext cx="540000" cy="432000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CED835C0-7F8F-185B-1285-E8E58E8FCE62}"/>
                  </a:ext>
                </a:extLst>
              </p:cNvPr>
              <p:cNvSpPr txBox="1"/>
              <p:nvPr/>
            </p:nvSpPr>
            <p:spPr>
              <a:xfrm>
                <a:off x="5040000" y="4680000"/>
                <a:ext cx="6214740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Th</m:t>
                        </m:r>
                      </m:sub>
                    </m:sSub>
                  </m:oMath>
                </a14:m>
                <a:r>
                  <a:rPr lang="zh-CN" altLang="en-US" sz="6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：断开网络负载后，端口的开路电压值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𝑅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Th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：等效电路中的电阻</a:t>
                </a: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CED835C0-7F8F-185B-1285-E8E58E8FCE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0000" y="4680000"/>
                <a:ext cx="6214740" cy="830997"/>
              </a:xfrm>
              <a:prstGeom prst="rect">
                <a:avLst/>
              </a:prstGeom>
              <a:blipFill>
                <a:blip r:embed="rId14"/>
                <a:stretch>
                  <a:fillRect l="-294" t="-5882" b="-16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15748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83697-6571-DFAB-0D88-70B1D6D9B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A0F8AF-312B-A4E8-7555-17CDFBC8D6C4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电路分析的相关定律和定理</a:t>
            </a:r>
            <a:endParaRPr lang="en-US" altLang="zh-CN" sz="3000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443EA22-3896-B924-069D-DECE2FEC22E8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16057B62-6DD1-96B8-2F83-CBFA6A9B9BCA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" name="箭头: 五边形 5">
                <a:extLst>
                  <a:ext uri="{FF2B5EF4-FFF2-40B4-BE49-F238E27FC236}">
                    <a16:creationId xmlns:a16="http://schemas.microsoft.com/office/drawing/2014/main" id="{C7F8635D-BF3B-0D96-DC76-5F92173E111F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箭头: V 形 6">
                <a:extLst>
                  <a:ext uri="{FF2B5EF4-FFF2-40B4-BE49-F238E27FC236}">
                    <a16:creationId xmlns:a16="http://schemas.microsoft.com/office/drawing/2014/main" id="{3AFDF0F2-A183-7970-BB0E-9576C8385F4D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灯片编号占位符 3">
              <a:extLst>
                <a:ext uri="{FF2B5EF4-FFF2-40B4-BE49-F238E27FC236}">
                  <a16:creationId xmlns:a16="http://schemas.microsoft.com/office/drawing/2014/main" id="{08FB0D07-256A-1B2E-DC47-3F67CDA128EF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21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0975307-3364-E7DD-A2E6-1F107AAFB1B3}"/>
                  </a:ext>
                </a:extLst>
              </p:cNvPr>
              <p:cNvSpPr txBox="1"/>
              <p:nvPr/>
            </p:nvSpPr>
            <p:spPr>
              <a:xfrm>
                <a:off x="360000" y="828000"/>
                <a:ext cx="10825451" cy="16766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诺顿定理（</a:t>
                </a:r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Norton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′</m:t>
                    </m:r>
                  </m:oMath>
                </a14:m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 Theorem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）：</a:t>
                </a:r>
                <a:endParaRPr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任意一个线性含源电阻单口网络，就端口特性而言，可以等效为一个电流源和一个电阻并联 </a:t>
                </a:r>
                <a:endParaRPr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0975307-3364-E7DD-A2E6-1F107AAFB1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8000"/>
                <a:ext cx="10825451" cy="1676677"/>
              </a:xfrm>
              <a:prstGeom prst="rect">
                <a:avLst/>
              </a:prstGeom>
              <a:blipFill>
                <a:blip r:embed="rId3"/>
                <a:stretch>
                  <a:fillRect l="-1014" t="-1455" b="-94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8" name="组合 97">
            <a:extLst>
              <a:ext uri="{FF2B5EF4-FFF2-40B4-BE49-F238E27FC236}">
                <a16:creationId xmlns:a16="http://schemas.microsoft.com/office/drawing/2014/main" id="{56842FEF-7B2E-D733-AD0B-D10351E35B0F}"/>
              </a:ext>
            </a:extLst>
          </p:cNvPr>
          <p:cNvGrpSpPr/>
          <p:nvPr/>
        </p:nvGrpSpPr>
        <p:grpSpPr>
          <a:xfrm>
            <a:off x="720000" y="2520000"/>
            <a:ext cx="2700000" cy="1900908"/>
            <a:chOff x="720000" y="4392757"/>
            <a:chExt cx="2700000" cy="19009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4FDEC8EB-0A97-B6E8-944F-FCC36F05FAD7}"/>
                    </a:ext>
                  </a:extLst>
                </p:cNvPr>
                <p:cNvSpPr txBox="1"/>
                <p:nvPr/>
              </p:nvSpPr>
              <p:spPr>
                <a:xfrm>
                  <a:off x="2844000" y="5832000"/>
                  <a:ext cx="37316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  <m:r>
                          <a:rPr lang="en-US" altLang="zh-CN" sz="24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′</m:t>
                        </m:r>
                      </m:oMath>
                    </m:oMathPara>
                  </a14:m>
                  <a:endParaRPr lang="en-US" altLang="zh-CN" sz="2400" i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DE3676EC-7411-B92B-82AE-695B49EFA9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44000" y="5832000"/>
                  <a:ext cx="373160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31148" r="-491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808A11D3-8322-135A-B46F-7EA2EAC23CEC}"/>
                    </a:ext>
                  </a:extLst>
                </p:cNvPr>
                <p:cNvSpPr txBox="1"/>
                <p:nvPr/>
              </p:nvSpPr>
              <p:spPr>
                <a:xfrm>
                  <a:off x="2844000" y="4536000"/>
                  <a:ext cx="37316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oMath>
                    </m:oMathPara>
                  </a14:m>
                  <a:endParaRPr lang="en-US" altLang="zh-CN" sz="2400" i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57486D0F-A9CB-D0FC-F58E-ED04638C3A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44000" y="4536000"/>
                  <a:ext cx="373160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1639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81E58E1C-7688-4618-7CC6-AA72638A9CA1}"/>
                    </a:ext>
                  </a:extLst>
                </p:cNvPr>
                <p:cNvSpPr txBox="1"/>
                <p:nvPr/>
              </p:nvSpPr>
              <p:spPr>
                <a:xfrm>
                  <a:off x="2214000" y="4392757"/>
                  <a:ext cx="57600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A</m:t>
                            </m:r>
                          </m:sub>
                        </m:sSub>
                      </m:oMath>
                    </m:oMathPara>
                  </a14:m>
                  <a:endParaRPr lang="en-US" altLang="zh-CN" sz="2400" i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EFCED5C6-3866-358D-B7B8-448689E452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4000" y="4392757"/>
                  <a:ext cx="576000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8634219B-3D2A-4DBE-5A39-812E4F68B86B}"/>
                </a:ext>
              </a:extLst>
            </p:cNvPr>
            <p:cNvCxnSpPr/>
            <p:nvPr/>
          </p:nvCxnSpPr>
          <p:spPr>
            <a:xfrm>
              <a:off x="2232000" y="4860000"/>
              <a:ext cx="540000" cy="0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641A73CF-B259-F37E-3B45-2B89A2C956C9}"/>
                    </a:ext>
                  </a:extLst>
                </p:cNvPr>
                <p:cNvSpPr txBox="1"/>
                <p:nvPr/>
              </p:nvSpPr>
              <p:spPr>
                <a:xfrm>
                  <a:off x="2916000" y="4838528"/>
                  <a:ext cx="504000" cy="122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lang="en-US" altLang="zh-CN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A</m:t>
                            </m:r>
                          </m:sub>
                        </m:sSub>
                      </m:oMath>
                    </m:oMathPara>
                  </a14:m>
                  <a:endParaRPr lang="en-US" altLang="zh-CN" sz="2400" i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8F5B4762-C8E7-D9DC-8D8D-27DFE01399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6000" y="4838528"/>
                  <a:ext cx="504000" cy="1224000"/>
                </a:xfrm>
                <a:prstGeom prst="rect">
                  <a:avLst/>
                </a:prstGeom>
                <a:blipFill>
                  <a:blip r:embed="rId7"/>
                  <a:stretch>
                    <a:fillRect l="-72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03BE1392-3490-4AFC-A979-6BA5A83903CA}"/>
                </a:ext>
              </a:extLst>
            </p:cNvPr>
            <p:cNvSpPr/>
            <p:nvPr/>
          </p:nvSpPr>
          <p:spPr>
            <a:xfrm>
              <a:off x="720000" y="4680000"/>
              <a:ext cx="1440000" cy="1440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线性含源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电阻网络</a:t>
              </a:r>
            </a:p>
          </p:txBody>
        </p:sp>
        <p:cxnSp>
          <p:nvCxnSpPr>
            <p:cNvPr id="22" name="直线连接符 5">
              <a:extLst>
                <a:ext uri="{FF2B5EF4-FFF2-40B4-BE49-F238E27FC236}">
                  <a16:creationId xmlns:a16="http://schemas.microsoft.com/office/drawing/2014/main" id="{637A777F-37B5-F862-6F77-C11EEE4D8159}"/>
                </a:ext>
              </a:extLst>
            </p:cNvPr>
            <p:cNvCxnSpPr>
              <a:cxnSpLocks/>
              <a:endCxn id="23" idx="2"/>
            </p:cNvCxnSpPr>
            <p:nvPr/>
          </p:nvCxnSpPr>
          <p:spPr>
            <a:xfrm>
              <a:off x="2160000" y="4970160"/>
              <a:ext cx="64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C8E2F1E6-4D6F-2BB2-858D-99DFA84E1934}"/>
                </a:ext>
              </a:extLst>
            </p:cNvPr>
            <p:cNvSpPr/>
            <p:nvPr/>
          </p:nvSpPr>
          <p:spPr>
            <a:xfrm>
              <a:off x="2808000" y="4905076"/>
              <a:ext cx="130168" cy="1301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26" name="直线连接符 5">
              <a:extLst>
                <a:ext uri="{FF2B5EF4-FFF2-40B4-BE49-F238E27FC236}">
                  <a16:creationId xmlns:a16="http://schemas.microsoft.com/office/drawing/2014/main" id="{95E1521C-C2A8-E212-331E-1C76C5C973F9}"/>
                </a:ext>
              </a:extLst>
            </p:cNvPr>
            <p:cNvCxnSpPr>
              <a:cxnSpLocks/>
              <a:endCxn id="27" idx="2"/>
            </p:cNvCxnSpPr>
            <p:nvPr/>
          </p:nvCxnSpPr>
          <p:spPr>
            <a:xfrm>
              <a:off x="2160000" y="5870160"/>
              <a:ext cx="64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A09DF475-A0E9-3E42-4960-6FA294B91BCC}"/>
                </a:ext>
              </a:extLst>
            </p:cNvPr>
            <p:cNvSpPr/>
            <p:nvPr/>
          </p:nvSpPr>
          <p:spPr>
            <a:xfrm>
              <a:off x="2808000" y="5805076"/>
              <a:ext cx="130168" cy="1301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2" name="箭头: 右 11">
            <a:extLst>
              <a:ext uri="{FF2B5EF4-FFF2-40B4-BE49-F238E27FC236}">
                <a16:creationId xmlns:a16="http://schemas.microsoft.com/office/drawing/2014/main" id="{75A6B7D7-DD56-0297-1806-C83BB1B81F4C}"/>
              </a:ext>
            </a:extLst>
          </p:cNvPr>
          <p:cNvSpPr/>
          <p:nvPr/>
        </p:nvSpPr>
        <p:spPr>
          <a:xfrm>
            <a:off x="3960000" y="3311243"/>
            <a:ext cx="540000" cy="432000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7E54456A-B972-D325-3D25-16CD94FA3AC5}"/>
                  </a:ext>
                </a:extLst>
              </p:cNvPr>
              <p:cNvSpPr txBox="1"/>
              <p:nvPr/>
            </p:nvSpPr>
            <p:spPr>
              <a:xfrm>
                <a:off x="5040000" y="4680000"/>
                <a:ext cx="4214882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N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：等于网络端口的短路电流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𝑅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N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：等效电路中的电阻</a:t>
                </a: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7E54456A-B972-D325-3D25-16CD94FA3A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0000" y="4680000"/>
                <a:ext cx="4214882" cy="830997"/>
              </a:xfrm>
              <a:prstGeom prst="rect">
                <a:avLst/>
              </a:prstGeom>
              <a:blipFill>
                <a:blip r:embed="rId8"/>
                <a:stretch>
                  <a:fillRect l="-434" t="-5882" r="-2171" b="-16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组合 10">
            <a:extLst>
              <a:ext uri="{FF2B5EF4-FFF2-40B4-BE49-F238E27FC236}">
                <a16:creationId xmlns:a16="http://schemas.microsoft.com/office/drawing/2014/main" id="{B3042DAF-5F38-7D80-3EB1-07BE1CB91EB9}"/>
              </a:ext>
            </a:extLst>
          </p:cNvPr>
          <p:cNvGrpSpPr/>
          <p:nvPr/>
        </p:nvGrpSpPr>
        <p:grpSpPr>
          <a:xfrm>
            <a:off x="5040000" y="2520000"/>
            <a:ext cx="2772000" cy="1900475"/>
            <a:chOff x="8351631" y="4392757"/>
            <a:chExt cx="2772000" cy="1900475"/>
          </a:xfrm>
        </p:grpSpPr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819C9D62-E420-D7C1-1A8B-B38C0F90E4D8}"/>
                </a:ext>
              </a:extLst>
            </p:cNvPr>
            <p:cNvCxnSpPr/>
            <p:nvPr/>
          </p:nvCxnSpPr>
          <p:spPr>
            <a:xfrm>
              <a:off x="8748000" y="5202097"/>
              <a:ext cx="0" cy="432000"/>
            </a:xfrm>
            <a:prstGeom prst="straightConnector1">
              <a:avLst/>
            </a:prstGeom>
            <a:ln w="25400">
              <a:solidFill>
                <a:srgbClr val="0000FF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87FE119A-5F2A-E0C3-3B02-51380469F9D8}"/>
                    </a:ext>
                  </a:extLst>
                </p:cNvPr>
                <p:cNvSpPr txBox="1"/>
                <p:nvPr/>
              </p:nvSpPr>
              <p:spPr>
                <a:xfrm>
                  <a:off x="9719631" y="5148000"/>
                  <a:ext cx="57600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N</m:t>
                            </m:r>
                          </m:sub>
                        </m:sSub>
                      </m:oMath>
                    </m:oMathPara>
                  </a14:m>
                  <a:endParaRPr lang="en-US" altLang="zh-CN" sz="2400" i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3D1F383E-4D5D-7099-5594-3AED93CCF9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19631" y="5148000"/>
                  <a:ext cx="576000" cy="461665"/>
                </a:xfrm>
                <a:prstGeom prst="rect">
                  <a:avLst/>
                </a:prstGeom>
                <a:blipFill>
                  <a:blip r:embed="rId14"/>
                  <a:stretch>
                    <a:fillRect l="-7368" b="-4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直线连接符 5">
              <a:extLst>
                <a:ext uri="{FF2B5EF4-FFF2-40B4-BE49-F238E27FC236}">
                  <a16:creationId xmlns:a16="http://schemas.microsoft.com/office/drawing/2014/main" id="{68AF73AD-C061-C70B-CA96-D509568DCEB7}"/>
                </a:ext>
              </a:extLst>
            </p:cNvPr>
            <p:cNvCxnSpPr>
              <a:cxnSpLocks/>
              <a:endCxn id="18" idx="2"/>
            </p:cNvCxnSpPr>
            <p:nvPr/>
          </p:nvCxnSpPr>
          <p:spPr>
            <a:xfrm>
              <a:off x="9071631" y="4970160"/>
              <a:ext cx="144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B095238D-B9DB-F9B1-1564-CA68F0EAC44A}"/>
                </a:ext>
              </a:extLst>
            </p:cNvPr>
            <p:cNvSpPr/>
            <p:nvPr/>
          </p:nvSpPr>
          <p:spPr>
            <a:xfrm>
              <a:off x="10511631" y="4905076"/>
              <a:ext cx="130168" cy="1301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20" name="直线连接符 5">
              <a:extLst>
                <a:ext uri="{FF2B5EF4-FFF2-40B4-BE49-F238E27FC236}">
                  <a16:creationId xmlns:a16="http://schemas.microsoft.com/office/drawing/2014/main" id="{4C8E1F99-FBE1-FFD6-A09F-ADBE5DA8455F}"/>
                </a:ext>
              </a:extLst>
            </p:cNvPr>
            <p:cNvCxnSpPr>
              <a:cxnSpLocks/>
              <a:endCxn id="21" idx="2"/>
            </p:cNvCxnSpPr>
            <p:nvPr/>
          </p:nvCxnSpPr>
          <p:spPr>
            <a:xfrm>
              <a:off x="9071631" y="5870160"/>
              <a:ext cx="144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39DF96C3-4FA7-6ED6-990A-35B4D454913D}"/>
                </a:ext>
              </a:extLst>
            </p:cNvPr>
            <p:cNvSpPr/>
            <p:nvPr/>
          </p:nvSpPr>
          <p:spPr>
            <a:xfrm>
              <a:off x="10511631" y="5805076"/>
              <a:ext cx="130168" cy="1301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24" name="直线连接符 5">
              <a:extLst>
                <a:ext uri="{FF2B5EF4-FFF2-40B4-BE49-F238E27FC236}">
                  <a16:creationId xmlns:a16="http://schemas.microsoft.com/office/drawing/2014/main" id="{0414660B-E67C-F8A7-F128-33F77C051384}"/>
                </a:ext>
              </a:extLst>
            </p:cNvPr>
            <p:cNvCxnSpPr>
              <a:cxnSpLocks/>
            </p:cNvCxnSpPr>
            <p:nvPr/>
          </p:nvCxnSpPr>
          <p:spPr>
            <a:xfrm>
              <a:off x="9071631" y="4970160"/>
              <a:ext cx="0" cy="900000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581A7A71-AF0F-2575-4283-5C204662AD08}"/>
                    </a:ext>
                  </a:extLst>
                </p:cNvPr>
                <p:cNvSpPr txBox="1"/>
                <p:nvPr/>
              </p:nvSpPr>
              <p:spPr>
                <a:xfrm>
                  <a:off x="10619631" y="4838400"/>
                  <a:ext cx="504000" cy="122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lang="en-US" altLang="zh-CN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A</m:t>
                            </m:r>
                          </m:sub>
                        </m:sSub>
                      </m:oMath>
                    </m:oMathPara>
                  </a14:m>
                  <a:endParaRPr lang="en-US" altLang="zh-CN" sz="2400" i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79CDB152-E6A5-4765-7EA9-98F6F798A4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19631" y="4838400"/>
                  <a:ext cx="504000" cy="1224000"/>
                </a:xfrm>
                <a:prstGeom prst="rect">
                  <a:avLst/>
                </a:prstGeom>
                <a:blipFill>
                  <a:blip r:embed="rId15"/>
                  <a:stretch>
                    <a:fillRect l="-72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D01C3A39-A642-AB53-D825-BCD8AEFCB270}"/>
                    </a:ext>
                  </a:extLst>
                </p:cNvPr>
                <p:cNvSpPr txBox="1"/>
                <p:nvPr/>
              </p:nvSpPr>
              <p:spPr>
                <a:xfrm>
                  <a:off x="10547631" y="5831567"/>
                  <a:ext cx="37316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  <m:r>
                          <a:rPr lang="en-US" altLang="zh-CN" sz="24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′</m:t>
                        </m:r>
                      </m:oMath>
                    </m:oMathPara>
                  </a14:m>
                  <a:endParaRPr lang="en-US" altLang="zh-CN" sz="2400" i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BEB9602E-ED91-4A57-532E-E8039EA8D8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47631" y="5831567"/>
                  <a:ext cx="373160" cy="461665"/>
                </a:xfrm>
                <a:prstGeom prst="rect">
                  <a:avLst/>
                </a:prstGeom>
                <a:blipFill>
                  <a:blip r:embed="rId16"/>
                  <a:stretch>
                    <a:fillRect l="-29508" r="-65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25690EFB-9D27-03A6-79A1-C0384EA61F0A}"/>
                    </a:ext>
                  </a:extLst>
                </p:cNvPr>
                <p:cNvSpPr txBox="1"/>
                <p:nvPr/>
              </p:nvSpPr>
              <p:spPr>
                <a:xfrm>
                  <a:off x="10547631" y="4535567"/>
                  <a:ext cx="37316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oMath>
                    </m:oMathPara>
                  </a14:m>
                  <a:endParaRPr lang="en-US" altLang="zh-CN" sz="2400" i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B8C65C5E-5490-508D-0457-B395600B21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47631" y="4535567"/>
                  <a:ext cx="373160" cy="461665"/>
                </a:xfrm>
                <a:prstGeom prst="rect">
                  <a:avLst/>
                </a:prstGeom>
                <a:blipFill>
                  <a:blip r:embed="rId17"/>
                  <a:stretch>
                    <a:fillRect l="-1639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0D23FB96-2C77-409D-DED7-6971DD3195CA}"/>
                    </a:ext>
                  </a:extLst>
                </p:cNvPr>
                <p:cNvSpPr txBox="1"/>
                <p:nvPr/>
              </p:nvSpPr>
              <p:spPr>
                <a:xfrm>
                  <a:off x="9917631" y="4392757"/>
                  <a:ext cx="57600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A</m:t>
                            </m:r>
                          </m:sub>
                        </m:sSub>
                      </m:oMath>
                    </m:oMathPara>
                  </a14:m>
                  <a:endParaRPr lang="en-US" altLang="zh-CN" sz="2400" i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1F331968-02EB-0F1B-42B2-EBF50E4C8D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17631" y="4392757"/>
                  <a:ext cx="576000" cy="461665"/>
                </a:xfrm>
                <a:prstGeom prst="rect">
                  <a:avLst/>
                </a:prstGeom>
                <a:blipFill>
                  <a:blip r:embed="rId18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B7C4EDCE-F970-5E44-9733-83CF86CFEA66}"/>
                </a:ext>
              </a:extLst>
            </p:cNvPr>
            <p:cNvCxnSpPr/>
            <p:nvPr/>
          </p:nvCxnSpPr>
          <p:spPr>
            <a:xfrm>
              <a:off x="9935631" y="4860000"/>
              <a:ext cx="540000" cy="0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9E8D7D1F-DA0C-8C77-B408-A73E7BDDBD54}"/>
                </a:ext>
              </a:extLst>
            </p:cNvPr>
            <p:cNvSpPr/>
            <p:nvPr/>
          </p:nvSpPr>
          <p:spPr>
            <a:xfrm>
              <a:off x="8855631" y="5202097"/>
              <a:ext cx="432000" cy="432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1" name="直线连接符 5">
              <a:extLst>
                <a:ext uri="{FF2B5EF4-FFF2-40B4-BE49-F238E27FC236}">
                  <a16:creationId xmlns:a16="http://schemas.microsoft.com/office/drawing/2014/main" id="{8A578550-AC54-5F80-E5B3-FF22CE5285BD}"/>
                </a:ext>
              </a:extLst>
            </p:cNvPr>
            <p:cNvCxnSpPr>
              <a:cxnSpLocks/>
              <a:stCxn id="38" idx="6"/>
              <a:endCxn id="38" idx="2"/>
            </p:cNvCxnSpPr>
            <p:nvPr/>
          </p:nvCxnSpPr>
          <p:spPr>
            <a:xfrm flipH="1">
              <a:off x="8855631" y="5418097"/>
              <a:ext cx="4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5C3E7A4F-F295-B66A-A431-B660E9BCB39F}"/>
                    </a:ext>
                  </a:extLst>
                </p:cNvPr>
                <p:cNvSpPr txBox="1"/>
                <p:nvPr/>
              </p:nvSpPr>
              <p:spPr>
                <a:xfrm>
                  <a:off x="8351631" y="5148000"/>
                  <a:ext cx="50400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N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11B5FCB7-6D57-368A-2856-B340F37E8E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51631" y="5148000"/>
                  <a:ext cx="504000" cy="461665"/>
                </a:xfrm>
                <a:prstGeom prst="rect">
                  <a:avLst/>
                </a:prstGeom>
                <a:blipFill>
                  <a:blip r:embed="rId19"/>
                  <a:stretch>
                    <a:fillRect l="-7229" b="-4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直线连接符 5">
              <a:extLst>
                <a:ext uri="{FF2B5EF4-FFF2-40B4-BE49-F238E27FC236}">
                  <a16:creationId xmlns:a16="http://schemas.microsoft.com/office/drawing/2014/main" id="{953E9140-61E5-723F-DCCE-771F4C9F5837}"/>
                </a:ext>
              </a:extLst>
            </p:cNvPr>
            <p:cNvCxnSpPr>
              <a:cxnSpLocks/>
            </p:cNvCxnSpPr>
            <p:nvPr/>
          </p:nvCxnSpPr>
          <p:spPr>
            <a:xfrm>
              <a:off x="9647631" y="4971600"/>
              <a:ext cx="0" cy="900000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EE58DAD5-AB21-704D-95D0-5FD33F58667B}"/>
                </a:ext>
              </a:extLst>
            </p:cNvPr>
            <p:cNvSpPr/>
            <p:nvPr/>
          </p:nvSpPr>
          <p:spPr>
            <a:xfrm>
              <a:off x="9575631" y="5168160"/>
              <a:ext cx="144000" cy="504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61146643-780F-FF2C-EB12-35AB9DFEF355}"/>
                </a:ext>
              </a:extLst>
            </p:cNvPr>
            <p:cNvSpPr/>
            <p:nvPr/>
          </p:nvSpPr>
          <p:spPr>
            <a:xfrm>
              <a:off x="9593631" y="49176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F8594AA3-9E20-8ADF-7C95-54B358AA937A}"/>
                </a:ext>
              </a:extLst>
            </p:cNvPr>
            <p:cNvSpPr/>
            <p:nvPr/>
          </p:nvSpPr>
          <p:spPr>
            <a:xfrm>
              <a:off x="9593631" y="58176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240925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DBC06-5887-29EE-9DDC-7FE9C96C4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41B977-640F-DC76-5E9A-94B47446C2B4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电路分析的相关定律和定理</a:t>
            </a:r>
            <a:endParaRPr lang="en-US" altLang="zh-CN" sz="3000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2137FED5-A564-6754-B46E-E4A0073A8618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819D1459-31E3-6E06-B20C-453DE1313F8C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" name="箭头: 五边形 5">
                <a:extLst>
                  <a:ext uri="{FF2B5EF4-FFF2-40B4-BE49-F238E27FC236}">
                    <a16:creationId xmlns:a16="http://schemas.microsoft.com/office/drawing/2014/main" id="{36C1296D-181C-0D91-4643-DF21373A05C9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箭头: V 形 6">
                <a:extLst>
                  <a:ext uri="{FF2B5EF4-FFF2-40B4-BE49-F238E27FC236}">
                    <a16:creationId xmlns:a16="http://schemas.microsoft.com/office/drawing/2014/main" id="{99670839-C2C9-8EBC-7D7C-C322CF1347AD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灯片编号占位符 3">
              <a:extLst>
                <a:ext uri="{FF2B5EF4-FFF2-40B4-BE49-F238E27FC236}">
                  <a16:creationId xmlns:a16="http://schemas.microsoft.com/office/drawing/2014/main" id="{B8089C35-2E18-9749-41B0-D57C629D6E92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22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CDE57BC9-DC3F-9F64-BEA0-FDBB22F24B74}"/>
              </a:ext>
            </a:extLst>
          </p:cNvPr>
          <p:cNvSpPr txBox="1"/>
          <p:nvPr/>
        </p:nvSpPr>
        <p:spPr>
          <a:xfrm>
            <a:off x="360000" y="828000"/>
            <a:ext cx="7314927" cy="1091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戴维南定理和诺顿定理的关联：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得出的等效电路可以相互转换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9DC85721-B98D-C4C5-2536-ED09DB393921}"/>
                  </a:ext>
                </a:extLst>
              </p:cNvPr>
              <p:cNvSpPr txBox="1"/>
              <p:nvPr/>
            </p:nvSpPr>
            <p:spPr>
              <a:xfrm>
                <a:off x="6480000" y="5220000"/>
                <a:ext cx="3779627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32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Th</m:t>
                          </m:r>
                        </m:sub>
                      </m:sSub>
                      <m:r>
                        <a:rPr lang="en-US" altLang="zh-CN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32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32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N</m:t>
                          </m:r>
                        </m:sub>
                      </m:sSub>
                      <m:r>
                        <a:rPr lang="en-US" altLang="zh-CN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altLang="zh-CN" sz="32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32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32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Th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32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3200" b="0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N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sz="3200" i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9DC85721-B98D-C4C5-2536-ED09DB3939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0000" y="5220000"/>
                <a:ext cx="3779627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8" name="组合 97">
            <a:extLst>
              <a:ext uri="{FF2B5EF4-FFF2-40B4-BE49-F238E27FC236}">
                <a16:creationId xmlns:a16="http://schemas.microsoft.com/office/drawing/2014/main" id="{2F639402-F907-E30C-0B02-CF5455743F46}"/>
              </a:ext>
            </a:extLst>
          </p:cNvPr>
          <p:cNvGrpSpPr/>
          <p:nvPr/>
        </p:nvGrpSpPr>
        <p:grpSpPr>
          <a:xfrm>
            <a:off x="720000" y="2160000"/>
            <a:ext cx="2700000" cy="1900908"/>
            <a:chOff x="720000" y="4392757"/>
            <a:chExt cx="2700000" cy="19009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DE3676EC-7411-B92B-82AE-695B49EFA9DF}"/>
                    </a:ext>
                  </a:extLst>
                </p:cNvPr>
                <p:cNvSpPr txBox="1"/>
                <p:nvPr/>
              </p:nvSpPr>
              <p:spPr>
                <a:xfrm>
                  <a:off x="2844000" y="5832000"/>
                  <a:ext cx="37316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  <m:r>
                          <a:rPr lang="en-US" altLang="zh-CN" sz="24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′</m:t>
                        </m:r>
                      </m:oMath>
                    </m:oMathPara>
                  </a14:m>
                  <a:endParaRPr lang="en-US" altLang="zh-CN" sz="2400" i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DE3676EC-7411-B92B-82AE-695B49EFA9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44000" y="5832000"/>
                  <a:ext cx="373160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31148" r="-491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57486D0F-A9CB-D0FC-F58E-ED04638C3A9A}"/>
                    </a:ext>
                  </a:extLst>
                </p:cNvPr>
                <p:cNvSpPr txBox="1"/>
                <p:nvPr/>
              </p:nvSpPr>
              <p:spPr>
                <a:xfrm>
                  <a:off x="2844000" y="4536000"/>
                  <a:ext cx="37316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oMath>
                    </m:oMathPara>
                  </a14:m>
                  <a:endParaRPr lang="en-US" altLang="zh-CN" sz="2400" i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57486D0F-A9CB-D0FC-F58E-ED04638C3A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44000" y="4536000"/>
                  <a:ext cx="373160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1639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EFCED5C6-3866-358D-B7B8-448689E452BE}"/>
                    </a:ext>
                  </a:extLst>
                </p:cNvPr>
                <p:cNvSpPr txBox="1"/>
                <p:nvPr/>
              </p:nvSpPr>
              <p:spPr>
                <a:xfrm>
                  <a:off x="2214000" y="4392757"/>
                  <a:ext cx="57600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A</m:t>
                            </m:r>
                          </m:sub>
                        </m:sSub>
                      </m:oMath>
                    </m:oMathPara>
                  </a14:m>
                  <a:endParaRPr lang="en-US" altLang="zh-CN" sz="2400" i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EFCED5C6-3866-358D-B7B8-448689E452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4000" y="4392757"/>
                  <a:ext cx="576000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F82CB1E4-6BE5-9E6C-1C66-F8E94BC71B8D}"/>
                </a:ext>
              </a:extLst>
            </p:cNvPr>
            <p:cNvCxnSpPr/>
            <p:nvPr/>
          </p:nvCxnSpPr>
          <p:spPr>
            <a:xfrm>
              <a:off x="2232000" y="4860000"/>
              <a:ext cx="540000" cy="0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8F5B4762-C8E7-D9DC-8D8D-27DFE01399F3}"/>
                    </a:ext>
                  </a:extLst>
                </p:cNvPr>
                <p:cNvSpPr txBox="1"/>
                <p:nvPr/>
              </p:nvSpPr>
              <p:spPr>
                <a:xfrm>
                  <a:off x="2916000" y="4838528"/>
                  <a:ext cx="504000" cy="122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lang="en-US" altLang="zh-CN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A</m:t>
                            </m:r>
                          </m:sub>
                        </m:sSub>
                      </m:oMath>
                    </m:oMathPara>
                  </a14:m>
                  <a:endParaRPr lang="en-US" altLang="zh-CN" sz="2400" i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8F5B4762-C8E7-D9DC-8D8D-27DFE01399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6000" y="4838528"/>
                  <a:ext cx="504000" cy="1224000"/>
                </a:xfrm>
                <a:prstGeom prst="rect">
                  <a:avLst/>
                </a:prstGeom>
                <a:blipFill>
                  <a:blip r:embed="rId7"/>
                  <a:stretch>
                    <a:fillRect l="-72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ED098682-61B7-32C8-F16C-B110508A8F80}"/>
                </a:ext>
              </a:extLst>
            </p:cNvPr>
            <p:cNvSpPr/>
            <p:nvPr/>
          </p:nvSpPr>
          <p:spPr>
            <a:xfrm>
              <a:off x="720000" y="4680000"/>
              <a:ext cx="1440000" cy="1440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线性含源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电阻网络</a:t>
              </a:r>
            </a:p>
          </p:txBody>
        </p:sp>
        <p:cxnSp>
          <p:nvCxnSpPr>
            <p:cNvPr id="22" name="直线连接符 5">
              <a:extLst>
                <a:ext uri="{FF2B5EF4-FFF2-40B4-BE49-F238E27FC236}">
                  <a16:creationId xmlns:a16="http://schemas.microsoft.com/office/drawing/2014/main" id="{30EE1664-A73D-D605-3536-53DD9672895E}"/>
                </a:ext>
              </a:extLst>
            </p:cNvPr>
            <p:cNvCxnSpPr>
              <a:cxnSpLocks/>
              <a:endCxn id="23" idx="2"/>
            </p:cNvCxnSpPr>
            <p:nvPr/>
          </p:nvCxnSpPr>
          <p:spPr>
            <a:xfrm>
              <a:off x="2160000" y="4970160"/>
              <a:ext cx="64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0E76339D-56D1-73B0-FA91-B3D4CE86066E}"/>
                </a:ext>
              </a:extLst>
            </p:cNvPr>
            <p:cNvSpPr/>
            <p:nvPr/>
          </p:nvSpPr>
          <p:spPr>
            <a:xfrm>
              <a:off x="2808000" y="4905076"/>
              <a:ext cx="130168" cy="1301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26" name="直线连接符 5">
              <a:extLst>
                <a:ext uri="{FF2B5EF4-FFF2-40B4-BE49-F238E27FC236}">
                  <a16:creationId xmlns:a16="http://schemas.microsoft.com/office/drawing/2014/main" id="{D45DE7EE-0C08-FF72-20E2-E1543919D772}"/>
                </a:ext>
              </a:extLst>
            </p:cNvPr>
            <p:cNvCxnSpPr>
              <a:cxnSpLocks/>
              <a:endCxn id="27" idx="2"/>
            </p:cNvCxnSpPr>
            <p:nvPr/>
          </p:nvCxnSpPr>
          <p:spPr>
            <a:xfrm>
              <a:off x="2160000" y="5870160"/>
              <a:ext cx="64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9488B9AF-64B0-EE47-D1A8-445DE22E2069}"/>
                </a:ext>
              </a:extLst>
            </p:cNvPr>
            <p:cNvSpPr/>
            <p:nvPr/>
          </p:nvSpPr>
          <p:spPr>
            <a:xfrm>
              <a:off x="2808000" y="5805076"/>
              <a:ext cx="130168" cy="1301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5FD03908-CB8C-F684-2123-128409B2C251}"/>
              </a:ext>
            </a:extLst>
          </p:cNvPr>
          <p:cNvGrpSpPr/>
          <p:nvPr/>
        </p:nvGrpSpPr>
        <p:grpSpPr>
          <a:xfrm>
            <a:off x="4752000" y="2880000"/>
            <a:ext cx="2692800" cy="1900475"/>
            <a:chOff x="3960000" y="4392757"/>
            <a:chExt cx="2692800" cy="1900475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53BFC95B-23A6-4370-0A57-3184C7BB9BD0}"/>
                </a:ext>
              </a:extLst>
            </p:cNvPr>
            <p:cNvSpPr/>
            <p:nvPr/>
          </p:nvSpPr>
          <p:spPr>
            <a:xfrm>
              <a:off x="4384800" y="5202097"/>
              <a:ext cx="432000" cy="432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090A5015-A346-229A-F8C8-9835C3CE4721}"/>
                    </a:ext>
                  </a:extLst>
                </p:cNvPr>
                <p:cNvSpPr txBox="1"/>
                <p:nvPr/>
              </p:nvSpPr>
              <p:spPr>
                <a:xfrm>
                  <a:off x="4752601" y="4440417"/>
                  <a:ext cx="57600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Th</m:t>
                            </m:r>
                          </m:sub>
                        </m:sSub>
                      </m:oMath>
                    </m:oMathPara>
                  </a14:m>
                  <a:endParaRPr lang="en-US" altLang="zh-CN" sz="2400" i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090A5015-A346-229A-F8C8-9835C3CE47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2601" y="4440417"/>
                  <a:ext cx="576000" cy="461665"/>
                </a:xfrm>
                <a:prstGeom prst="rect">
                  <a:avLst/>
                </a:prstGeom>
                <a:blipFill>
                  <a:blip r:embed="rId8"/>
                  <a:stretch>
                    <a:fillRect l="-19149" b="-5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直线连接符 5">
              <a:extLst>
                <a:ext uri="{FF2B5EF4-FFF2-40B4-BE49-F238E27FC236}">
                  <a16:creationId xmlns:a16="http://schemas.microsoft.com/office/drawing/2014/main" id="{643D6DFD-1814-45B3-D16F-80FB5E65B198}"/>
                </a:ext>
              </a:extLst>
            </p:cNvPr>
            <p:cNvCxnSpPr>
              <a:cxnSpLocks/>
              <a:endCxn id="32" idx="2"/>
            </p:cNvCxnSpPr>
            <p:nvPr/>
          </p:nvCxnSpPr>
          <p:spPr>
            <a:xfrm>
              <a:off x="4600800" y="4970160"/>
              <a:ext cx="144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0F294E0F-DA51-CEA5-F2F2-3E7945E82DE5}"/>
                </a:ext>
              </a:extLst>
            </p:cNvPr>
            <p:cNvSpPr/>
            <p:nvPr/>
          </p:nvSpPr>
          <p:spPr>
            <a:xfrm>
              <a:off x="6040800" y="4905076"/>
              <a:ext cx="130168" cy="1301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33" name="直线连接符 5">
              <a:extLst>
                <a:ext uri="{FF2B5EF4-FFF2-40B4-BE49-F238E27FC236}">
                  <a16:creationId xmlns:a16="http://schemas.microsoft.com/office/drawing/2014/main" id="{372CB660-EBB8-761A-5ADD-56D38206EBB7}"/>
                </a:ext>
              </a:extLst>
            </p:cNvPr>
            <p:cNvCxnSpPr>
              <a:cxnSpLocks/>
              <a:endCxn id="34" idx="2"/>
            </p:cNvCxnSpPr>
            <p:nvPr/>
          </p:nvCxnSpPr>
          <p:spPr>
            <a:xfrm>
              <a:off x="4600800" y="5870160"/>
              <a:ext cx="144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4233FE9-B519-B259-6CE9-F96F1FE1C1C0}"/>
                </a:ext>
              </a:extLst>
            </p:cNvPr>
            <p:cNvSpPr/>
            <p:nvPr/>
          </p:nvSpPr>
          <p:spPr>
            <a:xfrm>
              <a:off x="6040800" y="5805076"/>
              <a:ext cx="130168" cy="1301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43" name="直线连接符 5">
              <a:extLst>
                <a:ext uri="{FF2B5EF4-FFF2-40B4-BE49-F238E27FC236}">
                  <a16:creationId xmlns:a16="http://schemas.microsoft.com/office/drawing/2014/main" id="{5E68FE85-933E-0CBF-FFA7-6C4B261766A4}"/>
                </a:ext>
              </a:extLst>
            </p:cNvPr>
            <p:cNvCxnSpPr>
              <a:cxnSpLocks/>
            </p:cNvCxnSpPr>
            <p:nvPr/>
          </p:nvCxnSpPr>
          <p:spPr>
            <a:xfrm>
              <a:off x="4600800" y="4970160"/>
              <a:ext cx="0" cy="900000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F50579AC-0056-0B85-790D-1C8584470656}"/>
                </a:ext>
              </a:extLst>
            </p:cNvPr>
            <p:cNvSpPr/>
            <p:nvPr/>
          </p:nvSpPr>
          <p:spPr>
            <a:xfrm>
              <a:off x="4788601" y="4898160"/>
              <a:ext cx="504000" cy="144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CA53322F-4866-3590-9A46-7BC45C0C7071}"/>
                    </a:ext>
                  </a:extLst>
                </p:cNvPr>
                <p:cNvSpPr txBox="1"/>
                <p:nvPr/>
              </p:nvSpPr>
              <p:spPr>
                <a:xfrm>
                  <a:off x="6148800" y="4838400"/>
                  <a:ext cx="504000" cy="122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lang="en-US" altLang="zh-CN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A</m:t>
                            </m:r>
                          </m:sub>
                        </m:sSub>
                      </m:oMath>
                    </m:oMathPara>
                  </a14:m>
                  <a:endParaRPr lang="en-US" altLang="zh-CN" sz="2400" i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CA53322F-4866-3590-9A46-7BC45C0C70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8800" y="4838400"/>
                  <a:ext cx="504000" cy="1224000"/>
                </a:xfrm>
                <a:prstGeom prst="rect">
                  <a:avLst/>
                </a:prstGeom>
                <a:blipFill>
                  <a:blip r:embed="rId9"/>
                  <a:stretch>
                    <a:fillRect l="-731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61DDC9BF-605B-2270-0840-B99F3D6F698F}"/>
                    </a:ext>
                  </a:extLst>
                </p:cNvPr>
                <p:cNvSpPr txBox="1"/>
                <p:nvPr/>
              </p:nvSpPr>
              <p:spPr>
                <a:xfrm>
                  <a:off x="6076800" y="5831567"/>
                  <a:ext cx="37316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  <m:r>
                          <a:rPr lang="en-US" altLang="zh-CN" sz="24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′</m:t>
                        </m:r>
                      </m:oMath>
                    </m:oMathPara>
                  </a14:m>
                  <a:endParaRPr lang="en-US" altLang="zh-CN" sz="2400" i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61DDC9BF-605B-2270-0840-B99F3D6F69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76800" y="5831567"/>
                  <a:ext cx="373160" cy="461665"/>
                </a:xfrm>
                <a:prstGeom prst="rect">
                  <a:avLst/>
                </a:prstGeom>
                <a:blipFill>
                  <a:blip r:embed="rId10"/>
                  <a:stretch>
                    <a:fillRect l="-29508" r="-65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7EC898C4-EC1E-113D-8BDE-4AF2B010013B}"/>
                    </a:ext>
                  </a:extLst>
                </p:cNvPr>
                <p:cNvSpPr txBox="1"/>
                <p:nvPr/>
              </p:nvSpPr>
              <p:spPr>
                <a:xfrm>
                  <a:off x="6076800" y="4535567"/>
                  <a:ext cx="37316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oMath>
                    </m:oMathPara>
                  </a14:m>
                  <a:endParaRPr lang="en-US" altLang="zh-CN" sz="2400" i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7EC898C4-EC1E-113D-8BDE-4AF2B01001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76800" y="4535567"/>
                  <a:ext cx="373160" cy="461665"/>
                </a:xfrm>
                <a:prstGeom prst="rect">
                  <a:avLst/>
                </a:prstGeom>
                <a:blipFill>
                  <a:blip r:embed="rId11"/>
                  <a:stretch>
                    <a:fillRect l="-1639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DC208AAB-AD39-0575-E2C8-D5B40DA3FCA6}"/>
                    </a:ext>
                  </a:extLst>
                </p:cNvPr>
                <p:cNvSpPr txBox="1"/>
                <p:nvPr/>
              </p:nvSpPr>
              <p:spPr>
                <a:xfrm>
                  <a:off x="3960000" y="4838400"/>
                  <a:ext cx="504000" cy="122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lang="en-US" altLang="zh-CN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Th</m:t>
                            </m:r>
                          </m:sub>
                        </m:sSub>
                      </m:oMath>
                    </m:oMathPara>
                  </a14:m>
                  <a:endParaRPr lang="en-US" altLang="zh-CN" sz="2400" i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DC208AAB-AD39-0575-E2C8-D5B40DA3FC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0000" y="4838400"/>
                  <a:ext cx="504000" cy="1224000"/>
                </a:xfrm>
                <a:prstGeom prst="rect">
                  <a:avLst/>
                </a:prstGeom>
                <a:blipFill>
                  <a:blip r:embed="rId12"/>
                  <a:stretch>
                    <a:fillRect l="-20732" r="-122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4B9D5B06-D8ED-148B-E8C4-FF2EBE26877E}"/>
                    </a:ext>
                  </a:extLst>
                </p:cNvPr>
                <p:cNvSpPr txBox="1"/>
                <p:nvPr/>
              </p:nvSpPr>
              <p:spPr>
                <a:xfrm>
                  <a:off x="5446800" y="4392757"/>
                  <a:ext cx="57600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A</m:t>
                            </m:r>
                          </m:sub>
                        </m:sSub>
                      </m:oMath>
                    </m:oMathPara>
                  </a14:m>
                  <a:endParaRPr lang="en-US" altLang="zh-CN" sz="2400" i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4B9D5B06-D8ED-148B-E8C4-FF2EBE2687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46800" y="4392757"/>
                  <a:ext cx="576000" cy="461665"/>
                </a:xfrm>
                <a:prstGeom prst="rect">
                  <a:avLst/>
                </a:prstGeom>
                <a:blipFill>
                  <a:blip r:embed="rId13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1" name="直接箭头连接符 70">
              <a:extLst>
                <a:ext uri="{FF2B5EF4-FFF2-40B4-BE49-F238E27FC236}">
                  <a16:creationId xmlns:a16="http://schemas.microsoft.com/office/drawing/2014/main" id="{239044BB-EAFD-E216-CD92-8C2D051EEAD1}"/>
                </a:ext>
              </a:extLst>
            </p:cNvPr>
            <p:cNvCxnSpPr/>
            <p:nvPr/>
          </p:nvCxnSpPr>
          <p:spPr>
            <a:xfrm>
              <a:off x="5464800" y="4860000"/>
              <a:ext cx="540000" cy="0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97FCE0DB-8591-706F-03B5-90EF91CDD1C8}"/>
              </a:ext>
            </a:extLst>
          </p:cNvPr>
          <p:cNvGrpSpPr/>
          <p:nvPr/>
        </p:nvGrpSpPr>
        <p:grpSpPr>
          <a:xfrm>
            <a:off x="8711632" y="2880000"/>
            <a:ext cx="2772000" cy="1900475"/>
            <a:chOff x="8351631" y="4392757"/>
            <a:chExt cx="2772000" cy="1900475"/>
          </a:xfrm>
        </p:grpSpPr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1A7E8E4C-1DDB-0204-B644-A9604AEDF54A}"/>
                </a:ext>
              </a:extLst>
            </p:cNvPr>
            <p:cNvCxnSpPr/>
            <p:nvPr/>
          </p:nvCxnSpPr>
          <p:spPr>
            <a:xfrm>
              <a:off x="8748000" y="5202097"/>
              <a:ext cx="0" cy="432000"/>
            </a:xfrm>
            <a:prstGeom prst="straightConnector1">
              <a:avLst/>
            </a:prstGeom>
            <a:ln w="25400">
              <a:solidFill>
                <a:srgbClr val="0000FF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3D1F383E-4D5D-7099-5594-3AED93CCF926}"/>
                    </a:ext>
                  </a:extLst>
                </p:cNvPr>
                <p:cNvSpPr txBox="1"/>
                <p:nvPr/>
              </p:nvSpPr>
              <p:spPr>
                <a:xfrm>
                  <a:off x="9719631" y="5148000"/>
                  <a:ext cx="57600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N</m:t>
                            </m:r>
                          </m:sub>
                        </m:sSub>
                      </m:oMath>
                    </m:oMathPara>
                  </a14:m>
                  <a:endParaRPr lang="en-US" altLang="zh-CN" sz="2400" i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3D1F383E-4D5D-7099-5594-3AED93CCF9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19631" y="5148000"/>
                  <a:ext cx="576000" cy="461665"/>
                </a:xfrm>
                <a:prstGeom prst="rect">
                  <a:avLst/>
                </a:prstGeom>
                <a:blipFill>
                  <a:blip r:embed="rId14"/>
                  <a:stretch>
                    <a:fillRect l="-7368" b="-4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7" name="直线连接符 5">
              <a:extLst>
                <a:ext uri="{FF2B5EF4-FFF2-40B4-BE49-F238E27FC236}">
                  <a16:creationId xmlns:a16="http://schemas.microsoft.com/office/drawing/2014/main" id="{07CEF298-190B-17D5-72BA-9FBCCF69974F}"/>
                </a:ext>
              </a:extLst>
            </p:cNvPr>
            <p:cNvCxnSpPr>
              <a:cxnSpLocks/>
              <a:endCxn id="78" idx="2"/>
            </p:cNvCxnSpPr>
            <p:nvPr/>
          </p:nvCxnSpPr>
          <p:spPr>
            <a:xfrm>
              <a:off x="9071631" y="4970160"/>
              <a:ext cx="144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椭圆 77">
              <a:extLst>
                <a:ext uri="{FF2B5EF4-FFF2-40B4-BE49-F238E27FC236}">
                  <a16:creationId xmlns:a16="http://schemas.microsoft.com/office/drawing/2014/main" id="{513B6F00-283C-1CAD-9A24-1B8660FD7456}"/>
                </a:ext>
              </a:extLst>
            </p:cNvPr>
            <p:cNvSpPr/>
            <p:nvPr/>
          </p:nvSpPr>
          <p:spPr>
            <a:xfrm>
              <a:off x="10511631" y="4905076"/>
              <a:ext cx="130168" cy="1301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79" name="直线连接符 5">
              <a:extLst>
                <a:ext uri="{FF2B5EF4-FFF2-40B4-BE49-F238E27FC236}">
                  <a16:creationId xmlns:a16="http://schemas.microsoft.com/office/drawing/2014/main" id="{4FB0EDD0-3B36-2718-3EDA-1D32B28E12F8}"/>
                </a:ext>
              </a:extLst>
            </p:cNvPr>
            <p:cNvCxnSpPr>
              <a:cxnSpLocks/>
              <a:endCxn id="80" idx="2"/>
            </p:cNvCxnSpPr>
            <p:nvPr/>
          </p:nvCxnSpPr>
          <p:spPr>
            <a:xfrm>
              <a:off x="9071631" y="5870160"/>
              <a:ext cx="144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椭圆 79">
              <a:extLst>
                <a:ext uri="{FF2B5EF4-FFF2-40B4-BE49-F238E27FC236}">
                  <a16:creationId xmlns:a16="http://schemas.microsoft.com/office/drawing/2014/main" id="{DF2C853F-713A-A439-3BC4-CE7BA2FB15DC}"/>
                </a:ext>
              </a:extLst>
            </p:cNvPr>
            <p:cNvSpPr/>
            <p:nvPr/>
          </p:nvSpPr>
          <p:spPr>
            <a:xfrm>
              <a:off x="10511631" y="5805076"/>
              <a:ext cx="130168" cy="1301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81" name="直线连接符 5">
              <a:extLst>
                <a:ext uri="{FF2B5EF4-FFF2-40B4-BE49-F238E27FC236}">
                  <a16:creationId xmlns:a16="http://schemas.microsoft.com/office/drawing/2014/main" id="{FEBE967B-1F2D-35F0-C6F2-D2E1FFE8DDE5}"/>
                </a:ext>
              </a:extLst>
            </p:cNvPr>
            <p:cNvCxnSpPr>
              <a:cxnSpLocks/>
            </p:cNvCxnSpPr>
            <p:nvPr/>
          </p:nvCxnSpPr>
          <p:spPr>
            <a:xfrm>
              <a:off x="9071631" y="4970160"/>
              <a:ext cx="0" cy="900000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79CDB152-E6A5-4765-7EA9-98F6F798A440}"/>
                    </a:ext>
                  </a:extLst>
                </p:cNvPr>
                <p:cNvSpPr txBox="1"/>
                <p:nvPr/>
              </p:nvSpPr>
              <p:spPr>
                <a:xfrm>
                  <a:off x="10619631" y="4838400"/>
                  <a:ext cx="504000" cy="122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lang="en-US" altLang="zh-CN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A</m:t>
                            </m:r>
                          </m:sub>
                        </m:sSub>
                      </m:oMath>
                    </m:oMathPara>
                  </a14:m>
                  <a:endParaRPr lang="en-US" altLang="zh-CN" sz="2400" i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79CDB152-E6A5-4765-7EA9-98F6F798A4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19631" y="4838400"/>
                  <a:ext cx="504000" cy="1224000"/>
                </a:xfrm>
                <a:prstGeom prst="rect">
                  <a:avLst/>
                </a:prstGeom>
                <a:blipFill>
                  <a:blip r:embed="rId15"/>
                  <a:stretch>
                    <a:fillRect l="-72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BEB9602E-ED91-4A57-532E-E8039EA8D86C}"/>
                    </a:ext>
                  </a:extLst>
                </p:cNvPr>
                <p:cNvSpPr txBox="1"/>
                <p:nvPr/>
              </p:nvSpPr>
              <p:spPr>
                <a:xfrm>
                  <a:off x="10547631" y="5831567"/>
                  <a:ext cx="37316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  <m:r>
                          <a:rPr lang="en-US" altLang="zh-CN" sz="24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′</m:t>
                        </m:r>
                      </m:oMath>
                    </m:oMathPara>
                  </a14:m>
                  <a:endParaRPr lang="en-US" altLang="zh-CN" sz="2400" i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BEB9602E-ED91-4A57-532E-E8039EA8D8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47631" y="5831567"/>
                  <a:ext cx="373160" cy="461665"/>
                </a:xfrm>
                <a:prstGeom prst="rect">
                  <a:avLst/>
                </a:prstGeom>
                <a:blipFill>
                  <a:blip r:embed="rId16"/>
                  <a:stretch>
                    <a:fillRect l="-29508" r="-65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B8C65C5E-5490-508D-0457-B395600B2191}"/>
                    </a:ext>
                  </a:extLst>
                </p:cNvPr>
                <p:cNvSpPr txBox="1"/>
                <p:nvPr/>
              </p:nvSpPr>
              <p:spPr>
                <a:xfrm>
                  <a:off x="10547631" y="4535567"/>
                  <a:ext cx="37316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oMath>
                    </m:oMathPara>
                  </a14:m>
                  <a:endParaRPr lang="en-US" altLang="zh-CN" sz="2400" i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B8C65C5E-5490-508D-0457-B395600B21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47631" y="4535567"/>
                  <a:ext cx="373160" cy="461665"/>
                </a:xfrm>
                <a:prstGeom prst="rect">
                  <a:avLst/>
                </a:prstGeom>
                <a:blipFill>
                  <a:blip r:embed="rId17"/>
                  <a:stretch>
                    <a:fillRect l="-1639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1F331968-02EB-0F1B-42B2-EBF50E4C8DEA}"/>
                    </a:ext>
                  </a:extLst>
                </p:cNvPr>
                <p:cNvSpPr txBox="1"/>
                <p:nvPr/>
              </p:nvSpPr>
              <p:spPr>
                <a:xfrm>
                  <a:off x="9917631" y="4392757"/>
                  <a:ext cx="57600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A</m:t>
                            </m:r>
                          </m:sub>
                        </m:sSub>
                      </m:oMath>
                    </m:oMathPara>
                  </a14:m>
                  <a:endParaRPr lang="en-US" altLang="zh-CN" sz="2400" i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1F331968-02EB-0F1B-42B2-EBF50E4C8D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17631" y="4392757"/>
                  <a:ext cx="576000" cy="461665"/>
                </a:xfrm>
                <a:prstGeom prst="rect">
                  <a:avLst/>
                </a:prstGeom>
                <a:blipFill>
                  <a:blip r:embed="rId18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8" name="直接箭头连接符 87">
              <a:extLst>
                <a:ext uri="{FF2B5EF4-FFF2-40B4-BE49-F238E27FC236}">
                  <a16:creationId xmlns:a16="http://schemas.microsoft.com/office/drawing/2014/main" id="{2ADA67F2-970E-4A47-B0DE-96F68548638C}"/>
                </a:ext>
              </a:extLst>
            </p:cNvPr>
            <p:cNvCxnSpPr/>
            <p:nvPr/>
          </p:nvCxnSpPr>
          <p:spPr>
            <a:xfrm>
              <a:off x="9935631" y="4860000"/>
              <a:ext cx="540000" cy="0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7B1882FF-6951-EBBB-A37E-2EA10B9BA4AB}"/>
                </a:ext>
              </a:extLst>
            </p:cNvPr>
            <p:cNvSpPr/>
            <p:nvPr/>
          </p:nvSpPr>
          <p:spPr>
            <a:xfrm>
              <a:off x="8855631" y="5202097"/>
              <a:ext cx="432000" cy="432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9" name="直线连接符 5">
              <a:extLst>
                <a:ext uri="{FF2B5EF4-FFF2-40B4-BE49-F238E27FC236}">
                  <a16:creationId xmlns:a16="http://schemas.microsoft.com/office/drawing/2014/main" id="{81FA64B6-3993-C1A7-4D65-A41DB58E78D3}"/>
                </a:ext>
              </a:extLst>
            </p:cNvPr>
            <p:cNvCxnSpPr>
              <a:cxnSpLocks/>
              <a:stCxn id="75" idx="6"/>
              <a:endCxn id="75" idx="2"/>
            </p:cNvCxnSpPr>
            <p:nvPr/>
          </p:nvCxnSpPr>
          <p:spPr>
            <a:xfrm flipH="1">
              <a:off x="8855631" y="5418097"/>
              <a:ext cx="4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11B5FCB7-6D57-368A-2856-B340F37E8E0F}"/>
                    </a:ext>
                  </a:extLst>
                </p:cNvPr>
                <p:cNvSpPr txBox="1"/>
                <p:nvPr/>
              </p:nvSpPr>
              <p:spPr>
                <a:xfrm>
                  <a:off x="8351631" y="5148000"/>
                  <a:ext cx="50400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N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11B5FCB7-6D57-368A-2856-B340F37E8E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51631" y="5148000"/>
                  <a:ext cx="504000" cy="461665"/>
                </a:xfrm>
                <a:prstGeom prst="rect">
                  <a:avLst/>
                </a:prstGeom>
                <a:blipFill>
                  <a:blip r:embed="rId19"/>
                  <a:stretch>
                    <a:fillRect l="-7229" b="-4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4" name="直线连接符 5">
              <a:extLst>
                <a:ext uri="{FF2B5EF4-FFF2-40B4-BE49-F238E27FC236}">
                  <a16:creationId xmlns:a16="http://schemas.microsoft.com/office/drawing/2014/main" id="{85E84D33-6F33-B914-DD84-BD4F9CE4A192}"/>
                </a:ext>
              </a:extLst>
            </p:cNvPr>
            <p:cNvCxnSpPr>
              <a:cxnSpLocks/>
            </p:cNvCxnSpPr>
            <p:nvPr/>
          </p:nvCxnSpPr>
          <p:spPr>
            <a:xfrm>
              <a:off x="9647631" y="4971600"/>
              <a:ext cx="0" cy="900000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48BDEDE4-139E-CDAA-BF0B-1411DD999810}"/>
                </a:ext>
              </a:extLst>
            </p:cNvPr>
            <p:cNvSpPr/>
            <p:nvPr/>
          </p:nvSpPr>
          <p:spPr>
            <a:xfrm>
              <a:off x="9575631" y="5168160"/>
              <a:ext cx="144000" cy="504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5" name="椭圆 94">
              <a:extLst>
                <a:ext uri="{FF2B5EF4-FFF2-40B4-BE49-F238E27FC236}">
                  <a16:creationId xmlns:a16="http://schemas.microsoft.com/office/drawing/2014/main" id="{418D5659-E08C-43CD-6718-DA25007EFEBA}"/>
                </a:ext>
              </a:extLst>
            </p:cNvPr>
            <p:cNvSpPr/>
            <p:nvPr/>
          </p:nvSpPr>
          <p:spPr>
            <a:xfrm>
              <a:off x="9593631" y="49176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D36F3DED-3458-EB25-12FB-2DC8DB11F4A4}"/>
                </a:ext>
              </a:extLst>
            </p:cNvPr>
            <p:cNvSpPr/>
            <p:nvPr/>
          </p:nvSpPr>
          <p:spPr>
            <a:xfrm>
              <a:off x="9593631" y="58176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11975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68595-30F5-13A0-6462-1E7EE1815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8229F388-BCB7-6840-EDB4-72DB4D5A3CFB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习题</a:t>
            </a:r>
            <a:endParaRPr lang="en-US" altLang="zh-CN" sz="3000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9DCD816E-F083-8D78-C0DA-8EE8DEF789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97600" y="1440000"/>
            <a:ext cx="7416000" cy="5249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C5AC0C1-8DF6-3A2B-DD29-8E1F8D71BE7A}"/>
                  </a:ext>
                </a:extLst>
              </p:cNvPr>
              <p:cNvSpPr txBox="1"/>
              <p:nvPr/>
            </p:nvSpPr>
            <p:spPr>
              <a:xfrm>
                <a:off x="360001" y="828000"/>
                <a:ext cx="7572420" cy="5656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试求解下图中各电路中的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𝑢</m:t>
                    </m:r>
                  </m:oMath>
                </a14:m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或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𝑖</m:t>
                    </m:r>
                  </m:oMath>
                </a14:m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的值</a:t>
                </a:r>
                <a:endParaRPr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C5AC0C1-8DF6-3A2B-DD29-8E1F8D71BE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1" y="828000"/>
                <a:ext cx="7572420" cy="565604"/>
              </a:xfrm>
              <a:prstGeom prst="rect">
                <a:avLst/>
              </a:prstGeom>
              <a:blipFill>
                <a:blip r:embed="rId4"/>
                <a:stretch>
                  <a:fillRect l="-1610" t="-4301" b="-290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8544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33975</TotalTime>
  <Words>2593</Words>
  <Application>Microsoft Office PowerPoint</Application>
  <PresentationFormat>宽屏</PresentationFormat>
  <Paragraphs>522</Paragraphs>
  <Slides>23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1" baseType="lpstr">
      <vt:lpstr>等线</vt:lpstr>
      <vt:lpstr>微软雅黑</vt:lpstr>
      <vt:lpstr>微软雅黑</vt:lpstr>
      <vt:lpstr>Arial</vt:lpstr>
      <vt:lpstr>Cambria Math</vt:lpstr>
      <vt:lpstr>Candara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 Liao</dc:creator>
  <cp:lastModifiedBy>Wendy H</cp:lastModifiedBy>
  <cp:revision>1435</cp:revision>
  <dcterms:created xsi:type="dcterms:W3CDTF">2024-12-23T04:28:42Z</dcterms:created>
  <dcterms:modified xsi:type="dcterms:W3CDTF">2026-01-17T08:33:33Z</dcterms:modified>
</cp:coreProperties>
</file>