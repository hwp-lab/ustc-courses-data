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1354" r:id="rId2"/>
    <p:sldId id="6935" r:id="rId3"/>
    <p:sldId id="7240" r:id="rId4"/>
    <p:sldId id="7241" r:id="rId5"/>
    <p:sldId id="7250" r:id="rId6"/>
    <p:sldId id="7246" r:id="rId7"/>
    <p:sldId id="7247" r:id="rId8"/>
    <p:sldId id="7251" r:id="rId9"/>
    <p:sldId id="7249" r:id="rId10"/>
    <p:sldId id="7253" r:id="rId11"/>
    <p:sldId id="7255" r:id="rId12"/>
    <p:sldId id="7261" r:id="rId13"/>
    <p:sldId id="7252" r:id="rId14"/>
    <p:sldId id="7259" r:id="rId15"/>
    <p:sldId id="7257" r:id="rId16"/>
    <p:sldId id="7260" r:id="rId17"/>
    <p:sldId id="7007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FF"/>
    <a:srgbClr val="00FFFF"/>
    <a:srgbClr val="00FF00"/>
    <a:srgbClr val="FFC8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848" autoAdjust="0"/>
    <p:restoredTop sz="71381" autoAdjust="0"/>
  </p:normalViewPr>
  <p:slideViewPr>
    <p:cSldViewPr snapToGrid="0">
      <p:cViewPr varScale="1">
        <p:scale>
          <a:sx n="69" d="100"/>
          <a:sy n="69" d="100"/>
        </p:scale>
        <p:origin x="237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1230" y="39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3336B957-0C23-1CDE-A2B8-044701C667D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07E1FBC-070D-8861-8D9C-258144CACEA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72CA61-C7A7-44C1-8225-2F3B25FCEFE9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E964B15-02A6-96D1-7025-FFA5019E5E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1ABE5DA-4AAF-6256-556A-73DB14F76B4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1A6520-B727-41E0-BB1B-FA4B49A625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10418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6499D7-817A-4BF8-98BA-7E2BFEC27B52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F8E926-3218-4A05-BE3C-00B734B06F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42014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49EC6D-DB1F-44A4-BAF7-4CD4248B20AA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83064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zh-CN" altLang="en-US" sz="1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4834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V_im</a:t>
            </a:r>
            <a:r>
              <a:rPr lang="en-US" altLang="zh-CN" dirty="0"/>
              <a:t> </a:t>
            </a:r>
            <a:r>
              <a:rPr lang="zh-CN" altLang="en-US" dirty="0"/>
              <a:t>很小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34495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平衡电阻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04100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利用电压跟随器输入阻抗高和输出阻抗低的特点，用来“隔离”前后级之间的影响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61302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4A4AB-4377-F125-090E-ABF90D800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BC343CF-A2A8-A915-10AD-5EA5545BE8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7D2F561-F96C-1B81-97F7-C66FAB51AD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3D02724-CA2F-15CE-BEC0-D3483E3039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64001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F0AE9-487B-2CE8-2165-BD1F4A637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3982D10-F90F-0F1E-266C-82D194BF56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8D74052-D1FF-C482-EDF7-17794889C5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3A03DD7-CCB8-EA73-C16B-3D1BA3B74F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13661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DC394-3D3F-B6B5-F654-FCE0D2F3C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08908AB-0127-C0AD-06E7-2DC59EFB92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0845735-E1DF-A480-188C-9EB0D7D345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70F48F5-E5CA-C455-E6B4-517D05EE5A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97909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零状态响应和零输入响应的等式是基于 </a:t>
            </a:r>
            <a:r>
              <a:rPr lang="en-US" altLang="zh-CN" dirty="0"/>
              <a:t>KVL </a:t>
            </a:r>
            <a:r>
              <a:rPr lang="zh-CN" altLang="en-US"/>
              <a:t>得到的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09258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时间常数越大，电容充放电就越慢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82046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并联 </a:t>
            </a:r>
            <a:r>
              <a:rPr lang="en-US" altLang="zh-CN" dirty="0"/>
              <a:t>R_1 </a:t>
            </a:r>
            <a:r>
              <a:rPr lang="zh-CN" altLang="en-US" dirty="0"/>
              <a:t>会对电路产生一定影响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49242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v_o</a:t>
            </a:r>
            <a:r>
              <a:rPr lang="en-US" altLang="zh-CN" dirty="0"/>
              <a:t> </a:t>
            </a:r>
            <a:r>
              <a:rPr lang="zh-CN" altLang="en-US" dirty="0"/>
              <a:t>通过一个指数型衰减到 </a:t>
            </a:r>
            <a:r>
              <a:rPr lang="en-US" altLang="zh-CN" dirty="0"/>
              <a:t>0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96585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76462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6" descr="bg3">
            <a:extLst>
              <a:ext uri="{FF2B5EF4-FFF2-40B4-BE49-F238E27FC236}">
                <a16:creationId xmlns:a16="http://schemas.microsoft.com/office/drawing/2014/main" id="{3C12D28E-7FDA-416A-89CF-B41CFE8C11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t="80031" b="16504"/>
          <a:stretch>
            <a:fillRect/>
          </a:stretch>
        </p:blipFill>
        <p:spPr bwMode="auto">
          <a:xfrm flipV="1">
            <a:off x="0" y="1711615"/>
            <a:ext cx="12192000" cy="4378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</p:pic>
      <p:pic>
        <p:nvPicPr>
          <p:cNvPr id="9" name="Picture 17" descr="bg3">
            <a:extLst>
              <a:ext uri="{FF2B5EF4-FFF2-40B4-BE49-F238E27FC236}">
                <a16:creationId xmlns:a16="http://schemas.microsoft.com/office/drawing/2014/main" id="{6256C6DD-5C6C-4934-AE0F-6E767F3C2F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t="48767" b="15891"/>
          <a:stretch>
            <a:fillRect/>
          </a:stretch>
        </p:blipFill>
        <p:spPr bwMode="auto">
          <a:xfrm>
            <a:off x="0" y="1930558"/>
            <a:ext cx="12192000" cy="27779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10" descr="2">
            <a:extLst>
              <a:ext uri="{FF2B5EF4-FFF2-40B4-BE49-F238E27FC236}">
                <a16:creationId xmlns:a16="http://schemas.microsoft.com/office/drawing/2014/main" id="{12F893B6-5430-4116-B41C-027E149AB2E4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 cstate="print">
            <a:clrChange>
              <a:clrFrom>
                <a:srgbClr val="E8E8EA"/>
              </a:clrFrom>
              <a:clrTo>
                <a:srgbClr val="E8E8EA">
                  <a:alpha val="0"/>
                </a:srgbClr>
              </a:clrTo>
            </a:clrChange>
          </a:blip>
          <a:srcRect l="3981" t="5824" r="52233" b="80846"/>
          <a:stretch/>
        </p:blipFill>
        <p:spPr bwMode="auto">
          <a:xfrm>
            <a:off x="0" y="278392"/>
            <a:ext cx="4244196" cy="9144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5851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4" descr="bg2">
            <a:extLst>
              <a:ext uri="{FF2B5EF4-FFF2-40B4-BE49-F238E27FC236}">
                <a16:creationId xmlns:a16="http://schemas.microsoft.com/office/drawing/2014/main" id="{B5E88CDA-D72A-4EE5-A041-54DDE04C08EC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print"/>
          <a:srcRect r="31108" b="84377"/>
          <a:stretch/>
        </p:blipFill>
        <p:spPr bwMode="auto">
          <a:xfrm>
            <a:off x="0" y="1"/>
            <a:ext cx="12192000" cy="5750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837589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3057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0.png"/><Relationship Id="rId13" Type="http://schemas.openxmlformats.org/officeDocument/2006/relationships/image" Target="../media/image87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2.png"/><Relationship Id="rId5" Type="http://schemas.openxmlformats.org/officeDocument/2006/relationships/image" Target="../media/image7.png"/><Relationship Id="rId15" Type="http://schemas.openxmlformats.org/officeDocument/2006/relationships/image" Target="../media/image89.png"/><Relationship Id="rId10" Type="http://schemas.openxmlformats.org/officeDocument/2006/relationships/image" Target="../media/image11.png"/><Relationship Id="rId4" Type="http://schemas.openxmlformats.org/officeDocument/2006/relationships/image" Target="../media/image6.png"/><Relationship Id="rId9" Type="http://schemas.openxmlformats.org/officeDocument/2006/relationships/image" Target="../media/image10.png"/><Relationship Id="rId14" Type="http://schemas.openxmlformats.org/officeDocument/2006/relationships/image" Target="../media/image8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18" Type="http://schemas.openxmlformats.org/officeDocument/2006/relationships/image" Target="../media/image28.png"/><Relationship Id="rId3" Type="http://schemas.openxmlformats.org/officeDocument/2006/relationships/image" Target="../media/image130.png"/><Relationship Id="rId21" Type="http://schemas.openxmlformats.org/officeDocument/2006/relationships/image" Target="../media/image31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17" Type="http://schemas.openxmlformats.org/officeDocument/2006/relationships/image" Target="../media/image27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6.png"/><Relationship Id="rId20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23" Type="http://schemas.openxmlformats.org/officeDocument/2006/relationships/image" Target="../media/image33.png"/><Relationship Id="rId10" Type="http://schemas.openxmlformats.org/officeDocument/2006/relationships/image" Target="../media/image20.png"/><Relationship Id="rId19" Type="http://schemas.openxmlformats.org/officeDocument/2006/relationships/image" Target="../media/image29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Relationship Id="rId22" Type="http://schemas.openxmlformats.org/officeDocument/2006/relationships/image" Target="../media/image32.png"/></Relationships>
</file>

<file path=ppt/slides/_rels/slide6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7.png"/><Relationship Id="rId39" Type="http://schemas.openxmlformats.org/officeDocument/2006/relationships/image" Target="../media/image25.png"/><Relationship Id="rId21" Type="http://schemas.openxmlformats.org/officeDocument/2006/relationships/image" Target="../media/image320.png"/><Relationship Id="rId34" Type="http://schemas.openxmlformats.org/officeDocument/2006/relationships/image" Target="../media/image20.png"/><Relationship Id="rId42" Type="http://schemas.openxmlformats.org/officeDocument/2006/relationships/image" Target="../media/image28.png"/><Relationship Id="rId25" Type="http://schemas.openxmlformats.org/officeDocument/2006/relationships/image" Target="../media/image36.png"/><Relationship Id="rId33" Type="http://schemas.openxmlformats.org/officeDocument/2006/relationships/image" Target="../media/image19.png"/><Relationship Id="rId38" Type="http://schemas.openxmlformats.org/officeDocument/2006/relationships/image" Target="../media/image43.png"/><Relationship Id="rId46" Type="http://schemas.openxmlformats.org/officeDocument/2006/relationships/image" Target="../media/image32.png"/><Relationship Id="rId2" Type="http://schemas.openxmlformats.org/officeDocument/2006/relationships/notesSlide" Target="../notesSlides/notesSlide5.xml"/><Relationship Id="rId29" Type="http://schemas.openxmlformats.org/officeDocument/2006/relationships/image" Target="../media/image40.png"/><Relationship Id="rId41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24" Type="http://schemas.openxmlformats.org/officeDocument/2006/relationships/image" Target="../media/image35.png"/><Relationship Id="rId32" Type="http://schemas.openxmlformats.org/officeDocument/2006/relationships/image" Target="../media/image18.png"/><Relationship Id="rId37" Type="http://schemas.openxmlformats.org/officeDocument/2006/relationships/image" Target="../media/image23.png"/><Relationship Id="rId40" Type="http://schemas.openxmlformats.org/officeDocument/2006/relationships/image" Target="../media/image44.png"/><Relationship Id="rId45" Type="http://schemas.openxmlformats.org/officeDocument/2006/relationships/image" Target="../media/image31.png"/><Relationship Id="rId23" Type="http://schemas.openxmlformats.org/officeDocument/2006/relationships/image" Target="../media/image34.png"/><Relationship Id="rId28" Type="http://schemas.openxmlformats.org/officeDocument/2006/relationships/image" Target="../media/image39.png"/><Relationship Id="rId36" Type="http://schemas.openxmlformats.org/officeDocument/2006/relationships/image" Target="../media/image22.png"/><Relationship Id="rId31" Type="http://schemas.openxmlformats.org/officeDocument/2006/relationships/image" Target="../media/image42.png"/><Relationship Id="rId44" Type="http://schemas.openxmlformats.org/officeDocument/2006/relationships/image" Target="../media/image30.png"/><Relationship Id="rId22" Type="http://schemas.openxmlformats.org/officeDocument/2006/relationships/image" Target="../media/image330.png"/><Relationship Id="rId27" Type="http://schemas.openxmlformats.org/officeDocument/2006/relationships/image" Target="../media/image38.png"/><Relationship Id="rId30" Type="http://schemas.openxmlformats.org/officeDocument/2006/relationships/image" Target="../media/image41.png"/><Relationship Id="rId35" Type="http://schemas.openxmlformats.org/officeDocument/2006/relationships/image" Target="../media/image21.png"/><Relationship Id="rId43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22.png"/><Relationship Id="rId18" Type="http://schemas.openxmlformats.org/officeDocument/2006/relationships/image" Target="../media/image49.png"/><Relationship Id="rId21" Type="http://schemas.openxmlformats.org/officeDocument/2006/relationships/image" Target="../media/image28.png"/><Relationship Id="rId7" Type="http://schemas.openxmlformats.org/officeDocument/2006/relationships/image" Target="../media/image460.png"/><Relationship Id="rId12" Type="http://schemas.openxmlformats.org/officeDocument/2006/relationships/image" Target="../media/image47.png"/><Relationship Id="rId17" Type="http://schemas.openxmlformats.org/officeDocument/2006/relationships/image" Target="../media/image48.png"/><Relationship Id="rId25" Type="http://schemas.openxmlformats.org/officeDocument/2006/relationships/image" Target="../media/image51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29.png"/><Relationship Id="rId20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0.png"/><Relationship Id="rId11" Type="http://schemas.openxmlformats.org/officeDocument/2006/relationships/image" Target="../media/image46.png"/><Relationship Id="rId24" Type="http://schemas.openxmlformats.org/officeDocument/2006/relationships/image" Target="../media/image50.png"/><Relationship Id="rId5" Type="http://schemas.openxmlformats.org/officeDocument/2006/relationships/image" Target="../media/image440.png"/><Relationship Id="rId15" Type="http://schemas.openxmlformats.org/officeDocument/2006/relationships/image" Target="../media/image25.png"/><Relationship Id="rId23" Type="http://schemas.openxmlformats.org/officeDocument/2006/relationships/image" Target="../media/image32.png"/><Relationship Id="rId10" Type="http://schemas.openxmlformats.org/officeDocument/2006/relationships/image" Target="../media/image19.png"/><Relationship Id="rId19" Type="http://schemas.openxmlformats.org/officeDocument/2006/relationships/image" Target="../media/image43.png"/><Relationship Id="rId4" Type="http://schemas.openxmlformats.org/officeDocument/2006/relationships/image" Target="../media/image130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Relationship Id="rId22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54.png"/><Relationship Id="rId18" Type="http://schemas.openxmlformats.org/officeDocument/2006/relationships/image" Target="../media/image43.png"/><Relationship Id="rId3" Type="http://schemas.openxmlformats.org/officeDocument/2006/relationships/image" Target="../media/image530.png"/><Relationship Id="rId21" Type="http://schemas.openxmlformats.org/officeDocument/2006/relationships/image" Target="../media/image59.png"/><Relationship Id="rId7" Type="http://schemas.openxmlformats.org/officeDocument/2006/relationships/image" Target="../media/image18.png"/><Relationship Id="rId12" Type="http://schemas.openxmlformats.org/officeDocument/2006/relationships/image" Target="../media/image53.png"/><Relationship Id="rId17" Type="http://schemas.openxmlformats.org/officeDocument/2006/relationships/image" Target="../media/image57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48.png"/><Relationship Id="rId20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11" Type="http://schemas.openxmlformats.org/officeDocument/2006/relationships/image" Target="../media/image29.png"/><Relationship Id="rId5" Type="http://schemas.openxmlformats.org/officeDocument/2006/relationships/image" Target="../media/image550.png"/><Relationship Id="rId15" Type="http://schemas.openxmlformats.org/officeDocument/2006/relationships/image" Target="../media/image56.png"/><Relationship Id="rId23" Type="http://schemas.openxmlformats.org/officeDocument/2006/relationships/image" Target="../media/image61.png"/><Relationship Id="rId10" Type="http://schemas.openxmlformats.org/officeDocument/2006/relationships/image" Target="../media/image25.png"/><Relationship Id="rId19" Type="http://schemas.openxmlformats.org/officeDocument/2006/relationships/image" Target="../media/image44.png"/><Relationship Id="rId4" Type="http://schemas.openxmlformats.org/officeDocument/2006/relationships/image" Target="../media/image540.png"/><Relationship Id="rId9" Type="http://schemas.openxmlformats.org/officeDocument/2006/relationships/image" Target="../media/image23.png"/><Relationship Id="rId14" Type="http://schemas.openxmlformats.org/officeDocument/2006/relationships/image" Target="../media/image55.png"/><Relationship Id="rId22" Type="http://schemas.openxmlformats.org/officeDocument/2006/relationships/image" Target="../media/image6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0.png"/><Relationship Id="rId13" Type="http://schemas.openxmlformats.org/officeDocument/2006/relationships/image" Target="../media/image520.png"/><Relationship Id="rId18" Type="http://schemas.openxmlformats.org/officeDocument/2006/relationships/image" Target="../media/image730.png"/><Relationship Id="rId26" Type="http://schemas.openxmlformats.org/officeDocument/2006/relationships/image" Target="../media/image79.png"/><Relationship Id="rId3" Type="http://schemas.openxmlformats.org/officeDocument/2006/relationships/image" Target="../media/image650.png"/><Relationship Id="rId21" Type="http://schemas.openxmlformats.org/officeDocument/2006/relationships/image" Target="../media/image321.png"/><Relationship Id="rId7" Type="http://schemas.openxmlformats.org/officeDocument/2006/relationships/image" Target="../media/image180.png"/><Relationship Id="rId12" Type="http://schemas.openxmlformats.org/officeDocument/2006/relationships/image" Target="../media/image510.png"/><Relationship Id="rId17" Type="http://schemas.openxmlformats.org/officeDocument/2006/relationships/image" Target="../media/image511.png"/><Relationship Id="rId25" Type="http://schemas.openxmlformats.org/officeDocument/2006/relationships/image" Target="../media/image78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710.png"/><Relationship Id="rId20" Type="http://schemas.openxmlformats.org/officeDocument/2006/relationships/image" Target="../media/image2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0.png"/><Relationship Id="rId11" Type="http://schemas.openxmlformats.org/officeDocument/2006/relationships/image" Target="../media/image500.png"/><Relationship Id="rId24" Type="http://schemas.openxmlformats.org/officeDocument/2006/relationships/image" Target="../media/image77.png"/><Relationship Id="rId5" Type="http://schemas.openxmlformats.org/officeDocument/2006/relationships/image" Target="../media/image670.png"/><Relationship Id="rId15" Type="http://schemas.openxmlformats.org/officeDocument/2006/relationships/image" Target="../media/image700.png"/><Relationship Id="rId23" Type="http://schemas.openxmlformats.org/officeDocument/2006/relationships/image" Target="../media/image76.png"/><Relationship Id="rId10" Type="http://schemas.openxmlformats.org/officeDocument/2006/relationships/image" Target="../media/image250.png"/><Relationship Id="rId19" Type="http://schemas.openxmlformats.org/officeDocument/2006/relationships/image" Target="../media/image74.png"/><Relationship Id="rId4" Type="http://schemas.openxmlformats.org/officeDocument/2006/relationships/image" Target="../media/image660.png"/><Relationship Id="rId9" Type="http://schemas.openxmlformats.org/officeDocument/2006/relationships/image" Target="../media/image230.png"/><Relationship Id="rId14" Type="http://schemas.openxmlformats.org/officeDocument/2006/relationships/image" Target="../media/image690.png"/><Relationship Id="rId22" Type="http://schemas.openxmlformats.org/officeDocument/2006/relationships/image" Target="../media/image7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7" Type="http://schemas.openxmlformats.org/officeDocument/2006/relationships/image" Target="../media/image72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.png"/><Relationship Id="rId5" Type="http://schemas.openxmlformats.org/officeDocument/2006/relationships/image" Target="../media/image8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0.png"/><Relationship Id="rId7" Type="http://schemas.openxmlformats.org/officeDocument/2006/relationships/image" Target="../media/image84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png"/><Relationship Id="rId11" Type="http://schemas.openxmlformats.org/officeDocument/2006/relationships/image" Target="../media/image73.png"/><Relationship Id="rId5" Type="http://schemas.openxmlformats.org/officeDocument/2006/relationships/image" Target="../media/image86.png"/><Relationship Id="rId10" Type="http://schemas.openxmlformats.org/officeDocument/2006/relationships/image" Target="../media/image72.png"/><Relationship Id="rId9" Type="http://schemas.openxmlformats.org/officeDocument/2006/relationships/image" Target="../media/image88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13" Type="http://schemas.openxmlformats.org/officeDocument/2006/relationships/image" Target="../media/image81.png"/><Relationship Id="rId18" Type="http://schemas.openxmlformats.org/officeDocument/2006/relationships/image" Target="../media/image94.png"/><Relationship Id="rId3" Type="http://schemas.openxmlformats.org/officeDocument/2006/relationships/image" Target="../media/image62.png"/><Relationship Id="rId21" Type="http://schemas.openxmlformats.org/officeDocument/2006/relationships/image" Target="../media/image97.png"/><Relationship Id="rId7" Type="http://schemas.openxmlformats.org/officeDocument/2006/relationships/image" Target="../media/image66.png"/><Relationship Id="rId12" Type="http://schemas.openxmlformats.org/officeDocument/2006/relationships/image" Target="../media/image71.png"/><Relationship Id="rId17" Type="http://schemas.openxmlformats.org/officeDocument/2006/relationships/image" Target="../media/image93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92.png"/><Relationship Id="rId20" Type="http://schemas.openxmlformats.org/officeDocument/2006/relationships/image" Target="../media/image9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11" Type="http://schemas.openxmlformats.org/officeDocument/2006/relationships/image" Target="../media/image70.png"/><Relationship Id="rId5" Type="http://schemas.openxmlformats.org/officeDocument/2006/relationships/image" Target="../media/image64.png"/><Relationship Id="rId15" Type="http://schemas.openxmlformats.org/officeDocument/2006/relationships/image" Target="../media/image91.png"/><Relationship Id="rId10" Type="http://schemas.openxmlformats.org/officeDocument/2006/relationships/image" Target="../media/image69.png"/><Relationship Id="rId19" Type="http://schemas.openxmlformats.org/officeDocument/2006/relationships/image" Target="../media/image95.png"/><Relationship Id="rId4" Type="http://schemas.openxmlformats.org/officeDocument/2006/relationships/image" Target="../media/image63.png"/><Relationship Id="rId9" Type="http://schemas.openxmlformats.org/officeDocument/2006/relationships/image" Target="../media/image68.png"/><Relationship Id="rId14" Type="http://schemas.openxmlformats.org/officeDocument/2006/relationships/image" Target="../media/image82.png"/><Relationship Id="rId22" Type="http://schemas.openxmlformats.org/officeDocument/2006/relationships/image" Target="../media/image98.png"/></Relationships>
</file>

<file path=ppt/slides/_rels/slide13.xml.rels><?xml version="1.0" encoding="UTF-8" standalone="yes"?>
<Relationships xmlns="http://schemas.openxmlformats.org/package/2006/relationships"><Relationship Id="rId18" Type="http://schemas.openxmlformats.org/officeDocument/2006/relationships/image" Target="../media/image890.png"/><Relationship Id="rId26" Type="http://schemas.openxmlformats.org/officeDocument/2006/relationships/image" Target="../media/image103.png"/><Relationship Id="rId21" Type="http://schemas.openxmlformats.org/officeDocument/2006/relationships/image" Target="../media/image961.png"/><Relationship Id="rId34" Type="http://schemas.openxmlformats.org/officeDocument/2006/relationships/image" Target="../media/image111.png"/><Relationship Id="rId25" Type="http://schemas.openxmlformats.org/officeDocument/2006/relationships/image" Target="../media/image102.png"/><Relationship Id="rId33" Type="http://schemas.openxmlformats.org/officeDocument/2006/relationships/image" Target="../media/image110.png"/><Relationship Id="rId38" Type="http://schemas.openxmlformats.org/officeDocument/2006/relationships/image" Target="../media/image115.png"/><Relationship Id="rId2" Type="http://schemas.openxmlformats.org/officeDocument/2006/relationships/notesSlide" Target="../notesSlides/notesSlide10.xml"/><Relationship Id="rId20" Type="http://schemas.openxmlformats.org/officeDocument/2006/relationships/image" Target="../media/image720.png"/><Relationship Id="rId29" Type="http://schemas.openxmlformats.org/officeDocument/2006/relationships/image" Target="../media/image106.png"/><Relationship Id="rId1" Type="http://schemas.openxmlformats.org/officeDocument/2006/relationships/slideLayout" Target="../slideLayouts/slideLayout2.xml"/><Relationship Id="rId24" Type="http://schemas.openxmlformats.org/officeDocument/2006/relationships/image" Target="../media/image101.png"/><Relationship Id="rId32" Type="http://schemas.openxmlformats.org/officeDocument/2006/relationships/image" Target="../media/image109.png"/><Relationship Id="rId37" Type="http://schemas.openxmlformats.org/officeDocument/2006/relationships/image" Target="../media/image114.png"/><Relationship Id="rId23" Type="http://schemas.openxmlformats.org/officeDocument/2006/relationships/image" Target="../media/image99.png"/><Relationship Id="rId28" Type="http://schemas.openxmlformats.org/officeDocument/2006/relationships/image" Target="../media/image105.png"/><Relationship Id="rId36" Type="http://schemas.openxmlformats.org/officeDocument/2006/relationships/image" Target="../media/image113.png"/><Relationship Id="rId19" Type="http://schemas.openxmlformats.org/officeDocument/2006/relationships/image" Target="../media/image970.png"/><Relationship Id="rId31" Type="http://schemas.openxmlformats.org/officeDocument/2006/relationships/image" Target="../media/image108.png"/><Relationship Id="rId22" Type="http://schemas.openxmlformats.org/officeDocument/2006/relationships/image" Target="../media/image100.png"/><Relationship Id="rId27" Type="http://schemas.openxmlformats.org/officeDocument/2006/relationships/image" Target="../media/image104.png"/><Relationship Id="rId30" Type="http://schemas.openxmlformats.org/officeDocument/2006/relationships/image" Target="../media/image107.png"/><Relationship Id="rId35" Type="http://schemas.openxmlformats.org/officeDocument/2006/relationships/image" Target="../media/image112.png"/></Relationships>
</file>

<file path=ppt/slides/_rels/slide14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060.png"/><Relationship Id="rId39" Type="http://schemas.openxmlformats.org/officeDocument/2006/relationships/image" Target="../media/image44.png"/><Relationship Id="rId3" Type="http://schemas.openxmlformats.org/officeDocument/2006/relationships/image" Target="../media/image731.png"/><Relationship Id="rId21" Type="http://schemas.openxmlformats.org/officeDocument/2006/relationships/image" Target="../media/image1010.png"/><Relationship Id="rId34" Type="http://schemas.openxmlformats.org/officeDocument/2006/relationships/image" Target="../media/image29.png"/><Relationship Id="rId42" Type="http://schemas.openxmlformats.org/officeDocument/2006/relationships/image" Target="../media/image691.png"/><Relationship Id="rId25" Type="http://schemas.openxmlformats.org/officeDocument/2006/relationships/image" Target="../media/image1050.png"/><Relationship Id="rId33" Type="http://schemas.openxmlformats.org/officeDocument/2006/relationships/image" Target="../media/image25.png"/><Relationship Id="rId38" Type="http://schemas.openxmlformats.org/officeDocument/2006/relationships/image" Target="../media/image43.png"/><Relationship Id="rId2" Type="http://schemas.openxmlformats.org/officeDocument/2006/relationships/notesSlide" Target="../notesSlides/notesSlide11.xml"/><Relationship Id="rId20" Type="http://schemas.openxmlformats.org/officeDocument/2006/relationships/image" Target="../media/image980.png"/><Relationship Id="rId29" Type="http://schemas.openxmlformats.org/officeDocument/2006/relationships/image" Target="../media/image630.png"/><Relationship Id="rId41" Type="http://schemas.openxmlformats.org/officeDocument/2006/relationships/image" Target="../media/image681.png"/><Relationship Id="rId1" Type="http://schemas.openxmlformats.org/officeDocument/2006/relationships/slideLayout" Target="../slideLayouts/slideLayout2.xml"/><Relationship Id="rId24" Type="http://schemas.openxmlformats.org/officeDocument/2006/relationships/image" Target="../media/image1040.png"/><Relationship Id="rId32" Type="http://schemas.openxmlformats.org/officeDocument/2006/relationships/image" Target="../media/image23.png"/><Relationship Id="rId37" Type="http://schemas.openxmlformats.org/officeDocument/2006/relationships/image" Target="../media/image661.png"/><Relationship Id="rId40" Type="http://schemas.openxmlformats.org/officeDocument/2006/relationships/image" Target="../media/image671.png"/><Relationship Id="rId23" Type="http://schemas.openxmlformats.org/officeDocument/2006/relationships/image" Target="../media/image1030.png"/><Relationship Id="rId28" Type="http://schemas.openxmlformats.org/officeDocument/2006/relationships/image" Target="../media/image1080.png"/><Relationship Id="rId36" Type="http://schemas.openxmlformats.org/officeDocument/2006/relationships/image" Target="../media/image651.png"/><Relationship Id="rId19" Type="http://schemas.openxmlformats.org/officeDocument/2006/relationships/image" Target="../media/image960.png"/><Relationship Id="rId31" Type="http://schemas.openxmlformats.org/officeDocument/2006/relationships/image" Target="../media/image19.png"/><Relationship Id="rId44" Type="http://schemas.openxmlformats.org/officeDocument/2006/relationships/image" Target="../media/image620.png"/><Relationship Id="rId22" Type="http://schemas.openxmlformats.org/officeDocument/2006/relationships/image" Target="../media/image1020.png"/><Relationship Id="rId27" Type="http://schemas.openxmlformats.org/officeDocument/2006/relationships/image" Target="../media/image1070.png"/><Relationship Id="rId30" Type="http://schemas.openxmlformats.org/officeDocument/2006/relationships/image" Target="../media/image18.png"/><Relationship Id="rId35" Type="http://schemas.openxmlformats.org/officeDocument/2006/relationships/image" Target="../media/image640.png"/><Relationship Id="rId43" Type="http://schemas.openxmlformats.org/officeDocument/2006/relationships/image" Target="../media/image701.png"/></Relationships>
</file>

<file path=ppt/slides/_rels/slide15.xml.rels><?xml version="1.0" encoding="UTF-8" standalone="yes"?>
<Relationships xmlns="http://schemas.openxmlformats.org/package/2006/relationships"><Relationship Id="rId18" Type="http://schemas.openxmlformats.org/officeDocument/2006/relationships/image" Target="../media/image970.png"/><Relationship Id="rId26" Type="http://schemas.openxmlformats.org/officeDocument/2006/relationships/image" Target="../media/image640.png"/><Relationship Id="rId21" Type="http://schemas.openxmlformats.org/officeDocument/2006/relationships/image" Target="../media/image18.png"/><Relationship Id="rId34" Type="http://schemas.openxmlformats.org/officeDocument/2006/relationships/image" Target="../media/image1130.png"/><Relationship Id="rId17" Type="http://schemas.openxmlformats.org/officeDocument/2006/relationships/image" Target="../media/image1140.png"/><Relationship Id="rId25" Type="http://schemas.openxmlformats.org/officeDocument/2006/relationships/image" Target="../media/image29.png"/><Relationship Id="rId33" Type="http://schemas.openxmlformats.org/officeDocument/2006/relationships/image" Target="../media/image1120.png"/><Relationship Id="rId20" Type="http://schemas.openxmlformats.org/officeDocument/2006/relationships/image" Target="../media/image711.png"/><Relationship Id="rId29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24" Type="http://schemas.openxmlformats.org/officeDocument/2006/relationships/image" Target="../media/image25.png"/><Relationship Id="rId32" Type="http://schemas.openxmlformats.org/officeDocument/2006/relationships/image" Target="../media/image1110.png"/><Relationship Id="rId23" Type="http://schemas.openxmlformats.org/officeDocument/2006/relationships/image" Target="../media/image23.png"/><Relationship Id="rId28" Type="http://schemas.openxmlformats.org/officeDocument/2006/relationships/image" Target="../media/image1090.png"/><Relationship Id="rId19" Type="http://schemas.openxmlformats.org/officeDocument/2006/relationships/image" Target="../media/image1150.png"/><Relationship Id="rId31" Type="http://schemas.openxmlformats.org/officeDocument/2006/relationships/image" Target="../media/image1100.png"/><Relationship Id="rId22" Type="http://schemas.openxmlformats.org/officeDocument/2006/relationships/image" Target="../media/image19.png"/><Relationship Id="rId27" Type="http://schemas.openxmlformats.org/officeDocument/2006/relationships/image" Target="../media/image990.png"/><Relationship Id="rId30" Type="http://schemas.openxmlformats.org/officeDocument/2006/relationships/image" Target="../media/image44.png"/><Relationship Id="rId35" Type="http://schemas.openxmlformats.org/officeDocument/2006/relationships/image" Target="../media/image620.png"/></Relationships>
</file>

<file path=ppt/slides/_rels/slide16.xml.rels><?xml version="1.0" encoding="UTF-8" standalone="yes"?>
<Relationships xmlns="http://schemas.openxmlformats.org/package/2006/relationships"><Relationship Id="rId26" Type="http://schemas.openxmlformats.org/officeDocument/2006/relationships/image" Target="../media/image711.png"/><Relationship Id="rId39" Type="http://schemas.openxmlformats.org/officeDocument/2006/relationships/image" Target="../media/image1120.png"/><Relationship Id="rId3" Type="http://schemas.openxmlformats.org/officeDocument/2006/relationships/image" Target="../media/image116.png"/><Relationship Id="rId21" Type="http://schemas.openxmlformats.org/officeDocument/2006/relationships/image" Target="../media/image1010.png"/><Relationship Id="rId34" Type="http://schemas.openxmlformats.org/officeDocument/2006/relationships/image" Target="../media/image1090.png"/><Relationship Id="rId25" Type="http://schemas.openxmlformats.org/officeDocument/2006/relationships/image" Target="../media/image118.png"/><Relationship Id="rId33" Type="http://schemas.openxmlformats.org/officeDocument/2006/relationships/image" Target="../media/image990.png"/><Relationship Id="rId38" Type="http://schemas.openxmlformats.org/officeDocument/2006/relationships/image" Target="../media/image1110.png"/><Relationship Id="rId2" Type="http://schemas.openxmlformats.org/officeDocument/2006/relationships/notesSlide" Target="../notesSlides/notesSlide12.xml"/><Relationship Id="rId20" Type="http://schemas.openxmlformats.org/officeDocument/2006/relationships/image" Target="../media/image980.png"/><Relationship Id="rId29" Type="http://schemas.openxmlformats.org/officeDocument/2006/relationships/image" Target="../media/image23.png"/><Relationship Id="rId41" Type="http://schemas.openxmlformats.org/officeDocument/2006/relationships/image" Target="../media/image620.png"/><Relationship Id="rId1" Type="http://schemas.openxmlformats.org/officeDocument/2006/relationships/slideLayout" Target="../slideLayouts/slideLayout2.xml"/><Relationship Id="rId24" Type="http://schemas.openxmlformats.org/officeDocument/2006/relationships/image" Target="../media/image117.png"/><Relationship Id="rId32" Type="http://schemas.openxmlformats.org/officeDocument/2006/relationships/image" Target="../media/image640.png"/><Relationship Id="rId37" Type="http://schemas.openxmlformats.org/officeDocument/2006/relationships/image" Target="../media/image1100.png"/><Relationship Id="rId40" Type="http://schemas.openxmlformats.org/officeDocument/2006/relationships/image" Target="../media/image1130.png"/><Relationship Id="rId23" Type="http://schemas.openxmlformats.org/officeDocument/2006/relationships/image" Target="../media/image1030.png"/><Relationship Id="rId28" Type="http://schemas.openxmlformats.org/officeDocument/2006/relationships/image" Target="../media/image19.png"/><Relationship Id="rId36" Type="http://schemas.openxmlformats.org/officeDocument/2006/relationships/image" Target="../media/image44.png"/><Relationship Id="rId19" Type="http://schemas.openxmlformats.org/officeDocument/2006/relationships/image" Target="../media/image960.png"/><Relationship Id="rId31" Type="http://schemas.openxmlformats.org/officeDocument/2006/relationships/image" Target="../media/image29.png"/><Relationship Id="rId22" Type="http://schemas.openxmlformats.org/officeDocument/2006/relationships/image" Target="../media/image1020.png"/><Relationship Id="rId27" Type="http://schemas.openxmlformats.org/officeDocument/2006/relationships/image" Target="../media/image18.png"/><Relationship Id="rId30" Type="http://schemas.openxmlformats.org/officeDocument/2006/relationships/image" Target="../media/image25.png"/><Relationship Id="rId35" Type="http://schemas.openxmlformats.org/officeDocument/2006/relationships/image" Target="../media/image4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89073248-787E-5D40-AE5E-610E41D0A30C}"/>
              </a:ext>
            </a:extLst>
          </p:cNvPr>
          <p:cNvSpPr txBox="1">
            <a:spLocks/>
          </p:cNvSpPr>
          <p:nvPr/>
        </p:nvSpPr>
        <p:spPr>
          <a:xfrm>
            <a:off x="0" y="2817091"/>
            <a:ext cx="12191999" cy="1226516"/>
          </a:xfrm>
          <a:prstGeom prst="rect">
            <a:avLst/>
          </a:prstGeom>
        </p:spPr>
        <p:txBody>
          <a:bodyPr lIns="0" tIns="0" r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20000"/>
              </a:lnSpc>
            </a:pPr>
            <a:r>
              <a:rPr lang="zh-CN" altLang="en-US" sz="5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charset="-122"/>
              </a:rPr>
              <a:t>集成运算放大器 </a:t>
            </a:r>
            <a:r>
              <a:rPr lang="en-US" altLang="zh-CN" sz="5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charset="-122"/>
              </a:rPr>
              <a:t>(2)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D42438B-9455-BCBC-7490-250107AE8BAC}"/>
              </a:ext>
            </a:extLst>
          </p:cNvPr>
          <p:cNvSpPr/>
          <p:nvPr/>
        </p:nvSpPr>
        <p:spPr>
          <a:xfrm>
            <a:off x="0" y="252787"/>
            <a:ext cx="4271375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C03BB9C-92C3-DE18-5792-0E22FDDAA0A4}"/>
              </a:ext>
            </a:extLst>
          </p:cNvPr>
          <p:cNvSpPr/>
          <p:nvPr/>
        </p:nvSpPr>
        <p:spPr>
          <a:xfrm>
            <a:off x="3756617" y="5040000"/>
            <a:ext cx="467876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模电 </a:t>
            </a:r>
            <a:r>
              <a:rPr lang="en-US" altLang="zh-CN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P24 – 43</a:t>
            </a:r>
          </a:p>
        </p:txBody>
      </p:sp>
      <p:pic>
        <p:nvPicPr>
          <p:cNvPr id="12" name="图片 11" descr="图片包含 图形用户界面&#10;&#10;描述已自动生成">
            <a:extLst>
              <a:ext uri="{FF2B5EF4-FFF2-40B4-BE49-F238E27FC236}">
                <a16:creationId xmlns:a16="http://schemas.microsoft.com/office/drawing/2014/main" id="{36B95622-439B-2F01-3763-4744D210F1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38" t="27915" r="8682" b="26692"/>
          <a:stretch/>
        </p:blipFill>
        <p:spPr>
          <a:xfrm>
            <a:off x="0" y="0"/>
            <a:ext cx="4405745" cy="998424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93570352-420A-0C13-044B-FD4A338CD6AA}"/>
              </a:ext>
            </a:extLst>
          </p:cNvPr>
          <p:cNvSpPr txBox="1"/>
          <p:nvPr/>
        </p:nvSpPr>
        <p:spPr>
          <a:xfrm>
            <a:off x="0" y="1931813"/>
            <a:ext cx="95319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模拟与数字电路 </a:t>
            </a: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(Analog and Digital Circuits)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7EF3C51-ACC3-CEB4-0CD3-FB5FA64AEC1C}"/>
              </a:ext>
            </a:extLst>
          </p:cNvPr>
          <p:cNvSpPr/>
          <p:nvPr/>
        </p:nvSpPr>
        <p:spPr>
          <a:xfrm>
            <a:off x="0" y="6352426"/>
            <a:ext cx="12192000" cy="5055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计算机科学与技术学院本科课程</a:t>
            </a:r>
          </a:p>
        </p:txBody>
      </p:sp>
    </p:spTree>
    <p:extLst>
      <p:ext uri="{BB962C8B-B14F-4D97-AF65-F5344CB8AC3E}">
        <p14:creationId xmlns:p14="http://schemas.microsoft.com/office/powerpoint/2010/main" val="25331958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24A8A429-A57A-A971-5B68-36C274978AD5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内容提纲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F45B4BAD-F1AF-DA8F-D325-2AEA13223897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84CADB5B-DD68-FB6B-CE4A-4D568A53302E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7" name="箭头: 五边形 6">
                <a:extLst>
                  <a:ext uri="{FF2B5EF4-FFF2-40B4-BE49-F238E27FC236}">
                    <a16:creationId xmlns:a16="http://schemas.microsoft.com/office/drawing/2014/main" id="{D9CA2CB5-31A5-2271-2D0D-B793AF350D1F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" name="箭头: V 形 7">
                <a:extLst>
                  <a:ext uri="{FF2B5EF4-FFF2-40B4-BE49-F238E27FC236}">
                    <a16:creationId xmlns:a16="http://schemas.microsoft.com/office/drawing/2014/main" id="{015BBDD1-4572-5612-26B6-27B8BA888977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" name="灯片编号占位符 3">
              <a:extLst>
                <a:ext uri="{FF2B5EF4-FFF2-40B4-BE49-F238E27FC236}">
                  <a16:creationId xmlns:a16="http://schemas.microsoft.com/office/drawing/2014/main" id="{98A25324-8856-1585-AC55-264ACE01D509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2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150FB66A-3771-66BC-722B-E3FF571B488E}"/>
              </a:ext>
            </a:extLst>
          </p:cNvPr>
          <p:cNvSpPr txBox="1"/>
          <p:nvPr/>
        </p:nvSpPr>
        <p:spPr>
          <a:xfrm>
            <a:off x="1296000" y="1296000"/>
            <a:ext cx="8828388" cy="15194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3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集成运算放大器的性质回顾</a:t>
            </a:r>
            <a:endParaRPr lang="en-US" altLang="zh-CN" sz="3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71500" indent="-5715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3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集成运算放大器的线性应用</a:t>
            </a:r>
            <a:endParaRPr lang="en-US" altLang="zh-CN" sz="3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674397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2827DFEC-FFBE-D870-0B85-9DCD365EABD9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361802BD-917F-B5C1-2458-85EE14200A92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5" name="箭头: 五边形 4">
                <a:extLst>
                  <a:ext uri="{FF2B5EF4-FFF2-40B4-BE49-F238E27FC236}">
                    <a16:creationId xmlns:a16="http://schemas.microsoft.com/office/drawing/2014/main" id="{2FE1A6DF-17B9-B5C9-EEDF-307C2F6C979C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" name="箭头: V 形 5">
                <a:extLst>
                  <a:ext uri="{FF2B5EF4-FFF2-40B4-BE49-F238E27FC236}">
                    <a16:creationId xmlns:a16="http://schemas.microsoft.com/office/drawing/2014/main" id="{6CD88C4B-DBFF-90A4-570D-59C358E483E8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" name="灯片编号占位符 3">
              <a:extLst>
                <a:ext uri="{FF2B5EF4-FFF2-40B4-BE49-F238E27FC236}">
                  <a16:creationId xmlns:a16="http://schemas.microsoft.com/office/drawing/2014/main" id="{F50A22FE-1277-2E1C-F262-5C923D2F4741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3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7" name="标题 1">
            <a:extLst>
              <a:ext uri="{FF2B5EF4-FFF2-40B4-BE49-F238E27FC236}">
                <a16:creationId xmlns:a16="http://schemas.microsoft.com/office/drawing/2014/main" id="{7BA45376-DDBE-0305-9875-D8A1E0ACF1B2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集成运算放大器的性质回顾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49AD5560-F0A9-4A5E-48D5-904B04F8B13A}"/>
                  </a:ext>
                </a:extLst>
              </p:cNvPr>
              <p:cNvSpPr txBox="1"/>
              <p:nvPr/>
            </p:nvSpPr>
            <p:spPr>
              <a:xfrm>
                <a:off x="360000" y="828000"/>
                <a:ext cx="9861685" cy="36926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集成运放的一些性质：</a:t>
                </a:r>
                <a:endParaRPr kumimoji="1"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ea typeface="微软雅黑" panose="020B0503020204020204" pitchFamily="34" charset="-122"/>
                  </a:rPr>
                  <a:t>放大倍数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很大，线性区 </a:t>
                </a:r>
                <a14:m>
                  <m:oMath xmlns:m="http://schemas.openxmlformats.org/officeDocument/2006/math"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的值很小，远小于一般的信号幅值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直接将信号幅值接入输入端，加上干扰，无法保证运放工作在线性区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工作在线性区的条件：</a:t>
                </a:r>
                <a:r>
                  <a:rPr kumimoji="1" lang="zh-CN" altLang="en-US" sz="24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引入负反馈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，减小输入电压 </a:t>
                </a:r>
                <a14:m>
                  <m:oMath xmlns:m="http://schemas.openxmlformats.org/officeDocument/2006/math"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利用“</a:t>
                </a:r>
                <a:r>
                  <a:rPr kumimoji="1" lang="zh-CN" altLang="en-US" sz="24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虚断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”和“</a:t>
                </a:r>
                <a:r>
                  <a:rPr kumimoji="1" lang="zh-CN" altLang="en-US" sz="24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虚短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”进行电路分析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“虚断”：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“虚短”：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49AD5560-F0A9-4A5E-48D5-904B04F8B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828000"/>
                <a:ext cx="9861685" cy="3692678"/>
              </a:xfrm>
              <a:prstGeom prst="rect">
                <a:avLst/>
              </a:prstGeom>
              <a:blipFill>
                <a:blip r:embed="rId3"/>
                <a:stretch>
                  <a:fillRect l="-1236" t="-660" r="-185" b="-28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组合 23">
            <a:extLst>
              <a:ext uri="{FF2B5EF4-FFF2-40B4-BE49-F238E27FC236}">
                <a16:creationId xmlns:a16="http://schemas.microsoft.com/office/drawing/2014/main" id="{C63F2821-51DD-77C4-061C-3D4DCABF01DD}"/>
              </a:ext>
            </a:extLst>
          </p:cNvPr>
          <p:cNvGrpSpPr/>
          <p:nvPr/>
        </p:nvGrpSpPr>
        <p:grpSpPr>
          <a:xfrm>
            <a:off x="1799999" y="4644000"/>
            <a:ext cx="4392001" cy="2196000"/>
            <a:chOff x="719999" y="4644000"/>
            <a:chExt cx="4392001" cy="21960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D35C8733-BF40-B767-EAAE-6DB6BE5A5F45}"/>
                    </a:ext>
                  </a:extLst>
                </p:cNvPr>
                <p:cNvSpPr txBox="1"/>
                <p:nvPr/>
              </p:nvSpPr>
              <p:spPr>
                <a:xfrm>
                  <a:off x="1403999" y="4644000"/>
                  <a:ext cx="720000" cy="720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20000"/>
                    </a:lnSpc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𝑖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8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N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D35C8733-BF40-B767-EAAE-6DB6BE5A5F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03999" y="4644000"/>
                  <a:ext cx="720000" cy="72000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8510317A-26D4-7142-23EC-E5118BE0DC64}"/>
                    </a:ext>
                  </a:extLst>
                </p:cNvPr>
                <p:cNvSpPr txBox="1"/>
                <p:nvPr/>
              </p:nvSpPr>
              <p:spPr>
                <a:xfrm>
                  <a:off x="719999" y="5040000"/>
                  <a:ext cx="720000" cy="720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20000"/>
                    </a:lnSpc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8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N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8510317A-26D4-7142-23EC-E5118BE0DC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9999" y="5040000"/>
                  <a:ext cx="720000" cy="72000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56D99560-A25D-54C8-49DE-3F912EC42D6C}"/>
                    </a:ext>
                  </a:extLst>
                </p:cNvPr>
                <p:cNvSpPr txBox="1"/>
                <p:nvPr/>
              </p:nvSpPr>
              <p:spPr>
                <a:xfrm>
                  <a:off x="719999" y="5760000"/>
                  <a:ext cx="720000" cy="720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20000"/>
                    </a:lnSpc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8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8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P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56D99560-A25D-54C8-49DE-3F912EC42D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9999" y="5760000"/>
                  <a:ext cx="720000" cy="72000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EDCAFC15-9ABF-FE58-280A-180830920775}"/>
                </a:ext>
              </a:extLst>
            </p:cNvPr>
            <p:cNvCxnSpPr>
              <a:cxnSpLocks/>
            </p:cNvCxnSpPr>
            <p:nvPr/>
          </p:nvCxnSpPr>
          <p:spPr>
            <a:xfrm>
              <a:off x="1296000" y="5400000"/>
              <a:ext cx="972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F7E22B40-8D17-D51D-C45D-3F3D35FF99E9}"/>
                </a:ext>
              </a:extLst>
            </p:cNvPr>
            <p:cNvCxnSpPr>
              <a:cxnSpLocks/>
            </p:cNvCxnSpPr>
            <p:nvPr/>
          </p:nvCxnSpPr>
          <p:spPr>
            <a:xfrm>
              <a:off x="1296000" y="6084000"/>
              <a:ext cx="972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2CDB5232-BCE8-25EF-04FD-A5A92B13993E}"/>
                    </a:ext>
                  </a:extLst>
                </p:cNvPr>
                <p:cNvSpPr txBox="1"/>
                <p:nvPr/>
              </p:nvSpPr>
              <p:spPr>
                <a:xfrm>
                  <a:off x="4392000" y="5364000"/>
                  <a:ext cx="720000" cy="720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20000"/>
                    </a:lnSpc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8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8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O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2CDB5232-BCE8-25EF-04FD-A5A92B1399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92000" y="5364000"/>
                  <a:ext cx="720000" cy="72000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148AB933-E7CD-D227-6C07-E93195785544}"/>
                </a:ext>
              </a:extLst>
            </p:cNvPr>
            <p:cNvCxnSpPr>
              <a:cxnSpLocks/>
              <a:stCxn id="10" idx="0"/>
            </p:cNvCxnSpPr>
            <p:nvPr/>
          </p:nvCxnSpPr>
          <p:spPr>
            <a:xfrm>
              <a:off x="3798000" y="5724000"/>
              <a:ext cx="576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等腰三角形 9">
              <a:extLst>
                <a:ext uri="{FF2B5EF4-FFF2-40B4-BE49-F238E27FC236}">
                  <a16:creationId xmlns:a16="http://schemas.microsoft.com/office/drawing/2014/main" id="{5606C796-810C-8282-14A2-ECC154600EA5}"/>
                </a:ext>
              </a:extLst>
            </p:cNvPr>
            <p:cNvSpPr/>
            <p:nvPr/>
          </p:nvSpPr>
          <p:spPr>
            <a:xfrm rot="5400000">
              <a:off x="2196000" y="4950000"/>
              <a:ext cx="1656000" cy="1548000"/>
            </a:xfrm>
            <a:prstGeom prst="triangl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A50F1CED-57AC-E5AC-B84B-7A5A0B688C1B}"/>
                    </a:ext>
                  </a:extLst>
                </p:cNvPr>
                <p:cNvSpPr txBox="1"/>
                <p:nvPr/>
              </p:nvSpPr>
              <p:spPr>
                <a:xfrm>
                  <a:off x="2376000" y="5076000"/>
                  <a:ext cx="360000" cy="648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20000"/>
                    </a:lnSpc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</m:oMath>
                    </m:oMathPara>
                  </a14:m>
                  <a:endPara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A50F1CED-57AC-E5AC-B84B-7A5A0B688C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76000" y="5076000"/>
                  <a:ext cx="360000" cy="64800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C2E9D80E-E66B-97FB-CD00-959EECF0A98E}"/>
                    </a:ext>
                  </a:extLst>
                </p:cNvPr>
                <p:cNvSpPr txBox="1"/>
                <p:nvPr/>
              </p:nvSpPr>
              <p:spPr>
                <a:xfrm>
                  <a:off x="2376000" y="5760000"/>
                  <a:ext cx="360000" cy="648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20000"/>
                    </a:lnSpc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</m:oMath>
                    </m:oMathPara>
                  </a14:m>
                  <a:endPara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C2E9D80E-E66B-97FB-CD00-959EECF0A9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76000" y="5760000"/>
                  <a:ext cx="360000" cy="64800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6E1AB173-3FBF-1F3D-E95C-CA5BDA72A21E}"/>
                </a:ext>
              </a:extLst>
            </p:cNvPr>
            <p:cNvCxnSpPr/>
            <p:nvPr/>
          </p:nvCxnSpPr>
          <p:spPr>
            <a:xfrm>
              <a:off x="1404000" y="5256000"/>
              <a:ext cx="720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20">
              <a:extLst>
                <a:ext uri="{FF2B5EF4-FFF2-40B4-BE49-F238E27FC236}">
                  <a16:creationId xmlns:a16="http://schemas.microsoft.com/office/drawing/2014/main" id="{929057A1-A957-EFD7-3C5E-BAB282BDA405}"/>
                </a:ext>
              </a:extLst>
            </p:cNvPr>
            <p:cNvCxnSpPr/>
            <p:nvPr/>
          </p:nvCxnSpPr>
          <p:spPr>
            <a:xfrm>
              <a:off x="1404000" y="6228000"/>
              <a:ext cx="720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06B0B26C-BA7B-F26F-DC53-1EA9AF1A8E8C}"/>
                    </a:ext>
                  </a:extLst>
                </p:cNvPr>
                <p:cNvSpPr txBox="1"/>
                <p:nvPr/>
              </p:nvSpPr>
              <p:spPr>
                <a:xfrm>
                  <a:off x="1403999" y="6120000"/>
                  <a:ext cx="720000" cy="720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20000"/>
                    </a:lnSpc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𝑖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8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P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06B0B26C-BA7B-F26F-DC53-1EA9AF1A8E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03999" y="6120000"/>
                  <a:ext cx="720000" cy="72000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67A1A47F-BCEF-59A5-4A55-1D5D534AB4BF}"/>
              </a:ext>
            </a:extLst>
          </p:cNvPr>
          <p:cNvGrpSpPr/>
          <p:nvPr/>
        </p:nvGrpSpPr>
        <p:grpSpPr>
          <a:xfrm>
            <a:off x="6840000" y="3528000"/>
            <a:ext cx="4752000" cy="3204000"/>
            <a:chOff x="6947833" y="3528000"/>
            <a:chExt cx="4752000" cy="3204000"/>
          </a:xfrm>
        </p:grpSpPr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50280F5B-3E56-5084-E8DE-47AD6BC66E19}"/>
                </a:ext>
              </a:extLst>
            </p:cNvPr>
            <p:cNvSpPr txBox="1"/>
            <p:nvPr/>
          </p:nvSpPr>
          <p:spPr>
            <a:xfrm>
              <a:off x="7667833" y="6336000"/>
              <a:ext cx="1116824" cy="396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zh-CN" altLang="en-US" sz="18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负饱和区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1CD8F87D-1D48-B1CE-5B7A-3E03536DB1E0}"/>
                </a:ext>
              </a:extLst>
            </p:cNvPr>
            <p:cNvSpPr txBox="1"/>
            <p:nvPr/>
          </p:nvSpPr>
          <p:spPr>
            <a:xfrm>
              <a:off x="9395833" y="3816000"/>
              <a:ext cx="1116000" cy="396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zh-CN" altLang="en-US" sz="18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正饱和区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5D3C3D4D-7DDC-F344-DA97-1601ADC2F7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67833" y="4176000"/>
              <a:ext cx="0" cy="1080000"/>
            </a:xfrm>
            <a:prstGeom prst="line">
              <a:avLst/>
            </a:prstGeom>
            <a:ln w="254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D8A94360-C71C-488A-6143-D627815757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47833" y="5256000"/>
              <a:ext cx="0" cy="1080000"/>
            </a:xfrm>
            <a:prstGeom prst="line">
              <a:avLst/>
            </a:prstGeom>
            <a:ln w="254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E088EBCB-5C04-4E50-68E2-97718AE7D0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07833" y="4176000"/>
              <a:ext cx="358222" cy="0"/>
            </a:xfrm>
            <a:prstGeom prst="line">
              <a:avLst/>
            </a:prstGeom>
            <a:ln w="254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箭头连接符 48">
              <a:extLst>
                <a:ext uri="{FF2B5EF4-FFF2-40B4-BE49-F238E27FC236}">
                  <a16:creationId xmlns:a16="http://schemas.microsoft.com/office/drawing/2014/main" id="{3E58C018-F4A5-753B-D68F-9CCFB9802518}"/>
                </a:ext>
              </a:extLst>
            </p:cNvPr>
            <p:cNvCxnSpPr>
              <a:cxnSpLocks/>
            </p:cNvCxnSpPr>
            <p:nvPr/>
          </p:nvCxnSpPr>
          <p:spPr>
            <a:xfrm>
              <a:off x="7739833" y="5256000"/>
              <a:ext cx="324000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49">
              <a:extLst>
                <a:ext uri="{FF2B5EF4-FFF2-40B4-BE49-F238E27FC236}">
                  <a16:creationId xmlns:a16="http://schemas.microsoft.com/office/drawing/2014/main" id="{1B5242A0-C0B8-F174-00CE-6DFDABBB77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07833" y="3708000"/>
              <a:ext cx="0" cy="288000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DE6FF7D4-C003-3D87-2B53-6AB702A881B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47833" y="4176000"/>
              <a:ext cx="720000" cy="2160000"/>
            </a:xfrm>
            <a:prstGeom prst="line">
              <a:avLst/>
            </a:prstGeom>
            <a:ln w="254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BF381145-FB76-047F-DCC0-54D1D3A4809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67833" y="4176000"/>
              <a:ext cx="936000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4191835F-C2DD-A499-B70F-0B7CD525D5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11833" y="6336000"/>
              <a:ext cx="936000" cy="0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文本框 53">
                  <a:extLst>
                    <a:ext uri="{FF2B5EF4-FFF2-40B4-BE49-F238E27FC236}">
                      <a16:creationId xmlns:a16="http://schemas.microsoft.com/office/drawing/2014/main" id="{C87B01C9-A75A-C867-6165-42E12D6BAAB9}"/>
                    </a:ext>
                  </a:extLst>
                </p:cNvPr>
                <p:cNvSpPr txBox="1"/>
                <p:nvPr/>
              </p:nvSpPr>
              <p:spPr>
                <a:xfrm>
                  <a:off x="8315833" y="3528000"/>
                  <a:ext cx="828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2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O</m:t>
                            </m:r>
                          </m:sub>
                        </m:sSub>
                        <m:r>
                          <a:rPr kumimoji="1" lang="en-US" altLang="zh-CN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/</m:t>
                        </m:r>
                        <m:r>
                          <m:rPr>
                            <m:sty m:val="p"/>
                          </m:rPr>
                          <a:rPr kumimoji="1" lang="en-US" altLang="zh-CN" sz="22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V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4" name="文本框 53">
                  <a:extLst>
                    <a:ext uri="{FF2B5EF4-FFF2-40B4-BE49-F238E27FC236}">
                      <a16:creationId xmlns:a16="http://schemas.microsoft.com/office/drawing/2014/main" id="{C87B01C9-A75A-C867-6165-42E12D6BAA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15833" y="3528000"/>
                  <a:ext cx="828000" cy="430887"/>
                </a:xfrm>
                <a:prstGeom prst="rect">
                  <a:avLst/>
                </a:prstGeom>
                <a:blipFill>
                  <a:blip r:embed="rId11"/>
                  <a:stretch>
                    <a:fillRect b="-171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文本框 54">
                  <a:extLst>
                    <a:ext uri="{FF2B5EF4-FFF2-40B4-BE49-F238E27FC236}">
                      <a16:creationId xmlns:a16="http://schemas.microsoft.com/office/drawing/2014/main" id="{2F38FEE2-1216-E580-70E1-BEF412A88AE4}"/>
                    </a:ext>
                  </a:extLst>
                </p:cNvPr>
                <p:cNvSpPr txBox="1"/>
                <p:nvPr/>
              </p:nvSpPr>
              <p:spPr>
                <a:xfrm>
                  <a:off x="9935833" y="5220000"/>
                  <a:ext cx="1764000" cy="396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(</m:t>
                        </m:r>
                        <m:sSub>
                          <m:sSubPr>
                            <m:ctrlPr>
                              <a:rPr kumimoji="1" lang="en-US" altLang="zh-CN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P</m:t>
                            </m:r>
                          </m:sub>
                        </m:sSub>
                        <m:r>
                          <a:rPr kumimoji="1"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sSub>
                          <m:sSubPr>
                            <m:ctrlPr>
                              <a:rPr kumimoji="1"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N</m:t>
                            </m:r>
                          </m:sub>
                        </m:sSub>
                        <m:r>
                          <a:rPr kumimoji="1"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)/</m:t>
                        </m:r>
                        <m:r>
                          <m:rPr>
                            <m:sty m:val="p"/>
                          </m:rPr>
                          <a:rPr kumimoji="1" lang="zh-CN" altLang="en-US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μ</m:t>
                        </m:r>
                        <m:r>
                          <m:rPr>
                            <m:sty m:val="p"/>
                          </m:rPr>
                          <a:rPr kumimoji="1" lang="en-US" altLang="zh-CN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V</m:t>
                        </m:r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5" name="文本框 54">
                  <a:extLst>
                    <a:ext uri="{FF2B5EF4-FFF2-40B4-BE49-F238E27FC236}">
                      <a16:creationId xmlns:a16="http://schemas.microsoft.com/office/drawing/2014/main" id="{2F38FEE2-1216-E580-70E1-BEF412A88A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35833" y="5220000"/>
                  <a:ext cx="1764000" cy="396000"/>
                </a:xfrm>
                <a:prstGeom prst="rect">
                  <a:avLst/>
                </a:prstGeom>
                <a:blipFill>
                  <a:blip r:embed="rId12"/>
                  <a:stretch>
                    <a:fillRect b="-1692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76A32C97-10AE-7D39-EF19-889F15497FE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47833" y="6336000"/>
              <a:ext cx="358222" cy="0"/>
            </a:xfrm>
            <a:prstGeom prst="line">
              <a:avLst/>
            </a:prstGeom>
            <a:ln w="254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文本框 56">
                  <a:extLst>
                    <a:ext uri="{FF2B5EF4-FFF2-40B4-BE49-F238E27FC236}">
                      <a16:creationId xmlns:a16="http://schemas.microsoft.com/office/drawing/2014/main" id="{AFE33715-4821-F328-99FF-2E9B3E0E860F}"/>
                    </a:ext>
                  </a:extLst>
                </p:cNvPr>
                <p:cNvSpPr txBox="1"/>
                <p:nvPr/>
              </p:nvSpPr>
              <p:spPr>
                <a:xfrm>
                  <a:off x="6947833" y="3960000"/>
                  <a:ext cx="2196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r>
                          <a:rPr kumimoji="1" lang="en-US" altLang="zh-CN" sz="2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sSub>
                          <m:sSubPr>
                            <m:ctrlPr>
                              <a:rPr kumimoji="1" lang="en-US" altLang="zh-CN" sz="22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om</m:t>
                            </m:r>
                          </m:sub>
                        </m:sSub>
                        <m:r>
                          <a:rPr kumimoji="1" lang="en-US" altLang="zh-CN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=</m:t>
                        </m:r>
                        <m:sSub>
                          <m:sSubPr>
                            <m:ctrlPr>
                              <a:rPr kumimoji="1" lang="en-US" altLang="zh-CN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𝑉</m:t>
                            </m:r>
                          </m:e>
                          <m:sub>
                            <m:r>
                              <a:rPr kumimoji="1" lang="en-US" altLang="zh-CN" sz="2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+</m:t>
                            </m:r>
                          </m:sub>
                        </m:sSub>
                        <m:r>
                          <a:rPr kumimoji="1" lang="en-US" altLang="zh-CN" sz="2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kumimoji="1" lang="el-GR" altLang="zh-CN" sz="2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Δ</m:t>
                        </m:r>
                        <m:r>
                          <a:rPr kumimoji="1" lang="en-US" altLang="zh-CN" sz="2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oMath>
                    </m:oMathPara>
                  </a14:m>
                  <a:endParaRPr lang="zh-CN" altLang="en-US" sz="22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0" name="文本框 89">
                  <a:extLst>
                    <a:ext uri="{FF2B5EF4-FFF2-40B4-BE49-F238E27FC236}">
                      <a16:creationId xmlns:a16="http://schemas.microsoft.com/office/drawing/2014/main" id="{EF58C7AC-E450-4AE1-E3F4-944BD4B52F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47833" y="3960000"/>
                  <a:ext cx="2196000" cy="430887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208313B9-06B5-21D6-B746-E202F8F20C41}"/>
                    </a:ext>
                  </a:extLst>
                </p:cNvPr>
                <p:cNvSpPr txBox="1"/>
                <p:nvPr/>
              </p:nvSpPr>
              <p:spPr>
                <a:xfrm>
                  <a:off x="9071833" y="6120000"/>
                  <a:ext cx="226893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sSub>
                          <m:sSubPr>
                            <m:ctrlPr>
                              <a:rPr kumimoji="1" lang="en-US" altLang="zh-CN" sz="22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om</m:t>
                            </m:r>
                          </m:sub>
                        </m:sSub>
                        <m:r>
                          <a:rPr kumimoji="1" lang="en-US" altLang="zh-CN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=</m:t>
                        </m:r>
                        <m:sSub>
                          <m:sSubPr>
                            <m:ctrlPr>
                              <a:rPr kumimoji="1" lang="en-US" altLang="zh-CN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𝑉</m:t>
                            </m:r>
                          </m:e>
                          <m:sub>
                            <m:r>
                              <a:rPr kumimoji="1" lang="en-US" altLang="zh-CN" sz="2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−</m:t>
                            </m:r>
                          </m:sub>
                        </m:sSub>
                        <m:r>
                          <a:rPr kumimoji="1" lang="en-US" altLang="zh-CN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kumimoji="1" lang="el-GR" altLang="zh-CN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Δ</m:t>
                        </m:r>
                        <m:r>
                          <a:rPr kumimoji="1" lang="en-US" altLang="zh-CN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oMath>
                    </m:oMathPara>
                  </a14:m>
                  <a:endParaRPr lang="zh-CN" altLang="en-US" sz="22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1" name="文本框 90">
                  <a:extLst>
                    <a:ext uri="{FF2B5EF4-FFF2-40B4-BE49-F238E27FC236}">
                      <a16:creationId xmlns:a16="http://schemas.microsoft.com/office/drawing/2014/main" id="{8D6D2371-BEC5-BB49-19BB-6F21041E8F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71833" y="6120000"/>
                  <a:ext cx="2268930" cy="430887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97F96885-3769-2331-FD49-AE6B39CE370A}"/>
                </a:ext>
              </a:extLst>
            </p:cNvPr>
            <p:cNvSpPr txBox="1"/>
            <p:nvPr/>
          </p:nvSpPr>
          <p:spPr>
            <a:xfrm>
              <a:off x="9575833" y="4680000"/>
              <a:ext cx="898670" cy="396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zh-CN" altLang="en-US" sz="180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线性区</a:t>
              </a:r>
              <a:endParaRPr kumimoji="1" lang="en-US" altLang="zh-CN" sz="18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60" name="直接箭头连接符 59">
              <a:extLst>
                <a:ext uri="{FF2B5EF4-FFF2-40B4-BE49-F238E27FC236}">
                  <a16:creationId xmlns:a16="http://schemas.microsoft.com/office/drawing/2014/main" id="{E263B44E-974D-4495-DE82-9919B2EC599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15833" y="4896000"/>
              <a:ext cx="360000" cy="108000"/>
            </a:xfrm>
            <a:prstGeom prst="straightConnector1">
              <a:avLst/>
            </a:prstGeom>
            <a:ln w="19050">
              <a:solidFill>
                <a:srgbClr val="0000FF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3F176B7C-A660-7548-0D95-44264C7F92D5}"/>
                    </a:ext>
                  </a:extLst>
                </p:cNvPr>
                <p:cNvSpPr txBox="1"/>
                <p:nvPr/>
              </p:nvSpPr>
              <p:spPr>
                <a:xfrm>
                  <a:off x="9053833" y="5220000"/>
                  <a:ext cx="828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2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</m:t>
                        </m:r>
                        <m:sSub>
                          <m:sSubPr>
                            <m:ctrlPr>
                              <a:rPr kumimoji="1" lang="en-US" altLang="zh-CN" sz="220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2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200" b="0" i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kumimoji="1" lang="en-US" altLang="zh-CN" sz="22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m</m:t>
                            </m:r>
                          </m:sub>
                        </m:sSub>
                      </m:oMath>
                    </m:oMathPara>
                  </a14:m>
                  <a:endParaRPr lang="zh-CN" altLang="en-US" sz="22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115" name="文本框 114">
                  <a:extLst>
                    <a:ext uri="{FF2B5EF4-FFF2-40B4-BE49-F238E27FC236}">
                      <a16:creationId xmlns:a16="http://schemas.microsoft.com/office/drawing/2014/main" id="{457B23EF-7518-2152-D846-044BCFDF6C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53833" y="5220000"/>
                  <a:ext cx="828000" cy="430887"/>
                </a:xfrm>
                <a:prstGeom prst="rect">
                  <a:avLst/>
                </a:prstGeom>
                <a:blipFill>
                  <a:blip r:embed="rId15"/>
                  <a:stretch>
                    <a:fillRect b="-140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文本框 61">
                  <a:extLst>
                    <a:ext uri="{FF2B5EF4-FFF2-40B4-BE49-F238E27FC236}">
                      <a16:creationId xmlns:a16="http://schemas.microsoft.com/office/drawing/2014/main" id="{37621FB2-C1F4-CD3A-37E9-B0D2D8035E45}"/>
                    </a:ext>
                  </a:extLst>
                </p:cNvPr>
                <p:cNvSpPr txBox="1"/>
                <p:nvPr/>
              </p:nvSpPr>
              <p:spPr>
                <a:xfrm>
                  <a:off x="8333833" y="4824000"/>
                  <a:ext cx="828000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2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sSub>
                          <m:sSubPr>
                            <m:ctrlPr>
                              <a:rPr kumimoji="1" lang="en-US" altLang="zh-CN" sz="220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2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200" b="0" i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kumimoji="1" lang="en-US" altLang="zh-CN" sz="22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m</m:t>
                            </m:r>
                          </m:sub>
                        </m:sSub>
                      </m:oMath>
                    </m:oMathPara>
                  </a14:m>
                  <a:endParaRPr lang="zh-CN" altLang="en-US" sz="22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116" name="文本框 115">
                  <a:extLst>
                    <a:ext uri="{FF2B5EF4-FFF2-40B4-BE49-F238E27FC236}">
                      <a16:creationId xmlns:a16="http://schemas.microsoft.com/office/drawing/2014/main" id="{5FD31BD6-D2B7-F2B0-6A90-30F52EBD5F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33833" y="4824000"/>
                  <a:ext cx="828000" cy="430887"/>
                </a:xfrm>
                <a:prstGeom prst="rect">
                  <a:avLst/>
                </a:prstGeom>
                <a:blipFill>
                  <a:blip r:embed="rId16"/>
                  <a:stretch>
                    <a:fillRect b="-140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7899514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68A1F-6C5D-F409-53B8-CE4B8B545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34084CB0-3A67-3C9E-DADB-DE24BC4DB35F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F9A34831-428D-4298-2B0B-7833E04AF409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5" name="箭头: 五边形 4">
                <a:extLst>
                  <a:ext uri="{FF2B5EF4-FFF2-40B4-BE49-F238E27FC236}">
                    <a16:creationId xmlns:a16="http://schemas.microsoft.com/office/drawing/2014/main" id="{CF6A9679-1185-8347-130F-7E41A9EF9EE7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" name="箭头: V 形 5">
                <a:extLst>
                  <a:ext uri="{FF2B5EF4-FFF2-40B4-BE49-F238E27FC236}">
                    <a16:creationId xmlns:a16="http://schemas.microsoft.com/office/drawing/2014/main" id="{229C9BB0-65FA-752B-8020-CB050A935BB2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" name="灯片编号占位符 3">
              <a:extLst>
                <a:ext uri="{FF2B5EF4-FFF2-40B4-BE49-F238E27FC236}">
                  <a16:creationId xmlns:a16="http://schemas.microsoft.com/office/drawing/2014/main" id="{0E658983-4F41-1F43-EB53-B7CE509E5F0D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4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7" name="标题 1">
            <a:extLst>
              <a:ext uri="{FF2B5EF4-FFF2-40B4-BE49-F238E27FC236}">
                <a16:creationId xmlns:a16="http://schemas.microsoft.com/office/drawing/2014/main" id="{57FD5DCB-CD8B-61CC-EF09-9AC58F5B5D46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集成运算放大器的线性应用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D8DF46E-5A71-F5B7-BDD0-26353369BAE6}"/>
              </a:ext>
            </a:extLst>
          </p:cNvPr>
          <p:cNvSpPr txBox="1"/>
          <p:nvPr/>
        </p:nvSpPr>
        <p:spPr>
          <a:xfrm>
            <a:off x="360000" y="828000"/>
            <a:ext cx="6870978" cy="23476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集成运放的线性应用内容：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同相</a:t>
            </a:r>
            <a:r>
              <a:rPr kumimoji="1" lang="en-US" altLang="zh-CN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kumimoji="1" lang="zh-CN" altLang="en-US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反相比例运算电路</a:t>
            </a:r>
            <a:endParaRPr kumimoji="1" lang="en-US" altLang="zh-CN" sz="28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加法</a:t>
            </a:r>
            <a:r>
              <a:rPr kumimoji="1" lang="en-US" altLang="zh-CN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kumimoji="1" lang="zh-CN" altLang="en-US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减法运算电路</a:t>
            </a:r>
            <a:endParaRPr kumimoji="1" lang="en-US" altLang="zh-CN" sz="28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积分</a:t>
            </a:r>
            <a:r>
              <a:rPr kumimoji="1" lang="en-US" altLang="zh-CN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kumimoji="1" lang="zh-CN" altLang="en-US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微分运算电路</a:t>
            </a:r>
            <a:endParaRPr kumimoji="1" lang="en-US" altLang="zh-CN" sz="28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83963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5EC22-77FA-5C0B-A6ED-75085700E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0BA82B38-1EEC-EB11-DA14-969600140E17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4DA5EACA-D2F4-035A-2100-D6C1CA851519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5" name="箭头: 五边形 4">
                <a:extLst>
                  <a:ext uri="{FF2B5EF4-FFF2-40B4-BE49-F238E27FC236}">
                    <a16:creationId xmlns:a16="http://schemas.microsoft.com/office/drawing/2014/main" id="{A90BD5A4-9B4D-7205-FE23-E2BFB7C47E45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" name="箭头: V 形 5">
                <a:extLst>
                  <a:ext uri="{FF2B5EF4-FFF2-40B4-BE49-F238E27FC236}">
                    <a16:creationId xmlns:a16="http://schemas.microsoft.com/office/drawing/2014/main" id="{DBD33B74-1211-C186-BA5C-0603A945BDFF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" name="灯片编号占位符 3">
              <a:extLst>
                <a:ext uri="{FF2B5EF4-FFF2-40B4-BE49-F238E27FC236}">
                  <a16:creationId xmlns:a16="http://schemas.microsoft.com/office/drawing/2014/main" id="{D5A9DBD5-DEC4-DBAA-D646-0F9F31210734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5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7" name="标题 1">
            <a:extLst>
              <a:ext uri="{FF2B5EF4-FFF2-40B4-BE49-F238E27FC236}">
                <a16:creationId xmlns:a16="http://schemas.microsoft.com/office/drawing/2014/main" id="{50F218D8-6295-285D-E66A-54C9198A64A4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集成运算放大器的线性应用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同相</a:t>
            </a:r>
            <a:r>
              <a:rPr lang="en-US" altLang="zh-CN" sz="3000" dirty="0">
                <a:solidFill>
                  <a:srgbClr val="FFFF00"/>
                </a:solidFill>
              </a:rPr>
              <a:t>/</a:t>
            </a:r>
            <a:r>
              <a:rPr lang="zh-CN" altLang="en-US" sz="3000" dirty="0">
                <a:solidFill>
                  <a:srgbClr val="FFFF00"/>
                </a:solidFill>
              </a:rPr>
              <a:t>反相比例运算电路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14F674F-4B40-B3B4-5AC9-4399188148F8}"/>
              </a:ext>
            </a:extLst>
          </p:cNvPr>
          <p:cNvSpPr txBox="1"/>
          <p:nvPr/>
        </p:nvSpPr>
        <p:spPr>
          <a:xfrm>
            <a:off x="360000" y="828000"/>
            <a:ext cx="5413782" cy="1091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同相比例运算电路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反馈类型：电压串联负反馈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A26C2B7B-E3F4-6A61-170F-62440568BFBC}"/>
                  </a:ext>
                </a:extLst>
              </p:cNvPr>
              <p:cNvSpPr txBox="1"/>
              <p:nvPr/>
            </p:nvSpPr>
            <p:spPr>
              <a:xfrm>
                <a:off x="360000" y="2088000"/>
                <a:ext cx="4644000" cy="10575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lnSpc>
                    <a:spcPct val="120000"/>
                  </a:lnSpc>
                  <a:spcAft>
                    <a:spcPts val="600"/>
                  </a:spcAft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虚断（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）：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2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sz="24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A26C2B7B-E3F4-6A61-170F-62440568BF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2088000"/>
                <a:ext cx="4644000" cy="1057597"/>
              </a:xfrm>
              <a:prstGeom prst="rect">
                <a:avLst/>
              </a:prstGeom>
              <a:blipFill>
                <a:blip r:embed="rId3"/>
                <a:stretch>
                  <a:fillRect b="-5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CC17505A-0DE8-442C-96D0-6E467F163227}"/>
                  </a:ext>
                </a:extLst>
              </p:cNvPr>
              <p:cNvSpPr txBox="1"/>
              <p:nvPr/>
            </p:nvSpPr>
            <p:spPr>
              <a:xfrm>
                <a:off x="360000" y="3168000"/>
                <a:ext cx="7379998" cy="15777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lnSpc>
                    <a:spcPct val="120000"/>
                  </a:lnSpc>
                  <a:spcAft>
                    <a:spcPts val="600"/>
                  </a:spcAft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虚短（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kumimoji="1" lang="en-US" altLang="zh-CN" sz="2400" i="1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 lang="en-US" altLang="zh-CN" sz="24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altLang="zh-CN" sz="24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）：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>
                  <a:lnSpc>
                    <a:spcPct val="120000"/>
                  </a:lnSpc>
                  <a:spcAft>
                    <a:spcPts val="600"/>
                  </a:spcAft>
                </a:pP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>
                      <m:fPr>
                        <m:type m:val="lin"/>
                        <m:ctrlPr>
                          <a:rPr lang="en-US" altLang="zh-CN" sz="24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endParaRPr lang="en-US" altLang="zh-CN" sz="2400" i="1" dirty="0">
                  <a:solidFill>
                    <a:schemeClr val="accent5">
                      <a:lumMod val="75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2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>
                      <m:fPr>
                        <m:type m:val="lin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CC17505A-0DE8-442C-96D0-6E467F1632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3168000"/>
                <a:ext cx="7379998" cy="1577740"/>
              </a:xfrm>
              <a:prstGeom prst="rect">
                <a:avLst/>
              </a:prstGeom>
              <a:blipFill>
                <a:blip r:embed="rId4"/>
                <a:stretch>
                  <a:fillRect b="-555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59A06EB1-6F5B-A687-3222-32A45636B9E8}"/>
                  </a:ext>
                </a:extLst>
              </p:cNvPr>
              <p:cNvSpPr txBox="1"/>
              <p:nvPr/>
            </p:nvSpPr>
            <p:spPr>
              <a:xfrm>
                <a:off x="360000" y="4752000"/>
                <a:ext cx="6840000" cy="11326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lnSpc>
                    <a:spcPct val="120000"/>
                  </a:lnSpc>
                  <a:spcAft>
                    <a:spcPts val="600"/>
                  </a:spcAft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放大倍数：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2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sub>
                      </m:sSub>
                      <m:r>
                        <a:rPr kumimoji="1" lang="en-US" altLang="zh-CN" sz="2400" i="1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en-US" altLang="zh-CN" sz="24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o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</m:den>
                      </m:f>
                      <m:r>
                        <a:rPr lang="en-US" altLang="zh-CN" sz="24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en-US" altLang="zh-CN" sz="24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altLang="zh-CN" sz="240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sz="240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40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sz="240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24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CN" sz="24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=1+</m:t>
                      </m:r>
                      <m:f>
                        <m:fPr>
                          <m:type m:val="lin"/>
                          <m:ctrlP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24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24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59A06EB1-6F5B-A687-3222-32A45636B9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4752000"/>
                <a:ext cx="6840000" cy="1132618"/>
              </a:xfrm>
              <a:prstGeom prst="rect">
                <a:avLst/>
              </a:prstGeom>
              <a:blipFill>
                <a:blip r:embed="rId5"/>
                <a:stretch>
                  <a:fillRect t="-10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5F9E6F18-56F3-6BE4-BAC6-2DBE7B0EDEE9}"/>
                  </a:ext>
                </a:extLst>
              </p:cNvPr>
              <p:cNvSpPr txBox="1"/>
              <p:nvPr/>
            </p:nvSpPr>
            <p:spPr>
              <a:xfrm>
                <a:off x="360000" y="5976000"/>
                <a:ext cx="5040000" cy="4979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2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，表示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与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同相 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5F9E6F18-56F3-6BE4-BAC6-2DBE7B0EDE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5976000"/>
                <a:ext cx="5040000" cy="497957"/>
              </a:xfrm>
              <a:prstGeom prst="rect">
                <a:avLst/>
              </a:prstGeom>
              <a:blipFill>
                <a:blip r:embed="rId6"/>
                <a:stretch>
                  <a:fillRect t="-2439" b="-268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文本框 127">
                <a:extLst>
                  <a:ext uri="{FF2B5EF4-FFF2-40B4-BE49-F238E27FC236}">
                    <a16:creationId xmlns:a16="http://schemas.microsoft.com/office/drawing/2014/main" id="{CF8218A3-3047-F8CA-ED3B-6ACFA13D9850}"/>
                  </a:ext>
                </a:extLst>
              </p:cNvPr>
              <p:cNvSpPr txBox="1"/>
              <p:nvPr/>
            </p:nvSpPr>
            <p:spPr>
              <a:xfrm>
                <a:off x="7740000" y="900000"/>
                <a:ext cx="3600000" cy="54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kumimoji="1" lang="en-US" altLang="zh-CN" sz="24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加到运放的同相输入端</a:t>
                </a:r>
                <a:endParaRPr kumimoji="1" lang="en-US" altLang="zh-CN" sz="240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28" name="文本框 127">
                <a:extLst>
                  <a:ext uri="{FF2B5EF4-FFF2-40B4-BE49-F238E27FC236}">
                    <a16:creationId xmlns:a16="http://schemas.microsoft.com/office/drawing/2014/main" id="{CF8218A3-3047-F8CA-ED3B-6ACFA13D98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0000" y="900000"/>
                <a:ext cx="3600000" cy="540000"/>
              </a:xfrm>
              <a:prstGeom prst="rect">
                <a:avLst/>
              </a:prstGeom>
              <a:blipFill>
                <a:blip r:embed="rId7"/>
                <a:stretch>
                  <a:fillRect t="-2273" r="-1695" b="-181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组合 10">
            <a:extLst>
              <a:ext uri="{FF2B5EF4-FFF2-40B4-BE49-F238E27FC236}">
                <a16:creationId xmlns:a16="http://schemas.microsoft.com/office/drawing/2014/main" id="{56418D87-7A31-0D55-8E07-6BB4FDCE8EB3}"/>
              </a:ext>
            </a:extLst>
          </p:cNvPr>
          <p:cNvGrpSpPr/>
          <p:nvPr/>
        </p:nvGrpSpPr>
        <p:grpSpPr>
          <a:xfrm>
            <a:off x="7092000" y="1476000"/>
            <a:ext cx="4788000" cy="3204000"/>
            <a:chOff x="7092000" y="1476000"/>
            <a:chExt cx="4788000" cy="3204000"/>
          </a:xfrm>
        </p:grpSpPr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F7385299-8B2D-BC98-305E-956E5931C4D4}"/>
                </a:ext>
              </a:extLst>
            </p:cNvPr>
            <p:cNvCxnSpPr>
              <a:cxnSpLocks/>
            </p:cNvCxnSpPr>
            <p:nvPr/>
          </p:nvCxnSpPr>
          <p:spPr>
            <a:xfrm>
              <a:off x="9000000" y="2844000"/>
              <a:ext cx="864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4EB6D5F3-B138-02A4-8BAE-599FEAA43DDA}"/>
                </a:ext>
              </a:extLst>
            </p:cNvPr>
            <p:cNvCxnSpPr>
              <a:cxnSpLocks/>
            </p:cNvCxnSpPr>
            <p:nvPr/>
          </p:nvCxnSpPr>
          <p:spPr>
            <a:xfrm>
              <a:off x="7740000" y="2052000"/>
              <a:ext cx="2124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等腰三角形 27">
              <a:extLst>
                <a:ext uri="{FF2B5EF4-FFF2-40B4-BE49-F238E27FC236}">
                  <a16:creationId xmlns:a16="http://schemas.microsoft.com/office/drawing/2014/main" id="{BE72F836-5BF3-6707-0B3D-8FEAEF8484CA}"/>
                </a:ext>
              </a:extLst>
            </p:cNvPr>
            <p:cNvSpPr/>
            <p:nvPr/>
          </p:nvSpPr>
          <p:spPr>
            <a:xfrm rot="5400000">
              <a:off x="9792000" y="1800000"/>
              <a:ext cx="1440000" cy="1296000"/>
            </a:xfrm>
            <a:prstGeom prst="triangl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CF334707-2944-E785-45A5-A898DDC74449}"/>
                    </a:ext>
                  </a:extLst>
                </p:cNvPr>
                <p:cNvSpPr txBox="1"/>
                <p:nvPr/>
              </p:nvSpPr>
              <p:spPr>
                <a:xfrm>
                  <a:off x="9846000" y="2610000"/>
                  <a:ext cx="396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 smtClean="0"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CF334707-2944-E785-45A5-A898DDC744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46000" y="2610000"/>
                  <a:ext cx="396000" cy="43088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353B5C7E-6BE0-E07B-BE5E-01FE5389B956}"/>
                    </a:ext>
                  </a:extLst>
                </p:cNvPr>
                <p:cNvSpPr txBox="1"/>
                <p:nvPr/>
              </p:nvSpPr>
              <p:spPr>
                <a:xfrm>
                  <a:off x="9846000" y="1818000"/>
                  <a:ext cx="396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353B5C7E-6BE0-E07B-BE5E-01FE5389B9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46000" y="1818000"/>
                  <a:ext cx="396000" cy="430887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2DB3340D-9B1A-CB46-2C77-FF17766143A0}"/>
                </a:ext>
              </a:extLst>
            </p:cNvPr>
            <p:cNvCxnSpPr>
              <a:cxnSpLocks/>
              <a:stCxn id="28" idx="0"/>
            </p:cNvCxnSpPr>
            <p:nvPr/>
          </p:nvCxnSpPr>
          <p:spPr>
            <a:xfrm>
              <a:off x="11160000" y="2448000"/>
              <a:ext cx="432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椭圆 31">
              <a:extLst>
                <a:ext uri="{FF2B5EF4-FFF2-40B4-BE49-F238E27FC236}">
                  <a16:creationId xmlns:a16="http://schemas.microsoft.com/office/drawing/2014/main" id="{D86B7AB8-C8E9-0ECE-0123-4DD78BAF5889}"/>
                </a:ext>
              </a:extLst>
            </p:cNvPr>
            <p:cNvSpPr/>
            <p:nvPr/>
          </p:nvSpPr>
          <p:spPr>
            <a:xfrm>
              <a:off x="11268000" y="2376000"/>
              <a:ext cx="144000" cy="14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1AE72AB6-C1D4-275F-D076-55DBF7445A93}"/>
                </a:ext>
              </a:extLst>
            </p:cNvPr>
            <p:cNvCxnSpPr>
              <a:cxnSpLocks/>
            </p:cNvCxnSpPr>
            <p:nvPr/>
          </p:nvCxnSpPr>
          <p:spPr>
            <a:xfrm>
              <a:off x="9000000" y="3420000"/>
              <a:ext cx="2340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4F24B2A1-3975-A3AA-5A0B-DA23D5698EB4}"/>
                </a:ext>
              </a:extLst>
            </p:cNvPr>
            <p:cNvCxnSpPr>
              <a:cxnSpLocks/>
            </p:cNvCxnSpPr>
            <p:nvPr/>
          </p:nvCxnSpPr>
          <p:spPr>
            <a:xfrm>
              <a:off x="11340000" y="2448000"/>
              <a:ext cx="0" cy="972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8893A1FF-6C4B-76E6-AA6D-55B7BD4305A3}"/>
                </a:ext>
              </a:extLst>
            </p:cNvPr>
            <p:cNvSpPr/>
            <p:nvPr/>
          </p:nvSpPr>
          <p:spPr>
            <a:xfrm>
              <a:off x="10404000" y="3348000"/>
              <a:ext cx="576000" cy="144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64064B5D-C392-5284-5D5C-9423ED29DB26}"/>
                </a:ext>
              </a:extLst>
            </p:cNvPr>
            <p:cNvCxnSpPr>
              <a:cxnSpLocks/>
            </p:cNvCxnSpPr>
            <p:nvPr/>
          </p:nvCxnSpPr>
          <p:spPr>
            <a:xfrm>
              <a:off x="7740000" y="4428000"/>
              <a:ext cx="1260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BF8D3654-D245-4F10-7D6A-073F7200E8AB}"/>
                </a:ext>
              </a:extLst>
            </p:cNvPr>
            <p:cNvSpPr/>
            <p:nvPr/>
          </p:nvSpPr>
          <p:spPr>
            <a:xfrm>
              <a:off x="8928000" y="1980000"/>
              <a:ext cx="144000" cy="14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859E0202-96DE-0130-EA76-99715900E9D4}"/>
                    </a:ext>
                  </a:extLst>
                </p:cNvPr>
                <p:cNvSpPr txBox="1"/>
                <p:nvPr/>
              </p:nvSpPr>
              <p:spPr>
                <a:xfrm>
                  <a:off x="7092000" y="2916000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859E0202-96DE-0130-EA76-99715900E9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92000" y="2916000"/>
                  <a:ext cx="432000" cy="43088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85165618-BC3B-B89A-0879-147780D5E036}"/>
                </a:ext>
              </a:extLst>
            </p:cNvPr>
            <p:cNvCxnSpPr>
              <a:cxnSpLocks/>
            </p:cNvCxnSpPr>
            <p:nvPr/>
          </p:nvCxnSpPr>
          <p:spPr>
            <a:xfrm>
              <a:off x="7740000" y="2052000"/>
              <a:ext cx="0" cy="2376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B3AA9D72-AF1D-AF0D-51D3-A63BD642380C}"/>
                </a:ext>
              </a:extLst>
            </p:cNvPr>
            <p:cNvSpPr/>
            <p:nvPr/>
          </p:nvSpPr>
          <p:spPr>
            <a:xfrm>
              <a:off x="7524000" y="2952000"/>
              <a:ext cx="432000" cy="432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8C7171F1-DEFC-A541-EF1F-812DAE3FD989}"/>
                </a:ext>
              </a:extLst>
            </p:cNvPr>
            <p:cNvCxnSpPr>
              <a:cxnSpLocks/>
              <a:stCxn id="43" idx="0"/>
              <a:endCxn id="43" idx="4"/>
            </p:cNvCxnSpPr>
            <p:nvPr/>
          </p:nvCxnSpPr>
          <p:spPr>
            <a:xfrm>
              <a:off x="7740000" y="2952000"/>
              <a:ext cx="0" cy="432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ED2686E4-56DA-5A9E-823F-CF38FF8AD9C0}"/>
                    </a:ext>
                  </a:extLst>
                </p:cNvPr>
                <p:cNvSpPr txBox="1"/>
                <p:nvPr/>
              </p:nvSpPr>
              <p:spPr>
                <a:xfrm>
                  <a:off x="7236000" y="2592000"/>
                  <a:ext cx="396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ED2686E4-56DA-5A9E-823F-CF38FF8AD9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36000" y="2592000"/>
                  <a:ext cx="396000" cy="430887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8EFE2D60-B487-B884-C0E2-5FA551892BCE}"/>
                    </a:ext>
                  </a:extLst>
                </p:cNvPr>
                <p:cNvSpPr txBox="1"/>
                <p:nvPr/>
              </p:nvSpPr>
              <p:spPr>
                <a:xfrm>
                  <a:off x="7236000" y="3312000"/>
                  <a:ext cx="396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 smtClean="0"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8EFE2D60-B487-B884-C0E2-5FA551892B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36000" y="3312000"/>
                  <a:ext cx="396000" cy="430887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977E94B5-48B2-2F3B-2F22-43C78473D31D}"/>
                    </a:ext>
                  </a:extLst>
                </p:cNvPr>
                <p:cNvSpPr txBox="1"/>
                <p:nvPr/>
              </p:nvSpPr>
              <p:spPr>
                <a:xfrm>
                  <a:off x="8604000" y="1944000"/>
                  <a:ext cx="450701" cy="46923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977E94B5-48B2-2F3B-2F22-43C78473D3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04000" y="1944000"/>
                  <a:ext cx="450701" cy="469231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8" name="直接箭头连接符 47">
              <a:extLst>
                <a:ext uri="{FF2B5EF4-FFF2-40B4-BE49-F238E27FC236}">
                  <a16:creationId xmlns:a16="http://schemas.microsoft.com/office/drawing/2014/main" id="{A16FE355-698C-D4A4-C93D-FCB91FD23E3D}"/>
                </a:ext>
              </a:extLst>
            </p:cNvPr>
            <p:cNvCxnSpPr/>
            <p:nvPr/>
          </p:nvCxnSpPr>
          <p:spPr>
            <a:xfrm flipH="1">
              <a:off x="9144000" y="1980000"/>
              <a:ext cx="540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 w="med" len="lg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52F586B5-B479-B24A-53E1-3D0A75908DF8}"/>
                    </a:ext>
                  </a:extLst>
                </p:cNvPr>
                <p:cNvSpPr txBox="1"/>
                <p:nvPr/>
              </p:nvSpPr>
              <p:spPr>
                <a:xfrm>
                  <a:off x="9143998" y="1476000"/>
                  <a:ext cx="540000" cy="46923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52F586B5-B479-B24A-53E1-3D0A75908D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43998" y="1476000"/>
                  <a:ext cx="540000" cy="469231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E40A43F8-389D-EDBB-9F1B-77F61F1EBEEE}"/>
                </a:ext>
              </a:extLst>
            </p:cNvPr>
            <p:cNvCxnSpPr>
              <a:cxnSpLocks/>
            </p:cNvCxnSpPr>
            <p:nvPr/>
          </p:nvCxnSpPr>
          <p:spPr>
            <a:xfrm>
              <a:off x="9000000" y="2844000"/>
              <a:ext cx="0" cy="1836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椭圆 50">
              <a:extLst>
                <a:ext uri="{FF2B5EF4-FFF2-40B4-BE49-F238E27FC236}">
                  <a16:creationId xmlns:a16="http://schemas.microsoft.com/office/drawing/2014/main" id="{333D7C78-8F44-FDB5-B929-F147F09B32A1}"/>
                </a:ext>
              </a:extLst>
            </p:cNvPr>
            <p:cNvSpPr/>
            <p:nvPr/>
          </p:nvSpPr>
          <p:spPr>
            <a:xfrm>
              <a:off x="8928000" y="3348000"/>
              <a:ext cx="144000" cy="14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14C78E42-4BB3-1BC8-F21F-7311BC00F71C}"/>
                </a:ext>
              </a:extLst>
            </p:cNvPr>
            <p:cNvSpPr/>
            <p:nvPr/>
          </p:nvSpPr>
          <p:spPr>
            <a:xfrm>
              <a:off x="8928000" y="3636000"/>
              <a:ext cx="144000" cy="576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12054BEE-3EE2-EBA8-7366-9C513CEE818D}"/>
                </a:ext>
              </a:extLst>
            </p:cNvPr>
            <p:cNvCxnSpPr>
              <a:cxnSpLocks/>
            </p:cNvCxnSpPr>
            <p:nvPr/>
          </p:nvCxnSpPr>
          <p:spPr>
            <a:xfrm>
              <a:off x="8856000" y="4680000"/>
              <a:ext cx="288000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椭圆 53">
              <a:extLst>
                <a:ext uri="{FF2B5EF4-FFF2-40B4-BE49-F238E27FC236}">
                  <a16:creationId xmlns:a16="http://schemas.microsoft.com/office/drawing/2014/main" id="{F0C384A0-4B4F-D341-A56C-08F660A80B6B}"/>
                </a:ext>
              </a:extLst>
            </p:cNvPr>
            <p:cNvSpPr/>
            <p:nvPr/>
          </p:nvSpPr>
          <p:spPr>
            <a:xfrm>
              <a:off x="8928000" y="4356000"/>
              <a:ext cx="144000" cy="14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文本框 54">
                  <a:extLst>
                    <a:ext uri="{FF2B5EF4-FFF2-40B4-BE49-F238E27FC236}">
                      <a16:creationId xmlns:a16="http://schemas.microsoft.com/office/drawing/2014/main" id="{3E4BBF2A-FD75-5097-7224-DD2160049F20}"/>
                    </a:ext>
                  </a:extLst>
                </p:cNvPr>
                <p:cNvSpPr txBox="1"/>
                <p:nvPr/>
              </p:nvSpPr>
              <p:spPr>
                <a:xfrm>
                  <a:off x="8604000" y="2430000"/>
                  <a:ext cx="452303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5" name="文本框 54">
                  <a:extLst>
                    <a:ext uri="{FF2B5EF4-FFF2-40B4-BE49-F238E27FC236}">
                      <a16:creationId xmlns:a16="http://schemas.microsoft.com/office/drawing/2014/main" id="{3E4BBF2A-FD75-5097-7224-DD2160049F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04000" y="2430000"/>
                  <a:ext cx="452303" cy="430887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6" name="直接箭头连接符 55">
              <a:extLst>
                <a:ext uri="{FF2B5EF4-FFF2-40B4-BE49-F238E27FC236}">
                  <a16:creationId xmlns:a16="http://schemas.microsoft.com/office/drawing/2014/main" id="{CEC6EC27-63CE-14BD-1CC7-CE0D71CA2151}"/>
                </a:ext>
              </a:extLst>
            </p:cNvPr>
            <p:cNvCxnSpPr/>
            <p:nvPr/>
          </p:nvCxnSpPr>
          <p:spPr>
            <a:xfrm flipH="1">
              <a:off x="9144000" y="2772000"/>
              <a:ext cx="540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 w="med" len="lg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文本框 56">
                  <a:extLst>
                    <a:ext uri="{FF2B5EF4-FFF2-40B4-BE49-F238E27FC236}">
                      <a16:creationId xmlns:a16="http://schemas.microsoft.com/office/drawing/2014/main" id="{C7354ECC-2D17-A1A7-198A-558B957C2F9D}"/>
                    </a:ext>
                  </a:extLst>
                </p:cNvPr>
                <p:cNvSpPr txBox="1"/>
                <p:nvPr/>
              </p:nvSpPr>
              <p:spPr>
                <a:xfrm>
                  <a:off x="9143998" y="2303999"/>
                  <a:ext cx="540000" cy="4680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7" name="文本框 56">
                  <a:extLst>
                    <a:ext uri="{FF2B5EF4-FFF2-40B4-BE49-F238E27FC236}">
                      <a16:creationId xmlns:a16="http://schemas.microsoft.com/office/drawing/2014/main" id="{C7354ECC-2D17-A1A7-198A-558B957C2F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43998" y="2303999"/>
                  <a:ext cx="540000" cy="468000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2BE9F8C8-D322-77CA-E26B-ED478F1C9971}"/>
                    </a:ext>
                  </a:extLst>
                </p:cNvPr>
                <p:cNvSpPr txBox="1"/>
                <p:nvPr/>
              </p:nvSpPr>
              <p:spPr>
                <a:xfrm>
                  <a:off x="8460000" y="3636000"/>
                  <a:ext cx="504000" cy="5760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2BE9F8C8-D322-77CA-E26B-ED478F1C99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60000" y="3636000"/>
                  <a:ext cx="504000" cy="576000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01CD72B2-54CC-AAFC-7EC4-173B8FDA2214}"/>
                    </a:ext>
                  </a:extLst>
                </p:cNvPr>
                <p:cNvSpPr txBox="1"/>
                <p:nvPr/>
              </p:nvSpPr>
              <p:spPr>
                <a:xfrm>
                  <a:off x="10404000" y="3492000"/>
                  <a:ext cx="576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01CD72B2-54CC-AAFC-7EC4-173B8FDA22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04000" y="3492000"/>
                  <a:ext cx="576000" cy="430887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文本框 59">
                  <a:extLst>
                    <a:ext uri="{FF2B5EF4-FFF2-40B4-BE49-F238E27FC236}">
                      <a16:creationId xmlns:a16="http://schemas.microsoft.com/office/drawing/2014/main" id="{004D85D4-58A8-656E-16ED-16418ACF5E53}"/>
                    </a:ext>
                  </a:extLst>
                </p:cNvPr>
                <p:cNvSpPr txBox="1"/>
                <p:nvPr/>
              </p:nvSpPr>
              <p:spPr>
                <a:xfrm>
                  <a:off x="11448000" y="1980000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o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60" name="文本框 59">
                  <a:extLst>
                    <a:ext uri="{FF2B5EF4-FFF2-40B4-BE49-F238E27FC236}">
                      <a16:creationId xmlns:a16="http://schemas.microsoft.com/office/drawing/2014/main" id="{004D85D4-58A8-656E-16ED-16418ACF5E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48000" y="1980000"/>
                  <a:ext cx="432000" cy="430887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1" name="直接箭头连接符 60">
              <a:extLst>
                <a:ext uri="{FF2B5EF4-FFF2-40B4-BE49-F238E27FC236}">
                  <a16:creationId xmlns:a16="http://schemas.microsoft.com/office/drawing/2014/main" id="{43AD32C3-F972-5799-D9EB-E32E4409800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98000" y="3654000"/>
              <a:ext cx="0" cy="54000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 w="med" len="lg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文本框 61">
                  <a:extLst>
                    <a:ext uri="{FF2B5EF4-FFF2-40B4-BE49-F238E27FC236}">
                      <a16:creationId xmlns:a16="http://schemas.microsoft.com/office/drawing/2014/main" id="{1D1390DB-D5EA-F589-08A9-01B9B30D57EA}"/>
                    </a:ext>
                  </a:extLst>
                </p:cNvPr>
                <p:cNvSpPr txBox="1"/>
                <p:nvPr/>
              </p:nvSpPr>
              <p:spPr>
                <a:xfrm>
                  <a:off x="9144000" y="3654000"/>
                  <a:ext cx="540000" cy="5400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62" name="文本框 61">
                  <a:extLst>
                    <a:ext uri="{FF2B5EF4-FFF2-40B4-BE49-F238E27FC236}">
                      <a16:creationId xmlns:a16="http://schemas.microsoft.com/office/drawing/2014/main" id="{1D1390DB-D5EA-F589-08A9-01B9B30D57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44000" y="3654000"/>
                  <a:ext cx="540000" cy="540000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3" name="直接箭头连接符 62">
              <a:extLst>
                <a:ext uri="{FF2B5EF4-FFF2-40B4-BE49-F238E27FC236}">
                  <a16:creationId xmlns:a16="http://schemas.microsoft.com/office/drawing/2014/main" id="{9FE6549A-225A-8D36-5466-95D65B9022C1}"/>
                </a:ext>
              </a:extLst>
            </p:cNvPr>
            <p:cNvCxnSpPr/>
            <p:nvPr/>
          </p:nvCxnSpPr>
          <p:spPr>
            <a:xfrm flipH="1">
              <a:off x="10422000" y="3240000"/>
              <a:ext cx="540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none"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文本框 63">
                  <a:extLst>
                    <a:ext uri="{FF2B5EF4-FFF2-40B4-BE49-F238E27FC236}">
                      <a16:creationId xmlns:a16="http://schemas.microsoft.com/office/drawing/2014/main" id="{8F6FA853-BF65-E2DE-A1F3-59BD0706D957}"/>
                    </a:ext>
                  </a:extLst>
                </p:cNvPr>
                <p:cNvSpPr txBox="1"/>
                <p:nvPr/>
              </p:nvSpPr>
              <p:spPr>
                <a:xfrm>
                  <a:off x="10422000" y="2772000"/>
                  <a:ext cx="540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64" name="文本框 63">
                  <a:extLst>
                    <a:ext uri="{FF2B5EF4-FFF2-40B4-BE49-F238E27FC236}">
                      <a16:creationId xmlns:a16="http://schemas.microsoft.com/office/drawing/2014/main" id="{8F6FA853-BF65-E2DE-A1F3-59BD0706D9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22000" y="2772000"/>
                  <a:ext cx="540000" cy="430887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CDB333A7-E1C8-B30E-468D-89CD19517F21}"/>
                </a:ext>
              </a:extLst>
            </p:cNvPr>
            <p:cNvSpPr/>
            <p:nvPr/>
          </p:nvSpPr>
          <p:spPr>
            <a:xfrm>
              <a:off x="7920000" y="1980000"/>
              <a:ext cx="576000" cy="144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4EEFE642-7833-8D4D-8E01-F860E2126084}"/>
                    </a:ext>
                  </a:extLst>
                </p:cNvPr>
                <p:cNvSpPr txBox="1"/>
                <p:nvPr/>
              </p:nvSpPr>
              <p:spPr>
                <a:xfrm>
                  <a:off x="7919999" y="2124000"/>
                  <a:ext cx="576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4EEFE642-7833-8D4D-8E01-F860E21260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19999" y="2124000"/>
                  <a:ext cx="576000" cy="430887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1B740B83-0260-AC2A-250E-26DE84259F2A}"/>
                  </a:ext>
                </a:extLst>
              </p:cNvPr>
              <p:cNvSpPr txBox="1"/>
              <p:nvPr/>
            </p:nvSpPr>
            <p:spPr>
              <a:xfrm>
                <a:off x="7380000" y="4859999"/>
                <a:ext cx="4536000" cy="187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：平衡电阻</a:t>
                </a:r>
                <a:endParaRPr lang="en-US" altLang="zh-CN" sz="240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zh-CN" altLang="en-US" sz="20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保证运放</a:t>
                </a:r>
                <a:r>
                  <a:rPr lang="zh-CN" altLang="en-US" sz="20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静态</a:t>
                </a:r>
                <a:r>
                  <a:rPr lang="zh-CN" altLang="en-US" sz="20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时输入的对称性</a:t>
                </a:r>
                <a:endParaRPr lang="en-US" altLang="zh-CN" sz="200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zh-CN" altLang="en-US" sz="20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输入电压为 </a:t>
                </a:r>
                <a:r>
                  <a:rPr lang="en-US" altLang="zh-CN" sz="20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 </a:t>
                </a:r>
                <a:r>
                  <a:rPr lang="zh-CN" altLang="en-US" sz="20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时，让从两个输入端反着看回去的等效电阻相同</a:t>
                </a:r>
                <a:endParaRPr lang="en-US" altLang="zh-CN" sz="200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0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altLang="zh-CN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zh-CN" altLang="en-US" sz="20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1B740B83-0260-AC2A-250E-26DE84259F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0000" y="4859999"/>
                <a:ext cx="4536000" cy="1872000"/>
              </a:xfrm>
              <a:prstGeom prst="rect">
                <a:avLst/>
              </a:prstGeom>
              <a:blipFill>
                <a:blip r:embed="rId23"/>
                <a:stretch>
                  <a:fillRect l="-3226" t="-4886" b="-45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6009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AC8F6-EAEA-4E5B-4A97-41455D142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C2051361-BED6-7CC5-75C3-AF34D012370E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918EED7C-EC56-2F0D-D624-542F69ECD782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5" name="箭头: 五边形 4">
                <a:extLst>
                  <a:ext uri="{FF2B5EF4-FFF2-40B4-BE49-F238E27FC236}">
                    <a16:creationId xmlns:a16="http://schemas.microsoft.com/office/drawing/2014/main" id="{7D109B74-4F77-393E-2BE6-E624DA8734BB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" name="箭头: V 形 5">
                <a:extLst>
                  <a:ext uri="{FF2B5EF4-FFF2-40B4-BE49-F238E27FC236}">
                    <a16:creationId xmlns:a16="http://schemas.microsoft.com/office/drawing/2014/main" id="{7343DF53-7128-4AEE-4426-3F5F5B0215EA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" name="灯片编号占位符 3">
              <a:extLst>
                <a:ext uri="{FF2B5EF4-FFF2-40B4-BE49-F238E27FC236}">
                  <a16:creationId xmlns:a16="http://schemas.microsoft.com/office/drawing/2014/main" id="{7CD95676-AA79-B5B9-650C-7B4847DB042B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6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7" name="标题 1">
            <a:extLst>
              <a:ext uri="{FF2B5EF4-FFF2-40B4-BE49-F238E27FC236}">
                <a16:creationId xmlns:a16="http://schemas.microsoft.com/office/drawing/2014/main" id="{CB4E250C-6BB4-621F-8F89-17924A68A9F5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集成运算放大器的线性应用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同相</a:t>
            </a:r>
            <a:r>
              <a:rPr lang="en-US" altLang="zh-CN" sz="3000" dirty="0">
                <a:solidFill>
                  <a:srgbClr val="FFFF00"/>
                </a:solidFill>
              </a:rPr>
              <a:t>/</a:t>
            </a:r>
            <a:r>
              <a:rPr lang="zh-CN" altLang="en-US" sz="3000" dirty="0">
                <a:solidFill>
                  <a:srgbClr val="FFFF00"/>
                </a:solidFill>
              </a:rPr>
              <a:t>反相比例运算电路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D9AAC1A-2674-C284-C245-EE06DFD6ED83}"/>
              </a:ext>
            </a:extLst>
          </p:cNvPr>
          <p:cNvSpPr txBox="1"/>
          <p:nvPr/>
        </p:nvSpPr>
        <p:spPr>
          <a:xfrm>
            <a:off x="360000" y="828000"/>
            <a:ext cx="5413782" cy="1091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同相比例运算电路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输入电阻高，输出电阻低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36" name="组合 135">
            <a:extLst>
              <a:ext uri="{FF2B5EF4-FFF2-40B4-BE49-F238E27FC236}">
                <a16:creationId xmlns:a16="http://schemas.microsoft.com/office/drawing/2014/main" id="{A2E22A4B-E404-9DDF-B9C7-BF41840565AE}"/>
              </a:ext>
            </a:extLst>
          </p:cNvPr>
          <p:cNvGrpSpPr/>
          <p:nvPr/>
        </p:nvGrpSpPr>
        <p:grpSpPr>
          <a:xfrm>
            <a:off x="7776000" y="2700000"/>
            <a:ext cx="4212000" cy="2338887"/>
            <a:chOff x="7776000" y="1800000"/>
            <a:chExt cx="4212000" cy="2338887"/>
          </a:xfrm>
        </p:grpSpPr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5D1CD0A5-7557-DF30-6767-4FE50493D1C8}"/>
                </a:ext>
              </a:extLst>
            </p:cNvPr>
            <p:cNvCxnSpPr/>
            <p:nvPr/>
          </p:nvCxnSpPr>
          <p:spPr>
            <a:xfrm flipV="1">
              <a:off x="7956000" y="2988000"/>
              <a:ext cx="0" cy="720000"/>
            </a:xfrm>
            <a:prstGeom prst="line">
              <a:avLst/>
            </a:prstGeom>
            <a:ln w="254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039446B0-9A41-60AB-E64E-222583BE2939}"/>
                </a:ext>
              </a:extLst>
            </p:cNvPr>
            <p:cNvCxnSpPr>
              <a:cxnSpLocks/>
            </p:cNvCxnSpPr>
            <p:nvPr/>
          </p:nvCxnSpPr>
          <p:spPr>
            <a:xfrm>
              <a:off x="7956000" y="2988000"/>
              <a:ext cx="360000" cy="0"/>
            </a:xfrm>
            <a:prstGeom prst="line">
              <a:avLst/>
            </a:prstGeom>
            <a:ln w="25400">
              <a:solidFill>
                <a:srgbClr val="00B05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ABA720D3-4107-BDF4-BC8C-83927CA694A4}"/>
                    </a:ext>
                  </a:extLst>
                </p:cNvPr>
                <p:cNvSpPr txBox="1"/>
                <p:nvPr/>
              </p:nvSpPr>
              <p:spPr>
                <a:xfrm>
                  <a:off x="7776000" y="3708000"/>
                  <a:ext cx="540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ABA720D3-4107-BDF4-BC8C-83927CA694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76000" y="3708000"/>
                  <a:ext cx="540000" cy="430887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CA4112F0-2C7E-B43A-2237-2129C849BF02}"/>
                </a:ext>
              </a:extLst>
            </p:cNvPr>
            <p:cNvCxnSpPr/>
            <p:nvPr/>
          </p:nvCxnSpPr>
          <p:spPr>
            <a:xfrm flipV="1">
              <a:off x="11736000" y="1800000"/>
              <a:ext cx="0" cy="720000"/>
            </a:xfrm>
            <a:prstGeom prst="line">
              <a:avLst/>
            </a:prstGeom>
            <a:ln w="254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C0A4ECED-F803-127B-1792-809345CBD79E}"/>
                </a:ext>
              </a:extLst>
            </p:cNvPr>
            <p:cNvCxnSpPr>
              <a:cxnSpLocks/>
            </p:cNvCxnSpPr>
            <p:nvPr/>
          </p:nvCxnSpPr>
          <p:spPr>
            <a:xfrm>
              <a:off x="11376000" y="1800000"/>
              <a:ext cx="360000" cy="0"/>
            </a:xfrm>
            <a:prstGeom prst="line">
              <a:avLst/>
            </a:prstGeom>
            <a:ln w="25400">
              <a:solidFill>
                <a:srgbClr val="00B050"/>
              </a:solidFill>
              <a:headEnd type="triangle" w="med" len="lg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78E22BAA-0BA7-A3DB-AECD-BFE0740E94BA}"/>
                    </a:ext>
                  </a:extLst>
                </p:cNvPr>
                <p:cNvSpPr txBox="1"/>
                <p:nvPr/>
              </p:nvSpPr>
              <p:spPr>
                <a:xfrm>
                  <a:off x="11448000" y="2556000"/>
                  <a:ext cx="540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o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78E22BAA-0BA7-A3DB-AECD-BFE0740E94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48000" y="2556000"/>
                  <a:ext cx="540000" cy="430887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204E01DE-13F5-2BD8-34CC-4F11F5CEFEE3}"/>
                  </a:ext>
                </a:extLst>
              </p:cNvPr>
              <p:cNvSpPr txBox="1"/>
              <p:nvPr/>
            </p:nvSpPr>
            <p:spPr>
              <a:xfrm>
                <a:off x="359999" y="2016000"/>
                <a:ext cx="5413781" cy="67230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altLang="zh-CN" sz="28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den>
                    </m:f>
                    <m:r>
                      <a:rPr lang="en-US" altLang="zh-CN" sz="28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</m:sub>
                        </m:sSub>
                      </m:den>
                    </m:f>
                    <m:r>
                      <a:rPr lang="en-US" altLang="zh-CN" sz="28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≈∞</m:t>
                    </m:r>
                  </m:oMath>
                </a14:m>
                <a:r>
                  <a:rPr lang="zh-CN" altLang="en-US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8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sub>
                    </m:sSub>
                    <m:r>
                      <a:rPr lang="en-US" altLang="zh-CN" sz="28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altLang="zh-CN" sz="28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endParaRPr lang="zh-CN" altLang="en-US" sz="28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204E01DE-13F5-2BD8-34CC-4F11F5CEFE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999" y="2016000"/>
                <a:ext cx="5413781" cy="672300"/>
              </a:xfrm>
              <a:prstGeom prst="rect">
                <a:avLst/>
              </a:prstGeom>
              <a:blipFill>
                <a:blip r:embed="rId23"/>
                <a:stretch>
                  <a:fillRect t="-9091" b="-27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6E39746C-FE0D-AFFD-4F65-FBB25250E0CD}"/>
                  </a:ext>
                </a:extLst>
              </p:cNvPr>
              <p:cNvSpPr txBox="1"/>
              <p:nvPr/>
            </p:nvSpPr>
            <p:spPr>
              <a:xfrm>
                <a:off x="360000" y="2880000"/>
                <a:ext cx="6480000" cy="4979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可构成如下</a:t>
                </a:r>
                <a:r>
                  <a:rPr kumimoji="1" lang="zh-CN" altLang="en-US" sz="24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电压跟随器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sub>
                    </m:sSub>
                    <m:r>
                      <a:rPr lang="en-US" altLang="zh-CN" sz="24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）：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6E39746C-FE0D-AFFD-4F65-FBB25250E0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2880000"/>
                <a:ext cx="6480000" cy="497957"/>
              </a:xfrm>
              <a:prstGeom prst="rect">
                <a:avLst/>
              </a:prstGeom>
              <a:blipFill>
                <a:blip r:embed="rId24"/>
                <a:stretch>
                  <a:fillRect t="-2439" b="-268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4" name="组合 133">
            <a:extLst>
              <a:ext uri="{FF2B5EF4-FFF2-40B4-BE49-F238E27FC236}">
                <a16:creationId xmlns:a16="http://schemas.microsoft.com/office/drawing/2014/main" id="{DE586AAB-19D0-32AC-CDD0-742533D22E1B}"/>
              </a:ext>
            </a:extLst>
          </p:cNvPr>
          <p:cNvGrpSpPr/>
          <p:nvPr/>
        </p:nvGrpSpPr>
        <p:grpSpPr>
          <a:xfrm>
            <a:off x="1548000" y="3492000"/>
            <a:ext cx="4140000" cy="2304000"/>
            <a:chOff x="1404000" y="3672000"/>
            <a:chExt cx="4140000" cy="2304000"/>
          </a:xfrm>
        </p:grpSpPr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121D6453-5862-BDCF-AF3D-1FDE41EBD39D}"/>
                </a:ext>
              </a:extLst>
            </p:cNvPr>
            <p:cNvCxnSpPr>
              <a:cxnSpLocks/>
            </p:cNvCxnSpPr>
            <p:nvPr/>
          </p:nvCxnSpPr>
          <p:spPr>
            <a:xfrm>
              <a:off x="2664000" y="4968000"/>
              <a:ext cx="900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5AA9A8FF-BE53-955C-239E-5ED68371DBA7}"/>
                </a:ext>
              </a:extLst>
            </p:cNvPr>
            <p:cNvCxnSpPr>
              <a:cxnSpLocks/>
            </p:cNvCxnSpPr>
            <p:nvPr/>
          </p:nvCxnSpPr>
          <p:spPr>
            <a:xfrm>
              <a:off x="2052000" y="4176000"/>
              <a:ext cx="1512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等腰三角形 29">
              <a:extLst>
                <a:ext uri="{FF2B5EF4-FFF2-40B4-BE49-F238E27FC236}">
                  <a16:creationId xmlns:a16="http://schemas.microsoft.com/office/drawing/2014/main" id="{E3A97925-B2D8-4248-8A6A-76287E4CD758}"/>
                </a:ext>
              </a:extLst>
            </p:cNvPr>
            <p:cNvSpPr/>
            <p:nvPr/>
          </p:nvSpPr>
          <p:spPr>
            <a:xfrm rot="5400000">
              <a:off x="3456000" y="3924000"/>
              <a:ext cx="1440000" cy="1296000"/>
            </a:xfrm>
            <a:prstGeom prst="triangl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D43962E5-2BEF-97BE-6335-09CAA4ABBB4E}"/>
                    </a:ext>
                  </a:extLst>
                </p:cNvPr>
                <p:cNvSpPr txBox="1"/>
                <p:nvPr/>
              </p:nvSpPr>
              <p:spPr>
                <a:xfrm>
                  <a:off x="3492000" y="4716000"/>
                  <a:ext cx="396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 smtClean="0"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D43962E5-2BEF-97BE-6335-09CAA4ABBB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92000" y="4716000"/>
                  <a:ext cx="396000" cy="430887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C9754901-700A-675E-CC09-DE777D0D0F24}"/>
                    </a:ext>
                  </a:extLst>
                </p:cNvPr>
                <p:cNvSpPr txBox="1"/>
                <p:nvPr/>
              </p:nvSpPr>
              <p:spPr>
                <a:xfrm>
                  <a:off x="3492000" y="3960000"/>
                  <a:ext cx="396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C9754901-700A-675E-CC09-DE777D0D0F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92000" y="3960000"/>
                  <a:ext cx="396000" cy="430887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E3B90725-9B58-C604-AC07-A33D31EE8764}"/>
                </a:ext>
              </a:extLst>
            </p:cNvPr>
            <p:cNvCxnSpPr>
              <a:cxnSpLocks/>
              <a:stCxn id="30" idx="0"/>
            </p:cNvCxnSpPr>
            <p:nvPr/>
          </p:nvCxnSpPr>
          <p:spPr>
            <a:xfrm>
              <a:off x="4824000" y="4572000"/>
              <a:ext cx="432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14A53634-7427-E40F-E374-8E06A75B3C3B}"/>
                </a:ext>
              </a:extLst>
            </p:cNvPr>
            <p:cNvSpPr/>
            <p:nvPr/>
          </p:nvSpPr>
          <p:spPr>
            <a:xfrm>
              <a:off x="4932000" y="4500000"/>
              <a:ext cx="144000" cy="14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C476CC2D-5E82-34D1-375E-07440B386E71}"/>
                </a:ext>
              </a:extLst>
            </p:cNvPr>
            <p:cNvCxnSpPr>
              <a:cxnSpLocks/>
            </p:cNvCxnSpPr>
            <p:nvPr/>
          </p:nvCxnSpPr>
          <p:spPr>
            <a:xfrm>
              <a:off x="2664000" y="5472000"/>
              <a:ext cx="2340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67BA8DFE-BBDA-A686-4335-2A0EDDC297B6}"/>
                </a:ext>
              </a:extLst>
            </p:cNvPr>
            <p:cNvCxnSpPr>
              <a:cxnSpLocks/>
            </p:cNvCxnSpPr>
            <p:nvPr/>
          </p:nvCxnSpPr>
          <p:spPr>
            <a:xfrm>
              <a:off x="5004000" y="4572000"/>
              <a:ext cx="0" cy="90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90616855-4B9E-6B63-1C21-14984C5A4BD2}"/>
                </a:ext>
              </a:extLst>
            </p:cNvPr>
            <p:cNvCxnSpPr>
              <a:cxnSpLocks/>
            </p:cNvCxnSpPr>
            <p:nvPr/>
          </p:nvCxnSpPr>
          <p:spPr>
            <a:xfrm>
              <a:off x="2052000" y="4176000"/>
              <a:ext cx="0" cy="180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404364D3-C236-CBB5-D73F-FF11CCFC9A42}"/>
                </a:ext>
              </a:extLst>
            </p:cNvPr>
            <p:cNvSpPr/>
            <p:nvPr/>
          </p:nvSpPr>
          <p:spPr>
            <a:xfrm>
              <a:off x="1836000" y="4788000"/>
              <a:ext cx="432000" cy="432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79EA0229-AD4D-9138-0BFA-980E499EF622}"/>
                </a:ext>
              </a:extLst>
            </p:cNvPr>
            <p:cNvCxnSpPr>
              <a:cxnSpLocks/>
              <a:stCxn id="47" idx="0"/>
              <a:endCxn id="47" idx="4"/>
            </p:cNvCxnSpPr>
            <p:nvPr/>
          </p:nvCxnSpPr>
          <p:spPr>
            <a:xfrm>
              <a:off x="2052000" y="4788000"/>
              <a:ext cx="0" cy="432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0C39FF48-142E-3023-C966-70591317AA54}"/>
                    </a:ext>
                  </a:extLst>
                </p:cNvPr>
                <p:cNvSpPr txBox="1"/>
                <p:nvPr/>
              </p:nvSpPr>
              <p:spPr>
                <a:xfrm>
                  <a:off x="1404000" y="4716000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0C39FF48-142E-3023-C966-70591317AA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04000" y="4716000"/>
                  <a:ext cx="432000" cy="430887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1DE22841-7A07-069C-3928-F806EB67532D}"/>
                    </a:ext>
                  </a:extLst>
                </p:cNvPr>
                <p:cNvSpPr txBox="1"/>
                <p:nvPr/>
              </p:nvSpPr>
              <p:spPr>
                <a:xfrm>
                  <a:off x="1584000" y="4392000"/>
                  <a:ext cx="396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1DE22841-7A07-069C-3928-F806EB6753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84000" y="4392000"/>
                  <a:ext cx="396000" cy="430887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9C48CA14-D763-D5B7-64C4-21021ADA7320}"/>
                    </a:ext>
                  </a:extLst>
                </p:cNvPr>
                <p:cNvSpPr txBox="1"/>
                <p:nvPr/>
              </p:nvSpPr>
              <p:spPr>
                <a:xfrm>
                  <a:off x="1584000" y="5112000"/>
                  <a:ext cx="396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 smtClean="0"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9C48CA14-D763-D5B7-64C4-21021ADA73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84000" y="5112000"/>
                  <a:ext cx="396000" cy="430887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1E1FD12C-6F08-21E4-D639-1B1ADADAB69B}"/>
                    </a:ext>
                  </a:extLst>
                </p:cNvPr>
                <p:cNvSpPr txBox="1"/>
                <p:nvPr/>
              </p:nvSpPr>
              <p:spPr>
                <a:xfrm>
                  <a:off x="2952000" y="3672000"/>
                  <a:ext cx="450701" cy="46923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1E1FD12C-6F08-21E4-D639-1B1ADADAB6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52000" y="3672000"/>
                  <a:ext cx="450701" cy="469231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D72FF844-D253-9300-2ACC-DF09153973CC}"/>
                </a:ext>
              </a:extLst>
            </p:cNvPr>
            <p:cNvCxnSpPr>
              <a:cxnSpLocks/>
            </p:cNvCxnSpPr>
            <p:nvPr/>
          </p:nvCxnSpPr>
          <p:spPr>
            <a:xfrm>
              <a:off x="2664000" y="4968000"/>
              <a:ext cx="0" cy="504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28D5D1E4-039D-BBB8-F4D9-11CC721E660F}"/>
                </a:ext>
              </a:extLst>
            </p:cNvPr>
            <p:cNvCxnSpPr>
              <a:cxnSpLocks/>
            </p:cNvCxnSpPr>
            <p:nvPr/>
          </p:nvCxnSpPr>
          <p:spPr>
            <a:xfrm>
              <a:off x="1908000" y="5976000"/>
              <a:ext cx="288000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文本框 74">
                  <a:extLst>
                    <a:ext uri="{FF2B5EF4-FFF2-40B4-BE49-F238E27FC236}">
                      <a16:creationId xmlns:a16="http://schemas.microsoft.com/office/drawing/2014/main" id="{62A5E20B-2CD3-79FF-B73E-02B8DA714B65}"/>
                    </a:ext>
                  </a:extLst>
                </p:cNvPr>
                <p:cNvSpPr txBox="1"/>
                <p:nvPr/>
              </p:nvSpPr>
              <p:spPr>
                <a:xfrm>
                  <a:off x="2988000" y="4500000"/>
                  <a:ext cx="452303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75" name="文本框 74">
                  <a:extLst>
                    <a:ext uri="{FF2B5EF4-FFF2-40B4-BE49-F238E27FC236}">
                      <a16:creationId xmlns:a16="http://schemas.microsoft.com/office/drawing/2014/main" id="{62A5E20B-2CD3-79FF-B73E-02B8DA714B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8000" y="4500000"/>
                  <a:ext cx="452303" cy="430887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文本框 89">
                  <a:extLst>
                    <a:ext uri="{FF2B5EF4-FFF2-40B4-BE49-F238E27FC236}">
                      <a16:creationId xmlns:a16="http://schemas.microsoft.com/office/drawing/2014/main" id="{C2CA7301-1EB2-A9FE-8EB4-8A1A6A816370}"/>
                    </a:ext>
                  </a:extLst>
                </p:cNvPr>
                <p:cNvSpPr txBox="1"/>
                <p:nvPr/>
              </p:nvSpPr>
              <p:spPr>
                <a:xfrm>
                  <a:off x="5112000" y="4104000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o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90" name="文本框 89">
                  <a:extLst>
                    <a:ext uri="{FF2B5EF4-FFF2-40B4-BE49-F238E27FC236}">
                      <a16:creationId xmlns:a16="http://schemas.microsoft.com/office/drawing/2014/main" id="{C2CA7301-1EB2-A9FE-8EB4-8A1A6A8163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12000" y="4104000"/>
                  <a:ext cx="432000" cy="430887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35" name="文本框 134">
            <a:extLst>
              <a:ext uri="{FF2B5EF4-FFF2-40B4-BE49-F238E27FC236}">
                <a16:creationId xmlns:a16="http://schemas.microsoft.com/office/drawing/2014/main" id="{767332EA-28B8-C175-4D8F-BAA8B19100F7}"/>
              </a:ext>
            </a:extLst>
          </p:cNvPr>
          <p:cNvSpPr txBox="1"/>
          <p:nvPr/>
        </p:nvSpPr>
        <p:spPr>
          <a:xfrm>
            <a:off x="2699999" y="5868000"/>
            <a:ext cx="5759999" cy="497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电压跟随器常用作“缓冲”和“隔离”</a:t>
            </a:r>
            <a:endParaRPr kumimoji="1" lang="en-US" altLang="zh-CN" sz="24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0FBB5A90-49F2-F39F-944C-2EB2C5C26DEC}"/>
              </a:ext>
            </a:extLst>
          </p:cNvPr>
          <p:cNvGrpSpPr/>
          <p:nvPr/>
        </p:nvGrpSpPr>
        <p:grpSpPr>
          <a:xfrm>
            <a:off x="7092000" y="1476000"/>
            <a:ext cx="4788000" cy="3204000"/>
            <a:chOff x="7092000" y="1476000"/>
            <a:chExt cx="4788000" cy="3204000"/>
          </a:xfrm>
        </p:grpSpPr>
        <p:cxnSp>
          <p:nvCxnSpPr>
            <p:cNvPr id="84" name="直接连接符 83">
              <a:extLst>
                <a:ext uri="{FF2B5EF4-FFF2-40B4-BE49-F238E27FC236}">
                  <a16:creationId xmlns:a16="http://schemas.microsoft.com/office/drawing/2014/main" id="{913968A3-CAA8-BC71-E4C7-7EBC89EDC54C}"/>
                </a:ext>
              </a:extLst>
            </p:cNvPr>
            <p:cNvCxnSpPr>
              <a:cxnSpLocks/>
            </p:cNvCxnSpPr>
            <p:nvPr/>
          </p:nvCxnSpPr>
          <p:spPr>
            <a:xfrm>
              <a:off x="9000000" y="2844000"/>
              <a:ext cx="864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A8499CFA-939C-EE15-14F5-DA58A4DA9D71}"/>
                </a:ext>
              </a:extLst>
            </p:cNvPr>
            <p:cNvCxnSpPr>
              <a:cxnSpLocks/>
            </p:cNvCxnSpPr>
            <p:nvPr/>
          </p:nvCxnSpPr>
          <p:spPr>
            <a:xfrm>
              <a:off x="7740000" y="2052000"/>
              <a:ext cx="2124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等腰三角形 85">
              <a:extLst>
                <a:ext uri="{FF2B5EF4-FFF2-40B4-BE49-F238E27FC236}">
                  <a16:creationId xmlns:a16="http://schemas.microsoft.com/office/drawing/2014/main" id="{918DB959-DC0A-91B3-27F8-CC11FBAB977A}"/>
                </a:ext>
              </a:extLst>
            </p:cNvPr>
            <p:cNvSpPr/>
            <p:nvPr/>
          </p:nvSpPr>
          <p:spPr>
            <a:xfrm rot="5400000">
              <a:off x="9792000" y="1800000"/>
              <a:ext cx="1440000" cy="1296000"/>
            </a:xfrm>
            <a:prstGeom prst="triangl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文本框 86">
                  <a:extLst>
                    <a:ext uri="{FF2B5EF4-FFF2-40B4-BE49-F238E27FC236}">
                      <a16:creationId xmlns:a16="http://schemas.microsoft.com/office/drawing/2014/main" id="{3F8A89A6-ADB6-CFA6-5EC5-9CD5FC8B0241}"/>
                    </a:ext>
                  </a:extLst>
                </p:cNvPr>
                <p:cNvSpPr txBox="1"/>
                <p:nvPr/>
              </p:nvSpPr>
              <p:spPr>
                <a:xfrm>
                  <a:off x="9846000" y="2610000"/>
                  <a:ext cx="396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 smtClean="0"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7" name="文本框 86">
                  <a:extLst>
                    <a:ext uri="{FF2B5EF4-FFF2-40B4-BE49-F238E27FC236}">
                      <a16:creationId xmlns:a16="http://schemas.microsoft.com/office/drawing/2014/main" id="{3F8A89A6-ADB6-CFA6-5EC5-9CD5FC8B02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46000" y="2610000"/>
                  <a:ext cx="396000" cy="430887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文本框 87">
                  <a:extLst>
                    <a:ext uri="{FF2B5EF4-FFF2-40B4-BE49-F238E27FC236}">
                      <a16:creationId xmlns:a16="http://schemas.microsoft.com/office/drawing/2014/main" id="{EFE3DFCF-598D-5878-BCC8-C14A08FD0F54}"/>
                    </a:ext>
                  </a:extLst>
                </p:cNvPr>
                <p:cNvSpPr txBox="1"/>
                <p:nvPr/>
              </p:nvSpPr>
              <p:spPr>
                <a:xfrm>
                  <a:off x="9846000" y="1818000"/>
                  <a:ext cx="396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8" name="文本框 87">
                  <a:extLst>
                    <a:ext uri="{FF2B5EF4-FFF2-40B4-BE49-F238E27FC236}">
                      <a16:creationId xmlns:a16="http://schemas.microsoft.com/office/drawing/2014/main" id="{EFE3DFCF-598D-5878-BCC8-C14A08FD0F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46000" y="1818000"/>
                  <a:ext cx="396000" cy="430887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9" name="直接连接符 88">
              <a:extLst>
                <a:ext uri="{FF2B5EF4-FFF2-40B4-BE49-F238E27FC236}">
                  <a16:creationId xmlns:a16="http://schemas.microsoft.com/office/drawing/2014/main" id="{72E4DB4D-4458-AB1F-C303-6873536EB613}"/>
                </a:ext>
              </a:extLst>
            </p:cNvPr>
            <p:cNvCxnSpPr>
              <a:cxnSpLocks/>
              <a:stCxn id="86" idx="0"/>
            </p:cNvCxnSpPr>
            <p:nvPr/>
          </p:nvCxnSpPr>
          <p:spPr>
            <a:xfrm>
              <a:off x="11160000" y="2448000"/>
              <a:ext cx="432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椭圆 90">
              <a:extLst>
                <a:ext uri="{FF2B5EF4-FFF2-40B4-BE49-F238E27FC236}">
                  <a16:creationId xmlns:a16="http://schemas.microsoft.com/office/drawing/2014/main" id="{D50ADFB0-C3FF-F4FE-C02E-6CCF223165A2}"/>
                </a:ext>
              </a:extLst>
            </p:cNvPr>
            <p:cNvSpPr/>
            <p:nvPr/>
          </p:nvSpPr>
          <p:spPr>
            <a:xfrm>
              <a:off x="11268000" y="2376000"/>
              <a:ext cx="144000" cy="14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92" name="直接连接符 91">
              <a:extLst>
                <a:ext uri="{FF2B5EF4-FFF2-40B4-BE49-F238E27FC236}">
                  <a16:creationId xmlns:a16="http://schemas.microsoft.com/office/drawing/2014/main" id="{ED026964-A24E-773A-356D-57176E16BD40}"/>
                </a:ext>
              </a:extLst>
            </p:cNvPr>
            <p:cNvCxnSpPr>
              <a:cxnSpLocks/>
            </p:cNvCxnSpPr>
            <p:nvPr/>
          </p:nvCxnSpPr>
          <p:spPr>
            <a:xfrm>
              <a:off x="9000000" y="3420000"/>
              <a:ext cx="2340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>
              <a:extLst>
                <a:ext uri="{FF2B5EF4-FFF2-40B4-BE49-F238E27FC236}">
                  <a16:creationId xmlns:a16="http://schemas.microsoft.com/office/drawing/2014/main" id="{18F5EED6-69B0-5D32-BCD0-75E25E3D2D61}"/>
                </a:ext>
              </a:extLst>
            </p:cNvPr>
            <p:cNvCxnSpPr>
              <a:cxnSpLocks/>
            </p:cNvCxnSpPr>
            <p:nvPr/>
          </p:nvCxnSpPr>
          <p:spPr>
            <a:xfrm>
              <a:off x="11340000" y="2448000"/>
              <a:ext cx="0" cy="972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矩形 93">
              <a:extLst>
                <a:ext uri="{FF2B5EF4-FFF2-40B4-BE49-F238E27FC236}">
                  <a16:creationId xmlns:a16="http://schemas.microsoft.com/office/drawing/2014/main" id="{92CB89BB-F3DF-4E67-C3C8-2EADB7E99DEA}"/>
                </a:ext>
              </a:extLst>
            </p:cNvPr>
            <p:cNvSpPr/>
            <p:nvPr/>
          </p:nvSpPr>
          <p:spPr>
            <a:xfrm>
              <a:off x="10404000" y="3348000"/>
              <a:ext cx="576000" cy="144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95" name="直接连接符 94">
              <a:extLst>
                <a:ext uri="{FF2B5EF4-FFF2-40B4-BE49-F238E27FC236}">
                  <a16:creationId xmlns:a16="http://schemas.microsoft.com/office/drawing/2014/main" id="{ACE7CED8-82B6-A77F-F367-3FF942743E60}"/>
                </a:ext>
              </a:extLst>
            </p:cNvPr>
            <p:cNvCxnSpPr>
              <a:cxnSpLocks/>
            </p:cNvCxnSpPr>
            <p:nvPr/>
          </p:nvCxnSpPr>
          <p:spPr>
            <a:xfrm>
              <a:off x="7740000" y="4428000"/>
              <a:ext cx="1260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0" name="椭圆 129">
              <a:extLst>
                <a:ext uri="{FF2B5EF4-FFF2-40B4-BE49-F238E27FC236}">
                  <a16:creationId xmlns:a16="http://schemas.microsoft.com/office/drawing/2014/main" id="{38A5EACF-EB74-32C1-FBB3-E187EA9D5382}"/>
                </a:ext>
              </a:extLst>
            </p:cNvPr>
            <p:cNvSpPr/>
            <p:nvPr/>
          </p:nvSpPr>
          <p:spPr>
            <a:xfrm>
              <a:off x="8928000" y="1980000"/>
              <a:ext cx="144000" cy="14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1" name="文本框 130">
                  <a:extLst>
                    <a:ext uri="{FF2B5EF4-FFF2-40B4-BE49-F238E27FC236}">
                      <a16:creationId xmlns:a16="http://schemas.microsoft.com/office/drawing/2014/main" id="{29E1D2EF-9736-2256-EABC-EB270591217D}"/>
                    </a:ext>
                  </a:extLst>
                </p:cNvPr>
                <p:cNvSpPr txBox="1"/>
                <p:nvPr/>
              </p:nvSpPr>
              <p:spPr>
                <a:xfrm>
                  <a:off x="7092000" y="2916000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31" name="文本框 130">
                  <a:extLst>
                    <a:ext uri="{FF2B5EF4-FFF2-40B4-BE49-F238E27FC236}">
                      <a16:creationId xmlns:a16="http://schemas.microsoft.com/office/drawing/2014/main" id="{29E1D2EF-9736-2256-EABC-EB27059121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92000" y="2916000"/>
                  <a:ext cx="432000" cy="430887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2" name="直接连接符 131">
              <a:extLst>
                <a:ext uri="{FF2B5EF4-FFF2-40B4-BE49-F238E27FC236}">
                  <a16:creationId xmlns:a16="http://schemas.microsoft.com/office/drawing/2014/main" id="{A11D8B4A-8330-D987-FFED-6BE4FAAB10E7}"/>
                </a:ext>
              </a:extLst>
            </p:cNvPr>
            <p:cNvCxnSpPr>
              <a:cxnSpLocks/>
            </p:cNvCxnSpPr>
            <p:nvPr/>
          </p:nvCxnSpPr>
          <p:spPr>
            <a:xfrm>
              <a:off x="7740000" y="2052000"/>
              <a:ext cx="0" cy="2376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3" name="椭圆 132">
              <a:extLst>
                <a:ext uri="{FF2B5EF4-FFF2-40B4-BE49-F238E27FC236}">
                  <a16:creationId xmlns:a16="http://schemas.microsoft.com/office/drawing/2014/main" id="{9A22F848-AD2A-BD85-0C65-4CC584BE47E6}"/>
                </a:ext>
              </a:extLst>
            </p:cNvPr>
            <p:cNvSpPr/>
            <p:nvPr/>
          </p:nvSpPr>
          <p:spPr>
            <a:xfrm>
              <a:off x="7524000" y="2952000"/>
              <a:ext cx="432000" cy="432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40" name="直接连接符 139">
              <a:extLst>
                <a:ext uri="{FF2B5EF4-FFF2-40B4-BE49-F238E27FC236}">
                  <a16:creationId xmlns:a16="http://schemas.microsoft.com/office/drawing/2014/main" id="{528F72A5-F82D-9A8B-9B47-55DAD169DABD}"/>
                </a:ext>
              </a:extLst>
            </p:cNvPr>
            <p:cNvCxnSpPr>
              <a:cxnSpLocks/>
              <a:stCxn id="133" idx="0"/>
              <a:endCxn id="133" idx="4"/>
            </p:cNvCxnSpPr>
            <p:nvPr/>
          </p:nvCxnSpPr>
          <p:spPr>
            <a:xfrm>
              <a:off x="7740000" y="2952000"/>
              <a:ext cx="0" cy="432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1" name="文本框 140">
                  <a:extLst>
                    <a:ext uri="{FF2B5EF4-FFF2-40B4-BE49-F238E27FC236}">
                      <a16:creationId xmlns:a16="http://schemas.microsoft.com/office/drawing/2014/main" id="{B967C67E-1BF8-D132-F263-8A00D7365AAE}"/>
                    </a:ext>
                  </a:extLst>
                </p:cNvPr>
                <p:cNvSpPr txBox="1"/>
                <p:nvPr/>
              </p:nvSpPr>
              <p:spPr>
                <a:xfrm>
                  <a:off x="7236000" y="2592000"/>
                  <a:ext cx="396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41" name="文本框 140">
                  <a:extLst>
                    <a:ext uri="{FF2B5EF4-FFF2-40B4-BE49-F238E27FC236}">
                      <a16:creationId xmlns:a16="http://schemas.microsoft.com/office/drawing/2014/main" id="{B967C67E-1BF8-D132-F263-8A00D7365A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36000" y="2592000"/>
                  <a:ext cx="396000" cy="430887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2" name="文本框 141">
                  <a:extLst>
                    <a:ext uri="{FF2B5EF4-FFF2-40B4-BE49-F238E27FC236}">
                      <a16:creationId xmlns:a16="http://schemas.microsoft.com/office/drawing/2014/main" id="{549EC342-E48F-F568-2881-155EF8A62A28}"/>
                    </a:ext>
                  </a:extLst>
                </p:cNvPr>
                <p:cNvSpPr txBox="1"/>
                <p:nvPr/>
              </p:nvSpPr>
              <p:spPr>
                <a:xfrm>
                  <a:off x="7236000" y="3312000"/>
                  <a:ext cx="396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 smtClean="0"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42" name="文本框 141">
                  <a:extLst>
                    <a:ext uri="{FF2B5EF4-FFF2-40B4-BE49-F238E27FC236}">
                      <a16:creationId xmlns:a16="http://schemas.microsoft.com/office/drawing/2014/main" id="{549EC342-E48F-F568-2881-155EF8A62A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36000" y="3312000"/>
                  <a:ext cx="396000" cy="430887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3" name="文本框 142">
                  <a:extLst>
                    <a:ext uri="{FF2B5EF4-FFF2-40B4-BE49-F238E27FC236}">
                      <a16:creationId xmlns:a16="http://schemas.microsoft.com/office/drawing/2014/main" id="{B3699626-5882-27AE-9FA2-C374F62D5FF7}"/>
                    </a:ext>
                  </a:extLst>
                </p:cNvPr>
                <p:cNvSpPr txBox="1"/>
                <p:nvPr/>
              </p:nvSpPr>
              <p:spPr>
                <a:xfrm>
                  <a:off x="8604000" y="1944000"/>
                  <a:ext cx="450701" cy="46923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43" name="文本框 142">
                  <a:extLst>
                    <a:ext uri="{FF2B5EF4-FFF2-40B4-BE49-F238E27FC236}">
                      <a16:creationId xmlns:a16="http://schemas.microsoft.com/office/drawing/2014/main" id="{B3699626-5882-27AE-9FA2-C374F62D5F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04000" y="1944000"/>
                  <a:ext cx="450701" cy="469231"/>
                </a:xfrm>
                <a:prstGeom prst="rect">
                  <a:avLst/>
                </a:prstGeom>
                <a:blipFill>
                  <a:blip r:embed="rId3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4" name="直接箭头连接符 143">
              <a:extLst>
                <a:ext uri="{FF2B5EF4-FFF2-40B4-BE49-F238E27FC236}">
                  <a16:creationId xmlns:a16="http://schemas.microsoft.com/office/drawing/2014/main" id="{3349B2D8-68E7-E0B7-13FA-65BB8CF36C73}"/>
                </a:ext>
              </a:extLst>
            </p:cNvPr>
            <p:cNvCxnSpPr/>
            <p:nvPr/>
          </p:nvCxnSpPr>
          <p:spPr>
            <a:xfrm flipH="1">
              <a:off x="9144000" y="1980000"/>
              <a:ext cx="540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 w="med" len="lg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5" name="文本框 144">
                  <a:extLst>
                    <a:ext uri="{FF2B5EF4-FFF2-40B4-BE49-F238E27FC236}">
                      <a16:creationId xmlns:a16="http://schemas.microsoft.com/office/drawing/2014/main" id="{D342BB90-5B31-96E2-649D-1B0F92EBDBCB}"/>
                    </a:ext>
                  </a:extLst>
                </p:cNvPr>
                <p:cNvSpPr txBox="1"/>
                <p:nvPr/>
              </p:nvSpPr>
              <p:spPr>
                <a:xfrm>
                  <a:off x="9144000" y="1476000"/>
                  <a:ext cx="540000" cy="46923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45" name="文本框 144">
                  <a:extLst>
                    <a:ext uri="{FF2B5EF4-FFF2-40B4-BE49-F238E27FC236}">
                      <a16:creationId xmlns:a16="http://schemas.microsoft.com/office/drawing/2014/main" id="{D342BB90-5B31-96E2-649D-1B0F92EBDB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44000" y="1476000"/>
                  <a:ext cx="540000" cy="469231"/>
                </a:xfrm>
                <a:prstGeom prst="rect">
                  <a:avLst/>
                </a:prstGeom>
                <a:blipFill>
                  <a:blip r:embed="rId3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6" name="直接连接符 145">
              <a:extLst>
                <a:ext uri="{FF2B5EF4-FFF2-40B4-BE49-F238E27FC236}">
                  <a16:creationId xmlns:a16="http://schemas.microsoft.com/office/drawing/2014/main" id="{F1C704B7-775B-6A30-C94D-0682C3D8C1DD}"/>
                </a:ext>
              </a:extLst>
            </p:cNvPr>
            <p:cNvCxnSpPr>
              <a:cxnSpLocks/>
            </p:cNvCxnSpPr>
            <p:nvPr/>
          </p:nvCxnSpPr>
          <p:spPr>
            <a:xfrm>
              <a:off x="9000000" y="2844000"/>
              <a:ext cx="0" cy="1836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7" name="椭圆 146">
              <a:extLst>
                <a:ext uri="{FF2B5EF4-FFF2-40B4-BE49-F238E27FC236}">
                  <a16:creationId xmlns:a16="http://schemas.microsoft.com/office/drawing/2014/main" id="{16C84ADF-649B-379F-5CFE-405AA626BD12}"/>
                </a:ext>
              </a:extLst>
            </p:cNvPr>
            <p:cNvSpPr/>
            <p:nvPr/>
          </p:nvSpPr>
          <p:spPr>
            <a:xfrm>
              <a:off x="8928000" y="3348000"/>
              <a:ext cx="144000" cy="14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8" name="矩形 147">
              <a:extLst>
                <a:ext uri="{FF2B5EF4-FFF2-40B4-BE49-F238E27FC236}">
                  <a16:creationId xmlns:a16="http://schemas.microsoft.com/office/drawing/2014/main" id="{6E67AF0B-E886-AEAC-6E2F-8BD7FD38113F}"/>
                </a:ext>
              </a:extLst>
            </p:cNvPr>
            <p:cNvSpPr/>
            <p:nvPr/>
          </p:nvSpPr>
          <p:spPr>
            <a:xfrm>
              <a:off x="8928000" y="3636000"/>
              <a:ext cx="144000" cy="576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49" name="直接连接符 148">
              <a:extLst>
                <a:ext uri="{FF2B5EF4-FFF2-40B4-BE49-F238E27FC236}">
                  <a16:creationId xmlns:a16="http://schemas.microsoft.com/office/drawing/2014/main" id="{39DC162B-446E-E0B2-9C1A-581806DF736D}"/>
                </a:ext>
              </a:extLst>
            </p:cNvPr>
            <p:cNvCxnSpPr>
              <a:cxnSpLocks/>
            </p:cNvCxnSpPr>
            <p:nvPr/>
          </p:nvCxnSpPr>
          <p:spPr>
            <a:xfrm>
              <a:off x="8856000" y="4680000"/>
              <a:ext cx="288000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0" name="椭圆 149">
              <a:extLst>
                <a:ext uri="{FF2B5EF4-FFF2-40B4-BE49-F238E27FC236}">
                  <a16:creationId xmlns:a16="http://schemas.microsoft.com/office/drawing/2014/main" id="{AF507D00-CFE3-79D2-13BF-A391CCD24552}"/>
                </a:ext>
              </a:extLst>
            </p:cNvPr>
            <p:cNvSpPr/>
            <p:nvPr/>
          </p:nvSpPr>
          <p:spPr>
            <a:xfrm>
              <a:off x="8928000" y="4356000"/>
              <a:ext cx="144000" cy="14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1" name="文本框 150">
                  <a:extLst>
                    <a:ext uri="{FF2B5EF4-FFF2-40B4-BE49-F238E27FC236}">
                      <a16:creationId xmlns:a16="http://schemas.microsoft.com/office/drawing/2014/main" id="{A281B4ED-0EF7-A498-0F43-A8B7F8137854}"/>
                    </a:ext>
                  </a:extLst>
                </p:cNvPr>
                <p:cNvSpPr txBox="1"/>
                <p:nvPr/>
              </p:nvSpPr>
              <p:spPr>
                <a:xfrm>
                  <a:off x="8604000" y="2430000"/>
                  <a:ext cx="452303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51" name="文本框 150">
                  <a:extLst>
                    <a:ext uri="{FF2B5EF4-FFF2-40B4-BE49-F238E27FC236}">
                      <a16:creationId xmlns:a16="http://schemas.microsoft.com/office/drawing/2014/main" id="{A281B4ED-0EF7-A498-0F43-A8B7F81378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04000" y="2430000"/>
                  <a:ext cx="452303" cy="430887"/>
                </a:xfrm>
                <a:prstGeom prst="rect">
                  <a:avLst/>
                </a:prstGeom>
                <a:blipFill>
                  <a:blip r:embed="rId3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2" name="直接箭头连接符 151">
              <a:extLst>
                <a:ext uri="{FF2B5EF4-FFF2-40B4-BE49-F238E27FC236}">
                  <a16:creationId xmlns:a16="http://schemas.microsoft.com/office/drawing/2014/main" id="{E8916BD5-B855-1B2D-CEBF-4C2D0BF1C511}"/>
                </a:ext>
              </a:extLst>
            </p:cNvPr>
            <p:cNvCxnSpPr/>
            <p:nvPr/>
          </p:nvCxnSpPr>
          <p:spPr>
            <a:xfrm flipH="1">
              <a:off x="9144000" y="2772000"/>
              <a:ext cx="540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 w="med" len="lg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3" name="文本框 152">
                  <a:extLst>
                    <a:ext uri="{FF2B5EF4-FFF2-40B4-BE49-F238E27FC236}">
                      <a16:creationId xmlns:a16="http://schemas.microsoft.com/office/drawing/2014/main" id="{45F1DC7E-A002-927E-A055-9309BC15718A}"/>
                    </a:ext>
                  </a:extLst>
                </p:cNvPr>
                <p:cNvSpPr txBox="1"/>
                <p:nvPr/>
              </p:nvSpPr>
              <p:spPr>
                <a:xfrm>
                  <a:off x="9144000" y="2303999"/>
                  <a:ext cx="540000" cy="4680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53" name="文本框 152">
                  <a:extLst>
                    <a:ext uri="{FF2B5EF4-FFF2-40B4-BE49-F238E27FC236}">
                      <a16:creationId xmlns:a16="http://schemas.microsoft.com/office/drawing/2014/main" id="{45F1DC7E-A002-927E-A055-9309BC1571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44000" y="2303999"/>
                  <a:ext cx="540000" cy="468000"/>
                </a:xfrm>
                <a:prstGeom prst="rect">
                  <a:avLst/>
                </a:prstGeom>
                <a:blipFill>
                  <a:blip r:embed="rId4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4" name="文本框 153">
                  <a:extLst>
                    <a:ext uri="{FF2B5EF4-FFF2-40B4-BE49-F238E27FC236}">
                      <a16:creationId xmlns:a16="http://schemas.microsoft.com/office/drawing/2014/main" id="{28506C18-E416-434F-7344-113032104CF4}"/>
                    </a:ext>
                  </a:extLst>
                </p:cNvPr>
                <p:cNvSpPr txBox="1"/>
                <p:nvPr/>
              </p:nvSpPr>
              <p:spPr>
                <a:xfrm>
                  <a:off x="8460000" y="3636000"/>
                  <a:ext cx="504000" cy="5760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54" name="文本框 153">
                  <a:extLst>
                    <a:ext uri="{FF2B5EF4-FFF2-40B4-BE49-F238E27FC236}">
                      <a16:creationId xmlns:a16="http://schemas.microsoft.com/office/drawing/2014/main" id="{28506C18-E416-434F-7344-113032104C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60000" y="3636000"/>
                  <a:ext cx="504000" cy="576000"/>
                </a:xfrm>
                <a:prstGeom prst="rect">
                  <a:avLst/>
                </a:prstGeom>
                <a:blipFill>
                  <a:blip r:embed="rId4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5" name="文本框 154">
                  <a:extLst>
                    <a:ext uri="{FF2B5EF4-FFF2-40B4-BE49-F238E27FC236}">
                      <a16:creationId xmlns:a16="http://schemas.microsoft.com/office/drawing/2014/main" id="{243190E5-BB07-9596-D90E-A6D125B07DC5}"/>
                    </a:ext>
                  </a:extLst>
                </p:cNvPr>
                <p:cNvSpPr txBox="1"/>
                <p:nvPr/>
              </p:nvSpPr>
              <p:spPr>
                <a:xfrm>
                  <a:off x="10404000" y="3492000"/>
                  <a:ext cx="576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55" name="文本框 154">
                  <a:extLst>
                    <a:ext uri="{FF2B5EF4-FFF2-40B4-BE49-F238E27FC236}">
                      <a16:creationId xmlns:a16="http://schemas.microsoft.com/office/drawing/2014/main" id="{243190E5-BB07-9596-D90E-A6D125B07D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04000" y="3492000"/>
                  <a:ext cx="576000" cy="430887"/>
                </a:xfrm>
                <a:prstGeom prst="rect">
                  <a:avLst/>
                </a:prstGeom>
                <a:blipFill>
                  <a:blip r:embed="rId4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6" name="文本框 155">
                  <a:extLst>
                    <a:ext uri="{FF2B5EF4-FFF2-40B4-BE49-F238E27FC236}">
                      <a16:creationId xmlns:a16="http://schemas.microsoft.com/office/drawing/2014/main" id="{EB5BEE1B-45E9-8128-6590-352D349D96D6}"/>
                    </a:ext>
                  </a:extLst>
                </p:cNvPr>
                <p:cNvSpPr txBox="1"/>
                <p:nvPr/>
              </p:nvSpPr>
              <p:spPr>
                <a:xfrm>
                  <a:off x="11448000" y="1980000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o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56" name="文本框 155">
                  <a:extLst>
                    <a:ext uri="{FF2B5EF4-FFF2-40B4-BE49-F238E27FC236}">
                      <a16:creationId xmlns:a16="http://schemas.microsoft.com/office/drawing/2014/main" id="{EB5BEE1B-45E9-8128-6590-352D349D96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48000" y="1980000"/>
                  <a:ext cx="432000" cy="430887"/>
                </a:xfrm>
                <a:prstGeom prst="rect">
                  <a:avLst/>
                </a:prstGeom>
                <a:blipFill>
                  <a:blip r:embed="rId4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7" name="直接箭头连接符 156">
              <a:extLst>
                <a:ext uri="{FF2B5EF4-FFF2-40B4-BE49-F238E27FC236}">
                  <a16:creationId xmlns:a16="http://schemas.microsoft.com/office/drawing/2014/main" id="{AD82DFFA-3AFD-53E9-4B22-08E73E3080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98000" y="3654000"/>
              <a:ext cx="0" cy="54000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 w="med" len="lg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8" name="文本框 157">
                  <a:extLst>
                    <a:ext uri="{FF2B5EF4-FFF2-40B4-BE49-F238E27FC236}">
                      <a16:creationId xmlns:a16="http://schemas.microsoft.com/office/drawing/2014/main" id="{8D03DBD4-0632-B3FB-1BDD-4700ED4F56E2}"/>
                    </a:ext>
                  </a:extLst>
                </p:cNvPr>
                <p:cNvSpPr txBox="1"/>
                <p:nvPr/>
              </p:nvSpPr>
              <p:spPr>
                <a:xfrm>
                  <a:off x="9144000" y="3654000"/>
                  <a:ext cx="540000" cy="5400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58" name="文本框 157">
                  <a:extLst>
                    <a:ext uri="{FF2B5EF4-FFF2-40B4-BE49-F238E27FC236}">
                      <a16:creationId xmlns:a16="http://schemas.microsoft.com/office/drawing/2014/main" id="{8D03DBD4-0632-B3FB-1BDD-4700ED4F56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44000" y="3654000"/>
                  <a:ext cx="540000" cy="540000"/>
                </a:xfrm>
                <a:prstGeom prst="rect">
                  <a:avLst/>
                </a:prstGeom>
                <a:blipFill>
                  <a:blip r:embed="rId4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9" name="直接箭头连接符 158">
              <a:extLst>
                <a:ext uri="{FF2B5EF4-FFF2-40B4-BE49-F238E27FC236}">
                  <a16:creationId xmlns:a16="http://schemas.microsoft.com/office/drawing/2014/main" id="{A042017E-1355-52A1-7820-11A460B9BB53}"/>
                </a:ext>
              </a:extLst>
            </p:cNvPr>
            <p:cNvCxnSpPr/>
            <p:nvPr/>
          </p:nvCxnSpPr>
          <p:spPr>
            <a:xfrm flipH="1">
              <a:off x="10422000" y="3240000"/>
              <a:ext cx="540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none"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0" name="文本框 159">
                  <a:extLst>
                    <a:ext uri="{FF2B5EF4-FFF2-40B4-BE49-F238E27FC236}">
                      <a16:creationId xmlns:a16="http://schemas.microsoft.com/office/drawing/2014/main" id="{9FCC17E7-7EA7-C890-0A0D-19D105EEBE16}"/>
                    </a:ext>
                  </a:extLst>
                </p:cNvPr>
                <p:cNvSpPr txBox="1"/>
                <p:nvPr/>
              </p:nvSpPr>
              <p:spPr>
                <a:xfrm>
                  <a:off x="10422000" y="2772000"/>
                  <a:ext cx="540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60" name="文本框 159">
                  <a:extLst>
                    <a:ext uri="{FF2B5EF4-FFF2-40B4-BE49-F238E27FC236}">
                      <a16:creationId xmlns:a16="http://schemas.microsoft.com/office/drawing/2014/main" id="{9FCC17E7-7EA7-C890-0A0D-19D105EEBE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22000" y="2772000"/>
                  <a:ext cx="540000" cy="430887"/>
                </a:xfrm>
                <a:prstGeom prst="rect">
                  <a:avLst/>
                </a:prstGeom>
                <a:blipFill>
                  <a:blip r:embed="rId4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20F7F88E-24D7-9202-253D-D09C91F9FB98}"/>
                </a:ext>
              </a:extLst>
            </p:cNvPr>
            <p:cNvSpPr/>
            <p:nvPr/>
          </p:nvSpPr>
          <p:spPr>
            <a:xfrm>
              <a:off x="7920000" y="1980000"/>
              <a:ext cx="576000" cy="144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0984CB95-784A-23E9-0A56-366610D42790}"/>
                    </a:ext>
                  </a:extLst>
                </p:cNvPr>
                <p:cNvSpPr txBox="1"/>
                <p:nvPr/>
              </p:nvSpPr>
              <p:spPr>
                <a:xfrm>
                  <a:off x="7919999" y="2124000"/>
                  <a:ext cx="576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0984CB95-784A-23E9-0A56-366610D427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19999" y="2124000"/>
                  <a:ext cx="576000" cy="430887"/>
                </a:xfrm>
                <a:prstGeom prst="rect">
                  <a:avLst/>
                </a:prstGeom>
                <a:blipFill>
                  <a:blip r:embed="rId4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6588646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F701D9-A4B6-E868-5AF0-6E27F9496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6651ADA7-3FC3-528B-7C75-8868BCB50CDA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36645DAC-297E-DCAA-B555-97BF219DC09F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5" name="箭头: 五边形 4">
                <a:extLst>
                  <a:ext uri="{FF2B5EF4-FFF2-40B4-BE49-F238E27FC236}">
                    <a16:creationId xmlns:a16="http://schemas.microsoft.com/office/drawing/2014/main" id="{381DF984-DFF6-78B8-B75A-FD20AEC8436A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" name="箭头: V 形 5">
                <a:extLst>
                  <a:ext uri="{FF2B5EF4-FFF2-40B4-BE49-F238E27FC236}">
                    <a16:creationId xmlns:a16="http://schemas.microsoft.com/office/drawing/2014/main" id="{9F93468C-A0EC-7E69-C2C5-B24A3807596A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" name="灯片编号占位符 3">
              <a:extLst>
                <a:ext uri="{FF2B5EF4-FFF2-40B4-BE49-F238E27FC236}">
                  <a16:creationId xmlns:a16="http://schemas.microsoft.com/office/drawing/2014/main" id="{F0F3BEE2-6294-CE41-CA43-D4D508DCDE10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7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7" name="标题 1">
            <a:extLst>
              <a:ext uri="{FF2B5EF4-FFF2-40B4-BE49-F238E27FC236}">
                <a16:creationId xmlns:a16="http://schemas.microsoft.com/office/drawing/2014/main" id="{0CBEF015-2C32-79A6-CFC3-90AA7B8293CF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集成运算放大器的线性应用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同相</a:t>
            </a:r>
            <a:r>
              <a:rPr lang="en-US" altLang="zh-CN" sz="3000" dirty="0">
                <a:solidFill>
                  <a:srgbClr val="FFFF00"/>
                </a:solidFill>
              </a:rPr>
              <a:t>/</a:t>
            </a:r>
            <a:r>
              <a:rPr lang="zh-CN" altLang="en-US" sz="3000" dirty="0">
                <a:solidFill>
                  <a:srgbClr val="FFFF00"/>
                </a:solidFill>
              </a:rPr>
              <a:t>反相比例运算电路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3833C0A-AE85-5464-FC32-DB425ADDCE6F}"/>
              </a:ext>
            </a:extLst>
          </p:cNvPr>
          <p:cNvSpPr txBox="1"/>
          <p:nvPr/>
        </p:nvSpPr>
        <p:spPr>
          <a:xfrm>
            <a:off x="360000" y="828000"/>
            <a:ext cx="5413782" cy="1091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反相比例运算电路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反馈类型：电压并联负反馈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94E4F37D-D7DC-7750-DD52-4C25EE021D48}"/>
                  </a:ext>
                </a:extLst>
              </p:cNvPr>
              <p:cNvSpPr txBox="1"/>
              <p:nvPr/>
            </p:nvSpPr>
            <p:spPr>
              <a:xfrm>
                <a:off x="360000" y="2088000"/>
                <a:ext cx="4644000" cy="10575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lnSpc>
                    <a:spcPct val="120000"/>
                  </a:lnSpc>
                  <a:spcAft>
                    <a:spcPts val="600"/>
                  </a:spcAft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虚断（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）：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2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sz="24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94E4F37D-D7DC-7750-DD52-4C25EE021D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2088000"/>
                <a:ext cx="4644000" cy="1057597"/>
              </a:xfrm>
              <a:prstGeom prst="rect">
                <a:avLst/>
              </a:prstGeom>
              <a:blipFill>
                <a:blip r:embed="rId4"/>
                <a:stretch>
                  <a:fillRect b="-5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A4DDB09B-A16E-E02A-385F-BB03091F8526}"/>
                  </a:ext>
                </a:extLst>
              </p:cNvPr>
              <p:cNvSpPr txBox="1"/>
              <p:nvPr/>
            </p:nvSpPr>
            <p:spPr>
              <a:xfrm>
                <a:off x="360000" y="4428000"/>
                <a:ext cx="8460001" cy="4979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lnSpc>
                    <a:spcPct val="120000"/>
                  </a:lnSpc>
                  <a:spcAft>
                    <a:spcPts val="600"/>
                  </a:spcAft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放大倍数：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sub>
                    </m:sSub>
                    <m:r>
                      <a:rPr kumimoji="1" lang="en-US" altLang="zh-CN" sz="2400" i="1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US" altLang="zh-CN" sz="24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o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den>
                    </m:f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lin"/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4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A4DDB09B-A16E-E02A-385F-BB03091F85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4428000"/>
                <a:ext cx="8460001" cy="497957"/>
              </a:xfrm>
              <a:prstGeom prst="rect">
                <a:avLst/>
              </a:prstGeom>
              <a:blipFill>
                <a:blip r:embed="rId5"/>
                <a:stretch>
                  <a:fillRect t="-107317" b="-1780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001F786C-34EE-3DC3-8EFC-1E016A300FE1}"/>
                  </a:ext>
                </a:extLst>
              </p:cNvPr>
              <p:cNvSpPr txBox="1"/>
              <p:nvPr/>
            </p:nvSpPr>
            <p:spPr>
              <a:xfrm>
                <a:off x="360000" y="5004000"/>
                <a:ext cx="5344114" cy="4979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2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，表示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与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反相 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001F786C-34EE-3DC3-8EFC-1E016A300F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5004000"/>
                <a:ext cx="5344114" cy="497957"/>
              </a:xfrm>
              <a:prstGeom prst="rect">
                <a:avLst/>
              </a:prstGeom>
              <a:blipFill>
                <a:blip r:embed="rId6"/>
                <a:stretch>
                  <a:fillRect t="-2439" b="-268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899B7DC9-FCE0-7F64-1CB3-E7C9954F6BDF}"/>
                  </a:ext>
                </a:extLst>
              </p:cNvPr>
              <p:cNvSpPr txBox="1"/>
              <p:nvPr/>
            </p:nvSpPr>
            <p:spPr>
              <a:xfrm>
                <a:off x="360001" y="5580000"/>
                <a:ext cx="4406872" cy="1018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lnSpc>
                    <a:spcPct val="120000"/>
                  </a:lnSpc>
                  <a:spcAft>
                    <a:spcPts val="600"/>
                  </a:spcAft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输入</a:t>
                </a:r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输出电阻：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2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899B7DC9-FCE0-7F64-1CB3-E7C9954F6B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1" y="5580000"/>
                <a:ext cx="4406872" cy="1018099"/>
              </a:xfrm>
              <a:prstGeom prst="rect">
                <a:avLst/>
              </a:prstGeom>
              <a:blipFill>
                <a:blip r:embed="rId7"/>
                <a:stretch>
                  <a:fillRect t="-1198" b="-131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90856376-38FE-33C9-CAF2-19D849022470}"/>
                  </a:ext>
                </a:extLst>
              </p:cNvPr>
              <p:cNvSpPr txBox="1"/>
              <p:nvPr/>
            </p:nvSpPr>
            <p:spPr>
              <a:xfrm>
                <a:off x="359997" y="3168000"/>
                <a:ext cx="7002001" cy="11721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lnSpc>
                    <a:spcPct val="120000"/>
                  </a:lnSpc>
                  <a:spcAft>
                    <a:spcPts val="600"/>
                  </a:spcAft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虚短（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kumimoji="1" lang="en-US" altLang="zh-CN" sz="2400" i="1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，反相输入端“</a:t>
                </a:r>
                <a:r>
                  <a:rPr kumimoji="1" lang="zh-CN" altLang="en-US" sz="24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虚地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”）：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2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24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CN" sz="24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type m:val="lin"/>
                          <m:ctrlP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o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90856376-38FE-33C9-CAF2-19D8490224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997" y="3168000"/>
                <a:ext cx="7002001" cy="1172116"/>
              </a:xfrm>
              <a:prstGeom prst="rect">
                <a:avLst/>
              </a:prstGeom>
              <a:blipFill>
                <a:blip r:embed="rId8"/>
                <a:stretch>
                  <a:fillRect r="-2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组合 16">
            <a:extLst>
              <a:ext uri="{FF2B5EF4-FFF2-40B4-BE49-F238E27FC236}">
                <a16:creationId xmlns:a16="http://schemas.microsoft.com/office/drawing/2014/main" id="{B44CB5D3-1582-653C-3F2E-A5AA84DD9425}"/>
              </a:ext>
            </a:extLst>
          </p:cNvPr>
          <p:cNvGrpSpPr/>
          <p:nvPr/>
        </p:nvGrpSpPr>
        <p:grpSpPr>
          <a:xfrm>
            <a:off x="7092000" y="1476000"/>
            <a:ext cx="4788000" cy="3058887"/>
            <a:chOff x="7092000" y="1476000"/>
            <a:chExt cx="4788000" cy="3058887"/>
          </a:xfrm>
        </p:grpSpPr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A479023E-E5B8-949C-A642-B853793BAB76}"/>
                </a:ext>
              </a:extLst>
            </p:cNvPr>
            <p:cNvCxnSpPr>
              <a:cxnSpLocks/>
            </p:cNvCxnSpPr>
            <p:nvPr/>
          </p:nvCxnSpPr>
          <p:spPr>
            <a:xfrm>
              <a:off x="9000000" y="2844000"/>
              <a:ext cx="864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79D09659-FCF1-D0C0-5705-F36F99955EE4}"/>
                </a:ext>
              </a:extLst>
            </p:cNvPr>
            <p:cNvCxnSpPr>
              <a:cxnSpLocks/>
            </p:cNvCxnSpPr>
            <p:nvPr/>
          </p:nvCxnSpPr>
          <p:spPr>
            <a:xfrm>
              <a:off x="7740000" y="2052000"/>
              <a:ext cx="2124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等腰三角形 11">
              <a:extLst>
                <a:ext uri="{FF2B5EF4-FFF2-40B4-BE49-F238E27FC236}">
                  <a16:creationId xmlns:a16="http://schemas.microsoft.com/office/drawing/2014/main" id="{5488FEC9-6B39-4B66-76B2-076D5AD112D0}"/>
                </a:ext>
              </a:extLst>
            </p:cNvPr>
            <p:cNvSpPr/>
            <p:nvPr/>
          </p:nvSpPr>
          <p:spPr>
            <a:xfrm rot="5400000">
              <a:off x="9792000" y="1800000"/>
              <a:ext cx="1440000" cy="1296000"/>
            </a:xfrm>
            <a:prstGeom prst="triangl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52BD2FD6-F71C-22AC-6627-61A161E18BB1}"/>
                    </a:ext>
                  </a:extLst>
                </p:cNvPr>
                <p:cNvSpPr txBox="1"/>
                <p:nvPr/>
              </p:nvSpPr>
              <p:spPr>
                <a:xfrm>
                  <a:off x="9846000" y="2610000"/>
                  <a:ext cx="396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 smtClean="0"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52BD2FD6-F71C-22AC-6627-61A161E18B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46000" y="2610000"/>
                  <a:ext cx="396000" cy="430887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B06E44C4-E50A-C621-B0C0-1983888E93F4}"/>
                    </a:ext>
                  </a:extLst>
                </p:cNvPr>
                <p:cNvSpPr txBox="1"/>
                <p:nvPr/>
              </p:nvSpPr>
              <p:spPr>
                <a:xfrm>
                  <a:off x="9846000" y="1818000"/>
                  <a:ext cx="396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B06E44C4-E50A-C621-B0C0-1983888E93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46000" y="1818000"/>
                  <a:ext cx="396000" cy="43088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8B8560D5-B6DF-C012-EB48-5E1AD711BA85}"/>
                </a:ext>
              </a:extLst>
            </p:cNvPr>
            <p:cNvCxnSpPr>
              <a:cxnSpLocks/>
              <a:stCxn id="12" idx="0"/>
            </p:cNvCxnSpPr>
            <p:nvPr/>
          </p:nvCxnSpPr>
          <p:spPr>
            <a:xfrm>
              <a:off x="11160000" y="2448000"/>
              <a:ext cx="432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3FBEBF88-BA86-0FD9-9DD7-3142DE00E95E}"/>
                </a:ext>
              </a:extLst>
            </p:cNvPr>
            <p:cNvSpPr/>
            <p:nvPr/>
          </p:nvSpPr>
          <p:spPr>
            <a:xfrm>
              <a:off x="11268000" y="2376000"/>
              <a:ext cx="144000" cy="14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5EDB98B8-1A48-0C29-9ADE-A3D6B97DA360}"/>
                </a:ext>
              </a:extLst>
            </p:cNvPr>
            <p:cNvCxnSpPr>
              <a:cxnSpLocks/>
            </p:cNvCxnSpPr>
            <p:nvPr/>
          </p:nvCxnSpPr>
          <p:spPr>
            <a:xfrm>
              <a:off x="7740000" y="3420000"/>
              <a:ext cx="3600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CE3A7F1C-8B9E-3B5E-331A-79CC69FE9173}"/>
                </a:ext>
              </a:extLst>
            </p:cNvPr>
            <p:cNvCxnSpPr>
              <a:cxnSpLocks/>
            </p:cNvCxnSpPr>
            <p:nvPr/>
          </p:nvCxnSpPr>
          <p:spPr>
            <a:xfrm>
              <a:off x="11340000" y="2448000"/>
              <a:ext cx="0" cy="972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E9D1460D-E553-3532-72D5-30DFDFDEFF5F}"/>
                </a:ext>
              </a:extLst>
            </p:cNvPr>
            <p:cNvSpPr/>
            <p:nvPr/>
          </p:nvSpPr>
          <p:spPr>
            <a:xfrm>
              <a:off x="8928000" y="1980000"/>
              <a:ext cx="144000" cy="14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132CC6FF-2B29-FCDA-2C61-F23F624DA0DD}"/>
                    </a:ext>
                  </a:extLst>
                </p:cNvPr>
                <p:cNvSpPr txBox="1"/>
                <p:nvPr/>
              </p:nvSpPr>
              <p:spPr>
                <a:xfrm>
                  <a:off x="7092000" y="3708000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132CC6FF-2B29-FCDA-2C61-F23F624DA0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92000" y="3708000"/>
                  <a:ext cx="432000" cy="430887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045C937E-FAA8-0CB8-AA92-CB7D22458B62}"/>
                </a:ext>
              </a:extLst>
            </p:cNvPr>
            <p:cNvCxnSpPr>
              <a:cxnSpLocks/>
            </p:cNvCxnSpPr>
            <p:nvPr/>
          </p:nvCxnSpPr>
          <p:spPr>
            <a:xfrm>
              <a:off x="7740000" y="2052000"/>
              <a:ext cx="0" cy="36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椭圆 29">
              <a:extLst>
                <a:ext uri="{FF2B5EF4-FFF2-40B4-BE49-F238E27FC236}">
                  <a16:creationId xmlns:a16="http://schemas.microsoft.com/office/drawing/2014/main" id="{03C3851B-F3D1-ECD5-B905-1AD598D7C020}"/>
                </a:ext>
              </a:extLst>
            </p:cNvPr>
            <p:cNvSpPr/>
            <p:nvPr/>
          </p:nvSpPr>
          <p:spPr>
            <a:xfrm>
              <a:off x="7524000" y="3744000"/>
              <a:ext cx="432000" cy="4320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5F720336-46AC-8141-CBFE-5DA957E42276}"/>
                </a:ext>
              </a:extLst>
            </p:cNvPr>
            <p:cNvCxnSpPr>
              <a:cxnSpLocks/>
              <a:stCxn id="30" idx="0"/>
              <a:endCxn id="30" idx="4"/>
            </p:cNvCxnSpPr>
            <p:nvPr/>
          </p:nvCxnSpPr>
          <p:spPr>
            <a:xfrm>
              <a:off x="7740000" y="3744000"/>
              <a:ext cx="0" cy="432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D1ADE6A0-309C-4F3B-20D6-D8057E99016F}"/>
                    </a:ext>
                  </a:extLst>
                </p:cNvPr>
                <p:cNvSpPr txBox="1"/>
                <p:nvPr/>
              </p:nvSpPr>
              <p:spPr>
                <a:xfrm>
                  <a:off x="7272000" y="3384000"/>
                  <a:ext cx="396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D1ADE6A0-309C-4F3B-20D6-D8057E9901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72000" y="3384000"/>
                  <a:ext cx="396000" cy="430887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3CF90DCA-3626-E494-3EB3-B2823DAC5E52}"/>
                    </a:ext>
                  </a:extLst>
                </p:cNvPr>
                <p:cNvSpPr txBox="1"/>
                <p:nvPr/>
              </p:nvSpPr>
              <p:spPr>
                <a:xfrm>
                  <a:off x="7272000" y="4104000"/>
                  <a:ext cx="396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 smtClean="0"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3CF90DCA-3626-E494-3EB3-B2823DAC5E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72000" y="4104000"/>
                  <a:ext cx="396000" cy="430887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87A0FBEA-2CD9-128F-A130-35C2898C3A39}"/>
                    </a:ext>
                  </a:extLst>
                </p:cNvPr>
                <p:cNvSpPr txBox="1"/>
                <p:nvPr/>
              </p:nvSpPr>
              <p:spPr>
                <a:xfrm>
                  <a:off x="8604000" y="1944000"/>
                  <a:ext cx="450701" cy="46923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87A0FBEA-2CD9-128F-A130-35C2898C3A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04000" y="1944000"/>
                  <a:ext cx="450701" cy="469231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931D5763-B36A-4A92-8DDF-83DB36377419}"/>
                </a:ext>
              </a:extLst>
            </p:cNvPr>
            <p:cNvCxnSpPr>
              <a:cxnSpLocks/>
            </p:cNvCxnSpPr>
            <p:nvPr/>
          </p:nvCxnSpPr>
          <p:spPr>
            <a:xfrm>
              <a:off x="9000000" y="2844000"/>
              <a:ext cx="0" cy="576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4B7F246F-010C-32AC-B5B5-C2EF580E5DF5}"/>
                </a:ext>
              </a:extLst>
            </p:cNvPr>
            <p:cNvSpPr/>
            <p:nvPr/>
          </p:nvSpPr>
          <p:spPr>
            <a:xfrm>
              <a:off x="8928000" y="3348000"/>
              <a:ext cx="144000" cy="14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7F538C38-9965-32CF-247B-D87D0DE7AEBE}"/>
                </a:ext>
              </a:extLst>
            </p:cNvPr>
            <p:cNvCxnSpPr>
              <a:cxnSpLocks/>
            </p:cNvCxnSpPr>
            <p:nvPr/>
          </p:nvCxnSpPr>
          <p:spPr>
            <a:xfrm>
              <a:off x="7596000" y="4500000"/>
              <a:ext cx="288000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D6E21B7A-29F8-2F2C-A387-6AEC21086856}"/>
                    </a:ext>
                  </a:extLst>
                </p:cNvPr>
                <p:cNvSpPr txBox="1"/>
                <p:nvPr/>
              </p:nvSpPr>
              <p:spPr>
                <a:xfrm>
                  <a:off x="8604000" y="2430000"/>
                  <a:ext cx="452303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D6E21B7A-29F8-2F2C-A387-6AEC210868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04000" y="2430000"/>
                  <a:ext cx="452303" cy="430887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A6A2D97A-6E47-7450-7179-4B950F6B31B3}"/>
                    </a:ext>
                  </a:extLst>
                </p:cNvPr>
                <p:cNvSpPr txBox="1"/>
                <p:nvPr/>
              </p:nvSpPr>
              <p:spPr>
                <a:xfrm>
                  <a:off x="11448000" y="1980000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o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A6A2D97A-6E47-7450-7179-4B950F6B31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48000" y="1980000"/>
                  <a:ext cx="432000" cy="430887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DBF31E87-79E3-6847-95E3-0D16BCC2CB8C}"/>
                </a:ext>
              </a:extLst>
            </p:cNvPr>
            <p:cNvCxnSpPr>
              <a:cxnSpLocks/>
            </p:cNvCxnSpPr>
            <p:nvPr/>
          </p:nvCxnSpPr>
          <p:spPr>
            <a:xfrm>
              <a:off x="7596000" y="2412000"/>
              <a:ext cx="288000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矩形 62">
              <a:extLst>
                <a:ext uri="{FF2B5EF4-FFF2-40B4-BE49-F238E27FC236}">
                  <a16:creationId xmlns:a16="http://schemas.microsoft.com/office/drawing/2014/main" id="{4686543C-037F-8B55-2C44-4415E544CFCB}"/>
                </a:ext>
              </a:extLst>
            </p:cNvPr>
            <p:cNvSpPr/>
            <p:nvPr/>
          </p:nvSpPr>
          <p:spPr>
            <a:xfrm>
              <a:off x="8028000" y="3348000"/>
              <a:ext cx="576000" cy="144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文本框 63">
                  <a:extLst>
                    <a:ext uri="{FF2B5EF4-FFF2-40B4-BE49-F238E27FC236}">
                      <a16:creationId xmlns:a16="http://schemas.microsoft.com/office/drawing/2014/main" id="{DCF0AC77-A3D5-8EC8-78F5-4ADA763CBEDD}"/>
                    </a:ext>
                  </a:extLst>
                </p:cNvPr>
                <p:cNvSpPr txBox="1"/>
                <p:nvPr/>
              </p:nvSpPr>
              <p:spPr>
                <a:xfrm>
                  <a:off x="8028000" y="3492000"/>
                  <a:ext cx="576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64" name="文本框 63">
                  <a:extLst>
                    <a:ext uri="{FF2B5EF4-FFF2-40B4-BE49-F238E27FC236}">
                      <a16:creationId xmlns:a16="http://schemas.microsoft.com/office/drawing/2014/main" id="{DCF0AC77-A3D5-8EC8-78F5-4ADA763CBE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28000" y="3492000"/>
                  <a:ext cx="576000" cy="430887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5" name="直接箭头连接符 64">
              <a:extLst>
                <a:ext uri="{FF2B5EF4-FFF2-40B4-BE49-F238E27FC236}">
                  <a16:creationId xmlns:a16="http://schemas.microsoft.com/office/drawing/2014/main" id="{DB02A3FF-D65A-09B3-F0B4-D02E282AA6C3}"/>
                </a:ext>
              </a:extLst>
            </p:cNvPr>
            <p:cNvCxnSpPr/>
            <p:nvPr/>
          </p:nvCxnSpPr>
          <p:spPr>
            <a:xfrm flipH="1">
              <a:off x="8046000" y="3240000"/>
              <a:ext cx="540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 w="med" len="lg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77E4AEC4-3888-731F-9B41-D7DF99E91455}"/>
                    </a:ext>
                  </a:extLst>
                </p:cNvPr>
                <p:cNvSpPr txBox="1"/>
                <p:nvPr/>
              </p:nvSpPr>
              <p:spPr>
                <a:xfrm>
                  <a:off x="8046000" y="2772000"/>
                  <a:ext cx="540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77E4AEC4-3888-731F-9B41-D7DF99E914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46000" y="2772000"/>
                  <a:ext cx="540000" cy="430887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33CD07F4-AC1E-5EB5-C6E9-9A7996167522}"/>
                </a:ext>
              </a:extLst>
            </p:cNvPr>
            <p:cNvCxnSpPr>
              <a:cxnSpLocks/>
            </p:cNvCxnSpPr>
            <p:nvPr/>
          </p:nvCxnSpPr>
          <p:spPr>
            <a:xfrm>
              <a:off x="7740000" y="3420000"/>
              <a:ext cx="0" cy="10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矩形 68">
              <a:extLst>
                <a:ext uri="{FF2B5EF4-FFF2-40B4-BE49-F238E27FC236}">
                  <a16:creationId xmlns:a16="http://schemas.microsoft.com/office/drawing/2014/main" id="{BC6E048C-127E-1F49-1401-28CAE8F15772}"/>
                </a:ext>
              </a:extLst>
            </p:cNvPr>
            <p:cNvSpPr/>
            <p:nvPr/>
          </p:nvSpPr>
          <p:spPr>
            <a:xfrm>
              <a:off x="10404000" y="3348000"/>
              <a:ext cx="576000" cy="144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70" name="直接箭头连接符 69">
              <a:extLst>
                <a:ext uri="{FF2B5EF4-FFF2-40B4-BE49-F238E27FC236}">
                  <a16:creationId xmlns:a16="http://schemas.microsoft.com/office/drawing/2014/main" id="{4D80ED12-8871-D509-CD26-06E4714DEFDD}"/>
                </a:ext>
              </a:extLst>
            </p:cNvPr>
            <p:cNvCxnSpPr/>
            <p:nvPr/>
          </p:nvCxnSpPr>
          <p:spPr>
            <a:xfrm flipH="1">
              <a:off x="9144000" y="1980000"/>
              <a:ext cx="540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 w="med" len="lg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文本框 70">
                  <a:extLst>
                    <a:ext uri="{FF2B5EF4-FFF2-40B4-BE49-F238E27FC236}">
                      <a16:creationId xmlns:a16="http://schemas.microsoft.com/office/drawing/2014/main" id="{77E765CC-8174-CAA9-F28A-A643541AD294}"/>
                    </a:ext>
                  </a:extLst>
                </p:cNvPr>
                <p:cNvSpPr txBox="1"/>
                <p:nvPr/>
              </p:nvSpPr>
              <p:spPr>
                <a:xfrm>
                  <a:off x="9144000" y="1476000"/>
                  <a:ext cx="540000" cy="46923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71" name="文本框 70">
                  <a:extLst>
                    <a:ext uri="{FF2B5EF4-FFF2-40B4-BE49-F238E27FC236}">
                      <a16:creationId xmlns:a16="http://schemas.microsoft.com/office/drawing/2014/main" id="{77E765CC-8174-CAA9-F28A-A643541AD2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44000" y="1476000"/>
                  <a:ext cx="540000" cy="469231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2" name="直接箭头连接符 71">
              <a:extLst>
                <a:ext uri="{FF2B5EF4-FFF2-40B4-BE49-F238E27FC236}">
                  <a16:creationId xmlns:a16="http://schemas.microsoft.com/office/drawing/2014/main" id="{449824E1-D355-F245-6548-B635CC4F7131}"/>
                </a:ext>
              </a:extLst>
            </p:cNvPr>
            <p:cNvCxnSpPr/>
            <p:nvPr/>
          </p:nvCxnSpPr>
          <p:spPr>
            <a:xfrm flipH="1">
              <a:off x="9144000" y="2772000"/>
              <a:ext cx="540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 w="med" len="lg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文本框 72">
                  <a:extLst>
                    <a:ext uri="{FF2B5EF4-FFF2-40B4-BE49-F238E27FC236}">
                      <a16:creationId xmlns:a16="http://schemas.microsoft.com/office/drawing/2014/main" id="{C0AFF99C-BD50-8323-8CF0-F17D87D70316}"/>
                    </a:ext>
                  </a:extLst>
                </p:cNvPr>
                <p:cNvSpPr txBox="1"/>
                <p:nvPr/>
              </p:nvSpPr>
              <p:spPr>
                <a:xfrm>
                  <a:off x="9144000" y="2303999"/>
                  <a:ext cx="540000" cy="4680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73" name="文本框 72">
                  <a:extLst>
                    <a:ext uri="{FF2B5EF4-FFF2-40B4-BE49-F238E27FC236}">
                      <a16:creationId xmlns:a16="http://schemas.microsoft.com/office/drawing/2014/main" id="{C0AFF99C-BD50-8323-8CF0-F17D87D703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44000" y="2303999"/>
                  <a:ext cx="540000" cy="468000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文本框 73">
                  <a:extLst>
                    <a:ext uri="{FF2B5EF4-FFF2-40B4-BE49-F238E27FC236}">
                      <a16:creationId xmlns:a16="http://schemas.microsoft.com/office/drawing/2014/main" id="{DB8712F8-F428-71BA-7E11-34CDA54B4A89}"/>
                    </a:ext>
                  </a:extLst>
                </p:cNvPr>
                <p:cNvSpPr txBox="1"/>
                <p:nvPr/>
              </p:nvSpPr>
              <p:spPr>
                <a:xfrm>
                  <a:off x="10404000" y="3492000"/>
                  <a:ext cx="576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74" name="文本框 73">
                  <a:extLst>
                    <a:ext uri="{FF2B5EF4-FFF2-40B4-BE49-F238E27FC236}">
                      <a16:creationId xmlns:a16="http://schemas.microsoft.com/office/drawing/2014/main" id="{DB8712F8-F428-71BA-7E11-34CDA54B4A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04000" y="3492000"/>
                  <a:ext cx="576000" cy="430887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5" name="直接箭头连接符 74">
              <a:extLst>
                <a:ext uri="{FF2B5EF4-FFF2-40B4-BE49-F238E27FC236}">
                  <a16:creationId xmlns:a16="http://schemas.microsoft.com/office/drawing/2014/main" id="{8256AEC8-1B56-91C1-2AAE-FADA2F35BB6A}"/>
                </a:ext>
              </a:extLst>
            </p:cNvPr>
            <p:cNvCxnSpPr/>
            <p:nvPr/>
          </p:nvCxnSpPr>
          <p:spPr>
            <a:xfrm flipH="1">
              <a:off x="10422000" y="3240000"/>
              <a:ext cx="540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 w="med" len="lg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文本框 75">
                  <a:extLst>
                    <a:ext uri="{FF2B5EF4-FFF2-40B4-BE49-F238E27FC236}">
                      <a16:creationId xmlns:a16="http://schemas.microsoft.com/office/drawing/2014/main" id="{129834F8-5C86-1040-45F4-FAF47F7229C1}"/>
                    </a:ext>
                  </a:extLst>
                </p:cNvPr>
                <p:cNvSpPr txBox="1"/>
                <p:nvPr/>
              </p:nvSpPr>
              <p:spPr>
                <a:xfrm>
                  <a:off x="10422000" y="2772000"/>
                  <a:ext cx="540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76" name="文本框 75">
                  <a:extLst>
                    <a:ext uri="{FF2B5EF4-FFF2-40B4-BE49-F238E27FC236}">
                      <a16:creationId xmlns:a16="http://schemas.microsoft.com/office/drawing/2014/main" id="{129834F8-5C86-1040-45F4-FAF47F7229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22000" y="2772000"/>
                  <a:ext cx="540000" cy="430887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E53DD74D-07DB-AF91-B8FB-6B1763D7ECD9}"/>
                </a:ext>
              </a:extLst>
            </p:cNvPr>
            <p:cNvSpPr/>
            <p:nvPr/>
          </p:nvSpPr>
          <p:spPr>
            <a:xfrm>
              <a:off x="7920000" y="1980000"/>
              <a:ext cx="576000" cy="144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A01F4BA0-A40D-79EF-8F36-C5312A2A308E}"/>
                    </a:ext>
                  </a:extLst>
                </p:cNvPr>
                <p:cNvSpPr txBox="1"/>
                <p:nvPr/>
              </p:nvSpPr>
              <p:spPr>
                <a:xfrm>
                  <a:off x="7919999" y="2124000"/>
                  <a:ext cx="576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A01F4BA0-A40D-79EF-8F36-C5312A2A30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19999" y="2124000"/>
                  <a:ext cx="576000" cy="430887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6D9FBB70-FEF7-FCFB-98A3-C5241EDB64F6}"/>
                  </a:ext>
                </a:extLst>
              </p:cNvPr>
              <p:cNvSpPr txBox="1"/>
              <p:nvPr/>
            </p:nvSpPr>
            <p:spPr>
              <a:xfrm>
                <a:off x="7740000" y="900000"/>
                <a:ext cx="3600000" cy="4979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kumimoji="1" lang="en-US" altLang="zh-CN" sz="24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加到运放的反相输入端</a:t>
                </a:r>
                <a:endParaRPr kumimoji="1" lang="en-US" altLang="zh-CN" sz="240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6D9FBB70-FEF7-FCFB-98A3-C5241EDB64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0000" y="900000"/>
                <a:ext cx="3600000" cy="497957"/>
              </a:xfrm>
              <a:prstGeom prst="rect">
                <a:avLst/>
              </a:prstGeom>
              <a:blipFill>
                <a:blip r:embed="rId24"/>
                <a:stretch>
                  <a:fillRect t="-2469" r="-1695" b="-283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042EC121-F7F0-D6D3-E3ED-45070125CE1F}"/>
                  </a:ext>
                </a:extLst>
              </p:cNvPr>
              <p:cNvSpPr txBox="1"/>
              <p:nvPr/>
            </p:nvSpPr>
            <p:spPr>
              <a:xfrm>
                <a:off x="7740000" y="5399999"/>
                <a:ext cx="3600000" cy="468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4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平衡电阻：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4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zh-CN" altLang="en-US" sz="240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042EC121-F7F0-D6D3-E3ED-45070125C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0000" y="5399999"/>
                <a:ext cx="3600000" cy="468000"/>
              </a:xfrm>
              <a:prstGeom prst="rect">
                <a:avLst/>
              </a:prstGeom>
              <a:blipFill>
                <a:blip r:embed="rId25"/>
                <a:stretch>
                  <a:fillRect l="-2712" t="-10390" b="-2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7327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558C4-6C23-37B0-B494-22668F78E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78CAB1AF-9770-7545-9766-AC474FCD62D7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D8564C2D-F233-61A6-F9EB-02E96D5F95B3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5" name="箭头: 五边形 4">
                <a:extLst>
                  <a:ext uri="{FF2B5EF4-FFF2-40B4-BE49-F238E27FC236}">
                    <a16:creationId xmlns:a16="http://schemas.microsoft.com/office/drawing/2014/main" id="{723CAED8-9CEC-8717-8213-B901C95E6265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" name="箭头: V 形 5">
                <a:extLst>
                  <a:ext uri="{FF2B5EF4-FFF2-40B4-BE49-F238E27FC236}">
                    <a16:creationId xmlns:a16="http://schemas.microsoft.com/office/drawing/2014/main" id="{887F7D4A-82F1-AB91-F4E3-22D1A61FF251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" name="灯片编号占位符 3">
              <a:extLst>
                <a:ext uri="{FF2B5EF4-FFF2-40B4-BE49-F238E27FC236}">
                  <a16:creationId xmlns:a16="http://schemas.microsoft.com/office/drawing/2014/main" id="{0B2713C3-B354-5238-2760-4F7C9B387F90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8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7" name="标题 1">
            <a:extLst>
              <a:ext uri="{FF2B5EF4-FFF2-40B4-BE49-F238E27FC236}">
                <a16:creationId xmlns:a16="http://schemas.microsoft.com/office/drawing/2014/main" id="{FFA5BC12-B295-3F52-625D-DD335A23F576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集成运算放大器的线性应用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加法</a:t>
            </a:r>
            <a:r>
              <a:rPr lang="en-US" altLang="zh-CN" sz="3000" dirty="0">
                <a:solidFill>
                  <a:srgbClr val="FFFF00"/>
                </a:solidFill>
              </a:rPr>
              <a:t>/</a:t>
            </a:r>
            <a:r>
              <a:rPr lang="zh-CN" altLang="en-US" sz="3000" dirty="0">
                <a:solidFill>
                  <a:srgbClr val="FFFF00"/>
                </a:solidFill>
              </a:rPr>
              <a:t>减法运算电路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4EB5B46-4724-F840-2C7E-1038523779A7}"/>
              </a:ext>
            </a:extLst>
          </p:cNvPr>
          <p:cNvSpPr txBox="1"/>
          <p:nvPr/>
        </p:nvSpPr>
        <p:spPr>
          <a:xfrm>
            <a:off x="360000" y="828000"/>
            <a:ext cx="3456000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加法运算电路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02519652-DDAE-5804-E9A6-42CC934772B0}"/>
                  </a:ext>
                </a:extLst>
              </p:cNvPr>
              <p:cNvSpPr txBox="1"/>
              <p:nvPr/>
            </p:nvSpPr>
            <p:spPr>
              <a:xfrm>
                <a:off x="360000" y="2880000"/>
                <a:ext cx="4500001" cy="90075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lvl="2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sz="24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40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CN" sz="240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type m:val="lin"/>
                                  <m:ctrlPr>
                                    <a:rPr lang="en-US" altLang="zh-CN" sz="24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sz="2400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2400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i</m:t>
                                      </m:r>
                                      <m:r>
                                        <a:rPr lang="en-US" altLang="zh-CN" sz="2400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sz="2400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sz="2400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m:rPr>
                                  <m:nor/>
                                </m:rPr>
                                <a:rPr lang="zh-CN" altLang="en-US" sz="2400" dirty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微软雅黑" panose="020B0503020204020204" pitchFamily="34" charset="-122"/>
                                  <a:ea typeface="微软雅黑" panose="020B0503020204020204" pitchFamily="34" charset="-122"/>
                                </a:rPr>
                                <m:t>，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type m:val="lin"/>
                                  <m:ctrlPr>
                                    <a:rPr lang="en-US" altLang="zh-CN" sz="24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sz="2400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2400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i</m:t>
                                      </m:r>
                                      <m:r>
                                        <a:rPr lang="en-US" altLang="zh-CN" sz="2400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sz="2400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sz="2400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  <m:e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=−</m:t>
                              </m:r>
                              <m:f>
                                <m:fPr>
                                  <m:type m:val="lin"/>
                                  <m:ctrlPr>
                                    <a:rPr lang="en-US" altLang="zh-CN" sz="24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sz="2400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2400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o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sz="2400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sz="2400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altLang="zh-CN" sz="2400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   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02519652-DDAE-5804-E9A6-42CC934772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2880000"/>
                <a:ext cx="4500001" cy="90075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09E94812-9D09-6919-5A27-E6634FD9E1A5}"/>
                  </a:ext>
                </a:extLst>
              </p:cNvPr>
              <p:cNvSpPr txBox="1"/>
              <p:nvPr/>
            </p:nvSpPr>
            <p:spPr>
              <a:xfrm>
                <a:off x="360000" y="1440000"/>
                <a:ext cx="3876001" cy="11146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lnSpc>
                    <a:spcPct val="120000"/>
                  </a:lnSpc>
                  <a:spcAft>
                    <a:spcPts val="600"/>
                  </a:spcAft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虚断：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>
                  <a:lnSpc>
                    <a:spcPct val="120000"/>
                  </a:lnSpc>
                  <a:spcAft>
                    <a:spcPts val="600"/>
                  </a:spcAft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虚短：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kumimoji="1" lang="en-US" altLang="zh-CN" sz="2400" i="1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=0</m:t>
                    </m:r>
                  </m:oMath>
                </a14:m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09E94812-9D09-6919-5A27-E6634FD9E1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1440000"/>
                <a:ext cx="3876001" cy="1114601"/>
              </a:xfrm>
              <a:prstGeom prst="rect">
                <a:avLst/>
              </a:prstGeom>
              <a:blipFill>
                <a:blip r:embed="rId4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380C39FE-C441-B9E6-D85D-98E3ADE2BB7C}"/>
                  </a:ext>
                </a:extLst>
              </p:cNvPr>
              <p:cNvSpPr txBox="1"/>
              <p:nvPr/>
            </p:nvSpPr>
            <p:spPr>
              <a:xfrm>
                <a:off x="360000" y="4140000"/>
                <a:ext cx="4680000" cy="9067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lvl="2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o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d>
                        <m:dPr>
                          <m:ctrlPr>
                            <a:rPr lang="en-US" altLang="zh-CN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400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zh-CN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380C39FE-C441-B9E6-D85D-98E3ADE2BB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4140000"/>
                <a:ext cx="4680000" cy="9067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BAFCB1B3-7389-1A8F-316A-FEAAC5587B91}"/>
                  </a:ext>
                </a:extLst>
              </p:cNvPr>
              <p:cNvSpPr txBox="1"/>
              <p:nvPr/>
            </p:nvSpPr>
            <p:spPr>
              <a:xfrm>
                <a:off x="360000" y="5400000"/>
                <a:ext cx="6245337" cy="118494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lvl="1">
                  <a:spcAft>
                    <a:spcPts val="600"/>
                  </a:spcAft>
                </a:pPr>
                <a:r>
                  <a:rPr lang="zh-CN" altLang="en-US" sz="24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当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24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4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时，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sub>
                    </m:sSub>
                    <m:r>
                      <a:rPr lang="en-US" altLang="zh-CN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  <m:r>
                              <a:rPr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  <m:r>
                              <a:rPr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sz="240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>
                  <a:spcAft>
                    <a:spcPts val="600"/>
                  </a:spcAft>
                </a:pPr>
                <a:r>
                  <a:rPr lang="zh-CN" altLang="en-US" sz="24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可在输出端加一级反相器消去负号，实现符合常规的算术加法</a:t>
                </a: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BAFCB1B3-7389-1A8F-316A-FEAAC5587B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5400000"/>
                <a:ext cx="6245337" cy="1184940"/>
              </a:xfrm>
              <a:prstGeom prst="rect">
                <a:avLst/>
              </a:prstGeom>
              <a:blipFill>
                <a:blip r:embed="rId6"/>
                <a:stretch>
                  <a:fillRect t="-8247" b="-149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组合 17">
            <a:extLst>
              <a:ext uri="{FF2B5EF4-FFF2-40B4-BE49-F238E27FC236}">
                <a16:creationId xmlns:a16="http://schemas.microsoft.com/office/drawing/2014/main" id="{A70F67D5-D8D9-9022-BC05-852D7C33CCF2}"/>
              </a:ext>
            </a:extLst>
          </p:cNvPr>
          <p:cNvGrpSpPr/>
          <p:nvPr/>
        </p:nvGrpSpPr>
        <p:grpSpPr>
          <a:xfrm>
            <a:off x="7199999" y="1476000"/>
            <a:ext cx="4680001" cy="3670887"/>
            <a:chOff x="7199999" y="1476000"/>
            <a:chExt cx="4680001" cy="3670887"/>
          </a:xfrm>
        </p:grpSpPr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A0EE7BF8-924D-4A7B-213D-233D5177916A}"/>
                </a:ext>
              </a:extLst>
            </p:cNvPr>
            <p:cNvCxnSpPr>
              <a:cxnSpLocks/>
            </p:cNvCxnSpPr>
            <p:nvPr/>
          </p:nvCxnSpPr>
          <p:spPr>
            <a:xfrm>
              <a:off x="9000000" y="2844000"/>
              <a:ext cx="864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F3C71C2C-D782-E533-F159-F5E4208C5100}"/>
                </a:ext>
              </a:extLst>
            </p:cNvPr>
            <p:cNvCxnSpPr>
              <a:cxnSpLocks/>
            </p:cNvCxnSpPr>
            <p:nvPr/>
          </p:nvCxnSpPr>
          <p:spPr>
            <a:xfrm>
              <a:off x="7740000" y="2052000"/>
              <a:ext cx="2124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等腰三角形 25">
              <a:extLst>
                <a:ext uri="{FF2B5EF4-FFF2-40B4-BE49-F238E27FC236}">
                  <a16:creationId xmlns:a16="http://schemas.microsoft.com/office/drawing/2014/main" id="{39167681-6E0F-0DBD-5A35-ACF0A43DE7F9}"/>
                </a:ext>
              </a:extLst>
            </p:cNvPr>
            <p:cNvSpPr/>
            <p:nvPr/>
          </p:nvSpPr>
          <p:spPr>
            <a:xfrm rot="5400000">
              <a:off x="9792000" y="1800000"/>
              <a:ext cx="1440000" cy="1296000"/>
            </a:xfrm>
            <a:prstGeom prst="triangl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32CA06A9-436E-4CFE-885C-1FE788A7D24E}"/>
                    </a:ext>
                  </a:extLst>
                </p:cNvPr>
                <p:cNvSpPr txBox="1"/>
                <p:nvPr/>
              </p:nvSpPr>
              <p:spPr>
                <a:xfrm>
                  <a:off x="9846000" y="2610000"/>
                  <a:ext cx="396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 smtClean="0"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32CA06A9-436E-4CFE-885C-1FE788A7D2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46000" y="2610000"/>
                  <a:ext cx="396000" cy="43088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B70ED2CD-68BA-0A67-D5B5-03B870D2E86C}"/>
                    </a:ext>
                  </a:extLst>
                </p:cNvPr>
                <p:cNvSpPr txBox="1"/>
                <p:nvPr/>
              </p:nvSpPr>
              <p:spPr>
                <a:xfrm>
                  <a:off x="9846000" y="1818000"/>
                  <a:ext cx="396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B70ED2CD-68BA-0A67-D5B5-03B870D2E8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46000" y="1818000"/>
                  <a:ext cx="396000" cy="43088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86C99081-1C6B-1BCF-225C-01E6D7CA5C0D}"/>
                </a:ext>
              </a:extLst>
            </p:cNvPr>
            <p:cNvCxnSpPr>
              <a:cxnSpLocks/>
              <a:stCxn id="26" idx="0"/>
            </p:cNvCxnSpPr>
            <p:nvPr/>
          </p:nvCxnSpPr>
          <p:spPr>
            <a:xfrm>
              <a:off x="11160000" y="2448000"/>
              <a:ext cx="432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椭圆 30">
              <a:extLst>
                <a:ext uri="{FF2B5EF4-FFF2-40B4-BE49-F238E27FC236}">
                  <a16:creationId xmlns:a16="http://schemas.microsoft.com/office/drawing/2014/main" id="{5AC3E25C-09A9-F748-712D-42EB49130D73}"/>
                </a:ext>
              </a:extLst>
            </p:cNvPr>
            <p:cNvSpPr/>
            <p:nvPr/>
          </p:nvSpPr>
          <p:spPr>
            <a:xfrm>
              <a:off x="11268000" y="2376000"/>
              <a:ext cx="144000" cy="14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006DF643-F12D-CE09-73EC-60DFF66B06BD}"/>
                </a:ext>
              </a:extLst>
            </p:cNvPr>
            <p:cNvCxnSpPr>
              <a:cxnSpLocks/>
            </p:cNvCxnSpPr>
            <p:nvPr/>
          </p:nvCxnSpPr>
          <p:spPr>
            <a:xfrm>
              <a:off x="7740000" y="3420000"/>
              <a:ext cx="3600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DAEBCC7D-0C1B-6031-8886-508D7CCAD43E}"/>
                </a:ext>
              </a:extLst>
            </p:cNvPr>
            <p:cNvCxnSpPr>
              <a:cxnSpLocks/>
            </p:cNvCxnSpPr>
            <p:nvPr/>
          </p:nvCxnSpPr>
          <p:spPr>
            <a:xfrm>
              <a:off x="11340000" y="2448000"/>
              <a:ext cx="0" cy="972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椭圆 34">
              <a:extLst>
                <a:ext uri="{FF2B5EF4-FFF2-40B4-BE49-F238E27FC236}">
                  <a16:creationId xmlns:a16="http://schemas.microsoft.com/office/drawing/2014/main" id="{9DEC419B-2604-3F2C-447A-EFEC75E62654}"/>
                </a:ext>
              </a:extLst>
            </p:cNvPr>
            <p:cNvSpPr/>
            <p:nvPr/>
          </p:nvSpPr>
          <p:spPr>
            <a:xfrm>
              <a:off x="8928000" y="1980000"/>
              <a:ext cx="144000" cy="14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D90E7AD0-7C5F-F09F-A5E5-DB44FD516C83}"/>
                </a:ext>
              </a:extLst>
            </p:cNvPr>
            <p:cNvCxnSpPr>
              <a:cxnSpLocks/>
            </p:cNvCxnSpPr>
            <p:nvPr/>
          </p:nvCxnSpPr>
          <p:spPr>
            <a:xfrm>
              <a:off x="7740000" y="2052000"/>
              <a:ext cx="0" cy="36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5EC51FCC-C644-40E9-CC86-511E34AF6395}"/>
                    </a:ext>
                  </a:extLst>
                </p:cNvPr>
                <p:cNvSpPr txBox="1"/>
                <p:nvPr/>
              </p:nvSpPr>
              <p:spPr>
                <a:xfrm>
                  <a:off x="8604000" y="1944000"/>
                  <a:ext cx="450701" cy="46923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5EC51FCC-C644-40E9-CC86-511E34AF63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04000" y="1944000"/>
                  <a:ext cx="450701" cy="469231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1876D5B7-417E-D92C-CC6F-CFF9320A0108}"/>
                </a:ext>
              </a:extLst>
            </p:cNvPr>
            <p:cNvCxnSpPr>
              <a:cxnSpLocks/>
            </p:cNvCxnSpPr>
            <p:nvPr/>
          </p:nvCxnSpPr>
          <p:spPr>
            <a:xfrm>
              <a:off x="9000000" y="2844000"/>
              <a:ext cx="0" cy="180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椭圆 48">
              <a:extLst>
                <a:ext uri="{FF2B5EF4-FFF2-40B4-BE49-F238E27FC236}">
                  <a16:creationId xmlns:a16="http://schemas.microsoft.com/office/drawing/2014/main" id="{8B4B9497-822C-F98D-42A6-921F21ED9DFF}"/>
                </a:ext>
              </a:extLst>
            </p:cNvPr>
            <p:cNvSpPr/>
            <p:nvPr/>
          </p:nvSpPr>
          <p:spPr>
            <a:xfrm>
              <a:off x="8928000" y="3348000"/>
              <a:ext cx="144000" cy="14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388E2EC4-F467-B8FF-34E3-47624A0CC6F8}"/>
                    </a:ext>
                  </a:extLst>
                </p:cNvPr>
                <p:cNvSpPr txBox="1"/>
                <p:nvPr/>
              </p:nvSpPr>
              <p:spPr>
                <a:xfrm>
                  <a:off x="8604000" y="2430000"/>
                  <a:ext cx="452303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388E2EC4-F467-B8FF-34E3-47624A0CC6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04000" y="2430000"/>
                  <a:ext cx="452303" cy="43088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文本框 54">
                  <a:extLst>
                    <a:ext uri="{FF2B5EF4-FFF2-40B4-BE49-F238E27FC236}">
                      <a16:creationId xmlns:a16="http://schemas.microsoft.com/office/drawing/2014/main" id="{D638670C-BA82-2870-2091-33581C92DD03}"/>
                    </a:ext>
                  </a:extLst>
                </p:cNvPr>
                <p:cNvSpPr txBox="1"/>
                <p:nvPr/>
              </p:nvSpPr>
              <p:spPr>
                <a:xfrm>
                  <a:off x="11448000" y="1980000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o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5" name="文本框 54">
                  <a:extLst>
                    <a:ext uri="{FF2B5EF4-FFF2-40B4-BE49-F238E27FC236}">
                      <a16:creationId xmlns:a16="http://schemas.microsoft.com/office/drawing/2014/main" id="{D638670C-BA82-2870-2091-33581C92DD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48000" y="1980000"/>
                  <a:ext cx="432000" cy="430887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D0CEEA8F-79CD-C200-7D6B-2F20801A44BA}"/>
                </a:ext>
              </a:extLst>
            </p:cNvPr>
            <p:cNvCxnSpPr>
              <a:cxnSpLocks/>
            </p:cNvCxnSpPr>
            <p:nvPr/>
          </p:nvCxnSpPr>
          <p:spPr>
            <a:xfrm>
              <a:off x="7596000" y="2412000"/>
              <a:ext cx="288000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C9486CCE-C724-0011-12C1-D5A633A12DB2}"/>
                </a:ext>
              </a:extLst>
            </p:cNvPr>
            <p:cNvCxnSpPr>
              <a:cxnSpLocks/>
            </p:cNvCxnSpPr>
            <p:nvPr/>
          </p:nvCxnSpPr>
          <p:spPr>
            <a:xfrm>
              <a:off x="7740000" y="4644000"/>
              <a:ext cx="1260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C4CAE9DA-3AC4-2B72-FF5C-163B32DC48FD}"/>
                </a:ext>
              </a:extLst>
            </p:cNvPr>
            <p:cNvSpPr/>
            <p:nvPr/>
          </p:nvSpPr>
          <p:spPr>
            <a:xfrm>
              <a:off x="8028000" y="4572000"/>
              <a:ext cx="576000" cy="144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AB8EC5E2-9EBC-1016-378D-E3BB269EB144}"/>
                    </a:ext>
                  </a:extLst>
                </p:cNvPr>
                <p:cNvSpPr txBox="1"/>
                <p:nvPr/>
              </p:nvSpPr>
              <p:spPr>
                <a:xfrm>
                  <a:off x="8027999" y="4716000"/>
                  <a:ext cx="576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AB8EC5E2-9EBC-1016-378D-E3BB269EB1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27999" y="4716000"/>
                  <a:ext cx="576000" cy="430887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7" name="直接箭头连接符 66">
              <a:extLst>
                <a:ext uri="{FF2B5EF4-FFF2-40B4-BE49-F238E27FC236}">
                  <a16:creationId xmlns:a16="http://schemas.microsoft.com/office/drawing/2014/main" id="{BA7B057E-06FC-1DAD-5732-2CF3A80F6DC5}"/>
                </a:ext>
              </a:extLst>
            </p:cNvPr>
            <p:cNvCxnSpPr/>
            <p:nvPr/>
          </p:nvCxnSpPr>
          <p:spPr>
            <a:xfrm flipH="1">
              <a:off x="8046000" y="4464000"/>
              <a:ext cx="540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 w="med" len="lg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F8AD8B68-AE67-3A6C-8076-26A2741DDD2B}"/>
                    </a:ext>
                  </a:extLst>
                </p:cNvPr>
                <p:cNvSpPr txBox="1"/>
                <p:nvPr/>
              </p:nvSpPr>
              <p:spPr>
                <a:xfrm>
                  <a:off x="8064000" y="3995999"/>
                  <a:ext cx="540000" cy="4680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F8AD8B68-AE67-3A6C-8076-26A2741DDD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64000" y="3995999"/>
                  <a:ext cx="540000" cy="46800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文本框 69">
                  <a:extLst>
                    <a:ext uri="{FF2B5EF4-FFF2-40B4-BE49-F238E27FC236}">
                      <a16:creationId xmlns:a16="http://schemas.microsoft.com/office/drawing/2014/main" id="{D5D49093-08C0-CD65-2927-DC24B9EF5037}"/>
                    </a:ext>
                  </a:extLst>
                </p:cNvPr>
                <p:cNvSpPr txBox="1"/>
                <p:nvPr/>
              </p:nvSpPr>
              <p:spPr>
                <a:xfrm>
                  <a:off x="7199999" y="3168000"/>
                  <a:ext cx="576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70" name="文本框 69">
                  <a:extLst>
                    <a:ext uri="{FF2B5EF4-FFF2-40B4-BE49-F238E27FC236}">
                      <a16:creationId xmlns:a16="http://schemas.microsoft.com/office/drawing/2014/main" id="{D5D49093-08C0-CD65-2927-DC24B9EF50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99999" y="3168000"/>
                  <a:ext cx="576000" cy="430887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文本框 70">
                  <a:extLst>
                    <a:ext uri="{FF2B5EF4-FFF2-40B4-BE49-F238E27FC236}">
                      <a16:creationId xmlns:a16="http://schemas.microsoft.com/office/drawing/2014/main" id="{5307C75C-8850-F59F-1376-3A212730434D}"/>
                    </a:ext>
                  </a:extLst>
                </p:cNvPr>
                <p:cNvSpPr txBox="1"/>
                <p:nvPr/>
              </p:nvSpPr>
              <p:spPr>
                <a:xfrm>
                  <a:off x="7199999" y="4392000"/>
                  <a:ext cx="576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71" name="文本框 70">
                  <a:extLst>
                    <a:ext uri="{FF2B5EF4-FFF2-40B4-BE49-F238E27FC236}">
                      <a16:creationId xmlns:a16="http://schemas.microsoft.com/office/drawing/2014/main" id="{5307C75C-8850-F59F-1376-3A21273043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99999" y="4392000"/>
                  <a:ext cx="576000" cy="430887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4F0BA258-813B-E7F8-56C3-1D31697D5B63}"/>
                </a:ext>
              </a:extLst>
            </p:cNvPr>
            <p:cNvSpPr/>
            <p:nvPr/>
          </p:nvSpPr>
          <p:spPr>
            <a:xfrm>
              <a:off x="8028000" y="3348000"/>
              <a:ext cx="576000" cy="144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文本框 73">
                  <a:extLst>
                    <a:ext uri="{FF2B5EF4-FFF2-40B4-BE49-F238E27FC236}">
                      <a16:creationId xmlns:a16="http://schemas.microsoft.com/office/drawing/2014/main" id="{039A2C06-1855-FD55-86B2-B7212CF56378}"/>
                    </a:ext>
                  </a:extLst>
                </p:cNvPr>
                <p:cNvSpPr txBox="1"/>
                <p:nvPr/>
              </p:nvSpPr>
              <p:spPr>
                <a:xfrm>
                  <a:off x="8027998" y="3492000"/>
                  <a:ext cx="576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74" name="文本框 73">
                  <a:extLst>
                    <a:ext uri="{FF2B5EF4-FFF2-40B4-BE49-F238E27FC236}">
                      <a16:creationId xmlns:a16="http://schemas.microsoft.com/office/drawing/2014/main" id="{039A2C06-1855-FD55-86B2-B7212CF563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27998" y="3492000"/>
                  <a:ext cx="576000" cy="430887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5" name="直接箭头连接符 74">
              <a:extLst>
                <a:ext uri="{FF2B5EF4-FFF2-40B4-BE49-F238E27FC236}">
                  <a16:creationId xmlns:a16="http://schemas.microsoft.com/office/drawing/2014/main" id="{E93FD32F-1FBA-EB10-FAE4-F8EFD899036E}"/>
                </a:ext>
              </a:extLst>
            </p:cNvPr>
            <p:cNvCxnSpPr/>
            <p:nvPr/>
          </p:nvCxnSpPr>
          <p:spPr>
            <a:xfrm flipH="1">
              <a:off x="8046000" y="3240000"/>
              <a:ext cx="540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 w="med" len="lg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文本框 75">
                  <a:extLst>
                    <a:ext uri="{FF2B5EF4-FFF2-40B4-BE49-F238E27FC236}">
                      <a16:creationId xmlns:a16="http://schemas.microsoft.com/office/drawing/2014/main" id="{F0740343-846C-2DFE-1941-0ED2DF62E6D3}"/>
                    </a:ext>
                  </a:extLst>
                </p:cNvPr>
                <p:cNvSpPr txBox="1"/>
                <p:nvPr/>
              </p:nvSpPr>
              <p:spPr>
                <a:xfrm>
                  <a:off x="8046000" y="2771999"/>
                  <a:ext cx="540000" cy="4680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76" name="文本框 75">
                  <a:extLst>
                    <a:ext uri="{FF2B5EF4-FFF2-40B4-BE49-F238E27FC236}">
                      <a16:creationId xmlns:a16="http://schemas.microsoft.com/office/drawing/2014/main" id="{F0740343-846C-2DFE-1941-0ED2DF62E6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46000" y="2771999"/>
                  <a:ext cx="540000" cy="468000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7" name="矩形 76">
              <a:extLst>
                <a:ext uri="{FF2B5EF4-FFF2-40B4-BE49-F238E27FC236}">
                  <a16:creationId xmlns:a16="http://schemas.microsoft.com/office/drawing/2014/main" id="{0F519659-1AF4-8503-BCD9-8FE1E6219AFD}"/>
                </a:ext>
              </a:extLst>
            </p:cNvPr>
            <p:cNvSpPr/>
            <p:nvPr/>
          </p:nvSpPr>
          <p:spPr>
            <a:xfrm>
              <a:off x="10404000" y="3348000"/>
              <a:ext cx="576000" cy="144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78" name="直接箭头连接符 77">
              <a:extLst>
                <a:ext uri="{FF2B5EF4-FFF2-40B4-BE49-F238E27FC236}">
                  <a16:creationId xmlns:a16="http://schemas.microsoft.com/office/drawing/2014/main" id="{A1A0E303-39C4-2B5E-8B2B-3E126098465C}"/>
                </a:ext>
              </a:extLst>
            </p:cNvPr>
            <p:cNvCxnSpPr/>
            <p:nvPr/>
          </p:nvCxnSpPr>
          <p:spPr>
            <a:xfrm flipH="1">
              <a:off x="9144000" y="1980000"/>
              <a:ext cx="540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 w="med" len="lg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EEB8251A-A34D-C59D-3C38-19E3D7A317FF}"/>
                    </a:ext>
                  </a:extLst>
                </p:cNvPr>
                <p:cNvSpPr txBox="1"/>
                <p:nvPr/>
              </p:nvSpPr>
              <p:spPr>
                <a:xfrm>
                  <a:off x="9144000" y="1476000"/>
                  <a:ext cx="540000" cy="46923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EEB8251A-A34D-C59D-3C38-19E3D7A317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44000" y="1476000"/>
                  <a:ext cx="540000" cy="469231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0" name="直接箭头连接符 79">
              <a:extLst>
                <a:ext uri="{FF2B5EF4-FFF2-40B4-BE49-F238E27FC236}">
                  <a16:creationId xmlns:a16="http://schemas.microsoft.com/office/drawing/2014/main" id="{4729575B-82A0-FB68-37F4-2483DED6876E}"/>
                </a:ext>
              </a:extLst>
            </p:cNvPr>
            <p:cNvCxnSpPr/>
            <p:nvPr/>
          </p:nvCxnSpPr>
          <p:spPr>
            <a:xfrm flipH="1">
              <a:off x="9144000" y="2772000"/>
              <a:ext cx="540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 w="med" len="lg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文本框 80">
                  <a:extLst>
                    <a:ext uri="{FF2B5EF4-FFF2-40B4-BE49-F238E27FC236}">
                      <a16:creationId xmlns:a16="http://schemas.microsoft.com/office/drawing/2014/main" id="{AC4AEC88-46CE-E855-3869-479269DAAF3A}"/>
                    </a:ext>
                  </a:extLst>
                </p:cNvPr>
                <p:cNvSpPr txBox="1"/>
                <p:nvPr/>
              </p:nvSpPr>
              <p:spPr>
                <a:xfrm>
                  <a:off x="9144000" y="2303999"/>
                  <a:ext cx="540000" cy="4680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81" name="文本框 80">
                  <a:extLst>
                    <a:ext uri="{FF2B5EF4-FFF2-40B4-BE49-F238E27FC236}">
                      <a16:creationId xmlns:a16="http://schemas.microsoft.com/office/drawing/2014/main" id="{AC4AEC88-46CE-E855-3869-479269DAAF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44000" y="2303999"/>
                  <a:ext cx="540000" cy="468000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文本框 81">
                  <a:extLst>
                    <a:ext uri="{FF2B5EF4-FFF2-40B4-BE49-F238E27FC236}">
                      <a16:creationId xmlns:a16="http://schemas.microsoft.com/office/drawing/2014/main" id="{D772BE1B-9B2F-79DE-D766-6E78CA006BE1}"/>
                    </a:ext>
                  </a:extLst>
                </p:cNvPr>
                <p:cNvSpPr txBox="1"/>
                <p:nvPr/>
              </p:nvSpPr>
              <p:spPr>
                <a:xfrm>
                  <a:off x="10403999" y="3492000"/>
                  <a:ext cx="576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2" name="文本框 81">
                  <a:extLst>
                    <a:ext uri="{FF2B5EF4-FFF2-40B4-BE49-F238E27FC236}">
                      <a16:creationId xmlns:a16="http://schemas.microsoft.com/office/drawing/2014/main" id="{D772BE1B-9B2F-79DE-D766-6E78CA006B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03999" y="3492000"/>
                  <a:ext cx="576000" cy="430887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3" name="直接箭头连接符 82">
              <a:extLst>
                <a:ext uri="{FF2B5EF4-FFF2-40B4-BE49-F238E27FC236}">
                  <a16:creationId xmlns:a16="http://schemas.microsoft.com/office/drawing/2014/main" id="{BBC413D7-B952-348B-3420-53F4C0E89A67}"/>
                </a:ext>
              </a:extLst>
            </p:cNvPr>
            <p:cNvCxnSpPr/>
            <p:nvPr/>
          </p:nvCxnSpPr>
          <p:spPr>
            <a:xfrm flipH="1">
              <a:off x="10422000" y="3240000"/>
              <a:ext cx="540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 w="med" len="lg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文本框 83">
                  <a:extLst>
                    <a:ext uri="{FF2B5EF4-FFF2-40B4-BE49-F238E27FC236}">
                      <a16:creationId xmlns:a16="http://schemas.microsoft.com/office/drawing/2014/main" id="{25EA0BEA-9E6C-92F3-93E3-49460346FD43}"/>
                    </a:ext>
                  </a:extLst>
                </p:cNvPr>
                <p:cNvSpPr txBox="1"/>
                <p:nvPr/>
              </p:nvSpPr>
              <p:spPr>
                <a:xfrm>
                  <a:off x="10422000" y="2772000"/>
                  <a:ext cx="540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84" name="文本框 83">
                  <a:extLst>
                    <a:ext uri="{FF2B5EF4-FFF2-40B4-BE49-F238E27FC236}">
                      <a16:creationId xmlns:a16="http://schemas.microsoft.com/office/drawing/2014/main" id="{25EA0BEA-9E6C-92F3-93E3-49460346FD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22000" y="2772000"/>
                  <a:ext cx="540000" cy="430887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DAED950D-3F60-DC5A-2468-171ED1FDBE3C}"/>
                </a:ext>
              </a:extLst>
            </p:cNvPr>
            <p:cNvSpPr/>
            <p:nvPr/>
          </p:nvSpPr>
          <p:spPr>
            <a:xfrm>
              <a:off x="7920000" y="1980000"/>
              <a:ext cx="576000" cy="144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A8BA39E4-2174-6AD9-86CB-DA04CA8924AE}"/>
                    </a:ext>
                  </a:extLst>
                </p:cNvPr>
                <p:cNvSpPr txBox="1"/>
                <p:nvPr/>
              </p:nvSpPr>
              <p:spPr>
                <a:xfrm>
                  <a:off x="7919998" y="2124000"/>
                  <a:ext cx="576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A8BA39E4-2174-6AD9-86CB-DA04CA8924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19998" y="2124000"/>
                  <a:ext cx="576000" cy="430887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81A39047-F175-F2FB-445A-1E963D59617A}"/>
                  </a:ext>
                </a:extLst>
              </p:cNvPr>
              <p:cNvSpPr txBox="1"/>
              <p:nvPr/>
            </p:nvSpPr>
            <p:spPr>
              <a:xfrm>
                <a:off x="7740000" y="5399999"/>
                <a:ext cx="426751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4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平衡电阻：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altLang="zh-CN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//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//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zh-CN" altLang="en-US" sz="240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81A39047-F175-F2FB-445A-1E963D5961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0000" y="5399999"/>
                <a:ext cx="4267516" cy="461665"/>
              </a:xfrm>
              <a:prstGeom prst="rect">
                <a:avLst/>
              </a:prstGeom>
              <a:blipFill>
                <a:blip r:embed="rId23"/>
                <a:stretch>
                  <a:fillRect l="-2286" t="-10526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55180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53B42-FE2F-FB48-BA84-4E4AA794D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78B3123B-C67E-9E5A-EEF0-796E5C920F0D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672277CD-914B-7CA3-37B7-9D3D878670DA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5" name="箭头: 五边形 4">
                <a:extLst>
                  <a:ext uri="{FF2B5EF4-FFF2-40B4-BE49-F238E27FC236}">
                    <a16:creationId xmlns:a16="http://schemas.microsoft.com/office/drawing/2014/main" id="{843353C4-4190-48B6-86CC-C179DB56B579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" name="箭头: V 形 5">
                <a:extLst>
                  <a:ext uri="{FF2B5EF4-FFF2-40B4-BE49-F238E27FC236}">
                    <a16:creationId xmlns:a16="http://schemas.microsoft.com/office/drawing/2014/main" id="{BC2E74FC-A174-5CCF-A5FC-D489330518B7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" name="灯片编号占位符 3">
              <a:extLst>
                <a:ext uri="{FF2B5EF4-FFF2-40B4-BE49-F238E27FC236}">
                  <a16:creationId xmlns:a16="http://schemas.microsoft.com/office/drawing/2014/main" id="{E82A2AEB-D20D-DA18-4AAC-82DE1AD1F203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9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7" name="标题 1">
            <a:extLst>
              <a:ext uri="{FF2B5EF4-FFF2-40B4-BE49-F238E27FC236}">
                <a16:creationId xmlns:a16="http://schemas.microsoft.com/office/drawing/2014/main" id="{50B0CC75-693A-7FDF-5148-3B06BC749840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集成运算放大器的线性应用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加法</a:t>
            </a:r>
            <a:r>
              <a:rPr lang="en-US" altLang="zh-CN" sz="3000" dirty="0">
                <a:solidFill>
                  <a:srgbClr val="FFFF00"/>
                </a:solidFill>
              </a:rPr>
              <a:t>/</a:t>
            </a:r>
            <a:r>
              <a:rPr lang="zh-CN" altLang="en-US" sz="3000" dirty="0">
                <a:solidFill>
                  <a:srgbClr val="FFFF00"/>
                </a:solidFill>
              </a:rPr>
              <a:t>减法运算电路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159E349-FDED-7B3F-4A25-B5BBDD8ECA21}"/>
              </a:ext>
            </a:extLst>
          </p:cNvPr>
          <p:cNvSpPr txBox="1"/>
          <p:nvPr/>
        </p:nvSpPr>
        <p:spPr>
          <a:xfrm>
            <a:off x="360000" y="828000"/>
            <a:ext cx="3456000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减法运算电路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0D24AEAC-6D23-2A13-BC1E-E4515FAB36DD}"/>
                  </a:ext>
                </a:extLst>
              </p:cNvPr>
              <p:cNvSpPr txBox="1"/>
              <p:nvPr/>
            </p:nvSpPr>
            <p:spPr>
              <a:xfrm>
                <a:off x="360000" y="2700000"/>
                <a:ext cx="5759999" cy="14444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lvl="2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sz="24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eqArr>
                                <m:eqArrPr>
                                  <m:ctrlPr>
                                    <a:rPr lang="en-US" altLang="zh-CN" sz="24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sSub>
                                    <m:sSubPr>
                                      <m:ctrlPr>
                                        <a:rPr lang="en-US" altLang="zh-CN" sz="2400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  <m:sub>
                                      <m:r>
                                        <a:rPr lang="en-US" altLang="zh-CN" sz="2400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sz="24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sSub>
                                    <m:sSubPr>
                                      <m:ctrlPr>
                                        <a:rPr lang="en-US" altLang="zh-CN" sz="2400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  <m:sub>
                                      <m:r>
                                        <a:rPr lang="en-US" altLang="zh-CN" sz="2400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sub>
                                  </m:sSub>
                                  <m:r>
                                    <m:rPr>
                                      <m:nor/>
                                    </m:rPr>
                                    <a:rPr lang="zh-CN" altLang="en-US" sz="2400" dirty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微软雅黑" panose="020B0503020204020204" pitchFamily="34" charset="-122"/>
                                      <a:ea typeface="微软雅黑" panose="020B0503020204020204" pitchFamily="34" charset="-122"/>
                                    </a:rPr>
                                    <m:t>，</m:t>
                                  </m:r>
                                  <m:sSub>
                                    <m:sSubPr>
                                      <m:ctrlPr>
                                        <a:rPr lang="en-US" altLang="zh-CN" sz="2400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  <m:sub>
                                      <m:r>
                                        <a:rPr lang="en-US" altLang="zh-CN" sz="2400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altLang="zh-CN" sz="24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sSub>
                                    <m:sSubPr>
                                      <m:ctrlPr>
                                        <a:rPr lang="en-US" altLang="zh-CN" sz="2400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  <m:sub>
                                      <m:r>
                                        <a:rPr lang="en-US" altLang="zh-CN" sz="2400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r>
                                    <a:rPr lang="en-US" altLang="zh-CN" sz="2400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                        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en-US" altLang="zh-CN" sz="2400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2400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p</m:t>
                                      </m:r>
                                    </m:sub>
                                  </m:sSub>
                                  <m:r>
                                    <a:rPr lang="en-US" altLang="zh-CN" sz="24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sSub>
                                    <m:sSubPr>
                                      <m:ctrlPr>
                                        <a:rPr lang="en-US" altLang="zh-CN" sz="2400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2400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i</m:t>
                                      </m:r>
                                      <m:r>
                                        <a:rPr lang="en-US" altLang="zh-CN" sz="2400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altLang="zh-CN" sz="24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∙</m:t>
                                  </m:r>
                                  <m:f>
                                    <m:fPr>
                                      <m:type m:val="lin"/>
                                      <m:ctrlPr>
                                        <a:rPr lang="en-US" altLang="zh-CN" sz="2400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altLang="zh-CN" sz="2400" i="1">
                                              <a:solidFill>
                                                <a:schemeClr val="accent5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i="1">
                                              <a:solidFill>
                                                <a:schemeClr val="accent5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𝑅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i="1">
                                              <a:solidFill>
                                                <a:schemeClr val="accent5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d>
                                        <m:dPr>
                                          <m:ctrlPr>
                                            <a:rPr lang="en-US" altLang="zh-CN" sz="2400" i="1">
                                              <a:solidFill>
                                                <a:schemeClr val="accent5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2400" i="1">
                                                  <a:solidFill>
                                                    <a:schemeClr val="accent5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400" i="1">
                                                  <a:solidFill>
                                                    <a:schemeClr val="accent5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𝑅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400" i="1">
                                                  <a:solidFill>
                                                    <a:schemeClr val="accent5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zh-CN" sz="2400" i="1">
                                              <a:solidFill>
                                                <a:schemeClr val="accent5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altLang="zh-CN" sz="2400" i="1">
                                                  <a:solidFill>
                                                    <a:schemeClr val="accent5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400" i="1">
                                                  <a:solidFill>
                                                    <a:schemeClr val="accent5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𝑅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400" i="1">
                                                  <a:solidFill>
                                                    <a:schemeClr val="accent5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3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den>
                                  </m:f>
                                  <m:r>
                                    <a:rPr lang="en-US" altLang="zh-CN" sz="24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</m:t>
                                  </m:r>
                                  <m:sSub>
                                    <m:sSubPr>
                                      <m:ctrlPr>
                                        <a:rPr lang="en-US" altLang="zh-CN" sz="2400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2400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n</m:t>
                                      </m:r>
                                    </m:sub>
                                  </m:sSub>
                                  <m:r>
                                    <a:rPr lang="en-US" altLang="zh-CN" sz="2400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eqArr>
                            </m:e>
                            <m:e>
                              <m:f>
                                <m:fPr>
                                  <m:type m:val="lin"/>
                                  <m:ctrlPr>
                                    <a:rPr lang="en-US" altLang="zh-CN" sz="24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ctrlPr>
                                        <a:rPr lang="en-US" altLang="zh-CN" sz="2400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400" i="1">
                                              <a:solidFill>
                                                <a:schemeClr val="accent5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i="1">
                                              <a:solidFill>
                                                <a:schemeClr val="accent5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CN" sz="2400">
                                              <a:solidFill>
                                                <a:schemeClr val="accent5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i</m:t>
                                          </m:r>
                                          <m:r>
                                            <a:rPr lang="en-US" altLang="zh-CN" sz="2400">
                                              <a:solidFill>
                                                <a:schemeClr val="accent5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altLang="zh-CN" sz="2400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2400" i="1">
                                              <a:solidFill>
                                                <a:schemeClr val="accent5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i="1">
                                              <a:solidFill>
                                                <a:schemeClr val="accent5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CN" sz="2400">
                                              <a:solidFill>
                                                <a:schemeClr val="accent5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n</m:t>
                                          </m:r>
                                        </m:sub>
                                      </m:sSub>
                                    </m:e>
                                  </m:d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sz="2400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sz="2400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type m:val="lin"/>
                                  <m:ctrlPr>
                                    <a:rPr lang="en-US" altLang="zh-CN" sz="24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ctrlPr>
                                        <a:rPr lang="en-US" altLang="zh-CN" sz="2400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400" i="1">
                                              <a:solidFill>
                                                <a:schemeClr val="accent5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i="1">
                                              <a:solidFill>
                                                <a:schemeClr val="accent5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CN" sz="2400">
                                              <a:solidFill>
                                                <a:schemeClr val="accent5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n</m:t>
                                          </m:r>
                                        </m:sub>
                                      </m:sSub>
                                      <m:r>
                                        <a:rPr lang="en-US" altLang="zh-CN" sz="2400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2400" i="1">
                                              <a:solidFill>
                                                <a:schemeClr val="accent5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i="1">
                                              <a:solidFill>
                                                <a:schemeClr val="accent5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CN" sz="2400">
                                              <a:solidFill>
                                                <a:schemeClr val="accent5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o</m:t>
                                          </m:r>
                                        </m:sub>
                                      </m:sSub>
                                    </m:e>
                                  </m:d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sz="2400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sz="2400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0D24AEAC-6D23-2A13-BC1E-E4515FAB36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2700000"/>
                <a:ext cx="5759999" cy="14444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CD2344A8-8E56-ED0E-C351-7BD61588899C}"/>
                  </a:ext>
                </a:extLst>
              </p:cNvPr>
              <p:cNvSpPr txBox="1"/>
              <p:nvPr/>
            </p:nvSpPr>
            <p:spPr>
              <a:xfrm>
                <a:off x="360000" y="1440000"/>
                <a:ext cx="3876001" cy="11146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lnSpc>
                    <a:spcPct val="120000"/>
                  </a:lnSpc>
                  <a:spcAft>
                    <a:spcPts val="600"/>
                  </a:spcAft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虚断：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>
                  <a:lnSpc>
                    <a:spcPct val="120000"/>
                  </a:lnSpc>
                  <a:spcAft>
                    <a:spcPts val="600"/>
                  </a:spcAft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虚短：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kumimoji="1" lang="en-US" altLang="zh-CN" sz="2400" i="1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CD2344A8-8E56-ED0E-C351-7BD6158889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1440000"/>
                <a:ext cx="3876001" cy="1114601"/>
              </a:xfrm>
              <a:prstGeom prst="rect">
                <a:avLst/>
              </a:prstGeom>
              <a:blipFill>
                <a:blip r:embed="rId4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13DE1604-E2E3-6294-BC40-4BB980233B08}"/>
                  </a:ext>
                </a:extLst>
              </p:cNvPr>
              <p:cNvSpPr txBox="1"/>
              <p:nvPr/>
            </p:nvSpPr>
            <p:spPr>
              <a:xfrm>
                <a:off x="360000" y="4248000"/>
                <a:ext cx="7143207" cy="9067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lvl="2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o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40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altLang="zh-CN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type m:val="lin"/>
                              <m:ctrl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num>
                        <m:den>
                          <m:d>
                            <m:dPr>
                              <m:ctrlPr>
                                <a:rPr lang="en-US" altLang="zh-CN" sz="2400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f>
                                <m:fPr>
                                  <m:type m:val="lin"/>
                                  <m:ctrlPr>
                                    <a:rPr lang="en-US" altLang="zh-CN" sz="2400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sz="2400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sz="2400" b="0" i="1" smtClean="0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CN" sz="2400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zh-CN" sz="2400" b="0" i="1" smtClean="0">
                                          <a:solidFill>
                                            <a:schemeClr val="accent5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den>
                      </m:f>
                      <m:r>
                        <a:rPr lang="en-US" altLang="zh-CN" sz="24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en-US" altLang="zh-CN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en-US" altLang="zh-CN" sz="2400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solidFill>
                                        <a:schemeClr val="accent5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n-US" altLang="zh-CN" sz="24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en-US" altLang="zh-CN" sz="24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13DE1604-E2E3-6294-BC40-4BB980233B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4248000"/>
                <a:ext cx="7143207" cy="9067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2C22E0A5-9950-A95F-55D3-8990FDD442F9}"/>
                  </a:ext>
                </a:extLst>
              </p:cNvPr>
              <p:cNvSpPr txBox="1"/>
              <p:nvPr/>
            </p:nvSpPr>
            <p:spPr>
              <a:xfrm>
                <a:off x="360000" y="5400000"/>
                <a:ext cx="7668000" cy="81560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lvl="1">
                  <a:spcAft>
                    <a:spcPts val="600"/>
                  </a:spcAft>
                </a:pPr>
                <a:r>
                  <a:rPr lang="zh-CN" altLang="en-US" sz="24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当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altLang="zh-CN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24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4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时，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sub>
                    </m:sSub>
                    <m:r>
                      <a:rPr lang="en-US" altLang="zh-CN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  <m:r>
                              <a:rPr lang="en-US" altLang="zh-CN" sz="2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  <m:r>
                              <a:rPr lang="en-US" altLang="zh-CN" sz="2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sz="240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>
                      <m:fPr>
                        <m:type m:val="lin"/>
                        <m:ctrlP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endParaRPr lang="en-US" altLang="zh-CN" sz="240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>
                  <a:spcAft>
                    <a:spcPts val="600"/>
                  </a:spcAft>
                </a:pPr>
                <a:r>
                  <a:rPr lang="zh-CN" altLang="en-US" sz="24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实现求差功能</a:t>
                </a: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2C22E0A5-9950-A95F-55D3-8990FDD442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5400000"/>
                <a:ext cx="7668000" cy="815608"/>
              </a:xfrm>
              <a:prstGeom prst="rect">
                <a:avLst/>
              </a:prstGeom>
              <a:blipFill>
                <a:blip r:embed="rId6"/>
                <a:stretch>
                  <a:fillRect t="-76119" b="-597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9" name="组合 88">
            <a:extLst>
              <a:ext uri="{FF2B5EF4-FFF2-40B4-BE49-F238E27FC236}">
                <a16:creationId xmlns:a16="http://schemas.microsoft.com/office/drawing/2014/main" id="{963F74E4-E89D-0FAA-0DC3-14E5AAAFC297}"/>
              </a:ext>
            </a:extLst>
          </p:cNvPr>
          <p:cNvGrpSpPr/>
          <p:nvPr/>
        </p:nvGrpSpPr>
        <p:grpSpPr>
          <a:xfrm>
            <a:off x="6120000" y="828000"/>
            <a:ext cx="5760000" cy="3094887"/>
            <a:chOff x="6120000" y="828000"/>
            <a:chExt cx="5760000" cy="3094887"/>
          </a:xfrm>
        </p:grpSpPr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F00B797C-5101-D768-E5A5-7E920560A6A5}"/>
                </a:ext>
              </a:extLst>
            </p:cNvPr>
            <p:cNvCxnSpPr>
              <a:cxnSpLocks/>
            </p:cNvCxnSpPr>
            <p:nvPr/>
          </p:nvCxnSpPr>
          <p:spPr>
            <a:xfrm>
              <a:off x="7740000" y="1476000"/>
              <a:ext cx="3600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5D394FB7-8B24-7842-42AC-70383302B9EC}"/>
                </a:ext>
              </a:extLst>
            </p:cNvPr>
            <p:cNvCxnSpPr>
              <a:cxnSpLocks/>
            </p:cNvCxnSpPr>
            <p:nvPr/>
          </p:nvCxnSpPr>
          <p:spPr>
            <a:xfrm>
              <a:off x="9000000" y="2844000"/>
              <a:ext cx="900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40D9D858-B4A8-344A-E455-94B83C7DCF95}"/>
                </a:ext>
              </a:extLst>
            </p:cNvPr>
            <p:cNvCxnSpPr>
              <a:cxnSpLocks/>
            </p:cNvCxnSpPr>
            <p:nvPr/>
          </p:nvCxnSpPr>
          <p:spPr>
            <a:xfrm>
              <a:off x="9000000" y="2052000"/>
              <a:ext cx="900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等腰三角形 29">
              <a:extLst>
                <a:ext uri="{FF2B5EF4-FFF2-40B4-BE49-F238E27FC236}">
                  <a16:creationId xmlns:a16="http://schemas.microsoft.com/office/drawing/2014/main" id="{54210D19-C586-9F90-3215-53233672958F}"/>
                </a:ext>
              </a:extLst>
            </p:cNvPr>
            <p:cNvSpPr/>
            <p:nvPr/>
          </p:nvSpPr>
          <p:spPr>
            <a:xfrm rot="5400000">
              <a:off x="9792000" y="1800000"/>
              <a:ext cx="1440000" cy="1296000"/>
            </a:xfrm>
            <a:prstGeom prst="triangl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83EB6E6F-4248-5ADA-EA6C-46E15779A93E}"/>
                    </a:ext>
                  </a:extLst>
                </p:cNvPr>
                <p:cNvSpPr txBox="1"/>
                <p:nvPr/>
              </p:nvSpPr>
              <p:spPr>
                <a:xfrm>
                  <a:off x="9846000" y="2610000"/>
                  <a:ext cx="396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 smtClean="0"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83EB6E6F-4248-5ADA-EA6C-46E15779A9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46000" y="2610000"/>
                  <a:ext cx="396000" cy="43088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7FC5C504-678D-8557-E7F3-7FD035D542B8}"/>
                    </a:ext>
                  </a:extLst>
                </p:cNvPr>
                <p:cNvSpPr txBox="1"/>
                <p:nvPr/>
              </p:nvSpPr>
              <p:spPr>
                <a:xfrm>
                  <a:off x="9846000" y="1818000"/>
                  <a:ext cx="396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7FC5C504-678D-8557-E7F3-7FD035D542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46000" y="1818000"/>
                  <a:ext cx="396000" cy="43088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0A4B37C1-5BEA-3217-5E3C-17CFAFCD99AD}"/>
                </a:ext>
              </a:extLst>
            </p:cNvPr>
            <p:cNvCxnSpPr>
              <a:cxnSpLocks/>
              <a:stCxn id="30" idx="0"/>
            </p:cNvCxnSpPr>
            <p:nvPr/>
          </p:nvCxnSpPr>
          <p:spPr>
            <a:xfrm>
              <a:off x="11160000" y="2448000"/>
              <a:ext cx="432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A7DF0F9A-4896-8D82-D377-C27E3545EF69}"/>
                </a:ext>
              </a:extLst>
            </p:cNvPr>
            <p:cNvSpPr/>
            <p:nvPr/>
          </p:nvSpPr>
          <p:spPr>
            <a:xfrm>
              <a:off x="11268000" y="2376000"/>
              <a:ext cx="144000" cy="14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E7B729DF-C6E4-F401-E3EF-D4841C96C739}"/>
                </a:ext>
              </a:extLst>
            </p:cNvPr>
            <p:cNvCxnSpPr>
              <a:cxnSpLocks/>
            </p:cNvCxnSpPr>
            <p:nvPr/>
          </p:nvCxnSpPr>
          <p:spPr>
            <a:xfrm>
              <a:off x="7740000" y="3420000"/>
              <a:ext cx="3600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F9995604-3067-4B6D-7F83-293C87B2AA86}"/>
                </a:ext>
              </a:extLst>
            </p:cNvPr>
            <p:cNvCxnSpPr>
              <a:cxnSpLocks/>
            </p:cNvCxnSpPr>
            <p:nvPr/>
          </p:nvCxnSpPr>
          <p:spPr>
            <a:xfrm>
              <a:off x="11340000" y="2448000"/>
              <a:ext cx="0" cy="972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D9477375-EC2E-7D07-DF5E-6BF72836B1EB}"/>
                </a:ext>
              </a:extLst>
            </p:cNvPr>
            <p:cNvSpPr/>
            <p:nvPr/>
          </p:nvSpPr>
          <p:spPr>
            <a:xfrm>
              <a:off x="8928000" y="1404000"/>
              <a:ext cx="144000" cy="14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C7837A1E-0797-AEB9-2C94-755FAF21E68F}"/>
                </a:ext>
              </a:extLst>
            </p:cNvPr>
            <p:cNvCxnSpPr>
              <a:cxnSpLocks/>
            </p:cNvCxnSpPr>
            <p:nvPr/>
          </p:nvCxnSpPr>
          <p:spPr>
            <a:xfrm>
              <a:off x="11340000" y="1476000"/>
              <a:ext cx="0" cy="36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3E414712-8A0A-41CD-DDA8-5BBE207BB6DD}"/>
                    </a:ext>
                  </a:extLst>
                </p:cNvPr>
                <p:cNvSpPr txBox="1"/>
                <p:nvPr/>
              </p:nvSpPr>
              <p:spPr>
                <a:xfrm>
                  <a:off x="8604000" y="1944000"/>
                  <a:ext cx="450701" cy="46923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3E414712-8A0A-41CD-DDA8-5BBE207BB6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04000" y="1944000"/>
                  <a:ext cx="450701" cy="469231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D55B5B39-4CFF-7DF8-2A8E-D2649BD9467A}"/>
                </a:ext>
              </a:extLst>
            </p:cNvPr>
            <p:cNvCxnSpPr>
              <a:cxnSpLocks/>
            </p:cNvCxnSpPr>
            <p:nvPr/>
          </p:nvCxnSpPr>
          <p:spPr>
            <a:xfrm>
              <a:off x="9000000" y="2844000"/>
              <a:ext cx="0" cy="576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B3A8CC67-6A29-3FD3-DB1A-14D02D643708}"/>
                </a:ext>
              </a:extLst>
            </p:cNvPr>
            <p:cNvSpPr/>
            <p:nvPr/>
          </p:nvSpPr>
          <p:spPr>
            <a:xfrm>
              <a:off x="8928000" y="3348000"/>
              <a:ext cx="144000" cy="14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文本框 47">
                  <a:extLst>
                    <a:ext uri="{FF2B5EF4-FFF2-40B4-BE49-F238E27FC236}">
                      <a16:creationId xmlns:a16="http://schemas.microsoft.com/office/drawing/2014/main" id="{13FCFFFB-4EBE-C2B0-5325-23EA7855BACF}"/>
                    </a:ext>
                  </a:extLst>
                </p:cNvPr>
                <p:cNvSpPr txBox="1"/>
                <p:nvPr/>
              </p:nvSpPr>
              <p:spPr>
                <a:xfrm>
                  <a:off x="8604000" y="2430000"/>
                  <a:ext cx="452303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8" name="文本框 47">
                  <a:extLst>
                    <a:ext uri="{FF2B5EF4-FFF2-40B4-BE49-F238E27FC236}">
                      <a16:creationId xmlns:a16="http://schemas.microsoft.com/office/drawing/2014/main" id="{13FCFFFB-4EBE-C2B0-5325-23EA7855BA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04000" y="2430000"/>
                  <a:ext cx="452303" cy="43088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B1953A08-1496-53F4-518E-0465A3ABB444}"/>
                    </a:ext>
                  </a:extLst>
                </p:cNvPr>
                <p:cNvSpPr txBox="1"/>
                <p:nvPr/>
              </p:nvSpPr>
              <p:spPr>
                <a:xfrm>
                  <a:off x="11448000" y="1980000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o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B1953A08-1496-53F4-518E-0465A3ABB4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48000" y="1980000"/>
                  <a:ext cx="432000" cy="430887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2BFAF282-9441-C06E-1A98-7E77844541C5}"/>
                </a:ext>
              </a:extLst>
            </p:cNvPr>
            <p:cNvCxnSpPr>
              <a:cxnSpLocks/>
            </p:cNvCxnSpPr>
            <p:nvPr/>
          </p:nvCxnSpPr>
          <p:spPr>
            <a:xfrm>
              <a:off x="11196000" y="1872000"/>
              <a:ext cx="288000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6641A7A3-0F52-F295-4BE9-FDF528C60F3E}"/>
                </a:ext>
              </a:extLst>
            </p:cNvPr>
            <p:cNvSpPr/>
            <p:nvPr/>
          </p:nvSpPr>
          <p:spPr>
            <a:xfrm>
              <a:off x="8028000" y="3348000"/>
              <a:ext cx="576000" cy="144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文本框 56">
                  <a:extLst>
                    <a:ext uri="{FF2B5EF4-FFF2-40B4-BE49-F238E27FC236}">
                      <a16:creationId xmlns:a16="http://schemas.microsoft.com/office/drawing/2014/main" id="{EA03D75F-219F-97AB-B09A-BAC7CF1B46F4}"/>
                    </a:ext>
                  </a:extLst>
                </p:cNvPr>
                <p:cNvSpPr txBox="1"/>
                <p:nvPr/>
              </p:nvSpPr>
              <p:spPr>
                <a:xfrm>
                  <a:off x="8028000" y="3492000"/>
                  <a:ext cx="576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57" name="文本框 56">
                  <a:extLst>
                    <a:ext uri="{FF2B5EF4-FFF2-40B4-BE49-F238E27FC236}">
                      <a16:creationId xmlns:a16="http://schemas.microsoft.com/office/drawing/2014/main" id="{EA03D75F-219F-97AB-B09A-BAC7CF1B46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28000" y="3492000"/>
                  <a:ext cx="576000" cy="430887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8" name="直接箭头连接符 57">
              <a:extLst>
                <a:ext uri="{FF2B5EF4-FFF2-40B4-BE49-F238E27FC236}">
                  <a16:creationId xmlns:a16="http://schemas.microsoft.com/office/drawing/2014/main" id="{79E197D1-C75D-0DEE-51BB-8FC907847207}"/>
                </a:ext>
              </a:extLst>
            </p:cNvPr>
            <p:cNvCxnSpPr/>
            <p:nvPr/>
          </p:nvCxnSpPr>
          <p:spPr>
            <a:xfrm flipH="1">
              <a:off x="8046000" y="3240000"/>
              <a:ext cx="540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 w="med" len="lg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C69E9ACC-EE66-90B9-614D-653345B7C579}"/>
                    </a:ext>
                  </a:extLst>
                </p:cNvPr>
                <p:cNvSpPr txBox="1"/>
                <p:nvPr/>
              </p:nvSpPr>
              <p:spPr>
                <a:xfrm>
                  <a:off x="8046000" y="2772000"/>
                  <a:ext cx="540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C69E9ACC-EE66-90B9-614D-653345B7C5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46000" y="2772000"/>
                  <a:ext cx="540000" cy="430887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1" name="矩形 60">
              <a:extLst>
                <a:ext uri="{FF2B5EF4-FFF2-40B4-BE49-F238E27FC236}">
                  <a16:creationId xmlns:a16="http://schemas.microsoft.com/office/drawing/2014/main" id="{C608F793-8D34-EAEF-3037-44D2A4E1C9EF}"/>
                </a:ext>
              </a:extLst>
            </p:cNvPr>
            <p:cNvSpPr/>
            <p:nvPr/>
          </p:nvSpPr>
          <p:spPr>
            <a:xfrm>
              <a:off x="8028000" y="1404000"/>
              <a:ext cx="576000" cy="144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文本框 61">
                  <a:extLst>
                    <a:ext uri="{FF2B5EF4-FFF2-40B4-BE49-F238E27FC236}">
                      <a16:creationId xmlns:a16="http://schemas.microsoft.com/office/drawing/2014/main" id="{D750D05D-C3D5-7855-488C-63C0A5EED2D8}"/>
                    </a:ext>
                  </a:extLst>
                </p:cNvPr>
                <p:cNvSpPr txBox="1"/>
                <p:nvPr/>
              </p:nvSpPr>
              <p:spPr>
                <a:xfrm>
                  <a:off x="8028000" y="1548000"/>
                  <a:ext cx="576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62" name="文本框 61">
                  <a:extLst>
                    <a:ext uri="{FF2B5EF4-FFF2-40B4-BE49-F238E27FC236}">
                      <a16:creationId xmlns:a16="http://schemas.microsoft.com/office/drawing/2014/main" id="{D750D05D-C3D5-7855-488C-63C0A5EED2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28000" y="1548000"/>
                  <a:ext cx="576000" cy="430887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3" name="直接箭头连接符 62">
              <a:extLst>
                <a:ext uri="{FF2B5EF4-FFF2-40B4-BE49-F238E27FC236}">
                  <a16:creationId xmlns:a16="http://schemas.microsoft.com/office/drawing/2014/main" id="{B13EB28D-CA08-CFC9-A68A-2985E38927D0}"/>
                </a:ext>
              </a:extLst>
            </p:cNvPr>
            <p:cNvCxnSpPr/>
            <p:nvPr/>
          </p:nvCxnSpPr>
          <p:spPr>
            <a:xfrm flipH="1">
              <a:off x="8046000" y="1296000"/>
              <a:ext cx="540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 w="med" len="lg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文本框 63">
                  <a:extLst>
                    <a:ext uri="{FF2B5EF4-FFF2-40B4-BE49-F238E27FC236}">
                      <a16:creationId xmlns:a16="http://schemas.microsoft.com/office/drawing/2014/main" id="{17B1C1A2-01D6-91D6-3AC2-29563E40B637}"/>
                    </a:ext>
                  </a:extLst>
                </p:cNvPr>
                <p:cNvSpPr txBox="1"/>
                <p:nvPr/>
              </p:nvSpPr>
              <p:spPr>
                <a:xfrm>
                  <a:off x="8046000" y="828000"/>
                  <a:ext cx="540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64" name="文本框 63">
                  <a:extLst>
                    <a:ext uri="{FF2B5EF4-FFF2-40B4-BE49-F238E27FC236}">
                      <a16:creationId xmlns:a16="http://schemas.microsoft.com/office/drawing/2014/main" id="{17B1C1A2-01D6-91D6-3AC2-29563E40B6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46000" y="828000"/>
                  <a:ext cx="540000" cy="430887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文本框 64">
                  <a:extLst>
                    <a:ext uri="{FF2B5EF4-FFF2-40B4-BE49-F238E27FC236}">
                      <a16:creationId xmlns:a16="http://schemas.microsoft.com/office/drawing/2014/main" id="{5A2FE047-34F1-F19E-CC3A-E34F5C6A2093}"/>
                    </a:ext>
                  </a:extLst>
                </p:cNvPr>
                <p:cNvSpPr txBox="1"/>
                <p:nvPr/>
              </p:nvSpPr>
              <p:spPr>
                <a:xfrm>
                  <a:off x="7200000" y="1224000"/>
                  <a:ext cx="541943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  <m: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65" name="文本框 64">
                  <a:extLst>
                    <a:ext uri="{FF2B5EF4-FFF2-40B4-BE49-F238E27FC236}">
                      <a16:creationId xmlns:a16="http://schemas.microsoft.com/office/drawing/2014/main" id="{5A2FE047-34F1-F19E-CC3A-E34F5C6A209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00000" y="1224000"/>
                  <a:ext cx="541943" cy="430887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23F5B52A-2E84-9F4C-CD7A-D3C99D230DDD}"/>
                    </a:ext>
                  </a:extLst>
                </p:cNvPr>
                <p:cNvSpPr txBox="1"/>
                <p:nvPr/>
              </p:nvSpPr>
              <p:spPr>
                <a:xfrm>
                  <a:off x="7199999" y="3168000"/>
                  <a:ext cx="576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23F5B52A-2E84-9F4C-CD7A-D3C99D230D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99999" y="3168000"/>
                  <a:ext cx="576000" cy="430887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2A93BC8D-0BB3-5B27-232A-AF01D1E1EA58}"/>
                </a:ext>
              </a:extLst>
            </p:cNvPr>
            <p:cNvCxnSpPr>
              <a:cxnSpLocks/>
            </p:cNvCxnSpPr>
            <p:nvPr/>
          </p:nvCxnSpPr>
          <p:spPr>
            <a:xfrm>
              <a:off x="9000000" y="1476000"/>
              <a:ext cx="0" cy="576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矩形 69">
              <a:extLst>
                <a:ext uri="{FF2B5EF4-FFF2-40B4-BE49-F238E27FC236}">
                  <a16:creationId xmlns:a16="http://schemas.microsoft.com/office/drawing/2014/main" id="{73567BDA-A5CF-CF71-E8DA-43601D1A881B}"/>
                </a:ext>
              </a:extLst>
            </p:cNvPr>
            <p:cNvSpPr/>
            <p:nvPr/>
          </p:nvSpPr>
          <p:spPr>
            <a:xfrm>
              <a:off x="10404000" y="1404000"/>
              <a:ext cx="576000" cy="144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文本框 70">
                  <a:extLst>
                    <a:ext uri="{FF2B5EF4-FFF2-40B4-BE49-F238E27FC236}">
                      <a16:creationId xmlns:a16="http://schemas.microsoft.com/office/drawing/2014/main" id="{BA1531A0-A78D-51F8-4F59-0446ED89486E}"/>
                    </a:ext>
                  </a:extLst>
                </p:cNvPr>
                <p:cNvSpPr txBox="1"/>
                <p:nvPr/>
              </p:nvSpPr>
              <p:spPr>
                <a:xfrm>
                  <a:off x="10404000" y="1548000"/>
                  <a:ext cx="576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71" name="文本框 70">
                  <a:extLst>
                    <a:ext uri="{FF2B5EF4-FFF2-40B4-BE49-F238E27FC236}">
                      <a16:creationId xmlns:a16="http://schemas.microsoft.com/office/drawing/2014/main" id="{BA1531A0-A78D-51F8-4F59-0446ED8948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04000" y="1548000"/>
                  <a:ext cx="576000" cy="430887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2" name="直接箭头连接符 71">
              <a:extLst>
                <a:ext uri="{FF2B5EF4-FFF2-40B4-BE49-F238E27FC236}">
                  <a16:creationId xmlns:a16="http://schemas.microsoft.com/office/drawing/2014/main" id="{CC709025-C717-7464-A892-2FB7F61180AE}"/>
                </a:ext>
              </a:extLst>
            </p:cNvPr>
            <p:cNvCxnSpPr/>
            <p:nvPr/>
          </p:nvCxnSpPr>
          <p:spPr>
            <a:xfrm flipH="1">
              <a:off x="10422000" y="1296000"/>
              <a:ext cx="540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 w="med" len="lg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文本框 72">
                  <a:extLst>
                    <a:ext uri="{FF2B5EF4-FFF2-40B4-BE49-F238E27FC236}">
                      <a16:creationId xmlns:a16="http://schemas.microsoft.com/office/drawing/2014/main" id="{14326C80-3778-7688-48A6-6666050A07DA}"/>
                    </a:ext>
                  </a:extLst>
                </p:cNvPr>
                <p:cNvSpPr txBox="1"/>
                <p:nvPr/>
              </p:nvSpPr>
              <p:spPr>
                <a:xfrm>
                  <a:off x="10422000" y="828000"/>
                  <a:ext cx="540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73" name="文本框 72">
                  <a:extLst>
                    <a:ext uri="{FF2B5EF4-FFF2-40B4-BE49-F238E27FC236}">
                      <a16:creationId xmlns:a16="http://schemas.microsoft.com/office/drawing/2014/main" id="{14326C80-3778-7688-48A6-6666050A07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22000" y="828000"/>
                  <a:ext cx="540000" cy="430887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6" name="直接箭头连接符 75">
              <a:extLst>
                <a:ext uri="{FF2B5EF4-FFF2-40B4-BE49-F238E27FC236}">
                  <a16:creationId xmlns:a16="http://schemas.microsoft.com/office/drawing/2014/main" id="{3A0AFF98-2C94-08A0-3883-BE9D407A03DE}"/>
                </a:ext>
              </a:extLst>
            </p:cNvPr>
            <p:cNvCxnSpPr/>
            <p:nvPr/>
          </p:nvCxnSpPr>
          <p:spPr>
            <a:xfrm flipH="1">
              <a:off x="9144000" y="1980000"/>
              <a:ext cx="540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 w="med" len="lg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文本框 76">
                  <a:extLst>
                    <a:ext uri="{FF2B5EF4-FFF2-40B4-BE49-F238E27FC236}">
                      <a16:creationId xmlns:a16="http://schemas.microsoft.com/office/drawing/2014/main" id="{8F62332F-9CA0-2BCF-DA3B-B901FB4FA943}"/>
                    </a:ext>
                  </a:extLst>
                </p:cNvPr>
                <p:cNvSpPr txBox="1"/>
                <p:nvPr/>
              </p:nvSpPr>
              <p:spPr>
                <a:xfrm>
                  <a:off x="9144000" y="1476000"/>
                  <a:ext cx="540000" cy="46923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77" name="文本框 76">
                  <a:extLst>
                    <a:ext uri="{FF2B5EF4-FFF2-40B4-BE49-F238E27FC236}">
                      <a16:creationId xmlns:a16="http://schemas.microsoft.com/office/drawing/2014/main" id="{8F62332F-9CA0-2BCF-DA3B-B901FB4FA9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44000" y="1476000"/>
                  <a:ext cx="540000" cy="469231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8" name="直接箭头连接符 77">
              <a:extLst>
                <a:ext uri="{FF2B5EF4-FFF2-40B4-BE49-F238E27FC236}">
                  <a16:creationId xmlns:a16="http://schemas.microsoft.com/office/drawing/2014/main" id="{8C98DE3A-9C67-2318-AE14-0482468D8C93}"/>
                </a:ext>
              </a:extLst>
            </p:cNvPr>
            <p:cNvCxnSpPr/>
            <p:nvPr/>
          </p:nvCxnSpPr>
          <p:spPr>
            <a:xfrm flipH="1">
              <a:off x="9144000" y="2772000"/>
              <a:ext cx="540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 w="med" len="lg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3A1450D4-B47B-7FDE-A008-74DCA85CA860}"/>
                    </a:ext>
                  </a:extLst>
                </p:cNvPr>
                <p:cNvSpPr txBox="1"/>
                <p:nvPr/>
              </p:nvSpPr>
              <p:spPr>
                <a:xfrm>
                  <a:off x="9144000" y="2303999"/>
                  <a:ext cx="540000" cy="4680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3A1450D4-B47B-7FDE-A008-74DCA85CA8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44000" y="2303999"/>
                  <a:ext cx="540000" cy="468000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0" name="矩形 79">
              <a:extLst>
                <a:ext uri="{FF2B5EF4-FFF2-40B4-BE49-F238E27FC236}">
                  <a16:creationId xmlns:a16="http://schemas.microsoft.com/office/drawing/2014/main" id="{6F525190-643C-E8B3-CB2B-42FA6BAF72EA}"/>
                </a:ext>
              </a:extLst>
            </p:cNvPr>
            <p:cNvSpPr/>
            <p:nvPr/>
          </p:nvSpPr>
          <p:spPr>
            <a:xfrm>
              <a:off x="10404000" y="3348000"/>
              <a:ext cx="576000" cy="144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文本框 80">
                  <a:extLst>
                    <a:ext uri="{FF2B5EF4-FFF2-40B4-BE49-F238E27FC236}">
                      <a16:creationId xmlns:a16="http://schemas.microsoft.com/office/drawing/2014/main" id="{0E1BA36F-3A73-F99D-958C-E4E68930014A}"/>
                    </a:ext>
                  </a:extLst>
                </p:cNvPr>
                <p:cNvSpPr txBox="1"/>
                <p:nvPr/>
              </p:nvSpPr>
              <p:spPr>
                <a:xfrm>
                  <a:off x="10404000" y="3492000"/>
                  <a:ext cx="576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1" name="文本框 80">
                  <a:extLst>
                    <a:ext uri="{FF2B5EF4-FFF2-40B4-BE49-F238E27FC236}">
                      <a16:creationId xmlns:a16="http://schemas.microsoft.com/office/drawing/2014/main" id="{0E1BA36F-3A73-F99D-958C-E4E6893001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04000" y="3492000"/>
                  <a:ext cx="576000" cy="430887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2" name="直接箭头连接符 81">
              <a:extLst>
                <a:ext uri="{FF2B5EF4-FFF2-40B4-BE49-F238E27FC236}">
                  <a16:creationId xmlns:a16="http://schemas.microsoft.com/office/drawing/2014/main" id="{0DBDCDF0-FF2C-1A73-445C-7B3BD3D77351}"/>
                </a:ext>
              </a:extLst>
            </p:cNvPr>
            <p:cNvCxnSpPr/>
            <p:nvPr/>
          </p:nvCxnSpPr>
          <p:spPr>
            <a:xfrm flipH="1">
              <a:off x="10422000" y="3240000"/>
              <a:ext cx="540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 w="med" len="lg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文本框 82">
                  <a:extLst>
                    <a:ext uri="{FF2B5EF4-FFF2-40B4-BE49-F238E27FC236}">
                      <a16:creationId xmlns:a16="http://schemas.microsoft.com/office/drawing/2014/main" id="{A5C4C9D0-D34F-8327-920A-F88DD0C1BCB9}"/>
                    </a:ext>
                  </a:extLst>
                </p:cNvPr>
                <p:cNvSpPr txBox="1"/>
                <p:nvPr/>
              </p:nvSpPr>
              <p:spPr>
                <a:xfrm>
                  <a:off x="10422000" y="2772000"/>
                  <a:ext cx="540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83" name="文本框 82">
                  <a:extLst>
                    <a:ext uri="{FF2B5EF4-FFF2-40B4-BE49-F238E27FC236}">
                      <a16:creationId xmlns:a16="http://schemas.microsoft.com/office/drawing/2014/main" id="{A5C4C9D0-D34F-8327-920A-F88DD0C1BC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22000" y="2772000"/>
                  <a:ext cx="540000" cy="430887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文本框 83">
                  <a:extLst>
                    <a:ext uri="{FF2B5EF4-FFF2-40B4-BE49-F238E27FC236}">
                      <a16:creationId xmlns:a16="http://schemas.microsoft.com/office/drawing/2014/main" id="{2FC49DCE-0DEF-16AC-C3F0-616EFB297473}"/>
                    </a:ext>
                  </a:extLst>
                </p:cNvPr>
                <p:cNvSpPr txBox="1"/>
                <p:nvPr/>
              </p:nvSpPr>
              <p:spPr>
                <a:xfrm>
                  <a:off x="6660000" y="1692000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CN" altLang="en-US" sz="28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84" name="文本框 83">
                  <a:extLst>
                    <a:ext uri="{FF2B5EF4-FFF2-40B4-BE49-F238E27FC236}">
                      <a16:creationId xmlns:a16="http://schemas.microsoft.com/office/drawing/2014/main" id="{2FC49DCE-0DEF-16AC-C3F0-616EFB2974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0000" y="1692000"/>
                  <a:ext cx="432000" cy="430887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文本框 84">
                  <a:extLst>
                    <a:ext uri="{FF2B5EF4-FFF2-40B4-BE49-F238E27FC236}">
                      <a16:creationId xmlns:a16="http://schemas.microsoft.com/office/drawing/2014/main" id="{6406AB12-3F48-0380-082F-2AFF29E3ED8F}"/>
                    </a:ext>
                  </a:extLst>
                </p:cNvPr>
                <p:cNvSpPr txBox="1"/>
                <p:nvPr/>
              </p:nvSpPr>
              <p:spPr>
                <a:xfrm>
                  <a:off x="6660000" y="2772000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zh-CN" altLang="en-US" sz="28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85" name="文本框 84">
                  <a:extLst>
                    <a:ext uri="{FF2B5EF4-FFF2-40B4-BE49-F238E27FC236}">
                      <a16:creationId xmlns:a16="http://schemas.microsoft.com/office/drawing/2014/main" id="{6406AB12-3F48-0380-082F-2AFF29E3ED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0000" y="2772000"/>
                  <a:ext cx="432000" cy="430887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文本框 85">
                  <a:extLst>
                    <a:ext uri="{FF2B5EF4-FFF2-40B4-BE49-F238E27FC236}">
                      <a16:creationId xmlns:a16="http://schemas.microsoft.com/office/drawing/2014/main" id="{300C84D2-F97A-3EC5-73C3-30971E00711F}"/>
                    </a:ext>
                  </a:extLst>
                </p:cNvPr>
                <p:cNvSpPr txBox="1"/>
                <p:nvPr/>
              </p:nvSpPr>
              <p:spPr>
                <a:xfrm>
                  <a:off x="6120000" y="2268000"/>
                  <a:ext cx="1512000" cy="4320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  <m:r>
                              <a:rPr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  <m:r>
                              <a:rPr lang="en-US" altLang="zh-CN" sz="2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sz="24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86" name="文本框 85">
                  <a:extLst>
                    <a:ext uri="{FF2B5EF4-FFF2-40B4-BE49-F238E27FC236}">
                      <a16:creationId xmlns:a16="http://schemas.microsoft.com/office/drawing/2014/main" id="{300C84D2-F97A-3EC5-73C3-30971E0071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20000" y="2268000"/>
                  <a:ext cx="1512000" cy="432000"/>
                </a:xfrm>
                <a:prstGeom prst="rect">
                  <a:avLst/>
                </a:prstGeom>
                <a:blipFill>
                  <a:blip r:embed="rId26"/>
                  <a:stretch>
                    <a:fillRect l="-4839" r="-4839" b="-1549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0686283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13FD9F7B-1FDB-3B1E-A900-77EB6403BF70}"/>
                  </a:ext>
                </a:extLst>
              </p:cNvPr>
              <p:cNvSpPr txBox="1"/>
              <p:nvPr/>
            </p:nvSpPr>
            <p:spPr>
              <a:xfrm>
                <a:off x="360000" y="828000"/>
                <a:ext cx="10887121" cy="40821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电容的定义和性质：</a:t>
                </a:r>
                <a:endParaRPr kumimoji="1"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两个相互靠近的导体（极板），中间夹一层不导电的绝缘介质，构成电容器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两个极板之间加上电压，电容器会存储电荷，存在如下关系：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4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altLang="zh-CN" sz="24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num>
                        <m:den>
                          <m:r>
                            <a:rPr lang="en-US" altLang="zh-CN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den>
                      </m:f>
                    </m:oMath>
                  </m:oMathPara>
                </a14:m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为电容器（一个极板）上所带的电荷量（单位库仑）</a:t>
                </a:r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𝑣</m:t>
                    </m:r>
                  </m:oMath>
                </a14:m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为极板之间的电压差（单位伏特）</a:t>
                </a:r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为电容量，表示电容器存储电荷的能力（单位法拉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F</m:t>
                    </m:r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</a:t>
                </a:r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13FD9F7B-1FDB-3B1E-A900-77EB6403B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828000"/>
                <a:ext cx="10887121" cy="4082143"/>
              </a:xfrm>
              <a:prstGeom prst="rect">
                <a:avLst/>
              </a:prstGeom>
              <a:blipFill>
                <a:blip r:embed="rId2"/>
                <a:stretch>
                  <a:fillRect l="-1120" t="-598" b="-7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>
            <a:extLst>
              <a:ext uri="{FF2B5EF4-FFF2-40B4-BE49-F238E27FC236}">
                <a16:creationId xmlns:a16="http://schemas.microsoft.com/office/drawing/2014/main" id="{A8785827-B242-F738-1C7B-288A9D07960E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电容知识点补充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F730D9C4-1C3F-DE66-2DBF-0D434483C093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D68ACB1C-C510-11DB-58A8-4B8373C34685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36" name="箭头: 五边形 35">
                <a:extLst>
                  <a:ext uri="{FF2B5EF4-FFF2-40B4-BE49-F238E27FC236}">
                    <a16:creationId xmlns:a16="http://schemas.microsoft.com/office/drawing/2014/main" id="{999823CD-2132-200B-05E3-605C681CD0B9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7" name="箭头: V 形 36">
                <a:extLst>
                  <a:ext uri="{FF2B5EF4-FFF2-40B4-BE49-F238E27FC236}">
                    <a16:creationId xmlns:a16="http://schemas.microsoft.com/office/drawing/2014/main" id="{DED16BA2-8282-174C-2654-0A938604FEFB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5" name="灯片编号占位符 3">
              <a:extLst>
                <a:ext uri="{FF2B5EF4-FFF2-40B4-BE49-F238E27FC236}">
                  <a16:creationId xmlns:a16="http://schemas.microsoft.com/office/drawing/2014/main" id="{12A5413E-415E-0BFE-EB78-BE29BE956BDB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10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355B4F6F-26EF-9CA4-E1EE-0403DA935954}"/>
              </a:ext>
            </a:extLst>
          </p:cNvPr>
          <p:cNvGrpSpPr/>
          <p:nvPr/>
        </p:nvGrpSpPr>
        <p:grpSpPr>
          <a:xfrm>
            <a:off x="8280000" y="4788000"/>
            <a:ext cx="2304000" cy="1908000"/>
            <a:chOff x="7776000" y="4788000"/>
            <a:chExt cx="2304000" cy="1908000"/>
          </a:xfrm>
        </p:grpSpPr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16C153CD-1831-6EAF-D86D-3957AA188E5F}"/>
                </a:ext>
              </a:extLst>
            </p:cNvPr>
            <p:cNvCxnSpPr>
              <a:cxnSpLocks/>
            </p:cNvCxnSpPr>
            <p:nvPr/>
          </p:nvCxnSpPr>
          <p:spPr>
            <a:xfrm>
              <a:off x="9054000" y="5256000"/>
              <a:ext cx="1026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2D9F2F9A-7E09-CDDA-ACDD-8F639695814D}"/>
                </a:ext>
              </a:extLst>
            </p:cNvPr>
            <p:cNvCxnSpPr>
              <a:cxnSpLocks/>
            </p:cNvCxnSpPr>
            <p:nvPr/>
          </p:nvCxnSpPr>
          <p:spPr>
            <a:xfrm>
              <a:off x="7776000" y="5256000"/>
              <a:ext cx="1026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8C601157-8E4D-F6E1-011E-01A014738FC0}"/>
                </a:ext>
              </a:extLst>
            </p:cNvPr>
            <p:cNvCxnSpPr>
              <a:cxnSpLocks/>
            </p:cNvCxnSpPr>
            <p:nvPr/>
          </p:nvCxnSpPr>
          <p:spPr>
            <a:xfrm>
              <a:off x="10080000" y="5256000"/>
              <a:ext cx="0" cy="10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9DABFC36-4297-337B-3705-64B7DC16E351}"/>
                </a:ext>
              </a:extLst>
            </p:cNvPr>
            <p:cNvCxnSpPr>
              <a:cxnSpLocks/>
            </p:cNvCxnSpPr>
            <p:nvPr/>
          </p:nvCxnSpPr>
          <p:spPr>
            <a:xfrm>
              <a:off x="7776000" y="5256000"/>
              <a:ext cx="0" cy="10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EC69FD2C-2E3A-7DDC-9B4C-FA4AB66B41DE}"/>
                </a:ext>
              </a:extLst>
            </p:cNvPr>
            <p:cNvCxnSpPr>
              <a:cxnSpLocks/>
            </p:cNvCxnSpPr>
            <p:nvPr/>
          </p:nvCxnSpPr>
          <p:spPr>
            <a:xfrm>
              <a:off x="7776000" y="6336000"/>
              <a:ext cx="648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36F54245-435F-F0D9-08CB-E05180BFC78D}"/>
                </a:ext>
              </a:extLst>
            </p:cNvPr>
            <p:cNvCxnSpPr>
              <a:cxnSpLocks/>
            </p:cNvCxnSpPr>
            <p:nvPr/>
          </p:nvCxnSpPr>
          <p:spPr>
            <a:xfrm>
              <a:off x="8424000" y="5976000"/>
              <a:ext cx="0" cy="72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641F206D-2B81-4EBC-5142-069A093EAE3A}"/>
                </a:ext>
              </a:extLst>
            </p:cNvPr>
            <p:cNvCxnSpPr>
              <a:cxnSpLocks/>
            </p:cNvCxnSpPr>
            <p:nvPr/>
          </p:nvCxnSpPr>
          <p:spPr>
            <a:xfrm>
              <a:off x="8604000" y="6156000"/>
              <a:ext cx="0" cy="36000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5025170D-BD4A-EB0B-2C69-FB27ED71E7CD}"/>
                </a:ext>
              </a:extLst>
            </p:cNvPr>
            <p:cNvCxnSpPr>
              <a:cxnSpLocks/>
            </p:cNvCxnSpPr>
            <p:nvPr/>
          </p:nvCxnSpPr>
          <p:spPr>
            <a:xfrm>
              <a:off x="8604000" y="6336000"/>
              <a:ext cx="1476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4A4CF879-2D1C-6CBF-2C95-430D4D8347BA}"/>
                </a:ext>
              </a:extLst>
            </p:cNvPr>
            <p:cNvSpPr/>
            <p:nvPr/>
          </p:nvSpPr>
          <p:spPr>
            <a:xfrm>
              <a:off x="9108000" y="6246000"/>
              <a:ext cx="576000" cy="180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13B9E798-F8B1-67CE-E189-463B3DBA014C}"/>
                </a:ext>
              </a:extLst>
            </p:cNvPr>
            <p:cNvGrpSpPr/>
            <p:nvPr/>
          </p:nvGrpSpPr>
          <p:grpSpPr>
            <a:xfrm>
              <a:off x="8802000" y="4896000"/>
              <a:ext cx="252000" cy="720000"/>
              <a:chOff x="10080000" y="3888000"/>
              <a:chExt cx="252000" cy="720000"/>
            </a:xfrm>
          </p:grpSpPr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370562F9-3FFD-7043-16B9-AEA58B43832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080000" y="3888000"/>
                <a:ext cx="0" cy="72000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0498C3D7-627A-C63A-F134-CE330734CA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32000" y="3888000"/>
                <a:ext cx="0" cy="72000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89A1B8E1-C939-96F5-1E85-9D38843688EB}"/>
                </a:ext>
              </a:extLst>
            </p:cNvPr>
            <p:cNvSpPr txBox="1"/>
            <p:nvPr/>
          </p:nvSpPr>
          <p:spPr>
            <a:xfrm>
              <a:off x="8964000" y="5400000"/>
              <a:ext cx="936000" cy="468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电容</a:t>
              </a:r>
              <a:endParaRPr lang="zh-CN" altLang="en-US" sz="24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14845690-BB12-5CC1-35B6-2395C0C9BA06}"/>
                    </a:ext>
                  </a:extLst>
                </p:cNvPr>
                <p:cNvSpPr txBox="1"/>
                <p:nvPr/>
              </p:nvSpPr>
              <p:spPr>
                <a:xfrm>
                  <a:off x="8316000" y="4788000"/>
                  <a:ext cx="60354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14845690-BB12-5CC1-35B6-2395C0C9BA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16000" y="4788000"/>
                  <a:ext cx="603540" cy="5232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11612539-3BFB-F2CB-66AB-CC52FB17E25B}"/>
                    </a:ext>
                  </a:extLst>
                </p:cNvPr>
                <p:cNvSpPr txBox="1"/>
                <p:nvPr/>
              </p:nvSpPr>
              <p:spPr>
                <a:xfrm>
                  <a:off x="8946000" y="4788000"/>
                  <a:ext cx="60354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11612539-3BFB-F2CB-66AB-CC52FB17E2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46000" y="4788000"/>
                  <a:ext cx="603540" cy="52322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66F3D966-2267-14A0-4597-428264B9C599}"/>
              </a:ext>
            </a:extLst>
          </p:cNvPr>
          <p:cNvGrpSpPr/>
          <p:nvPr/>
        </p:nvGrpSpPr>
        <p:grpSpPr>
          <a:xfrm>
            <a:off x="9468000" y="2196000"/>
            <a:ext cx="2592000" cy="2124000"/>
            <a:chOff x="9396000" y="2376000"/>
            <a:chExt cx="2592000" cy="2124000"/>
          </a:xfrm>
        </p:grpSpPr>
        <p:sp>
          <p:nvSpPr>
            <p:cNvPr id="56" name="对话气泡: 圆角矩形 55">
              <a:extLst>
                <a:ext uri="{FF2B5EF4-FFF2-40B4-BE49-F238E27FC236}">
                  <a16:creationId xmlns:a16="http://schemas.microsoft.com/office/drawing/2014/main" id="{20D712A4-C7AF-D037-B169-490082D37062}"/>
                </a:ext>
              </a:extLst>
            </p:cNvPr>
            <p:cNvSpPr/>
            <p:nvPr/>
          </p:nvSpPr>
          <p:spPr>
            <a:xfrm>
              <a:off x="9396000" y="2376000"/>
              <a:ext cx="2592000" cy="2124000"/>
            </a:xfrm>
            <a:prstGeom prst="wedgeRoundRectCallout">
              <a:avLst>
                <a:gd name="adj1" fmla="val -36176"/>
                <a:gd name="adj2" fmla="val 67829"/>
                <a:gd name="adj3" fmla="val 16667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B528546B-D394-EB40-1FBA-08FE8D4D36AB}"/>
                </a:ext>
              </a:extLst>
            </p:cNvPr>
            <p:cNvSpPr/>
            <p:nvPr/>
          </p:nvSpPr>
          <p:spPr>
            <a:xfrm>
              <a:off x="11268000" y="2556000"/>
              <a:ext cx="108000" cy="1800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5A0DCA93-6A7D-2E6D-1A16-6AB6D1BEC224}"/>
                </a:ext>
              </a:extLst>
            </p:cNvPr>
            <p:cNvCxnSpPr>
              <a:cxnSpLocks/>
              <a:stCxn id="57" idx="3"/>
            </p:cNvCxnSpPr>
            <p:nvPr/>
          </p:nvCxnSpPr>
          <p:spPr>
            <a:xfrm>
              <a:off x="11376000" y="3456000"/>
              <a:ext cx="468000" cy="0"/>
            </a:xfrm>
            <a:prstGeom prst="line">
              <a:avLst/>
            </a:prstGeom>
            <a:ln w="508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4D2D2CA0-B002-9773-E3D3-8ADA7D0F6D18}"/>
                    </a:ext>
                  </a:extLst>
                </p:cNvPr>
                <p:cNvSpPr txBox="1"/>
                <p:nvPr/>
              </p:nvSpPr>
              <p:spPr>
                <a:xfrm>
                  <a:off x="10980000" y="2502000"/>
                  <a:ext cx="288000" cy="19080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⊝</m:t>
                        </m:r>
                      </m:oMath>
                    </m:oMathPara>
                  </a14:m>
                  <a:endParaRPr lang="en-US" altLang="zh-CN" dirty="0">
                    <a:solidFill>
                      <a:srgbClr val="00B050"/>
                    </a:solidFill>
                    <a:ea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⊝</m:t>
                        </m:r>
                      </m:oMath>
                    </m:oMathPara>
                  </a14:m>
                  <a:endParaRPr lang="en-US" altLang="zh-CN" dirty="0">
                    <a:solidFill>
                      <a:srgbClr val="00B050"/>
                    </a:solidFill>
                    <a:ea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⊝</m:t>
                        </m:r>
                      </m:oMath>
                    </m:oMathPara>
                  </a14:m>
                  <a:endParaRPr lang="en-US" altLang="zh-CN" dirty="0">
                    <a:solidFill>
                      <a:srgbClr val="00B050"/>
                    </a:solidFill>
                    <a:ea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⊝</m:t>
                        </m:r>
                      </m:oMath>
                    </m:oMathPara>
                  </a14:m>
                  <a:endParaRPr lang="en-US" altLang="zh-CN" dirty="0">
                    <a:solidFill>
                      <a:srgbClr val="00B050"/>
                    </a:solidFill>
                    <a:ea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⊝</m:t>
                        </m:r>
                      </m:oMath>
                    </m:oMathPara>
                  </a14:m>
                  <a:endParaRPr lang="en-US" altLang="zh-CN" dirty="0">
                    <a:solidFill>
                      <a:srgbClr val="00B050"/>
                    </a:solidFill>
                    <a:ea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⊝</m:t>
                        </m:r>
                      </m:oMath>
                    </m:oMathPara>
                  </a14:m>
                  <a:endParaRPr lang="en-US" altLang="zh-CN" dirty="0">
                    <a:solidFill>
                      <a:srgbClr val="00B050"/>
                    </a:solidFill>
                    <a:ea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⊝</m:t>
                        </m:r>
                      </m:oMath>
                    </m:oMathPara>
                  </a14:m>
                  <a:endParaRPr lang="en-US" altLang="zh-CN" dirty="0">
                    <a:solidFill>
                      <a:srgbClr val="00B050"/>
                    </a:solidFill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4D2D2CA0-B002-9773-E3D3-8ADA7D0F6D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80000" y="2502000"/>
                  <a:ext cx="288000" cy="1908000"/>
                </a:xfrm>
                <a:prstGeom prst="rect">
                  <a:avLst/>
                </a:prstGeom>
                <a:blipFill>
                  <a:blip r:embed="rId7"/>
                  <a:stretch>
                    <a:fillRect l="-25532" t="-319" r="-25532" b="-41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4" name="矩形 63">
              <a:extLst>
                <a:ext uri="{FF2B5EF4-FFF2-40B4-BE49-F238E27FC236}">
                  <a16:creationId xmlns:a16="http://schemas.microsoft.com/office/drawing/2014/main" id="{566D1FFC-6A8E-2BB3-E25A-5D1019BAD5D7}"/>
                </a:ext>
              </a:extLst>
            </p:cNvPr>
            <p:cNvSpPr/>
            <p:nvPr/>
          </p:nvSpPr>
          <p:spPr>
            <a:xfrm>
              <a:off x="10008000" y="2556000"/>
              <a:ext cx="108000" cy="1800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9C5A829F-FE52-2F19-D18B-B3F27E932A99}"/>
                </a:ext>
              </a:extLst>
            </p:cNvPr>
            <p:cNvCxnSpPr>
              <a:cxnSpLocks/>
              <a:endCxn id="64" idx="1"/>
            </p:cNvCxnSpPr>
            <p:nvPr/>
          </p:nvCxnSpPr>
          <p:spPr>
            <a:xfrm>
              <a:off x="9540000" y="3456000"/>
              <a:ext cx="468000" cy="0"/>
            </a:xfrm>
            <a:prstGeom prst="line">
              <a:avLst/>
            </a:prstGeom>
            <a:ln w="508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01C26E2D-A251-B52E-F8C5-9990B91A2398}"/>
                    </a:ext>
                  </a:extLst>
                </p:cNvPr>
                <p:cNvSpPr txBox="1"/>
                <p:nvPr/>
              </p:nvSpPr>
              <p:spPr>
                <a:xfrm>
                  <a:off x="10134000" y="2502000"/>
                  <a:ext cx="252000" cy="19080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⊕</m:t>
                        </m:r>
                      </m:oMath>
                    </m:oMathPara>
                  </a14:m>
                  <a:endParaRPr lang="en-US" altLang="zh-CN" dirty="0">
                    <a:solidFill>
                      <a:srgbClr val="FF0000"/>
                    </a:solidFill>
                    <a:ea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⊕</m:t>
                        </m:r>
                      </m:oMath>
                    </m:oMathPara>
                  </a14:m>
                  <a:endParaRPr lang="en-US" altLang="zh-CN" dirty="0">
                    <a:solidFill>
                      <a:srgbClr val="FF0000"/>
                    </a:solidFill>
                    <a:ea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⊕</m:t>
                        </m:r>
                      </m:oMath>
                    </m:oMathPara>
                  </a14:m>
                  <a:endParaRPr lang="en-US" altLang="zh-CN" dirty="0">
                    <a:solidFill>
                      <a:srgbClr val="FF0000"/>
                    </a:solidFill>
                    <a:ea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⊕</m:t>
                        </m:r>
                      </m:oMath>
                    </m:oMathPara>
                  </a14:m>
                  <a:endParaRPr lang="en-US" altLang="zh-CN" dirty="0">
                    <a:solidFill>
                      <a:srgbClr val="FF0000"/>
                    </a:solidFill>
                    <a:ea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⊕</m:t>
                        </m:r>
                      </m:oMath>
                    </m:oMathPara>
                  </a14:m>
                  <a:endParaRPr lang="en-US" altLang="zh-CN" dirty="0">
                    <a:solidFill>
                      <a:srgbClr val="FF0000"/>
                    </a:solidFill>
                    <a:ea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⊕</m:t>
                        </m:r>
                      </m:oMath>
                    </m:oMathPara>
                  </a14:m>
                  <a:endParaRPr lang="en-US" altLang="zh-CN" dirty="0">
                    <a:solidFill>
                      <a:srgbClr val="FF0000"/>
                    </a:solidFill>
                    <a:ea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⊕</m:t>
                        </m:r>
                      </m:oMath>
                    </m:oMathPara>
                  </a14:m>
                  <a:endParaRPr lang="en-US" altLang="zh-CN" dirty="0">
                    <a:solidFill>
                      <a:srgbClr val="FF0000"/>
                    </a:solidFill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01C26E2D-A251-B52E-F8C5-9990B91A23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34000" y="2502000"/>
                  <a:ext cx="252000" cy="1908000"/>
                </a:xfrm>
                <a:prstGeom prst="rect">
                  <a:avLst/>
                </a:prstGeom>
                <a:blipFill>
                  <a:blip r:embed="rId8"/>
                  <a:stretch>
                    <a:fillRect l="-33333" t="-319" r="-35714" b="-41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7" name="直接箭头连接符 66">
              <a:extLst>
                <a:ext uri="{FF2B5EF4-FFF2-40B4-BE49-F238E27FC236}">
                  <a16:creationId xmlns:a16="http://schemas.microsoft.com/office/drawing/2014/main" id="{37F12248-FE9C-2992-4DDC-93203B6E074F}"/>
                </a:ext>
              </a:extLst>
            </p:cNvPr>
            <p:cNvCxnSpPr/>
            <p:nvPr/>
          </p:nvCxnSpPr>
          <p:spPr>
            <a:xfrm>
              <a:off x="10404000" y="2790000"/>
              <a:ext cx="576000" cy="0"/>
            </a:xfrm>
            <a:prstGeom prst="straightConnector1">
              <a:avLst/>
            </a:prstGeom>
            <a:ln w="25400">
              <a:solidFill>
                <a:srgbClr val="0000FF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箭头连接符 67">
              <a:extLst>
                <a:ext uri="{FF2B5EF4-FFF2-40B4-BE49-F238E27FC236}">
                  <a16:creationId xmlns:a16="http://schemas.microsoft.com/office/drawing/2014/main" id="{54929FAC-E052-2520-00A7-3E0CBFAFB813}"/>
                </a:ext>
              </a:extLst>
            </p:cNvPr>
            <p:cNvCxnSpPr/>
            <p:nvPr/>
          </p:nvCxnSpPr>
          <p:spPr>
            <a:xfrm>
              <a:off x="10404000" y="3060000"/>
              <a:ext cx="576000" cy="0"/>
            </a:xfrm>
            <a:prstGeom prst="straightConnector1">
              <a:avLst/>
            </a:prstGeom>
            <a:ln w="25400">
              <a:solidFill>
                <a:srgbClr val="0000FF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箭头连接符 68">
              <a:extLst>
                <a:ext uri="{FF2B5EF4-FFF2-40B4-BE49-F238E27FC236}">
                  <a16:creationId xmlns:a16="http://schemas.microsoft.com/office/drawing/2014/main" id="{675BC349-654E-1180-0FF2-12781D767AF9}"/>
                </a:ext>
              </a:extLst>
            </p:cNvPr>
            <p:cNvCxnSpPr/>
            <p:nvPr/>
          </p:nvCxnSpPr>
          <p:spPr>
            <a:xfrm>
              <a:off x="10404000" y="3330000"/>
              <a:ext cx="576000" cy="0"/>
            </a:xfrm>
            <a:prstGeom prst="straightConnector1">
              <a:avLst/>
            </a:prstGeom>
            <a:ln w="25400">
              <a:solidFill>
                <a:srgbClr val="0000FF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箭头连接符 69">
              <a:extLst>
                <a:ext uri="{FF2B5EF4-FFF2-40B4-BE49-F238E27FC236}">
                  <a16:creationId xmlns:a16="http://schemas.microsoft.com/office/drawing/2014/main" id="{8FFF056A-1D74-A0BE-DD7E-F7FD7F7B0E86}"/>
                </a:ext>
              </a:extLst>
            </p:cNvPr>
            <p:cNvCxnSpPr/>
            <p:nvPr/>
          </p:nvCxnSpPr>
          <p:spPr>
            <a:xfrm>
              <a:off x="10404000" y="3600000"/>
              <a:ext cx="576000" cy="0"/>
            </a:xfrm>
            <a:prstGeom prst="straightConnector1">
              <a:avLst/>
            </a:prstGeom>
            <a:ln w="25400">
              <a:solidFill>
                <a:srgbClr val="0000FF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箭头连接符 70">
              <a:extLst>
                <a:ext uri="{FF2B5EF4-FFF2-40B4-BE49-F238E27FC236}">
                  <a16:creationId xmlns:a16="http://schemas.microsoft.com/office/drawing/2014/main" id="{34136852-3786-C969-D10C-FA1278ABC36B}"/>
                </a:ext>
              </a:extLst>
            </p:cNvPr>
            <p:cNvCxnSpPr/>
            <p:nvPr/>
          </p:nvCxnSpPr>
          <p:spPr>
            <a:xfrm>
              <a:off x="10404000" y="3888000"/>
              <a:ext cx="576000" cy="0"/>
            </a:xfrm>
            <a:prstGeom prst="straightConnector1">
              <a:avLst/>
            </a:prstGeom>
            <a:ln w="25400">
              <a:solidFill>
                <a:srgbClr val="0000FF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箭头连接符 71">
              <a:extLst>
                <a:ext uri="{FF2B5EF4-FFF2-40B4-BE49-F238E27FC236}">
                  <a16:creationId xmlns:a16="http://schemas.microsoft.com/office/drawing/2014/main" id="{7BCADA9E-D479-851F-D64B-B517865F08D6}"/>
                </a:ext>
              </a:extLst>
            </p:cNvPr>
            <p:cNvCxnSpPr/>
            <p:nvPr/>
          </p:nvCxnSpPr>
          <p:spPr>
            <a:xfrm>
              <a:off x="10404000" y="4158000"/>
              <a:ext cx="576000" cy="0"/>
            </a:xfrm>
            <a:prstGeom prst="straightConnector1">
              <a:avLst/>
            </a:prstGeom>
            <a:ln w="25400">
              <a:solidFill>
                <a:srgbClr val="0000FF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289228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2CA20-42CC-DA5C-232F-BC6E477E5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99DAB5BD-FF8C-BC58-7711-9FF7FF813FEE}"/>
                  </a:ext>
                </a:extLst>
              </p:cNvPr>
              <p:cNvSpPr txBox="1"/>
              <p:nvPr/>
            </p:nvSpPr>
            <p:spPr>
              <a:xfrm>
                <a:off x="360000" y="828000"/>
                <a:ext cx="8415540" cy="53308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电容的电压和电流：</a:t>
                </a:r>
                <a:endParaRPr kumimoji="1"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可充电和放电：充电：两端电压 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↑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；放电：两端电压 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↓</a:t>
                </a:r>
              </a:p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电容两端的电压</a:t>
                </a:r>
                <a:r>
                  <a:rPr lang="zh-CN" altLang="en-US" sz="24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不能突变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，存在过渡过程</a:t>
                </a:r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电容两端的电压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变化时，引起两端电流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的变化如下：</a:t>
                </a:r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3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sz="24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sz="24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altLang="zh-CN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altLang="zh-CN" sz="24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sz="24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𝐶𝑣</m:t>
                          </m:r>
                          <m:r>
                            <a:rPr lang="en-US" altLang="zh-CN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altLang="zh-CN" sz="24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f>
                        <m:fPr>
                          <m:ctrlP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altLang="zh-CN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当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不再变化时，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24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已知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24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，可得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4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如下（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4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altLang="zh-CN" sz="24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）：</a:t>
                </a:r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3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sz="24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den>
                      </m:f>
                      <m:nary>
                        <m:naryPr>
                          <m:ctrlPr>
                            <a:rPr lang="en-US" altLang="zh-CN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zh-CN" sz="240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p>
                        <m:e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d>
                            <m:dPr>
                              <m:ctrl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nary>
                      <m:r>
                        <a:rPr lang="en-US" altLang="zh-CN" sz="24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zh-CN" sz="24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24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24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99DAB5BD-FF8C-BC58-7711-9FF7FF813F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828000"/>
                <a:ext cx="8415540" cy="5330818"/>
              </a:xfrm>
              <a:prstGeom prst="rect">
                <a:avLst/>
              </a:prstGeom>
              <a:blipFill>
                <a:blip r:embed="rId2"/>
                <a:stretch>
                  <a:fillRect l="-1448" t="-4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>
            <a:extLst>
              <a:ext uri="{FF2B5EF4-FFF2-40B4-BE49-F238E27FC236}">
                <a16:creationId xmlns:a16="http://schemas.microsoft.com/office/drawing/2014/main" id="{12F77A02-FD42-3C72-0890-3CCAF856F167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电容知识点补充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8D47F73D-F5DF-6C57-8A71-A9F0B1654240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F51A2A1B-FF5F-3722-A813-23C07C86F959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36" name="箭头: 五边形 35">
                <a:extLst>
                  <a:ext uri="{FF2B5EF4-FFF2-40B4-BE49-F238E27FC236}">
                    <a16:creationId xmlns:a16="http://schemas.microsoft.com/office/drawing/2014/main" id="{BDACC8CE-7E67-671D-548D-B1124CFCEB8A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7" name="箭头: V 形 36">
                <a:extLst>
                  <a:ext uri="{FF2B5EF4-FFF2-40B4-BE49-F238E27FC236}">
                    <a16:creationId xmlns:a16="http://schemas.microsoft.com/office/drawing/2014/main" id="{C6576096-4C8A-735A-4481-FD8236D7B39D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5" name="灯片编号占位符 3">
              <a:extLst>
                <a:ext uri="{FF2B5EF4-FFF2-40B4-BE49-F238E27FC236}">
                  <a16:creationId xmlns:a16="http://schemas.microsoft.com/office/drawing/2014/main" id="{2F79B65B-0064-F5CF-60C4-003E686771D0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11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875809C2-D56B-42B9-87CC-F2FFA1B5C1D4}"/>
              </a:ext>
            </a:extLst>
          </p:cNvPr>
          <p:cNvGrpSpPr/>
          <p:nvPr/>
        </p:nvGrpSpPr>
        <p:grpSpPr>
          <a:xfrm>
            <a:off x="8280000" y="4428000"/>
            <a:ext cx="2304000" cy="2268000"/>
            <a:chOff x="8280000" y="4428000"/>
            <a:chExt cx="2304000" cy="22680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A3927722-E248-A796-C3F1-1C325C72F3F2}"/>
                    </a:ext>
                  </a:extLst>
                </p:cNvPr>
                <p:cNvSpPr txBox="1"/>
                <p:nvPr/>
              </p:nvSpPr>
              <p:spPr>
                <a:xfrm>
                  <a:off x="8460000" y="5292000"/>
                  <a:ext cx="432000" cy="504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A3927722-E248-A796-C3F1-1C325C72F3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60000" y="5292000"/>
                  <a:ext cx="432000" cy="50400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380616EF-A536-8A6C-9F86-0FBB636D912B}"/>
                </a:ext>
              </a:extLst>
            </p:cNvPr>
            <p:cNvCxnSpPr>
              <a:cxnSpLocks/>
            </p:cNvCxnSpPr>
            <p:nvPr/>
          </p:nvCxnSpPr>
          <p:spPr>
            <a:xfrm>
              <a:off x="9558000" y="5256000"/>
              <a:ext cx="1026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E2AD7B7C-4E0E-3BBE-31A0-C1A60EF299C9}"/>
                </a:ext>
              </a:extLst>
            </p:cNvPr>
            <p:cNvCxnSpPr>
              <a:cxnSpLocks/>
            </p:cNvCxnSpPr>
            <p:nvPr/>
          </p:nvCxnSpPr>
          <p:spPr>
            <a:xfrm>
              <a:off x="8280000" y="5256000"/>
              <a:ext cx="1026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8D1B1318-4085-CC18-ABF7-85E7F0D54494}"/>
                </a:ext>
              </a:extLst>
            </p:cNvPr>
            <p:cNvCxnSpPr>
              <a:cxnSpLocks/>
            </p:cNvCxnSpPr>
            <p:nvPr/>
          </p:nvCxnSpPr>
          <p:spPr>
            <a:xfrm>
              <a:off x="10584000" y="5256000"/>
              <a:ext cx="0" cy="10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7266195B-7781-F0DD-3FE5-27361E1583D7}"/>
                </a:ext>
              </a:extLst>
            </p:cNvPr>
            <p:cNvCxnSpPr>
              <a:cxnSpLocks/>
            </p:cNvCxnSpPr>
            <p:nvPr/>
          </p:nvCxnSpPr>
          <p:spPr>
            <a:xfrm>
              <a:off x="8280000" y="5256000"/>
              <a:ext cx="0" cy="108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F559BDB8-6866-99F9-7270-B79849C331CF}"/>
                </a:ext>
              </a:extLst>
            </p:cNvPr>
            <p:cNvCxnSpPr>
              <a:cxnSpLocks/>
            </p:cNvCxnSpPr>
            <p:nvPr/>
          </p:nvCxnSpPr>
          <p:spPr>
            <a:xfrm>
              <a:off x="8280000" y="6336000"/>
              <a:ext cx="648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C7424C1A-081A-2B2F-6C31-FA8CC2E0BC3A}"/>
                </a:ext>
              </a:extLst>
            </p:cNvPr>
            <p:cNvCxnSpPr>
              <a:cxnSpLocks/>
            </p:cNvCxnSpPr>
            <p:nvPr/>
          </p:nvCxnSpPr>
          <p:spPr>
            <a:xfrm>
              <a:off x="8928000" y="5976000"/>
              <a:ext cx="0" cy="72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19226D5B-B5E2-16A2-8408-4166F2235703}"/>
                </a:ext>
              </a:extLst>
            </p:cNvPr>
            <p:cNvCxnSpPr>
              <a:cxnSpLocks/>
            </p:cNvCxnSpPr>
            <p:nvPr/>
          </p:nvCxnSpPr>
          <p:spPr>
            <a:xfrm>
              <a:off x="9108000" y="6156000"/>
              <a:ext cx="0" cy="36000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0A7D8901-006C-8EAE-958D-B0A89703EA6E}"/>
                </a:ext>
              </a:extLst>
            </p:cNvPr>
            <p:cNvCxnSpPr>
              <a:cxnSpLocks/>
            </p:cNvCxnSpPr>
            <p:nvPr/>
          </p:nvCxnSpPr>
          <p:spPr>
            <a:xfrm>
              <a:off x="9108000" y="6336000"/>
              <a:ext cx="1476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4F38FF26-310F-7807-12E1-2661B8DC18CB}"/>
                </a:ext>
              </a:extLst>
            </p:cNvPr>
            <p:cNvSpPr/>
            <p:nvPr/>
          </p:nvSpPr>
          <p:spPr>
            <a:xfrm>
              <a:off x="9612000" y="6246000"/>
              <a:ext cx="576000" cy="180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E3D8688A-619C-7751-84EE-A4CD697F961A}"/>
                </a:ext>
              </a:extLst>
            </p:cNvPr>
            <p:cNvGrpSpPr/>
            <p:nvPr/>
          </p:nvGrpSpPr>
          <p:grpSpPr>
            <a:xfrm>
              <a:off x="9306000" y="4896000"/>
              <a:ext cx="252000" cy="720000"/>
              <a:chOff x="10080000" y="3888000"/>
              <a:chExt cx="252000" cy="720000"/>
            </a:xfrm>
          </p:grpSpPr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2653C93C-D66F-1000-2108-6EFE0AF5C8C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080000" y="3888000"/>
                <a:ext cx="0" cy="72000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>
                <a:extLst>
                  <a:ext uri="{FF2B5EF4-FFF2-40B4-BE49-F238E27FC236}">
                    <a16:creationId xmlns:a16="http://schemas.microsoft.com/office/drawing/2014/main" id="{71196928-5F7A-B260-84C6-EC88276CAF2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32000" y="3888000"/>
                <a:ext cx="0" cy="72000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6B564EAE-E2D2-CF74-C41A-6FB8605D4C36}"/>
                    </a:ext>
                  </a:extLst>
                </p:cNvPr>
                <p:cNvSpPr txBox="1"/>
                <p:nvPr/>
              </p:nvSpPr>
              <p:spPr>
                <a:xfrm>
                  <a:off x="8820000" y="4788000"/>
                  <a:ext cx="60354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6B564EAE-E2D2-CF74-C41A-6FB8605D4C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20000" y="4788000"/>
                  <a:ext cx="603540" cy="52322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9D2A818A-21CE-439C-024C-2B7C081C1303}"/>
                    </a:ext>
                  </a:extLst>
                </p:cNvPr>
                <p:cNvSpPr txBox="1"/>
                <p:nvPr/>
              </p:nvSpPr>
              <p:spPr>
                <a:xfrm>
                  <a:off x="9450000" y="4788000"/>
                  <a:ext cx="60354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9D2A818A-21CE-439C-024C-2B7C081C13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50000" y="4788000"/>
                  <a:ext cx="603540" cy="52322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0" name="直接箭头连接符 49">
              <a:extLst>
                <a:ext uri="{FF2B5EF4-FFF2-40B4-BE49-F238E27FC236}">
                  <a16:creationId xmlns:a16="http://schemas.microsoft.com/office/drawing/2014/main" id="{A31F897A-6E2E-F68F-FC39-8C74A72D832A}"/>
                </a:ext>
              </a:extLst>
            </p:cNvPr>
            <p:cNvCxnSpPr/>
            <p:nvPr/>
          </p:nvCxnSpPr>
          <p:spPr>
            <a:xfrm>
              <a:off x="8460000" y="5364000"/>
              <a:ext cx="504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文本框 56">
                  <a:extLst>
                    <a:ext uri="{FF2B5EF4-FFF2-40B4-BE49-F238E27FC236}">
                      <a16:creationId xmlns:a16="http://schemas.microsoft.com/office/drawing/2014/main" id="{019083B2-CA91-CB2A-28AF-4333F70000BD}"/>
                    </a:ext>
                  </a:extLst>
                </p:cNvPr>
                <p:cNvSpPr txBox="1"/>
                <p:nvPr/>
              </p:nvSpPr>
              <p:spPr>
                <a:xfrm>
                  <a:off x="9216000" y="4428000"/>
                  <a:ext cx="43200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7" name="文本框 56">
                  <a:extLst>
                    <a:ext uri="{FF2B5EF4-FFF2-40B4-BE49-F238E27FC236}">
                      <a16:creationId xmlns:a16="http://schemas.microsoft.com/office/drawing/2014/main" id="{019083B2-CA91-CB2A-28AF-4333F70000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16000" y="4428000"/>
                  <a:ext cx="432000" cy="52322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文本框 73">
                  <a:extLst>
                    <a:ext uri="{FF2B5EF4-FFF2-40B4-BE49-F238E27FC236}">
                      <a16:creationId xmlns:a16="http://schemas.microsoft.com/office/drawing/2014/main" id="{A4774687-93F2-50CA-EEFD-A1C7B67D9845}"/>
                    </a:ext>
                  </a:extLst>
                </p:cNvPr>
                <p:cNvSpPr txBox="1"/>
                <p:nvPr/>
              </p:nvSpPr>
              <p:spPr>
                <a:xfrm>
                  <a:off x="9540000" y="5400000"/>
                  <a:ext cx="432000" cy="540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74" name="文本框 73">
                  <a:extLst>
                    <a:ext uri="{FF2B5EF4-FFF2-40B4-BE49-F238E27FC236}">
                      <a16:creationId xmlns:a16="http://schemas.microsoft.com/office/drawing/2014/main" id="{A4774687-93F2-50CA-EEFD-A1C7B67D98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40000" y="5400000"/>
                  <a:ext cx="432000" cy="54000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AF584E73-92E7-195E-AD4B-8D40B8173146}"/>
              </a:ext>
            </a:extLst>
          </p:cNvPr>
          <p:cNvGrpSpPr/>
          <p:nvPr/>
        </p:nvGrpSpPr>
        <p:grpSpPr>
          <a:xfrm>
            <a:off x="9468000" y="2196000"/>
            <a:ext cx="2592000" cy="2124000"/>
            <a:chOff x="9396000" y="2376000"/>
            <a:chExt cx="2592000" cy="2124000"/>
          </a:xfrm>
        </p:grpSpPr>
        <p:sp>
          <p:nvSpPr>
            <p:cNvPr id="15" name="对话气泡: 圆角矩形 14">
              <a:extLst>
                <a:ext uri="{FF2B5EF4-FFF2-40B4-BE49-F238E27FC236}">
                  <a16:creationId xmlns:a16="http://schemas.microsoft.com/office/drawing/2014/main" id="{51F30680-8112-4945-C0AE-116694742DA0}"/>
                </a:ext>
              </a:extLst>
            </p:cNvPr>
            <p:cNvSpPr/>
            <p:nvPr/>
          </p:nvSpPr>
          <p:spPr>
            <a:xfrm>
              <a:off x="9396000" y="2376000"/>
              <a:ext cx="2592000" cy="2124000"/>
            </a:xfrm>
            <a:prstGeom prst="wedgeRoundRectCallout">
              <a:avLst>
                <a:gd name="adj1" fmla="val -36176"/>
                <a:gd name="adj2" fmla="val 67829"/>
                <a:gd name="adj3" fmla="val 16667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9E587532-3354-0A39-066B-62F3D4535E55}"/>
                </a:ext>
              </a:extLst>
            </p:cNvPr>
            <p:cNvSpPr/>
            <p:nvPr/>
          </p:nvSpPr>
          <p:spPr>
            <a:xfrm>
              <a:off x="11268000" y="2556000"/>
              <a:ext cx="108000" cy="1800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D81DBEFF-0DAE-2E8A-086E-967CE77AC8A4}"/>
                </a:ext>
              </a:extLst>
            </p:cNvPr>
            <p:cNvCxnSpPr>
              <a:cxnSpLocks/>
              <a:stCxn id="17" idx="3"/>
            </p:cNvCxnSpPr>
            <p:nvPr/>
          </p:nvCxnSpPr>
          <p:spPr>
            <a:xfrm>
              <a:off x="11376000" y="3456000"/>
              <a:ext cx="468000" cy="0"/>
            </a:xfrm>
            <a:prstGeom prst="line">
              <a:avLst/>
            </a:prstGeom>
            <a:ln w="508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F6946571-9039-DB52-2BE1-63CC9DAA582D}"/>
                    </a:ext>
                  </a:extLst>
                </p:cNvPr>
                <p:cNvSpPr txBox="1"/>
                <p:nvPr/>
              </p:nvSpPr>
              <p:spPr>
                <a:xfrm>
                  <a:off x="10980000" y="2502000"/>
                  <a:ext cx="288000" cy="19080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⊝</m:t>
                        </m:r>
                      </m:oMath>
                    </m:oMathPara>
                  </a14:m>
                  <a:endParaRPr lang="en-US" altLang="zh-CN" dirty="0">
                    <a:solidFill>
                      <a:srgbClr val="00B050"/>
                    </a:solidFill>
                    <a:ea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⊝</m:t>
                        </m:r>
                      </m:oMath>
                    </m:oMathPara>
                  </a14:m>
                  <a:endParaRPr lang="en-US" altLang="zh-CN" dirty="0">
                    <a:solidFill>
                      <a:srgbClr val="00B050"/>
                    </a:solidFill>
                    <a:ea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⊝</m:t>
                        </m:r>
                      </m:oMath>
                    </m:oMathPara>
                  </a14:m>
                  <a:endParaRPr lang="en-US" altLang="zh-CN" dirty="0">
                    <a:solidFill>
                      <a:srgbClr val="00B050"/>
                    </a:solidFill>
                    <a:ea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⊝</m:t>
                        </m:r>
                      </m:oMath>
                    </m:oMathPara>
                  </a14:m>
                  <a:endParaRPr lang="en-US" altLang="zh-CN" dirty="0">
                    <a:solidFill>
                      <a:srgbClr val="00B050"/>
                    </a:solidFill>
                    <a:ea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⊝</m:t>
                        </m:r>
                      </m:oMath>
                    </m:oMathPara>
                  </a14:m>
                  <a:endParaRPr lang="en-US" altLang="zh-CN" dirty="0">
                    <a:solidFill>
                      <a:srgbClr val="00B050"/>
                    </a:solidFill>
                    <a:ea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⊝</m:t>
                        </m:r>
                      </m:oMath>
                    </m:oMathPara>
                  </a14:m>
                  <a:endParaRPr lang="en-US" altLang="zh-CN" dirty="0">
                    <a:solidFill>
                      <a:srgbClr val="00B050"/>
                    </a:solidFill>
                    <a:ea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⊝</m:t>
                        </m:r>
                      </m:oMath>
                    </m:oMathPara>
                  </a14:m>
                  <a:endParaRPr lang="en-US" altLang="zh-CN" dirty="0">
                    <a:solidFill>
                      <a:srgbClr val="00B050"/>
                    </a:solidFill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F6946571-9039-DB52-2BE1-63CC9DAA58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80000" y="2502000"/>
                  <a:ext cx="288000" cy="1908000"/>
                </a:xfrm>
                <a:prstGeom prst="rect">
                  <a:avLst/>
                </a:prstGeom>
                <a:blipFill>
                  <a:blip r:embed="rId10"/>
                  <a:stretch>
                    <a:fillRect l="-25532" t="-319" r="-25532" b="-41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F27BDD75-2E1E-641E-6BF6-6B96FEEFFACE}"/>
                </a:ext>
              </a:extLst>
            </p:cNvPr>
            <p:cNvSpPr/>
            <p:nvPr/>
          </p:nvSpPr>
          <p:spPr>
            <a:xfrm>
              <a:off x="10008000" y="2556000"/>
              <a:ext cx="108000" cy="1800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CFA0BF64-6348-152A-C4AF-9A9C8B678507}"/>
                </a:ext>
              </a:extLst>
            </p:cNvPr>
            <p:cNvCxnSpPr>
              <a:cxnSpLocks/>
              <a:endCxn id="20" idx="1"/>
            </p:cNvCxnSpPr>
            <p:nvPr/>
          </p:nvCxnSpPr>
          <p:spPr>
            <a:xfrm>
              <a:off x="9540000" y="3456000"/>
              <a:ext cx="468000" cy="0"/>
            </a:xfrm>
            <a:prstGeom prst="line">
              <a:avLst/>
            </a:prstGeom>
            <a:ln w="508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ACCFCE83-24F0-6E89-3B78-576038D6F430}"/>
                    </a:ext>
                  </a:extLst>
                </p:cNvPr>
                <p:cNvSpPr txBox="1"/>
                <p:nvPr/>
              </p:nvSpPr>
              <p:spPr>
                <a:xfrm>
                  <a:off x="10134000" y="2502000"/>
                  <a:ext cx="252000" cy="19080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⊕</m:t>
                        </m:r>
                      </m:oMath>
                    </m:oMathPara>
                  </a14:m>
                  <a:endParaRPr lang="en-US" altLang="zh-CN" dirty="0">
                    <a:solidFill>
                      <a:srgbClr val="FF0000"/>
                    </a:solidFill>
                    <a:ea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⊕</m:t>
                        </m:r>
                      </m:oMath>
                    </m:oMathPara>
                  </a14:m>
                  <a:endParaRPr lang="en-US" altLang="zh-CN" dirty="0">
                    <a:solidFill>
                      <a:srgbClr val="FF0000"/>
                    </a:solidFill>
                    <a:ea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⊕</m:t>
                        </m:r>
                      </m:oMath>
                    </m:oMathPara>
                  </a14:m>
                  <a:endParaRPr lang="en-US" altLang="zh-CN" dirty="0">
                    <a:solidFill>
                      <a:srgbClr val="FF0000"/>
                    </a:solidFill>
                    <a:ea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⊕</m:t>
                        </m:r>
                      </m:oMath>
                    </m:oMathPara>
                  </a14:m>
                  <a:endParaRPr lang="en-US" altLang="zh-CN" dirty="0">
                    <a:solidFill>
                      <a:srgbClr val="FF0000"/>
                    </a:solidFill>
                    <a:ea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⊕</m:t>
                        </m:r>
                      </m:oMath>
                    </m:oMathPara>
                  </a14:m>
                  <a:endParaRPr lang="en-US" altLang="zh-CN" dirty="0">
                    <a:solidFill>
                      <a:srgbClr val="FF0000"/>
                    </a:solidFill>
                    <a:ea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⊕</m:t>
                        </m:r>
                      </m:oMath>
                    </m:oMathPara>
                  </a14:m>
                  <a:endParaRPr lang="en-US" altLang="zh-CN" dirty="0">
                    <a:solidFill>
                      <a:srgbClr val="FF0000"/>
                    </a:solidFill>
                    <a:ea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⊕</m:t>
                        </m:r>
                      </m:oMath>
                    </m:oMathPara>
                  </a14:m>
                  <a:endParaRPr lang="en-US" altLang="zh-CN" dirty="0">
                    <a:solidFill>
                      <a:srgbClr val="FF0000"/>
                    </a:solidFill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ACCFCE83-24F0-6E89-3B78-576038D6F4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34000" y="2502000"/>
                  <a:ext cx="252000" cy="1908000"/>
                </a:xfrm>
                <a:prstGeom prst="rect">
                  <a:avLst/>
                </a:prstGeom>
                <a:blipFill>
                  <a:blip r:embed="rId11"/>
                  <a:stretch>
                    <a:fillRect l="-33333" t="-319" r="-35714" b="-41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3" name="直接箭头连接符 22">
              <a:extLst>
                <a:ext uri="{FF2B5EF4-FFF2-40B4-BE49-F238E27FC236}">
                  <a16:creationId xmlns:a16="http://schemas.microsoft.com/office/drawing/2014/main" id="{2C5A28AC-A30F-E8C3-D1B7-7B95B8F4E202}"/>
                </a:ext>
              </a:extLst>
            </p:cNvPr>
            <p:cNvCxnSpPr/>
            <p:nvPr/>
          </p:nvCxnSpPr>
          <p:spPr>
            <a:xfrm>
              <a:off x="10404000" y="2790000"/>
              <a:ext cx="576000" cy="0"/>
            </a:xfrm>
            <a:prstGeom prst="straightConnector1">
              <a:avLst/>
            </a:prstGeom>
            <a:ln w="25400">
              <a:solidFill>
                <a:srgbClr val="0000FF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箭头连接符 23">
              <a:extLst>
                <a:ext uri="{FF2B5EF4-FFF2-40B4-BE49-F238E27FC236}">
                  <a16:creationId xmlns:a16="http://schemas.microsoft.com/office/drawing/2014/main" id="{6874FDD7-EE36-C597-0F25-B3DD5F9D44C8}"/>
                </a:ext>
              </a:extLst>
            </p:cNvPr>
            <p:cNvCxnSpPr/>
            <p:nvPr/>
          </p:nvCxnSpPr>
          <p:spPr>
            <a:xfrm>
              <a:off x="10404000" y="3060000"/>
              <a:ext cx="576000" cy="0"/>
            </a:xfrm>
            <a:prstGeom prst="straightConnector1">
              <a:avLst/>
            </a:prstGeom>
            <a:ln w="25400">
              <a:solidFill>
                <a:srgbClr val="0000FF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箭头连接符 24">
              <a:extLst>
                <a:ext uri="{FF2B5EF4-FFF2-40B4-BE49-F238E27FC236}">
                  <a16:creationId xmlns:a16="http://schemas.microsoft.com/office/drawing/2014/main" id="{EF5A11C8-E32A-A491-75D0-880A107F73B3}"/>
                </a:ext>
              </a:extLst>
            </p:cNvPr>
            <p:cNvCxnSpPr/>
            <p:nvPr/>
          </p:nvCxnSpPr>
          <p:spPr>
            <a:xfrm>
              <a:off x="10404000" y="3330000"/>
              <a:ext cx="576000" cy="0"/>
            </a:xfrm>
            <a:prstGeom prst="straightConnector1">
              <a:avLst/>
            </a:prstGeom>
            <a:ln w="25400">
              <a:solidFill>
                <a:srgbClr val="0000FF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91890E76-0216-E853-032F-7F0780F617A2}"/>
                </a:ext>
              </a:extLst>
            </p:cNvPr>
            <p:cNvCxnSpPr/>
            <p:nvPr/>
          </p:nvCxnSpPr>
          <p:spPr>
            <a:xfrm>
              <a:off x="10404000" y="3600000"/>
              <a:ext cx="576000" cy="0"/>
            </a:xfrm>
            <a:prstGeom prst="straightConnector1">
              <a:avLst/>
            </a:prstGeom>
            <a:ln w="25400">
              <a:solidFill>
                <a:srgbClr val="0000FF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箭头连接符 26">
              <a:extLst>
                <a:ext uri="{FF2B5EF4-FFF2-40B4-BE49-F238E27FC236}">
                  <a16:creationId xmlns:a16="http://schemas.microsoft.com/office/drawing/2014/main" id="{113CB81D-04E0-1F21-73A9-CF54C8EC8A7B}"/>
                </a:ext>
              </a:extLst>
            </p:cNvPr>
            <p:cNvCxnSpPr/>
            <p:nvPr/>
          </p:nvCxnSpPr>
          <p:spPr>
            <a:xfrm>
              <a:off x="10404000" y="3888000"/>
              <a:ext cx="576000" cy="0"/>
            </a:xfrm>
            <a:prstGeom prst="straightConnector1">
              <a:avLst/>
            </a:prstGeom>
            <a:ln w="25400">
              <a:solidFill>
                <a:srgbClr val="0000FF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箭头连接符 29">
              <a:extLst>
                <a:ext uri="{FF2B5EF4-FFF2-40B4-BE49-F238E27FC236}">
                  <a16:creationId xmlns:a16="http://schemas.microsoft.com/office/drawing/2014/main" id="{5FB6C48A-035E-56CE-C397-0CD387C02CDC}"/>
                </a:ext>
              </a:extLst>
            </p:cNvPr>
            <p:cNvCxnSpPr/>
            <p:nvPr/>
          </p:nvCxnSpPr>
          <p:spPr>
            <a:xfrm>
              <a:off x="10404000" y="4158000"/>
              <a:ext cx="576000" cy="0"/>
            </a:xfrm>
            <a:prstGeom prst="straightConnector1">
              <a:avLst/>
            </a:prstGeom>
            <a:ln w="25400">
              <a:solidFill>
                <a:srgbClr val="0000FF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514436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6C5B1-8C65-9A74-469B-896EC24CD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511007F2-58B5-3B76-1E82-A34A66CDCADF}"/>
                  </a:ext>
                </a:extLst>
              </p:cNvPr>
              <p:cNvSpPr txBox="1"/>
              <p:nvPr/>
            </p:nvSpPr>
            <p:spPr>
              <a:xfrm>
                <a:off x="359998" y="827999"/>
                <a:ext cx="7560000" cy="57198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altLang="zh-CN" sz="28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𝑅𝐶</m:t>
                    </m:r>
                  </m:oMath>
                </a14:m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电路：</a:t>
                </a:r>
                <a:endParaRPr kumimoji="1"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零状态响应（电容初始电压</a:t>
                </a:r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sub>
                    </m:sSub>
                    <m:d>
                      <m:d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altLang="zh-CN" sz="24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f>
                        <m:fPr>
                          <m:ctrlPr>
                            <a:rPr lang="en-US" altLang="zh-CN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altLang="zh-CN" sz="24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    </m:t>
                      </m:r>
                      <m:groupChr>
                        <m:groupChrPr>
                          <m:chr m:val="⇒"/>
                          <m:vertJc m:val="bot"/>
                          <m:ctrlPr>
                            <a:rPr lang="en-US" altLang="zh-CN" sz="24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r>
                            <a:rPr lang="en-US" altLang="zh-CN" sz="24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r>
                            <a:rPr lang="en-US" altLang="zh-CN" sz="24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zh-CN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1(</m:t>
                          </m:r>
                          <m:r>
                            <a:rPr lang="en-US" altLang="zh-CN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groupChr>
                      <m:r>
                        <a:rPr lang="en-US" altLang="zh-CN" sz="24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24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   </m:t>
                      </m:r>
                      <m:sSub>
                        <m:sSubPr>
                          <m:ctrlPr>
                            <a:rPr lang="en-US" altLang="zh-CN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altLang="zh-CN" sz="24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en-US" altLang="zh-CN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num>
                            <m:den>
                              <m:r>
                                <a:rPr lang="en-US" altLang="zh-CN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𝑅𝐶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零输入响应（输入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altLang="zh-CN" sz="24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altLang="zh-CN" sz="24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f>
                        <m:fPr>
                          <m:ctrlP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altLang="zh-CN" sz="24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r>
                        <a:rPr lang="en-US" altLang="zh-CN" sz="24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CN" sz="24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    </m:t>
                      </m:r>
                      <m:groupChr>
                        <m:groupChrPr>
                          <m:chr m:val="⇒"/>
                          <m:vertJc m:val="bot"/>
                          <m:ctrlP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sub>
                          </m:sSub>
                          <m:r>
                            <a:rPr lang="en-US" altLang="zh-CN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(0)</m:t>
                          </m:r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zh-CN" sz="2400" b="0" i="0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groupChr>
                      <m:r>
                        <a:rPr lang="en-US" altLang="zh-CN" sz="240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24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   </m:t>
                      </m:r>
                      <m:sSub>
                        <m:sSubPr>
                          <m:ctrlPr>
                            <a:rPr lang="en-US" altLang="zh-CN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sz="24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en-US" altLang="zh-CN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num>
                            <m:den>
                              <m:r>
                                <a:rPr lang="en-US" altLang="zh-CN" sz="2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𝑅𝐶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叠加（电容充放电的快慢由时间常数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𝑅𝐶</m:t>
                    </m:r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决定）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o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r>
                        <a:rPr lang="en-US" altLang="zh-CN" sz="24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altLang="zh-CN" sz="24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altLang="zh-CN" sz="24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num>
                            <m:den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𝑅𝐶</m:t>
                              </m:r>
                            </m:den>
                          </m:f>
                        </m:sup>
                      </m:sSup>
                      <m:r>
                        <a:rPr lang="en-US" altLang="zh-CN" sz="24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sz="24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24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num>
                            <m:den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𝑅𝐶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sub>
                      </m:sSub>
                      <m:r>
                        <a:rPr kumimoji="1" lang="en-US" altLang="zh-CN" sz="2400" i="1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f>
                        <m:fPr>
                          <m:ctrlP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altLang="zh-CN" sz="24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  <m:r>
                        <a:rPr lang="en-US" altLang="zh-CN" sz="24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num>
                            <m:den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𝑅𝐶</m:t>
                              </m:r>
                            </m:den>
                          </m:f>
                        </m:sup>
                      </m:sSup>
                      <m:r>
                        <a:rPr lang="en-US" altLang="zh-CN" sz="24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zh-CN" sz="2400" b="0" i="0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  <m:r>
                        <a:rPr lang="en-US" altLang="zh-CN" sz="24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num>
                            <m:den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𝑅𝐶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511007F2-58B5-3B76-1E82-A34A66CDCA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998" y="827999"/>
                <a:ext cx="7560000" cy="5719899"/>
              </a:xfrm>
              <a:prstGeom prst="rect">
                <a:avLst/>
              </a:prstGeom>
              <a:blipFill>
                <a:blip r:embed="rId3"/>
                <a:stretch>
                  <a:fillRect l="-1048" t="-4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>
            <a:extLst>
              <a:ext uri="{FF2B5EF4-FFF2-40B4-BE49-F238E27FC236}">
                <a16:creationId xmlns:a16="http://schemas.microsoft.com/office/drawing/2014/main" id="{500AE883-4EA0-7F5F-B59B-7D00EF2A9643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电容知识点补充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EFBBC149-E0A0-12B5-3B9C-86F9C64DC40F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279C3244-F62E-DCB0-9400-38DCF401F876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36" name="箭头: 五边形 35">
                <a:extLst>
                  <a:ext uri="{FF2B5EF4-FFF2-40B4-BE49-F238E27FC236}">
                    <a16:creationId xmlns:a16="http://schemas.microsoft.com/office/drawing/2014/main" id="{841E1969-B0AD-2D5F-1491-1E9A539D8D4B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7" name="箭头: V 形 36">
                <a:extLst>
                  <a:ext uri="{FF2B5EF4-FFF2-40B4-BE49-F238E27FC236}">
                    <a16:creationId xmlns:a16="http://schemas.microsoft.com/office/drawing/2014/main" id="{5F9C9F9B-5130-114A-05D3-35902039783D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5" name="灯片编号占位符 3">
              <a:extLst>
                <a:ext uri="{FF2B5EF4-FFF2-40B4-BE49-F238E27FC236}">
                  <a16:creationId xmlns:a16="http://schemas.microsoft.com/office/drawing/2014/main" id="{1CC7C7BE-734F-58C9-FAFD-65CB4FA35F22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12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grpSp>
        <p:nvGrpSpPr>
          <p:cNvPr id="68" name="组合 67">
            <a:extLst>
              <a:ext uri="{FF2B5EF4-FFF2-40B4-BE49-F238E27FC236}">
                <a16:creationId xmlns:a16="http://schemas.microsoft.com/office/drawing/2014/main" id="{5C23675A-1A1A-FE96-B40A-FB238D849728}"/>
              </a:ext>
            </a:extLst>
          </p:cNvPr>
          <p:cNvGrpSpPr/>
          <p:nvPr/>
        </p:nvGrpSpPr>
        <p:grpSpPr>
          <a:xfrm>
            <a:off x="8280000" y="828000"/>
            <a:ext cx="3636000" cy="2484000"/>
            <a:chOff x="7920000" y="828000"/>
            <a:chExt cx="3636000" cy="24840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09E016E8-294A-4563-6D08-B0F9F9A5FAF6}"/>
                    </a:ext>
                  </a:extLst>
                </p:cNvPr>
                <p:cNvSpPr txBox="1"/>
                <p:nvPr/>
              </p:nvSpPr>
              <p:spPr>
                <a:xfrm>
                  <a:off x="7920000" y="1440000"/>
                  <a:ext cx="468000" cy="540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09E016E8-294A-4563-6D08-B0F9F9A5FA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20000" y="1440000"/>
                  <a:ext cx="468000" cy="54000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7547DC12-6FA5-0FB1-B43A-8CC2E4BBF974}"/>
                    </a:ext>
                  </a:extLst>
                </p:cNvPr>
                <p:cNvSpPr txBox="1"/>
                <p:nvPr/>
              </p:nvSpPr>
              <p:spPr>
                <a:xfrm>
                  <a:off x="7920000" y="2772000"/>
                  <a:ext cx="468000" cy="540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7547DC12-6FA5-0FB1-B43A-8CC2E4BBF9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20000" y="2772000"/>
                  <a:ext cx="468000" cy="54000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B56E2519-75C1-D6F6-17A1-D5BD5173E743}"/>
                </a:ext>
              </a:extLst>
            </p:cNvPr>
            <p:cNvCxnSpPr>
              <a:cxnSpLocks/>
            </p:cNvCxnSpPr>
            <p:nvPr/>
          </p:nvCxnSpPr>
          <p:spPr>
            <a:xfrm>
              <a:off x="8243999" y="1548000"/>
              <a:ext cx="2880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50ADF320-30CD-5269-EC39-1DA2C8742068}"/>
                </a:ext>
              </a:extLst>
            </p:cNvPr>
            <p:cNvSpPr/>
            <p:nvPr/>
          </p:nvSpPr>
          <p:spPr>
            <a:xfrm>
              <a:off x="8928000" y="1458000"/>
              <a:ext cx="576000" cy="180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05F51558-58B7-5271-FEA5-B99465C8A13F}"/>
                </a:ext>
              </a:extLst>
            </p:cNvPr>
            <p:cNvCxnSpPr>
              <a:cxnSpLocks/>
            </p:cNvCxnSpPr>
            <p:nvPr/>
          </p:nvCxnSpPr>
          <p:spPr>
            <a:xfrm>
              <a:off x="8244000" y="3168000"/>
              <a:ext cx="2880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8" name="组合 57">
              <a:extLst>
                <a:ext uri="{FF2B5EF4-FFF2-40B4-BE49-F238E27FC236}">
                  <a16:creationId xmlns:a16="http://schemas.microsoft.com/office/drawing/2014/main" id="{50365FE1-48B7-6BC6-C7B1-28DF637DAD49}"/>
                </a:ext>
              </a:extLst>
            </p:cNvPr>
            <p:cNvGrpSpPr/>
            <p:nvPr/>
          </p:nvGrpSpPr>
          <p:grpSpPr>
            <a:xfrm>
              <a:off x="9432000" y="1476000"/>
              <a:ext cx="1008000" cy="1764000"/>
              <a:chOff x="3960000" y="1836000"/>
              <a:chExt cx="1008000" cy="17640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4" name="文本框 73">
                    <a:extLst>
                      <a:ext uri="{FF2B5EF4-FFF2-40B4-BE49-F238E27FC236}">
                        <a16:creationId xmlns:a16="http://schemas.microsoft.com/office/drawing/2014/main" id="{23403E84-81EC-3237-BF63-339A3BC080E3}"/>
                      </a:ext>
                    </a:extLst>
                  </p:cNvPr>
                  <p:cNvSpPr txBox="1"/>
                  <p:nvPr/>
                </p:nvSpPr>
                <p:spPr>
                  <a:xfrm>
                    <a:off x="3960000" y="2448000"/>
                    <a:ext cx="432000" cy="54000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altLang="zh-CN" sz="28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oMath>
                      </m:oMathPara>
                    </a14:m>
                    <a:endParaRPr lang="zh-CN" altLang="en-US" sz="2800" dirty="0">
                      <a:solidFill>
                        <a:schemeClr val="accent5">
                          <a:lumMod val="75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4" name="文本框 73">
                    <a:extLst>
                      <a:ext uri="{FF2B5EF4-FFF2-40B4-BE49-F238E27FC236}">
                        <a16:creationId xmlns:a16="http://schemas.microsoft.com/office/drawing/2014/main" id="{23403E84-81EC-3237-BF63-339A3BC080E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60000" y="2448000"/>
                    <a:ext cx="432000" cy="54000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9" name="直接连接符 38">
                <a:extLst>
                  <a:ext uri="{FF2B5EF4-FFF2-40B4-BE49-F238E27FC236}">
                    <a16:creationId xmlns:a16="http://schemas.microsoft.com/office/drawing/2014/main" id="{611544B7-E7A0-B61C-BB9C-014158427CD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80000" y="1908000"/>
                <a:ext cx="0" cy="72000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>
                <a:extLst>
                  <a:ext uri="{FF2B5EF4-FFF2-40B4-BE49-F238E27FC236}">
                    <a16:creationId xmlns:a16="http://schemas.microsoft.com/office/drawing/2014/main" id="{5A22A9AF-8991-BACF-C035-F1C206F722C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80000" y="2808000"/>
                <a:ext cx="0" cy="72000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>
                <a:extLst>
                  <a:ext uri="{FF2B5EF4-FFF2-40B4-BE49-F238E27FC236}">
                    <a16:creationId xmlns:a16="http://schemas.microsoft.com/office/drawing/2014/main" id="{B41DCA67-6207-7FE9-C7EB-525DD184B19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92000" y="2628000"/>
                <a:ext cx="57600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>
                <a:extLst>
                  <a:ext uri="{FF2B5EF4-FFF2-40B4-BE49-F238E27FC236}">
                    <a16:creationId xmlns:a16="http://schemas.microsoft.com/office/drawing/2014/main" id="{CCC83B7C-56AE-3123-769E-7202F609F09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92000" y="2808000"/>
                <a:ext cx="57600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椭圆 47">
                <a:extLst>
                  <a:ext uri="{FF2B5EF4-FFF2-40B4-BE49-F238E27FC236}">
                    <a16:creationId xmlns:a16="http://schemas.microsoft.com/office/drawing/2014/main" id="{C41745A9-4A5D-4E89-09A2-B6AC074BE45E}"/>
                  </a:ext>
                </a:extLst>
              </p:cNvPr>
              <p:cNvSpPr/>
              <p:nvPr/>
            </p:nvSpPr>
            <p:spPr>
              <a:xfrm>
                <a:off x="4608000" y="1836000"/>
                <a:ext cx="144000" cy="144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" name="椭圆 48">
                <a:extLst>
                  <a:ext uri="{FF2B5EF4-FFF2-40B4-BE49-F238E27FC236}">
                    <a16:creationId xmlns:a16="http://schemas.microsoft.com/office/drawing/2014/main" id="{AF6B5F70-B7FF-9C1E-95D0-0DD334600270}"/>
                  </a:ext>
                </a:extLst>
              </p:cNvPr>
              <p:cNvSpPr/>
              <p:nvPr/>
            </p:nvSpPr>
            <p:spPr>
              <a:xfrm>
                <a:off x="4608000" y="3456000"/>
                <a:ext cx="144000" cy="144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AF9373EA-227B-A077-3A0D-D5C844ECC62D}"/>
                    </a:ext>
                  </a:extLst>
                </p:cNvPr>
                <p:cNvSpPr txBox="1"/>
                <p:nvPr/>
              </p:nvSpPr>
              <p:spPr>
                <a:xfrm>
                  <a:off x="7920000" y="2052000"/>
                  <a:ext cx="468000" cy="540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AF9373EA-227B-A077-3A0D-D5C844ECC6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20000" y="2052000"/>
                  <a:ext cx="468000" cy="54000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21EA886E-D6DF-49E3-6764-A1E66316D410}"/>
                    </a:ext>
                  </a:extLst>
                </p:cNvPr>
                <p:cNvSpPr txBox="1"/>
                <p:nvPr/>
              </p:nvSpPr>
              <p:spPr>
                <a:xfrm>
                  <a:off x="11088000" y="1440000"/>
                  <a:ext cx="468000" cy="540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21EA886E-D6DF-49E3-6764-A1E66316D4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88000" y="1440000"/>
                  <a:ext cx="468000" cy="54000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0945A6F6-27B6-6F79-14D7-8A75749BFB55}"/>
                    </a:ext>
                  </a:extLst>
                </p:cNvPr>
                <p:cNvSpPr txBox="1"/>
                <p:nvPr/>
              </p:nvSpPr>
              <p:spPr>
                <a:xfrm>
                  <a:off x="11088000" y="2772000"/>
                  <a:ext cx="468000" cy="540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0945A6F6-27B6-6F79-14D7-8A75749BFB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88000" y="2772000"/>
                  <a:ext cx="468000" cy="54000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文本框 53">
                  <a:extLst>
                    <a:ext uri="{FF2B5EF4-FFF2-40B4-BE49-F238E27FC236}">
                      <a16:creationId xmlns:a16="http://schemas.microsoft.com/office/drawing/2014/main" id="{F4A46422-AED2-2CB0-CD18-93C6CF136BE2}"/>
                    </a:ext>
                  </a:extLst>
                </p:cNvPr>
                <p:cNvSpPr txBox="1"/>
                <p:nvPr/>
              </p:nvSpPr>
              <p:spPr>
                <a:xfrm>
                  <a:off x="11088000" y="2052000"/>
                  <a:ext cx="468000" cy="540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o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4" name="文本框 53">
                  <a:extLst>
                    <a:ext uri="{FF2B5EF4-FFF2-40B4-BE49-F238E27FC236}">
                      <a16:creationId xmlns:a16="http://schemas.microsoft.com/office/drawing/2014/main" id="{F4A46422-AED2-2CB0-CD18-93C6CF136B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88000" y="2052000"/>
                  <a:ext cx="468000" cy="54000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文本框 54">
                  <a:extLst>
                    <a:ext uri="{FF2B5EF4-FFF2-40B4-BE49-F238E27FC236}">
                      <a16:creationId xmlns:a16="http://schemas.microsoft.com/office/drawing/2014/main" id="{8B5C8450-E703-356C-FDA4-5B90BC5AF948}"/>
                    </a:ext>
                  </a:extLst>
                </p:cNvPr>
                <p:cNvSpPr txBox="1"/>
                <p:nvPr/>
              </p:nvSpPr>
              <p:spPr>
                <a:xfrm>
                  <a:off x="9000000" y="1656000"/>
                  <a:ext cx="432000" cy="540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5" name="文本框 54">
                  <a:extLst>
                    <a:ext uri="{FF2B5EF4-FFF2-40B4-BE49-F238E27FC236}">
                      <a16:creationId xmlns:a16="http://schemas.microsoft.com/office/drawing/2014/main" id="{8B5C8450-E703-356C-FDA4-5B90BC5AF9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00000" y="1656000"/>
                  <a:ext cx="432000" cy="54000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4DD32FF6-24A8-7B45-5852-BB5220D661A3}"/>
                    </a:ext>
                  </a:extLst>
                </p:cNvPr>
                <p:cNvSpPr txBox="1"/>
                <p:nvPr/>
              </p:nvSpPr>
              <p:spPr>
                <a:xfrm>
                  <a:off x="10440000" y="1728000"/>
                  <a:ext cx="468000" cy="540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4DD32FF6-24A8-7B45-5852-BB5220D661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40000" y="1728000"/>
                  <a:ext cx="468000" cy="54000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文本框 59">
                  <a:extLst>
                    <a:ext uri="{FF2B5EF4-FFF2-40B4-BE49-F238E27FC236}">
                      <a16:creationId xmlns:a16="http://schemas.microsoft.com/office/drawing/2014/main" id="{633553D3-ABAB-3751-6780-F67D6854654D}"/>
                    </a:ext>
                  </a:extLst>
                </p:cNvPr>
                <p:cNvSpPr txBox="1"/>
                <p:nvPr/>
              </p:nvSpPr>
              <p:spPr>
                <a:xfrm>
                  <a:off x="10440000" y="2484000"/>
                  <a:ext cx="468000" cy="540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60" name="文本框 59">
                  <a:extLst>
                    <a:ext uri="{FF2B5EF4-FFF2-40B4-BE49-F238E27FC236}">
                      <a16:creationId xmlns:a16="http://schemas.microsoft.com/office/drawing/2014/main" id="{633553D3-ABAB-3751-6780-F67D685465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40000" y="2484000"/>
                  <a:ext cx="468000" cy="54000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4CBD230B-FC4B-2F6B-9C16-E2B52B5EB1B8}"/>
                    </a:ext>
                  </a:extLst>
                </p:cNvPr>
                <p:cNvSpPr txBox="1"/>
                <p:nvPr/>
              </p:nvSpPr>
              <p:spPr>
                <a:xfrm>
                  <a:off x="10440000" y="2088000"/>
                  <a:ext cx="468000" cy="540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4CBD230B-FC4B-2F6B-9C16-E2B52B5EB1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40000" y="2088000"/>
                  <a:ext cx="468000" cy="540000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A5BA8115-8014-7FED-0A45-FAB5FE6CA191}"/>
                    </a:ext>
                  </a:extLst>
                </p:cNvPr>
                <p:cNvSpPr txBox="1"/>
                <p:nvPr/>
              </p:nvSpPr>
              <p:spPr>
                <a:xfrm>
                  <a:off x="9000000" y="828000"/>
                  <a:ext cx="43200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R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A5BA8115-8014-7FED-0A45-FAB5FE6CA1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00000" y="828000"/>
                  <a:ext cx="432000" cy="523220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4" name="直接箭头连接符 63">
              <a:extLst>
                <a:ext uri="{FF2B5EF4-FFF2-40B4-BE49-F238E27FC236}">
                  <a16:creationId xmlns:a16="http://schemas.microsoft.com/office/drawing/2014/main" id="{112E1F03-798C-9B71-BBD9-44D73E0742B6}"/>
                </a:ext>
              </a:extLst>
            </p:cNvPr>
            <p:cNvCxnSpPr/>
            <p:nvPr/>
          </p:nvCxnSpPr>
          <p:spPr>
            <a:xfrm>
              <a:off x="8964000" y="1368000"/>
              <a:ext cx="540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箭头连接符 64">
              <a:extLst>
                <a:ext uri="{FF2B5EF4-FFF2-40B4-BE49-F238E27FC236}">
                  <a16:creationId xmlns:a16="http://schemas.microsoft.com/office/drawing/2014/main" id="{8313B86A-3C80-0FFE-7167-E7CE527BB63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44000" y="2556000"/>
              <a:ext cx="0" cy="54000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文本框 66">
                  <a:extLst>
                    <a:ext uri="{FF2B5EF4-FFF2-40B4-BE49-F238E27FC236}">
                      <a16:creationId xmlns:a16="http://schemas.microsoft.com/office/drawing/2014/main" id="{037775C7-0F92-556B-6F24-61BAA96B0C03}"/>
                    </a:ext>
                  </a:extLst>
                </p:cNvPr>
                <p:cNvSpPr txBox="1"/>
                <p:nvPr/>
              </p:nvSpPr>
              <p:spPr>
                <a:xfrm>
                  <a:off x="9612000" y="2520000"/>
                  <a:ext cx="43200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67" name="文本框 66">
                  <a:extLst>
                    <a:ext uri="{FF2B5EF4-FFF2-40B4-BE49-F238E27FC236}">
                      <a16:creationId xmlns:a16="http://schemas.microsoft.com/office/drawing/2014/main" id="{037775C7-0F92-556B-6F24-61BAA96B0C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12000" y="2520000"/>
                  <a:ext cx="432000" cy="523220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7" name="组合 116">
            <a:extLst>
              <a:ext uri="{FF2B5EF4-FFF2-40B4-BE49-F238E27FC236}">
                <a16:creationId xmlns:a16="http://schemas.microsoft.com/office/drawing/2014/main" id="{60674B95-B2D6-9E19-112F-3B7ABC292954}"/>
              </a:ext>
            </a:extLst>
          </p:cNvPr>
          <p:cNvGrpSpPr/>
          <p:nvPr/>
        </p:nvGrpSpPr>
        <p:grpSpPr>
          <a:xfrm>
            <a:off x="8100000" y="3600000"/>
            <a:ext cx="3996000" cy="2626887"/>
            <a:chOff x="7380000" y="4104000"/>
            <a:chExt cx="3996000" cy="2626887"/>
          </a:xfrm>
        </p:grpSpPr>
        <p:cxnSp>
          <p:nvCxnSpPr>
            <p:cNvPr id="77" name="直接箭头连接符 76">
              <a:extLst>
                <a:ext uri="{FF2B5EF4-FFF2-40B4-BE49-F238E27FC236}">
                  <a16:creationId xmlns:a16="http://schemas.microsoft.com/office/drawing/2014/main" id="{775088D7-D6C3-1CE1-6B1D-B7C418BA3B80}"/>
                </a:ext>
              </a:extLst>
            </p:cNvPr>
            <p:cNvCxnSpPr>
              <a:cxnSpLocks/>
            </p:cNvCxnSpPr>
            <p:nvPr/>
          </p:nvCxnSpPr>
          <p:spPr>
            <a:xfrm>
              <a:off x="7812000" y="6444000"/>
              <a:ext cx="324000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箭头连接符 77">
              <a:extLst>
                <a:ext uri="{FF2B5EF4-FFF2-40B4-BE49-F238E27FC236}">
                  <a16:creationId xmlns:a16="http://schemas.microsoft.com/office/drawing/2014/main" id="{BFC8C8A4-960B-FEDF-09B7-727A0AEE43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12000" y="4284000"/>
              <a:ext cx="0" cy="216000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文本框 81">
                  <a:extLst>
                    <a:ext uri="{FF2B5EF4-FFF2-40B4-BE49-F238E27FC236}">
                      <a16:creationId xmlns:a16="http://schemas.microsoft.com/office/drawing/2014/main" id="{90E75412-C01A-5C94-7801-0612CEB983FA}"/>
                    </a:ext>
                  </a:extLst>
                </p:cNvPr>
                <p:cNvSpPr txBox="1"/>
                <p:nvPr/>
              </p:nvSpPr>
              <p:spPr>
                <a:xfrm>
                  <a:off x="7380000" y="4104000"/>
                  <a:ext cx="395999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20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2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2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zh-CN" altLang="en-US" sz="22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82" name="文本框 81">
                  <a:extLst>
                    <a:ext uri="{FF2B5EF4-FFF2-40B4-BE49-F238E27FC236}">
                      <a16:creationId xmlns:a16="http://schemas.microsoft.com/office/drawing/2014/main" id="{90E75412-C01A-5C94-7801-0612CEB983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80000" y="4104000"/>
                  <a:ext cx="395999" cy="430887"/>
                </a:xfrm>
                <a:prstGeom prst="rect">
                  <a:avLst/>
                </a:prstGeom>
                <a:blipFill>
                  <a:blip r:embed="rId17"/>
                  <a:stretch>
                    <a:fillRect b="-14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文本框 82">
                  <a:extLst>
                    <a:ext uri="{FF2B5EF4-FFF2-40B4-BE49-F238E27FC236}">
                      <a16:creationId xmlns:a16="http://schemas.microsoft.com/office/drawing/2014/main" id="{7A13A5FD-9294-5FE3-098E-564469C0503E}"/>
                    </a:ext>
                  </a:extLst>
                </p:cNvPr>
                <p:cNvSpPr txBox="1"/>
                <p:nvPr/>
              </p:nvSpPr>
              <p:spPr>
                <a:xfrm>
                  <a:off x="10980000" y="6244766"/>
                  <a:ext cx="396000" cy="39846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𝑡</m:t>
                        </m:r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3" name="文本框 82">
                  <a:extLst>
                    <a:ext uri="{FF2B5EF4-FFF2-40B4-BE49-F238E27FC236}">
                      <a16:creationId xmlns:a16="http://schemas.microsoft.com/office/drawing/2014/main" id="{7A13A5FD-9294-5FE3-098E-564469C050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80000" y="6244766"/>
                  <a:ext cx="396000" cy="398467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5" name="直接连接符 94">
              <a:extLst>
                <a:ext uri="{FF2B5EF4-FFF2-40B4-BE49-F238E27FC236}">
                  <a16:creationId xmlns:a16="http://schemas.microsoft.com/office/drawing/2014/main" id="{8BE59E1F-5FFF-E977-5F5D-06E0650CA4B8}"/>
                </a:ext>
              </a:extLst>
            </p:cNvPr>
            <p:cNvCxnSpPr>
              <a:cxnSpLocks/>
            </p:cNvCxnSpPr>
            <p:nvPr/>
          </p:nvCxnSpPr>
          <p:spPr>
            <a:xfrm>
              <a:off x="7811999" y="4860000"/>
              <a:ext cx="1332000" cy="0"/>
            </a:xfrm>
            <a:prstGeom prst="line">
              <a:avLst/>
            </a:prstGeom>
            <a:ln w="381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>
              <a:extLst>
                <a:ext uri="{FF2B5EF4-FFF2-40B4-BE49-F238E27FC236}">
                  <a16:creationId xmlns:a16="http://schemas.microsoft.com/office/drawing/2014/main" id="{2836035E-E355-585A-0E01-4E1DF6C632A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44000" y="4860000"/>
              <a:ext cx="0" cy="1584000"/>
            </a:xfrm>
            <a:prstGeom prst="line">
              <a:avLst/>
            </a:prstGeom>
            <a:ln w="381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>
              <a:extLst>
                <a:ext uri="{FF2B5EF4-FFF2-40B4-BE49-F238E27FC236}">
                  <a16:creationId xmlns:a16="http://schemas.microsoft.com/office/drawing/2014/main" id="{670BECEE-20AC-2EFF-7D47-27BE2FA684D9}"/>
                </a:ext>
              </a:extLst>
            </p:cNvPr>
            <p:cNvCxnSpPr>
              <a:cxnSpLocks/>
            </p:cNvCxnSpPr>
            <p:nvPr/>
          </p:nvCxnSpPr>
          <p:spPr>
            <a:xfrm>
              <a:off x="9144000" y="6444000"/>
              <a:ext cx="1548000" cy="0"/>
            </a:xfrm>
            <a:prstGeom prst="line">
              <a:avLst/>
            </a:prstGeom>
            <a:ln w="381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任意多边形: 形状 109">
              <a:extLst>
                <a:ext uri="{FF2B5EF4-FFF2-40B4-BE49-F238E27FC236}">
                  <a16:creationId xmlns:a16="http://schemas.microsoft.com/office/drawing/2014/main" id="{19742D32-9F58-905A-FEF7-1D3E6D90B238}"/>
                </a:ext>
              </a:extLst>
            </p:cNvPr>
            <p:cNvSpPr/>
            <p:nvPr/>
          </p:nvSpPr>
          <p:spPr>
            <a:xfrm>
              <a:off x="7811999" y="4896000"/>
              <a:ext cx="1332000" cy="1548000"/>
            </a:xfrm>
            <a:custGeom>
              <a:avLst/>
              <a:gdLst>
                <a:gd name="csX0" fmla="*/ 0 w 949569"/>
                <a:gd name="csY0" fmla="*/ 1266092 h 1266092"/>
                <a:gd name="csX1" fmla="*/ 218049 w 949569"/>
                <a:gd name="csY1" fmla="*/ 611944 h 1266092"/>
                <a:gd name="csX2" fmla="*/ 527538 w 949569"/>
                <a:gd name="csY2" fmla="*/ 196947 h 1266092"/>
                <a:gd name="csX3" fmla="*/ 949569 w 949569"/>
                <a:gd name="csY3" fmla="*/ 0 h 12660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949569" h="1266092">
                  <a:moveTo>
                    <a:pt x="0" y="1266092"/>
                  </a:moveTo>
                  <a:cubicBezTo>
                    <a:pt x="65063" y="1028113"/>
                    <a:pt x="130126" y="790135"/>
                    <a:pt x="218049" y="611944"/>
                  </a:cubicBezTo>
                  <a:cubicBezTo>
                    <a:pt x="305972" y="433753"/>
                    <a:pt x="405618" y="298938"/>
                    <a:pt x="527538" y="196947"/>
                  </a:cubicBezTo>
                  <a:cubicBezTo>
                    <a:pt x="649458" y="94956"/>
                    <a:pt x="799513" y="47478"/>
                    <a:pt x="949569" y="0"/>
                  </a:cubicBezTo>
                </a:path>
              </a:pathLst>
            </a:custGeom>
            <a:noFill/>
            <a:ln w="254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1" name="任意多边形: 形状 110">
              <a:extLst>
                <a:ext uri="{FF2B5EF4-FFF2-40B4-BE49-F238E27FC236}">
                  <a16:creationId xmlns:a16="http://schemas.microsoft.com/office/drawing/2014/main" id="{43B49426-B3A7-6C4E-D1D0-696748876E28}"/>
                </a:ext>
              </a:extLst>
            </p:cNvPr>
            <p:cNvSpPr/>
            <p:nvPr/>
          </p:nvSpPr>
          <p:spPr>
            <a:xfrm flipV="1">
              <a:off x="9144000" y="4896000"/>
              <a:ext cx="1332000" cy="1548000"/>
            </a:xfrm>
            <a:custGeom>
              <a:avLst/>
              <a:gdLst>
                <a:gd name="csX0" fmla="*/ 0 w 949569"/>
                <a:gd name="csY0" fmla="*/ 1266092 h 1266092"/>
                <a:gd name="csX1" fmla="*/ 218049 w 949569"/>
                <a:gd name="csY1" fmla="*/ 611944 h 1266092"/>
                <a:gd name="csX2" fmla="*/ 527538 w 949569"/>
                <a:gd name="csY2" fmla="*/ 196947 h 1266092"/>
                <a:gd name="csX3" fmla="*/ 949569 w 949569"/>
                <a:gd name="csY3" fmla="*/ 0 h 12660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949569" h="1266092">
                  <a:moveTo>
                    <a:pt x="0" y="1266092"/>
                  </a:moveTo>
                  <a:cubicBezTo>
                    <a:pt x="65063" y="1028113"/>
                    <a:pt x="130126" y="790135"/>
                    <a:pt x="218049" y="611944"/>
                  </a:cubicBezTo>
                  <a:cubicBezTo>
                    <a:pt x="305972" y="433753"/>
                    <a:pt x="405618" y="298938"/>
                    <a:pt x="527538" y="196947"/>
                  </a:cubicBezTo>
                  <a:cubicBezTo>
                    <a:pt x="649458" y="94956"/>
                    <a:pt x="799513" y="47478"/>
                    <a:pt x="949569" y="0"/>
                  </a:cubicBezTo>
                </a:path>
              </a:pathLst>
            </a:custGeom>
            <a:noFill/>
            <a:ln w="254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12" name="直接连接符 111">
              <a:extLst>
                <a:ext uri="{FF2B5EF4-FFF2-40B4-BE49-F238E27FC236}">
                  <a16:creationId xmlns:a16="http://schemas.microsoft.com/office/drawing/2014/main" id="{4715EF8C-3784-2758-C7B2-5044D4422B58}"/>
                </a:ext>
              </a:extLst>
            </p:cNvPr>
            <p:cNvCxnSpPr>
              <a:cxnSpLocks/>
            </p:cNvCxnSpPr>
            <p:nvPr/>
          </p:nvCxnSpPr>
          <p:spPr>
            <a:xfrm>
              <a:off x="10472400" y="6444000"/>
              <a:ext cx="252000" cy="0"/>
            </a:xfrm>
            <a:prstGeom prst="line">
              <a:avLst/>
            </a:prstGeom>
            <a:ln w="254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4" name="文本框 113">
                  <a:extLst>
                    <a:ext uri="{FF2B5EF4-FFF2-40B4-BE49-F238E27FC236}">
                      <a16:creationId xmlns:a16="http://schemas.microsoft.com/office/drawing/2014/main" id="{2372E10A-90E2-310C-36B0-1AC15B12EFFE}"/>
                    </a:ext>
                  </a:extLst>
                </p:cNvPr>
                <p:cNvSpPr txBox="1"/>
                <p:nvPr/>
              </p:nvSpPr>
              <p:spPr>
                <a:xfrm>
                  <a:off x="7416000" y="4644000"/>
                  <a:ext cx="395999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20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2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200" b="0" i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zh-CN" altLang="en-US" sz="22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114" name="文本框 113">
                  <a:extLst>
                    <a:ext uri="{FF2B5EF4-FFF2-40B4-BE49-F238E27FC236}">
                      <a16:creationId xmlns:a16="http://schemas.microsoft.com/office/drawing/2014/main" id="{2372E10A-90E2-310C-36B0-1AC15B12EF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16000" y="4644000"/>
                  <a:ext cx="395999" cy="430887"/>
                </a:xfrm>
                <a:prstGeom prst="rect">
                  <a:avLst/>
                </a:prstGeom>
                <a:blipFill>
                  <a:blip r:embed="rId19"/>
                  <a:stretch>
                    <a:fillRect l="-153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文本框 114">
                  <a:extLst>
                    <a:ext uri="{FF2B5EF4-FFF2-40B4-BE49-F238E27FC236}">
                      <a16:creationId xmlns:a16="http://schemas.microsoft.com/office/drawing/2014/main" id="{2E3CC30E-563E-6629-880E-FDC5E9E02FD8}"/>
                    </a:ext>
                  </a:extLst>
                </p:cNvPr>
                <p:cNvSpPr txBox="1"/>
                <p:nvPr/>
              </p:nvSpPr>
              <p:spPr>
                <a:xfrm>
                  <a:off x="7812000" y="4104000"/>
                  <a:ext cx="395999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20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2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2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o</m:t>
                            </m:r>
                          </m:sub>
                        </m:sSub>
                      </m:oMath>
                    </m:oMathPara>
                  </a14:m>
                  <a:endParaRPr lang="zh-CN" altLang="en-US" sz="2200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115" name="文本框 114">
                  <a:extLst>
                    <a:ext uri="{FF2B5EF4-FFF2-40B4-BE49-F238E27FC236}">
                      <a16:creationId xmlns:a16="http://schemas.microsoft.com/office/drawing/2014/main" id="{2E3CC30E-563E-6629-880E-FDC5E9E02F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12000" y="4104000"/>
                  <a:ext cx="395999" cy="430887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6" name="文本框 115">
                  <a:extLst>
                    <a:ext uri="{FF2B5EF4-FFF2-40B4-BE49-F238E27FC236}">
                      <a16:creationId xmlns:a16="http://schemas.microsoft.com/office/drawing/2014/main" id="{5EE9806D-4D77-0E11-FD97-4C91C054FA65}"/>
                    </a:ext>
                  </a:extLst>
                </p:cNvPr>
                <p:cNvSpPr txBox="1"/>
                <p:nvPr/>
              </p:nvSpPr>
              <p:spPr>
                <a:xfrm>
                  <a:off x="7488000" y="6300000"/>
                  <a:ext cx="395999" cy="43088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𝑂</m:t>
                        </m:r>
                      </m:oMath>
                    </m:oMathPara>
                  </a14:m>
                  <a:endParaRPr lang="zh-CN" altLang="en-US" sz="2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6" name="文本框 115">
                  <a:extLst>
                    <a:ext uri="{FF2B5EF4-FFF2-40B4-BE49-F238E27FC236}">
                      <a16:creationId xmlns:a16="http://schemas.microsoft.com/office/drawing/2014/main" id="{5EE9806D-4D77-0E11-FD97-4C91C054FA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88000" y="6300000"/>
                  <a:ext cx="395999" cy="430887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19" name="文本框 118">
                <a:extLst>
                  <a:ext uri="{FF2B5EF4-FFF2-40B4-BE49-F238E27FC236}">
                    <a16:creationId xmlns:a16="http://schemas.microsoft.com/office/drawing/2014/main" id="{3DCB4342-4519-4C3F-CCB3-B39EB56471EE}"/>
                  </a:ext>
                </a:extLst>
              </p:cNvPr>
              <p:cNvSpPr txBox="1"/>
              <p:nvPr/>
            </p:nvSpPr>
            <p:spPr>
              <a:xfrm>
                <a:off x="7200000" y="6192000"/>
                <a:ext cx="1296000" cy="432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00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r>
                        <a:rPr lang="en-US" altLang="zh-CN" sz="20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(0)=</m:t>
                      </m:r>
                      <m:r>
                        <a:rPr lang="en-US" altLang="zh-CN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2000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119" name="文本框 118">
                <a:extLst>
                  <a:ext uri="{FF2B5EF4-FFF2-40B4-BE49-F238E27FC236}">
                    <a16:creationId xmlns:a16="http://schemas.microsoft.com/office/drawing/2014/main" id="{3DCB4342-4519-4C3F-CCB3-B39EB56471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0000" y="6192000"/>
                <a:ext cx="1296000" cy="432000"/>
              </a:xfrm>
              <a:prstGeom prst="rect">
                <a:avLst/>
              </a:prstGeom>
              <a:blipFill>
                <a:blip r:embed="rId22"/>
                <a:stretch>
                  <a:fillRect b="-56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>
            <a:extLst>
              <a:ext uri="{FF2B5EF4-FFF2-40B4-BE49-F238E27FC236}">
                <a16:creationId xmlns:a16="http://schemas.microsoft.com/office/drawing/2014/main" id="{3393A603-CFB4-0C69-E60F-F49696163AEE}"/>
              </a:ext>
            </a:extLst>
          </p:cNvPr>
          <p:cNvSpPr txBox="1"/>
          <p:nvPr/>
        </p:nvSpPr>
        <p:spPr>
          <a:xfrm>
            <a:off x="8640000" y="6048000"/>
            <a:ext cx="110952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零状态</a:t>
            </a:r>
            <a:endParaRPr lang="en-US" altLang="zh-CN" sz="20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响应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ED87130-A1F8-FA7A-1992-3C37F73AB95C}"/>
              </a:ext>
            </a:extLst>
          </p:cNvPr>
          <p:cNvSpPr txBox="1"/>
          <p:nvPr/>
        </p:nvSpPr>
        <p:spPr>
          <a:xfrm>
            <a:off x="9936000" y="6048000"/>
            <a:ext cx="110952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零输入</a:t>
            </a:r>
            <a:endParaRPr lang="en-US" altLang="zh-CN" sz="20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响应</a:t>
            </a:r>
          </a:p>
        </p:txBody>
      </p:sp>
    </p:spTree>
    <p:extLst>
      <p:ext uri="{BB962C8B-B14F-4D97-AF65-F5344CB8AC3E}">
        <p14:creationId xmlns:p14="http://schemas.microsoft.com/office/powerpoint/2010/main" val="8341109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EC238D-0232-676A-8AD5-593670F8DE9E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集成运算放大器的线性应用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积分</a:t>
            </a:r>
            <a:r>
              <a:rPr lang="en-US" altLang="zh-CN" sz="3000" dirty="0">
                <a:solidFill>
                  <a:srgbClr val="FFFF00"/>
                </a:solidFill>
              </a:rPr>
              <a:t>/</a:t>
            </a:r>
            <a:r>
              <a:rPr lang="zh-CN" altLang="en-US" sz="3000" dirty="0">
                <a:solidFill>
                  <a:srgbClr val="FFFF00"/>
                </a:solidFill>
              </a:rPr>
              <a:t>微分运算电路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61E924C-41C1-770E-B6C5-828F43FE84B8}"/>
              </a:ext>
            </a:extLst>
          </p:cNvPr>
          <p:cNvSpPr txBox="1"/>
          <p:nvPr/>
        </p:nvSpPr>
        <p:spPr>
          <a:xfrm>
            <a:off x="360000" y="828000"/>
            <a:ext cx="5144507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积分运算电路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86E70FDA-509A-7F64-9BCF-B30649B45D19}"/>
                  </a:ext>
                </a:extLst>
              </p:cNvPr>
              <p:cNvSpPr txBox="1"/>
              <p:nvPr/>
            </p:nvSpPr>
            <p:spPr>
              <a:xfrm>
                <a:off x="360000" y="2700000"/>
                <a:ext cx="4734514" cy="1459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2"/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sz="24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CN" sz="2400" b="0" i="0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R</m:t>
                                </m:r>
                              </m:sub>
                            </m:sSub>
                            <m: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CN" sz="2400" b="0" i="0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</m:sub>
                            </m:sSub>
                            <m: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type m:val="lin"/>
                                <m:ctrlPr>
                                  <a:rPr lang="en-US" altLang="zh-CN" sz="24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zh-CN" sz="2400" i="1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zh-CN" sz="2400" i="1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i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altLang="zh-CN" sz="24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den>
                            </m:f>
                            <m: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       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</m:sub>
                            </m:sSub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n</m:t>
                                </m:r>
                              </m:sub>
                            </m:sSub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o</m:t>
                                </m:r>
                              </m:sub>
                            </m:sSub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=−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o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CN" sz="2400" b="0" i="0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</m:sub>
                            </m:sSub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  <m:f>
                              <m:fPr>
                                <m:ctrlP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  <m:sSub>
                                  <m:sSubPr>
                                    <m:ctrlPr>
                                      <a:rPr lang="en-US" altLang="zh-CN" sz="2400" i="1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zh-CN" sz="240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C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  <m:r>
                                  <a:rPr lang="en-US" altLang="zh-CN" sz="24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den>
                            </m:f>
                            <m: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                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altLang="zh-CN" sz="2400" b="0" i="1" dirty="0">
                    <a:solidFill>
                      <a:schemeClr val="accent5">
                        <a:lumMod val="75000"/>
                      </a:schemeClr>
                    </a:solidFill>
                    <a:latin typeface="Cambria Math" panose="020405030504060302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86E70FDA-509A-7F64-9BCF-B30649B45D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2700000"/>
                <a:ext cx="4734514" cy="145988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文本框 134">
                <a:extLst>
                  <a:ext uri="{FF2B5EF4-FFF2-40B4-BE49-F238E27FC236}">
                    <a16:creationId xmlns:a16="http://schemas.microsoft.com/office/drawing/2014/main" id="{80F6134E-A3A9-C773-11AB-E03037526E3A}"/>
                  </a:ext>
                </a:extLst>
              </p:cNvPr>
              <p:cNvSpPr txBox="1"/>
              <p:nvPr/>
            </p:nvSpPr>
            <p:spPr>
              <a:xfrm>
                <a:off x="360000" y="1440000"/>
                <a:ext cx="3876001" cy="11146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lnSpc>
                    <a:spcPct val="120000"/>
                  </a:lnSpc>
                  <a:spcAft>
                    <a:spcPts val="600"/>
                  </a:spcAft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虚断：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>
                  <a:lnSpc>
                    <a:spcPct val="120000"/>
                  </a:lnSpc>
                  <a:spcAft>
                    <a:spcPts val="600"/>
                  </a:spcAft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虚短：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kumimoji="1" lang="en-US" altLang="zh-CN" sz="2400" i="1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=0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35" name="文本框 134">
                <a:extLst>
                  <a:ext uri="{FF2B5EF4-FFF2-40B4-BE49-F238E27FC236}">
                    <a16:creationId xmlns:a16="http://schemas.microsoft.com/office/drawing/2014/main" id="{80F6134E-A3A9-C773-11AB-E03037526E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1440000"/>
                <a:ext cx="3876001" cy="1114601"/>
              </a:xfrm>
              <a:prstGeom prst="rect">
                <a:avLst/>
              </a:prstGeom>
              <a:blipFill>
                <a:blip r:embed="rId19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文本框 135">
                <a:extLst>
                  <a:ext uri="{FF2B5EF4-FFF2-40B4-BE49-F238E27FC236}">
                    <a16:creationId xmlns:a16="http://schemas.microsoft.com/office/drawing/2014/main" id="{4DBF94CD-0F73-CB33-18E1-357E834E84AB}"/>
                  </a:ext>
                </a:extLst>
              </p:cNvPr>
              <p:cNvSpPr txBox="1"/>
              <p:nvPr/>
            </p:nvSpPr>
            <p:spPr>
              <a:xfrm>
                <a:off x="360000" y="4212000"/>
                <a:ext cx="8640001" cy="9637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2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o</m:t>
                          </m:r>
                        </m:sub>
                      </m:sSub>
                      <m:d>
                        <m:dPr>
                          <m:ctrlPr>
                            <a:rPr lang="en-US" altLang="zh-CN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sz="24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den>
                      </m:f>
                      <m:nary>
                        <m:naryPr>
                          <m:ctrlP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zh-CN" sz="240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p>
                        <m:e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nary>
                      <m:r>
                        <a:rPr lang="en-US" altLang="zh-CN" sz="24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o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altLang="zh-CN" sz="24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den>
                      </m:f>
                      <m:nary>
                        <m:naryPr>
                          <m:ctrlP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zh-CN" sz="240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p>
                        <m:e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nary>
                      <m:r>
                        <a:rPr lang="en-US" altLang="zh-CN" sz="24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o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sz="2400" dirty="0"/>
              </a:p>
            </p:txBody>
          </p:sp>
        </mc:Choice>
        <mc:Fallback xmlns="">
          <p:sp>
            <p:nvSpPr>
              <p:cNvPr id="136" name="文本框 135">
                <a:extLst>
                  <a:ext uri="{FF2B5EF4-FFF2-40B4-BE49-F238E27FC236}">
                    <a16:creationId xmlns:a16="http://schemas.microsoft.com/office/drawing/2014/main" id="{4DBF94CD-0F73-CB33-18E1-357E834E84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4212000"/>
                <a:ext cx="8640001" cy="96379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7" name="文本框 136">
                <a:extLst>
                  <a:ext uri="{FF2B5EF4-FFF2-40B4-BE49-F238E27FC236}">
                    <a16:creationId xmlns:a16="http://schemas.microsoft.com/office/drawing/2014/main" id="{C9B252D7-EB4B-02A8-F254-0D1B64F618EA}"/>
                  </a:ext>
                </a:extLst>
              </p:cNvPr>
              <p:cNvSpPr txBox="1"/>
              <p:nvPr/>
            </p:nvSpPr>
            <p:spPr>
              <a:xfrm>
                <a:off x="359998" y="5256000"/>
                <a:ext cx="10080000" cy="5050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lnSpc>
                    <a:spcPct val="120000"/>
                  </a:lnSpc>
                  <a:spcAft>
                    <a:spcPts val="600"/>
                  </a:spcAft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当电容的初始电压为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sub>
                    </m:sSub>
                    <m:d>
                      <m:d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时，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sub>
                    </m:sSub>
                    <m:d>
                      <m:d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如下（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zh-CN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kumimoji="1" lang="zh-CN" altLang="en-US" sz="24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为时间常数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）：</a:t>
                </a:r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137" name="文本框 136">
                <a:extLst>
                  <a:ext uri="{FF2B5EF4-FFF2-40B4-BE49-F238E27FC236}">
                    <a16:creationId xmlns:a16="http://schemas.microsoft.com/office/drawing/2014/main" id="{C9B252D7-EB4B-02A8-F254-0D1B64F618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998" y="5256000"/>
                <a:ext cx="10080000" cy="505010"/>
              </a:xfrm>
              <a:prstGeom prst="rect">
                <a:avLst/>
              </a:prstGeom>
              <a:blipFill>
                <a:blip r:embed="rId21"/>
                <a:stretch>
                  <a:fillRect t="-2410" b="-253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文本框 137">
                <a:extLst>
                  <a:ext uri="{FF2B5EF4-FFF2-40B4-BE49-F238E27FC236}">
                    <a16:creationId xmlns:a16="http://schemas.microsoft.com/office/drawing/2014/main" id="{81EFC080-AE4D-1FDE-73CB-0EDC88078CC5}"/>
                  </a:ext>
                </a:extLst>
              </p:cNvPr>
              <p:cNvSpPr txBox="1"/>
              <p:nvPr/>
            </p:nvSpPr>
            <p:spPr>
              <a:xfrm>
                <a:off x="360000" y="5760000"/>
                <a:ext cx="4987251" cy="9182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2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o</m:t>
                          </m:r>
                        </m:sub>
                      </m:sSub>
                      <m:d>
                        <m:dPr>
                          <m:ctrlPr>
                            <a:rPr lang="en-US" altLang="zh-CN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altLang="zh-CN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den>
                      </m:f>
                      <m:nary>
                        <m:naryPr>
                          <m:ctrlPr>
                            <a:rPr lang="en-US" altLang="zh-CN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p>
                        <m:e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altLang="zh-CN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nary>
                    </m:oMath>
                  </m:oMathPara>
                </a14:m>
                <a:endParaRPr lang="en-US" altLang="zh-CN" sz="2400" dirty="0"/>
              </a:p>
            </p:txBody>
          </p:sp>
        </mc:Choice>
        <mc:Fallback xmlns="">
          <p:sp>
            <p:nvSpPr>
              <p:cNvPr id="138" name="文本框 137">
                <a:extLst>
                  <a:ext uri="{FF2B5EF4-FFF2-40B4-BE49-F238E27FC236}">
                    <a16:creationId xmlns:a16="http://schemas.microsoft.com/office/drawing/2014/main" id="{81EFC080-AE4D-1FDE-73CB-0EDC88078C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5760000"/>
                <a:ext cx="4987251" cy="918265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>
            <a:extLst>
              <a:ext uri="{FF2B5EF4-FFF2-40B4-BE49-F238E27FC236}">
                <a16:creationId xmlns:a16="http://schemas.microsoft.com/office/drawing/2014/main" id="{C3DD6C23-4037-FDDF-FFDB-68FEC9409E0C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BD0CBCC4-20C8-C124-F972-EF8EE4E4D9DA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7" name="箭头: 五边形 6">
                <a:extLst>
                  <a:ext uri="{FF2B5EF4-FFF2-40B4-BE49-F238E27FC236}">
                    <a16:creationId xmlns:a16="http://schemas.microsoft.com/office/drawing/2014/main" id="{0A129913-18C6-267B-29C8-9AE3B7032F2E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" name="箭头: V 形 7">
                <a:extLst>
                  <a:ext uri="{FF2B5EF4-FFF2-40B4-BE49-F238E27FC236}">
                    <a16:creationId xmlns:a16="http://schemas.microsoft.com/office/drawing/2014/main" id="{A05A6B39-3636-53F2-63C9-65AC25B0D8C5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" name="灯片编号占位符 3">
              <a:extLst>
                <a:ext uri="{FF2B5EF4-FFF2-40B4-BE49-F238E27FC236}">
                  <a16:creationId xmlns:a16="http://schemas.microsoft.com/office/drawing/2014/main" id="{5DD4E7FB-31F0-2D6A-C880-869982DAAB4A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13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FC78DF38-6829-4D70-6F05-AF0315A9980C}"/>
              </a:ext>
            </a:extLst>
          </p:cNvPr>
          <p:cNvGrpSpPr/>
          <p:nvPr/>
        </p:nvGrpSpPr>
        <p:grpSpPr>
          <a:xfrm>
            <a:off x="7272000" y="1476000"/>
            <a:ext cx="4608000" cy="2590887"/>
            <a:chOff x="7272000" y="1476000"/>
            <a:chExt cx="4608000" cy="259088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" name="文本框 121">
                  <a:extLst>
                    <a:ext uri="{FF2B5EF4-FFF2-40B4-BE49-F238E27FC236}">
                      <a16:creationId xmlns:a16="http://schemas.microsoft.com/office/drawing/2014/main" id="{A1E7D365-53CB-1931-7DC1-A31C068E0C42}"/>
                    </a:ext>
                  </a:extLst>
                </p:cNvPr>
                <p:cNvSpPr txBox="1"/>
                <p:nvPr/>
              </p:nvSpPr>
              <p:spPr>
                <a:xfrm>
                  <a:off x="9359999" y="3528000"/>
                  <a:ext cx="540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22" name="文本框 121">
                  <a:extLst>
                    <a:ext uri="{FF2B5EF4-FFF2-40B4-BE49-F238E27FC236}">
                      <a16:creationId xmlns:a16="http://schemas.microsoft.com/office/drawing/2014/main" id="{A1E7D365-53CB-1931-7DC1-A31C068E0C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59999" y="3528000"/>
                  <a:ext cx="540000" cy="430887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7" name="直接连接符 86">
              <a:extLst>
                <a:ext uri="{FF2B5EF4-FFF2-40B4-BE49-F238E27FC236}">
                  <a16:creationId xmlns:a16="http://schemas.microsoft.com/office/drawing/2014/main" id="{72213680-6296-CC9C-6ED8-13F47F59F18D}"/>
                </a:ext>
              </a:extLst>
            </p:cNvPr>
            <p:cNvCxnSpPr>
              <a:cxnSpLocks/>
            </p:cNvCxnSpPr>
            <p:nvPr/>
          </p:nvCxnSpPr>
          <p:spPr>
            <a:xfrm>
              <a:off x="9000000" y="2844000"/>
              <a:ext cx="864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>
              <a:extLst>
                <a:ext uri="{FF2B5EF4-FFF2-40B4-BE49-F238E27FC236}">
                  <a16:creationId xmlns:a16="http://schemas.microsoft.com/office/drawing/2014/main" id="{88BFF1BF-4809-7AB5-5BF3-C1FAB24D8F10}"/>
                </a:ext>
              </a:extLst>
            </p:cNvPr>
            <p:cNvCxnSpPr>
              <a:cxnSpLocks/>
            </p:cNvCxnSpPr>
            <p:nvPr/>
          </p:nvCxnSpPr>
          <p:spPr>
            <a:xfrm>
              <a:off x="7740000" y="2052000"/>
              <a:ext cx="2124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等腰三角形 88">
              <a:extLst>
                <a:ext uri="{FF2B5EF4-FFF2-40B4-BE49-F238E27FC236}">
                  <a16:creationId xmlns:a16="http://schemas.microsoft.com/office/drawing/2014/main" id="{93CA055C-DCD6-AE0C-ACCC-5D49CD808C2F}"/>
                </a:ext>
              </a:extLst>
            </p:cNvPr>
            <p:cNvSpPr/>
            <p:nvPr/>
          </p:nvSpPr>
          <p:spPr>
            <a:xfrm rot="5400000">
              <a:off x="9792000" y="1800000"/>
              <a:ext cx="1440000" cy="1296000"/>
            </a:xfrm>
            <a:prstGeom prst="triangl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文本框 89">
                  <a:extLst>
                    <a:ext uri="{FF2B5EF4-FFF2-40B4-BE49-F238E27FC236}">
                      <a16:creationId xmlns:a16="http://schemas.microsoft.com/office/drawing/2014/main" id="{71552900-769A-721B-F6E5-482A4603B93E}"/>
                    </a:ext>
                  </a:extLst>
                </p:cNvPr>
                <p:cNvSpPr txBox="1"/>
                <p:nvPr/>
              </p:nvSpPr>
              <p:spPr>
                <a:xfrm>
                  <a:off x="9846000" y="2610000"/>
                  <a:ext cx="396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 smtClean="0"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90" name="文本框 89">
                  <a:extLst>
                    <a:ext uri="{FF2B5EF4-FFF2-40B4-BE49-F238E27FC236}">
                      <a16:creationId xmlns:a16="http://schemas.microsoft.com/office/drawing/2014/main" id="{71552900-769A-721B-F6E5-482A4603B9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46000" y="2610000"/>
                  <a:ext cx="396000" cy="430887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文本框 90">
                  <a:extLst>
                    <a:ext uri="{FF2B5EF4-FFF2-40B4-BE49-F238E27FC236}">
                      <a16:creationId xmlns:a16="http://schemas.microsoft.com/office/drawing/2014/main" id="{5621E428-BA76-1C69-9ACE-CAD41582CA16}"/>
                    </a:ext>
                  </a:extLst>
                </p:cNvPr>
                <p:cNvSpPr txBox="1"/>
                <p:nvPr/>
              </p:nvSpPr>
              <p:spPr>
                <a:xfrm>
                  <a:off x="9846000" y="1818000"/>
                  <a:ext cx="396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91" name="文本框 90">
                  <a:extLst>
                    <a:ext uri="{FF2B5EF4-FFF2-40B4-BE49-F238E27FC236}">
                      <a16:creationId xmlns:a16="http://schemas.microsoft.com/office/drawing/2014/main" id="{5621E428-BA76-1C69-9ACE-CAD41582CA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46000" y="1818000"/>
                  <a:ext cx="396000" cy="430887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2" name="直接连接符 91">
              <a:extLst>
                <a:ext uri="{FF2B5EF4-FFF2-40B4-BE49-F238E27FC236}">
                  <a16:creationId xmlns:a16="http://schemas.microsoft.com/office/drawing/2014/main" id="{8601526B-6908-D5E3-81B8-7BC23D31524C}"/>
                </a:ext>
              </a:extLst>
            </p:cNvPr>
            <p:cNvCxnSpPr>
              <a:cxnSpLocks/>
              <a:stCxn id="89" idx="0"/>
            </p:cNvCxnSpPr>
            <p:nvPr/>
          </p:nvCxnSpPr>
          <p:spPr>
            <a:xfrm>
              <a:off x="11160000" y="2448000"/>
              <a:ext cx="432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椭圆 92">
              <a:extLst>
                <a:ext uri="{FF2B5EF4-FFF2-40B4-BE49-F238E27FC236}">
                  <a16:creationId xmlns:a16="http://schemas.microsoft.com/office/drawing/2014/main" id="{0F1C17D2-511D-F076-AEF3-0EF21CCCFCAD}"/>
                </a:ext>
              </a:extLst>
            </p:cNvPr>
            <p:cNvSpPr/>
            <p:nvPr/>
          </p:nvSpPr>
          <p:spPr>
            <a:xfrm>
              <a:off x="11268000" y="2376000"/>
              <a:ext cx="144000" cy="14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94" name="直接连接符 93">
              <a:extLst>
                <a:ext uri="{FF2B5EF4-FFF2-40B4-BE49-F238E27FC236}">
                  <a16:creationId xmlns:a16="http://schemas.microsoft.com/office/drawing/2014/main" id="{5BA9A59F-853F-2FE3-8BA2-9A9F40EF62A6}"/>
                </a:ext>
              </a:extLst>
            </p:cNvPr>
            <p:cNvCxnSpPr>
              <a:cxnSpLocks/>
            </p:cNvCxnSpPr>
            <p:nvPr/>
          </p:nvCxnSpPr>
          <p:spPr>
            <a:xfrm>
              <a:off x="7740000" y="3420000"/>
              <a:ext cx="2880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>
              <a:extLst>
                <a:ext uri="{FF2B5EF4-FFF2-40B4-BE49-F238E27FC236}">
                  <a16:creationId xmlns:a16="http://schemas.microsoft.com/office/drawing/2014/main" id="{286488BE-2B83-0C85-7CFC-BD7F7E6C883F}"/>
                </a:ext>
              </a:extLst>
            </p:cNvPr>
            <p:cNvCxnSpPr>
              <a:cxnSpLocks/>
            </p:cNvCxnSpPr>
            <p:nvPr/>
          </p:nvCxnSpPr>
          <p:spPr>
            <a:xfrm>
              <a:off x="11340000" y="2448000"/>
              <a:ext cx="0" cy="972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椭圆 95">
              <a:extLst>
                <a:ext uri="{FF2B5EF4-FFF2-40B4-BE49-F238E27FC236}">
                  <a16:creationId xmlns:a16="http://schemas.microsoft.com/office/drawing/2014/main" id="{95CB603F-7526-0D33-39E6-40143ECD2C29}"/>
                </a:ext>
              </a:extLst>
            </p:cNvPr>
            <p:cNvSpPr/>
            <p:nvPr/>
          </p:nvSpPr>
          <p:spPr>
            <a:xfrm>
              <a:off x="8928000" y="1980000"/>
              <a:ext cx="144000" cy="14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97" name="直接连接符 96">
              <a:extLst>
                <a:ext uri="{FF2B5EF4-FFF2-40B4-BE49-F238E27FC236}">
                  <a16:creationId xmlns:a16="http://schemas.microsoft.com/office/drawing/2014/main" id="{602F1F6C-1809-A3D5-783B-58D03813F1AF}"/>
                </a:ext>
              </a:extLst>
            </p:cNvPr>
            <p:cNvCxnSpPr>
              <a:cxnSpLocks/>
            </p:cNvCxnSpPr>
            <p:nvPr/>
          </p:nvCxnSpPr>
          <p:spPr>
            <a:xfrm>
              <a:off x="7740000" y="2052000"/>
              <a:ext cx="0" cy="36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文本框 97">
                  <a:extLst>
                    <a:ext uri="{FF2B5EF4-FFF2-40B4-BE49-F238E27FC236}">
                      <a16:creationId xmlns:a16="http://schemas.microsoft.com/office/drawing/2014/main" id="{B0DAAA6B-399E-7AFC-DB67-1D496C7455F9}"/>
                    </a:ext>
                  </a:extLst>
                </p:cNvPr>
                <p:cNvSpPr txBox="1"/>
                <p:nvPr/>
              </p:nvSpPr>
              <p:spPr>
                <a:xfrm>
                  <a:off x="8604000" y="1944000"/>
                  <a:ext cx="450701" cy="46923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98" name="文本框 97">
                  <a:extLst>
                    <a:ext uri="{FF2B5EF4-FFF2-40B4-BE49-F238E27FC236}">
                      <a16:creationId xmlns:a16="http://schemas.microsoft.com/office/drawing/2014/main" id="{B0DAAA6B-399E-7AFC-DB67-1D496C7455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04000" y="1944000"/>
                  <a:ext cx="450701" cy="469231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9" name="直接连接符 98">
              <a:extLst>
                <a:ext uri="{FF2B5EF4-FFF2-40B4-BE49-F238E27FC236}">
                  <a16:creationId xmlns:a16="http://schemas.microsoft.com/office/drawing/2014/main" id="{06ADC482-EBEA-1406-1422-C6C3C573801F}"/>
                </a:ext>
              </a:extLst>
            </p:cNvPr>
            <p:cNvCxnSpPr>
              <a:cxnSpLocks/>
            </p:cNvCxnSpPr>
            <p:nvPr/>
          </p:nvCxnSpPr>
          <p:spPr>
            <a:xfrm>
              <a:off x="9000000" y="2844000"/>
              <a:ext cx="0" cy="576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椭圆 99">
              <a:extLst>
                <a:ext uri="{FF2B5EF4-FFF2-40B4-BE49-F238E27FC236}">
                  <a16:creationId xmlns:a16="http://schemas.microsoft.com/office/drawing/2014/main" id="{FA35B86C-8C2F-63FD-2125-7EE2FAE8CDE7}"/>
                </a:ext>
              </a:extLst>
            </p:cNvPr>
            <p:cNvSpPr/>
            <p:nvPr/>
          </p:nvSpPr>
          <p:spPr>
            <a:xfrm>
              <a:off x="8928000" y="3348000"/>
              <a:ext cx="144000" cy="14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文本框 100">
                  <a:extLst>
                    <a:ext uri="{FF2B5EF4-FFF2-40B4-BE49-F238E27FC236}">
                      <a16:creationId xmlns:a16="http://schemas.microsoft.com/office/drawing/2014/main" id="{F1263C20-7B02-BE1C-66B1-92E00C4AAAFC}"/>
                    </a:ext>
                  </a:extLst>
                </p:cNvPr>
                <p:cNvSpPr txBox="1"/>
                <p:nvPr/>
              </p:nvSpPr>
              <p:spPr>
                <a:xfrm>
                  <a:off x="8604000" y="2430000"/>
                  <a:ext cx="452303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01" name="文本框 100">
                  <a:extLst>
                    <a:ext uri="{FF2B5EF4-FFF2-40B4-BE49-F238E27FC236}">
                      <a16:creationId xmlns:a16="http://schemas.microsoft.com/office/drawing/2014/main" id="{F1263C20-7B02-BE1C-66B1-92E00C4AAA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04000" y="2430000"/>
                  <a:ext cx="452303" cy="430887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文本框 101">
                  <a:extLst>
                    <a:ext uri="{FF2B5EF4-FFF2-40B4-BE49-F238E27FC236}">
                      <a16:creationId xmlns:a16="http://schemas.microsoft.com/office/drawing/2014/main" id="{278CCAA4-B9E5-F36E-97E6-B1D534743415}"/>
                    </a:ext>
                  </a:extLst>
                </p:cNvPr>
                <p:cNvSpPr txBox="1"/>
                <p:nvPr/>
              </p:nvSpPr>
              <p:spPr>
                <a:xfrm>
                  <a:off x="11448000" y="1980000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o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02" name="文本框 101">
                  <a:extLst>
                    <a:ext uri="{FF2B5EF4-FFF2-40B4-BE49-F238E27FC236}">
                      <a16:creationId xmlns:a16="http://schemas.microsoft.com/office/drawing/2014/main" id="{278CCAA4-B9E5-F36E-97E6-B1D5347434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48000" y="1980000"/>
                  <a:ext cx="432000" cy="430887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3" name="直接连接符 102">
              <a:extLst>
                <a:ext uri="{FF2B5EF4-FFF2-40B4-BE49-F238E27FC236}">
                  <a16:creationId xmlns:a16="http://schemas.microsoft.com/office/drawing/2014/main" id="{68C30484-F320-1F0C-76AA-28C9741662C6}"/>
                </a:ext>
              </a:extLst>
            </p:cNvPr>
            <p:cNvCxnSpPr>
              <a:cxnSpLocks/>
            </p:cNvCxnSpPr>
            <p:nvPr/>
          </p:nvCxnSpPr>
          <p:spPr>
            <a:xfrm>
              <a:off x="7596000" y="2412000"/>
              <a:ext cx="288000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9" name="文本框 108">
                  <a:extLst>
                    <a:ext uri="{FF2B5EF4-FFF2-40B4-BE49-F238E27FC236}">
                      <a16:creationId xmlns:a16="http://schemas.microsoft.com/office/drawing/2014/main" id="{0C9AD3E2-47C4-8DA3-659D-33F38E5CFF2A}"/>
                    </a:ext>
                  </a:extLst>
                </p:cNvPr>
                <p:cNvSpPr txBox="1"/>
                <p:nvPr/>
              </p:nvSpPr>
              <p:spPr>
                <a:xfrm>
                  <a:off x="7272000" y="3168000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09" name="文本框 108">
                  <a:extLst>
                    <a:ext uri="{FF2B5EF4-FFF2-40B4-BE49-F238E27FC236}">
                      <a16:creationId xmlns:a16="http://schemas.microsoft.com/office/drawing/2014/main" id="{0C9AD3E2-47C4-8DA3-659D-33F38E5CFF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72000" y="3168000"/>
                  <a:ext cx="432000" cy="430887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1" name="矩形 110">
              <a:extLst>
                <a:ext uri="{FF2B5EF4-FFF2-40B4-BE49-F238E27FC236}">
                  <a16:creationId xmlns:a16="http://schemas.microsoft.com/office/drawing/2014/main" id="{5BF0BACC-20A6-B54A-D1F3-1A9F062C4775}"/>
                </a:ext>
              </a:extLst>
            </p:cNvPr>
            <p:cNvSpPr/>
            <p:nvPr/>
          </p:nvSpPr>
          <p:spPr>
            <a:xfrm>
              <a:off x="8028000" y="3348000"/>
              <a:ext cx="576000" cy="144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" name="文本框 111">
                  <a:extLst>
                    <a:ext uri="{FF2B5EF4-FFF2-40B4-BE49-F238E27FC236}">
                      <a16:creationId xmlns:a16="http://schemas.microsoft.com/office/drawing/2014/main" id="{2E9241A1-9040-5490-5227-2D5869531A24}"/>
                    </a:ext>
                  </a:extLst>
                </p:cNvPr>
                <p:cNvSpPr txBox="1"/>
                <p:nvPr/>
              </p:nvSpPr>
              <p:spPr>
                <a:xfrm>
                  <a:off x="8027998" y="3492000"/>
                  <a:ext cx="576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12" name="文本框 111">
                  <a:extLst>
                    <a:ext uri="{FF2B5EF4-FFF2-40B4-BE49-F238E27FC236}">
                      <a16:creationId xmlns:a16="http://schemas.microsoft.com/office/drawing/2014/main" id="{2E9241A1-9040-5490-5227-2D5869531A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27998" y="3492000"/>
                  <a:ext cx="576000" cy="430887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3" name="直接箭头连接符 112">
              <a:extLst>
                <a:ext uri="{FF2B5EF4-FFF2-40B4-BE49-F238E27FC236}">
                  <a16:creationId xmlns:a16="http://schemas.microsoft.com/office/drawing/2014/main" id="{58385E94-6B73-96E1-0B43-12C3EDE4B16A}"/>
                </a:ext>
              </a:extLst>
            </p:cNvPr>
            <p:cNvCxnSpPr/>
            <p:nvPr/>
          </p:nvCxnSpPr>
          <p:spPr>
            <a:xfrm flipH="1">
              <a:off x="8046000" y="3240000"/>
              <a:ext cx="540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 w="med" len="lg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4" name="文本框 113">
                  <a:extLst>
                    <a:ext uri="{FF2B5EF4-FFF2-40B4-BE49-F238E27FC236}">
                      <a16:creationId xmlns:a16="http://schemas.microsoft.com/office/drawing/2014/main" id="{B4170D0C-F873-7044-2295-FAC2350518F2}"/>
                    </a:ext>
                  </a:extLst>
                </p:cNvPr>
                <p:cNvSpPr txBox="1"/>
                <p:nvPr/>
              </p:nvSpPr>
              <p:spPr>
                <a:xfrm>
                  <a:off x="8045998" y="2771999"/>
                  <a:ext cx="540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R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14" name="文本框 113">
                  <a:extLst>
                    <a:ext uri="{FF2B5EF4-FFF2-40B4-BE49-F238E27FC236}">
                      <a16:creationId xmlns:a16="http://schemas.microsoft.com/office/drawing/2014/main" id="{B4170D0C-F873-7044-2295-FAC2350518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45998" y="2771999"/>
                  <a:ext cx="540000" cy="430887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6" name="直接箭头连接符 115">
              <a:extLst>
                <a:ext uri="{FF2B5EF4-FFF2-40B4-BE49-F238E27FC236}">
                  <a16:creationId xmlns:a16="http://schemas.microsoft.com/office/drawing/2014/main" id="{265290AE-44D8-E189-8F1B-9CAF8BC2053A}"/>
                </a:ext>
              </a:extLst>
            </p:cNvPr>
            <p:cNvCxnSpPr/>
            <p:nvPr/>
          </p:nvCxnSpPr>
          <p:spPr>
            <a:xfrm flipH="1">
              <a:off x="9144000" y="1980000"/>
              <a:ext cx="540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 w="med" len="lg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7" name="文本框 116">
                  <a:extLst>
                    <a:ext uri="{FF2B5EF4-FFF2-40B4-BE49-F238E27FC236}">
                      <a16:creationId xmlns:a16="http://schemas.microsoft.com/office/drawing/2014/main" id="{EAE0E708-80F9-4989-011F-A4E1A2388E13}"/>
                    </a:ext>
                  </a:extLst>
                </p:cNvPr>
                <p:cNvSpPr txBox="1"/>
                <p:nvPr/>
              </p:nvSpPr>
              <p:spPr>
                <a:xfrm>
                  <a:off x="9144000" y="1476000"/>
                  <a:ext cx="540000" cy="46923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17" name="文本框 116">
                  <a:extLst>
                    <a:ext uri="{FF2B5EF4-FFF2-40B4-BE49-F238E27FC236}">
                      <a16:creationId xmlns:a16="http://schemas.microsoft.com/office/drawing/2014/main" id="{EAE0E708-80F9-4989-011F-A4E1A2388E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44000" y="1476000"/>
                  <a:ext cx="540000" cy="469231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8" name="直接箭头连接符 117">
              <a:extLst>
                <a:ext uri="{FF2B5EF4-FFF2-40B4-BE49-F238E27FC236}">
                  <a16:creationId xmlns:a16="http://schemas.microsoft.com/office/drawing/2014/main" id="{0510AF7F-60CA-7A87-76C2-01BCD4E95590}"/>
                </a:ext>
              </a:extLst>
            </p:cNvPr>
            <p:cNvCxnSpPr/>
            <p:nvPr/>
          </p:nvCxnSpPr>
          <p:spPr>
            <a:xfrm flipH="1">
              <a:off x="9144000" y="2772000"/>
              <a:ext cx="540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 w="med" len="lg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9" name="文本框 118">
                  <a:extLst>
                    <a:ext uri="{FF2B5EF4-FFF2-40B4-BE49-F238E27FC236}">
                      <a16:creationId xmlns:a16="http://schemas.microsoft.com/office/drawing/2014/main" id="{3F37BC4D-549D-9BD5-7D2E-87B451EFAD8F}"/>
                    </a:ext>
                  </a:extLst>
                </p:cNvPr>
                <p:cNvSpPr txBox="1"/>
                <p:nvPr/>
              </p:nvSpPr>
              <p:spPr>
                <a:xfrm>
                  <a:off x="9144000" y="2303999"/>
                  <a:ext cx="540000" cy="4680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19" name="文本框 118">
                  <a:extLst>
                    <a:ext uri="{FF2B5EF4-FFF2-40B4-BE49-F238E27FC236}">
                      <a16:creationId xmlns:a16="http://schemas.microsoft.com/office/drawing/2014/main" id="{3F37BC4D-549D-9BD5-7D2E-87B451EFAD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44000" y="2303999"/>
                  <a:ext cx="540000" cy="468000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1" name="直接箭头连接符 120">
              <a:extLst>
                <a:ext uri="{FF2B5EF4-FFF2-40B4-BE49-F238E27FC236}">
                  <a16:creationId xmlns:a16="http://schemas.microsoft.com/office/drawing/2014/main" id="{07F8167C-D903-6B75-7C2F-25FD296BE90C}"/>
                </a:ext>
              </a:extLst>
            </p:cNvPr>
            <p:cNvCxnSpPr/>
            <p:nvPr/>
          </p:nvCxnSpPr>
          <p:spPr>
            <a:xfrm flipH="1">
              <a:off x="9360000" y="3528000"/>
              <a:ext cx="540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 w="med" len="lg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>
              <a:extLst>
                <a:ext uri="{FF2B5EF4-FFF2-40B4-BE49-F238E27FC236}">
                  <a16:creationId xmlns:a16="http://schemas.microsoft.com/office/drawing/2014/main" id="{79121FB5-7BB6-EACD-FDAE-90BDC467E758}"/>
                </a:ext>
              </a:extLst>
            </p:cNvPr>
            <p:cNvCxnSpPr>
              <a:cxnSpLocks/>
            </p:cNvCxnSpPr>
            <p:nvPr/>
          </p:nvCxnSpPr>
          <p:spPr>
            <a:xfrm>
              <a:off x="10620000" y="3204000"/>
              <a:ext cx="0" cy="432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>
              <a:extLst>
                <a:ext uri="{FF2B5EF4-FFF2-40B4-BE49-F238E27FC236}">
                  <a16:creationId xmlns:a16="http://schemas.microsoft.com/office/drawing/2014/main" id="{FB3A4F4E-CF19-4E06-7711-F21D54F129CE}"/>
                </a:ext>
              </a:extLst>
            </p:cNvPr>
            <p:cNvCxnSpPr>
              <a:cxnSpLocks/>
            </p:cNvCxnSpPr>
            <p:nvPr/>
          </p:nvCxnSpPr>
          <p:spPr>
            <a:xfrm>
              <a:off x="10800000" y="3204000"/>
              <a:ext cx="0" cy="432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直接连接符 126">
              <a:extLst>
                <a:ext uri="{FF2B5EF4-FFF2-40B4-BE49-F238E27FC236}">
                  <a16:creationId xmlns:a16="http://schemas.microsoft.com/office/drawing/2014/main" id="{99B9DA84-8607-7DE7-A4DD-83E3B207829D}"/>
                </a:ext>
              </a:extLst>
            </p:cNvPr>
            <p:cNvCxnSpPr>
              <a:cxnSpLocks/>
            </p:cNvCxnSpPr>
            <p:nvPr/>
          </p:nvCxnSpPr>
          <p:spPr>
            <a:xfrm>
              <a:off x="10800000" y="3420000"/>
              <a:ext cx="540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9" name="文本框 128">
                  <a:extLst>
                    <a:ext uri="{FF2B5EF4-FFF2-40B4-BE49-F238E27FC236}">
                      <a16:creationId xmlns:a16="http://schemas.microsoft.com/office/drawing/2014/main" id="{DD34D501-E20E-8761-D9A4-5E87CB0FBCCE}"/>
                    </a:ext>
                  </a:extLst>
                </p:cNvPr>
                <p:cNvSpPr txBox="1"/>
                <p:nvPr/>
              </p:nvSpPr>
              <p:spPr>
                <a:xfrm>
                  <a:off x="10260000" y="2988000"/>
                  <a:ext cx="360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29" name="文本框 128">
                  <a:extLst>
                    <a:ext uri="{FF2B5EF4-FFF2-40B4-BE49-F238E27FC236}">
                      <a16:creationId xmlns:a16="http://schemas.microsoft.com/office/drawing/2014/main" id="{DD34D501-E20E-8761-D9A4-5E87CB0FBC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60000" y="2988000"/>
                  <a:ext cx="360000" cy="430887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0" name="文本框 129">
                  <a:extLst>
                    <a:ext uri="{FF2B5EF4-FFF2-40B4-BE49-F238E27FC236}">
                      <a16:creationId xmlns:a16="http://schemas.microsoft.com/office/drawing/2014/main" id="{3507AA6D-1268-3932-89B2-A319217013B6}"/>
                    </a:ext>
                  </a:extLst>
                </p:cNvPr>
                <p:cNvSpPr txBox="1"/>
                <p:nvPr/>
              </p:nvSpPr>
              <p:spPr>
                <a:xfrm>
                  <a:off x="10530000" y="3636000"/>
                  <a:ext cx="360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30" name="文本框 129">
                  <a:extLst>
                    <a:ext uri="{FF2B5EF4-FFF2-40B4-BE49-F238E27FC236}">
                      <a16:creationId xmlns:a16="http://schemas.microsoft.com/office/drawing/2014/main" id="{3507AA6D-1268-3932-89B2-A319217013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30000" y="3636000"/>
                  <a:ext cx="360000" cy="430887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1" name="文本框 130">
                  <a:extLst>
                    <a:ext uri="{FF2B5EF4-FFF2-40B4-BE49-F238E27FC236}">
                      <a16:creationId xmlns:a16="http://schemas.microsoft.com/office/drawing/2014/main" id="{F81FF672-F948-DE95-A8F7-2F20D7647D5A}"/>
                    </a:ext>
                  </a:extLst>
                </p:cNvPr>
                <p:cNvSpPr txBox="1"/>
                <p:nvPr/>
              </p:nvSpPr>
              <p:spPr>
                <a:xfrm>
                  <a:off x="10476000" y="2736000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31" name="文本框 130">
                  <a:extLst>
                    <a:ext uri="{FF2B5EF4-FFF2-40B4-BE49-F238E27FC236}">
                      <a16:creationId xmlns:a16="http://schemas.microsoft.com/office/drawing/2014/main" id="{F81FF672-F948-DE95-A8F7-2F20D7647D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76000" y="2736000"/>
                  <a:ext cx="432000" cy="430887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2" name="文本框 131">
                  <a:extLst>
                    <a:ext uri="{FF2B5EF4-FFF2-40B4-BE49-F238E27FC236}">
                      <a16:creationId xmlns:a16="http://schemas.microsoft.com/office/drawing/2014/main" id="{8CB164A3-E264-7BA0-76AC-F3BA7271EB1F}"/>
                    </a:ext>
                  </a:extLst>
                </p:cNvPr>
                <p:cNvSpPr txBox="1"/>
                <p:nvPr/>
              </p:nvSpPr>
              <p:spPr>
                <a:xfrm>
                  <a:off x="10836000" y="2988000"/>
                  <a:ext cx="360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32" name="文本框 131">
                  <a:extLst>
                    <a:ext uri="{FF2B5EF4-FFF2-40B4-BE49-F238E27FC236}">
                      <a16:creationId xmlns:a16="http://schemas.microsoft.com/office/drawing/2014/main" id="{8CB164A3-E264-7BA0-76AC-F3BA7271EB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36000" y="2988000"/>
                  <a:ext cx="360000" cy="430887"/>
                </a:xfrm>
                <a:prstGeom prst="rect">
                  <a:avLst/>
                </a:prstGeom>
                <a:blipFill>
                  <a:blip r:embed="rId3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D650989E-17FE-AF55-FDE3-EB9670D009EB}"/>
                </a:ext>
              </a:extLst>
            </p:cNvPr>
            <p:cNvSpPr/>
            <p:nvPr/>
          </p:nvSpPr>
          <p:spPr>
            <a:xfrm>
              <a:off x="7920000" y="1980000"/>
              <a:ext cx="576000" cy="144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BA83CC19-86FC-F913-3B62-EEEB354D17BA}"/>
                    </a:ext>
                  </a:extLst>
                </p:cNvPr>
                <p:cNvSpPr txBox="1"/>
                <p:nvPr/>
              </p:nvSpPr>
              <p:spPr>
                <a:xfrm>
                  <a:off x="7919998" y="2124000"/>
                  <a:ext cx="576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 smtClean="0">
                            <a:latin typeface="Cambria Math" panose="02040503050406030204" pitchFamily="18" charset="0"/>
                          </a:rPr>
                          <m:t>𝑅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BA83CC19-86FC-F913-3B62-EEEB354D17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19998" y="2124000"/>
                  <a:ext cx="576000" cy="430887"/>
                </a:xfrm>
                <a:prstGeom prst="rect">
                  <a:avLst/>
                </a:prstGeom>
                <a:blipFill>
                  <a:blip r:embed="rId3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2729452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55213-7E5B-0FAE-52BD-B54494298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822DE5-3D1C-EEA2-842B-916D67FFBD52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集成运算放大器的线性应用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积分</a:t>
            </a:r>
            <a:r>
              <a:rPr lang="en-US" altLang="zh-CN" sz="3000" dirty="0">
                <a:solidFill>
                  <a:srgbClr val="FFFF00"/>
                </a:solidFill>
              </a:rPr>
              <a:t>/</a:t>
            </a:r>
            <a:r>
              <a:rPr lang="zh-CN" altLang="en-US" sz="3000" dirty="0">
                <a:solidFill>
                  <a:srgbClr val="FFFF00"/>
                </a:solidFill>
              </a:rPr>
              <a:t>微分运算电路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0BF3DDA0-6C0B-4CC2-2930-662D6FB6C9D7}"/>
                  </a:ext>
                </a:extLst>
              </p:cNvPr>
              <p:cNvSpPr txBox="1"/>
              <p:nvPr/>
            </p:nvSpPr>
            <p:spPr>
              <a:xfrm>
                <a:off x="359999" y="828000"/>
                <a:ext cx="5941406" cy="22745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积分运算电路</a:t>
                </a:r>
                <a:endParaRPr kumimoji="1"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输入阶跃信号：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2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o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sz="24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𝑅𝐶</m:t>
                          </m:r>
                        </m:den>
                      </m:f>
                      <m:nary>
                        <m:naryPr>
                          <m:ctrlP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p>
                        <m:e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nary>
                      <m:r>
                        <a:rPr lang="en-US" altLang="zh-CN" sz="24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𝑅𝐶</m:t>
                          </m:r>
                        </m:den>
                      </m:f>
                      <m:sSub>
                        <m:sSubPr>
                          <m:ctrlP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0BF3DDA0-6C0B-4CC2-2930-662D6FB6C9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999" y="828000"/>
                <a:ext cx="5941406" cy="2274533"/>
              </a:xfrm>
              <a:prstGeom prst="rect">
                <a:avLst/>
              </a:prstGeom>
              <a:blipFill>
                <a:blip r:embed="rId3"/>
                <a:stretch>
                  <a:fillRect l="-1846" t="-10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对话气泡: 圆角矩形 50">
            <a:extLst>
              <a:ext uri="{FF2B5EF4-FFF2-40B4-BE49-F238E27FC236}">
                <a16:creationId xmlns:a16="http://schemas.microsoft.com/office/drawing/2014/main" id="{AFC08B8A-9B03-CB6C-5D86-65DCAEC23112}"/>
              </a:ext>
            </a:extLst>
          </p:cNvPr>
          <p:cNvSpPr/>
          <p:nvPr/>
        </p:nvSpPr>
        <p:spPr>
          <a:xfrm>
            <a:off x="5148000" y="4896000"/>
            <a:ext cx="2520000" cy="576000"/>
          </a:xfrm>
          <a:prstGeom prst="wedgeRoundRectCallout">
            <a:avLst>
              <a:gd name="adj1" fmla="val -46308"/>
              <a:gd name="adj2" fmla="val 94784"/>
              <a:gd name="adj3" fmla="val 16667"/>
            </a:avLst>
          </a:prstGeom>
          <a:noFill/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随时间线性下降</a:t>
            </a:r>
          </a:p>
        </p:txBody>
      </p:sp>
      <p:sp>
        <p:nvSpPr>
          <p:cNvPr id="52" name="对话气泡: 圆角矩形 51">
            <a:extLst>
              <a:ext uri="{FF2B5EF4-FFF2-40B4-BE49-F238E27FC236}">
                <a16:creationId xmlns:a16="http://schemas.microsoft.com/office/drawing/2014/main" id="{D9081B28-5E69-A291-3F76-1CB560BA882C}"/>
              </a:ext>
            </a:extLst>
          </p:cNvPr>
          <p:cNvSpPr/>
          <p:nvPr/>
        </p:nvSpPr>
        <p:spPr>
          <a:xfrm>
            <a:off x="6120000" y="6121517"/>
            <a:ext cx="1548000" cy="576000"/>
          </a:xfrm>
          <a:prstGeom prst="wedgeRoundRectCallout">
            <a:avLst>
              <a:gd name="adj1" fmla="val -71630"/>
              <a:gd name="adj2" fmla="val -53682"/>
              <a:gd name="adj3" fmla="val 16667"/>
            </a:avLst>
          </a:prstGeom>
          <a:noFill/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输出饱和</a:t>
            </a: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FB1964A6-9899-551A-312C-8B1643EA2DF5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3DDAC918-2A20-3AE9-9823-374E3AD4B154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22" name="箭头: 五边形 21">
                <a:extLst>
                  <a:ext uri="{FF2B5EF4-FFF2-40B4-BE49-F238E27FC236}">
                    <a16:creationId xmlns:a16="http://schemas.microsoft.com/office/drawing/2014/main" id="{D8175DEF-28B2-B892-02A5-CA0B65D78E93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3" name="箭头: V 形 22">
                <a:extLst>
                  <a:ext uri="{FF2B5EF4-FFF2-40B4-BE49-F238E27FC236}">
                    <a16:creationId xmlns:a16="http://schemas.microsoft.com/office/drawing/2014/main" id="{21352B81-64E9-10BB-0A73-C9F2E5B73217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8" name="灯片编号占位符 3">
              <a:extLst>
                <a:ext uri="{FF2B5EF4-FFF2-40B4-BE49-F238E27FC236}">
                  <a16:creationId xmlns:a16="http://schemas.microsoft.com/office/drawing/2014/main" id="{46200E78-E536-BCDC-CE1A-DCE4E25C208F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14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F0094709-00E2-FB03-182F-C985C6D40A5E}"/>
              </a:ext>
            </a:extLst>
          </p:cNvPr>
          <p:cNvGrpSpPr/>
          <p:nvPr/>
        </p:nvGrpSpPr>
        <p:grpSpPr>
          <a:xfrm>
            <a:off x="360000" y="3492000"/>
            <a:ext cx="2844000" cy="2196000"/>
            <a:chOff x="540000" y="3528000"/>
            <a:chExt cx="2844000" cy="2196000"/>
          </a:xfrm>
        </p:grpSpPr>
        <p:cxnSp>
          <p:nvCxnSpPr>
            <p:cNvPr id="7" name="直接箭头连接符 6">
              <a:extLst>
                <a:ext uri="{FF2B5EF4-FFF2-40B4-BE49-F238E27FC236}">
                  <a16:creationId xmlns:a16="http://schemas.microsoft.com/office/drawing/2014/main" id="{28382CA5-D49E-47A0-0C15-32382FE2AA01}"/>
                </a:ext>
              </a:extLst>
            </p:cNvPr>
            <p:cNvCxnSpPr/>
            <p:nvPr/>
          </p:nvCxnSpPr>
          <p:spPr>
            <a:xfrm>
              <a:off x="1080000" y="5436000"/>
              <a:ext cx="1872000" cy="0"/>
            </a:xfrm>
            <a:prstGeom prst="straightConnector1">
              <a:avLst/>
            </a:prstGeom>
            <a:ln w="50800">
              <a:solidFill>
                <a:schemeClr val="tx1">
                  <a:lumMod val="50000"/>
                  <a:lumOff val="50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箭头连接符 7">
              <a:extLst>
                <a:ext uri="{FF2B5EF4-FFF2-40B4-BE49-F238E27FC236}">
                  <a16:creationId xmlns:a16="http://schemas.microsoft.com/office/drawing/2014/main" id="{8862C2BE-283F-86A3-423A-1B7C175B38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0000" y="3996000"/>
              <a:ext cx="0" cy="1440000"/>
            </a:xfrm>
            <a:prstGeom prst="straightConnector1">
              <a:avLst/>
            </a:prstGeom>
            <a:ln w="50800">
              <a:solidFill>
                <a:schemeClr val="tx1">
                  <a:lumMod val="50000"/>
                  <a:lumOff val="50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6E3DC884-AB7F-2D0C-608D-6D309B3F4D2C}"/>
                </a:ext>
              </a:extLst>
            </p:cNvPr>
            <p:cNvCxnSpPr/>
            <p:nvPr/>
          </p:nvCxnSpPr>
          <p:spPr>
            <a:xfrm>
              <a:off x="1062000" y="4716000"/>
              <a:ext cx="1548000" cy="0"/>
            </a:xfrm>
            <a:prstGeom prst="line">
              <a:avLst/>
            </a:prstGeom>
            <a:ln w="762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12BA5D94-41F8-5713-542B-168D5E897119}"/>
                </a:ext>
              </a:extLst>
            </p:cNvPr>
            <p:cNvCxnSpPr>
              <a:cxnSpLocks/>
            </p:cNvCxnSpPr>
            <p:nvPr/>
          </p:nvCxnSpPr>
          <p:spPr>
            <a:xfrm>
              <a:off x="1080000" y="4716000"/>
              <a:ext cx="0" cy="720000"/>
            </a:xfrm>
            <a:prstGeom prst="line">
              <a:avLst/>
            </a:prstGeom>
            <a:ln w="762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601FB259-3D99-A19B-574C-8D183E6BC339}"/>
                    </a:ext>
                  </a:extLst>
                </p:cNvPr>
                <p:cNvSpPr txBox="1"/>
                <p:nvPr/>
              </p:nvSpPr>
              <p:spPr>
                <a:xfrm>
                  <a:off x="792000" y="3528000"/>
                  <a:ext cx="576000" cy="576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601FB259-3D99-A19B-574C-8D183E6BC3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2000" y="3528000"/>
                  <a:ext cx="576000" cy="576000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C00443E0-B80C-420D-D489-97C5F3D26AFC}"/>
                    </a:ext>
                  </a:extLst>
                </p:cNvPr>
                <p:cNvSpPr txBox="1"/>
                <p:nvPr/>
              </p:nvSpPr>
              <p:spPr>
                <a:xfrm>
                  <a:off x="2808000" y="5148000"/>
                  <a:ext cx="576000" cy="576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C00443E0-B80C-420D-D489-97C5F3D26A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08000" y="5148000"/>
                  <a:ext cx="576000" cy="576000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46C5AEB7-66BD-E1C9-0AC9-4479DE6B352B}"/>
                    </a:ext>
                  </a:extLst>
                </p:cNvPr>
                <p:cNvSpPr txBox="1"/>
                <p:nvPr/>
              </p:nvSpPr>
              <p:spPr>
                <a:xfrm>
                  <a:off x="540000" y="4392000"/>
                  <a:ext cx="57600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46C5AEB7-66BD-E1C9-0AC9-4479DE6B35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0000" y="4392000"/>
                  <a:ext cx="576000" cy="523220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4" name="对话气泡: 圆角矩形 23">
            <a:extLst>
              <a:ext uri="{FF2B5EF4-FFF2-40B4-BE49-F238E27FC236}">
                <a16:creationId xmlns:a16="http://schemas.microsoft.com/office/drawing/2014/main" id="{BF511547-9217-BBF8-73C9-4BCCEC46B637}"/>
              </a:ext>
            </a:extLst>
          </p:cNvPr>
          <p:cNvSpPr/>
          <p:nvPr/>
        </p:nvSpPr>
        <p:spPr>
          <a:xfrm>
            <a:off x="1332000" y="3708000"/>
            <a:ext cx="2160000" cy="576000"/>
          </a:xfrm>
          <a:prstGeom prst="wedgeRoundRectCallout">
            <a:avLst>
              <a:gd name="adj1" fmla="val -44239"/>
              <a:gd name="adj2" fmla="val 103284"/>
              <a:gd name="adj3" fmla="val 16667"/>
            </a:avLst>
          </a:prstGeom>
          <a:solidFill>
            <a:schemeClr val="bg1"/>
          </a:solidFill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输入阶跃信号</a:t>
            </a: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116BD101-E5B1-AC22-C735-6E346616ABE8}"/>
              </a:ext>
            </a:extLst>
          </p:cNvPr>
          <p:cNvGrpSpPr/>
          <p:nvPr/>
        </p:nvGrpSpPr>
        <p:grpSpPr>
          <a:xfrm>
            <a:off x="3060000" y="3492000"/>
            <a:ext cx="3924000" cy="2988000"/>
            <a:chOff x="3060000" y="3492000"/>
            <a:chExt cx="3924000" cy="2988000"/>
          </a:xfrm>
        </p:grpSpPr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D6182325-C077-BCD7-04DF-789B40D12705}"/>
                </a:ext>
              </a:extLst>
            </p:cNvPr>
            <p:cNvCxnSpPr/>
            <p:nvPr/>
          </p:nvCxnSpPr>
          <p:spPr>
            <a:xfrm>
              <a:off x="4032000" y="5976000"/>
              <a:ext cx="1296000" cy="0"/>
            </a:xfrm>
            <a:prstGeom prst="line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箭头连接符 33">
              <a:extLst>
                <a:ext uri="{FF2B5EF4-FFF2-40B4-BE49-F238E27FC236}">
                  <a16:creationId xmlns:a16="http://schemas.microsoft.com/office/drawing/2014/main" id="{C0261298-AC15-2586-BBBB-E616FE3D62BD}"/>
                </a:ext>
              </a:extLst>
            </p:cNvPr>
            <p:cNvCxnSpPr/>
            <p:nvPr/>
          </p:nvCxnSpPr>
          <p:spPr>
            <a:xfrm>
              <a:off x="4032000" y="4680000"/>
              <a:ext cx="2520000" cy="0"/>
            </a:xfrm>
            <a:prstGeom prst="straightConnector1">
              <a:avLst/>
            </a:prstGeom>
            <a:ln w="50800">
              <a:solidFill>
                <a:schemeClr val="tx1">
                  <a:lumMod val="50000"/>
                  <a:lumOff val="50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箭头连接符 34">
              <a:extLst>
                <a:ext uri="{FF2B5EF4-FFF2-40B4-BE49-F238E27FC236}">
                  <a16:creationId xmlns:a16="http://schemas.microsoft.com/office/drawing/2014/main" id="{1AC35AB4-77EC-7AF6-D657-78160AD28D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32000" y="3960000"/>
              <a:ext cx="0" cy="2520000"/>
            </a:xfrm>
            <a:prstGeom prst="straightConnector1">
              <a:avLst/>
            </a:prstGeom>
            <a:ln w="50800">
              <a:solidFill>
                <a:schemeClr val="tx1">
                  <a:lumMod val="50000"/>
                  <a:lumOff val="50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4DA3674C-7912-EB6D-6D9B-9C90FF6914C8}"/>
                    </a:ext>
                  </a:extLst>
                </p:cNvPr>
                <p:cNvSpPr txBox="1"/>
                <p:nvPr/>
              </p:nvSpPr>
              <p:spPr>
                <a:xfrm>
                  <a:off x="3744000" y="3492000"/>
                  <a:ext cx="576000" cy="576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o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4DA3674C-7912-EB6D-6D9B-9C90FF6914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44000" y="3492000"/>
                  <a:ext cx="576000" cy="576000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48B97A13-C7EC-28B3-302A-DF01271D139F}"/>
                    </a:ext>
                  </a:extLst>
                </p:cNvPr>
                <p:cNvSpPr txBox="1"/>
                <p:nvPr/>
              </p:nvSpPr>
              <p:spPr>
                <a:xfrm>
                  <a:off x="6408000" y="4320000"/>
                  <a:ext cx="576000" cy="576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48B97A13-C7EC-28B3-302A-DF01271D13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08000" y="4320000"/>
                  <a:ext cx="576000" cy="576000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A4DE40E1-DF59-BEAA-3A98-73416FC7587E}"/>
                    </a:ext>
                  </a:extLst>
                </p:cNvPr>
                <p:cNvSpPr txBox="1"/>
                <p:nvPr/>
              </p:nvSpPr>
              <p:spPr>
                <a:xfrm>
                  <a:off x="3060000" y="5688000"/>
                  <a:ext cx="972000" cy="540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om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A4DE40E1-DF59-BEAA-3A98-73416FC758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60000" y="5688000"/>
                  <a:ext cx="972000" cy="540000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F924D394-C3B2-20C1-7576-9EA5EAC263A1}"/>
                </a:ext>
              </a:extLst>
            </p:cNvPr>
            <p:cNvCxnSpPr/>
            <p:nvPr/>
          </p:nvCxnSpPr>
          <p:spPr>
            <a:xfrm>
              <a:off x="5310000" y="5976000"/>
              <a:ext cx="1080000" cy="0"/>
            </a:xfrm>
            <a:prstGeom prst="line">
              <a:avLst/>
            </a:prstGeom>
            <a:ln w="762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007CEB98-981D-23D4-1136-3199196D2620}"/>
                </a:ext>
              </a:extLst>
            </p:cNvPr>
            <p:cNvCxnSpPr/>
            <p:nvPr/>
          </p:nvCxnSpPr>
          <p:spPr>
            <a:xfrm>
              <a:off x="4032000" y="5400000"/>
              <a:ext cx="720000" cy="0"/>
            </a:xfrm>
            <a:prstGeom prst="line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11A03E5E-77B4-D26B-7035-BC13C51DC1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88000" y="4680000"/>
              <a:ext cx="0" cy="720000"/>
            </a:xfrm>
            <a:prstGeom prst="line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0E8CEB2A-2B81-00A3-113B-162BBAD699F3}"/>
                </a:ext>
              </a:extLst>
            </p:cNvPr>
            <p:cNvCxnSpPr>
              <a:cxnSpLocks/>
            </p:cNvCxnSpPr>
            <p:nvPr/>
          </p:nvCxnSpPr>
          <p:spPr>
            <a:xfrm>
              <a:off x="4032000" y="4680000"/>
              <a:ext cx="1296000" cy="1296000"/>
            </a:xfrm>
            <a:prstGeom prst="line">
              <a:avLst/>
            </a:prstGeom>
            <a:ln w="762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8BCF6B10-A78D-7830-E5B8-0B8E0E972EC7}"/>
                    </a:ext>
                  </a:extLst>
                </p:cNvPr>
                <p:cNvSpPr txBox="1"/>
                <p:nvPr/>
              </p:nvSpPr>
              <p:spPr>
                <a:xfrm>
                  <a:off x="3312000" y="5112000"/>
                  <a:ext cx="720000" cy="504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8BCF6B10-A78D-7830-E5B8-0B8E0E972E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12000" y="5112000"/>
                  <a:ext cx="720000" cy="504000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2C6F4257-6893-0475-462C-63BDB92FCE55}"/>
                    </a:ext>
                  </a:extLst>
                </p:cNvPr>
                <p:cNvSpPr txBox="1"/>
                <p:nvPr/>
              </p:nvSpPr>
              <p:spPr>
                <a:xfrm>
                  <a:off x="4320000" y="4248000"/>
                  <a:ext cx="1296000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altLang="zh-CN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𝑅𝐶</m:t>
                        </m:r>
                      </m:oMath>
                    </m:oMathPara>
                  </a14:m>
                  <a:endParaRPr lang="zh-CN" altLang="en-US" sz="24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2C6F4257-6893-0475-462C-63BDB92FCE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0000" y="4248000"/>
                  <a:ext cx="1296000" cy="461665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92B0DB5F-9997-6FB4-7694-01DFD882978C}"/>
              </a:ext>
            </a:extLst>
          </p:cNvPr>
          <p:cNvGrpSpPr/>
          <p:nvPr/>
        </p:nvGrpSpPr>
        <p:grpSpPr>
          <a:xfrm>
            <a:off x="9000000" y="3348000"/>
            <a:ext cx="2412000" cy="1402887"/>
            <a:chOff x="9000000" y="3348000"/>
            <a:chExt cx="2412000" cy="1402887"/>
          </a:xfrm>
        </p:grpSpPr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DE79B6B0-2150-9CA3-A11D-AA70A2AEA276}"/>
                </a:ext>
              </a:extLst>
            </p:cNvPr>
            <p:cNvCxnSpPr>
              <a:cxnSpLocks/>
            </p:cNvCxnSpPr>
            <p:nvPr/>
          </p:nvCxnSpPr>
          <p:spPr>
            <a:xfrm>
              <a:off x="9000000" y="3420000"/>
              <a:ext cx="0" cy="828000"/>
            </a:xfrm>
            <a:prstGeom prst="line">
              <a:avLst/>
            </a:prstGeom>
            <a:ln w="381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73091407-E52A-4BFA-9F7A-2D4DFDAD68A2}"/>
                </a:ext>
              </a:extLst>
            </p:cNvPr>
            <p:cNvCxnSpPr>
              <a:cxnSpLocks/>
            </p:cNvCxnSpPr>
            <p:nvPr/>
          </p:nvCxnSpPr>
          <p:spPr>
            <a:xfrm>
              <a:off x="9000000" y="4248000"/>
              <a:ext cx="2340000" cy="0"/>
            </a:xfrm>
            <a:prstGeom prst="line">
              <a:avLst/>
            </a:prstGeom>
            <a:ln w="381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589DA419-6109-DDC2-0A62-DDF630E1F71A}"/>
                </a:ext>
              </a:extLst>
            </p:cNvPr>
            <p:cNvCxnSpPr>
              <a:cxnSpLocks/>
            </p:cNvCxnSpPr>
            <p:nvPr/>
          </p:nvCxnSpPr>
          <p:spPr>
            <a:xfrm>
              <a:off x="11340000" y="3420000"/>
              <a:ext cx="0" cy="828000"/>
            </a:xfrm>
            <a:prstGeom prst="line">
              <a:avLst/>
            </a:prstGeom>
            <a:ln w="381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420322C5-5E3D-032A-8248-E212EDC39BA9}"/>
                </a:ext>
              </a:extLst>
            </p:cNvPr>
            <p:cNvSpPr/>
            <p:nvPr/>
          </p:nvSpPr>
          <p:spPr>
            <a:xfrm>
              <a:off x="11268000" y="3348000"/>
              <a:ext cx="144000" cy="14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665E607B-3339-85B3-CECF-8E1C92513E70}"/>
                </a:ext>
              </a:extLst>
            </p:cNvPr>
            <p:cNvSpPr/>
            <p:nvPr/>
          </p:nvSpPr>
          <p:spPr>
            <a:xfrm>
              <a:off x="9900000" y="4176000"/>
              <a:ext cx="576000" cy="144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000FF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B731802A-67BE-8C4E-2FB6-15FD1B4ED2FF}"/>
                    </a:ext>
                  </a:extLst>
                </p:cNvPr>
                <p:cNvSpPr txBox="1"/>
                <p:nvPr/>
              </p:nvSpPr>
              <p:spPr>
                <a:xfrm>
                  <a:off x="9899996" y="4320000"/>
                  <a:ext cx="428707" cy="43088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f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B731802A-67BE-8C4E-2FB6-15FD1B4ED2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99996" y="4320000"/>
                  <a:ext cx="428707" cy="430887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95C23B97-A485-5495-CCD8-827515DF455F}"/>
                  </a:ext>
                </a:extLst>
              </p:cNvPr>
              <p:cNvSpPr txBox="1"/>
              <p:nvPr/>
            </p:nvSpPr>
            <p:spPr>
              <a:xfrm>
                <a:off x="8460000" y="4896000"/>
                <a:ext cx="3600000" cy="828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zh-CN" altLang="en-US" sz="24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为防止运放饱和，在电容两端并联一个大电阻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sub>
                    </m:sSub>
                  </m:oMath>
                </a14:m>
                <a:endParaRPr lang="zh-CN" alt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95C23B97-A485-5495-CCD8-827515DF45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0000" y="4896000"/>
                <a:ext cx="3600000" cy="828000"/>
              </a:xfrm>
              <a:prstGeom prst="rect">
                <a:avLst/>
              </a:prstGeom>
              <a:blipFill>
                <a:blip r:embed="rId28"/>
                <a:stretch>
                  <a:fillRect l="-2712" t="-5882" r="-847" b="-154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3" name="组合 32">
            <a:extLst>
              <a:ext uri="{FF2B5EF4-FFF2-40B4-BE49-F238E27FC236}">
                <a16:creationId xmlns:a16="http://schemas.microsoft.com/office/drawing/2014/main" id="{5C3FB55F-7463-DC84-2DC3-4A8F7F9C9355}"/>
              </a:ext>
            </a:extLst>
          </p:cNvPr>
          <p:cNvGrpSpPr/>
          <p:nvPr/>
        </p:nvGrpSpPr>
        <p:grpSpPr>
          <a:xfrm>
            <a:off x="7272000" y="1476000"/>
            <a:ext cx="4608000" cy="2590887"/>
            <a:chOff x="7272000" y="1476000"/>
            <a:chExt cx="4608000" cy="259088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" name="文本框 121">
                  <a:extLst>
                    <a:ext uri="{FF2B5EF4-FFF2-40B4-BE49-F238E27FC236}">
                      <a16:creationId xmlns:a16="http://schemas.microsoft.com/office/drawing/2014/main" id="{12E0E9CA-2F26-0536-6ABB-B50384A19E4F}"/>
                    </a:ext>
                  </a:extLst>
                </p:cNvPr>
                <p:cNvSpPr txBox="1"/>
                <p:nvPr/>
              </p:nvSpPr>
              <p:spPr>
                <a:xfrm>
                  <a:off x="9359999" y="3528000"/>
                  <a:ext cx="540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22" name="文本框 121">
                  <a:extLst>
                    <a:ext uri="{FF2B5EF4-FFF2-40B4-BE49-F238E27FC236}">
                      <a16:creationId xmlns:a16="http://schemas.microsoft.com/office/drawing/2014/main" id="{12E0E9CA-2F26-0536-6ABB-B50384A19E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59999" y="3528000"/>
                  <a:ext cx="540000" cy="430887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7" name="直接连接符 86">
              <a:extLst>
                <a:ext uri="{FF2B5EF4-FFF2-40B4-BE49-F238E27FC236}">
                  <a16:creationId xmlns:a16="http://schemas.microsoft.com/office/drawing/2014/main" id="{80200946-3650-7402-0730-071BDC973D6E}"/>
                </a:ext>
              </a:extLst>
            </p:cNvPr>
            <p:cNvCxnSpPr>
              <a:cxnSpLocks/>
            </p:cNvCxnSpPr>
            <p:nvPr/>
          </p:nvCxnSpPr>
          <p:spPr>
            <a:xfrm>
              <a:off x="9000000" y="2844000"/>
              <a:ext cx="864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>
              <a:extLst>
                <a:ext uri="{FF2B5EF4-FFF2-40B4-BE49-F238E27FC236}">
                  <a16:creationId xmlns:a16="http://schemas.microsoft.com/office/drawing/2014/main" id="{09FCDDEF-C6E1-E85D-455C-758D328AAA97}"/>
                </a:ext>
              </a:extLst>
            </p:cNvPr>
            <p:cNvCxnSpPr>
              <a:cxnSpLocks/>
            </p:cNvCxnSpPr>
            <p:nvPr/>
          </p:nvCxnSpPr>
          <p:spPr>
            <a:xfrm>
              <a:off x="7740000" y="2052000"/>
              <a:ext cx="2124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等腰三角形 88">
              <a:extLst>
                <a:ext uri="{FF2B5EF4-FFF2-40B4-BE49-F238E27FC236}">
                  <a16:creationId xmlns:a16="http://schemas.microsoft.com/office/drawing/2014/main" id="{ED818F9D-E1E3-BDE4-D72E-F486E8488FA6}"/>
                </a:ext>
              </a:extLst>
            </p:cNvPr>
            <p:cNvSpPr/>
            <p:nvPr/>
          </p:nvSpPr>
          <p:spPr>
            <a:xfrm rot="5400000">
              <a:off x="9792000" y="1800000"/>
              <a:ext cx="1440000" cy="1296000"/>
            </a:xfrm>
            <a:prstGeom prst="triangl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文本框 89">
                  <a:extLst>
                    <a:ext uri="{FF2B5EF4-FFF2-40B4-BE49-F238E27FC236}">
                      <a16:creationId xmlns:a16="http://schemas.microsoft.com/office/drawing/2014/main" id="{9AC6DB64-CD2A-FB5E-94E4-62688B14200E}"/>
                    </a:ext>
                  </a:extLst>
                </p:cNvPr>
                <p:cNvSpPr txBox="1"/>
                <p:nvPr/>
              </p:nvSpPr>
              <p:spPr>
                <a:xfrm>
                  <a:off x="9846000" y="2610000"/>
                  <a:ext cx="396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 smtClean="0"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90" name="文本框 89">
                  <a:extLst>
                    <a:ext uri="{FF2B5EF4-FFF2-40B4-BE49-F238E27FC236}">
                      <a16:creationId xmlns:a16="http://schemas.microsoft.com/office/drawing/2014/main" id="{9AC6DB64-CD2A-FB5E-94E4-62688B1420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46000" y="2610000"/>
                  <a:ext cx="396000" cy="430887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文本框 90">
                  <a:extLst>
                    <a:ext uri="{FF2B5EF4-FFF2-40B4-BE49-F238E27FC236}">
                      <a16:creationId xmlns:a16="http://schemas.microsoft.com/office/drawing/2014/main" id="{6E63E761-9F17-874D-EA33-03BFF0ACA1A9}"/>
                    </a:ext>
                  </a:extLst>
                </p:cNvPr>
                <p:cNvSpPr txBox="1"/>
                <p:nvPr/>
              </p:nvSpPr>
              <p:spPr>
                <a:xfrm>
                  <a:off x="9846000" y="1818000"/>
                  <a:ext cx="396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91" name="文本框 90">
                  <a:extLst>
                    <a:ext uri="{FF2B5EF4-FFF2-40B4-BE49-F238E27FC236}">
                      <a16:creationId xmlns:a16="http://schemas.microsoft.com/office/drawing/2014/main" id="{6E63E761-9F17-874D-EA33-03BFF0ACA1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46000" y="1818000"/>
                  <a:ext cx="396000" cy="430887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2" name="直接连接符 91">
              <a:extLst>
                <a:ext uri="{FF2B5EF4-FFF2-40B4-BE49-F238E27FC236}">
                  <a16:creationId xmlns:a16="http://schemas.microsoft.com/office/drawing/2014/main" id="{CA217A83-5EB1-CCF1-774A-79FC24B4D812}"/>
                </a:ext>
              </a:extLst>
            </p:cNvPr>
            <p:cNvCxnSpPr>
              <a:cxnSpLocks/>
              <a:stCxn id="89" idx="0"/>
            </p:cNvCxnSpPr>
            <p:nvPr/>
          </p:nvCxnSpPr>
          <p:spPr>
            <a:xfrm>
              <a:off x="11160000" y="2448000"/>
              <a:ext cx="432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椭圆 92">
              <a:extLst>
                <a:ext uri="{FF2B5EF4-FFF2-40B4-BE49-F238E27FC236}">
                  <a16:creationId xmlns:a16="http://schemas.microsoft.com/office/drawing/2014/main" id="{AAB2505E-66E8-2133-F464-383A92AE6224}"/>
                </a:ext>
              </a:extLst>
            </p:cNvPr>
            <p:cNvSpPr/>
            <p:nvPr/>
          </p:nvSpPr>
          <p:spPr>
            <a:xfrm>
              <a:off x="11268000" y="2376000"/>
              <a:ext cx="144000" cy="14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94" name="直接连接符 93">
              <a:extLst>
                <a:ext uri="{FF2B5EF4-FFF2-40B4-BE49-F238E27FC236}">
                  <a16:creationId xmlns:a16="http://schemas.microsoft.com/office/drawing/2014/main" id="{DA433595-B80E-35AF-10D5-B367816A552E}"/>
                </a:ext>
              </a:extLst>
            </p:cNvPr>
            <p:cNvCxnSpPr>
              <a:cxnSpLocks/>
            </p:cNvCxnSpPr>
            <p:nvPr/>
          </p:nvCxnSpPr>
          <p:spPr>
            <a:xfrm>
              <a:off x="7740000" y="3420000"/>
              <a:ext cx="2880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>
              <a:extLst>
                <a:ext uri="{FF2B5EF4-FFF2-40B4-BE49-F238E27FC236}">
                  <a16:creationId xmlns:a16="http://schemas.microsoft.com/office/drawing/2014/main" id="{A0357A86-878F-E822-26DB-8DD49A349D9F}"/>
                </a:ext>
              </a:extLst>
            </p:cNvPr>
            <p:cNvCxnSpPr>
              <a:cxnSpLocks/>
            </p:cNvCxnSpPr>
            <p:nvPr/>
          </p:nvCxnSpPr>
          <p:spPr>
            <a:xfrm>
              <a:off x="11340000" y="2448000"/>
              <a:ext cx="0" cy="972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椭圆 95">
              <a:extLst>
                <a:ext uri="{FF2B5EF4-FFF2-40B4-BE49-F238E27FC236}">
                  <a16:creationId xmlns:a16="http://schemas.microsoft.com/office/drawing/2014/main" id="{8CC26705-1F71-35AA-2E01-F3572542963A}"/>
                </a:ext>
              </a:extLst>
            </p:cNvPr>
            <p:cNvSpPr/>
            <p:nvPr/>
          </p:nvSpPr>
          <p:spPr>
            <a:xfrm>
              <a:off x="8928000" y="1980000"/>
              <a:ext cx="144000" cy="14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97" name="直接连接符 96">
              <a:extLst>
                <a:ext uri="{FF2B5EF4-FFF2-40B4-BE49-F238E27FC236}">
                  <a16:creationId xmlns:a16="http://schemas.microsoft.com/office/drawing/2014/main" id="{3E82231E-BB67-DD1B-D99F-29254E8C5B47}"/>
                </a:ext>
              </a:extLst>
            </p:cNvPr>
            <p:cNvCxnSpPr>
              <a:cxnSpLocks/>
            </p:cNvCxnSpPr>
            <p:nvPr/>
          </p:nvCxnSpPr>
          <p:spPr>
            <a:xfrm>
              <a:off x="7740000" y="2052000"/>
              <a:ext cx="0" cy="36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文本框 97">
                  <a:extLst>
                    <a:ext uri="{FF2B5EF4-FFF2-40B4-BE49-F238E27FC236}">
                      <a16:creationId xmlns:a16="http://schemas.microsoft.com/office/drawing/2014/main" id="{8021327D-056C-3352-7F75-A426C4E2BDBB}"/>
                    </a:ext>
                  </a:extLst>
                </p:cNvPr>
                <p:cNvSpPr txBox="1"/>
                <p:nvPr/>
              </p:nvSpPr>
              <p:spPr>
                <a:xfrm>
                  <a:off x="8604000" y="1944000"/>
                  <a:ext cx="450701" cy="46923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98" name="文本框 97">
                  <a:extLst>
                    <a:ext uri="{FF2B5EF4-FFF2-40B4-BE49-F238E27FC236}">
                      <a16:creationId xmlns:a16="http://schemas.microsoft.com/office/drawing/2014/main" id="{8021327D-056C-3352-7F75-A426C4E2BD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04000" y="1944000"/>
                  <a:ext cx="450701" cy="469231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9" name="直接连接符 98">
              <a:extLst>
                <a:ext uri="{FF2B5EF4-FFF2-40B4-BE49-F238E27FC236}">
                  <a16:creationId xmlns:a16="http://schemas.microsoft.com/office/drawing/2014/main" id="{C8B4854F-2D80-26E8-6772-1F8B266E2019}"/>
                </a:ext>
              </a:extLst>
            </p:cNvPr>
            <p:cNvCxnSpPr>
              <a:cxnSpLocks/>
            </p:cNvCxnSpPr>
            <p:nvPr/>
          </p:nvCxnSpPr>
          <p:spPr>
            <a:xfrm>
              <a:off x="9000000" y="2844000"/>
              <a:ext cx="0" cy="576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椭圆 99">
              <a:extLst>
                <a:ext uri="{FF2B5EF4-FFF2-40B4-BE49-F238E27FC236}">
                  <a16:creationId xmlns:a16="http://schemas.microsoft.com/office/drawing/2014/main" id="{BD1CBBE9-8651-9789-5350-773F35DF610A}"/>
                </a:ext>
              </a:extLst>
            </p:cNvPr>
            <p:cNvSpPr/>
            <p:nvPr/>
          </p:nvSpPr>
          <p:spPr>
            <a:xfrm>
              <a:off x="8928000" y="3348000"/>
              <a:ext cx="144000" cy="14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文本框 100">
                  <a:extLst>
                    <a:ext uri="{FF2B5EF4-FFF2-40B4-BE49-F238E27FC236}">
                      <a16:creationId xmlns:a16="http://schemas.microsoft.com/office/drawing/2014/main" id="{9C431B96-0BAD-4880-266B-B96F351A13AA}"/>
                    </a:ext>
                  </a:extLst>
                </p:cNvPr>
                <p:cNvSpPr txBox="1"/>
                <p:nvPr/>
              </p:nvSpPr>
              <p:spPr>
                <a:xfrm>
                  <a:off x="8604000" y="2430000"/>
                  <a:ext cx="452303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01" name="文本框 100">
                  <a:extLst>
                    <a:ext uri="{FF2B5EF4-FFF2-40B4-BE49-F238E27FC236}">
                      <a16:creationId xmlns:a16="http://schemas.microsoft.com/office/drawing/2014/main" id="{9C431B96-0BAD-4880-266B-B96F351A13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04000" y="2430000"/>
                  <a:ext cx="452303" cy="430887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文本框 101">
                  <a:extLst>
                    <a:ext uri="{FF2B5EF4-FFF2-40B4-BE49-F238E27FC236}">
                      <a16:creationId xmlns:a16="http://schemas.microsoft.com/office/drawing/2014/main" id="{53545332-826B-A46C-A35F-FF988485F5F4}"/>
                    </a:ext>
                  </a:extLst>
                </p:cNvPr>
                <p:cNvSpPr txBox="1"/>
                <p:nvPr/>
              </p:nvSpPr>
              <p:spPr>
                <a:xfrm>
                  <a:off x="11448000" y="1980000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o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02" name="文本框 101">
                  <a:extLst>
                    <a:ext uri="{FF2B5EF4-FFF2-40B4-BE49-F238E27FC236}">
                      <a16:creationId xmlns:a16="http://schemas.microsoft.com/office/drawing/2014/main" id="{53545332-826B-A46C-A35F-FF988485F5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48000" y="1980000"/>
                  <a:ext cx="432000" cy="430887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3" name="直接连接符 102">
              <a:extLst>
                <a:ext uri="{FF2B5EF4-FFF2-40B4-BE49-F238E27FC236}">
                  <a16:creationId xmlns:a16="http://schemas.microsoft.com/office/drawing/2014/main" id="{610CD58B-BCAC-0790-38D1-A782767A277C}"/>
                </a:ext>
              </a:extLst>
            </p:cNvPr>
            <p:cNvCxnSpPr>
              <a:cxnSpLocks/>
            </p:cNvCxnSpPr>
            <p:nvPr/>
          </p:nvCxnSpPr>
          <p:spPr>
            <a:xfrm>
              <a:off x="7596000" y="2412000"/>
              <a:ext cx="288000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9" name="文本框 108">
                  <a:extLst>
                    <a:ext uri="{FF2B5EF4-FFF2-40B4-BE49-F238E27FC236}">
                      <a16:creationId xmlns:a16="http://schemas.microsoft.com/office/drawing/2014/main" id="{02831243-4446-218E-0F19-CA5CACBBDDC6}"/>
                    </a:ext>
                  </a:extLst>
                </p:cNvPr>
                <p:cNvSpPr txBox="1"/>
                <p:nvPr/>
              </p:nvSpPr>
              <p:spPr>
                <a:xfrm>
                  <a:off x="7272000" y="3168000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09" name="文本框 108">
                  <a:extLst>
                    <a:ext uri="{FF2B5EF4-FFF2-40B4-BE49-F238E27FC236}">
                      <a16:creationId xmlns:a16="http://schemas.microsoft.com/office/drawing/2014/main" id="{02831243-4446-218E-0F19-CA5CACBBDD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72000" y="3168000"/>
                  <a:ext cx="432000" cy="430887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1" name="矩形 110">
              <a:extLst>
                <a:ext uri="{FF2B5EF4-FFF2-40B4-BE49-F238E27FC236}">
                  <a16:creationId xmlns:a16="http://schemas.microsoft.com/office/drawing/2014/main" id="{BDE29E80-3F83-64CA-765A-96558EB4CAC9}"/>
                </a:ext>
              </a:extLst>
            </p:cNvPr>
            <p:cNvSpPr/>
            <p:nvPr/>
          </p:nvSpPr>
          <p:spPr>
            <a:xfrm>
              <a:off x="8028000" y="3348000"/>
              <a:ext cx="576000" cy="144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" name="文本框 111">
                  <a:extLst>
                    <a:ext uri="{FF2B5EF4-FFF2-40B4-BE49-F238E27FC236}">
                      <a16:creationId xmlns:a16="http://schemas.microsoft.com/office/drawing/2014/main" id="{E2AE9EA3-3B2F-8172-27E7-F836C47B808C}"/>
                    </a:ext>
                  </a:extLst>
                </p:cNvPr>
                <p:cNvSpPr txBox="1"/>
                <p:nvPr/>
              </p:nvSpPr>
              <p:spPr>
                <a:xfrm>
                  <a:off x="8027998" y="3492000"/>
                  <a:ext cx="576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12" name="文本框 111">
                  <a:extLst>
                    <a:ext uri="{FF2B5EF4-FFF2-40B4-BE49-F238E27FC236}">
                      <a16:creationId xmlns:a16="http://schemas.microsoft.com/office/drawing/2014/main" id="{E2AE9EA3-3B2F-8172-27E7-F836C47B80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27998" y="3492000"/>
                  <a:ext cx="576000" cy="430887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3" name="直接箭头连接符 112">
              <a:extLst>
                <a:ext uri="{FF2B5EF4-FFF2-40B4-BE49-F238E27FC236}">
                  <a16:creationId xmlns:a16="http://schemas.microsoft.com/office/drawing/2014/main" id="{0E82C2AB-FD74-5EC5-A473-81FD64662748}"/>
                </a:ext>
              </a:extLst>
            </p:cNvPr>
            <p:cNvCxnSpPr/>
            <p:nvPr/>
          </p:nvCxnSpPr>
          <p:spPr>
            <a:xfrm flipH="1">
              <a:off x="8046000" y="3240000"/>
              <a:ext cx="540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 w="med" len="lg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4" name="文本框 113">
                  <a:extLst>
                    <a:ext uri="{FF2B5EF4-FFF2-40B4-BE49-F238E27FC236}">
                      <a16:creationId xmlns:a16="http://schemas.microsoft.com/office/drawing/2014/main" id="{11DFE1CA-B03C-EC58-126E-C6C33807B77A}"/>
                    </a:ext>
                  </a:extLst>
                </p:cNvPr>
                <p:cNvSpPr txBox="1"/>
                <p:nvPr/>
              </p:nvSpPr>
              <p:spPr>
                <a:xfrm>
                  <a:off x="8045999" y="2772000"/>
                  <a:ext cx="540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R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14" name="文本框 113">
                  <a:extLst>
                    <a:ext uri="{FF2B5EF4-FFF2-40B4-BE49-F238E27FC236}">
                      <a16:creationId xmlns:a16="http://schemas.microsoft.com/office/drawing/2014/main" id="{11DFE1CA-B03C-EC58-126E-C6C33807B7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45999" y="2772000"/>
                  <a:ext cx="540000" cy="430887"/>
                </a:xfrm>
                <a:prstGeom prst="rect">
                  <a:avLst/>
                </a:prstGeom>
                <a:blipFill>
                  <a:blip r:embed="rId3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6" name="直接箭头连接符 115">
              <a:extLst>
                <a:ext uri="{FF2B5EF4-FFF2-40B4-BE49-F238E27FC236}">
                  <a16:creationId xmlns:a16="http://schemas.microsoft.com/office/drawing/2014/main" id="{16511E9E-B322-0354-E34C-A573269A57B5}"/>
                </a:ext>
              </a:extLst>
            </p:cNvPr>
            <p:cNvCxnSpPr/>
            <p:nvPr/>
          </p:nvCxnSpPr>
          <p:spPr>
            <a:xfrm flipH="1">
              <a:off x="9144000" y="1980000"/>
              <a:ext cx="540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 w="med" len="lg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7" name="文本框 116">
                  <a:extLst>
                    <a:ext uri="{FF2B5EF4-FFF2-40B4-BE49-F238E27FC236}">
                      <a16:creationId xmlns:a16="http://schemas.microsoft.com/office/drawing/2014/main" id="{21A92EA2-466D-1A98-53EA-BB8CDC0D99B3}"/>
                    </a:ext>
                  </a:extLst>
                </p:cNvPr>
                <p:cNvSpPr txBox="1"/>
                <p:nvPr/>
              </p:nvSpPr>
              <p:spPr>
                <a:xfrm>
                  <a:off x="9144000" y="1476000"/>
                  <a:ext cx="540000" cy="46923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17" name="文本框 116">
                  <a:extLst>
                    <a:ext uri="{FF2B5EF4-FFF2-40B4-BE49-F238E27FC236}">
                      <a16:creationId xmlns:a16="http://schemas.microsoft.com/office/drawing/2014/main" id="{21A92EA2-466D-1A98-53EA-BB8CDC0D99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44000" y="1476000"/>
                  <a:ext cx="540000" cy="469231"/>
                </a:xfrm>
                <a:prstGeom prst="rect">
                  <a:avLst/>
                </a:prstGeom>
                <a:blipFill>
                  <a:blip r:embed="rId3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8" name="直接箭头连接符 117">
              <a:extLst>
                <a:ext uri="{FF2B5EF4-FFF2-40B4-BE49-F238E27FC236}">
                  <a16:creationId xmlns:a16="http://schemas.microsoft.com/office/drawing/2014/main" id="{17B0DEF7-A495-950F-930C-A496C59E00A9}"/>
                </a:ext>
              </a:extLst>
            </p:cNvPr>
            <p:cNvCxnSpPr/>
            <p:nvPr/>
          </p:nvCxnSpPr>
          <p:spPr>
            <a:xfrm flipH="1">
              <a:off x="9144000" y="2772000"/>
              <a:ext cx="540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 w="med" len="lg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9" name="文本框 118">
                  <a:extLst>
                    <a:ext uri="{FF2B5EF4-FFF2-40B4-BE49-F238E27FC236}">
                      <a16:creationId xmlns:a16="http://schemas.microsoft.com/office/drawing/2014/main" id="{59BB4066-3A01-CF49-8888-C5244AF3A483}"/>
                    </a:ext>
                  </a:extLst>
                </p:cNvPr>
                <p:cNvSpPr txBox="1"/>
                <p:nvPr/>
              </p:nvSpPr>
              <p:spPr>
                <a:xfrm>
                  <a:off x="9144000" y="2303999"/>
                  <a:ext cx="540000" cy="4680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19" name="文本框 118">
                  <a:extLst>
                    <a:ext uri="{FF2B5EF4-FFF2-40B4-BE49-F238E27FC236}">
                      <a16:creationId xmlns:a16="http://schemas.microsoft.com/office/drawing/2014/main" id="{59BB4066-3A01-CF49-8888-C5244AF3A4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44000" y="2303999"/>
                  <a:ext cx="540000" cy="468000"/>
                </a:xfrm>
                <a:prstGeom prst="rect">
                  <a:avLst/>
                </a:prstGeom>
                <a:blipFill>
                  <a:blip r:embed="rId3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1" name="直接箭头连接符 120">
              <a:extLst>
                <a:ext uri="{FF2B5EF4-FFF2-40B4-BE49-F238E27FC236}">
                  <a16:creationId xmlns:a16="http://schemas.microsoft.com/office/drawing/2014/main" id="{0AA2E379-EF37-0EF4-54C6-C6761AD70B59}"/>
                </a:ext>
              </a:extLst>
            </p:cNvPr>
            <p:cNvCxnSpPr/>
            <p:nvPr/>
          </p:nvCxnSpPr>
          <p:spPr>
            <a:xfrm flipH="1">
              <a:off x="9360000" y="3528000"/>
              <a:ext cx="540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 w="med" len="lg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>
              <a:extLst>
                <a:ext uri="{FF2B5EF4-FFF2-40B4-BE49-F238E27FC236}">
                  <a16:creationId xmlns:a16="http://schemas.microsoft.com/office/drawing/2014/main" id="{CDA0C962-D2DE-1994-F7D7-67DC3BA220A4}"/>
                </a:ext>
              </a:extLst>
            </p:cNvPr>
            <p:cNvCxnSpPr>
              <a:cxnSpLocks/>
            </p:cNvCxnSpPr>
            <p:nvPr/>
          </p:nvCxnSpPr>
          <p:spPr>
            <a:xfrm>
              <a:off x="10620000" y="3204000"/>
              <a:ext cx="0" cy="432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>
              <a:extLst>
                <a:ext uri="{FF2B5EF4-FFF2-40B4-BE49-F238E27FC236}">
                  <a16:creationId xmlns:a16="http://schemas.microsoft.com/office/drawing/2014/main" id="{5E74EDAA-17DD-0DE2-DAB5-A3D7BDB340D7}"/>
                </a:ext>
              </a:extLst>
            </p:cNvPr>
            <p:cNvCxnSpPr>
              <a:cxnSpLocks/>
            </p:cNvCxnSpPr>
            <p:nvPr/>
          </p:nvCxnSpPr>
          <p:spPr>
            <a:xfrm>
              <a:off x="10800000" y="3204000"/>
              <a:ext cx="0" cy="432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直接连接符 126">
              <a:extLst>
                <a:ext uri="{FF2B5EF4-FFF2-40B4-BE49-F238E27FC236}">
                  <a16:creationId xmlns:a16="http://schemas.microsoft.com/office/drawing/2014/main" id="{88476A3E-1BEE-BFAD-B9E2-8025B8B926B4}"/>
                </a:ext>
              </a:extLst>
            </p:cNvPr>
            <p:cNvCxnSpPr>
              <a:cxnSpLocks/>
            </p:cNvCxnSpPr>
            <p:nvPr/>
          </p:nvCxnSpPr>
          <p:spPr>
            <a:xfrm>
              <a:off x="10800000" y="3420000"/>
              <a:ext cx="540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9" name="文本框 128">
                  <a:extLst>
                    <a:ext uri="{FF2B5EF4-FFF2-40B4-BE49-F238E27FC236}">
                      <a16:creationId xmlns:a16="http://schemas.microsoft.com/office/drawing/2014/main" id="{1C9CF3CD-D1B5-9BFF-7BF1-BB23CAD51F38}"/>
                    </a:ext>
                  </a:extLst>
                </p:cNvPr>
                <p:cNvSpPr txBox="1"/>
                <p:nvPr/>
              </p:nvSpPr>
              <p:spPr>
                <a:xfrm>
                  <a:off x="10260000" y="2988000"/>
                  <a:ext cx="360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29" name="文本框 128">
                  <a:extLst>
                    <a:ext uri="{FF2B5EF4-FFF2-40B4-BE49-F238E27FC236}">
                      <a16:creationId xmlns:a16="http://schemas.microsoft.com/office/drawing/2014/main" id="{1C9CF3CD-D1B5-9BFF-7BF1-BB23CAD51F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60000" y="2988000"/>
                  <a:ext cx="360000" cy="430887"/>
                </a:xfrm>
                <a:prstGeom prst="rect">
                  <a:avLst/>
                </a:prstGeom>
                <a:blipFill>
                  <a:blip r:embed="rId4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0" name="文本框 129">
                  <a:extLst>
                    <a:ext uri="{FF2B5EF4-FFF2-40B4-BE49-F238E27FC236}">
                      <a16:creationId xmlns:a16="http://schemas.microsoft.com/office/drawing/2014/main" id="{A8DC15BF-51E9-BAA7-869D-9D8FF6D0D003}"/>
                    </a:ext>
                  </a:extLst>
                </p:cNvPr>
                <p:cNvSpPr txBox="1"/>
                <p:nvPr/>
              </p:nvSpPr>
              <p:spPr>
                <a:xfrm>
                  <a:off x="10530000" y="3636000"/>
                  <a:ext cx="360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30" name="文本框 129">
                  <a:extLst>
                    <a:ext uri="{FF2B5EF4-FFF2-40B4-BE49-F238E27FC236}">
                      <a16:creationId xmlns:a16="http://schemas.microsoft.com/office/drawing/2014/main" id="{A8DC15BF-51E9-BAA7-869D-9D8FF6D0D0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30000" y="3636000"/>
                  <a:ext cx="360000" cy="430887"/>
                </a:xfrm>
                <a:prstGeom prst="rect">
                  <a:avLst/>
                </a:prstGeom>
                <a:blipFill>
                  <a:blip r:embed="rId4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1" name="文本框 130">
                  <a:extLst>
                    <a:ext uri="{FF2B5EF4-FFF2-40B4-BE49-F238E27FC236}">
                      <a16:creationId xmlns:a16="http://schemas.microsoft.com/office/drawing/2014/main" id="{93561344-D448-E872-F9CE-42D1185A2FBB}"/>
                    </a:ext>
                  </a:extLst>
                </p:cNvPr>
                <p:cNvSpPr txBox="1"/>
                <p:nvPr/>
              </p:nvSpPr>
              <p:spPr>
                <a:xfrm>
                  <a:off x="10476000" y="2736000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31" name="文本框 130">
                  <a:extLst>
                    <a:ext uri="{FF2B5EF4-FFF2-40B4-BE49-F238E27FC236}">
                      <a16:creationId xmlns:a16="http://schemas.microsoft.com/office/drawing/2014/main" id="{93561344-D448-E872-F9CE-42D1185A2F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76000" y="2736000"/>
                  <a:ext cx="432000" cy="430887"/>
                </a:xfrm>
                <a:prstGeom prst="rect">
                  <a:avLst/>
                </a:prstGeom>
                <a:blipFill>
                  <a:blip r:embed="rId4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2" name="文本框 131">
                  <a:extLst>
                    <a:ext uri="{FF2B5EF4-FFF2-40B4-BE49-F238E27FC236}">
                      <a16:creationId xmlns:a16="http://schemas.microsoft.com/office/drawing/2014/main" id="{E1D24F88-8350-EEA4-ACA2-861EAE267F86}"/>
                    </a:ext>
                  </a:extLst>
                </p:cNvPr>
                <p:cNvSpPr txBox="1"/>
                <p:nvPr/>
              </p:nvSpPr>
              <p:spPr>
                <a:xfrm>
                  <a:off x="10836000" y="2988000"/>
                  <a:ext cx="360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32" name="文本框 131">
                  <a:extLst>
                    <a:ext uri="{FF2B5EF4-FFF2-40B4-BE49-F238E27FC236}">
                      <a16:creationId xmlns:a16="http://schemas.microsoft.com/office/drawing/2014/main" id="{E1D24F88-8350-EEA4-ACA2-861EAE267F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36000" y="2988000"/>
                  <a:ext cx="360000" cy="430887"/>
                </a:xfrm>
                <a:prstGeom prst="rect">
                  <a:avLst/>
                </a:prstGeom>
                <a:blipFill>
                  <a:blip r:embed="rId4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1E9CA34A-04AD-AD01-B402-117038C5E9CC}"/>
                </a:ext>
              </a:extLst>
            </p:cNvPr>
            <p:cNvSpPr/>
            <p:nvPr/>
          </p:nvSpPr>
          <p:spPr>
            <a:xfrm>
              <a:off x="7920000" y="1980000"/>
              <a:ext cx="576000" cy="144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0BADCC9D-0E51-3CA4-84C1-F0D6AD8A533F}"/>
                    </a:ext>
                  </a:extLst>
                </p:cNvPr>
                <p:cNvSpPr txBox="1"/>
                <p:nvPr/>
              </p:nvSpPr>
              <p:spPr>
                <a:xfrm>
                  <a:off x="7919998" y="2124000"/>
                  <a:ext cx="576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 smtClean="0">
                            <a:latin typeface="Cambria Math" panose="02040503050406030204" pitchFamily="18" charset="0"/>
                          </a:rPr>
                          <m:t>𝑅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0BADCC9D-0E51-3CA4-84C1-F0D6AD8A53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19998" y="2124000"/>
                  <a:ext cx="576000" cy="430887"/>
                </a:xfrm>
                <a:prstGeom prst="rect">
                  <a:avLst/>
                </a:prstGeom>
                <a:blipFill>
                  <a:blip r:embed="rId4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895652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A55AE-FEEE-6A37-12DD-B5C6CC7A4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646106-F88A-5674-1BEB-9F8505C5F787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集成运算放大器的线性应用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积分</a:t>
            </a:r>
            <a:r>
              <a:rPr lang="en-US" altLang="zh-CN" sz="3000" dirty="0">
                <a:solidFill>
                  <a:srgbClr val="FFFF00"/>
                </a:solidFill>
              </a:rPr>
              <a:t>/</a:t>
            </a:r>
            <a:r>
              <a:rPr lang="zh-CN" altLang="en-US" sz="3000" dirty="0">
                <a:solidFill>
                  <a:srgbClr val="FFFF00"/>
                </a:solidFill>
              </a:rPr>
              <a:t>微分运算电路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D777D1C-DD90-3622-328F-91D975DB671B}"/>
              </a:ext>
            </a:extLst>
          </p:cNvPr>
          <p:cNvSpPr txBox="1"/>
          <p:nvPr/>
        </p:nvSpPr>
        <p:spPr>
          <a:xfrm>
            <a:off x="359999" y="828000"/>
            <a:ext cx="5941406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微分运算电路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文本框 135">
                <a:extLst>
                  <a:ext uri="{FF2B5EF4-FFF2-40B4-BE49-F238E27FC236}">
                    <a16:creationId xmlns:a16="http://schemas.microsoft.com/office/drawing/2014/main" id="{83AFE0EB-8F35-E1D5-AE39-45F063CEE404}"/>
                  </a:ext>
                </a:extLst>
              </p:cNvPr>
              <p:cNvSpPr txBox="1"/>
              <p:nvPr/>
            </p:nvSpPr>
            <p:spPr>
              <a:xfrm>
                <a:off x="360000" y="4032000"/>
                <a:ext cx="3600000" cy="7936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2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o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4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𝑅𝐶</m:t>
                      </m:r>
                      <m:f>
                        <m:fPr>
                          <m:ctrlP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en-US" altLang="zh-CN" sz="2400" dirty="0"/>
              </a:p>
            </p:txBody>
          </p:sp>
        </mc:Choice>
        <mc:Fallback xmlns="">
          <p:sp>
            <p:nvSpPr>
              <p:cNvPr id="136" name="文本框 135">
                <a:extLst>
                  <a:ext uri="{FF2B5EF4-FFF2-40B4-BE49-F238E27FC236}">
                    <a16:creationId xmlns:a16="http://schemas.microsoft.com/office/drawing/2014/main" id="{83AFE0EB-8F35-E1D5-AE39-45F063CEE4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4032000"/>
                <a:ext cx="3600000" cy="793679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A85960EB-C910-9559-279E-AADFDD0C8CC3}"/>
                  </a:ext>
                </a:extLst>
              </p:cNvPr>
              <p:cNvSpPr txBox="1"/>
              <p:nvPr/>
            </p:nvSpPr>
            <p:spPr>
              <a:xfrm>
                <a:off x="360000" y="1440000"/>
                <a:ext cx="3876001" cy="11146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lnSpc>
                    <a:spcPct val="120000"/>
                  </a:lnSpc>
                  <a:spcAft>
                    <a:spcPts val="600"/>
                  </a:spcAft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虚断：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>
                  <a:lnSpc>
                    <a:spcPct val="120000"/>
                  </a:lnSpc>
                  <a:spcAft>
                    <a:spcPts val="600"/>
                  </a:spcAft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虚短：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kumimoji="1" lang="en-US" altLang="zh-CN" sz="2400" i="1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=0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A85960EB-C910-9559-279E-AADFDD0C8C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1440000"/>
                <a:ext cx="3876001" cy="1114601"/>
              </a:xfrm>
              <a:prstGeom prst="rect">
                <a:avLst/>
              </a:prstGeom>
              <a:blipFill>
                <a:blip r:embed="rId18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9633C715-116B-C042-48AC-592BF96567B3}"/>
                  </a:ext>
                </a:extLst>
              </p:cNvPr>
              <p:cNvSpPr txBox="1"/>
              <p:nvPr/>
            </p:nvSpPr>
            <p:spPr>
              <a:xfrm>
                <a:off x="360000" y="2700000"/>
                <a:ext cx="3960000" cy="12714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2"/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sz="240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CN" sz="2400" b="0" i="0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</m:sub>
                            </m:sSub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CN" sz="2400" b="0" i="0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R</m:t>
                                </m:r>
                              </m:sub>
                            </m:sSub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=−</m:t>
                            </m:r>
                            <m:f>
                              <m:fPr>
                                <m:type m:val="lin"/>
                                <m:ctrlP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zh-CN" sz="2400" i="1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zh-CN" sz="240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o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den>
                            </m:f>
                            <m: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CN" sz="2400" b="0" i="0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</m:sub>
                            </m:sSub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  <m:f>
                              <m:fPr>
                                <m:ctrlP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  <m:sSub>
                                  <m:sSubPr>
                                    <m:ctrlPr>
                                      <a:rPr lang="en-US" altLang="zh-CN" sz="2400" i="1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zh-CN" sz="240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C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  <m: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den>
                            </m:f>
                            <m:r>
                              <a:rPr lang="en-US" altLang="zh-CN" sz="24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sz="24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  <m:f>
                              <m:fPr>
                                <m:ctrlP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  <m:sSub>
                                  <m:sSubPr>
                                    <m:ctrlPr>
                                      <a:rPr lang="en-US" altLang="zh-CN" sz="2400" i="1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zh-CN" sz="2400" b="0" i="0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i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  <m:r>
                                  <a:rPr lang="en-US" altLang="zh-CN" sz="24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den>
                            </m:f>
                          </m:e>
                        </m:eqArr>
                      </m:e>
                    </m:d>
                  </m:oMath>
                </a14:m>
                <a:r>
                  <a:rPr lang="en-US" altLang="zh-CN" sz="2400" b="0" i="1" dirty="0">
                    <a:solidFill>
                      <a:schemeClr val="accent5">
                        <a:lumMod val="75000"/>
                      </a:schemeClr>
                    </a:solidFill>
                    <a:latin typeface="Cambria Math" panose="020405030504060302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9633C715-116B-C042-48AC-592BF96567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2700000"/>
                <a:ext cx="3960000" cy="1271438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组合 4">
            <a:extLst>
              <a:ext uri="{FF2B5EF4-FFF2-40B4-BE49-F238E27FC236}">
                <a16:creationId xmlns:a16="http://schemas.microsoft.com/office/drawing/2014/main" id="{366936E4-3CB3-B501-B9F3-1CEDF27F35BA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B4259136-FF38-E3F7-F59D-5ED767E8FB74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9" name="箭头: 五边形 8">
                <a:extLst>
                  <a:ext uri="{FF2B5EF4-FFF2-40B4-BE49-F238E27FC236}">
                    <a16:creationId xmlns:a16="http://schemas.microsoft.com/office/drawing/2014/main" id="{FCE8E5A1-D00B-365D-9F98-0C289689D6E7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0" name="箭头: V 形 9">
                <a:extLst>
                  <a:ext uri="{FF2B5EF4-FFF2-40B4-BE49-F238E27FC236}">
                    <a16:creationId xmlns:a16="http://schemas.microsoft.com/office/drawing/2014/main" id="{DE31F25F-5CEE-2B1C-2AB8-8307392F67F7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7" name="灯片编号占位符 3">
              <a:extLst>
                <a:ext uri="{FF2B5EF4-FFF2-40B4-BE49-F238E27FC236}">
                  <a16:creationId xmlns:a16="http://schemas.microsoft.com/office/drawing/2014/main" id="{E4DD1214-6F65-0E86-85F5-23A89AF443DB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15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CDE6E30B-209D-3888-FE5D-FFCC7E535D05}"/>
              </a:ext>
            </a:extLst>
          </p:cNvPr>
          <p:cNvGrpSpPr/>
          <p:nvPr/>
        </p:nvGrpSpPr>
        <p:grpSpPr>
          <a:xfrm>
            <a:off x="7272000" y="1476000"/>
            <a:ext cx="4608000" cy="2590887"/>
            <a:chOff x="7272000" y="1476000"/>
            <a:chExt cx="4608000" cy="259088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" name="文本框 121">
                  <a:extLst>
                    <a:ext uri="{FF2B5EF4-FFF2-40B4-BE49-F238E27FC236}">
                      <a16:creationId xmlns:a16="http://schemas.microsoft.com/office/drawing/2014/main" id="{CDD0DE49-B04A-FA88-C40A-73B9E200B082}"/>
                    </a:ext>
                  </a:extLst>
                </p:cNvPr>
                <p:cNvSpPr txBox="1"/>
                <p:nvPr/>
              </p:nvSpPr>
              <p:spPr>
                <a:xfrm>
                  <a:off x="8459999" y="3527999"/>
                  <a:ext cx="540000" cy="4680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22" name="文本框 121">
                  <a:extLst>
                    <a:ext uri="{FF2B5EF4-FFF2-40B4-BE49-F238E27FC236}">
                      <a16:creationId xmlns:a16="http://schemas.microsoft.com/office/drawing/2014/main" id="{CDD0DE49-B04A-FA88-C40A-73B9E200B0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59999" y="3527999"/>
                  <a:ext cx="540000" cy="468000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7" name="直接连接符 86">
              <a:extLst>
                <a:ext uri="{FF2B5EF4-FFF2-40B4-BE49-F238E27FC236}">
                  <a16:creationId xmlns:a16="http://schemas.microsoft.com/office/drawing/2014/main" id="{B1B0A8EC-3762-9B2E-FCCD-FCDFFC8EF794}"/>
                </a:ext>
              </a:extLst>
            </p:cNvPr>
            <p:cNvCxnSpPr>
              <a:cxnSpLocks/>
            </p:cNvCxnSpPr>
            <p:nvPr/>
          </p:nvCxnSpPr>
          <p:spPr>
            <a:xfrm>
              <a:off x="9000000" y="2844000"/>
              <a:ext cx="864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>
              <a:extLst>
                <a:ext uri="{FF2B5EF4-FFF2-40B4-BE49-F238E27FC236}">
                  <a16:creationId xmlns:a16="http://schemas.microsoft.com/office/drawing/2014/main" id="{F5DF22F8-5C17-114B-2B4E-39644C2CA78C}"/>
                </a:ext>
              </a:extLst>
            </p:cNvPr>
            <p:cNvCxnSpPr>
              <a:cxnSpLocks/>
            </p:cNvCxnSpPr>
            <p:nvPr/>
          </p:nvCxnSpPr>
          <p:spPr>
            <a:xfrm>
              <a:off x="7740000" y="2052000"/>
              <a:ext cx="2124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等腰三角形 88">
              <a:extLst>
                <a:ext uri="{FF2B5EF4-FFF2-40B4-BE49-F238E27FC236}">
                  <a16:creationId xmlns:a16="http://schemas.microsoft.com/office/drawing/2014/main" id="{9F8FC7C8-927C-58AF-7C43-6A1D4235F634}"/>
                </a:ext>
              </a:extLst>
            </p:cNvPr>
            <p:cNvSpPr/>
            <p:nvPr/>
          </p:nvSpPr>
          <p:spPr>
            <a:xfrm rot="5400000">
              <a:off x="9792000" y="1800000"/>
              <a:ext cx="1440000" cy="1296000"/>
            </a:xfrm>
            <a:prstGeom prst="triangl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文本框 89">
                  <a:extLst>
                    <a:ext uri="{FF2B5EF4-FFF2-40B4-BE49-F238E27FC236}">
                      <a16:creationId xmlns:a16="http://schemas.microsoft.com/office/drawing/2014/main" id="{7ACA2427-C338-4713-A4C4-0D3311D43502}"/>
                    </a:ext>
                  </a:extLst>
                </p:cNvPr>
                <p:cNvSpPr txBox="1"/>
                <p:nvPr/>
              </p:nvSpPr>
              <p:spPr>
                <a:xfrm>
                  <a:off x="9846000" y="2610000"/>
                  <a:ext cx="396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 smtClean="0"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90" name="文本框 89">
                  <a:extLst>
                    <a:ext uri="{FF2B5EF4-FFF2-40B4-BE49-F238E27FC236}">
                      <a16:creationId xmlns:a16="http://schemas.microsoft.com/office/drawing/2014/main" id="{7ACA2427-C338-4713-A4C4-0D3311D435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46000" y="2610000"/>
                  <a:ext cx="396000" cy="430887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文本框 90">
                  <a:extLst>
                    <a:ext uri="{FF2B5EF4-FFF2-40B4-BE49-F238E27FC236}">
                      <a16:creationId xmlns:a16="http://schemas.microsoft.com/office/drawing/2014/main" id="{D69F1A49-627D-63C9-E618-5B8164946243}"/>
                    </a:ext>
                  </a:extLst>
                </p:cNvPr>
                <p:cNvSpPr txBox="1"/>
                <p:nvPr/>
              </p:nvSpPr>
              <p:spPr>
                <a:xfrm>
                  <a:off x="9846000" y="1818000"/>
                  <a:ext cx="396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91" name="文本框 90">
                  <a:extLst>
                    <a:ext uri="{FF2B5EF4-FFF2-40B4-BE49-F238E27FC236}">
                      <a16:creationId xmlns:a16="http://schemas.microsoft.com/office/drawing/2014/main" id="{D69F1A49-627D-63C9-E618-5B81649462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46000" y="1818000"/>
                  <a:ext cx="396000" cy="430887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2" name="直接连接符 91">
              <a:extLst>
                <a:ext uri="{FF2B5EF4-FFF2-40B4-BE49-F238E27FC236}">
                  <a16:creationId xmlns:a16="http://schemas.microsoft.com/office/drawing/2014/main" id="{ECC457BE-B457-B1A3-C7B0-58B7A300C31F}"/>
                </a:ext>
              </a:extLst>
            </p:cNvPr>
            <p:cNvCxnSpPr>
              <a:cxnSpLocks/>
              <a:stCxn id="89" idx="0"/>
            </p:cNvCxnSpPr>
            <p:nvPr/>
          </p:nvCxnSpPr>
          <p:spPr>
            <a:xfrm>
              <a:off x="11160000" y="2448000"/>
              <a:ext cx="432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椭圆 92">
              <a:extLst>
                <a:ext uri="{FF2B5EF4-FFF2-40B4-BE49-F238E27FC236}">
                  <a16:creationId xmlns:a16="http://schemas.microsoft.com/office/drawing/2014/main" id="{17C48B0F-35E6-6F34-4162-32280E718188}"/>
                </a:ext>
              </a:extLst>
            </p:cNvPr>
            <p:cNvSpPr/>
            <p:nvPr/>
          </p:nvSpPr>
          <p:spPr>
            <a:xfrm>
              <a:off x="11268000" y="2376000"/>
              <a:ext cx="144000" cy="14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94" name="直接连接符 93">
              <a:extLst>
                <a:ext uri="{FF2B5EF4-FFF2-40B4-BE49-F238E27FC236}">
                  <a16:creationId xmlns:a16="http://schemas.microsoft.com/office/drawing/2014/main" id="{1E4952C8-52FD-E8CE-ECE9-637A5D409396}"/>
                </a:ext>
              </a:extLst>
            </p:cNvPr>
            <p:cNvCxnSpPr>
              <a:cxnSpLocks/>
            </p:cNvCxnSpPr>
            <p:nvPr/>
          </p:nvCxnSpPr>
          <p:spPr>
            <a:xfrm>
              <a:off x="8352000" y="3420000"/>
              <a:ext cx="2988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>
              <a:extLst>
                <a:ext uri="{FF2B5EF4-FFF2-40B4-BE49-F238E27FC236}">
                  <a16:creationId xmlns:a16="http://schemas.microsoft.com/office/drawing/2014/main" id="{EFF412DA-825C-D7D7-AFF7-352FEF5BE018}"/>
                </a:ext>
              </a:extLst>
            </p:cNvPr>
            <p:cNvCxnSpPr>
              <a:cxnSpLocks/>
            </p:cNvCxnSpPr>
            <p:nvPr/>
          </p:nvCxnSpPr>
          <p:spPr>
            <a:xfrm>
              <a:off x="11340000" y="2448000"/>
              <a:ext cx="0" cy="972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椭圆 95">
              <a:extLst>
                <a:ext uri="{FF2B5EF4-FFF2-40B4-BE49-F238E27FC236}">
                  <a16:creationId xmlns:a16="http://schemas.microsoft.com/office/drawing/2014/main" id="{8E2B06DC-3A68-A2AD-E89D-295166D093F6}"/>
                </a:ext>
              </a:extLst>
            </p:cNvPr>
            <p:cNvSpPr/>
            <p:nvPr/>
          </p:nvSpPr>
          <p:spPr>
            <a:xfrm>
              <a:off x="8928000" y="1980000"/>
              <a:ext cx="144000" cy="14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97" name="直接连接符 96">
              <a:extLst>
                <a:ext uri="{FF2B5EF4-FFF2-40B4-BE49-F238E27FC236}">
                  <a16:creationId xmlns:a16="http://schemas.microsoft.com/office/drawing/2014/main" id="{23E22FE6-FF1D-8BB7-26A7-4D2DA4786AA3}"/>
                </a:ext>
              </a:extLst>
            </p:cNvPr>
            <p:cNvCxnSpPr>
              <a:cxnSpLocks/>
            </p:cNvCxnSpPr>
            <p:nvPr/>
          </p:nvCxnSpPr>
          <p:spPr>
            <a:xfrm>
              <a:off x="7740000" y="2052000"/>
              <a:ext cx="0" cy="36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文本框 97">
                  <a:extLst>
                    <a:ext uri="{FF2B5EF4-FFF2-40B4-BE49-F238E27FC236}">
                      <a16:creationId xmlns:a16="http://schemas.microsoft.com/office/drawing/2014/main" id="{7387A1A6-5D25-A769-33BD-F32841525082}"/>
                    </a:ext>
                  </a:extLst>
                </p:cNvPr>
                <p:cNvSpPr txBox="1"/>
                <p:nvPr/>
              </p:nvSpPr>
              <p:spPr>
                <a:xfrm>
                  <a:off x="8604000" y="1944000"/>
                  <a:ext cx="450701" cy="46923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98" name="文本框 97">
                  <a:extLst>
                    <a:ext uri="{FF2B5EF4-FFF2-40B4-BE49-F238E27FC236}">
                      <a16:creationId xmlns:a16="http://schemas.microsoft.com/office/drawing/2014/main" id="{7387A1A6-5D25-A769-33BD-F328415250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04000" y="1944000"/>
                  <a:ext cx="450701" cy="469231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9" name="直接连接符 98">
              <a:extLst>
                <a:ext uri="{FF2B5EF4-FFF2-40B4-BE49-F238E27FC236}">
                  <a16:creationId xmlns:a16="http://schemas.microsoft.com/office/drawing/2014/main" id="{4F1CFD6A-914D-89D1-9B2F-174098805088}"/>
                </a:ext>
              </a:extLst>
            </p:cNvPr>
            <p:cNvCxnSpPr>
              <a:cxnSpLocks/>
            </p:cNvCxnSpPr>
            <p:nvPr/>
          </p:nvCxnSpPr>
          <p:spPr>
            <a:xfrm>
              <a:off x="9000000" y="2844000"/>
              <a:ext cx="0" cy="576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椭圆 99">
              <a:extLst>
                <a:ext uri="{FF2B5EF4-FFF2-40B4-BE49-F238E27FC236}">
                  <a16:creationId xmlns:a16="http://schemas.microsoft.com/office/drawing/2014/main" id="{292535C7-466F-A783-6823-837279778841}"/>
                </a:ext>
              </a:extLst>
            </p:cNvPr>
            <p:cNvSpPr/>
            <p:nvPr/>
          </p:nvSpPr>
          <p:spPr>
            <a:xfrm>
              <a:off x="8928000" y="3348000"/>
              <a:ext cx="144000" cy="14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文本框 100">
                  <a:extLst>
                    <a:ext uri="{FF2B5EF4-FFF2-40B4-BE49-F238E27FC236}">
                      <a16:creationId xmlns:a16="http://schemas.microsoft.com/office/drawing/2014/main" id="{25F8850A-C733-08C3-C69D-DAE17E06818C}"/>
                    </a:ext>
                  </a:extLst>
                </p:cNvPr>
                <p:cNvSpPr txBox="1"/>
                <p:nvPr/>
              </p:nvSpPr>
              <p:spPr>
                <a:xfrm>
                  <a:off x="8604000" y="2430000"/>
                  <a:ext cx="452303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01" name="文本框 100">
                  <a:extLst>
                    <a:ext uri="{FF2B5EF4-FFF2-40B4-BE49-F238E27FC236}">
                      <a16:creationId xmlns:a16="http://schemas.microsoft.com/office/drawing/2014/main" id="{25F8850A-C733-08C3-C69D-DAE17E0681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04000" y="2430000"/>
                  <a:ext cx="452303" cy="430887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文本框 101">
                  <a:extLst>
                    <a:ext uri="{FF2B5EF4-FFF2-40B4-BE49-F238E27FC236}">
                      <a16:creationId xmlns:a16="http://schemas.microsoft.com/office/drawing/2014/main" id="{C862BA6A-EC3C-5689-183E-C9EF708E0B4C}"/>
                    </a:ext>
                  </a:extLst>
                </p:cNvPr>
                <p:cNvSpPr txBox="1"/>
                <p:nvPr/>
              </p:nvSpPr>
              <p:spPr>
                <a:xfrm>
                  <a:off x="11448000" y="1980000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o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02" name="文本框 101">
                  <a:extLst>
                    <a:ext uri="{FF2B5EF4-FFF2-40B4-BE49-F238E27FC236}">
                      <a16:creationId xmlns:a16="http://schemas.microsoft.com/office/drawing/2014/main" id="{C862BA6A-EC3C-5689-183E-C9EF708E0B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48000" y="1980000"/>
                  <a:ext cx="432000" cy="430887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3" name="直接连接符 102">
              <a:extLst>
                <a:ext uri="{FF2B5EF4-FFF2-40B4-BE49-F238E27FC236}">
                  <a16:creationId xmlns:a16="http://schemas.microsoft.com/office/drawing/2014/main" id="{1EEDC414-8654-7C8D-B45F-2A61240C0F93}"/>
                </a:ext>
              </a:extLst>
            </p:cNvPr>
            <p:cNvCxnSpPr>
              <a:cxnSpLocks/>
            </p:cNvCxnSpPr>
            <p:nvPr/>
          </p:nvCxnSpPr>
          <p:spPr>
            <a:xfrm>
              <a:off x="7596000" y="2412000"/>
              <a:ext cx="288000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9" name="文本框 108">
                  <a:extLst>
                    <a:ext uri="{FF2B5EF4-FFF2-40B4-BE49-F238E27FC236}">
                      <a16:creationId xmlns:a16="http://schemas.microsoft.com/office/drawing/2014/main" id="{B147FB99-D94F-AE81-1373-18CBE183D6C6}"/>
                    </a:ext>
                  </a:extLst>
                </p:cNvPr>
                <p:cNvSpPr txBox="1"/>
                <p:nvPr/>
              </p:nvSpPr>
              <p:spPr>
                <a:xfrm>
                  <a:off x="7272000" y="3168000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09" name="文本框 108">
                  <a:extLst>
                    <a:ext uri="{FF2B5EF4-FFF2-40B4-BE49-F238E27FC236}">
                      <a16:creationId xmlns:a16="http://schemas.microsoft.com/office/drawing/2014/main" id="{B147FB99-D94F-AE81-1373-18CBE183D6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72000" y="3168000"/>
                  <a:ext cx="432000" cy="430887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1" name="矩形 110">
              <a:extLst>
                <a:ext uri="{FF2B5EF4-FFF2-40B4-BE49-F238E27FC236}">
                  <a16:creationId xmlns:a16="http://schemas.microsoft.com/office/drawing/2014/main" id="{422AD781-4B1D-0B0F-8A5F-A602FC9D337A}"/>
                </a:ext>
              </a:extLst>
            </p:cNvPr>
            <p:cNvSpPr/>
            <p:nvPr/>
          </p:nvSpPr>
          <p:spPr>
            <a:xfrm>
              <a:off x="10404002" y="3348000"/>
              <a:ext cx="576000" cy="144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" name="文本框 111">
                  <a:extLst>
                    <a:ext uri="{FF2B5EF4-FFF2-40B4-BE49-F238E27FC236}">
                      <a16:creationId xmlns:a16="http://schemas.microsoft.com/office/drawing/2014/main" id="{40FEA606-A8C0-B3CD-DE9A-0EE18926B0BE}"/>
                    </a:ext>
                  </a:extLst>
                </p:cNvPr>
                <p:cNvSpPr txBox="1"/>
                <p:nvPr/>
              </p:nvSpPr>
              <p:spPr>
                <a:xfrm>
                  <a:off x="10404000" y="3492000"/>
                  <a:ext cx="576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12" name="文本框 111">
                  <a:extLst>
                    <a:ext uri="{FF2B5EF4-FFF2-40B4-BE49-F238E27FC236}">
                      <a16:creationId xmlns:a16="http://schemas.microsoft.com/office/drawing/2014/main" id="{40FEA606-A8C0-B3CD-DE9A-0EE18926B0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04000" y="3492000"/>
                  <a:ext cx="576000" cy="430887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3" name="直接箭头连接符 112">
              <a:extLst>
                <a:ext uri="{FF2B5EF4-FFF2-40B4-BE49-F238E27FC236}">
                  <a16:creationId xmlns:a16="http://schemas.microsoft.com/office/drawing/2014/main" id="{3F0B04CB-3158-8F0A-CC36-F40EFAF5800C}"/>
                </a:ext>
              </a:extLst>
            </p:cNvPr>
            <p:cNvCxnSpPr/>
            <p:nvPr/>
          </p:nvCxnSpPr>
          <p:spPr>
            <a:xfrm flipH="1">
              <a:off x="10422002" y="3240000"/>
              <a:ext cx="540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 w="med" len="lg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4" name="文本框 113">
                  <a:extLst>
                    <a:ext uri="{FF2B5EF4-FFF2-40B4-BE49-F238E27FC236}">
                      <a16:creationId xmlns:a16="http://schemas.microsoft.com/office/drawing/2014/main" id="{E9E81C6E-4D29-2F94-2242-80A4F6401D43}"/>
                    </a:ext>
                  </a:extLst>
                </p:cNvPr>
                <p:cNvSpPr txBox="1"/>
                <p:nvPr/>
              </p:nvSpPr>
              <p:spPr>
                <a:xfrm>
                  <a:off x="10422001" y="2771999"/>
                  <a:ext cx="540000" cy="4680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R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14" name="文本框 113">
                  <a:extLst>
                    <a:ext uri="{FF2B5EF4-FFF2-40B4-BE49-F238E27FC236}">
                      <a16:creationId xmlns:a16="http://schemas.microsoft.com/office/drawing/2014/main" id="{E9E81C6E-4D29-2F94-2242-80A4F6401D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22001" y="2771999"/>
                  <a:ext cx="540000" cy="468000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6" name="直接箭头连接符 115">
              <a:extLst>
                <a:ext uri="{FF2B5EF4-FFF2-40B4-BE49-F238E27FC236}">
                  <a16:creationId xmlns:a16="http://schemas.microsoft.com/office/drawing/2014/main" id="{EDFF240A-EBEE-436E-0412-E42139E045DD}"/>
                </a:ext>
              </a:extLst>
            </p:cNvPr>
            <p:cNvCxnSpPr/>
            <p:nvPr/>
          </p:nvCxnSpPr>
          <p:spPr>
            <a:xfrm flipH="1">
              <a:off x="9144000" y="1980000"/>
              <a:ext cx="540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 w="med" len="lg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7" name="文本框 116">
                  <a:extLst>
                    <a:ext uri="{FF2B5EF4-FFF2-40B4-BE49-F238E27FC236}">
                      <a16:creationId xmlns:a16="http://schemas.microsoft.com/office/drawing/2014/main" id="{1B3EEB37-D767-A953-D273-EB6D33929E94}"/>
                    </a:ext>
                  </a:extLst>
                </p:cNvPr>
                <p:cNvSpPr txBox="1"/>
                <p:nvPr/>
              </p:nvSpPr>
              <p:spPr>
                <a:xfrm>
                  <a:off x="9144000" y="1476000"/>
                  <a:ext cx="540000" cy="46923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17" name="文本框 116">
                  <a:extLst>
                    <a:ext uri="{FF2B5EF4-FFF2-40B4-BE49-F238E27FC236}">
                      <a16:creationId xmlns:a16="http://schemas.microsoft.com/office/drawing/2014/main" id="{1B3EEB37-D767-A953-D273-EB6D33929E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44000" y="1476000"/>
                  <a:ext cx="540000" cy="469231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8" name="直接箭头连接符 117">
              <a:extLst>
                <a:ext uri="{FF2B5EF4-FFF2-40B4-BE49-F238E27FC236}">
                  <a16:creationId xmlns:a16="http://schemas.microsoft.com/office/drawing/2014/main" id="{B4825633-3B6B-5652-4326-EE6D492F1FAF}"/>
                </a:ext>
              </a:extLst>
            </p:cNvPr>
            <p:cNvCxnSpPr/>
            <p:nvPr/>
          </p:nvCxnSpPr>
          <p:spPr>
            <a:xfrm flipH="1">
              <a:off x="9144000" y="2772000"/>
              <a:ext cx="540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 w="med" len="lg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9" name="文本框 118">
                  <a:extLst>
                    <a:ext uri="{FF2B5EF4-FFF2-40B4-BE49-F238E27FC236}">
                      <a16:creationId xmlns:a16="http://schemas.microsoft.com/office/drawing/2014/main" id="{E1C6B697-100D-A235-45A7-8BCE06290664}"/>
                    </a:ext>
                  </a:extLst>
                </p:cNvPr>
                <p:cNvSpPr txBox="1"/>
                <p:nvPr/>
              </p:nvSpPr>
              <p:spPr>
                <a:xfrm>
                  <a:off x="9144000" y="2303999"/>
                  <a:ext cx="540000" cy="4680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19" name="文本框 118">
                  <a:extLst>
                    <a:ext uri="{FF2B5EF4-FFF2-40B4-BE49-F238E27FC236}">
                      <a16:creationId xmlns:a16="http://schemas.microsoft.com/office/drawing/2014/main" id="{E1C6B697-100D-A235-45A7-8BCE062906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44000" y="2303999"/>
                  <a:ext cx="540000" cy="468000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1" name="直接箭头连接符 120">
              <a:extLst>
                <a:ext uri="{FF2B5EF4-FFF2-40B4-BE49-F238E27FC236}">
                  <a16:creationId xmlns:a16="http://schemas.microsoft.com/office/drawing/2014/main" id="{A1046D74-3F0F-42D7-72D3-78EE58996790}"/>
                </a:ext>
              </a:extLst>
            </p:cNvPr>
            <p:cNvCxnSpPr/>
            <p:nvPr/>
          </p:nvCxnSpPr>
          <p:spPr>
            <a:xfrm flipH="1">
              <a:off x="8460000" y="3528000"/>
              <a:ext cx="540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 w="med" len="lg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>
              <a:extLst>
                <a:ext uri="{FF2B5EF4-FFF2-40B4-BE49-F238E27FC236}">
                  <a16:creationId xmlns:a16="http://schemas.microsoft.com/office/drawing/2014/main" id="{9E184C9B-1FF4-1CAF-3B6E-12F7C5DAB598}"/>
                </a:ext>
              </a:extLst>
            </p:cNvPr>
            <p:cNvCxnSpPr>
              <a:cxnSpLocks/>
            </p:cNvCxnSpPr>
            <p:nvPr/>
          </p:nvCxnSpPr>
          <p:spPr>
            <a:xfrm>
              <a:off x="8172000" y="3204000"/>
              <a:ext cx="0" cy="432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>
              <a:extLst>
                <a:ext uri="{FF2B5EF4-FFF2-40B4-BE49-F238E27FC236}">
                  <a16:creationId xmlns:a16="http://schemas.microsoft.com/office/drawing/2014/main" id="{9DDCDA19-BE32-A773-F1B1-2CFEEF176781}"/>
                </a:ext>
              </a:extLst>
            </p:cNvPr>
            <p:cNvCxnSpPr>
              <a:cxnSpLocks/>
            </p:cNvCxnSpPr>
            <p:nvPr/>
          </p:nvCxnSpPr>
          <p:spPr>
            <a:xfrm>
              <a:off x="8352000" y="3204000"/>
              <a:ext cx="0" cy="432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9" name="文本框 128">
                  <a:extLst>
                    <a:ext uri="{FF2B5EF4-FFF2-40B4-BE49-F238E27FC236}">
                      <a16:creationId xmlns:a16="http://schemas.microsoft.com/office/drawing/2014/main" id="{17942480-55B7-21AF-47A5-8FF9C07EE80E}"/>
                    </a:ext>
                  </a:extLst>
                </p:cNvPr>
                <p:cNvSpPr txBox="1"/>
                <p:nvPr/>
              </p:nvSpPr>
              <p:spPr>
                <a:xfrm>
                  <a:off x="7812000" y="2988000"/>
                  <a:ext cx="360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29" name="文本框 128">
                  <a:extLst>
                    <a:ext uri="{FF2B5EF4-FFF2-40B4-BE49-F238E27FC236}">
                      <a16:creationId xmlns:a16="http://schemas.microsoft.com/office/drawing/2014/main" id="{17942480-55B7-21AF-47A5-8FF9C07EE8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12000" y="2988000"/>
                  <a:ext cx="360000" cy="430887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0" name="文本框 129">
                  <a:extLst>
                    <a:ext uri="{FF2B5EF4-FFF2-40B4-BE49-F238E27FC236}">
                      <a16:creationId xmlns:a16="http://schemas.microsoft.com/office/drawing/2014/main" id="{73BC4B5C-3246-A351-D99F-79345ED2FA8B}"/>
                    </a:ext>
                  </a:extLst>
                </p:cNvPr>
                <p:cNvSpPr txBox="1"/>
                <p:nvPr/>
              </p:nvSpPr>
              <p:spPr>
                <a:xfrm>
                  <a:off x="8082000" y="3636000"/>
                  <a:ext cx="360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30" name="文本框 129">
                  <a:extLst>
                    <a:ext uri="{FF2B5EF4-FFF2-40B4-BE49-F238E27FC236}">
                      <a16:creationId xmlns:a16="http://schemas.microsoft.com/office/drawing/2014/main" id="{73BC4B5C-3246-A351-D99F-79345ED2FA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82000" y="3636000"/>
                  <a:ext cx="360000" cy="430887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1" name="文本框 130">
                  <a:extLst>
                    <a:ext uri="{FF2B5EF4-FFF2-40B4-BE49-F238E27FC236}">
                      <a16:creationId xmlns:a16="http://schemas.microsoft.com/office/drawing/2014/main" id="{52B7A251-C9AD-1501-7249-C52548D16295}"/>
                    </a:ext>
                  </a:extLst>
                </p:cNvPr>
                <p:cNvSpPr txBox="1"/>
                <p:nvPr/>
              </p:nvSpPr>
              <p:spPr>
                <a:xfrm>
                  <a:off x="8046000" y="2736000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31" name="文本框 130">
                  <a:extLst>
                    <a:ext uri="{FF2B5EF4-FFF2-40B4-BE49-F238E27FC236}">
                      <a16:creationId xmlns:a16="http://schemas.microsoft.com/office/drawing/2014/main" id="{52B7A251-C9AD-1501-7249-C52548D162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46000" y="2736000"/>
                  <a:ext cx="432000" cy="430887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2" name="文本框 131">
                  <a:extLst>
                    <a:ext uri="{FF2B5EF4-FFF2-40B4-BE49-F238E27FC236}">
                      <a16:creationId xmlns:a16="http://schemas.microsoft.com/office/drawing/2014/main" id="{722C253F-0F14-75D0-EC78-917FACC9E551}"/>
                    </a:ext>
                  </a:extLst>
                </p:cNvPr>
                <p:cNvSpPr txBox="1"/>
                <p:nvPr/>
              </p:nvSpPr>
              <p:spPr>
                <a:xfrm>
                  <a:off x="8388000" y="2988000"/>
                  <a:ext cx="360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32" name="文本框 131">
                  <a:extLst>
                    <a:ext uri="{FF2B5EF4-FFF2-40B4-BE49-F238E27FC236}">
                      <a16:creationId xmlns:a16="http://schemas.microsoft.com/office/drawing/2014/main" id="{722C253F-0F14-75D0-EC78-917FACC9E5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8000" y="2988000"/>
                  <a:ext cx="360000" cy="430887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2CE6B698-FB85-B4CE-2A3A-881D5784A422}"/>
                </a:ext>
              </a:extLst>
            </p:cNvPr>
            <p:cNvCxnSpPr>
              <a:cxnSpLocks/>
            </p:cNvCxnSpPr>
            <p:nvPr/>
          </p:nvCxnSpPr>
          <p:spPr>
            <a:xfrm>
              <a:off x="7740000" y="3420000"/>
              <a:ext cx="432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62D5A337-7907-08D7-52C4-E4219F5F3E79}"/>
                </a:ext>
              </a:extLst>
            </p:cNvPr>
            <p:cNvSpPr/>
            <p:nvPr/>
          </p:nvSpPr>
          <p:spPr>
            <a:xfrm>
              <a:off x="7920000" y="1980000"/>
              <a:ext cx="576000" cy="144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9CF44DE0-D700-27F7-E778-F34B5F7DB912}"/>
                    </a:ext>
                  </a:extLst>
                </p:cNvPr>
                <p:cNvSpPr txBox="1"/>
                <p:nvPr/>
              </p:nvSpPr>
              <p:spPr>
                <a:xfrm>
                  <a:off x="7919998" y="2124000"/>
                  <a:ext cx="576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 smtClean="0">
                            <a:latin typeface="Cambria Math" panose="02040503050406030204" pitchFamily="18" charset="0"/>
                          </a:rPr>
                          <m:t>𝑅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9CF44DE0-D700-27F7-E778-F34B5F7DB9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19998" y="2124000"/>
                  <a:ext cx="576000" cy="430887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4094095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A1CD6-E7F5-A05D-D3D8-B6446F9DE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B7604E-14D7-7FAB-CB1C-E5D59E606B39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集成运算放大器的线性应用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积分</a:t>
            </a:r>
            <a:r>
              <a:rPr lang="en-US" altLang="zh-CN" sz="3000" dirty="0">
                <a:solidFill>
                  <a:srgbClr val="FFFF00"/>
                </a:solidFill>
              </a:rPr>
              <a:t>/</a:t>
            </a:r>
            <a:r>
              <a:rPr lang="zh-CN" altLang="en-US" sz="3000" dirty="0">
                <a:solidFill>
                  <a:srgbClr val="FFFF00"/>
                </a:solidFill>
              </a:rPr>
              <a:t>微分运算电路</a:t>
            </a:r>
            <a:endParaRPr lang="en-US" altLang="zh-CN" sz="3000" dirty="0">
              <a:solidFill>
                <a:srgbClr val="FFFF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5ED34236-2ED1-8E9C-D300-9A70075E2DEB}"/>
                  </a:ext>
                </a:extLst>
              </p:cNvPr>
              <p:cNvSpPr txBox="1"/>
              <p:nvPr/>
            </p:nvSpPr>
            <p:spPr>
              <a:xfrm>
                <a:off x="359999" y="828000"/>
                <a:ext cx="3600000" cy="21250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lnSpc>
                    <a:spcPct val="12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微分运算电路</a:t>
                </a:r>
                <a:endParaRPr kumimoji="1"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输入阶跃信号：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2">
                  <a:lnSpc>
                    <a:spcPct val="120000"/>
                  </a:lnSpc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o</m:t>
                          </m:r>
                        </m:sub>
                      </m:sSub>
                      <m:r>
                        <a:rPr lang="en-US" altLang="zh-CN" sz="24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altLang="zh-CN" sz="24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𝑅𝐶</m:t>
                      </m:r>
                      <m:f>
                        <m:fPr>
                          <m:ctrlP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5ED34236-2ED1-8E9C-D300-9A70075E2D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999" y="828000"/>
                <a:ext cx="3600000" cy="2125069"/>
              </a:xfrm>
              <a:prstGeom prst="rect">
                <a:avLst/>
              </a:prstGeom>
              <a:blipFill>
                <a:blip r:embed="rId3"/>
                <a:stretch>
                  <a:fillRect l="-3046" t="-11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组合 4">
            <a:extLst>
              <a:ext uri="{FF2B5EF4-FFF2-40B4-BE49-F238E27FC236}">
                <a16:creationId xmlns:a16="http://schemas.microsoft.com/office/drawing/2014/main" id="{8D567213-E981-BBAF-9067-52377446B820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74729537-D770-3BCE-647A-07A008F7154C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9" name="箭头: 五边形 8">
                <a:extLst>
                  <a:ext uri="{FF2B5EF4-FFF2-40B4-BE49-F238E27FC236}">
                    <a16:creationId xmlns:a16="http://schemas.microsoft.com/office/drawing/2014/main" id="{F2B9CB54-AB0B-8090-22E5-625C93EF4EBB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0" name="箭头: V 形 9">
                <a:extLst>
                  <a:ext uri="{FF2B5EF4-FFF2-40B4-BE49-F238E27FC236}">
                    <a16:creationId xmlns:a16="http://schemas.microsoft.com/office/drawing/2014/main" id="{5BFE96D7-8720-937C-C514-AE07E72D0AE5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7" name="灯片编号占位符 3">
              <a:extLst>
                <a:ext uri="{FF2B5EF4-FFF2-40B4-BE49-F238E27FC236}">
                  <a16:creationId xmlns:a16="http://schemas.microsoft.com/office/drawing/2014/main" id="{D4F21C2B-8121-CEE0-0C07-D98D7940C70A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16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36FF587F-2222-AE5E-F26D-2944F0A8583A}"/>
              </a:ext>
            </a:extLst>
          </p:cNvPr>
          <p:cNvGrpSpPr/>
          <p:nvPr/>
        </p:nvGrpSpPr>
        <p:grpSpPr>
          <a:xfrm>
            <a:off x="360000" y="3492000"/>
            <a:ext cx="2844000" cy="2196000"/>
            <a:chOff x="540000" y="3528000"/>
            <a:chExt cx="2844000" cy="2196000"/>
          </a:xfrm>
        </p:grpSpPr>
        <p:cxnSp>
          <p:nvCxnSpPr>
            <p:cNvPr id="11" name="直接箭头连接符 10">
              <a:extLst>
                <a:ext uri="{FF2B5EF4-FFF2-40B4-BE49-F238E27FC236}">
                  <a16:creationId xmlns:a16="http://schemas.microsoft.com/office/drawing/2014/main" id="{7C17B01F-FC36-4E7A-6C32-9E5842C65C48}"/>
                </a:ext>
              </a:extLst>
            </p:cNvPr>
            <p:cNvCxnSpPr/>
            <p:nvPr/>
          </p:nvCxnSpPr>
          <p:spPr>
            <a:xfrm>
              <a:off x="1080000" y="5436000"/>
              <a:ext cx="1872000" cy="0"/>
            </a:xfrm>
            <a:prstGeom prst="straightConnector1">
              <a:avLst/>
            </a:prstGeom>
            <a:ln w="50800">
              <a:solidFill>
                <a:schemeClr val="tx1">
                  <a:lumMod val="50000"/>
                  <a:lumOff val="50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箭头连接符 11">
              <a:extLst>
                <a:ext uri="{FF2B5EF4-FFF2-40B4-BE49-F238E27FC236}">
                  <a16:creationId xmlns:a16="http://schemas.microsoft.com/office/drawing/2014/main" id="{150FFC6D-B0DA-BAA3-4312-B77FA96B3E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0000" y="3996000"/>
              <a:ext cx="0" cy="1440000"/>
            </a:xfrm>
            <a:prstGeom prst="straightConnector1">
              <a:avLst/>
            </a:prstGeom>
            <a:ln w="50800">
              <a:solidFill>
                <a:schemeClr val="tx1">
                  <a:lumMod val="50000"/>
                  <a:lumOff val="50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6CF4B175-94A6-6941-585D-6C87877064B9}"/>
                </a:ext>
              </a:extLst>
            </p:cNvPr>
            <p:cNvCxnSpPr/>
            <p:nvPr/>
          </p:nvCxnSpPr>
          <p:spPr>
            <a:xfrm>
              <a:off x="1062000" y="4716000"/>
              <a:ext cx="1548000" cy="0"/>
            </a:xfrm>
            <a:prstGeom prst="line">
              <a:avLst/>
            </a:prstGeom>
            <a:ln w="762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D0BC4A28-23BD-B457-4713-E2DE04C843CC}"/>
                </a:ext>
              </a:extLst>
            </p:cNvPr>
            <p:cNvCxnSpPr>
              <a:cxnSpLocks/>
            </p:cNvCxnSpPr>
            <p:nvPr/>
          </p:nvCxnSpPr>
          <p:spPr>
            <a:xfrm>
              <a:off x="1080000" y="4716000"/>
              <a:ext cx="0" cy="720000"/>
            </a:xfrm>
            <a:prstGeom prst="line">
              <a:avLst/>
            </a:prstGeom>
            <a:ln w="762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8CB32BCC-6B1F-DDED-5BB1-2DD43E62B773}"/>
                    </a:ext>
                  </a:extLst>
                </p:cNvPr>
                <p:cNvSpPr txBox="1"/>
                <p:nvPr/>
              </p:nvSpPr>
              <p:spPr>
                <a:xfrm>
                  <a:off x="792000" y="3528000"/>
                  <a:ext cx="576000" cy="576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8CB32BCC-6B1F-DDED-5BB1-2DD43E62B7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2000" y="3528000"/>
                  <a:ext cx="576000" cy="576000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04258714-3A3B-CBB1-7473-44D33FCA80F4}"/>
                    </a:ext>
                  </a:extLst>
                </p:cNvPr>
                <p:cNvSpPr txBox="1"/>
                <p:nvPr/>
              </p:nvSpPr>
              <p:spPr>
                <a:xfrm>
                  <a:off x="2808000" y="5148000"/>
                  <a:ext cx="576000" cy="576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04258714-3A3B-CBB1-7473-44D33FCA80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08000" y="5148000"/>
                  <a:ext cx="576000" cy="576000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986F3365-301A-AF90-E78A-5E6B94D9F427}"/>
                    </a:ext>
                  </a:extLst>
                </p:cNvPr>
                <p:cNvSpPr txBox="1"/>
                <p:nvPr/>
              </p:nvSpPr>
              <p:spPr>
                <a:xfrm>
                  <a:off x="540000" y="4392000"/>
                  <a:ext cx="57600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986F3365-301A-AF90-E78A-5E6B94D9F4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0000" y="4392000"/>
                  <a:ext cx="576000" cy="523220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0" name="对话气泡: 圆角矩形 19">
            <a:extLst>
              <a:ext uri="{FF2B5EF4-FFF2-40B4-BE49-F238E27FC236}">
                <a16:creationId xmlns:a16="http://schemas.microsoft.com/office/drawing/2014/main" id="{717ECEBF-1E8C-C605-3F25-B8B7A8DD8EFC}"/>
              </a:ext>
            </a:extLst>
          </p:cNvPr>
          <p:cNvSpPr/>
          <p:nvPr/>
        </p:nvSpPr>
        <p:spPr>
          <a:xfrm>
            <a:off x="1332000" y="3708000"/>
            <a:ext cx="2160000" cy="576000"/>
          </a:xfrm>
          <a:prstGeom prst="wedgeRoundRectCallout">
            <a:avLst>
              <a:gd name="adj1" fmla="val -44239"/>
              <a:gd name="adj2" fmla="val 103284"/>
              <a:gd name="adj3" fmla="val 16667"/>
            </a:avLst>
          </a:prstGeom>
          <a:solidFill>
            <a:schemeClr val="bg1"/>
          </a:solidFill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输入阶跃信号</a:t>
            </a:r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6C85A1C9-0C29-AF83-24D2-FE94BE8170F0}"/>
              </a:ext>
            </a:extLst>
          </p:cNvPr>
          <p:cNvCxnSpPr/>
          <p:nvPr/>
        </p:nvCxnSpPr>
        <p:spPr>
          <a:xfrm>
            <a:off x="4032000" y="4680000"/>
            <a:ext cx="2520000" cy="0"/>
          </a:xfrm>
          <a:prstGeom prst="straightConnector1">
            <a:avLst/>
          </a:prstGeom>
          <a:ln w="50800">
            <a:solidFill>
              <a:schemeClr val="tx1">
                <a:lumMod val="50000"/>
                <a:lumOff val="50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A7A4DBDF-9380-CC24-8539-170E5B292A04}"/>
                  </a:ext>
                </a:extLst>
              </p:cNvPr>
              <p:cNvSpPr txBox="1"/>
              <p:nvPr/>
            </p:nvSpPr>
            <p:spPr>
              <a:xfrm>
                <a:off x="3744000" y="3492000"/>
                <a:ext cx="576000" cy="576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800" i="1">
                              <a:latin typeface="Cambria Math" panose="02040503050406030204" pitchFamily="18" charset="0"/>
                            </a:rPr>
                            <m:t>o</m:t>
                          </m:r>
                        </m:sub>
                      </m:sSub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A7A4DBDF-9380-CC24-8539-170E5B292A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4000" y="3492000"/>
                <a:ext cx="576000" cy="57600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33A9CF11-8B09-78B5-4710-B4ADB34C648A}"/>
                  </a:ext>
                </a:extLst>
              </p:cNvPr>
              <p:cNvSpPr txBox="1"/>
              <p:nvPr/>
            </p:nvSpPr>
            <p:spPr>
              <a:xfrm>
                <a:off x="6408000" y="4320000"/>
                <a:ext cx="576000" cy="576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33A9CF11-8B09-78B5-4710-B4ADB34C64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8000" y="4320000"/>
                <a:ext cx="576000" cy="57600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85EF13A8-6143-0DFF-A475-2E26591CE780}"/>
                  </a:ext>
                </a:extLst>
              </p:cNvPr>
              <p:cNvSpPr txBox="1"/>
              <p:nvPr/>
            </p:nvSpPr>
            <p:spPr>
              <a:xfrm>
                <a:off x="3060000" y="5472000"/>
                <a:ext cx="972000" cy="54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sz="28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om</m:t>
                          </m:r>
                        </m:sub>
                      </m:sSub>
                    </m:oMath>
                  </m:oMathPara>
                </a14:m>
                <a:endParaRPr lang="zh-CN" altLang="en-US" sz="28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85EF13A8-6143-0DFF-A475-2E26591CE7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0000" y="5472000"/>
                <a:ext cx="972000" cy="54000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DA824605-6FB2-EEAA-F759-E136DBC1A323}"/>
              </a:ext>
            </a:extLst>
          </p:cNvPr>
          <p:cNvCxnSpPr>
            <a:cxnSpLocks/>
          </p:cNvCxnSpPr>
          <p:nvPr/>
        </p:nvCxnSpPr>
        <p:spPr>
          <a:xfrm flipV="1">
            <a:off x="4032000" y="3960000"/>
            <a:ext cx="0" cy="2520000"/>
          </a:xfrm>
          <a:prstGeom prst="straightConnector1">
            <a:avLst/>
          </a:prstGeom>
          <a:ln w="50800">
            <a:solidFill>
              <a:schemeClr val="tx1">
                <a:lumMod val="50000"/>
                <a:lumOff val="50000"/>
              </a:schemeClr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CE74E9AE-3040-9A2A-0C8C-9B7621E607BF}"/>
              </a:ext>
            </a:extLst>
          </p:cNvPr>
          <p:cNvCxnSpPr>
            <a:cxnSpLocks/>
          </p:cNvCxnSpPr>
          <p:nvPr/>
        </p:nvCxnSpPr>
        <p:spPr>
          <a:xfrm>
            <a:off x="4032000" y="4680000"/>
            <a:ext cx="0" cy="1080000"/>
          </a:xfrm>
          <a:prstGeom prst="line">
            <a:avLst/>
          </a:prstGeom>
          <a:ln w="762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弧形 49">
            <a:extLst>
              <a:ext uri="{FF2B5EF4-FFF2-40B4-BE49-F238E27FC236}">
                <a16:creationId xmlns:a16="http://schemas.microsoft.com/office/drawing/2014/main" id="{69995EC6-00DD-CEF8-3972-8B66173DCBB7}"/>
              </a:ext>
            </a:extLst>
          </p:cNvPr>
          <p:cNvSpPr/>
          <p:nvPr/>
        </p:nvSpPr>
        <p:spPr>
          <a:xfrm>
            <a:off x="4032000" y="4680000"/>
            <a:ext cx="1800000" cy="2160000"/>
          </a:xfrm>
          <a:prstGeom prst="arc">
            <a:avLst>
              <a:gd name="adj1" fmla="val 10829050"/>
              <a:gd name="adj2" fmla="val 16194486"/>
            </a:avLst>
          </a:prstGeom>
          <a:ln w="762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11C71B56-12D3-7F27-DAC6-663953727DEE}"/>
              </a:ext>
            </a:extLst>
          </p:cNvPr>
          <p:cNvCxnSpPr>
            <a:cxnSpLocks/>
          </p:cNvCxnSpPr>
          <p:nvPr/>
        </p:nvCxnSpPr>
        <p:spPr>
          <a:xfrm flipH="1">
            <a:off x="4896000" y="4680000"/>
            <a:ext cx="1080000" cy="0"/>
          </a:xfrm>
          <a:prstGeom prst="line">
            <a:avLst/>
          </a:prstGeom>
          <a:ln w="762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4444A318-78FD-F8E7-32FB-864A583BACC5}"/>
                  </a:ext>
                </a:extLst>
              </p:cNvPr>
              <p:cNvSpPr txBox="1"/>
              <p:nvPr/>
            </p:nvSpPr>
            <p:spPr>
              <a:xfrm>
                <a:off x="5868000" y="5400000"/>
                <a:ext cx="6120000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zh-CN" altLang="en-US" sz="24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由于信号源有内阻，且运放的电源电压限制，在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40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en-US" sz="24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时刻，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是一个有限值</a:t>
                </a:r>
              </a:p>
            </p:txBody>
          </p:sp>
        </mc:Choice>
        <mc:Fallback xmlns=""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4444A318-78FD-F8E7-32FB-864A583BAC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8000" y="5400000"/>
                <a:ext cx="6120000" cy="830997"/>
              </a:xfrm>
              <a:prstGeom prst="rect">
                <a:avLst/>
              </a:prstGeom>
              <a:blipFill>
                <a:blip r:embed="rId25"/>
                <a:stretch>
                  <a:fillRect l="-1594" t="-5882" r="-4084" b="-161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6" name="组合 65">
            <a:extLst>
              <a:ext uri="{FF2B5EF4-FFF2-40B4-BE49-F238E27FC236}">
                <a16:creationId xmlns:a16="http://schemas.microsoft.com/office/drawing/2014/main" id="{7F1EC626-94CF-F43C-21D1-D5F0EB32C07D}"/>
              </a:ext>
            </a:extLst>
          </p:cNvPr>
          <p:cNvGrpSpPr/>
          <p:nvPr/>
        </p:nvGrpSpPr>
        <p:grpSpPr>
          <a:xfrm>
            <a:off x="7272000" y="1476000"/>
            <a:ext cx="4608000" cy="2590887"/>
            <a:chOff x="7272000" y="1476000"/>
            <a:chExt cx="4608000" cy="259088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文本框 66">
                  <a:extLst>
                    <a:ext uri="{FF2B5EF4-FFF2-40B4-BE49-F238E27FC236}">
                      <a16:creationId xmlns:a16="http://schemas.microsoft.com/office/drawing/2014/main" id="{54C75B95-48FA-CCBA-3B5F-0A718B935771}"/>
                    </a:ext>
                  </a:extLst>
                </p:cNvPr>
                <p:cNvSpPr txBox="1"/>
                <p:nvPr/>
              </p:nvSpPr>
              <p:spPr>
                <a:xfrm>
                  <a:off x="8459999" y="3527999"/>
                  <a:ext cx="540000" cy="4680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67" name="文本框 66">
                  <a:extLst>
                    <a:ext uri="{FF2B5EF4-FFF2-40B4-BE49-F238E27FC236}">
                      <a16:creationId xmlns:a16="http://schemas.microsoft.com/office/drawing/2014/main" id="{54C75B95-48FA-CCBA-3B5F-0A718B9357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59999" y="3527999"/>
                  <a:ext cx="540000" cy="468000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20605DA6-9834-AE37-BFB3-E3C907FD177F}"/>
                </a:ext>
              </a:extLst>
            </p:cNvPr>
            <p:cNvCxnSpPr>
              <a:cxnSpLocks/>
            </p:cNvCxnSpPr>
            <p:nvPr/>
          </p:nvCxnSpPr>
          <p:spPr>
            <a:xfrm>
              <a:off x="9000000" y="2844000"/>
              <a:ext cx="864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08B6E209-CF62-26F3-C4AC-5E863BF9C981}"/>
                </a:ext>
              </a:extLst>
            </p:cNvPr>
            <p:cNvCxnSpPr>
              <a:cxnSpLocks/>
            </p:cNvCxnSpPr>
            <p:nvPr/>
          </p:nvCxnSpPr>
          <p:spPr>
            <a:xfrm>
              <a:off x="7740000" y="2052000"/>
              <a:ext cx="2124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等腰三角形 69">
              <a:extLst>
                <a:ext uri="{FF2B5EF4-FFF2-40B4-BE49-F238E27FC236}">
                  <a16:creationId xmlns:a16="http://schemas.microsoft.com/office/drawing/2014/main" id="{24F71507-3020-C2D1-9EE5-72950B22229E}"/>
                </a:ext>
              </a:extLst>
            </p:cNvPr>
            <p:cNvSpPr/>
            <p:nvPr/>
          </p:nvSpPr>
          <p:spPr>
            <a:xfrm rot="5400000">
              <a:off x="9792000" y="1800000"/>
              <a:ext cx="1440000" cy="1296000"/>
            </a:xfrm>
            <a:prstGeom prst="triangl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文本框 70">
                  <a:extLst>
                    <a:ext uri="{FF2B5EF4-FFF2-40B4-BE49-F238E27FC236}">
                      <a16:creationId xmlns:a16="http://schemas.microsoft.com/office/drawing/2014/main" id="{5B720CE8-E273-5FAB-149D-8038251B3A28}"/>
                    </a:ext>
                  </a:extLst>
                </p:cNvPr>
                <p:cNvSpPr txBox="1"/>
                <p:nvPr/>
              </p:nvSpPr>
              <p:spPr>
                <a:xfrm>
                  <a:off x="9846000" y="2610000"/>
                  <a:ext cx="396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 smtClean="0"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71" name="文本框 70">
                  <a:extLst>
                    <a:ext uri="{FF2B5EF4-FFF2-40B4-BE49-F238E27FC236}">
                      <a16:creationId xmlns:a16="http://schemas.microsoft.com/office/drawing/2014/main" id="{5B720CE8-E273-5FAB-149D-8038251B3A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46000" y="2610000"/>
                  <a:ext cx="396000" cy="430887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F6C85AF0-4DC3-3919-AFC4-A0E2BE94FD61}"/>
                    </a:ext>
                  </a:extLst>
                </p:cNvPr>
                <p:cNvSpPr txBox="1"/>
                <p:nvPr/>
              </p:nvSpPr>
              <p:spPr>
                <a:xfrm>
                  <a:off x="9846000" y="1818000"/>
                  <a:ext cx="396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F6C85AF0-4DC3-3919-AFC4-A0E2BE94FD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46000" y="1818000"/>
                  <a:ext cx="396000" cy="430887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21655AD3-894E-243B-83CA-3FA19AD06000}"/>
                </a:ext>
              </a:extLst>
            </p:cNvPr>
            <p:cNvCxnSpPr>
              <a:cxnSpLocks/>
              <a:stCxn id="70" idx="0"/>
            </p:cNvCxnSpPr>
            <p:nvPr/>
          </p:nvCxnSpPr>
          <p:spPr>
            <a:xfrm>
              <a:off x="11160000" y="2448000"/>
              <a:ext cx="432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椭圆 73">
              <a:extLst>
                <a:ext uri="{FF2B5EF4-FFF2-40B4-BE49-F238E27FC236}">
                  <a16:creationId xmlns:a16="http://schemas.microsoft.com/office/drawing/2014/main" id="{E4BF01E6-8373-2015-32CE-1A07BB1480A8}"/>
                </a:ext>
              </a:extLst>
            </p:cNvPr>
            <p:cNvSpPr/>
            <p:nvPr/>
          </p:nvSpPr>
          <p:spPr>
            <a:xfrm>
              <a:off x="11268000" y="2376000"/>
              <a:ext cx="144000" cy="14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289A9D86-6900-6142-6391-E4BA03327D73}"/>
                </a:ext>
              </a:extLst>
            </p:cNvPr>
            <p:cNvCxnSpPr>
              <a:cxnSpLocks/>
            </p:cNvCxnSpPr>
            <p:nvPr/>
          </p:nvCxnSpPr>
          <p:spPr>
            <a:xfrm>
              <a:off x="8352000" y="3420000"/>
              <a:ext cx="2988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183D3ED6-7B36-C9CE-56B3-D89486FB1163}"/>
                </a:ext>
              </a:extLst>
            </p:cNvPr>
            <p:cNvCxnSpPr>
              <a:cxnSpLocks/>
            </p:cNvCxnSpPr>
            <p:nvPr/>
          </p:nvCxnSpPr>
          <p:spPr>
            <a:xfrm>
              <a:off x="11340000" y="2448000"/>
              <a:ext cx="0" cy="972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椭圆 76">
              <a:extLst>
                <a:ext uri="{FF2B5EF4-FFF2-40B4-BE49-F238E27FC236}">
                  <a16:creationId xmlns:a16="http://schemas.microsoft.com/office/drawing/2014/main" id="{A0AC3054-7167-DA90-5AEF-8F9EB3FE637D}"/>
                </a:ext>
              </a:extLst>
            </p:cNvPr>
            <p:cNvSpPr/>
            <p:nvPr/>
          </p:nvSpPr>
          <p:spPr>
            <a:xfrm>
              <a:off x="8928000" y="1980000"/>
              <a:ext cx="144000" cy="14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8" name="直接连接符 77">
              <a:extLst>
                <a:ext uri="{FF2B5EF4-FFF2-40B4-BE49-F238E27FC236}">
                  <a16:creationId xmlns:a16="http://schemas.microsoft.com/office/drawing/2014/main" id="{7E85DFB2-8EB7-34B2-F125-B5FF206D7556}"/>
                </a:ext>
              </a:extLst>
            </p:cNvPr>
            <p:cNvCxnSpPr>
              <a:cxnSpLocks/>
            </p:cNvCxnSpPr>
            <p:nvPr/>
          </p:nvCxnSpPr>
          <p:spPr>
            <a:xfrm>
              <a:off x="7740000" y="2052000"/>
              <a:ext cx="0" cy="36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14895A4D-EE5E-58BF-BF6A-23A5EA35B869}"/>
                    </a:ext>
                  </a:extLst>
                </p:cNvPr>
                <p:cNvSpPr txBox="1"/>
                <p:nvPr/>
              </p:nvSpPr>
              <p:spPr>
                <a:xfrm>
                  <a:off x="8604000" y="1944000"/>
                  <a:ext cx="450701" cy="46923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14895A4D-EE5E-58BF-BF6A-23A5EA35B8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04000" y="1944000"/>
                  <a:ext cx="450701" cy="469231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D290A289-6312-72D0-2854-6ED7380A1C32}"/>
                </a:ext>
              </a:extLst>
            </p:cNvPr>
            <p:cNvCxnSpPr>
              <a:cxnSpLocks/>
            </p:cNvCxnSpPr>
            <p:nvPr/>
          </p:nvCxnSpPr>
          <p:spPr>
            <a:xfrm>
              <a:off x="9000000" y="2844000"/>
              <a:ext cx="0" cy="576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椭圆 80">
              <a:extLst>
                <a:ext uri="{FF2B5EF4-FFF2-40B4-BE49-F238E27FC236}">
                  <a16:creationId xmlns:a16="http://schemas.microsoft.com/office/drawing/2014/main" id="{470F2B4B-BD85-B9B3-F577-70FC76B4802A}"/>
                </a:ext>
              </a:extLst>
            </p:cNvPr>
            <p:cNvSpPr/>
            <p:nvPr/>
          </p:nvSpPr>
          <p:spPr>
            <a:xfrm>
              <a:off x="8928000" y="3348000"/>
              <a:ext cx="144000" cy="14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文本框 81">
                  <a:extLst>
                    <a:ext uri="{FF2B5EF4-FFF2-40B4-BE49-F238E27FC236}">
                      <a16:creationId xmlns:a16="http://schemas.microsoft.com/office/drawing/2014/main" id="{40C1B729-242C-60F7-3D91-E6EAE9762891}"/>
                    </a:ext>
                  </a:extLst>
                </p:cNvPr>
                <p:cNvSpPr txBox="1"/>
                <p:nvPr/>
              </p:nvSpPr>
              <p:spPr>
                <a:xfrm>
                  <a:off x="8604000" y="2430000"/>
                  <a:ext cx="452303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82" name="文本框 81">
                  <a:extLst>
                    <a:ext uri="{FF2B5EF4-FFF2-40B4-BE49-F238E27FC236}">
                      <a16:creationId xmlns:a16="http://schemas.microsoft.com/office/drawing/2014/main" id="{40C1B729-242C-60F7-3D91-E6EAE97628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04000" y="2430000"/>
                  <a:ext cx="452303" cy="430887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文本框 82">
                  <a:extLst>
                    <a:ext uri="{FF2B5EF4-FFF2-40B4-BE49-F238E27FC236}">
                      <a16:creationId xmlns:a16="http://schemas.microsoft.com/office/drawing/2014/main" id="{FB9A0F31-5272-0A4C-77FB-B5A0BEA726DB}"/>
                    </a:ext>
                  </a:extLst>
                </p:cNvPr>
                <p:cNvSpPr txBox="1"/>
                <p:nvPr/>
              </p:nvSpPr>
              <p:spPr>
                <a:xfrm>
                  <a:off x="11448000" y="1980000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o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83" name="文本框 82">
                  <a:extLst>
                    <a:ext uri="{FF2B5EF4-FFF2-40B4-BE49-F238E27FC236}">
                      <a16:creationId xmlns:a16="http://schemas.microsoft.com/office/drawing/2014/main" id="{FB9A0F31-5272-0A4C-77FB-B5A0BEA726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48000" y="1980000"/>
                  <a:ext cx="432000" cy="430887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4" name="直接连接符 83">
              <a:extLst>
                <a:ext uri="{FF2B5EF4-FFF2-40B4-BE49-F238E27FC236}">
                  <a16:creationId xmlns:a16="http://schemas.microsoft.com/office/drawing/2014/main" id="{48ACAB46-2CBD-9753-B07A-FB2A6775BD76}"/>
                </a:ext>
              </a:extLst>
            </p:cNvPr>
            <p:cNvCxnSpPr>
              <a:cxnSpLocks/>
            </p:cNvCxnSpPr>
            <p:nvPr/>
          </p:nvCxnSpPr>
          <p:spPr>
            <a:xfrm>
              <a:off x="7596000" y="2412000"/>
              <a:ext cx="288000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文本框 84">
                  <a:extLst>
                    <a:ext uri="{FF2B5EF4-FFF2-40B4-BE49-F238E27FC236}">
                      <a16:creationId xmlns:a16="http://schemas.microsoft.com/office/drawing/2014/main" id="{7225FA03-3322-81A2-E075-4C82C841499F}"/>
                    </a:ext>
                  </a:extLst>
                </p:cNvPr>
                <p:cNvSpPr txBox="1"/>
                <p:nvPr/>
              </p:nvSpPr>
              <p:spPr>
                <a:xfrm>
                  <a:off x="7272000" y="3168000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85" name="文本框 84">
                  <a:extLst>
                    <a:ext uri="{FF2B5EF4-FFF2-40B4-BE49-F238E27FC236}">
                      <a16:creationId xmlns:a16="http://schemas.microsoft.com/office/drawing/2014/main" id="{7225FA03-3322-81A2-E075-4C82C84149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72000" y="3168000"/>
                  <a:ext cx="432000" cy="430887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6" name="矩形 85">
              <a:extLst>
                <a:ext uri="{FF2B5EF4-FFF2-40B4-BE49-F238E27FC236}">
                  <a16:creationId xmlns:a16="http://schemas.microsoft.com/office/drawing/2014/main" id="{A97B4D30-5A00-3DFD-71DE-57F0FCAFAEF3}"/>
                </a:ext>
              </a:extLst>
            </p:cNvPr>
            <p:cNvSpPr/>
            <p:nvPr/>
          </p:nvSpPr>
          <p:spPr>
            <a:xfrm>
              <a:off x="10404002" y="3348000"/>
              <a:ext cx="576000" cy="144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文本框 103">
                  <a:extLst>
                    <a:ext uri="{FF2B5EF4-FFF2-40B4-BE49-F238E27FC236}">
                      <a16:creationId xmlns:a16="http://schemas.microsoft.com/office/drawing/2014/main" id="{3388038B-6069-B0E5-B1E2-F428A476B874}"/>
                    </a:ext>
                  </a:extLst>
                </p:cNvPr>
                <p:cNvSpPr txBox="1"/>
                <p:nvPr/>
              </p:nvSpPr>
              <p:spPr>
                <a:xfrm>
                  <a:off x="10404000" y="3492000"/>
                  <a:ext cx="576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04" name="文本框 103">
                  <a:extLst>
                    <a:ext uri="{FF2B5EF4-FFF2-40B4-BE49-F238E27FC236}">
                      <a16:creationId xmlns:a16="http://schemas.microsoft.com/office/drawing/2014/main" id="{3388038B-6069-B0E5-B1E2-F428A476B8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04000" y="3492000"/>
                  <a:ext cx="576000" cy="430887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5" name="直接箭头连接符 104">
              <a:extLst>
                <a:ext uri="{FF2B5EF4-FFF2-40B4-BE49-F238E27FC236}">
                  <a16:creationId xmlns:a16="http://schemas.microsoft.com/office/drawing/2014/main" id="{36992474-0921-ABD4-8154-576E09208666}"/>
                </a:ext>
              </a:extLst>
            </p:cNvPr>
            <p:cNvCxnSpPr/>
            <p:nvPr/>
          </p:nvCxnSpPr>
          <p:spPr>
            <a:xfrm flipH="1">
              <a:off x="10422002" y="3240000"/>
              <a:ext cx="540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 w="med" len="lg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" name="文本框 105">
                  <a:extLst>
                    <a:ext uri="{FF2B5EF4-FFF2-40B4-BE49-F238E27FC236}">
                      <a16:creationId xmlns:a16="http://schemas.microsoft.com/office/drawing/2014/main" id="{DCA13377-5E1A-CCCD-4AE4-10B926F153BB}"/>
                    </a:ext>
                  </a:extLst>
                </p:cNvPr>
                <p:cNvSpPr txBox="1"/>
                <p:nvPr/>
              </p:nvSpPr>
              <p:spPr>
                <a:xfrm>
                  <a:off x="10422001" y="2771999"/>
                  <a:ext cx="540000" cy="4680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R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06" name="文本框 105">
                  <a:extLst>
                    <a:ext uri="{FF2B5EF4-FFF2-40B4-BE49-F238E27FC236}">
                      <a16:creationId xmlns:a16="http://schemas.microsoft.com/office/drawing/2014/main" id="{DCA13377-5E1A-CCCD-4AE4-10B926F153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22001" y="2771999"/>
                  <a:ext cx="540000" cy="468000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7" name="直接箭头连接符 106">
              <a:extLst>
                <a:ext uri="{FF2B5EF4-FFF2-40B4-BE49-F238E27FC236}">
                  <a16:creationId xmlns:a16="http://schemas.microsoft.com/office/drawing/2014/main" id="{FF39EACA-E8BC-9EAE-CC2B-58C924411465}"/>
                </a:ext>
              </a:extLst>
            </p:cNvPr>
            <p:cNvCxnSpPr/>
            <p:nvPr/>
          </p:nvCxnSpPr>
          <p:spPr>
            <a:xfrm flipH="1">
              <a:off x="9144000" y="1980000"/>
              <a:ext cx="540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 w="med" len="lg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8" name="文本框 107">
                  <a:extLst>
                    <a:ext uri="{FF2B5EF4-FFF2-40B4-BE49-F238E27FC236}">
                      <a16:creationId xmlns:a16="http://schemas.microsoft.com/office/drawing/2014/main" id="{686387BB-26BB-200F-01D7-9FC9EE96A89D}"/>
                    </a:ext>
                  </a:extLst>
                </p:cNvPr>
                <p:cNvSpPr txBox="1"/>
                <p:nvPr/>
              </p:nvSpPr>
              <p:spPr>
                <a:xfrm>
                  <a:off x="9144000" y="1476000"/>
                  <a:ext cx="540000" cy="46923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08" name="文本框 107">
                  <a:extLst>
                    <a:ext uri="{FF2B5EF4-FFF2-40B4-BE49-F238E27FC236}">
                      <a16:creationId xmlns:a16="http://schemas.microsoft.com/office/drawing/2014/main" id="{686387BB-26BB-200F-01D7-9FC9EE96A8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44000" y="1476000"/>
                  <a:ext cx="540000" cy="469231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0" name="直接箭头连接符 109">
              <a:extLst>
                <a:ext uri="{FF2B5EF4-FFF2-40B4-BE49-F238E27FC236}">
                  <a16:creationId xmlns:a16="http://schemas.microsoft.com/office/drawing/2014/main" id="{57D2DD72-BC88-C8F7-57DB-70D11A0D7AF4}"/>
                </a:ext>
              </a:extLst>
            </p:cNvPr>
            <p:cNvCxnSpPr/>
            <p:nvPr/>
          </p:nvCxnSpPr>
          <p:spPr>
            <a:xfrm flipH="1">
              <a:off x="9144000" y="2772000"/>
              <a:ext cx="540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 w="med" len="lg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文本框 114">
                  <a:extLst>
                    <a:ext uri="{FF2B5EF4-FFF2-40B4-BE49-F238E27FC236}">
                      <a16:creationId xmlns:a16="http://schemas.microsoft.com/office/drawing/2014/main" id="{21718618-319B-0BAF-3C97-765BB8F491BC}"/>
                    </a:ext>
                  </a:extLst>
                </p:cNvPr>
                <p:cNvSpPr txBox="1"/>
                <p:nvPr/>
              </p:nvSpPr>
              <p:spPr>
                <a:xfrm>
                  <a:off x="9144000" y="2303999"/>
                  <a:ext cx="540000" cy="4680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15" name="文本框 114">
                  <a:extLst>
                    <a:ext uri="{FF2B5EF4-FFF2-40B4-BE49-F238E27FC236}">
                      <a16:creationId xmlns:a16="http://schemas.microsoft.com/office/drawing/2014/main" id="{21718618-319B-0BAF-3C97-765BB8F491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44000" y="2303999"/>
                  <a:ext cx="540000" cy="468000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0" name="直接箭头连接符 119">
              <a:extLst>
                <a:ext uri="{FF2B5EF4-FFF2-40B4-BE49-F238E27FC236}">
                  <a16:creationId xmlns:a16="http://schemas.microsoft.com/office/drawing/2014/main" id="{16442826-C858-79B5-620E-7AFD90C1773C}"/>
                </a:ext>
              </a:extLst>
            </p:cNvPr>
            <p:cNvCxnSpPr/>
            <p:nvPr/>
          </p:nvCxnSpPr>
          <p:spPr>
            <a:xfrm flipH="1">
              <a:off x="8460000" y="3528000"/>
              <a:ext cx="540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 w="med" len="lg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>
              <a:extLst>
                <a:ext uri="{FF2B5EF4-FFF2-40B4-BE49-F238E27FC236}">
                  <a16:creationId xmlns:a16="http://schemas.microsoft.com/office/drawing/2014/main" id="{46B6D63E-81A0-59ED-492C-4787DB681390}"/>
                </a:ext>
              </a:extLst>
            </p:cNvPr>
            <p:cNvCxnSpPr>
              <a:cxnSpLocks/>
            </p:cNvCxnSpPr>
            <p:nvPr/>
          </p:nvCxnSpPr>
          <p:spPr>
            <a:xfrm>
              <a:off x="8172000" y="3204000"/>
              <a:ext cx="0" cy="432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>
              <a:extLst>
                <a:ext uri="{FF2B5EF4-FFF2-40B4-BE49-F238E27FC236}">
                  <a16:creationId xmlns:a16="http://schemas.microsoft.com/office/drawing/2014/main" id="{2EBC89E4-0ECD-A323-4085-AE2B27E0475A}"/>
                </a:ext>
              </a:extLst>
            </p:cNvPr>
            <p:cNvCxnSpPr>
              <a:cxnSpLocks/>
            </p:cNvCxnSpPr>
            <p:nvPr/>
          </p:nvCxnSpPr>
          <p:spPr>
            <a:xfrm>
              <a:off x="8352000" y="3204000"/>
              <a:ext cx="0" cy="432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文本框 126">
                  <a:extLst>
                    <a:ext uri="{FF2B5EF4-FFF2-40B4-BE49-F238E27FC236}">
                      <a16:creationId xmlns:a16="http://schemas.microsoft.com/office/drawing/2014/main" id="{A7B3D78D-E34D-0633-1A9E-78AB5135AECE}"/>
                    </a:ext>
                  </a:extLst>
                </p:cNvPr>
                <p:cNvSpPr txBox="1"/>
                <p:nvPr/>
              </p:nvSpPr>
              <p:spPr>
                <a:xfrm>
                  <a:off x="7812000" y="2988000"/>
                  <a:ext cx="360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27" name="文本框 126">
                  <a:extLst>
                    <a:ext uri="{FF2B5EF4-FFF2-40B4-BE49-F238E27FC236}">
                      <a16:creationId xmlns:a16="http://schemas.microsoft.com/office/drawing/2014/main" id="{A7B3D78D-E34D-0633-1A9E-78AB5135AE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12000" y="2988000"/>
                  <a:ext cx="360000" cy="430887"/>
                </a:xfrm>
                <a:prstGeom prst="rect">
                  <a:avLst/>
                </a:prstGeom>
                <a:blipFill>
                  <a:blip r:embed="rId3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8" name="文本框 127">
                  <a:extLst>
                    <a:ext uri="{FF2B5EF4-FFF2-40B4-BE49-F238E27FC236}">
                      <a16:creationId xmlns:a16="http://schemas.microsoft.com/office/drawing/2014/main" id="{CAD44059-7DDF-73FE-9E38-40A62E3159A3}"/>
                    </a:ext>
                  </a:extLst>
                </p:cNvPr>
                <p:cNvSpPr txBox="1"/>
                <p:nvPr/>
              </p:nvSpPr>
              <p:spPr>
                <a:xfrm>
                  <a:off x="8082000" y="3636000"/>
                  <a:ext cx="360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28" name="文本框 127">
                  <a:extLst>
                    <a:ext uri="{FF2B5EF4-FFF2-40B4-BE49-F238E27FC236}">
                      <a16:creationId xmlns:a16="http://schemas.microsoft.com/office/drawing/2014/main" id="{CAD44059-7DDF-73FE-9E38-40A62E3159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82000" y="3636000"/>
                  <a:ext cx="360000" cy="430887"/>
                </a:xfrm>
                <a:prstGeom prst="rect">
                  <a:avLst/>
                </a:prstGeom>
                <a:blipFill>
                  <a:blip r:embed="rId3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" name="文本框 132">
                  <a:extLst>
                    <a:ext uri="{FF2B5EF4-FFF2-40B4-BE49-F238E27FC236}">
                      <a16:creationId xmlns:a16="http://schemas.microsoft.com/office/drawing/2014/main" id="{46C9166A-5C95-B243-CD7F-AE4BD81CCCEF}"/>
                    </a:ext>
                  </a:extLst>
                </p:cNvPr>
                <p:cNvSpPr txBox="1"/>
                <p:nvPr/>
              </p:nvSpPr>
              <p:spPr>
                <a:xfrm>
                  <a:off x="8046000" y="2736000"/>
                  <a:ext cx="432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33" name="文本框 132">
                  <a:extLst>
                    <a:ext uri="{FF2B5EF4-FFF2-40B4-BE49-F238E27FC236}">
                      <a16:creationId xmlns:a16="http://schemas.microsoft.com/office/drawing/2014/main" id="{46C9166A-5C95-B243-CD7F-AE4BD81CCC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46000" y="2736000"/>
                  <a:ext cx="432000" cy="430887"/>
                </a:xfrm>
                <a:prstGeom prst="rect">
                  <a:avLst/>
                </a:prstGeom>
                <a:blipFill>
                  <a:blip r:embed="rId3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4" name="文本框 133">
                  <a:extLst>
                    <a:ext uri="{FF2B5EF4-FFF2-40B4-BE49-F238E27FC236}">
                      <a16:creationId xmlns:a16="http://schemas.microsoft.com/office/drawing/2014/main" id="{E5D8787C-576D-FA30-BB98-9984C1521A83}"/>
                    </a:ext>
                  </a:extLst>
                </p:cNvPr>
                <p:cNvSpPr txBox="1"/>
                <p:nvPr/>
              </p:nvSpPr>
              <p:spPr>
                <a:xfrm>
                  <a:off x="8388000" y="2988000"/>
                  <a:ext cx="360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34" name="文本框 133">
                  <a:extLst>
                    <a:ext uri="{FF2B5EF4-FFF2-40B4-BE49-F238E27FC236}">
                      <a16:creationId xmlns:a16="http://schemas.microsoft.com/office/drawing/2014/main" id="{E5D8787C-576D-FA30-BB98-9984C1521A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8000" y="2988000"/>
                  <a:ext cx="360000" cy="430887"/>
                </a:xfrm>
                <a:prstGeom prst="rect">
                  <a:avLst/>
                </a:prstGeom>
                <a:blipFill>
                  <a:blip r:embed="rId4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5" name="直接连接符 134">
              <a:extLst>
                <a:ext uri="{FF2B5EF4-FFF2-40B4-BE49-F238E27FC236}">
                  <a16:creationId xmlns:a16="http://schemas.microsoft.com/office/drawing/2014/main" id="{762EDFC0-DD8C-05BB-FF6D-7C5F5E9CB186}"/>
                </a:ext>
              </a:extLst>
            </p:cNvPr>
            <p:cNvCxnSpPr>
              <a:cxnSpLocks/>
            </p:cNvCxnSpPr>
            <p:nvPr/>
          </p:nvCxnSpPr>
          <p:spPr>
            <a:xfrm>
              <a:off x="7740000" y="3420000"/>
              <a:ext cx="432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6" name="矩形 135">
              <a:extLst>
                <a:ext uri="{FF2B5EF4-FFF2-40B4-BE49-F238E27FC236}">
                  <a16:creationId xmlns:a16="http://schemas.microsoft.com/office/drawing/2014/main" id="{20A20EF9-2BD3-BD8D-20DD-461786F9112A}"/>
                </a:ext>
              </a:extLst>
            </p:cNvPr>
            <p:cNvSpPr/>
            <p:nvPr/>
          </p:nvSpPr>
          <p:spPr>
            <a:xfrm>
              <a:off x="7920000" y="1980000"/>
              <a:ext cx="576000" cy="144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7" name="文本框 136">
                  <a:extLst>
                    <a:ext uri="{FF2B5EF4-FFF2-40B4-BE49-F238E27FC236}">
                      <a16:creationId xmlns:a16="http://schemas.microsoft.com/office/drawing/2014/main" id="{936EF68E-E61D-2A65-98A4-AD39DB501122}"/>
                    </a:ext>
                  </a:extLst>
                </p:cNvPr>
                <p:cNvSpPr txBox="1"/>
                <p:nvPr/>
              </p:nvSpPr>
              <p:spPr>
                <a:xfrm>
                  <a:off x="7919998" y="2124000"/>
                  <a:ext cx="57600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 smtClean="0">
                            <a:latin typeface="Cambria Math" panose="02040503050406030204" pitchFamily="18" charset="0"/>
                          </a:rPr>
                          <m:t>𝑅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37" name="文本框 136">
                  <a:extLst>
                    <a:ext uri="{FF2B5EF4-FFF2-40B4-BE49-F238E27FC236}">
                      <a16:creationId xmlns:a16="http://schemas.microsoft.com/office/drawing/2014/main" id="{936EF68E-E61D-2A65-98A4-AD39DB5011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19998" y="2124000"/>
                  <a:ext cx="576000" cy="430887"/>
                </a:xfrm>
                <a:prstGeom prst="rect">
                  <a:avLst/>
                </a:prstGeom>
                <a:blipFill>
                  <a:blip r:embed="rId4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2697904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FEB142-39A8-3D14-10FB-AE69E3443E4A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作业</a:t>
            </a:r>
            <a:endParaRPr lang="zh-CN" altLang="en-US" sz="3000" dirty="0">
              <a:solidFill>
                <a:srgbClr val="FFFF00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9FFF2CB-1E85-E447-B4FB-B29B0C45C4DC}"/>
              </a:ext>
            </a:extLst>
          </p:cNvPr>
          <p:cNvSpPr txBox="1"/>
          <p:nvPr/>
        </p:nvSpPr>
        <p:spPr>
          <a:xfrm>
            <a:off x="360001" y="828000"/>
            <a:ext cx="4849673" cy="47559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ct val="30000"/>
              </a:spcAft>
              <a:defRPr/>
            </a:pPr>
            <a:r>
              <a:rPr lang="zh-CN" altLang="en-US" sz="2800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电子技术基础（模拟部分）</a:t>
            </a:r>
            <a:endParaRPr lang="en-US" altLang="zh-CN" sz="2800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 </a:t>
            </a:r>
            <a:r>
              <a:rPr lang="zh-CN" altLang="en-US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 </a:t>
            </a: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 </a:t>
            </a:r>
            <a:r>
              <a:rPr lang="zh-CN" altLang="en-US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日的作业</a:t>
            </a:r>
            <a:endParaRPr lang="en-US" altLang="zh-CN" sz="2800" kern="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P44 - 47</a:t>
            </a:r>
            <a:r>
              <a:rPr lang="zh-CN" altLang="en-US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800" kern="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.1， </a:t>
            </a: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  <a:p>
            <a:pPr lvl="1"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 (1)</a:t>
            </a:r>
          </a:p>
          <a:p>
            <a:pPr lvl="1"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2.3.7</a:t>
            </a:r>
          </a:p>
          <a:p>
            <a:pPr lvl="1"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2.4.5</a:t>
            </a:r>
          </a:p>
          <a:p>
            <a:pPr lvl="1"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2.4.7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EFB6558-5C70-A66B-D1AB-C4D99DE218CE}"/>
              </a:ext>
            </a:extLst>
          </p:cNvPr>
          <p:cNvSpPr txBox="1"/>
          <p:nvPr/>
        </p:nvSpPr>
        <p:spPr>
          <a:xfrm>
            <a:off x="6120000" y="828000"/>
            <a:ext cx="4849673" cy="23430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ct val="30000"/>
              </a:spcAft>
              <a:defRPr/>
            </a:pPr>
            <a:r>
              <a:rPr lang="zh-CN" altLang="en-US" sz="2800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电子技术基础（数字部分）</a:t>
            </a:r>
            <a:endParaRPr lang="en-US" altLang="zh-CN" sz="2800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 </a:t>
            </a:r>
            <a:r>
              <a:rPr lang="zh-CN" altLang="en-US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 </a:t>
            </a:r>
            <a:r>
              <a:rPr lang="en-US" altLang="zh-CN" sz="2800" kern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 </a:t>
            </a:r>
            <a:r>
              <a:rPr lang="zh-CN" altLang="en-US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日的作业</a:t>
            </a:r>
            <a:endParaRPr lang="en-US" altLang="zh-CN" sz="2800" kern="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P352</a:t>
            </a:r>
            <a:r>
              <a:rPr lang="zh-CN" altLang="en-US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800" kern="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8415183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43671</TotalTime>
  <Words>1507</Words>
  <Application>Microsoft Office PowerPoint</Application>
  <PresentationFormat>宽屏</PresentationFormat>
  <Paragraphs>420</Paragraphs>
  <Slides>17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4" baseType="lpstr">
      <vt:lpstr>等线</vt:lpstr>
      <vt:lpstr>微软雅黑</vt:lpstr>
      <vt:lpstr>Arial</vt:lpstr>
      <vt:lpstr>Cambria Math</vt:lpstr>
      <vt:lpstr>Candara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Ada Liao</dc:creator>
  <cp:lastModifiedBy>QF</cp:lastModifiedBy>
  <cp:revision>1855</cp:revision>
  <dcterms:created xsi:type="dcterms:W3CDTF">2024-12-23T04:28:42Z</dcterms:created>
  <dcterms:modified xsi:type="dcterms:W3CDTF">2025-12-24T01:37:58Z</dcterms:modified>
</cp:coreProperties>
</file>