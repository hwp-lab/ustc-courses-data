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1354" r:id="rId2"/>
    <p:sldId id="6935" r:id="rId3"/>
    <p:sldId id="6937" r:id="rId4"/>
    <p:sldId id="6938" r:id="rId5"/>
    <p:sldId id="6939" r:id="rId6"/>
    <p:sldId id="6961" r:id="rId7"/>
    <p:sldId id="6962" r:id="rId8"/>
    <p:sldId id="6942" r:id="rId9"/>
    <p:sldId id="6963" r:id="rId10"/>
    <p:sldId id="6944" r:id="rId11"/>
    <p:sldId id="6945" r:id="rId12"/>
    <p:sldId id="6946" r:id="rId13"/>
    <p:sldId id="6947" r:id="rId14"/>
    <p:sldId id="6948" r:id="rId15"/>
    <p:sldId id="6949" r:id="rId16"/>
    <p:sldId id="6950" r:id="rId17"/>
    <p:sldId id="6951" r:id="rId18"/>
    <p:sldId id="6952" r:id="rId19"/>
    <p:sldId id="6960" r:id="rId20"/>
    <p:sldId id="6954" r:id="rId21"/>
    <p:sldId id="6955" r:id="rId22"/>
    <p:sldId id="695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47" autoAdjust="0"/>
    <p:restoredTop sz="83204" autoAdjust="0"/>
  </p:normalViewPr>
  <p:slideViewPr>
    <p:cSldViewPr snapToGrid="0">
      <p:cViewPr>
        <p:scale>
          <a:sx n="75" d="100"/>
          <a:sy n="75" d="100"/>
        </p:scale>
        <p:origin x="-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2982" y="1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逻辑代数，也叫布尔代数，是英国数学家乔治</a:t>
            </a:r>
            <a:r>
              <a:rPr kumimoji="1" lang="en-US" altLang="zh-CN" dirty="0"/>
              <a:t>.</a:t>
            </a:r>
            <a:r>
              <a:rPr kumimoji="1" lang="zh-CN" altLang="en-US" dirty="0"/>
              <a:t>布尔（</a:t>
            </a:r>
            <a:r>
              <a:rPr kumimoji="1" lang="en-US" altLang="zh-CN" dirty="0"/>
              <a:t>George Boole</a:t>
            </a:r>
            <a:r>
              <a:rPr kumimoji="1" lang="zh-CN" altLang="en-US" dirty="0"/>
              <a:t>）于 </a:t>
            </a:r>
            <a:r>
              <a:rPr kumimoji="1" lang="en-US" altLang="zh-CN" dirty="0"/>
              <a:t>1849 </a:t>
            </a:r>
            <a:r>
              <a:rPr kumimoji="1" lang="zh-CN" altLang="en-US"/>
              <a:t>年创立的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逻辑代数由逻辑变量和逻辑运算组成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逻辑变量可用不同的字母表示，比如 </a:t>
            </a:r>
            <a:r>
              <a:rPr kumimoji="1" lang="en-US" altLang="zh-CN" dirty="0"/>
              <a:t>X</a:t>
            </a:r>
            <a:r>
              <a:rPr kumimoji="1" lang="zh-CN" altLang="en-US" dirty="0"/>
              <a:t>、</a:t>
            </a:r>
            <a:r>
              <a:rPr kumimoji="1" lang="en-US" altLang="zh-CN" dirty="0"/>
              <a:t>Y</a:t>
            </a:r>
            <a:r>
              <a:rPr kumimoji="1" lang="zh-CN" altLang="en-US" dirty="0"/>
              <a:t>，但只有两个可取的值，那就是 </a:t>
            </a:r>
            <a:r>
              <a:rPr kumimoji="1" lang="en-US" altLang="zh-CN" dirty="0"/>
              <a:t>0 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1 </a:t>
            </a:r>
            <a:r>
              <a:rPr kumimoji="1" lang="zh-CN" altLang="en-US" dirty="0"/>
              <a:t>，也因此称为二值逻辑变量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逻辑运算与算术运算完全不同，基本逻辑运算有与、或、非三种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运算是一种函数关系，逻辑函数描述了输入和输出逻辑变量之间的关系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数字电路可以用其输入输出的逻辑函数来表达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371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AND</a:t>
            </a:r>
            <a:r>
              <a:rPr lang="zh-CN" altLang="en-US" dirty="0"/>
              <a:t>，与逻辑符号形似 “</a:t>
            </a:r>
            <a:r>
              <a:rPr lang="en-US" altLang="zh-CN" dirty="0"/>
              <a:t>D</a:t>
            </a:r>
            <a:r>
              <a:rPr lang="zh-CN" altLang="en-US" dirty="0"/>
              <a:t>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077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00AD-98F8-F725-EF7D-A6E0CEFE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37E85F-4978-5FE4-2119-8559A1F24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8C076C-EE87-CB0A-C7C1-48474F514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DE6AA3-164C-5880-C3EB-2C5F6A4E2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042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CEED8-3354-75ED-1FC7-7AA3EB25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252E00-7968-7EE7-9391-F2E383F5C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060880-727B-D102-F4A6-3ED5378D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E73559-8F82-51FC-AE42-507785083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94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0099"/>
                </a:solidFill>
              </a:rPr>
              <a:t>先“与”再“或”最后“非”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051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102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093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35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36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37.png"/><Relationship Id="rId9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逻辑代数基础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P28 – 44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71A127C-D027-7BCF-7F63-7196EBE5677E}"/>
              </a:ext>
            </a:extLst>
          </p:cNvPr>
          <p:cNvSpPr txBox="1"/>
          <p:nvPr/>
        </p:nvSpPr>
        <p:spPr>
          <a:xfrm>
            <a:off x="1296000" y="1296000"/>
            <a:ext cx="6120257" cy="3156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逻辑代数和基本逻辑运算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逻辑函数及其表示方法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逻辑代数基本定律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逻辑代数基本规则</a:t>
            </a:r>
            <a:endParaRPr kumimoji="1" lang="zh-CN" altLang="en-US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2FF3-3180-E8C6-EB85-8E0E9A31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CE016B6-11FE-F7BB-8521-E832AD61E2ED}"/>
              </a:ext>
            </a:extLst>
          </p:cNvPr>
          <p:cNvGrpSpPr/>
          <p:nvPr/>
        </p:nvGrpSpPr>
        <p:grpSpPr>
          <a:xfrm>
            <a:off x="10260000" y="720000"/>
            <a:ext cx="1801546" cy="3090502"/>
            <a:chOff x="10051428" y="1337353"/>
            <a:chExt cx="1801546" cy="3090502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D043E1F8-ECCD-CE86-995A-365127E94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1428" y="3781524"/>
              <a:ext cx="180154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 dirty="0"/>
                <a:t>George Boole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 dirty="0"/>
                <a:t>(1815-1864)</a:t>
              </a:r>
              <a:endParaRPr kumimoji="1" lang="zh-CN" altLang="en-US" sz="1800" dirty="0"/>
            </a:p>
          </p:txBody>
        </p:sp>
        <p:pic>
          <p:nvPicPr>
            <p:cNvPr id="5" name="Picture 2" descr="undefined">
              <a:extLst>
                <a:ext uri="{FF2B5EF4-FFF2-40B4-BE49-F238E27FC236}">
                  <a16:creationId xmlns:a16="http://schemas.microsoft.com/office/drawing/2014/main" id="{9DF15CE1-3A29-B939-D5E9-DAB9A62AE0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51428" y="1337353"/>
              <a:ext cx="1801546" cy="24162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C923837D-F6B1-C946-7B6C-D1675D9C6906}"/>
              </a:ext>
            </a:extLst>
          </p:cNvPr>
          <p:cNvSpPr txBox="1"/>
          <p:nvPr/>
        </p:nvSpPr>
        <p:spPr>
          <a:xfrm>
            <a:off x="360000" y="828000"/>
            <a:ext cx="9272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逻辑代数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：也称布尔代数，是研究数字电路的重要工具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095C787-F399-4212-86A2-73FFCB6EB3E2}"/>
              </a:ext>
            </a:extLst>
          </p:cNvPr>
          <p:cNvSpPr txBox="1"/>
          <p:nvPr/>
        </p:nvSpPr>
        <p:spPr>
          <a:xfrm>
            <a:off x="360000" y="1440000"/>
            <a:ext cx="936841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逻辑变量：只有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两种取值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不代表数量大小，而是表示对立的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两种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逻辑状态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A88082-091D-2B58-E83B-D458AD450F90}"/>
              </a:ext>
            </a:extLst>
          </p:cNvPr>
          <p:cNvSpPr txBox="1"/>
          <p:nvPr/>
        </p:nvSpPr>
        <p:spPr>
          <a:xfrm>
            <a:off x="360000" y="2590744"/>
            <a:ext cx="9354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ct val="100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基本逻辑运算：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kumimoji="1"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5823B8B-684A-0B89-66DF-5F0F31154AE7}"/>
              </a:ext>
            </a:extLst>
          </p:cNvPr>
          <p:cNvSpPr txBox="1"/>
          <p:nvPr/>
        </p:nvSpPr>
        <p:spPr>
          <a:xfrm>
            <a:off x="360000" y="3312000"/>
            <a:ext cx="9354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ct val="100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逻辑函数：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描述输入和输出逻辑变量之间的关系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8663EDD-85B3-1927-238D-22F981412BD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6EF303E-299E-F640-BFAD-652F41E999E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6" name="箭头: 五边形 35">
                <a:extLst>
                  <a:ext uri="{FF2B5EF4-FFF2-40B4-BE49-F238E27FC236}">
                    <a16:creationId xmlns:a16="http://schemas.microsoft.com/office/drawing/2014/main" id="{4C02BC86-C141-E817-007B-55BFED74A28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箭头: V 形 36">
                <a:extLst>
                  <a:ext uri="{FF2B5EF4-FFF2-40B4-BE49-F238E27FC236}">
                    <a16:creationId xmlns:a16="http://schemas.microsoft.com/office/drawing/2014/main" id="{6A1FCA30-25AD-7E13-8545-A873EC5F7EC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灯片编号占位符 3">
              <a:extLst>
                <a:ext uri="{FF2B5EF4-FFF2-40B4-BE49-F238E27FC236}">
                  <a16:creationId xmlns:a16="http://schemas.microsoft.com/office/drawing/2014/main" id="{1B2EEDDF-1EB9-ABAC-B5DC-BC2E59306D0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E0E6BC5-F7F8-9B84-9DCF-04671BC01165}"/>
              </a:ext>
            </a:extLst>
          </p:cNvPr>
          <p:cNvGrpSpPr/>
          <p:nvPr/>
        </p:nvGrpSpPr>
        <p:grpSpPr>
          <a:xfrm>
            <a:off x="7020000" y="4320000"/>
            <a:ext cx="3367327" cy="1648007"/>
            <a:chOff x="6262671" y="2039410"/>
            <a:chExt cx="3367327" cy="1648007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0566F2B-E252-4666-46C9-69DF919A4E42}"/>
                </a:ext>
              </a:extLst>
            </p:cNvPr>
            <p:cNvSpPr/>
            <p:nvPr/>
          </p:nvSpPr>
          <p:spPr>
            <a:xfrm>
              <a:off x="7325139" y="2047461"/>
              <a:ext cx="1242391" cy="16399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数字电路</a:t>
              </a:r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6D74A91B-2C0E-E118-9889-96FBDEEDBE23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2305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23E7178F-1F08-DDB4-54A0-32CBD09D87CB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2686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0C1791CA-DB24-6FDE-BCB0-F7C997C03AD7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3429000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E80932D5-DEFC-18A9-D541-1A26F7B03C5F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2289313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EA3F0001-2D01-438C-1811-F6AEEA948380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2686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D41C5DFF-D463-339A-5FC5-433EBE50F298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3429000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51932419-43B2-8128-6C33-363161814A29}"/>
                    </a:ext>
                  </a:extLst>
                </p:cNvPr>
                <p:cNvSpPr txBox="1"/>
                <p:nvPr/>
              </p:nvSpPr>
              <p:spPr>
                <a:xfrm>
                  <a:off x="6262671" y="2039410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3A09EC0-328A-9FE9-2417-A8EDB0557A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2671" y="2039410"/>
                  <a:ext cx="618142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0FA8198-7BC5-03CC-45C2-1BD8BE788B27}"/>
                    </a:ext>
                  </a:extLst>
                </p:cNvPr>
                <p:cNvSpPr txBox="1"/>
                <p:nvPr/>
              </p:nvSpPr>
              <p:spPr>
                <a:xfrm>
                  <a:off x="6262671" y="2455397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D7A661B9-AD28-4CBE-9C99-B8B0C5AFAF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2671" y="2455397"/>
                  <a:ext cx="61814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6EA08AE-7362-D96C-D515-91C673EA5B4D}"/>
                    </a:ext>
                  </a:extLst>
                </p:cNvPr>
                <p:cNvSpPr txBox="1"/>
                <p:nvPr/>
              </p:nvSpPr>
              <p:spPr>
                <a:xfrm>
                  <a:off x="6262671" y="3205728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C19C18B-F242-AEBE-1151-FE9864765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2671" y="3205728"/>
                  <a:ext cx="61814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181D28C-BB2A-F56C-AE96-401AB7A47B93}"/>
                    </a:ext>
                  </a:extLst>
                </p:cNvPr>
                <p:cNvSpPr txBox="1"/>
                <p:nvPr/>
              </p:nvSpPr>
              <p:spPr>
                <a:xfrm>
                  <a:off x="6767590" y="2824729"/>
                  <a:ext cx="61814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3971BE9-FD3D-DE56-F39F-924085CC8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7590" y="2824729"/>
                  <a:ext cx="618142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7A6F36E-DF7F-5017-C53E-64E66700659C}"/>
                    </a:ext>
                  </a:extLst>
                </p:cNvPr>
                <p:cNvSpPr txBox="1"/>
                <p:nvPr/>
              </p:nvSpPr>
              <p:spPr>
                <a:xfrm>
                  <a:off x="8470149" y="2824729"/>
                  <a:ext cx="61814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83296B5-AF23-F118-CA7F-8900F13B5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149" y="2824729"/>
                  <a:ext cx="618142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EE5D518D-F0BD-0D7E-1D53-01C38B6ED059}"/>
                    </a:ext>
                  </a:extLst>
                </p:cNvPr>
                <p:cNvSpPr txBox="1"/>
                <p:nvPr/>
              </p:nvSpPr>
              <p:spPr>
                <a:xfrm>
                  <a:off x="9011856" y="2047461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F270EFF-4CF3-C8F0-7143-ED5C1CEF03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1856" y="2047461"/>
                  <a:ext cx="61814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D75D94E3-B28B-0165-4E0C-18C9675C5D7A}"/>
                    </a:ext>
                  </a:extLst>
                </p:cNvPr>
                <p:cNvSpPr txBox="1"/>
                <p:nvPr/>
              </p:nvSpPr>
              <p:spPr>
                <a:xfrm>
                  <a:off x="9011856" y="2463448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BFB2715-A10F-F14D-C1AF-8FFE156FF5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1856" y="2463448"/>
                  <a:ext cx="618142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8B925430-7E52-F437-8082-5884AB3E917B}"/>
                    </a:ext>
                  </a:extLst>
                </p:cNvPr>
                <p:cNvSpPr txBox="1"/>
                <p:nvPr/>
              </p:nvSpPr>
              <p:spPr>
                <a:xfrm>
                  <a:off x="9011856" y="3213779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8C1AC48-E735-34B3-3C04-F058EFFE6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1856" y="3213779"/>
                  <a:ext cx="61814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B9B4892-5885-620C-AD80-12D5A3CE150D}"/>
                  </a:ext>
                </a:extLst>
              </p:cNvPr>
              <p:cNvSpPr txBox="1"/>
              <p:nvPr/>
            </p:nvSpPr>
            <p:spPr>
              <a:xfrm flipH="1">
                <a:off x="1008000" y="4500000"/>
                <a:ext cx="552605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3200" b="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sz="3200" b="0" dirty="0"/>
                  <a:t>			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⋯,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3200" i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B9B4892-5885-620C-AD80-12D5A3CE1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8000" y="4500000"/>
                <a:ext cx="5526053" cy="107721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>
            <a:extLst>
              <a:ext uri="{FF2B5EF4-FFF2-40B4-BE49-F238E27FC236}">
                <a16:creationId xmlns:a16="http://schemas.microsoft.com/office/drawing/2014/main" id="{7FA8F5D6-F3E1-1276-B13F-3AC7882E69F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逻辑代数和基本逻辑运算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逻辑代数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20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4E0D443-2BCB-A93A-0A7F-3F99932FB2FD}"/>
              </a:ext>
            </a:extLst>
          </p:cNvPr>
          <p:cNvSpPr txBox="1"/>
          <p:nvPr/>
        </p:nvSpPr>
        <p:spPr>
          <a:xfrm>
            <a:off x="359999" y="828000"/>
            <a:ext cx="10920161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三种基本逻辑运算：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与（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或（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非（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与运算（两个自变量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，一个因变量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Aft>
                <a:spcPts val="600"/>
              </a:spcAft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或运算（两个自变量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，一个因变量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lvl="1">
              <a:spcAft>
                <a:spcPts val="600"/>
              </a:spcAft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有一个为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非运算（一个自变量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，一个因变量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Aft>
                <a:spcPts val="600"/>
              </a:spcAft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77C681-652B-CE91-6712-F40162445A04}"/>
              </a:ext>
            </a:extLst>
          </p:cNvPr>
          <p:cNvSpPr txBox="1"/>
          <p:nvPr/>
        </p:nvSpPr>
        <p:spPr>
          <a:xfrm>
            <a:off x="360000" y="4500000"/>
            <a:ext cx="653402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注意点：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运算：将自变量转化为因变量的操作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条件：每个变量只有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两种状态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表达：不能再拆分，简洁为主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B3B930F-BB71-86AE-B894-652ACC1938B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A93094D-DB3B-0E6C-5803-4E9471D044D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C8512A1F-DE9E-9C40-A82B-D5CDA85F8DB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C190B183-A8A7-EE2F-DAFD-CC8176EB706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50D9623B-C985-22BD-47C3-0FB95B5D35E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5D76CC0D-6F22-317B-0DE7-C97CA69AE69C}"/>
              </a:ext>
            </a:extLst>
          </p:cNvPr>
          <p:cNvSpPr txBox="1"/>
          <p:nvPr/>
        </p:nvSpPr>
        <p:spPr>
          <a:xfrm>
            <a:off x="3960000" y="4032000"/>
            <a:ext cx="7916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个以上的自变量可看作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个和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个自变量的若干次组合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15CC2A05-3F15-058C-D2CB-113D4E415A3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逻辑代数和基本逻辑运算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基本逻辑运算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56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415422-ED30-C28D-7FDA-BEDA8CDF3528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6749516" cy="2123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与逻辑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，也称为</a:t>
                </a:r>
                <a:r>
                  <a:rPr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逻辑乘</a:t>
                </a:r>
                <a:endParaRPr lang="en-US" altLang="zh-CN" sz="28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条件全部具备，结果才发生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与逻辑表达式：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415422-ED30-C28D-7FDA-BEDA8CDF3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6749516" cy="2123658"/>
              </a:xfrm>
              <a:prstGeom prst="rect">
                <a:avLst/>
              </a:prstGeom>
              <a:blipFill>
                <a:blip r:embed="rId3"/>
                <a:stretch>
                  <a:fillRect l="-1807" t="-3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12">
            <a:extLst>
              <a:ext uri="{FF2B5EF4-FFF2-40B4-BE49-F238E27FC236}">
                <a16:creationId xmlns:a16="http://schemas.microsoft.com/office/drawing/2014/main" id="{66656785-621D-6B1B-9346-FF44A946A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5856" y="5719968"/>
            <a:ext cx="17653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与逻辑符号</a:t>
            </a:r>
          </a:p>
        </p:txBody>
      </p:sp>
      <p:sp>
        <p:nvSpPr>
          <p:cNvPr id="46" name="Rectangle 80">
            <a:extLst>
              <a:ext uri="{FF2B5EF4-FFF2-40B4-BE49-F238E27FC236}">
                <a16:creationId xmlns:a16="http://schemas.microsoft.com/office/drawing/2014/main" id="{8F1C592E-345E-FD9A-EC18-3FA1E76C1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000" y="3358241"/>
            <a:ext cx="2505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与逻辑真值表</a:t>
            </a:r>
          </a:p>
        </p:txBody>
      </p:sp>
      <p:graphicFrame>
        <p:nvGraphicFramePr>
          <p:cNvPr id="47" name="Group 129">
            <a:extLst>
              <a:ext uri="{FF2B5EF4-FFF2-40B4-BE49-F238E27FC236}">
                <a16:creationId xmlns:a16="http://schemas.microsoft.com/office/drawing/2014/main" id="{01C0CA4B-8B76-590D-4633-4DC18B867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363909"/>
              </p:ext>
            </p:extLst>
          </p:nvPr>
        </p:nvGraphicFramePr>
        <p:xfrm>
          <a:off x="4968000" y="3816000"/>
          <a:ext cx="2505851" cy="2141536"/>
        </p:xfrm>
        <a:graphic>
          <a:graphicData uri="http://schemas.openxmlformats.org/drawingml/2006/table">
            <a:tbl>
              <a:tblPr/>
              <a:tblGrid>
                <a:gridCol w="75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11B9F85A-FCF1-0936-5E74-6A0BAD20B75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F41C01DE-7DEF-434C-7C31-084A082350B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1" name="箭头: 五边形 50">
                <a:extLst>
                  <a:ext uri="{FF2B5EF4-FFF2-40B4-BE49-F238E27FC236}">
                    <a16:creationId xmlns:a16="http://schemas.microsoft.com/office/drawing/2014/main" id="{9E180E4A-0804-5951-F7B2-C3D9D775F04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箭头: V 形 51">
                <a:extLst>
                  <a:ext uri="{FF2B5EF4-FFF2-40B4-BE49-F238E27FC236}">
                    <a16:creationId xmlns:a16="http://schemas.microsoft.com/office/drawing/2014/main" id="{39610715-90F1-3B40-FD25-7C8FEAE41C6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灯片编号占位符 3">
              <a:extLst>
                <a:ext uri="{FF2B5EF4-FFF2-40B4-BE49-F238E27FC236}">
                  <a16:creationId xmlns:a16="http://schemas.microsoft.com/office/drawing/2014/main" id="{546DDF0D-5D92-E5DE-A8B0-DA1B3A8A88D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3" name="Rectangle 81">
            <a:extLst>
              <a:ext uri="{FF2B5EF4-FFF2-40B4-BE49-F238E27FC236}">
                <a16:creationId xmlns:a16="http://schemas.microsoft.com/office/drawing/2014/main" id="{BA767AF1-52A4-551F-38EA-7DAAE5FA6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000" y="2880000"/>
            <a:ext cx="2676879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：开关状态</a:t>
            </a:r>
          </a:p>
          <a:p>
            <a:pPr lvl="1">
              <a:spcAft>
                <a:spcPts val="600"/>
              </a:spcAft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闭合</a:t>
            </a:r>
          </a:p>
          <a:p>
            <a:pPr lvl="1">
              <a:spcAft>
                <a:spcPts val="600"/>
              </a:spcAft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断开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kumimoji="1"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：电灯状态</a:t>
            </a:r>
          </a:p>
          <a:p>
            <a:pPr lvl="1"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点亮</a:t>
            </a:r>
          </a:p>
          <a:p>
            <a:pPr lvl="1"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熄灭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4974E35-86E5-706F-70D8-8F7638221096}"/>
              </a:ext>
            </a:extLst>
          </p:cNvPr>
          <p:cNvGrpSpPr/>
          <p:nvPr/>
        </p:nvGrpSpPr>
        <p:grpSpPr>
          <a:xfrm>
            <a:off x="8640000" y="934430"/>
            <a:ext cx="2701925" cy="1657333"/>
            <a:chOff x="8640000" y="934430"/>
            <a:chExt cx="2701925" cy="1657333"/>
          </a:xfrm>
        </p:grpSpPr>
        <p:sp>
          <p:nvSpPr>
            <p:cNvPr id="6" name="Line 23">
              <a:extLst>
                <a:ext uri="{FF2B5EF4-FFF2-40B4-BE49-F238E27FC236}">
                  <a16:creationId xmlns:a16="http://schemas.microsoft.com/office/drawing/2014/main" id="{3C764D76-3482-4784-4F4B-03573F59C7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9550" y="1518613"/>
              <a:ext cx="5111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Oval 24">
              <a:extLst>
                <a:ext uri="{FF2B5EF4-FFF2-40B4-BE49-F238E27FC236}">
                  <a16:creationId xmlns:a16="http://schemas.microsoft.com/office/drawing/2014/main" id="{26548A5D-208B-B05F-A38E-DA4FFB0B8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0724" y="1475358"/>
              <a:ext cx="900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val 25">
              <a:extLst>
                <a:ext uri="{FF2B5EF4-FFF2-40B4-BE49-F238E27FC236}">
                  <a16:creationId xmlns:a16="http://schemas.microsoft.com/office/drawing/2014/main" id="{3E3FDF65-398B-90CE-DE12-D6A6393BA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6000" y="1476000"/>
              <a:ext cx="900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26">
              <a:extLst>
                <a:ext uri="{FF2B5EF4-FFF2-40B4-BE49-F238E27FC236}">
                  <a16:creationId xmlns:a16="http://schemas.microsoft.com/office/drawing/2014/main" id="{371F068C-65A5-4809-3400-32F058C10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5316" y="1518613"/>
              <a:ext cx="4966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Oval 27">
              <a:extLst>
                <a:ext uri="{FF2B5EF4-FFF2-40B4-BE49-F238E27FC236}">
                  <a16:creationId xmlns:a16="http://schemas.microsoft.com/office/drawing/2014/main" id="{28A2B80F-4B5D-E750-7E7F-CBEE86485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2000" y="1476000"/>
              <a:ext cx="900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Oval 28">
              <a:extLst>
                <a:ext uri="{FF2B5EF4-FFF2-40B4-BE49-F238E27FC236}">
                  <a16:creationId xmlns:a16="http://schemas.microsoft.com/office/drawing/2014/main" id="{D74FBC8B-6DA7-78DE-2055-64EAFEC05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8000" y="1476000"/>
              <a:ext cx="900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29">
              <a:extLst>
                <a:ext uri="{FF2B5EF4-FFF2-40B4-BE49-F238E27FC236}">
                  <a16:creationId xmlns:a16="http://schemas.microsoft.com/office/drawing/2014/main" id="{51B8C939-74A5-96A6-996E-9D06B77AE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8524" y="1518613"/>
              <a:ext cx="3921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30">
              <a:extLst>
                <a:ext uri="{FF2B5EF4-FFF2-40B4-BE49-F238E27FC236}">
                  <a16:creationId xmlns:a16="http://schemas.microsoft.com/office/drawing/2014/main" id="{2060B5A1-AA21-65D4-7D3C-2FF902C65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89525" y="1518613"/>
              <a:ext cx="0" cy="366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31">
              <a:extLst>
                <a:ext uri="{FF2B5EF4-FFF2-40B4-BE49-F238E27FC236}">
                  <a16:creationId xmlns:a16="http://schemas.microsoft.com/office/drawing/2014/main" id="{7F4C659D-A8C1-F79A-198E-F92AF5DFA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89525" y="2194888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32">
              <a:extLst>
                <a:ext uri="{FF2B5EF4-FFF2-40B4-BE49-F238E27FC236}">
                  <a16:creationId xmlns:a16="http://schemas.microsoft.com/office/drawing/2014/main" id="{3D411422-9AA4-0769-2CDA-8CE3E11D0E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49550" y="2585413"/>
              <a:ext cx="23510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33">
              <a:extLst>
                <a:ext uri="{FF2B5EF4-FFF2-40B4-BE49-F238E27FC236}">
                  <a16:creationId xmlns:a16="http://schemas.microsoft.com/office/drawing/2014/main" id="{0340A482-7454-EDBD-A24B-8D753004AA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36925" y="1309063"/>
              <a:ext cx="304800" cy="176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34">
              <a:extLst>
                <a:ext uri="{FF2B5EF4-FFF2-40B4-BE49-F238E27FC236}">
                  <a16:creationId xmlns:a16="http://schemas.microsoft.com/office/drawing/2014/main" id="{BE678E8B-F0B0-7EC1-2B3F-4444879006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16413" y="1309063"/>
              <a:ext cx="304800" cy="176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35">
              <a:extLst>
                <a:ext uri="{FF2B5EF4-FFF2-40B4-BE49-F238E27FC236}">
                  <a16:creationId xmlns:a16="http://schemas.microsoft.com/office/drawing/2014/main" id="{A87ADD88-5A68-216C-29E5-FC66F68EA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3863" y="957600"/>
              <a:ext cx="4159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36">
              <a:extLst>
                <a:ext uri="{FF2B5EF4-FFF2-40B4-BE49-F238E27FC236}">
                  <a16:creationId xmlns:a16="http://schemas.microsoft.com/office/drawing/2014/main" id="{1368165C-F6A4-2597-A604-9878E515F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52888" y="934430"/>
              <a:ext cx="39528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AutoShape 37">
              <a:extLst>
                <a:ext uri="{FF2B5EF4-FFF2-40B4-BE49-F238E27FC236}">
                  <a16:creationId xmlns:a16="http://schemas.microsoft.com/office/drawing/2014/main" id="{5A0F98B5-BB32-03DA-ACBE-16B714DDE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7125" y="1885325"/>
              <a:ext cx="304800" cy="304800"/>
            </a:xfrm>
            <a:prstGeom prst="flowChartSummingJunction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39">
              <a:extLst>
                <a:ext uri="{FF2B5EF4-FFF2-40B4-BE49-F238E27FC236}">
                  <a16:creationId xmlns:a16="http://schemas.microsoft.com/office/drawing/2014/main" id="{21ADD78E-834D-4C56-ABBB-0390833EB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5900" y="1512263"/>
              <a:ext cx="0" cy="5032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40">
              <a:extLst>
                <a:ext uri="{FF2B5EF4-FFF2-40B4-BE49-F238E27FC236}">
                  <a16:creationId xmlns:a16="http://schemas.microsoft.com/office/drawing/2014/main" id="{BCE7113C-28FF-EBC4-C256-3A4204D60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5900" y="2159963"/>
              <a:ext cx="0" cy="431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41">
              <a:extLst>
                <a:ext uri="{FF2B5EF4-FFF2-40B4-BE49-F238E27FC236}">
                  <a16:creationId xmlns:a16="http://schemas.microsoft.com/office/drawing/2014/main" id="{3D6AE9B1-794D-B56D-8BAB-B0B5CE468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0000" y="2015500"/>
              <a:ext cx="43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42">
              <a:extLst>
                <a:ext uri="{FF2B5EF4-FFF2-40B4-BE49-F238E27FC236}">
                  <a16:creationId xmlns:a16="http://schemas.microsoft.com/office/drawing/2014/main" id="{CCEAAE79-D77F-DB3C-67A8-FBC389F6E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1438" y="2159963"/>
              <a:ext cx="288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 Box 123">
              <a:extLst>
                <a:ext uri="{FF2B5EF4-FFF2-40B4-BE49-F238E27FC236}">
                  <a16:creationId xmlns:a16="http://schemas.microsoft.com/office/drawing/2014/main" id="{9453B495-C57F-B34E-7B8E-80A9A5818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0233" y="1787858"/>
              <a:ext cx="38576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Y</a:t>
              </a:r>
              <a:endParaRPr kumimoji="1" lang="en-US" altLang="zh-CN" sz="24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C7D978C6-D92A-6A26-4161-5A3255AD2B2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逻辑代数和基本逻辑运算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与运算（</a:t>
            </a:r>
            <a:r>
              <a:rPr lang="en-US" altLang="zh-CN" sz="3000" dirty="0">
                <a:solidFill>
                  <a:srgbClr val="FFFF00"/>
                </a:solidFill>
              </a:rPr>
              <a:t>AND</a:t>
            </a:r>
            <a:r>
              <a:rPr lang="zh-CN" altLang="en-US" sz="3000" dirty="0">
                <a:solidFill>
                  <a:srgbClr val="FFFF00"/>
                </a:solidFill>
              </a:rPr>
              <a:t>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550B52E2-6610-F251-28E9-21FF32158CFE}"/>
              </a:ext>
            </a:extLst>
          </p:cNvPr>
          <p:cNvGrpSpPr/>
          <p:nvPr/>
        </p:nvGrpSpPr>
        <p:grpSpPr>
          <a:xfrm>
            <a:off x="1080000" y="3815441"/>
            <a:ext cx="2112763" cy="715148"/>
            <a:chOff x="1080000" y="3815441"/>
            <a:chExt cx="2112763" cy="715148"/>
          </a:xfrm>
        </p:grpSpPr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DA43D37D-FA60-BC18-0FD9-10AD55520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699" y="4170444"/>
              <a:ext cx="9690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7">
              <a:extLst>
                <a:ext uri="{FF2B5EF4-FFF2-40B4-BE49-F238E27FC236}">
                  <a16:creationId xmlns:a16="http://schemas.microsoft.com/office/drawing/2014/main" id="{A3FB3AAC-6731-3545-629C-42F5D3300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247" y="3995198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8">
              <a:extLst>
                <a:ext uri="{FF2B5EF4-FFF2-40B4-BE49-F238E27FC236}">
                  <a16:creationId xmlns:a16="http://schemas.microsoft.com/office/drawing/2014/main" id="{A6387DCF-F2E6-1B11-3794-42447069B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048" y="4355198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AutoShape 11">
              <a:extLst>
                <a:ext uri="{FF2B5EF4-FFF2-40B4-BE49-F238E27FC236}">
                  <a16:creationId xmlns:a16="http://schemas.microsoft.com/office/drawing/2014/main" id="{301462AF-7479-4686-62C2-126CE0863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698" y="3861006"/>
              <a:ext cx="561975" cy="617538"/>
            </a:xfrm>
            <a:prstGeom prst="flowChartDelay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5">
              <a:extLst>
                <a:ext uri="{FF2B5EF4-FFF2-40B4-BE49-F238E27FC236}">
                  <a16:creationId xmlns:a16="http://schemas.microsoft.com/office/drawing/2014/main" id="{CB066B22-226A-1BFA-EB93-276F913B5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3815441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5">
              <a:extLst>
                <a:ext uri="{FF2B5EF4-FFF2-40B4-BE49-F238E27FC236}">
                  <a16:creationId xmlns:a16="http://schemas.microsoft.com/office/drawing/2014/main" id="{60017AD5-6BAE-A567-4106-F7865723B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419819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5">
              <a:extLst>
                <a:ext uri="{FF2B5EF4-FFF2-40B4-BE49-F238E27FC236}">
                  <a16:creationId xmlns:a16="http://schemas.microsoft.com/office/drawing/2014/main" id="{D070477D-7005-9AD9-6A93-21EE2C237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719" y="4004859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FFDA0B96-56FD-6014-4F4F-06C9DA64D439}"/>
              </a:ext>
            </a:extLst>
          </p:cNvPr>
          <p:cNvGrpSpPr/>
          <p:nvPr/>
        </p:nvGrpSpPr>
        <p:grpSpPr>
          <a:xfrm>
            <a:off x="1080000" y="4788000"/>
            <a:ext cx="2112763" cy="715148"/>
            <a:chOff x="1080000" y="4788000"/>
            <a:chExt cx="2112763" cy="715148"/>
          </a:xfrm>
        </p:grpSpPr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6EE4206B-FDCB-1009-4BCD-0E34054D9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699" y="5143003"/>
              <a:ext cx="9690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7">
              <a:extLst>
                <a:ext uri="{FF2B5EF4-FFF2-40B4-BE49-F238E27FC236}">
                  <a16:creationId xmlns:a16="http://schemas.microsoft.com/office/drawing/2014/main" id="{D9249E98-8BFA-0FC5-2E7C-BD7D71788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247" y="4967757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8">
              <a:extLst>
                <a:ext uri="{FF2B5EF4-FFF2-40B4-BE49-F238E27FC236}">
                  <a16:creationId xmlns:a16="http://schemas.microsoft.com/office/drawing/2014/main" id="{3A11383F-342C-5F38-82CE-10A9C87E7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048" y="5327757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Text Box 5">
              <a:extLst>
                <a:ext uri="{FF2B5EF4-FFF2-40B4-BE49-F238E27FC236}">
                  <a16:creationId xmlns:a16="http://schemas.microsoft.com/office/drawing/2014/main" id="{295EBF35-5AA3-21AC-46B6-714E06D0E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47880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 Box 5">
              <a:extLst>
                <a:ext uri="{FF2B5EF4-FFF2-40B4-BE49-F238E27FC236}">
                  <a16:creationId xmlns:a16="http://schemas.microsoft.com/office/drawing/2014/main" id="{D8D365B6-8A49-DCE5-5226-A8073FB89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5170749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Text Box 5">
              <a:extLst>
                <a:ext uri="{FF2B5EF4-FFF2-40B4-BE49-F238E27FC236}">
                  <a16:creationId xmlns:a16="http://schemas.microsoft.com/office/drawing/2014/main" id="{9BBFD94A-5960-E551-A131-29B2A26B7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719" y="4977418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20">
              <a:extLst>
                <a:ext uri="{FF2B5EF4-FFF2-40B4-BE49-F238E27FC236}">
                  <a16:creationId xmlns:a16="http://schemas.microsoft.com/office/drawing/2014/main" id="{7164E776-A3CF-CE5B-00B7-02D88A444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103" y="4789115"/>
              <a:ext cx="571164" cy="70643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Text Box 19">
              <a:extLst>
                <a:ext uri="{FF2B5EF4-FFF2-40B4-BE49-F238E27FC236}">
                  <a16:creationId xmlns:a16="http://schemas.microsoft.com/office/drawing/2014/main" id="{17155BE5-C506-A0E4-23D4-A4A35A267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2103" y="4845332"/>
              <a:ext cx="57116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751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6ACD-9F4E-B30C-21CB-4256AED4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D66D822-4E58-E7C4-D42B-788D8F6A6E5B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6749516" cy="2046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或逻辑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，也称为</a:t>
                </a:r>
                <a:r>
                  <a:rPr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逻辑加</a:t>
                </a:r>
                <a:endParaRPr lang="en-US" altLang="zh-CN" sz="28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条件之一具备，结果就发生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或逻辑表达式：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D66D822-4E58-E7C4-D42B-788D8F6A6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6749516" cy="2046714"/>
              </a:xfrm>
              <a:prstGeom prst="rect">
                <a:avLst/>
              </a:prstGeom>
              <a:blipFill>
                <a:blip r:embed="rId3"/>
                <a:stretch>
                  <a:fillRect l="-1807" t="-3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12">
            <a:extLst>
              <a:ext uri="{FF2B5EF4-FFF2-40B4-BE49-F238E27FC236}">
                <a16:creationId xmlns:a16="http://schemas.microsoft.com/office/drawing/2014/main" id="{3967D6DF-6D73-03E7-6A10-2C143B4F2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5856" y="5719968"/>
            <a:ext cx="17653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或逻辑符号</a:t>
            </a:r>
          </a:p>
        </p:txBody>
      </p:sp>
      <p:sp>
        <p:nvSpPr>
          <p:cNvPr id="46" name="Rectangle 80">
            <a:extLst>
              <a:ext uri="{FF2B5EF4-FFF2-40B4-BE49-F238E27FC236}">
                <a16:creationId xmlns:a16="http://schemas.microsoft.com/office/drawing/2014/main" id="{11632D26-DCAC-784E-9792-0E7B1883C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000" y="3358241"/>
            <a:ext cx="2505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或逻辑真值表</a:t>
            </a:r>
          </a:p>
        </p:txBody>
      </p:sp>
      <p:graphicFrame>
        <p:nvGraphicFramePr>
          <p:cNvPr id="47" name="Group 129">
            <a:extLst>
              <a:ext uri="{FF2B5EF4-FFF2-40B4-BE49-F238E27FC236}">
                <a16:creationId xmlns:a16="http://schemas.microsoft.com/office/drawing/2014/main" id="{710FFF3B-75A5-1605-2673-9F5EA15F0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811532"/>
              </p:ext>
            </p:extLst>
          </p:nvPr>
        </p:nvGraphicFramePr>
        <p:xfrm>
          <a:off x="4968000" y="3816000"/>
          <a:ext cx="2505851" cy="2141536"/>
        </p:xfrm>
        <a:graphic>
          <a:graphicData uri="http://schemas.openxmlformats.org/drawingml/2006/table">
            <a:tbl>
              <a:tblPr/>
              <a:tblGrid>
                <a:gridCol w="75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9A5FA4A4-114A-2F7D-A8CC-DAEBE3F00FC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609F0F2F-E631-8A47-AB08-91A0CECE0BC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1" name="箭头: 五边形 50">
                <a:extLst>
                  <a:ext uri="{FF2B5EF4-FFF2-40B4-BE49-F238E27FC236}">
                    <a16:creationId xmlns:a16="http://schemas.microsoft.com/office/drawing/2014/main" id="{3A6AB41B-83D1-5A44-7D3F-370AE42369D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箭头: V 形 51">
                <a:extLst>
                  <a:ext uri="{FF2B5EF4-FFF2-40B4-BE49-F238E27FC236}">
                    <a16:creationId xmlns:a16="http://schemas.microsoft.com/office/drawing/2014/main" id="{5A4682BA-9EAB-489A-B63B-9DBA8FD46EE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灯片编号占位符 3">
              <a:extLst>
                <a:ext uri="{FF2B5EF4-FFF2-40B4-BE49-F238E27FC236}">
                  <a16:creationId xmlns:a16="http://schemas.microsoft.com/office/drawing/2014/main" id="{B0F5CD86-FDE4-F9FB-76E8-8B48783DB9F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3" name="Rectangle 81">
            <a:extLst>
              <a:ext uri="{FF2B5EF4-FFF2-40B4-BE49-F238E27FC236}">
                <a16:creationId xmlns:a16="http://schemas.microsoft.com/office/drawing/2014/main" id="{98398981-C61B-D2A4-8BBF-F9BA80609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000" y="2880000"/>
            <a:ext cx="2676879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：开关状态</a:t>
            </a:r>
          </a:p>
          <a:p>
            <a:pPr lvl="1">
              <a:spcAft>
                <a:spcPts val="600"/>
              </a:spcAft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闭合</a:t>
            </a:r>
          </a:p>
          <a:p>
            <a:pPr lvl="1">
              <a:spcAft>
                <a:spcPts val="600"/>
              </a:spcAft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断开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kumimoji="1"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：电灯状态</a:t>
            </a:r>
          </a:p>
          <a:p>
            <a:pPr lvl="1"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点亮</a:t>
            </a:r>
          </a:p>
          <a:p>
            <a:pPr lvl="1"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熄灭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EA45C1F-4B25-2E81-FC22-2B09C0CAC4E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逻辑代数和基本逻辑运算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或运算（</a:t>
            </a:r>
            <a:r>
              <a:rPr lang="en-US" altLang="zh-CN" sz="3000" dirty="0">
                <a:solidFill>
                  <a:srgbClr val="FFFF00"/>
                </a:solidFill>
              </a:rPr>
              <a:t>OR</a:t>
            </a:r>
            <a:r>
              <a:rPr lang="zh-CN" altLang="en-US" sz="3000" dirty="0">
                <a:solidFill>
                  <a:srgbClr val="FFFF00"/>
                </a:solidFill>
              </a:rPr>
              <a:t>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71F162EA-E8E4-9BA5-5C41-E60EAA7153A1}"/>
              </a:ext>
            </a:extLst>
          </p:cNvPr>
          <p:cNvGrpSpPr/>
          <p:nvPr/>
        </p:nvGrpSpPr>
        <p:grpSpPr>
          <a:xfrm>
            <a:off x="1080000" y="4788000"/>
            <a:ext cx="2112763" cy="715148"/>
            <a:chOff x="1080000" y="4788000"/>
            <a:chExt cx="2112763" cy="715148"/>
          </a:xfrm>
        </p:grpSpPr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E6E1CA74-D388-C521-ED25-5A699908A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699" y="5143003"/>
              <a:ext cx="9690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7">
              <a:extLst>
                <a:ext uri="{FF2B5EF4-FFF2-40B4-BE49-F238E27FC236}">
                  <a16:creationId xmlns:a16="http://schemas.microsoft.com/office/drawing/2014/main" id="{2361C5E8-9FD0-7D7B-4E5C-EE92A5A73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247" y="4967757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8">
              <a:extLst>
                <a:ext uri="{FF2B5EF4-FFF2-40B4-BE49-F238E27FC236}">
                  <a16:creationId xmlns:a16="http://schemas.microsoft.com/office/drawing/2014/main" id="{6F607CE6-6CFD-E8F4-00A9-65F14299FD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048" y="5327757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Text Box 5">
              <a:extLst>
                <a:ext uri="{FF2B5EF4-FFF2-40B4-BE49-F238E27FC236}">
                  <a16:creationId xmlns:a16="http://schemas.microsoft.com/office/drawing/2014/main" id="{B27F26CA-39ED-4862-57CC-688044E7B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47880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 Box 5">
              <a:extLst>
                <a:ext uri="{FF2B5EF4-FFF2-40B4-BE49-F238E27FC236}">
                  <a16:creationId xmlns:a16="http://schemas.microsoft.com/office/drawing/2014/main" id="{ADC78B84-C941-DDF7-2CA3-75479064A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5170749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Text Box 5">
              <a:extLst>
                <a:ext uri="{FF2B5EF4-FFF2-40B4-BE49-F238E27FC236}">
                  <a16:creationId xmlns:a16="http://schemas.microsoft.com/office/drawing/2014/main" id="{F53AFDC9-481B-CB14-7E4E-A84744E08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719" y="4977418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20">
              <a:extLst>
                <a:ext uri="{FF2B5EF4-FFF2-40B4-BE49-F238E27FC236}">
                  <a16:creationId xmlns:a16="http://schemas.microsoft.com/office/drawing/2014/main" id="{2C886068-DF07-DB26-E756-1FBD2741F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103" y="4789115"/>
              <a:ext cx="571164" cy="70643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Text Box 19">
              <a:extLst>
                <a:ext uri="{FF2B5EF4-FFF2-40B4-BE49-F238E27FC236}">
                  <a16:creationId xmlns:a16="http://schemas.microsoft.com/office/drawing/2014/main" id="{D0332D1F-6F1F-B9FA-AA34-01A851DA3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2103" y="4845332"/>
              <a:ext cx="57116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kumimoji="1" lang="en-US" altLang="zh-CN" sz="2400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≥1</a:t>
              </a:r>
              <a:endPara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21D037DB-5F10-2D88-BFB0-CE4E03E80C17}"/>
              </a:ext>
            </a:extLst>
          </p:cNvPr>
          <p:cNvGrpSpPr/>
          <p:nvPr/>
        </p:nvGrpSpPr>
        <p:grpSpPr>
          <a:xfrm>
            <a:off x="1080000" y="3815441"/>
            <a:ext cx="2112763" cy="715148"/>
            <a:chOff x="1080000" y="3815441"/>
            <a:chExt cx="2112763" cy="715148"/>
          </a:xfrm>
        </p:grpSpPr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6555132A-F5CF-0505-F5DE-B64B44E08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267" y="4170444"/>
              <a:ext cx="4024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7">
              <a:extLst>
                <a:ext uri="{FF2B5EF4-FFF2-40B4-BE49-F238E27FC236}">
                  <a16:creationId xmlns:a16="http://schemas.microsoft.com/office/drawing/2014/main" id="{A7EB91F5-B9B7-2C2C-73D2-E273CD96C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247" y="3995198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8">
              <a:extLst>
                <a:ext uri="{FF2B5EF4-FFF2-40B4-BE49-F238E27FC236}">
                  <a16:creationId xmlns:a16="http://schemas.microsoft.com/office/drawing/2014/main" id="{BAF1A055-26D7-AEFF-AAE5-1A34C5017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048" y="4355198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5">
              <a:extLst>
                <a:ext uri="{FF2B5EF4-FFF2-40B4-BE49-F238E27FC236}">
                  <a16:creationId xmlns:a16="http://schemas.microsoft.com/office/drawing/2014/main" id="{B74CF925-EA62-B5B8-E181-27C9581F1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3815441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5">
              <a:extLst>
                <a:ext uri="{FF2B5EF4-FFF2-40B4-BE49-F238E27FC236}">
                  <a16:creationId xmlns:a16="http://schemas.microsoft.com/office/drawing/2014/main" id="{E115C8F0-A771-9274-5080-DC0A79278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419819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5">
              <a:extLst>
                <a:ext uri="{FF2B5EF4-FFF2-40B4-BE49-F238E27FC236}">
                  <a16:creationId xmlns:a16="http://schemas.microsoft.com/office/drawing/2014/main" id="{A50BC235-CD22-AD77-9996-CD4AD2DEE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719" y="4004859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Arc 158">
              <a:extLst>
                <a:ext uri="{FF2B5EF4-FFF2-40B4-BE49-F238E27FC236}">
                  <a16:creationId xmlns:a16="http://schemas.microsoft.com/office/drawing/2014/main" id="{6E81D28E-CDDC-4345-FC4E-3DC39841DC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214927" y="3731462"/>
              <a:ext cx="606310" cy="87616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4" name="Line 160">
              <a:extLst>
                <a:ext uri="{FF2B5EF4-FFF2-40B4-BE49-F238E27FC236}">
                  <a16:creationId xmlns:a16="http://schemas.microsoft.com/office/drawing/2014/main" id="{173986FA-10DA-66D0-77DF-4B893D8401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5186" y="3860730"/>
              <a:ext cx="2699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7" name="Arc 156">
              <a:extLst>
                <a:ext uri="{FF2B5EF4-FFF2-40B4-BE49-F238E27FC236}">
                  <a16:creationId xmlns:a16="http://schemas.microsoft.com/office/drawing/2014/main" id="{74EA3399-ABDC-C4D9-4770-C405F376F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160" y="3861118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8" name="Line 160">
              <a:extLst>
                <a:ext uri="{FF2B5EF4-FFF2-40B4-BE49-F238E27FC236}">
                  <a16:creationId xmlns:a16="http://schemas.microsoft.com/office/drawing/2014/main" id="{D587B8FC-6A4B-A889-34F4-2D27431B14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25186" y="4477528"/>
              <a:ext cx="2699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9" name="Arc 156">
              <a:extLst>
                <a:ext uri="{FF2B5EF4-FFF2-40B4-BE49-F238E27FC236}">
                  <a16:creationId xmlns:a16="http://schemas.microsoft.com/office/drawing/2014/main" id="{7C61F081-7B5F-C731-F18F-E880E797A67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93160" y="3891424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82" name="Line 113">
            <a:extLst>
              <a:ext uri="{FF2B5EF4-FFF2-40B4-BE49-F238E27FC236}">
                <a16:creationId xmlns:a16="http://schemas.microsoft.com/office/drawing/2014/main" id="{A5C50D9C-DAE8-5AFE-41A3-000599293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1228" y="1518613"/>
            <a:ext cx="55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Line 114">
            <a:extLst>
              <a:ext uri="{FF2B5EF4-FFF2-40B4-BE49-F238E27FC236}">
                <a16:creationId xmlns:a16="http://schemas.microsoft.com/office/drawing/2014/main" id="{004E2453-C6F8-840A-8D88-8DE280A08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29242" y="1518613"/>
            <a:ext cx="4619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4" name="Line 115">
            <a:extLst>
              <a:ext uri="{FF2B5EF4-FFF2-40B4-BE49-F238E27FC236}">
                <a16:creationId xmlns:a16="http://schemas.microsoft.com/office/drawing/2014/main" id="{88E202ED-361D-5D11-0A98-4985E2048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91204" y="1518613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5" name="Line 116">
            <a:extLst>
              <a:ext uri="{FF2B5EF4-FFF2-40B4-BE49-F238E27FC236}">
                <a16:creationId xmlns:a16="http://schemas.microsoft.com/office/drawing/2014/main" id="{B7A56890-00CE-E14E-DEF9-80DDFDDB3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91204" y="219488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6" name="Line 117">
            <a:extLst>
              <a:ext uri="{FF2B5EF4-FFF2-40B4-BE49-F238E27FC236}">
                <a16:creationId xmlns:a16="http://schemas.microsoft.com/office/drawing/2014/main" id="{8CE1CE66-29AC-8149-8151-B4520556C6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51229" y="2585413"/>
            <a:ext cx="2351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Line 124">
            <a:extLst>
              <a:ext uri="{FF2B5EF4-FFF2-40B4-BE49-F238E27FC236}">
                <a16:creationId xmlns:a16="http://schemas.microsoft.com/office/drawing/2014/main" id="{5C389477-0C7F-8E69-B153-1C0FCC935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7579" y="1512263"/>
            <a:ext cx="0" cy="503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1" name="Line 125">
            <a:extLst>
              <a:ext uri="{FF2B5EF4-FFF2-40B4-BE49-F238E27FC236}">
                <a16:creationId xmlns:a16="http://schemas.microsoft.com/office/drawing/2014/main" id="{6C1145BC-B816-F695-1D12-AFAED16B18C8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7579" y="2159963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Text Box 128">
            <a:extLst>
              <a:ext uri="{FF2B5EF4-FFF2-40B4-BE49-F238E27FC236}">
                <a16:creationId xmlns:a16="http://schemas.microsoft.com/office/drawing/2014/main" id="{764F6C79-09D1-9C00-E0B4-8156B951D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4042" y="68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kumimoji="1" lang="en-US" altLang="zh-CN" sz="2400" baseline="-25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Line 129">
            <a:extLst>
              <a:ext uri="{FF2B5EF4-FFF2-40B4-BE49-F238E27FC236}">
                <a16:creationId xmlns:a16="http://schemas.microsoft.com/office/drawing/2014/main" id="{B5CA7E06-9012-F43A-4BF5-14B3BA5F2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3679" y="1155075"/>
            <a:ext cx="0" cy="677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Line 134">
            <a:extLst>
              <a:ext uri="{FF2B5EF4-FFF2-40B4-BE49-F238E27FC236}">
                <a16:creationId xmlns:a16="http://schemas.microsoft.com/office/drawing/2014/main" id="{DC6F8A39-6458-E570-9E00-7CFCCA7AC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28643" y="1155075"/>
            <a:ext cx="0" cy="677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" name="Text Box 135">
            <a:extLst>
              <a:ext uri="{FF2B5EF4-FFF2-40B4-BE49-F238E27FC236}">
                <a16:creationId xmlns:a16="http://schemas.microsoft.com/office/drawing/2014/main" id="{FC1D1D44-2199-55DB-A893-F0D74E90F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3200" y="1351925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endParaRPr kumimoji="1" lang="en-US" altLang="zh-CN" sz="2400" baseline="-25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2" name="AutoShape 37">
            <a:extLst>
              <a:ext uri="{FF2B5EF4-FFF2-40B4-BE49-F238E27FC236}">
                <a16:creationId xmlns:a16="http://schemas.microsoft.com/office/drawing/2014/main" id="{9DE43B3A-23B7-50F6-145D-4445F4473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7125" y="1885325"/>
            <a:ext cx="304800" cy="304800"/>
          </a:xfrm>
          <a:prstGeom prst="flowChartSummingJunction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Text Box 123">
            <a:extLst>
              <a:ext uri="{FF2B5EF4-FFF2-40B4-BE49-F238E27FC236}">
                <a16:creationId xmlns:a16="http://schemas.microsoft.com/office/drawing/2014/main" id="{2D0915B0-7CA4-4519-CA38-314EC5127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0233" y="1787858"/>
            <a:ext cx="38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endParaRPr kumimoji="1" lang="en-US" altLang="zh-CN" sz="2400" baseline="-25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5" name="Line 41">
            <a:extLst>
              <a:ext uri="{FF2B5EF4-FFF2-40B4-BE49-F238E27FC236}">
                <a16:creationId xmlns:a16="http://schemas.microsoft.com/office/drawing/2014/main" id="{CEFFC459-EE79-717A-B259-47B3AB7F5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0000" y="20155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Line 42">
            <a:extLst>
              <a:ext uri="{FF2B5EF4-FFF2-40B4-BE49-F238E27FC236}">
                <a16:creationId xmlns:a16="http://schemas.microsoft.com/office/drawing/2014/main" id="{7C50B17D-F44B-F6A1-A380-B9E6C606A7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1438" y="2159963"/>
            <a:ext cx="2889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Line 23">
            <a:extLst>
              <a:ext uri="{FF2B5EF4-FFF2-40B4-BE49-F238E27FC236}">
                <a16:creationId xmlns:a16="http://schemas.microsoft.com/office/drawing/2014/main" id="{4FFD8CAF-ACEC-1108-1A51-84F6A8159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3679" y="1152955"/>
            <a:ext cx="42068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val 24">
            <a:extLst>
              <a:ext uri="{FF2B5EF4-FFF2-40B4-BE49-F238E27FC236}">
                <a16:creationId xmlns:a16="http://schemas.microsoft.com/office/drawing/2014/main" id="{18CFCBC4-D400-49FE-D75B-F401C82B0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4367" y="1109700"/>
            <a:ext cx="900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val 25">
            <a:extLst>
              <a:ext uri="{FF2B5EF4-FFF2-40B4-BE49-F238E27FC236}">
                <a16:creationId xmlns:a16="http://schemas.microsoft.com/office/drawing/2014/main" id="{35C54094-1A30-D0DF-7E1F-D8D26A028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9643" y="1110342"/>
            <a:ext cx="900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26">
            <a:extLst>
              <a:ext uri="{FF2B5EF4-FFF2-40B4-BE49-F238E27FC236}">
                <a16:creationId xmlns:a16="http://schemas.microsoft.com/office/drawing/2014/main" id="{0C0AF1C1-F285-6A81-4530-1D386E2D9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98959" y="1152955"/>
            <a:ext cx="43028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33">
            <a:extLst>
              <a:ext uri="{FF2B5EF4-FFF2-40B4-BE49-F238E27FC236}">
                <a16:creationId xmlns:a16="http://schemas.microsoft.com/office/drawing/2014/main" id="{18E3B4AD-59CC-3F24-D1DD-71B655DE62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0568" y="943405"/>
            <a:ext cx="304800" cy="1762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23">
            <a:extLst>
              <a:ext uri="{FF2B5EF4-FFF2-40B4-BE49-F238E27FC236}">
                <a16:creationId xmlns:a16="http://schemas.microsoft.com/office/drawing/2014/main" id="{A0259111-F83F-9FA2-DB68-65F655D4094A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2538" y="1831350"/>
            <a:ext cx="42068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24">
            <a:extLst>
              <a:ext uri="{FF2B5EF4-FFF2-40B4-BE49-F238E27FC236}">
                <a16:creationId xmlns:a16="http://schemas.microsoft.com/office/drawing/2014/main" id="{3227057C-568F-FBE3-0343-AFD4A89A2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3226" y="1788095"/>
            <a:ext cx="900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val 25">
            <a:extLst>
              <a:ext uri="{FF2B5EF4-FFF2-40B4-BE49-F238E27FC236}">
                <a16:creationId xmlns:a16="http://schemas.microsoft.com/office/drawing/2014/main" id="{05D0CECC-7BE4-97F3-0B5E-744CA72B6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8502" y="1788737"/>
            <a:ext cx="900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26">
            <a:extLst>
              <a:ext uri="{FF2B5EF4-FFF2-40B4-BE49-F238E27FC236}">
                <a16:creationId xmlns:a16="http://schemas.microsoft.com/office/drawing/2014/main" id="{D29FB742-3F8F-B77A-B2CA-4FB3ED81D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97818" y="1831350"/>
            <a:ext cx="43142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33">
            <a:extLst>
              <a:ext uri="{FF2B5EF4-FFF2-40B4-BE49-F238E27FC236}">
                <a16:creationId xmlns:a16="http://schemas.microsoft.com/office/drawing/2014/main" id="{DE8EC506-CD2F-355D-1B57-B04FFE79A2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99427" y="1621800"/>
            <a:ext cx="304800" cy="1762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093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FBC96-CA89-C988-E480-4C8E19B8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D08824-EE4A-46C1-3EC2-320C68BB2C41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8204792" cy="2046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非逻辑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，也称为</a:t>
                </a:r>
                <a:r>
                  <a:rPr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逻辑反</a:t>
                </a:r>
                <a:endParaRPr lang="en-US" altLang="zh-CN" sz="28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条件具备，结果不发生；条件不具备，结果发生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非逻辑表达式：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D08824-EE4A-46C1-3EC2-320C68BB2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8204792" cy="2046714"/>
              </a:xfrm>
              <a:prstGeom prst="rect">
                <a:avLst/>
              </a:prstGeom>
              <a:blipFill>
                <a:blip r:embed="rId3"/>
                <a:stretch>
                  <a:fillRect l="-1486" t="-3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12">
            <a:extLst>
              <a:ext uri="{FF2B5EF4-FFF2-40B4-BE49-F238E27FC236}">
                <a16:creationId xmlns:a16="http://schemas.microsoft.com/office/drawing/2014/main" id="{08FDF657-5622-F8E6-77D6-39AB68296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5856" y="5719968"/>
            <a:ext cx="17653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非逻辑符号</a:t>
            </a:r>
          </a:p>
        </p:txBody>
      </p:sp>
      <p:sp>
        <p:nvSpPr>
          <p:cNvPr id="46" name="Rectangle 80">
            <a:extLst>
              <a:ext uri="{FF2B5EF4-FFF2-40B4-BE49-F238E27FC236}">
                <a16:creationId xmlns:a16="http://schemas.microsoft.com/office/drawing/2014/main" id="{690962DC-216D-86B9-1B5B-7DFBD3D53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000" y="3358241"/>
            <a:ext cx="2505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非逻辑真值表</a:t>
            </a:r>
          </a:p>
        </p:txBody>
      </p:sp>
      <p:graphicFrame>
        <p:nvGraphicFramePr>
          <p:cNvPr id="47" name="Group 129">
            <a:extLst>
              <a:ext uri="{FF2B5EF4-FFF2-40B4-BE49-F238E27FC236}">
                <a16:creationId xmlns:a16="http://schemas.microsoft.com/office/drawing/2014/main" id="{14C05B64-7E4C-96E3-1F8A-C98E8F1E1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578790"/>
              </p:ext>
            </p:extLst>
          </p:nvPr>
        </p:nvGraphicFramePr>
        <p:xfrm>
          <a:off x="4968000" y="3816000"/>
          <a:ext cx="2505851" cy="1338882"/>
        </p:xfrm>
        <a:graphic>
          <a:graphicData uri="http://schemas.openxmlformats.org/drawingml/2006/table">
            <a:tbl>
              <a:tblPr/>
              <a:tblGrid>
                <a:gridCol w="146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6B04FC9B-104C-B778-60FC-3A53A00610A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1B498E1C-CB5C-8290-B231-3E3746A1814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1" name="箭头: 五边形 50">
                <a:extLst>
                  <a:ext uri="{FF2B5EF4-FFF2-40B4-BE49-F238E27FC236}">
                    <a16:creationId xmlns:a16="http://schemas.microsoft.com/office/drawing/2014/main" id="{1916DFBF-CD36-1407-8833-FF6B5C79A2B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箭头: V 形 51">
                <a:extLst>
                  <a:ext uri="{FF2B5EF4-FFF2-40B4-BE49-F238E27FC236}">
                    <a16:creationId xmlns:a16="http://schemas.microsoft.com/office/drawing/2014/main" id="{9443FFB7-405D-2B1B-2E83-EE7EEBD6D0E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灯片编号占位符 3">
              <a:extLst>
                <a:ext uri="{FF2B5EF4-FFF2-40B4-BE49-F238E27FC236}">
                  <a16:creationId xmlns:a16="http://schemas.microsoft.com/office/drawing/2014/main" id="{B251694A-2615-7C16-9EA3-AFAB39DDD2B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3" name="Rectangle 81">
            <a:extLst>
              <a:ext uri="{FF2B5EF4-FFF2-40B4-BE49-F238E27FC236}">
                <a16:creationId xmlns:a16="http://schemas.microsoft.com/office/drawing/2014/main" id="{FAAEF0D3-8466-5231-5AB7-85859E31A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000" y="2880000"/>
            <a:ext cx="2676879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：开关状态</a:t>
            </a:r>
          </a:p>
          <a:p>
            <a:pPr lvl="1">
              <a:spcAft>
                <a:spcPts val="600"/>
              </a:spcAft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闭合</a:t>
            </a:r>
          </a:p>
          <a:p>
            <a:pPr lvl="1">
              <a:spcAft>
                <a:spcPts val="600"/>
              </a:spcAft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断开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kumimoji="1"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：电灯状态</a:t>
            </a:r>
          </a:p>
          <a:p>
            <a:pPr lvl="1"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点亮</a:t>
            </a:r>
          </a:p>
          <a:p>
            <a:pPr lvl="1" eaLnBrk="1" hangingPunct="1">
              <a:spcAft>
                <a:spcPts val="600"/>
              </a:spcAft>
              <a:buFontTx/>
              <a:buNone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–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熄灭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208B021-D6DB-A7E7-264E-9EE816620DA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逻辑代数和基本逻辑运算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非运算（</a:t>
            </a:r>
            <a:r>
              <a:rPr lang="en-US" altLang="zh-CN" sz="3000" dirty="0">
                <a:solidFill>
                  <a:srgbClr val="FFFF00"/>
                </a:solidFill>
              </a:rPr>
              <a:t>NOT</a:t>
            </a:r>
            <a:r>
              <a:rPr lang="zh-CN" altLang="en-US" sz="3000" dirty="0">
                <a:solidFill>
                  <a:srgbClr val="FFFF00"/>
                </a:solidFill>
              </a:rPr>
              <a:t>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ADA9566-1EA0-8088-38D5-2C7D754E7BC5}"/>
              </a:ext>
            </a:extLst>
          </p:cNvPr>
          <p:cNvGrpSpPr/>
          <p:nvPr/>
        </p:nvGrpSpPr>
        <p:grpSpPr>
          <a:xfrm>
            <a:off x="1080000" y="3878016"/>
            <a:ext cx="2112763" cy="585788"/>
            <a:chOff x="1080000" y="3878016"/>
            <a:chExt cx="2112763" cy="585788"/>
          </a:xfrm>
        </p:grpSpPr>
        <p:sp>
          <p:nvSpPr>
            <p:cNvPr id="29" name="Text Box 5">
              <a:extLst>
                <a:ext uri="{FF2B5EF4-FFF2-40B4-BE49-F238E27FC236}">
                  <a16:creationId xmlns:a16="http://schemas.microsoft.com/office/drawing/2014/main" id="{6399B065-B07F-B7AC-AC63-D81A04A53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40068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5">
              <a:extLst>
                <a:ext uri="{FF2B5EF4-FFF2-40B4-BE49-F238E27FC236}">
                  <a16:creationId xmlns:a16="http://schemas.microsoft.com/office/drawing/2014/main" id="{EE411DA7-F3B1-F79C-D340-FCC7EE37DE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719" y="4004859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20059418-6606-62EA-6746-3CA0E7719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764" y="4170910"/>
              <a:ext cx="14249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AutoShape 162">
              <a:extLst>
                <a:ext uri="{FF2B5EF4-FFF2-40B4-BE49-F238E27FC236}">
                  <a16:creationId xmlns:a16="http://schemas.microsoft.com/office/drawing/2014/main" id="{465DB888-3D3D-4DF6-623D-BA43009552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09552" y="3880567"/>
              <a:ext cx="585788" cy="580686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Oval 163">
              <a:extLst>
                <a:ext uri="{FF2B5EF4-FFF2-40B4-BE49-F238E27FC236}">
                  <a16:creationId xmlns:a16="http://schemas.microsoft.com/office/drawing/2014/main" id="{E44D4CD5-F3BE-642B-63EE-F53D3C997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789" y="4098910"/>
              <a:ext cx="144000" cy="144000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2E681D5-3037-D42F-755C-CCD051D89BBD}"/>
              </a:ext>
            </a:extLst>
          </p:cNvPr>
          <p:cNvGrpSpPr/>
          <p:nvPr/>
        </p:nvGrpSpPr>
        <p:grpSpPr>
          <a:xfrm>
            <a:off x="1080000" y="4789115"/>
            <a:ext cx="2112763" cy="706438"/>
            <a:chOff x="1080000" y="4789115"/>
            <a:chExt cx="2112763" cy="706438"/>
          </a:xfrm>
        </p:grpSpPr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8FC6A6EC-319B-2B38-A6FB-DBB91442A7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764" y="5143003"/>
              <a:ext cx="14249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Text Box 5">
              <a:extLst>
                <a:ext uri="{FF2B5EF4-FFF2-40B4-BE49-F238E27FC236}">
                  <a16:creationId xmlns:a16="http://schemas.microsoft.com/office/drawing/2014/main" id="{09DC29BA-F266-9A4D-E8DE-66AD99A800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49788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Text Box 5">
              <a:extLst>
                <a:ext uri="{FF2B5EF4-FFF2-40B4-BE49-F238E27FC236}">
                  <a16:creationId xmlns:a16="http://schemas.microsoft.com/office/drawing/2014/main" id="{16C85430-E5A5-F428-4D13-BB81DDBF1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719" y="49788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20">
              <a:extLst>
                <a:ext uri="{FF2B5EF4-FFF2-40B4-BE49-F238E27FC236}">
                  <a16:creationId xmlns:a16="http://schemas.microsoft.com/office/drawing/2014/main" id="{123DAAFB-55B7-C507-9234-84CCA196C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103" y="4789115"/>
              <a:ext cx="571164" cy="70643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Text Box 19">
              <a:extLst>
                <a:ext uri="{FF2B5EF4-FFF2-40B4-BE49-F238E27FC236}">
                  <a16:creationId xmlns:a16="http://schemas.microsoft.com/office/drawing/2014/main" id="{9CF455C0-9C68-9465-6A91-601744B19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2103" y="4845332"/>
              <a:ext cx="57116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kumimoji="1" lang="en-US" altLang="zh-CN" sz="2400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Oval 163">
              <a:extLst>
                <a:ext uri="{FF2B5EF4-FFF2-40B4-BE49-F238E27FC236}">
                  <a16:creationId xmlns:a16="http://schemas.microsoft.com/office/drawing/2014/main" id="{5823E596-ED44-7D33-906C-329CEB68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789" y="5070334"/>
              <a:ext cx="144000" cy="144000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9" name="Line 113">
            <a:extLst>
              <a:ext uri="{FF2B5EF4-FFF2-40B4-BE49-F238E27FC236}">
                <a16:creationId xmlns:a16="http://schemas.microsoft.com/office/drawing/2014/main" id="{392C004E-0D0E-B6B1-26E3-13B290007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0741" y="1518614"/>
            <a:ext cx="4270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Line 114">
            <a:extLst>
              <a:ext uri="{FF2B5EF4-FFF2-40B4-BE49-F238E27FC236}">
                <a16:creationId xmlns:a16="http://schemas.microsoft.com/office/drawing/2014/main" id="{74D35B34-2644-EB21-8A88-E601FEADE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93716" y="1518614"/>
            <a:ext cx="139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Line 115">
            <a:extLst>
              <a:ext uri="{FF2B5EF4-FFF2-40B4-BE49-F238E27FC236}">
                <a16:creationId xmlns:a16="http://schemas.microsoft.com/office/drawing/2014/main" id="{AB91C26A-7E88-7679-5EC8-18E0E88F4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90716" y="1518614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Line 116">
            <a:extLst>
              <a:ext uri="{FF2B5EF4-FFF2-40B4-BE49-F238E27FC236}">
                <a16:creationId xmlns:a16="http://schemas.microsoft.com/office/drawing/2014/main" id="{F49D08F3-12F0-39FD-3364-8BD303787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90716" y="219488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Line 117">
            <a:extLst>
              <a:ext uri="{FF2B5EF4-FFF2-40B4-BE49-F238E27FC236}">
                <a16:creationId xmlns:a16="http://schemas.microsoft.com/office/drawing/2014/main" id="{F22ABF0C-5640-2846-6873-47A7B62482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50741" y="2585414"/>
            <a:ext cx="2351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Line 120">
            <a:extLst>
              <a:ext uri="{FF2B5EF4-FFF2-40B4-BE49-F238E27FC236}">
                <a16:creationId xmlns:a16="http://schemas.microsoft.com/office/drawing/2014/main" id="{DFE55A6F-D911-8652-1F80-A77D441A7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7091" y="1512264"/>
            <a:ext cx="0" cy="503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Line 121">
            <a:extLst>
              <a:ext uri="{FF2B5EF4-FFF2-40B4-BE49-F238E27FC236}">
                <a16:creationId xmlns:a16="http://schemas.microsoft.com/office/drawing/2014/main" id="{1F6A3B6F-BA8D-8BB2-2A3B-162C7D1E9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7091" y="215996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Box 124">
            <a:extLst>
              <a:ext uri="{FF2B5EF4-FFF2-40B4-BE49-F238E27FC236}">
                <a16:creationId xmlns:a16="http://schemas.microsoft.com/office/drawing/2014/main" id="{DB4AEA5C-5D71-D3B3-3DBF-31947F87F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6870" y="1789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kumimoji="1" lang="en-US" altLang="zh-CN" sz="2400" baseline="-25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Line 125">
            <a:extLst>
              <a:ext uri="{FF2B5EF4-FFF2-40B4-BE49-F238E27FC236}">
                <a16:creationId xmlns:a16="http://schemas.microsoft.com/office/drawing/2014/main" id="{259B9486-F69D-9E3B-BF5A-F2022EAB5F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96954" y="2290139"/>
            <a:ext cx="0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Oval 127">
            <a:extLst>
              <a:ext uri="{FF2B5EF4-FFF2-40B4-BE49-F238E27FC236}">
                <a16:creationId xmlns:a16="http://schemas.microsoft.com/office/drawing/2014/main" id="{5C8AD330-7031-72AF-FF2C-C81C3CE2AF4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250762" y="2213390"/>
            <a:ext cx="900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Oval 128">
            <a:extLst>
              <a:ext uri="{FF2B5EF4-FFF2-40B4-BE49-F238E27FC236}">
                <a16:creationId xmlns:a16="http://schemas.microsoft.com/office/drawing/2014/main" id="{8E2FF37B-4465-9F3C-0E0D-601F0EC653C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250762" y="1845090"/>
            <a:ext cx="900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Line 129">
            <a:extLst>
              <a:ext uri="{FF2B5EF4-FFF2-40B4-BE49-F238E27FC236}">
                <a16:creationId xmlns:a16="http://schemas.microsoft.com/office/drawing/2014/main" id="{867B0AA2-5072-40BA-F998-F755B6456562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10029460" y="1986133"/>
            <a:ext cx="304800" cy="1762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Rectangle 130">
            <a:extLst>
              <a:ext uri="{FF2B5EF4-FFF2-40B4-BE49-F238E27FC236}">
                <a16:creationId xmlns:a16="http://schemas.microsoft.com/office/drawing/2014/main" id="{3E685708-357A-72BF-5F64-1511FAA4D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8891" y="1420189"/>
            <a:ext cx="504825" cy="1841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Line 131">
            <a:extLst>
              <a:ext uri="{FF2B5EF4-FFF2-40B4-BE49-F238E27FC236}">
                <a16:creationId xmlns:a16="http://schemas.microsoft.com/office/drawing/2014/main" id="{00760978-AE06-73E2-5C4E-C2433015B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96954" y="1517027"/>
            <a:ext cx="0" cy="3349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AutoShape 37">
            <a:extLst>
              <a:ext uri="{FF2B5EF4-FFF2-40B4-BE49-F238E27FC236}">
                <a16:creationId xmlns:a16="http://schemas.microsoft.com/office/drawing/2014/main" id="{27CE04A3-0C9D-D622-D200-D2F5E8F9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7125" y="1885325"/>
            <a:ext cx="304800" cy="304800"/>
          </a:xfrm>
          <a:prstGeom prst="flowChartSummingJunction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 Box 123">
            <a:extLst>
              <a:ext uri="{FF2B5EF4-FFF2-40B4-BE49-F238E27FC236}">
                <a16:creationId xmlns:a16="http://schemas.microsoft.com/office/drawing/2014/main" id="{603FB905-E0DA-8D41-4E0F-304A13B9B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0233" y="1787858"/>
            <a:ext cx="38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endParaRPr kumimoji="1" lang="en-US" altLang="zh-CN" sz="2400" baseline="-25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Line 41">
            <a:extLst>
              <a:ext uri="{FF2B5EF4-FFF2-40B4-BE49-F238E27FC236}">
                <a16:creationId xmlns:a16="http://schemas.microsoft.com/office/drawing/2014/main" id="{771012D2-6377-4CC5-B1AB-FF5DD1CC5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0000" y="20155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Line 42">
            <a:extLst>
              <a:ext uri="{FF2B5EF4-FFF2-40B4-BE49-F238E27FC236}">
                <a16:creationId xmlns:a16="http://schemas.microsoft.com/office/drawing/2014/main" id="{8FD646A6-5400-A5A3-B473-29C70EEA2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1438" y="2159963"/>
            <a:ext cx="2889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DB869DB-6B00-097D-E8F4-269214D36AD2}"/>
                  </a:ext>
                </a:extLst>
              </p:cNvPr>
              <p:cNvSpPr txBox="1"/>
              <p:nvPr/>
            </p:nvSpPr>
            <p:spPr>
              <a:xfrm>
                <a:off x="1980000" y="2829340"/>
                <a:ext cx="3531342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zh-CN" altLang="en-US" sz="24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原变量；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：反变量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DB869DB-6B00-097D-E8F4-269214D36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0" y="2829340"/>
                <a:ext cx="3531342" cy="462434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981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1FD6C63-2E30-07C9-36B7-C7CEF059AFFE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7428438" cy="1031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与非逻辑表达式：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endParaRPr lang="en-US" altLang="zh-CN" sz="28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与非逻辑功能：  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1FD6C63-2E30-07C9-36B7-C7CEF059A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7428438" cy="1031949"/>
              </a:xfrm>
              <a:prstGeom prst="rect">
                <a:avLst/>
              </a:prstGeom>
              <a:blipFill>
                <a:blip r:embed="rId2"/>
                <a:stretch>
                  <a:fillRect l="-1641" t="-6509" b="-15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12">
            <a:extLst>
              <a:ext uri="{FF2B5EF4-FFF2-40B4-BE49-F238E27FC236}">
                <a16:creationId xmlns:a16="http://schemas.microsoft.com/office/drawing/2014/main" id="{47AB3C76-1136-F1DF-1A67-F029A59FA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857" y="2880000"/>
            <a:ext cx="21240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与非逻辑符号</a:t>
            </a:r>
          </a:p>
        </p:txBody>
      </p:sp>
      <p:sp>
        <p:nvSpPr>
          <p:cNvPr id="60" name="Rectangle 80">
            <a:extLst>
              <a:ext uri="{FF2B5EF4-FFF2-40B4-BE49-F238E27FC236}">
                <a16:creationId xmlns:a16="http://schemas.microsoft.com/office/drawing/2014/main" id="{6F964291-6999-23B6-EE22-781DB8FD8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000" y="720000"/>
            <a:ext cx="2505850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与非逻辑真值表</a:t>
            </a:r>
          </a:p>
        </p:txBody>
      </p:sp>
      <p:graphicFrame>
        <p:nvGraphicFramePr>
          <p:cNvPr id="61" name="Group 129">
            <a:extLst>
              <a:ext uri="{FF2B5EF4-FFF2-40B4-BE49-F238E27FC236}">
                <a16:creationId xmlns:a16="http://schemas.microsoft.com/office/drawing/2014/main" id="{6B02056C-4E37-F0CC-ECFE-AB3CBBFE1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151914"/>
              </p:ext>
            </p:extLst>
          </p:nvPr>
        </p:nvGraphicFramePr>
        <p:xfrm>
          <a:off x="8640000" y="1188000"/>
          <a:ext cx="2505851" cy="2141536"/>
        </p:xfrm>
        <a:graphic>
          <a:graphicData uri="http://schemas.openxmlformats.org/drawingml/2006/table">
            <a:tbl>
              <a:tblPr/>
              <a:tblGrid>
                <a:gridCol w="75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" name="文本框 64">
            <a:extLst>
              <a:ext uri="{FF2B5EF4-FFF2-40B4-BE49-F238E27FC236}">
                <a16:creationId xmlns:a16="http://schemas.microsoft.com/office/drawing/2014/main" id="{237AFB5A-0CDC-4131-7EB8-94FE15AEB7C2}"/>
              </a:ext>
            </a:extLst>
          </p:cNvPr>
          <p:cNvSpPr txBox="1"/>
          <p:nvPr/>
        </p:nvSpPr>
        <p:spPr>
          <a:xfrm>
            <a:off x="3564000" y="2160000"/>
            <a:ext cx="708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8AF171C-8FDE-EA0E-7C87-242E30054D55}"/>
                  </a:ext>
                </a:extLst>
              </p:cNvPr>
              <p:cNvSpPr txBox="1"/>
              <p:nvPr/>
            </p:nvSpPr>
            <p:spPr>
              <a:xfrm>
                <a:off x="360000" y="3960000"/>
                <a:ext cx="7050752" cy="1031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或非逻辑表达式：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endParaRPr lang="en-US" altLang="zh-CN" sz="28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或非逻辑功能：  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，全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8AF171C-8FDE-EA0E-7C87-242E30054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960000"/>
                <a:ext cx="7050752" cy="1031949"/>
              </a:xfrm>
              <a:prstGeom prst="rect">
                <a:avLst/>
              </a:prstGeom>
              <a:blipFill>
                <a:blip r:embed="rId3"/>
                <a:stretch>
                  <a:fillRect l="-1729" t="-6509" b="-15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12">
            <a:extLst>
              <a:ext uri="{FF2B5EF4-FFF2-40B4-BE49-F238E27FC236}">
                <a16:creationId xmlns:a16="http://schemas.microsoft.com/office/drawing/2014/main" id="{23B5E363-04B7-DC25-B663-115FF7D4D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857" y="6012000"/>
            <a:ext cx="21240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或非逻辑符号</a:t>
            </a:r>
          </a:p>
        </p:txBody>
      </p:sp>
      <p:sp>
        <p:nvSpPr>
          <p:cNvPr id="88" name="Rectangle 80">
            <a:extLst>
              <a:ext uri="{FF2B5EF4-FFF2-40B4-BE49-F238E27FC236}">
                <a16:creationId xmlns:a16="http://schemas.microsoft.com/office/drawing/2014/main" id="{1266EDC2-C7E8-1BE9-A23B-9E24A2849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000" y="3852000"/>
            <a:ext cx="2505850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或非逻辑真值表</a:t>
            </a:r>
          </a:p>
        </p:txBody>
      </p:sp>
      <p:graphicFrame>
        <p:nvGraphicFramePr>
          <p:cNvPr id="89" name="Group 129">
            <a:extLst>
              <a:ext uri="{FF2B5EF4-FFF2-40B4-BE49-F238E27FC236}">
                <a16:creationId xmlns:a16="http://schemas.microsoft.com/office/drawing/2014/main" id="{5B55E8F9-58F2-1052-278E-8D1D70F25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486414"/>
              </p:ext>
            </p:extLst>
          </p:nvPr>
        </p:nvGraphicFramePr>
        <p:xfrm>
          <a:off x="8640000" y="4320000"/>
          <a:ext cx="2505851" cy="2141536"/>
        </p:xfrm>
        <a:graphic>
          <a:graphicData uri="http://schemas.openxmlformats.org/drawingml/2006/table">
            <a:tbl>
              <a:tblPr/>
              <a:tblGrid>
                <a:gridCol w="75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" name="文本框 89">
            <a:extLst>
              <a:ext uri="{FF2B5EF4-FFF2-40B4-BE49-F238E27FC236}">
                <a16:creationId xmlns:a16="http://schemas.microsoft.com/office/drawing/2014/main" id="{AF4B9860-88DC-BA30-8D8E-C6CDFC6E9653}"/>
              </a:ext>
            </a:extLst>
          </p:cNvPr>
          <p:cNvSpPr txBox="1"/>
          <p:nvPr/>
        </p:nvSpPr>
        <p:spPr>
          <a:xfrm>
            <a:off x="3564000" y="5292000"/>
            <a:ext cx="708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79262E9-0A18-9383-0774-D8477A48B1C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F9449AE3-D060-A546-5D4D-A71BC0FD5DB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20" name="箭头: 五边形 119">
                <a:extLst>
                  <a:ext uri="{FF2B5EF4-FFF2-40B4-BE49-F238E27FC236}">
                    <a16:creationId xmlns:a16="http://schemas.microsoft.com/office/drawing/2014/main" id="{0EF91A6A-901C-B0A4-446B-6FF78AD33D0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箭头: V 形 120">
                <a:extLst>
                  <a:ext uri="{FF2B5EF4-FFF2-40B4-BE49-F238E27FC236}">
                    <a16:creationId xmlns:a16="http://schemas.microsoft.com/office/drawing/2014/main" id="{6EFFCD4A-DA50-B6B6-4A5F-9D2E547A035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" name="灯片编号占位符 3">
              <a:extLst>
                <a:ext uri="{FF2B5EF4-FFF2-40B4-BE49-F238E27FC236}">
                  <a16:creationId xmlns:a16="http://schemas.microsoft.com/office/drawing/2014/main" id="{CBCE2703-9D89-4314-A2B9-DBA89B64077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E44F0799-F6E4-4196-8BD9-DA1CDD967F6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逻辑代数和基本逻辑运算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与非运算和或非运算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DF026A0-22F1-3098-B25F-F1A0A3FC60DB}"/>
              </a:ext>
            </a:extLst>
          </p:cNvPr>
          <p:cNvGrpSpPr/>
          <p:nvPr/>
        </p:nvGrpSpPr>
        <p:grpSpPr>
          <a:xfrm>
            <a:off x="1080000" y="2016000"/>
            <a:ext cx="2112763" cy="715148"/>
            <a:chOff x="566604" y="2969558"/>
            <a:chExt cx="2112763" cy="715148"/>
          </a:xfrm>
        </p:grpSpPr>
        <p:sp>
          <p:nvSpPr>
            <p:cNvPr id="5" name="Line 9">
              <a:extLst>
                <a:ext uri="{FF2B5EF4-FFF2-40B4-BE49-F238E27FC236}">
                  <a16:creationId xmlns:a16="http://schemas.microsoft.com/office/drawing/2014/main" id="{8D06E53D-5479-A521-0A4B-09579DB0C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3303" y="3324561"/>
              <a:ext cx="9690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0B309BBD-E992-633B-005D-5A3448B1F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7851" y="3149315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C06B00C5-D516-B9E1-04CB-FEF857D122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652" y="3509315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AutoShape 11">
              <a:extLst>
                <a:ext uri="{FF2B5EF4-FFF2-40B4-BE49-F238E27FC236}">
                  <a16:creationId xmlns:a16="http://schemas.microsoft.com/office/drawing/2014/main" id="{DC0961AA-FA92-309F-EDFB-66D61FE98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302" y="3015123"/>
              <a:ext cx="561975" cy="617538"/>
            </a:xfrm>
            <a:prstGeom prst="flowChartDelay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3044A77F-4013-2D89-B4C3-AE0875CE7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604" y="2969558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9EE6B10A-1843-CFA9-FF33-E08C2C3D3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604" y="3352307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9BB0E571-FCFF-8483-894B-9FF255166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2323" y="3158976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Oval 163">
              <a:extLst>
                <a:ext uri="{FF2B5EF4-FFF2-40B4-BE49-F238E27FC236}">
                  <a16:creationId xmlns:a16="http://schemas.microsoft.com/office/drawing/2014/main" id="{CE47A8EA-9B1D-E4B6-C127-CB8827633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043" y="3252676"/>
              <a:ext cx="144000" cy="144000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8989E23-4000-2A2F-2746-54EE5802145F}"/>
              </a:ext>
            </a:extLst>
          </p:cNvPr>
          <p:cNvGrpSpPr/>
          <p:nvPr/>
        </p:nvGrpSpPr>
        <p:grpSpPr>
          <a:xfrm>
            <a:off x="4680000" y="2016000"/>
            <a:ext cx="2112763" cy="715148"/>
            <a:chOff x="1080000" y="2915245"/>
            <a:chExt cx="2112763" cy="715148"/>
          </a:xfrm>
        </p:grpSpPr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5B66F826-2CC1-1A7C-FFD6-95C688D15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699" y="3270248"/>
              <a:ext cx="9690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1C917A23-AAAD-B12F-05D9-8FACD29EE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247" y="3095002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C285E0F8-B358-BACD-1D97-F96324962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048" y="3455002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5">
              <a:extLst>
                <a:ext uri="{FF2B5EF4-FFF2-40B4-BE49-F238E27FC236}">
                  <a16:creationId xmlns:a16="http://schemas.microsoft.com/office/drawing/2014/main" id="{345FAB53-78D4-6F6F-8981-1F9888BDF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2915245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5">
              <a:extLst>
                <a:ext uri="{FF2B5EF4-FFF2-40B4-BE49-F238E27FC236}">
                  <a16:creationId xmlns:a16="http://schemas.microsoft.com/office/drawing/2014/main" id="{AE06A4D8-B6D8-FE33-33AA-47E8B7640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3297994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5">
              <a:extLst>
                <a:ext uri="{FF2B5EF4-FFF2-40B4-BE49-F238E27FC236}">
                  <a16:creationId xmlns:a16="http://schemas.microsoft.com/office/drawing/2014/main" id="{A1EF62F3-E6FD-205F-0A33-083B46898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719" y="3104663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082C9BBB-3848-3171-D27E-0781692FB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103" y="2916360"/>
              <a:ext cx="571164" cy="70643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Box 19">
              <a:extLst>
                <a:ext uri="{FF2B5EF4-FFF2-40B4-BE49-F238E27FC236}">
                  <a16:creationId xmlns:a16="http://schemas.microsoft.com/office/drawing/2014/main" id="{84D34EDF-E9A1-B7D3-D37F-66CB903A5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2103" y="2972577"/>
              <a:ext cx="57116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</a:p>
          </p:txBody>
        </p:sp>
        <p:sp>
          <p:nvSpPr>
            <p:cNvPr id="36" name="Oval 163">
              <a:extLst>
                <a:ext uri="{FF2B5EF4-FFF2-40B4-BE49-F238E27FC236}">
                  <a16:creationId xmlns:a16="http://schemas.microsoft.com/office/drawing/2014/main" id="{36886D9C-8DDA-4D14-F7D3-73F9FB54B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000" y="3198470"/>
              <a:ext cx="144000" cy="144000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FE4103BB-129F-D35F-FFD9-F2568305850D}"/>
              </a:ext>
            </a:extLst>
          </p:cNvPr>
          <p:cNvGrpSpPr/>
          <p:nvPr/>
        </p:nvGrpSpPr>
        <p:grpSpPr>
          <a:xfrm>
            <a:off x="1080000" y="5148000"/>
            <a:ext cx="2112763" cy="715148"/>
            <a:chOff x="1080000" y="3035682"/>
            <a:chExt cx="2112763" cy="715148"/>
          </a:xfrm>
        </p:grpSpPr>
        <p:sp>
          <p:nvSpPr>
            <p:cNvPr id="72" name="Line 9">
              <a:extLst>
                <a:ext uri="{FF2B5EF4-FFF2-40B4-BE49-F238E27FC236}">
                  <a16:creationId xmlns:a16="http://schemas.microsoft.com/office/drawing/2014/main" id="{6D93262C-EF12-6AF8-3145-72BF28AF5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267" y="3390685"/>
              <a:ext cx="4024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7">
              <a:extLst>
                <a:ext uri="{FF2B5EF4-FFF2-40B4-BE49-F238E27FC236}">
                  <a16:creationId xmlns:a16="http://schemas.microsoft.com/office/drawing/2014/main" id="{86F00724-0B2B-D9CF-4185-B4F0731EA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247" y="3215439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8">
              <a:extLst>
                <a:ext uri="{FF2B5EF4-FFF2-40B4-BE49-F238E27FC236}">
                  <a16:creationId xmlns:a16="http://schemas.microsoft.com/office/drawing/2014/main" id="{85A71890-AA97-E578-2015-02A0BEDA5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048" y="3575439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Text Box 5">
              <a:extLst>
                <a:ext uri="{FF2B5EF4-FFF2-40B4-BE49-F238E27FC236}">
                  <a16:creationId xmlns:a16="http://schemas.microsoft.com/office/drawing/2014/main" id="{414913FC-74C0-DCF3-5FA2-C29E10E4B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3035682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Text Box 5">
              <a:extLst>
                <a:ext uri="{FF2B5EF4-FFF2-40B4-BE49-F238E27FC236}">
                  <a16:creationId xmlns:a16="http://schemas.microsoft.com/office/drawing/2014/main" id="{FF0DD5C6-D15D-8FAD-4C5B-28B968FF7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3418431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 Box 5">
              <a:extLst>
                <a:ext uri="{FF2B5EF4-FFF2-40B4-BE49-F238E27FC236}">
                  <a16:creationId xmlns:a16="http://schemas.microsoft.com/office/drawing/2014/main" id="{1B5A16F2-C185-CE84-3D91-FC01A62BB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719" y="32251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Arc 158">
              <a:extLst>
                <a:ext uri="{FF2B5EF4-FFF2-40B4-BE49-F238E27FC236}">
                  <a16:creationId xmlns:a16="http://schemas.microsoft.com/office/drawing/2014/main" id="{A2DAED6B-B422-C0CE-3913-ECED506BEAD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214927" y="2951703"/>
              <a:ext cx="606310" cy="87616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2" name="Line 160">
              <a:extLst>
                <a:ext uri="{FF2B5EF4-FFF2-40B4-BE49-F238E27FC236}">
                  <a16:creationId xmlns:a16="http://schemas.microsoft.com/office/drawing/2014/main" id="{7485A15F-7685-174B-DA56-57085F72E3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5186" y="3080971"/>
              <a:ext cx="2699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3" name="Arc 156">
              <a:extLst>
                <a:ext uri="{FF2B5EF4-FFF2-40B4-BE49-F238E27FC236}">
                  <a16:creationId xmlns:a16="http://schemas.microsoft.com/office/drawing/2014/main" id="{99E8C2B0-2BAA-CB8A-CEB1-C0C77B0EF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160" y="3081359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4" name="Line 160">
              <a:extLst>
                <a:ext uri="{FF2B5EF4-FFF2-40B4-BE49-F238E27FC236}">
                  <a16:creationId xmlns:a16="http://schemas.microsoft.com/office/drawing/2014/main" id="{FD2ECB49-898F-01C4-12BA-C6D905E40F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25186" y="3697769"/>
              <a:ext cx="2699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5" name="Arc 156">
              <a:extLst>
                <a:ext uri="{FF2B5EF4-FFF2-40B4-BE49-F238E27FC236}">
                  <a16:creationId xmlns:a16="http://schemas.microsoft.com/office/drawing/2014/main" id="{B9987D45-0976-2455-202E-D5E1AC8615D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93160" y="3111665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6" name="Oval 163">
              <a:extLst>
                <a:ext uri="{FF2B5EF4-FFF2-40B4-BE49-F238E27FC236}">
                  <a16:creationId xmlns:a16="http://schemas.microsoft.com/office/drawing/2014/main" id="{5572A3C8-7033-7E55-B523-4295E55EA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000" y="3317784"/>
              <a:ext cx="144000" cy="144000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3D03D618-D80D-8920-CC14-D008018D62F7}"/>
              </a:ext>
            </a:extLst>
          </p:cNvPr>
          <p:cNvGrpSpPr/>
          <p:nvPr/>
        </p:nvGrpSpPr>
        <p:grpSpPr>
          <a:xfrm>
            <a:off x="4680000" y="5148000"/>
            <a:ext cx="2112763" cy="715148"/>
            <a:chOff x="4680000" y="3177795"/>
            <a:chExt cx="2112763" cy="715148"/>
          </a:xfrm>
        </p:grpSpPr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130CD880-CCDE-D7FE-4AAD-2E5F067DE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6699" y="3532798"/>
              <a:ext cx="9690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7">
              <a:extLst>
                <a:ext uri="{FF2B5EF4-FFF2-40B4-BE49-F238E27FC236}">
                  <a16:creationId xmlns:a16="http://schemas.microsoft.com/office/drawing/2014/main" id="{B8B2E79D-65DA-81E2-DB17-CD9DE3ADA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1247" y="3357552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8">
              <a:extLst>
                <a:ext uri="{FF2B5EF4-FFF2-40B4-BE49-F238E27FC236}">
                  <a16:creationId xmlns:a16="http://schemas.microsoft.com/office/drawing/2014/main" id="{3720D0DD-59D6-D51D-8350-5955B73AF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5048" y="3717552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Text Box 5">
              <a:extLst>
                <a:ext uri="{FF2B5EF4-FFF2-40B4-BE49-F238E27FC236}">
                  <a16:creationId xmlns:a16="http://schemas.microsoft.com/office/drawing/2014/main" id="{2D35EF25-2BBB-AB3A-141B-CFB434C92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000" y="3177795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5">
              <a:extLst>
                <a:ext uri="{FF2B5EF4-FFF2-40B4-BE49-F238E27FC236}">
                  <a16:creationId xmlns:a16="http://schemas.microsoft.com/office/drawing/2014/main" id="{E4D88E04-63F5-34C0-9218-2F7CE4F4F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000" y="3560544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 Box 5">
              <a:extLst>
                <a:ext uri="{FF2B5EF4-FFF2-40B4-BE49-F238E27FC236}">
                  <a16:creationId xmlns:a16="http://schemas.microsoft.com/office/drawing/2014/main" id="{A8CE9BDF-1D54-68DF-27FA-555D1CF570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5719" y="3367213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20">
              <a:extLst>
                <a:ext uri="{FF2B5EF4-FFF2-40B4-BE49-F238E27FC236}">
                  <a16:creationId xmlns:a16="http://schemas.microsoft.com/office/drawing/2014/main" id="{69EB013C-1EBD-E2EB-3B2F-F37CAD528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2103" y="3178910"/>
              <a:ext cx="571164" cy="70643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Box 19">
              <a:extLst>
                <a:ext uri="{FF2B5EF4-FFF2-40B4-BE49-F238E27FC236}">
                  <a16:creationId xmlns:a16="http://schemas.microsoft.com/office/drawing/2014/main" id="{7DC1664A-91DE-5446-4C62-9067379A6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2103" y="3235127"/>
              <a:ext cx="57116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kumimoji="1" lang="en-US" altLang="zh-CN" sz="2400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≥1</a:t>
              </a:r>
              <a:endPara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Oval 163">
              <a:extLst>
                <a:ext uri="{FF2B5EF4-FFF2-40B4-BE49-F238E27FC236}">
                  <a16:creationId xmlns:a16="http://schemas.microsoft.com/office/drawing/2014/main" id="{2E5E2720-24E9-004B-626D-DD515B362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2000" y="3460228"/>
              <a:ext cx="144000" cy="144000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2118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48B8-1AF6-3000-D148-23A5C0FF7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8826B70-3639-8CCF-C906-795EFD085384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7428438" cy="1031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异或逻辑表达式：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异或逻辑功能：  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不同得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，相同得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8826B70-3639-8CCF-C906-795EFD085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7428438" cy="1031949"/>
              </a:xfrm>
              <a:prstGeom prst="rect">
                <a:avLst/>
              </a:prstGeom>
              <a:blipFill>
                <a:blip r:embed="rId2"/>
                <a:stretch>
                  <a:fillRect l="-1641" t="-6509" b="-15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12">
            <a:extLst>
              <a:ext uri="{FF2B5EF4-FFF2-40B4-BE49-F238E27FC236}">
                <a16:creationId xmlns:a16="http://schemas.microsoft.com/office/drawing/2014/main" id="{239B240C-B4C0-73C3-445B-A193F5FDC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857" y="2880000"/>
            <a:ext cx="21240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异或逻辑符号</a:t>
            </a:r>
          </a:p>
        </p:txBody>
      </p:sp>
      <p:sp>
        <p:nvSpPr>
          <p:cNvPr id="60" name="Rectangle 80">
            <a:extLst>
              <a:ext uri="{FF2B5EF4-FFF2-40B4-BE49-F238E27FC236}">
                <a16:creationId xmlns:a16="http://schemas.microsoft.com/office/drawing/2014/main" id="{928BA8D7-3DCB-C7D2-08C3-7A4F2ABFB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000" y="720000"/>
            <a:ext cx="2505850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异或逻辑真值表</a:t>
            </a:r>
          </a:p>
        </p:txBody>
      </p:sp>
      <p:graphicFrame>
        <p:nvGraphicFramePr>
          <p:cNvPr id="61" name="Group 129">
            <a:extLst>
              <a:ext uri="{FF2B5EF4-FFF2-40B4-BE49-F238E27FC236}">
                <a16:creationId xmlns:a16="http://schemas.microsoft.com/office/drawing/2014/main" id="{9E624B8F-BA94-D68B-769A-34173A80D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73874"/>
              </p:ext>
            </p:extLst>
          </p:nvPr>
        </p:nvGraphicFramePr>
        <p:xfrm>
          <a:off x="8640000" y="1188000"/>
          <a:ext cx="2505851" cy="2141536"/>
        </p:xfrm>
        <a:graphic>
          <a:graphicData uri="http://schemas.openxmlformats.org/drawingml/2006/table">
            <a:tbl>
              <a:tblPr/>
              <a:tblGrid>
                <a:gridCol w="75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" name="文本框 64">
            <a:extLst>
              <a:ext uri="{FF2B5EF4-FFF2-40B4-BE49-F238E27FC236}">
                <a16:creationId xmlns:a16="http://schemas.microsoft.com/office/drawing/2014/main" id="{1C96237F-CE09-F605-6C92-B5C29E4F44F9}"/>
              </a:ext>
            </a:extLst>
          </p:cNvPr>
          <p:cNvSpPr txBox="1"/>
          <p:nvPr/>
        </p:nvSpPr>
        <p:spPr>
          <a:xfrm>
            <a:off x="3564000" y="2160000"/>
            <a:ext cx="708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BE27204C-F693-8CBC-9FBD-22729AA23EFE}"/>
                  </a:ext>
                </a:extLst>
              </p:cNvPr>
              <p:cNvSpPr txBox="1"/>
              <p:nvPr/>
            </p:nvSpPr>
            <p:spPr>
              <a:xfrm>
                <a:off x="360000" y="3960000"/>
                <a:ext cx="7976582" cy="1031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同或逻辑表达式：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endParaRPr lang="en-US" altLang="zh-CN" sz="28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同或逻辑功能：  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相同得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，不同得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BE27204C-F693-8CBC-9FBD-22729AA23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960000"/>
                <a:ext cx="7976582" cy="1031949"/>
              </a:xfrm>
              <a:prstGeom prst="rect">
                <a:avLst/>
              </a:prstGeom>
              <a:blipFill>
                <a:blip r:embed="rId3"/>
                <a:stretch>
                  <a:fillRect l="-1528" t="-6509" b="-15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12">
            <a:extLst>
              <a:ext uri="{FF2B5EF4-FFF2-40B4-BE49-F238E27FC236}">
                <a16:creationId xmlns:a16="http://schemas.microsoft.com/office/drawing/2014/main" id="{DEAAEAC5-3919-EA1A-EBD5-ABA0D8CAC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857" y="6012000"/>
            <a:ext cx="21240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同或逻辑符号</a:t>
            </a:r>
          </a:p>
        </p:txBody>
      </p:sp>
      <p:sp>
        <p:nvSpPr>
          <p:cNvPr id="88" name="Rectangle 80">
            <a:extLst>
              <a:ext uri="{FF2B5EF4-FFF2-40B4-BE49-F238E27FC236}">
                <a16:creationId xmlns:a16="http://schemas.microsoft.com/office/drawing/2014/main" id="{AD455D10-5C28-84F2-019E-E9254CEC5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000" y="3852000"/>
            <a:ext cx="2505850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同或逻辑真值表</a:t>
            </a:r>
          </a:p>
        </p:txBody>
      </p:sp>
      <p:graphicFrame>
        <p:nvGraphicFramePr>
          <p:cNvPr id="89" name="Group 129">
            <a:extLst>
              <a:ext uri="{FF2B5EF4-FFF2-40B4-BE49-F238E27FC236}">
                <a16:creationId xmlns:a16="http://schemas.microsoft.com/office/drawing/2014/main" id="{A2A8C8F5-F091-BE2A-C307-6E8EB5F4D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278568"/>
              </p:ext>
            </p:extLst>
          </p:nvPr>
        </p:nvGraphicFramePr>
        <p:xfrm>
          <a:off x="8640000" y="4320000"/>
          <a:ext cx="2505851" cy="2141536"/>
        </p:xfrm>
        <a:graphic>
          <a:graphicData uri="http://schemas.openxmlformats.org/drawingml/2006/table">
            <a:tbl>
              <a:tblPr/>
              <a:tblGrid>
                <a:gridCol w="75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6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" name="文本框 89">
            <a:extLst>
              <a:ext uri="{FF2B5EF4-FFF2-40B4-BE49-F238E27FC236}">
                <a16:creationId xmlns:a16="http://schemas.microsoft.com/office/drawing/2014/main" id="{319D4464-6BB6-082D-0678-7BE40153939B}"/>
              </a:ext>
            </a:extLst>
          </p:cNvPr>
          <p:cNvSpPr txBox="1"/>
          <p:nvPr/>
        </p:nvSpPr>
        <p:spPr>
          <a:xfrm>
            <a:off x="3564000" y="5292000"/>
            <a:ext cx="708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EEAADA1C-8CB0-A9D0-9EF3-8F097676D5C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652A3AE6-9F50-9967-B3CF-55206F01C3A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20" name="箭头: 五边形 119">
                <a:extLst>
                  <a:ext uri="{FF2B5EF4-FFF2-40B4-BE49-F238E27FC236}">
                    <a16:creationId xmlns:a16="http://schemas.microsoft.com/office/drawing/2014/main" id="{429D9A61-68FA-6C9D-4C28-949D4A9FCB7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箭头: V 形 120">
                <a:extLst>
                  <a:ext uri="{FF2B5EF4-FFF2-40B4-BE49-F238E27FC236}">
                    <a16:creationId xmlns:a16="http://schemas.microsoft.com/office/drawing/2014/main" id="{976C3566-2028-E146-AE6E-6F480B1A971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" name="灯片编号占位符 3">
              <a:extLst>
                <a:ext uri="{FF2B5EF4-FFF2-40B4-BE49-F238E27FC236}">
                  <a16:creationId xmlns:a16="http://schemas.microsoft.com/office/drawing/2014/main" id="{9426A2BA-19D8-09D1-C011-3AF4F934A88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88401819-4D68-1BFE-3A02-1842CA635F9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逻辑代数和基本逻辑运算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异或运算和同或运算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25A9817-2852-30BB-5291-1EE1BB2B9AA7}"/>
              </a:ext>
            </a:extLst>
          </p:cNvPr>
          <p:cNvGrpSpPr/>
          <p:nvPr/>
        </p:nvGrpSpPr>
        <p:grpSpPr>
          <a:xfrm>
            <a:off x="4680000" y="2016000"/>
            <a:ext cx="2112763" cy="715148"/>
            <a:chOff x="1080000" y="2915245"/>
            <a:chExt cx="2112763" cy="715148"/>
          </a:xfrm>
        </p:grpSpPr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C722A380-6A2F-7952-F9A0-E0F33E0B0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699" y="3270248"/>
              <a:ext cx="9690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6B647046-2444-7BD9-43F6-A2C72DC43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247" y="3095002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F013D3B3-D708-0B99-1EE2-AA7359663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048" y="3455002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5">
              <a:extLst>
                <a:ext uri="{FF2B5EF4-FFF2-40B4-BE49-F238E27FC236}">
                  <a16:creationId xmlns:a16="http://schemas.microsoft.com/office/drawing/2014/main" id="{17E7A817-9171-552E-76B3-A87C1DAEC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2915245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5">
              <a:extLst>
                <a:ext uri="{FF2B5EF4-FFF2-40B4-BE49-F238E27FC236}">
                  <a16:creationId xmlns:a16="http://schemas.microsoft.com/office/drawing/2014/main" id="{6033A39A-8D43-C29A-7879-6EA426E00D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3297994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5">
              <a:extLst>
                <a:ext uri="{FF2B5EF4-FFF2-40B4-BE49-F238E27FC236}">
                  <a16:creationId xmlns:a16="http://schemas.microsoft.com/office/drawing/2014/main" id="{D1F43C76-23EA-2CCD-FDB8-D2D1BEC76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719" y="3104663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9F0AA312-C268-D359-9166-7CEFB8B79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103" y="2916360"/>
              <a:ext cx="571164" cy="70643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Box 19">
              <a:extLst>
                <a:ext uri="{FF2B5EF4-FFF2-40B4-BE49-F238E27FC236}">
                  <a16:creationId xmlns:a16="http://schemas.microsoft.com/office/drawing/2014/main" id="{83D6B6B0-4B51-1703-ACD6-0AD3E5728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2103" y="2972577"/>
              <a:ext cx="57116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=1</a:t>
              </a: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99C63A1-276D-2902-4FA6-F1B95BC5D17A}"/>
              </a:ext>
            </a:extLst>
          </p:cNvPr>
          <p:cNvGrpSpPr/>
          <p:nvPr/>
        </p:nvGrpSpPr>
        <p:grpSpPr>
          <a:xfrm>
            <a:off x="4680000" y="5148000"/>
            <a:ext cx="2112763" cy="715148"/>
            <a:chOff x="4680000" y="3177795"/>
            <a:chExt cx="2112763" cy="715148"/>
          </a:xfrm>
        </p:grpSpPr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DF9DDCAF-C0D1-B561-836F-20D158A48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6699" y="3532798"/>
              <a:ext cx="9690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7">
              <a:extLst>
                <a:ext uri="{FF2B5EF4-FFF2-40B4-BE49-F238E27FC236}">
                  <a16:creationId xmlns:a16="http://schemas.microsoft.com/office/drawing/2014/main" id="{F4F527D8-C541-7556-C900-98B79C1137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1247" y="3357552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8">
              <a:extLst>
                <a:ext uri="{FF2B5EF4-FFF2-40B4-BE49-F238E27FC236}">
                  <a16:creationId xmlns:a16="http://schemas.microsoft.com/office/drawing/2014/main" id="{8566C7BF-66B1-287B-1DC0-1C70B7660A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5048" y="3717552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Text Box 5">
              <a:extLst>
                <a:ext uri="{FF2B5EF4-FFF2-40B4-BE49-F238E27FC236}">
                  <a16:creationId xmlns:a16="http://schemas.microsoft.com/office/drawing/2014/main" id="{5F1B6999-C401-4656-5238-C7E6B1BFC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000" y="3177795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5">
              <a:extLst>
                <a:ext uri="{FF2B5EF4-FFF2-40B4-BE49-F238E27FC236}">
                  <a16:creationId xmlns:a16="http://schemas.microsoft.com/office/drawing/2014/main" id="{61EC504D-EEBD-F257-9FF1-33F6A75F4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000" y="3560544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 Box 5">
              <a:extLst>
                <a:ext uri="{FF2B5EF4-FFF2-40B4-BE49-F238E27FC236}">
                  <a16:creationId xmlns:a16="http://schemas.microsoft.com/office/drawing/2014/main" id="{225CA06D-F8D9-A2D9-0EDB-864EAF3DD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5719" y="3367213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20">
              <a:extLst>
                <a:ext uri="{FF2B5EF4-FFF2-40B4-BE49-F238E27FC236}">
                  <a16:creationId xmlns:a16="http://schemas.microsoft.com/office/drawing/2014/main" id="{F094380E-7102-D148-ECA7-7EACF2351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2103" y="3178910"/>
              <a:ext cx="571164" cy="70643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Box 19">
              <a:extLst>
                <a:ext uri="{FF2B5EF4-FFF2-40B4-BE49-F238E27FC236}">
                  <a16:creationId xmlns:a16="http://schemas.microsoft.com/office/drawing/2014/main" id="{267D50AD-B1C2-DB8A-A932-80702F626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2103" y="3235127"/>
              <a:ext cx="57116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kumimoji="1" lang="en-US" altLang="zh-CN" sz="2400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=</a:t>
              </a:r>
              <a:endPara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9F7CDAB-B6F0-3B79-95CB-E51689BC10A7}"/>
              </a:ext>
            </a:extLst>
          </p:cNvPr>
          <p:cNvGrpSpPr/>
          <p:nvPr/>
        </p:nvGrpSpPr>
        <p:grpSpPr>
          <a:xfrm>
            <a:off x="898736" y="2016000"/>
            <a:ext cx="2294027" cy="715148"/>
            <a:chOff x="898736" y="2016000"/>
            <a:chExt cx="2294027" cy="715148"/>
          </a:xfrm>
        </p:grpSpPr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6B580A06-2CB2-9B0F-563C-B7BC4C742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267" y="2371003"/>
              <a:ext cx="4024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189EA599-63CE-F7D4-22DD-845734E1E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247" y="2195757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8">
              <a:extLst>
                <a:ext uri="{FF2B5EF4-FFF2-40B4-BE49-F238E27FC236}">
                  <a16:creationId xmlns:a16="http://schemas.microsoft.com/office/drawing/2014/main" id="{5EFCFED8-E4A8-C8E3-A281-6A065DC4A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048" y="2555757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5">
              <a:extLst>
                <a:ext uri="{FF2B5EF4-FFF2-40B4-BE49-F238E27FC236}">
                  <a16:creationId xmlns:a16="http://schemas.microsoft.com/office/drawing/2014/main" id="{FF9A0626-EB15-6E2C-41DA-A7D0FD552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20160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5">
              <a:extLst>
                <a:ext uri="{FF2B5EF4-FFF2-40B4-BE49-F238E27FC236}">
                  <a16:creationId xmlns:a16="http://schemas.microsoft.com/office/drawing/2014/main" id="{765D1386-F365-F5F2-2867-967F4A2CE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00" y="2398749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 Box 5">
              <a:extLst>
                <a:ext uri="{FF2B5EF4-FFF2-40B4-BE49-F238E27FC236}">
                  <a16:creationId xmlns:a16="http://schemas.microsoft.com/office/drawing/2014/main" id="{10416F3B-9BD1-467B-053E-C3D8A682C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719" y="2205418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Arc 158">
              <a:extLst>
                <a:ext uri="{FF2B5EF4-FFF2-40B4-BE49-F238E27FC236}">
                  <a16:creationId xmlns:a16="http://schemas.microsoft.com/office/drawing/2014/main" id="{0F3B96D1-6273-5C1C-C43B-6D7EB31157B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214927" y="1932021"/>
              <a:ext cx="606310" cy="87616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Line 160">
              <a:extLst>
                <a:ext uri="{FF2B5EF4-FFF2-40B4-BE49-F238E27FC236}">
                  <a16:creationId xmlns:a16="http://schemas.microsoft.com/office/drawing/2014/main" id="{18E2B1A8-5451-9A98-74E1-1B83915AA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5186" y="2061289"/>
              <a:ext cx="2699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Arc 156">
              <a:extLst>
                <a:ext uri="{FF2B5EF4-FFF2-40B4-BE49-F238E27FC236}">
                  <a16:creationId xmlns:a16="http://schemas.microsoft.com/office/drawing/2014/main" id="{F0A237C5-889C-CA65-9F9B-24F1CD0AC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160" y="2061677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2" name="Line 160">
              <a:extLst>
                <a:ext uri="{FF2B5EF4-FFF2-40B4-BE49-F238E27FC236}">
                  <a16:creationId xmlns:a16="http://schemas.microsoft.com/office/drawing/2014/main" id="{0A95BD07-DFBB-67BF-F98C-438E7A926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25186" y="2678087"/>
              <a:ext cx="2699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3" name="Arc 156">
              <a:extLst>
                <a:ext uri="{FF2B5EF4-FFF2-40B4-BE49-F238E27FC236}">
                  <a16:creationId xmlns:a16="http://schemas.microsoft.com/office/drawing/2014/main" id="{33A324A1-7075-D935-718D-0C590C9147B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93160" y="2091983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8" name="Arc 158">
              <a:extLst>
                <a:ext uri="{FF2B5EF4-FFF2-40B4-BE49-F238E27FC236}">
                  <a16:creationId xmlns:a16="http://schemas.microsoft.com/office/drawing/2014/main" id="{A23F5E87-83E2-4BA5-AC2D-CE47240B78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1617" y="1889103"/>
              <a:ext cx="555409" cy="961171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34658451-E2BF-82B9-C37E-F44827F3B097}"/>
              </a:ext>
            </a:extLst>
          </p:cNvPr>
          <p:cNvGrpSpPr/>
          <p:nvPr/>
        </p:nvGrpSpPr>
        <p:grpSpPr>
          <a:xfrm>
            <a:off x="900000" y="5148000"/>
            <a:ext cx="2294027" cy="715148"/>
            <a:chOff x="900000" y="5148000"/>
            <a:chExt cx="2294027" cy="715148"/>
          </a:xfrm>
        </p:grpSpPr>
        <p:sp>
          <p:nvSpPr>
            <p:cNvPr id="62" name="Line 9">
              <a:extLst>
                <a:ext uri="{FF2B5EF4-FFF2-40B4-BE49-F238E27FC236}">
                  <a16:creationId xmlns:a16="http://schemas.microsoft.com/office/drawing/2014/main" id="{6EE30E1F-81AC-0C48-8282-E7061DD3C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531" y="5503003"/>
              <a:ext cx="4024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7">
              <a:extLst>
                <a:ext uri="{FF2B5EF4-FFF2-40B4-BE49-F238E27FC236}">
                  <a16:creationId xmlns:a16="http://schemas.microsoft.com/office/drawing/2014/main" id="{10DDED43-1BBC-E1F3-2763-A1A36E8F1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2511" y="5327757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8">
              <a:extLst>
                <a:ext uri="{FF2B5EF4-FFF2-40B4-BE49-F238E27FC236}">
                  <a16:creationId xmlns:a16="http://schemas.microsoft.com/office/drawing/2014/main" id="{F1763C14-84D5-2E26-65B6-E452C64E9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312" y="5687757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Text Box 5">
              <a:extLst>
                <a:ext uri="{FF2B5EF4-FFF2-40B4-BE49-F238E27FC236}">
                  <a16:creationId xmlns:a16="http://schemas.microsoft.com/office/drawing/2014/main" id="{9CC84D67-1D6E-5340-1AFF-E95390321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264" y="51480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Text Box 5">
              <a:extLst>
                <a:ext uri="{FF2B5EF4-FFF2-40B4-BE49-F238E27FC236}">
                  <a16:creationId xmlns:a16="http://schemas.microsoft.com/office/drawing/2014/main" id="{D924D36D-2C7D-8F8A-F6A9-AB0112991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264" y="5530749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Text Box 5">
              <a:extLst>
                <a:ext uri="{FF2B5EF4-FFF2-40B4-BE49-F238E27FC236}">
                  <a16:creationId xmlns:a16="http://schemas.microsoft.com/office/drawing/2014/main" id="{98CAB0CA-625F-4CAC-F2C7-D2244907F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6983" y="5337418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Arc 158">
              <a:extLst>
                <a:ext uri="{FF2B5EF4-FFF2-40B4-BE49-F238E27FC236}">
                  <a16:creationId xmlns:a16="http://schemas.microsoft.com/office/drawing/2014/main" id="{B9499A2B-9D65-ADCD-8944-44567D20FEA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216191" y="5064021"/>
              <a:ext cx="606310" cy="87616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1" name="Line 160">
              <a:extLst>
                <a:ext uri="{FF2B5EF4-FFF2-40B4-BE49-F238E27FC236}">
                  <a16:creationId xmlns:a16="http://schemas.microsoft.com/office/drawing/2014/main" id="{366D1CB4-5742-5143-B366-CE797C018F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6450" y="5193289"/>
              <a:ext cx="2699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2" name="Arc 156">
              <a:extLst>
                <a:ext uri="{FF2B5EF4-FFF2-40B4-BE49-F238E27FC236}">
                  <a16:creationId xmlns:a16="http://schemas.microsoft.com/office/drawing/2014/main" id="{5D89F6E3-51B1-2E55-2F68-A7377F517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424" y="5193677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3" name="Line 160">
              <a:extLst>
                <a:ext uri="{FF2B5EF4-FFF2-40B4-BE49-F238E27FC236}">
                  <a16:creationId xmlns:a16="http://schemas.microsoft.com/office/drawing/2014/main" id="{F8E75113-8EF2-08F3-A8DB-D9BB17E85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26450" y="5810087"/>
              <a:ext cx="2699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4" name="Arc 156">
              <a:extLst>
                <a:ext uri="{FF2B5EF4-FFF2-40B4-BE49-F238E27FC236}">
                  <a16:creationId xmlns:a16="http://schemas.microsoft.com/office/drawing/2014/main" id="{1D500099-1CBC-6AC2-5EE3-1B0BE852743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94424" y="5223983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5" name="Arc 158">
              <a:extLst>
                <a:ext uri="{FF2B5EF4-FFF2-40B4-BE49-F238E27FC236}">
                  <a16:creationId xmlns:a16="http://schemas.microsoft.com/office/drawing/2014/main" id="{303D4883-9E9B-69F5-A723-CC06F8097B6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2881" y="5021103"/>
              <a:ext cx="555409" cy="961171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6" name="Oval 163">
              <a:extLst>
                <a:ext uri="{FF2B5EF4-FFF2-40B4-BE49-F238E27FC236}">
                  <a16:creationId xmlns:a16="http://schemas.microsoft.com/office/drawing/2014/main" id="{C59574B4-BED8-682E-E0EF-47AAB177B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000" y="5430102"/>
              <a:ext cx="144000" cy="144000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0241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1D2C3-6B3B-EE62-C28F-3352C09A4B2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逻辑代数和基本逻辑运算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与或非运算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FD378DA-5F66-ABCA-1261-47053A457B0E}"/>
                  </a:ext>
                </a:extLst>
              </p:cNvPr>
              <p:cNvSpPr txBox="1"/>
              <p:nvPr/>
            </p:nvSpPr>
            <p:spPr>
              <a:xfrm>
                <a:off x="360000" y="1296000"/>
                <a:ext cx="7478134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与或非逻辑表达式：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CD</m:t>
                        </m:r>
                      </m:e>
                    </m:acc>
                  </m:oMath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FD378DA-5F66-ABCA-1261-47053A457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296000"/>
                <a:ext cx="7478134" cy="524118"/>
              </a:xfrm>
              <a:prstGeom prst="rect">
                <a:avLst/>
              </a:prstGeom>
              <a:blipFill>
                <a:blip r:embed="rId3"/>
                <a:stretch>
                  <a:fillRect l="-1630" t="-13953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12">
            <a:extLst>
              <a:ext uri="{FF2B5EF4-FFF2-40B4-BE49-F238E27FC236}">
                <a16:creationId xmlns:a16="http://schemas.microsoft.com/office/drawing/2014/main" id="{68471143-0404-5934-85B8-5B3029563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198" y="5400000"/>
            <a:ext cx="2477603" cy="52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与或非逻辑符号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8007719-75DF-D785-2B8B-01F9F06CE72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6EA98FCF-3D2A-8198-9E4F-3695688A3C4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0" name="箭头: 五边形 59">
                <a:extLst>
                  <a:ext uri="{FF2B5EF4-FFF2-40B4-BE49-F238E27FC236}">
                    <a16:creationId xmlns:a16="http://schemas.microsoft.com/office/drawing/2014/main" id="{E7CAF4AF-4DF7-0A86-B49F-60E2CB58B4F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" name="箭头: V 形 60">
                <a:extLst>
                  <a:ext uri="{FF2B5EF4-FFF2-40B4-BE49-F238E27FC236}">
                    <a16:creationId xmlns:a16="http://schemas.microsoft.com/office/drawing/2014/main" id="{9DD13377-248F-2856-A1BD-2E05F1D68AF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9" name="灯片编号占位符 3">
              <a:extLst>
                <a:ext uri="{FF2B5EF4-FFF2-40B4-BE49-F238E27FC236}">
                  <a16:creationId xmlns:a16="http://schemas.microsoft.com/office/drawing/2014/main" id="{143FB31E-57C9-C234-6E11-C4CB83B85CD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232687C-AFE0-9614-4C7A-475D1E1D31E5}"/>
              </a:ext>
            </a:extLst>
          </p:cNvPr>
          <p:cNvGrpSpPr/>
          <p:nvPr/>
        </p:nvGrpSpPr>
        <p:grpSpPr>
          <a:xfrm>
            <a:off x="1800000" y="2736000"/>
            <a:ext cx="3490357" cy="1770549"/>
            <a:chOff x="1135082" y="4663507"/>
            <a:chExt cx="3490357" cy="1770549"/>
          </a:xfrm>
        </p:grpSpPr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C486C9DD-B078-289A-45AE-7B8323410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1932" y="5018510"/>
              <a:ext cx="93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7">
              <a:extLst>
                <a:ext uri="{FF2B5EF4-FFF2-40B4-BE49-F238E27FC236}">
                  <a16:creationId xmlns:a16="http://schemas.microsoft.com/office/drawing/2014/main" id="{D94C450E-C1EB-38F7-B8D3-E6BA5F4874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6480" y="4843264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9CA10E29-6718-BB4D-4335-3B9D0419F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0281" y="5203264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AutoShape 11">
              <a:extLst>
                <a:ext uri="{FF2B5EF4-FFF2-40B4-BE49-F238E27FC236}">
                  <a16:creationId xmlns:a16="http://schemas.microsoft.com/office/drawing/2014/main" id="{3D382316-AEFE-560A-7A93-F73D89877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931" y="4709072"/>
              <a:ext cx="561975" cy="617538"/>
            </a:xfrm>
            <a:prstGeom prst="flowChartDelay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Text Box 5">
              <a:extLst>
                <a:ext uri="{FF2B5EF4-FFF2-40B4-BE49-F238E27FC236}">
                  <a16:creationId xmlns:a16="http://schemas.microsoft.com/office/drawing/2014/main" id="{AF21C788-9B76-4A45-1C7C-DB974DE1B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233" y="4663507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 Box 5">
              <a:extLst>
                <a:ext uri="{FF2B5EF4-FFF2-40B4-BE49-F238E27FC236}">
                  <a16:creationId xmlns:a16="http://schemas.microsoft.com/office/drawing/2014/main" id="{7581AAAA-A47D-C8F5-5B3B-63292561C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233" y="5046256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9">
              <a:extLst>
                <a:ext uri="{FF2B5EF4-FFF2-40B4-BE49-F238E27FC236}">
                  <a16:creationId xmlns:a16="http://schemas.microsoft.com/office/drawing/2014/main" id="{D8FC3D20-5719-5C36-6F1C-26ACB26C2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1781" y="6073911"/>
              <a:ext cx="9399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7">
              <a:extLst>
                <a:ext uri="{FF2B5EF4-FFF2-40B4-BE49-F238E27FC236}">
                  <a16:creationId xmlns:a16="http://schemas.microsoft.com/office/drawing/2014/main" id="{30C85D57-2F80-003D-35CF-F437C9A06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6329" y="5898665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8">
              <a:extLst>
                <a:ext uri="{FF2B5EF4-FFF2-40B4-BE49-F238E27FC236}">
                  <a16:creationId xmlns:a16="http://schemas.microsoft.com/office/drawing/2014/main" id="{037531FC-A50D-294D-B68E-22D66F5B2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0130" y="6258665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AutoShape 11">
              <a:extLst>
                <a:ext uri="{FF2B5EF4-FFF2-40B4-BE49-F238E27FC236}">
                  <a16:creationId xmlns:a16="http://schemas.microsoft.com/office/drawing/2014/main" id="{060BB2CD-06A2-8BE3-D4A1-119765FDD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780" y="5764473"/>
              <a:ext cx="561975" cy="617538"/>
            </a:xfrm>
            <a:prstGeom prst="flowChartDelay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Text Box 5">
              <a:extLst>
                <a:ext uri="{FF2B5EF4-FFF2-40B4-BE49-F238E27FC236}">
                  <a16:creationId xmlns:a16="http://schemas.microsoft.com/office/drawing/2014/main" id="{E4896B77-C09E-8DBA-9B1B-195AB4EAF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082" y="5718908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Text Box 5">
              <a:extLst>
                <a:ext uri="{FF2B5EF4-FFF2-40B4-BE49-F238E27FC236}">
                  <a16:creationId xmlns:a16="http://schemas.microsoft.com/office/drawing/2014/main" id="{9D21F738-C1CE-0124-2D6C-A0C8E14AF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082" y="6101657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9">
              <a:extLst>
                <a:ext uri="{FF2B5EF4-FFF2-40B4-BE49-F238E27FC236}">
                  <a16:creationId xmlns:a16="http://schemas.microsoft.com/office/drawing/2014/main" id="{41CA73BB-DD7A-6408-ACCD-35BDB091D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5943" y="5563970"/>
              <a:ext cx="4024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Line 7">
              <a:extLst>
                <a:ext uri="{FF2B5EF4-FFF2-40B4-BE49-F238E27FC236}">
                  <a16:creationId xmlns:a16="http://schemas.microsoft.com/office/drawing/2014/main" id="{F0D8538A-A434-3635-B0D6-D6DE90DA2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3923" y="5388724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8">
              <a:extLst>
                <a:ext uri="{FF2B5EF4-FFF2-40B4-BE49-F238E27FC236}">
                  <a16:creationId xmlns:a16="http://schemas.microsoft.com/office/drawing/2014/main" id="{DDBB8CC7-D918-F295-48FF-15306B6E3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724" y="5748724"/>
              <a:ext cx="4618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5">
              <a:extLst>
                <a:ext uri="{FF2B5EF4-FFF2-40B4-BE49-F238E27FC236}">
                  <a16:creationId xmlns:a16="http://schemas.microsoft.com/office/drawing/2014/main" id="{8FAB4A08-227D-732E-1A16-81F4149A1E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395" y="5398385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Arc 158">
              <a:extLst>
                <a:ext uri="{FF2B5EF4-FFF2-40B4-BE49-F238E27FC236}">
                  <a16:creationId xmlns:a16="http://schemas.microsoft.com/office/drawing/2014/main" id="{853F2B12-DFEA-04E0-5A8A-30327B3B4C4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647603" y="5124988"/>
              <a:ext cx="606310" cy="87616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5" name="Line 160">
              <a:extLst>
                <a:ext uri="{FF2B5EF4-FFF2-40B4-BE49-F238E27FC236}">
                  <a16:creationId xmlns:a16="http://schemas.microsoft.com/office/drawing/2014/main" id="{5BEF9DDB-F02B-29A1-52ED-E2128F551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7862" y="5254256"/>
              <a:ext cx="2699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6" name="Arc 156">
              <a:extLst>
                <a:ext uri="{FF2B5EF4-FFF2-40B4-BE49-F238E27FC236}">
                  <a16:creationId xmlns:a16="http://schemas.microsoft.com/office/drawing/2014/main" id="{F743C609-8661-EAE4-9594-4EA903252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836" y="5254644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7" name="Line 160">
              <a:extLst>
                <a:ext uri="{FF2B5EF4-FFF2-40B4-BE49-F238E27FC236}">
                  <a16:creationId xmlns:a16="http://schemas.microsoft.com/office/drawing/2014/main" id="{6A5C21D0-5A57-BF18-54F7-524AB7C403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57862" y="5871054"/>
              <a:ext cx="2699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8" name="Arc 156">
              <a:extLst>
                <a:ext uri="{FF2B5EF4-FFF2-40B4-BE49-F238E27FC236}">
                  <a16:creationId xmlns:a16="http://schemas.microsoft.com/office/drawing/2014/main" id="{E8293787-4CC9-BE71-CE33-4291D76D35B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25836" y="5284950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9" name="Oval 163">
              <a:extLst>
                <a:ext uri="{FF2B5EF4-FFF2-40B4-BE49-F238E27FC236}">
                  <a16:creationId xmlns:a16="http://schemas.microsoft.com/office/drawing/2014/main" id="{005903AF-AF5F-9340-05E8-E64F79915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4676" y="5491069"/>
              <a:ext cx="144000" cy="144000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0" name="Line 7">
              <a:extLst>
                <a:ext uri="{FF2B5EF4-FFF2-40B4-BE49-F238E27FC236}">
                  <a16:creationId xmlns:a16="http://schemas.microsoft.com/office/drawing/2014/main" id="{F4B38F6B-1656-D402-081E-BB712335693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689148" y="5203594"/>
              <a:ext cx="408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7">
              <a:extLst>
                <a:ext uri="{FF2B5EF4-FFF2-40B4-BE49-F238E27FC236}">
                  <a16:creationId xmlns:a16="http://schemas.microsoft.com/office/drawing/2014/main" id="{5A316D0E-DB96-5CAB-791D-CA76556EFD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2951" y="5909764"/>
              <a:ext cx="360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F52ECC0E-2EFE-6E56-6C46-D0E7B956FB69}"/>
              </a:ext>
            </a:extLst>
          </p:cNvPr>
          <p:cNvGrpSpPr/>
          <p:nvPr/>
        </p:nvGrpSpPr>
        <p:grpSpPr>
          <a:xfrm>
            <a:off x="7200000" y="2016000"/>
            <a:ext cx="2758898" cy="2921923"/>
            <a:chOff x="7837984" y="2104876"/>
            <a:chExt cx="2758898" cy="2921923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BAB4CEF0-2DC5-DDB5-66CE-C8F76CF73544}"/>
                </a:ext>
              </a:extLst>
            </p:cNvPr>
            <p:cNvSpPr/>
            <p:nvPr/>
          </p:nvSpPr>
          <p:spPr>
            <a:xfrm>
              <a:off x="7838134" y="2885838"/>
              <a:ext cx="2758748" cy="128831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693F31BB-80B9-CF34-9484-7F472FAD6900}"/>
                </a:ext>
              </a:extLst>
            </p:cNvPr>
            <p:cNvCxnSpPr>
              <a:cxnSpLocks/>
              <a:stCxn id="93" idx="1"/>
              <a:endCxn id="93" idx="3"/>
            </p:cNvCxnSpPr>
            <p:nvPr/>
          </p:nvCxnSpPr>
          <p:spPr>
            <a:xfrm>
              <a:off x="7838134" y="3529994"/>
              <a:ext cx="27587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34A80ACC-E2F6-E0D1-268C-49AD85330477}"/>
                </a:ext>
              </a:extLst>
            </p:cNvPr>
            <p:cNvCxnSpPr>
              <a:cxnSpLocks/>
              <a:endCxn id="93" idx="2"/>
            </p:cNvCxnSpPr>
            <p:nvPr/>
          </p:nvCxnSpPr>
          <p:spPr>
            <a:xfrm>
              <a:off x="9217508" y="3519227"/>
              <a:ext cx="0" cy="65492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 Box 16">
              <a:extLst>
                <a:ext uri="{FF2B5EF4-FFF2-40B4-BE49-F238E27FC236}">
                  <a16:creationId xmlns:a16="http://schemas.microsoft.com/office/drawing/2014/main" id="{35671DB9-7686-5229-5AC4-ED3AC3CC3A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984" y="3635649"/>
              <a:ext cx="1379522" cy="4247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Text Box 16">
              <a:extLst>
                <a:ext uri="{FF2B5EF4-FFF2-40B4-BE49-F238E27FC236}">
                  <a16:creationId xmlns:a16="http://schemas.microsoft.com/office/drawing/2014/main" id="{2D2B1A23-114E-3DDE-AB6F-4C3EB917C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14219" y="3635649"/>
              <a:ext cx="1379371" cy="4247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 Box 15">
              <a:extLst>
                <a:ext uri="{FF2B5EF4-FFF2-40B4-BE49-F238E27FC236}">
                  <a16:creationId xmlns:a16="http://schemas.microsoft.com/office/drawing/2014/main" id="{F71F1569-4F42-E537-1018-2D6A5B185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686" y="2959806"/>
              <a:ext cx="6110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kumimoji="1" lang="zh-CN" altLang="en-US" sz="2400" dirty="0">
                  <a:latin typeface="Times New Roman" panose="02020603050405020304" pitchFamily="18" charset="0"/>
                </a:rPr>
                <a:t>≥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774BCFAD-0C43-29DA-47E8-F50489A2718A}"/>
                </a:ext>
              </a:extLst>
            </p:cNvPr>
            <p:cNvCxnSpPr>
              <a:cxnSpLocks/>
              <a:endCxn id="93" idx="0"/>
            </p:cNvCxnSpPr>
            <p:nvPr/>
          </p:nvCxnSpPr>
          <p:spPr>
            <a:xfrm>
              <a:off x="9217508" y="2474259"/>
              <a:ext cx="0" cy="4115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Oval 22">
              <a:extLst>
                <a:ext uri="{FF2B5EF4-FFF2-40B4-BE49-F238E27FC236}">
                  <a16:creationId xmlns:a16="http://schemas.microsoft.com/office/drawing/2014/main" id="{A20DF617-BDD7-AD22-2E52-2C85C2E57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5308" y="2723854"/>
              <a:ext cx="144000" cy="1440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/>
            </a:p>
          </p:txBody>
        </p: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FD54DE82-F02D-A4DD-5AF1-652C3D5D3423}"/>
                </a:ext>
              </a:extLst>
            </p:cNvPr>
            <p:cNvCxnSpPr>
              <a:cxnSpLocks/>
            </p:cNvCxnSpPr>
            <p:nvPr/>
          </p:nvCxnSpPr>
          <p:spPr>
            <a:xfrm>
              <a:off x="8168556" y="4173467"/>
              <a:ext cx="0" cy="4115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22414A42-3718-A303-62C6-39D565503D8D}"/>
                </a:ext>
              </a:extLst>
            </p:cNvPr>
            <p:cNvCxnSpPr>
              <a:cxnSpLocks/>
            </p:cNvCxnSpPr>
            <p:nvPr/>
          </p:nvCxnSpPr>
          <p:spPr>
            <a:xfrm>
              <a:off x="8887086" y="4173467"/>
              <a:ext cx="0" cy="4115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D60DF1B1-C58E-346B-5290-129C8003CE39}"/>
                </a:ext>
              </a:extLst>
            </p:cNvPr>
            <p:cNvCxnSpPr>
              <a:cxnSpLocks/>
            </p:cNvCxnSpPr>
            <p:nvPr/>
          </p:nvCxnSpPr>
          <p:spPr>
            <a:xfrm>
              <a:off x="9544639" y="4173467"/>
              <a:ext cx="0" cy="4115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27A6053B-11E6-8E7B-D032-8B9688A5EF63}"/>
                </a:ext>
              </a:extLst>
            </p:cNvPr>
            <p:cNvCxnSpPr>
              <a:cxnSpLocks/>
            </p:cNvCxnSpPr>
            <p:nvPr/>
          </p:nvCxnSpPr>
          <p:spPr>
            <a:xfrm>
              <a:off x="10263169" y="4173467"/>
              <a:ext cx="0" cy="4115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 Box 5">
              <a:extLst>
                <a:ext uri="{FF2B5EF4-FFF2-40B4-BE49-F238E27FC236}">
                  <a16:creationId xmlns:a16="http://schemas.microsoft.com/office/drawing/2014/main" id="{587101C1-B878-A089-A791-44673BF59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0696" y="2104876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Text Box 5">
              <a:extLst>
                <a:ext uri="{FF2B5EF4-FFF2-40B4-BE49-F238E27FC236}">
                  <a16:creationId xmlns:a16="http://schemas.microsoft.com/office/drawing/2014/main" id="{36A05076-F34F-B85E-D585-6A04DEC5A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5034" y="46944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Text Box 5">
              <a:extLst>
                <a:ext uri="{FF2B5EF4-FFF2-40B4-BE49-F238E27FC236}">
                  <a16:creationId xmlns:a16="http://schemas.microsoft.com/office/drawing/2014/main" id="{4CA882AC-64A3-535D-4AA9-803A9C438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3564" y="46944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Text Box 5">
              <a:extLst>
                <a:ext uri="{FF2B5EF4-FFF2-40B4-BE49-F238E27FC236}">
                  <a16:creationId xmlns:a16="http://schemas.microsoft.com/office/drawing/2014/main" id="{53E84FD2-1C72-EF3D-C0C0-B422870F33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1117" y="46944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Text Box 5">
              <a:extLst>
                <a:ext uri="{FF2B5EF4-FFF2-40B4-BE49-F238E27FC236}">
                  <a16:creationId xmlns:a16="http://schemas.microsoft.com/office/drawing/2014/main" id="{9BDBF7AF-4A30-201A-BCD9-952DA5EAFF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9647" y="46944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3988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7FD56C5-C2A3-A0F6-E37D-6C42EB17C4AF}"/>
                  </a:ext>
                </a:extLst>
              </p:cNvPr>
              <p:cNvSpPr txBox="1"/>
              <p:nvPr/>
            </p:nvSpPr>
            <p:spPr>
              <a:xfrm>
                <a:off x="2545679" y="2376979"/>
                <a:ext cx="71006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，简写为</a:t>
                </a:r>
                <a:r>
                  <a:rPr lang="en-US" altLang="zh-CN" sz="32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7FD56C5-C2A3-A0F6-E37D-6C42EB17C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679" y="2376979"/>
                <a:ext cx="7100642" cy="584775"/>
              </a:xfrm>
              <a:prstGeom prst="rect">
                <a:avLst/>
              </a:prstGeom>
              <a:blipFill>
                <a:blip r:embed="rId2"/>
                <a:stretch>
                  <a:fillRect t="-3125" b="-26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E0081C65-E360-76A9-B9C1-6A1BF2887FD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逻辑函数及其表示方法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9757BAE-D862-7B40-E185-044C91B92DA3}"/>
                  </a:ext>
                </a:extLst>
              </p:cNvPr>
              <p:cNvSpPr txBox="1"/>
              <p:nvPr/>
            </p:nvSpPr>
            <p:spPr>
              <a:xfrm>
                <a:off x="360001" y="828000"/>
                <a:ext cx="1137971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如果对于输入逻辑变量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的每一组确定值，输出逻辑变量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都有唯一确定的值，则称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的逻辑函数，记为：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9757BAE-D862-7B40-E185-044C91B92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828000"/>
                <a:ext cx="11379716" cy="954107"/>
              </a:xfrm>
              <a:prstGeom prst="rect">
                <a:avLst/>
              </a:prstGeom>
              <a:blipFill>
                <a:blip r:embed="rId3"/>
                <a:stretch>
                  <a:fillRect l="-1071"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C16D4A6F-5769-71E3-33D0-6287009B52F4}"/>
              </a:ext>
            </a:extLst>
          </p:cNvPr>
          <p:cNvSpPr txBox="1"/>
          <p:nvPr/>
        </p:nvSpPr>
        <p:spPr>
          <a:xfrm>
            <a:off x="360000" y="3600000"/>
            <a:ext cx="880500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逻辑函数的表示方法：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真值表、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逻辑式、逻辑图、波形图、卡诺图等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不同的表示方法是等价的，可以相互转换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F5FD65C-F123-01D2-FE4B-8E3DA452949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552BB06-362E-9156-E339-4906F744D07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1" name="箭头: 五边形 10">
                <a:extLst>
                  <a:ext uri="{FF2B5EF4-FFF2-40B4-BE49-F238E27FC236}">
                    <a16:creationId xmlns:a16="http://schemas.microsoft.com/office/drawing/2014/main" id="{CC735A55-1EF1-B178-9343-CCB65311778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" name="箭头: V 形 11">
                <a:extLst>
                  <a:ext uri="{FF2B5EF4-FFF2-40B4-BE49-F238E27FC236}">
                    <a16:creationId xmlns:a16="http://schemas.microsoft.com/office/drawing/2014/main" id="{22159074-4CC3-F631-CBF4-AFD1F1382F0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灯片编号占位符 3">
              <a:extLst>
                <a:ext uri="{FF2B5EF4-FFF2-40B4-BE49-F238E27FC236}">
                  <a16:creationId xmlns:a16="http://schemas.microsoft.com/office/drawing/2014/main" id="{20AC2A3C-4374-5907-5CC4-C2F691F527D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4385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E3B676-C1FA-0F07-438D-19085A117E49}"/>
              </a:ext>
            </a:extLst>
          </p:cNvPr>
          <p:cNvSpPr txBox="1"/>
          <p:nvPr/>
        </p:nvSpPr>
        <p:spPr>
          <a:xfrm>
            <a:off x="360000" y="828000"/>
            <a:ext cx="10315756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真值表：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由逻辑变量所有取值组合及其对应函数值构成的表格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D61FAD-8169-2759-AB35-41FF184FA62D}"/>
              </a:ext>
            </a:extLst>
          </p:cNvPr>
          <p:cNvSpPr txBox="1"/>
          <p:nvPr/>
        </p:nvSpPr>
        <p:spPr>
          <a:xfrm>
            <a:off x="360000" y="2016000"/>
            <a:ext cx="1058438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逻辑函数式</a:t>
            </a:r>
            <a:r>
              <a:rPr lang="en-US" altLang="zh-CN" sz="28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由逻辑变量、逻辑运算符和括号等构成的式子，也称逻辑代数式，或者逻辑表达式，简称逻辑式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E723E3-B0EE-9E8F-5751-725BF5589159}"/>
              </a:ext>
            </a:extLst>
          </p:cNvPr>
          <p:cNvSpPr txBox="1"/>
          <p:nvPr/>
        </p:nvSpPr>
        <p:spPr>
          <a:xfrm>
            <a:off x="360000" y="3600000"/>
            <a:ext cx="10315756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8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8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由逻辑符号以及相应连线构成的电路图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75505B-1CAF-ECFC-E4D9-A7F2446CE79D}"/>
              </a:ext>
            </a:extLst>
          </p:cNvPr>
          <p:cNvSpPr txBox="1"/>
          <p:nvPr/>
        </p:nvSpPr>
        <p:spPr>
          <a:xfrm>
            <a:off x="360001" y="4824000"/>
            <a:ext cx="1058438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波形图</a:t>
            </a:r>
            <a:r>
              <a:rPr lang="en-US" altLang="zh-CN" sz="28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将逻辑变量所有取值组合及其对应函数值，以高、低电平形式，按时间顺序排列构成的图形，又称时序图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8EA9B16-56E7-4D82-B094-4B4292A8DCC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E3D5348-067A-CB5E-450F-5488925BFA7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1" name="箭头: 五边形 10">
                <a:extLst>
                  <a:ext uri="{FF2B5EF4-FFF2-40B4-BE49-F238E27FC236}">
                    <a16:creationId xmlns:a16="http://schemas.microsoft.com/office/drawing/2014/main" id="{8728B51B-F2D0-63D8-C650-72453DF9FE5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" name="箭头: V 形 11">
                <a:extLst>
                  <a:ext uri="{FF2B5EF4-FFF2-40B4-BE49-F238E27FC236}">
                    <a16:creationId xmlns:a16="http://schemas.microsoft.com/office/drawing/2014/main" id="{E2850C13-83A8-E4C3-D369-489A1438A30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灯片编号占位符 3">
              <a:extLst>
                <a:ext uri="{FF2B5EF4-FFF2-40B4-BE49-F238E27FC236}">
                  <a16:creationId xmlns:a16="http://schemas.microsoft.com/office/drawing/2014/main" id="{ED570B2D-AB19-4B03-25BB-7066F055CFD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D3D2AE43-17A8-8198-0026-E1E2F763E77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逻辑函数及其表示方法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103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F8F1EC4-D507-176E-A4CF-CEDE4F5352D9}"/>
                  </a:ext>
                </a:extLst>
              </p:cNvPr>
              <p:cNvSpPr txBox="1"/>
              <p:nvPr/>
            </p:nvSpPr>
            <p:spPr>
              <a:xfrm>
                <a:off x="7020000" y="828000"/>
                <a:ext cx="4724400" cy="585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3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32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3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3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zh-CN" altLang="en-US" sz="3200" dirty="0">
                    <a:solidFill>
                      <a:srgbClr val="0000FF"/>
                    </a:solidFill>
                  </a:rPr>
                  <a:t> 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F8F1EC4-D507-176E-A4CF-CEDE4F535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000" y="828000"/>
                <a:ext cx="4724400" cy="5859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Group 4">
            <a:extLst>
              <a:ext uri="{FF2B5EF4-FFF2-40B4-BE49-F238E27FC236}">
                <a16:creationId xmlns:a16="http://schemas.microsoft.com/office/drawing/2014/main" id="{6A5267C6-9608-F89C-6A59-42FC8344B1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6765232"/>
              </p:ext>
            </p:extLst>
          </p:nvPr>
        </p:nvGraphicFramePr>
        <p:xfrm>
          <a:off x="7951420" y="2052537"/>
          <a:ext cx="2700338" cy="4176714"/>
        </p:xfrm>
        <a:graphic>
          <a:graphicData uri="http://schemas.openxmlformats.org/drawingml/2006/table">
            <a:tbl>
              <a:tblPr/>
              <a:tblGrid>
                <a:gridCol w="64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98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70">
            <a:extLst>
              <a:ext uri="{FF2B5EF4-FFF2-40B4-BE49-F238E27FC236}">
                <a16:creationId xmlns:a16="http://schemas.microsoft.com/office/drawing/2014/main" id="{CF956D5C-7E84-4381-18A6-C0A5F7631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7591" y="1514672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真值表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BF8D320-8127-9F0F-EFDC-213C538F665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CCABAB0-A212-BE8C-B062-EB6D0D3B9CB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3" name="箭头: 五边形 12">
                <a:extLst>
                  <a:ext uri="{FF2B5EF4-FFF2-40B4-BE49-F238E27FC236}">
                    <a16:creationId xmlns:a16="http://schemas.microsoft.com/office/drawing/2014/main" id="{F4DE82C8-3655-C703-823E-23E963ED45F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" name="箭头: V 形 13">
                <a:extLst>
                  <a:ext uri="{FF2B5EF4-FFF2-40B4-BE49-F238E27FC236}">
                    <a16:creationId xmlns:a16="http://schemas.microsoft.com/office/drawing/2014/main" id="{028290BF-49C8-1FF5-F7DC-3EE45984889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" name="灯片编号占位符 3">
              <a:extLst>
                <a:ext uri="{FF2B5EF4-FFF2-40B4-BE49-F238E27FC236}">
                  <a16:creationId xmlns:a16="http://schemas.microsoft.com/office/drawing/2014/main" id="{C7E2FE29-3EB4-1926-FA04-74F37358BAC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6EDC9160-876C-FC6D-C50E-97DD52E0038B}"/>
              </a:ext>
            </a:extLst>
          </p:cNvPr>
          <p:cNvSpPr txBox="1"/>
          <p:nvPr/>
        </p:nvSpPr>
        <p:spPr>
          <a:xfrm>
            <a:off x="360000" y="828000"/>
            <a:ext cx="6531365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真值表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逻辑式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找出真值表中使逻辑函数输出为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的输入变量取值组合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每个组合写成一个乘积项，其中取值为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的输入变量写成原变量，为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的写成反变量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将这些乘积项相加，即得逻辑函数式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8D04949-2F43-685A-829D-4DC322DB850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逻辑函数及其表示方法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由真值表到逻辑式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46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C8F9-186B-E297-6879-4D77B8C8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6C8DB7B-425E-8164-B0BF-C47D13D7179C}"/>
                  </a:ext>
                </a:extLst>
              </p:cNvPr>
              <p:cNvSpPr txBox="1"/>
              <p:nvPr/>
            </p:nvSpPr>
            <p:spPr>
              <a:xfrm>
                <a:off x="7776000" y="828000"/>
                <a:ext cx="3567690" cy="585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zh-CN" sz="3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3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n-US" altLang="zh-CN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3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6C8DB7B-425E-8164-B0BF-C47D13D71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000" y="828000"/>
                <a:ext cx="3567690" cy="5859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70">
            <a:extLst>
              <a:ext uri="{FF2B5EF4-FFF2-40B4-BE49-F238E27FC236}">
                <a16:creationId xmlns:a16="http://schemas.microsoft.com/office/drawing/2014/main" id="{5A4AFC25-7231-A9A0-F970-06706527C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7591" y="1514672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真值表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F0CCC32-689D-D1A6-0CFC-D6B7CCE483E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2CEC19E-68F5-2EC0-2D30-FCDD6548917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3" name="箭头: 五边形 12">
                <a:extLst>
                  <a:ext uri="{FF2B5EF4-FFF2-40B4-BE49-F238E27FC236}">
                    <a16:creationId xmlns:a16="http://schemas.microsoft.com/office/drawing/2014/main" id="{91D85EA1-E69C-4094-03D8-E104B13E085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" name="箭头: V 形 13">
                <a:extLst>
                  <a:ext uri="{FF2B5EF4-FFF2-40B4-BE49-F238E27FC236}">
                    <a16:creationId xmlns:a16="http://schemas.microsoft.com/office/drawing/2014/main" id="{C57F4967-68BF-43B9-3603-21872008E64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" name="灯片编号占位符 3">
              <a:extLst>
                <a:ext uri="{FF2B5EF4-FFF2-40B4-BE49-F238E27FC236}">
                  <a16:creationId xmlns:a16="http://schemas.microsoft.com/office/drawing/2014/main" id="{E3DBAD4A-D1E3-6541-6B09-9E77D9F2A18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aphicFrame>
        <p:nvGraphicFramePr>
          <p:cNvPr id="18" name="Group 5">
            <a:extLst>
              <a:ext uri="{FF2B5EF4-FFF2-40B4-BE49-F238E27FC236}">
                <a16:creationId xmlns:a16="http://schemas.microsoft.com/office/drawing/2014/main" id="{AAF0D6F3-B8D0-371C-93B8-963894D1D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785819"/>
              </p:ext>
            </p:extLst>
          </p:nvPr>
        </p:nvGraphicFramePr>
        <p:xfrm>
          <a:off x="7489804" y="2056088"/>
          <a:ext cx="3924300" cy="4176714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498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BC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ABC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Y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D30BF2B-F124-4E80-F68D-9EF2DB9BE154}"/>
              </a:ext>
            </a:extLst>
          </p:cNvPr>
          <p:cNvCxnSpPr>
            <a:cxnSpLocks/>
          </p:cNvCxnSpPr>
          <p:nvPr/>
        </p:nvCxnSpPr>
        <p:spPr>
          <a:xfrm>
            <a:off x="9121619" y="2142000"/>
            <a:ext cx="1718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A1137EB-188C-A85A-5778-53E3D7588CA4}"/>
              </a:ext>
            </a:extLst>
          </p:cNvPr>
          <p:cNvCxnSpPr>
            <a:cxnSpLocks/>
          </p:cNvCxnSpPr>
          <p:nvPr/>
        </p:nvCxnSpPr>
        <p:spPr>
          <a:xfrm>
            <a:off x="9813317" y="2142000"/>
            <a:ext cx="1718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2D8B9FD-959D-ADF9-2818-D225BF5690C0}"/>
              </a:ext>
            </a:extLst>
          </p:cNvPr>
          <p:cNvCxnSpPr>
            <a:cxnSpLocks/>
          </p:cNvCxnSpPr>
          <p:nvPr/>
        </p:nvCxnSpPr>
        <p:spPr>
          <a:xfrm>
            <a:off x="10261024" y="2142000"/>
            <a:ext cx="1718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86F79D9-2A61-B11E-5C3E-B09377ABCD31}"/>
              </a:ext>
            </a:extLst>
          </p:cNvPr>
          <p:cNvSpPr txBox="1"/>
          <p:nvPr/>
        </p:nvSpPr>
        <p:spPr>
          <a:xfrm>
            <a:off x="360000" y="828000"/>
            <a:ext cx="653136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逻辑式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真值表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方法一：将输入变量取值的每个组合逐一代入逻辑式，求出函数值，然后填真值表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方法二：根据逻辑式中每个乘积项的含义直接填真值表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38BE938-EE0C-C929-6F5D-B1BCBC72E21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逻辑函数及其表示方法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由逻辑式到真值表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80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2FEBF3C-542F-1012-AFEE-4CF0089A3F1D}"/>
              </a:ext>
            </a:extLst>
          </p:cNvPr>
          <p:cNvSpPr txBox="1"/>
          <p:nvPr/>
        </p:nvSpPr>
        <p:spPr>
          <a:xfrm>
            <a:off x="360000" y="3814683"/>
            <a:ext cx="642756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逻辑图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  逻辑式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从输入到输出逐级写出逻辑符号对应的逻辑式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CA7789F-98BF-5B32-F6EE-35ED201055FE}"/>
                  </a:ext>
                </a:extLst>
              </p:cNvPr>
              <p:cNvSpPr txBox="1"/>
              <p:nvPr/>
            </p:nvSpPr>
            <p:spPr>
              <a:xfrm>
                <a:off x="7776000" y="828000"/>
                <a:ext cx="3273131" cy="585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3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CA7789F-98BF-5B32-F6EE-35ED20105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000" y="828000"/>
                <a:ext cx="3273131" cy="5859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AF143B8B-A8DB-5480-12BA-24CFDCD794BC}"/>
                  </a:ext>
                </a:extLst>
              </p:cNvPr>
              <p:cNvSpPr txBox="1"/>
              <p:nvPr/>
            </p:nvSpPr>
            <p:spPr>
              <a:xfrm>
                <a:off x="7776000" y="5616000"/>
                <a:ext cx="3402178" cy="716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altLang="zh-CN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acc>
                            </m:e>
                          </m:acc>
                        </m:e>
                      </m:acc>
                      <m:acc>
                        <m:accPr>
                          <m:chr m:val="̅"/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3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altLang="zh-CN" sz="3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3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acc>
                              <m:r>
                                <a:rPr lang="en-US" altLang="zh-CN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AF143B8B-A8DB-5480-12BA-24CFDCD79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000" y="5616000"/>
                <a:ext cx="3402178" cy="716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组合 74">
            <a:extLst>
              <a:ext uri="{FF2B5EF4-FFF2-40B4-BE49-F238E27FC236}">
                <a16:creationId xmlns:a16="http://schemas.microsoft.com/office/drawing/2014/main" id="{24FD2F1B-9CCD-DE81-1BA1-0D314E012B4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F9F50E45-30F1-9144-B2BA-3BB119C5B9C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8" name="箭头: 五边形 77">
                <a:extLst>
                  <a:ext uri="{FF2B5EF4-FFF2-40B4-BE49-F238E27FC236}">
                    <a16:creationId xmlns:a16="http://schemas.microsoft.com/office/drawing/2014/main" id="{FB46A811-DB22-C674-A9C7-D11E3ECDA81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箭头: V 形 78">
                <a:extLst>
                  <a:ext uri="{FF2B5EF4-FFF2-40B4-BE49-F238E27FC236}">
                    <a16:creationId xmlns:a16="http://schemas.microsoft.com/office/drawing/2014/main" id="{BC53E20F-AA54-3678-FECC-BA5AE8569CF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7" name="灯片编号占位符 3">
              <a:extLst>
                <a:ext uri="{FF2B5EF4-FFF2-40B4-BE49-F238E27FC236}">
                  <a16:creationId xmlns:a16="http://schemas.microsoft.com/office/drawing/2014/main" id="{0831387B-6242-5E0D-685B-854AC2C8203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D61E7DA-2CD9-6CBA-39B0-FF4646453DBB}"/>
              </a:ext>
            </a:extLst>
          </p:cNvPr>
          <p:cNvSpPr txBox="1"/>
          <p:nvPr/>
        </p:nvSpPr>
        <p:spPr>
          <a:xfrm>
            <a:off x="360000" y="828000"/>
            <a:ext cx="6427567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逻辑式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  逻辑图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用逻辑符号取代逻辑式中的运算符，并按运算优先顺序将它们连接起来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109778C-83CE-0AB8-5A62-A1318D731E4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逻辑函数及其表示方法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逻辑式和逻辑图的转换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F77908A-AD51-80C6-CDC5-8BB52900164F}"/>
              </a:ext>
            </a:extLst>
          </p:cNvPr>
          <p:cNvGrpSpPr/>
          <p:nvPr/>
        </p:nvGrpSpPr>
        <p:grpSpPr>
          <a:xfrm>
            <a:off x="7560000" y="1440000"/>
            <a:ext cx="4056650" cy="1748418"/>
            <a:chOff x="2974848" y="3473964"/>
            <a:chExt cx="4056650" cy="1748418"/>
          </a:xfrm>
        </p:grpSpPr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12BD627A-F42D-1C4E-E5DC-8E130FAC9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8663" y="3816028"/>
              <a:ext cx="7501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7">
              <a:extLst>
                <a:ext uri="{FF2B5EF4-FFF2-40B4-BE49-F238E27FC236}">
                  <a16:creationId xmlns:a16="http://schemas.microsoft.com/office/drawing/2014/main" id="{2A1E536A-98B6-86EA-B7D7-E17CC7E3E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269" y="3640782"/>
              <a:ext cx="159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Line 8">
              <a:extLst>
                <a:ext uri="{FF2B5EF4-FFF2-40B4-BE49-F238E27FC236}">
                  <a16:creationId xmlns:a16="http://schemas.microsoft.com/office/drawing/2014/main" id="{95226AD5-1066-5942-E1DE-9A220FD1A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0907" y="4000782"/>
              <a:ext cx="10479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AutoShape 11">
              <a:extLst>
                <a:ext uri="{FF2B5EF4-FFF2-40B4-BE49-F238E27FC236}">
                  <a16:creationId xmlns:a16="http://schemas.microsoft.com/office/drawing/2014/main" id="{79DB4844-525F-4D2A-89E9-C71B6A0FF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662" y="3506590"/>
              <a:ext cx="561975" cy="61753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5">
              <a:extLst>
                <a:ext uri="{FF2B5EF4-FFF2-40B4-BE49-F238E27FC236}">
                  <a16:creationId xmlns:a16="http://schemas.microsoft.com/office/drawing/2014/main" id="{343068B9-EC51-DD6C-F7EB-6B0B375BE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7565" y="3473964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Text Box 5">
              <a:extLst>
                <a:ext uri="{FF2B5EF4-FFF2-40B4-BE49-F238E27FC236}">
                  <a16:creationId xmlns:a16="http://schemas.microsoft.com/office/drawing/2014/main" id="{BBB1E781-65D3-9802-CB06-0FFBB239D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848" y="4889983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Line 9">
              <a:extLst>
                <a:ext uri="{FF2B5EF4-FFF2-40B4-BE49-F238E27FC236}">
                  <a16:creationId xmlns:a16="http://schemas.microsoft.com/office/drawing/2014/main" id="{4BBBCB87-485A-BD38-F6AA-4D3C5BD5F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8512" y="4871429"/>
              <a:ext cx="7503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Line 7">
              <a:extLst>
                <a:ext uri="{FF2B5EF4-FFF2-40B4-BE49-F238E27FC236}">
                  <a16:creationId xmlns:a16="http://schemas.microsoft.com/office/drawing/2014/main" id="{8DD580B8-A4A6-C546-12AA-4C15FAFDD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5937" y="4696183"/>
              <a:ext cx="13089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8">
              <a:extLst>
                <a:ext uri="{FF2B5EF4-FFF2-40B4-BE49-F238E27FC236}">
                  <a16:creationId xmlns:a16="http://schemas.microsoft.com/office/drawing/2014/main" id="{7530DB49-589A-0753-3F4E-54856F843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269" y="5056183"/>
              <a:ext cx="15933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AutoShape 11">
              <a:extLst>
                <a:ext uri="{FF2B5EF4-FFF2-40B4-BE49-F238E27FC236}">
                  <a16:creationId xmlns:a16="http://schemas.microsoft.com/office/drawing/2014/main" id="{67F28FA1-A7C6-122C-4A56-CF7023F6D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511" y="4561991"/>
              <a:ext cx="561975" cy="61753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Line 9">
              <a:extLst>
                <a:ext uri="{FF2B5EF4-FFF2-40B4-BE49-F238E27FC236}">
                  <a16:creationId xmlns:a16="http://schemas.microsoft.com/office/drawing/2014/main" id="{3DB4E50D-7F20-91B0-1CFF-5C9A548917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0458" y="4361488"/>
              <a:ext cx="2540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7">
              <a:extLst>
                <a:ext uri="{FF2B5EF4-FFF2-40B4-BE49-F238E27FC236}">
                  <a16:creationId xmlns:a16="http://schemas.microsoft.com/office/drawing/2014/main" id="{F1F8BC8C-8387-EA9D-8C8B-F0EC71E8E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4547" y="4186242"/>
              <a:ext cx="2784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8">
              <a:extLst>
                <a:ext uri="{FF2B5EF4-FFF2-40B4-BE49-F238E27FC236}">
                  <a16:creationId xmlns:a16="http://schemas.microsoft.com/office/drawing/2014/main" id="{9F33BE7E-59B3-9612-1EC6-AE67FF765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8348" y="4546242"/>
              <a:ext cx="2846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Text Box 5">
              <a:extLst>
                <a:ext uri="{FF2B5EF4-FFF2-40B4-BE49-F238E27FC236}">
                  <a16:creationId xmlns:a16="http://schemas.microsoft.com/office/drawing/2014/main" id="{0CCAC5EB-7575-0A6C-ADF1-988848936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4454" y="4195903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Arc 158">
              <a:extLst>
                <a:ext uri="{FF2B5EF4-FFF2-40B4-BE49-F238E27FC236}">
                  <a16:creationId xmlns:a16="http://schemas.microsoft.com/office/drawing/2014/main" id="{31C5E73B-EAB8-28D0-14CF-3E98470C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202118" y="3922506"/>
              <a:ext cx="606310" cy="87616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4" name="Line 160">
              <a:extLst>
                <a:ext uri="{FF2B5EF4-FFF2-40B4-BE49-F238E27FC236}">
                  <a16:creationId xmlns:a16="http://schemas.microsoft.com/office/drawing/2014/main" id="{C55A8AC8-35DD-D48E-7E59-DD5ABBF62F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12377" y="4051774"/>
              <a:ext cx="2699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5" name="Arc 156">
              <a:extLst>
                <a:ext uri="{FF2B5EF4-FFF2-40B4-BE49-F238E27FC236}">
                  <a16:creationId xmlns:a16="http://schemas.microsoft.com/office/drawing/2014/main" id="{8E07DC49-2F1B-FF9E-636F-BC18BF33C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351" y="4052162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6" name="Line 160">
              <a:extLst>
                <a:ext uri="{FF2B5EF4-FFF2-40B4-BE49-F238E27FC236}">
                  <a16:creationId xmlns:a16="http://schemas.microsoft.com/office/drawing/2014/main" id="{927DAEF8-E546-90F9-EBE7-A7DDB4DAC8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12377" y="4668572"/>
              <a:ext cx="2699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7" name="Arc 156">
              <a:extLst>
                <a:ext uri="{FF2B5EF4-FFF2-40B4-BE49-F238E27FC236}">
                  <a16:creationId xmlns:a16="http://schemas.microsoft.com/office/drawing/2014/main" id="{105DF840-E62A-BC00-8C21-250FCC3ABE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080351" y="4082468"/>
              <a:ext cx="407518" cy="58571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8" name="Line 7">
              <a:extLst>
                <a:ext uri="{FF2B5EF4-FFF2-40B4-BE49-F238E27FC236}">
                  <a16:creationId xmlns:a16="http://schemas.microsoft.com/office/drawing/2014/main" id="{88451D1A-1FCD-DDCC-86EA-74888CB1838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438372" y="4000732"/>
              <a:ext cx="3710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Line 7">
              <a:extLst>
                <a:ext uri="{FF2B5EF4-FFF2-40B4-BE49-F238E27FC236}">
                  <a16:creationId xmlns:a16="http://schemas.microsoft.com/office/drawing/2014/main" id="{6E4C3EB3-4599-6B7E-1121-EDE609A7A6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461483" y="4708503"/>
              <a:ext cx="3245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AutoShape 162">
              <a:extLst>
                <a:ext uri="{FF2B5EF4-FFF2-40B4-BE49-F238E27FC236}">
                  <a16:creationId xmlns:a16="http://schemas.microsoft.com/office/drawing/2014/main" id="{5206D9D7-7057-81AC-7567-30E2BE8C63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36557" y="3808453"/>
              <a:ext cx="478458" cy="382174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1" name="Oval 163">
              <a:extLst>
                <a:ext uri="{FF2B5EF4-FFF2-40B4-BE49-F238E27FC236}">
                  <a16:creationId xmlns:a16="http://schemas.microsoft.com/office/drawing/2014/main" id="{3D38C127-99DF-D282-B1CF-C3D29880F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873" y="3940733"/>
              <a:ext cx="117616" cy="11761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2" name="AutoShape 162">
              <a:extLst>
                <a:ext uri="{FF2B5EF4-FFF2-40B4-BE49-F238E27FC236}">
                  <a16:creationId xmlns:a16="http://schemas.microsoft.com/office/drawing/2014/main" id="{71850924-D99C-68D5-1ED6-1DDD320A92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36556" y="4503714"/>
              <a:ext cx="478458" cy="382174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3" name="Oval 163">
              <a:extLst>
                <a:ext uri="{FF2B5EF4-FFF2-40B4-BE49-F238E27FC236}">
                  <a16:creationId xmlns:a16="http://schemas.microsoft.com/office/drawing/2014/main" id="{69C2281B-B462-BC95-EDCE-2648268B8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873" y="4635997"/>
              <a:ext cx="117616" cy="11761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4" name="Line 9">
              <a:extLst>
                <a:ext uri="{FF2B5EF4-FFF2-40B4-BE49-F238E27FC236}">
                  <a16:creationId xmlns:a16="http://schemas.microsoft.com/office/drawing/2014/main" id="{00B8F816-814B-41B7-11D9-45A8669154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02586" y="4527862"/>
              <a:ext cx="10566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Line 9">
              <a:extLst>
                <a:ext uri="{FF2B5EF4-FFF2-40B4-BE49-F238E27FC236}">
                  <a16:creationId xmlns:a16="http://schemas.microsoft.com/office/drawing/2014/main" id="{BAC573D0-646D-11B9-373F-1BCBB05BA7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049797" y="4167483"/>
              <a:ext cx="10546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Oval 163">
              <a:extLst>
                <a:ext uri="{FF2B5EF4-FFF2-40B4-BE49-F238E27FC236}">
                  <a16:creationId xmlns:a16="http://schemas.microsoft.com/office/drawing/2014/main" id="{CA5A9639-9ECB-8E3E-2598-466982CD3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924" y="3586308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7" name="Oval 163">
              <a:extLst>
                <a:ext uri="{FF2B5EF4-FFF2-40B4-BE49-F238E27FC236}">
                  <a16:creationId xmlns:a16="http://schemas.microsoft.com/office/drawing/2014/main" id="{ABC13033-B0A0-DF7F-96FA-16EE6C2A7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098" y="5002712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B1A7E5BA-7459-24B6-5D0B-E627C523A099}"/>
              </a:ext>
            </a:extLst>
          </p:cNvPr>
          <p:cNvGrpSpPr/>
          <p:nvPr/>
        </p:nvGrpSpPr>
        <p:grpSpPr>
          <a:xfrm>
            <a:off x="7560000" y="3816000"/>
            <a:ext cx="4056650" cy="1672939"/>
            <a:chOff x="3123416" y="1457832"/>
            <a:chExt cx="4056650" cy="1672939"/>
          </a:xfrm>
        </p:grpSpPr>
        <p:sp>
          <p:nvSpPr>
            <p:cNvPr id="109" name="Line 9">
              <a:extLst>
                <a:ext uri="{FF2B5EF4-FFF2-40B4-BE49-F238E27FC236}">
                  <a16:creationId xmlns:a16="http://schemas.microsoft.com/office/drawing/2014/main" id="{C403FE83-32D5-6DF0-25EC-6A8406B19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7230" y="1767270"/>
              <a:ext cx="7999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Line 7">
              <a:extLst>
                <a:ext uri="{FF2B5EF4-FFF2-40B4-BE49-F238E27FC236}">
                  <a16:creationId xmlns:a16="http://schemas.microsoft.com/office/drawing/2014/main" id="{8FAB2FBC-F630-8468-DD36-0968D8667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5683" y="1592024"/>
              <a:ext cx="13029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Line 8">
              <a:extLst>
                <a:ext uri="{FF2B5EF4-FFF2-40B4-BE49-F238E27FC236}">
                  <a16:creationId xmlns:a16="http://schemas.microsoft.com/office/drawing/2014/main" id="{C44494CE-4580-974A-8736-216A828B27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882" y="1952024"/>
              <a:ext cx="2004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AutoShape 11">
              <a:extLst>
                <a:ext uri="{FF2B5EF4-FFF2-40B4-BE49-F238E27FC236}">
                  <a16:creationId xmlns:a16="http://schemas.microsoft.com/office/drawing/2014/main" id="{31E9BB6C-7BAD-3B85-F6A5-5624C1E26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230" y="1457832"/>
              <a:ext cx="561975" cy="61753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Text Box 5">
              <a:extLst>
                <a:ext uri="{FF2B5EF4-FFF2-40B4-BE49-F238E27FC236}">
                  <a16:creationId xmlns:a16="http://schemas.microsoft.com/office/drawing/2014/main" id="{C4238C2F-82C2-DD43-8AD2-72442AF83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6133" y="1957300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Text Box 5">
              <a:extLst>
                <a:ext uri="{FF2B5EF4-FFF2-40B4-BE49-F238E27FC236}">
                  <a16:creationId xmlns:a16="http://schemas.microsoft.com/office/drawing/2014/main" id="{041E6456-63D4-39AE-A738-31C1A6B86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416" y="2377247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Line 9">
              <a:extLst>
                <a:ext uri="{FF2B5EF4-FFF2-40B4-BE49-F238E27FC236}">
                  <a16:creationId xmlns:a16="http://schemas.microsoft.com/office/drawing/2014/main" id="{092D27C6-8E6E-81EF-21AC-A351E7A6C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7080" y="2822671"/>
              <a:ext cx="8001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Line 7">
              <a:extLst>
                <a:ext uri="{FF2B5EF4-FFF2-40B4-BE49-F238E27FC236}">
                  <a16:creationId xmlns:a16="http://schemas.microsoft.com/office/drawing/2014/main" id="{FDD907AD-E2B7-4C07-B81E-0F5BDF51F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882" y="2647425"/>
              <a:ext cx="2065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8">
              <a:extLst>
                <a:ext uri="{FF2B5EF4-FFF2-40B4-BE49-F238E27FC236}">
                  <a16:creationId xmlns:a16="http://schemas.microsoft.com/office/drawing/2014/main" id="{0EFF1EC8-6171-520E-513C-677083C06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5683" y="3007425"/>
              <a:ext cx="13015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AutoShape 11">
              <a:extLst>
                <a:ext uri="{FF2B5EF4-FFF2-40B4-BE49-F238E27FC236}">
                  <a16:creationId xmlns:a16="http://schemas.microsoft.com/office/drawing/2014/main" id="{7D8478AE-889C-EBF8-2176-8DA5605DC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079" y="2513233"/>
              <a:ext cx="561975" cy="61753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7">
              <a:extLst>
                <a:ext uri="{FF2B5EF4-FFF2-40B4-BE49-F238E27FC236}">
                  <a16:creationId xmlns:a16="http://schemas.microsoft.com/office/drawing/2014/main" id="{8FFA32BB-23F1-44C8-3859-C60242456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7221" y="2137484"/>
              <a:ext cx="2243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8">
              <a:extLst>
                <a:ext uri="{FF2B5EF4-FFF2-40B4-BE49-F238E27FC236}">
                  <a16:creationId xmlns:a16="http://schemas.microsoft.com/office/drawing/2014/main" id="{91A978BE-F9C8-92E2-54FB-F9D11E315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7220" y="2497484"/>
              <a:ext cx="2243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Text Box 5">
              <a:extLst>
                <a:ext uri="{FF2B5EF4-FFF2-40B4-BE49-F238E27FC236}">
                  <a16:creationId xmlns:a16="http://schemas.microsoft.com/office/drawing/2014/main" id="{E54FBF93-A56E-12B1-5CFC-483B3223C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3022" y="2147145"/>
              <a:ext cx="307044" cy="3323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7">
              <a:extLst>
                <a:ext uri="{FF2B5EF4-FFF2-40B4-BE49-F238E27FC236}">
                  <a16:creationId xmlns:a16="http://schemas.microsoft.com/office/drawing/2014/main" id="{B21F84DC-E755-D452-A4C4-E0215AE10F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641709" y="1951974"/>
              <a:ext cx="3710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Line 7">
              <a:extLst>
                <a:ext uri="{FF2B5EF4-FFF2-40B4-BE49-F238E27FC236}">
                  <a16:creationId xmlns:a16="http://schemas.microsoft.com/office/drawing/2014/main" id="{2B5D9D78-805C-0B0B-35D9-2AA868C490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664962" y="2659744"/>
              <a:ext cx="3245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9">
              <a:extLst>
                <a:ext uri="{FF2B5EF4-FFF2-40B4-BE49-F238E27FC236}">
                  <a16:creationId xmlns:a16="http://schemas.microsoft.com/office/drawing/2014/main" id="{023C9EE8-41C2-E5DA-E87B-F253B8C1A5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79254" y="2298416"/>
              <a:ext cx="6952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9">
              <a:extLst>
                <a:ext uri="{FF2B5EF4-FFF2-40B4-BE49-F238E27FC236}">
                  <a16:creationId xmlns:a16="http://schemas.microsoft.com/office/drawing/2014/main" id="{F3D9EFEF-E712-46B1-69C1-525A7F125D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70269" y="2752012"/>
              <a:ext cx="5108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Oval 163">
              <a:extLst>
                <a:ext uri="{FF2B5EF4-FFF2-40B4-BE49-F238E27FC236}">
                  <a16:creationId xmlns:a16="http://schemas.microsoft.com/office/drawing/2014/main" id="{7E98E005-44FA-800B-E9B4-8037C4D70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9157" y="1705121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7" name="Line 9">
              <a:extLst>
                <a:ext uri="{FF2B5EF4-FFF2-40B4-BE49-F238E27FC236}">
                  <a16:creationId xmlns:a16="http://schemas.microsoft.com/office/drawing/2014/main" id="{C4AA2268-AC2E-EC83-51A2-1836E2F89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4603" y="2311307"/>
              <a:ext cx="8230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AutoShape 11">
              <a:extLst>
                <a:ext uri="{FF2B5EF4-FFF2-40B4-BE49-F238E27FC236}">
                  <a16:creationId xmlns:a16="http://schemas.microsoft.com/office/drawing/2014/main" id="{0075ADD3-C0DE-F09E-1B61-391BCDD87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4603" y="2003060"/>
              <a:ext cx="561975" cy="61753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Oval 163">
              <a:extLst>
                <a:ext uri="{FF2B5EF4-FFF2-40B4-BE49-F238E27FC236}">
                  <a16:creationId xmlns:a16="http://schemas.microsoft.com/office/drawing/2014/main" id="{B734AE4E-D072-6723-CDEF-96D2C2C8F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6530" y="2250349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0" name="Oval 163">
              <a:extLst>
                <a:ext uri="{FF2B5EF4-FFF2-40B4-BE49-F238E27FC236}">
                  <a16:creationId xmlns:a16="http://schemas.microsoft.com/office/drawing/2014/main" id="{FBAECE41-EBEF-9332-B588-DC824AF28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9157" y="2762899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1" name="Line 7">
              <a:extLst>
                <a:ext uri="{FF2B5EF4-FFF2-40B4-BE49-F238E27FC236}">
                  <a16:creationId xmlns:a16="http://schemas.microsoft.com/office/drawing/2014/main" id="{6329691A-92EC-567A-4B21-666351950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4464" y="2311307"/>
              <a:ext cx="8924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Oval 163">
              <a:extLst>
                <a:ext uri="{FF2B5EF4-FFF2-40B4-BE49-F238E27FC236}">
                  <a16:creationId xmlns:a16="http://schemas.microsoft.com/office/drawing/2014/main" id="{51C9BA6C-28B6-649C-BE5E-669F77E5E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883" y="225697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3" name="Line 7">
              <a:extLst>
                <a:ext uri="{FF2B5EF4-FFF2-40B4-BE49-F238E27FC236}">
                  <a16:creationId xmlns:a16="http://schemas.microsoft.com/office/drawing/2014/main" id="{CA05AE66-B846-6458-31B5-FB016D960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460" y="2136595"/>
              <a:ext cx="5209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8">
              <a:extLst>
                <a:ext uri="{FF2B5EF4-FFF2-40B4-BE49-F238E27FC236}">
                  <a16:creationId xmlns:a16="http://schemas.microsoft.com/office/drawing/2014/main" id="{608096B1-2F2F-EDE2-57B2-1343B25D9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460" y="2496595"/>
              <a:ext cx="5209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AutoShape 11">
              <a:extLst>
                <a:ext uri="{FF2B5EF4-FFF2-40B4-BE49-F238E27FC236}">
                  <a16:creationId xmlns:a16="http://schemas.microsoft.com/office/drawing/2014/main" id="{34AF8ED0-9CAD-882F-E72D-05A374F83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4464" y="2002171"/>
              <a:ext cx="561975" cy="61753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Oval 163">
              <a:extLst>
                <a:ext uri="{FF2B5EF4-FFF2-40B4-BE49-F238E27FC236}">
                  <a16:creationId xmlns:a16="http://schemas.microsoft.com/office/drawing/2014/main" id="{AC449C61-1860-2BB0-41DA-413B0E2DC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391" y="2249460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7" name="Line 9">
              <a:extLst>
                <a:ext uri="{FF2B5EF4-FFF2-40B4-BE49-F238E27FC236}">
                  <a16:creationId xmlns:a16="http://schemas.microsoft.com/office/drawing/2014/main" id="{451691C7-FC47-4FD2-D6E6-5982CFE001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53086" y="1864000"/>
              <a:ext cx="5451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Oval 163">
              <a:extLst>
                <a:ext uri="{FF2B5EF4-FFF2-40B4-BE49-F238E27FC236}">
                  <a16:creationId xmlns:a16="http://schemas.microsoft.com/office/drawing/2014/main" id="{68AEF0A0-FB87-A714-2151-EEAD5BC7F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1681" y="2082754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9" name="Oval 163">
              <a:extLst>
                <a:ext uri="{FF2B5EF4-FFF2-40B4-BE49-F238E27FC236}">
                  <a16:creationId xmlns:a16="http://schemas.microsoft.com/office/drawing/2014/main" id="{6653C9A0-3532-20FC-149A-271175175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426" y="2442236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4474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D4D6B476-8DF2-498F-205F-2994859F4ACD}"/>
              </a:ext>
            </a:extLst>
          </p:cNvPr>
          <p:cNvGrpSpPr/>
          <p:nvPr/>
        </p:nvGrpSpPr>
        <p:grpSpPr>
          <a:xfrm>
            <a:off x="2453765" y="2750548"/>
            <a:ext cx="1657995" cy="2292850"/>
            <a:chOff x="2453765" y="2750548"/>
            <a:chExt cx="1657995" cy="2109787"/>
          </a:xfrm>
        </p:grpSpPr>
        <p:sp>
          <p:nvSpPr>
            <p:cNvPr id="29" name="Line 96">
              <a:extLst>
                <a:ext uri="{FF2B5EF4-FFF2-40B4-BE49-F238E27FC236}">
                  <a16:creationId xmlns:a16="http://schemas.microsoft.com/office/drawing/2014/main" id="{C28CEB14-570E-42EE-E870-0441535CC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765" y="2750548"/>
              <a:ext cx="0" cy="21097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Line 97">
              <a:extLst>
                <a:ext uri="{FF2B5EF4-FFF2-40B4-BE49-F238E27FC236}">
                  <a16:creationId xmlns:a16="http://schemas.microsoft.com/office/drawing/2014/main" id="{8741619F-0AB9-C074-D27F-9C673F446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3140" y="2750548"/>
              <a:ext cx="0" cy="21097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Line 98">
              <a:extLst>
                <a:ext uri="{FF2B5EF4-FFF2-40B4-BE49-F238E27FC236}">
                  <a16:creationId xmlns:a16="http://schemas.microsoft.com/office/drawing/2014/main" id="{7323D032-C4C0-E56A-2391-77D0C694D5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962" y="2750548"/>
              <a:ext cx="0" cy="21097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2" name="Line 99">
              <a:extLst>
                <a:ext uri="{FF2B5EF4-FFF2-40B4-BE49-F238E27FC236}">
                  <a16:creationId xmlns:a16="http://schemas.microsoft.com/office/drawing/2014/main" id="{1A8D1287-C22A-D70E-CF5E-F9BD54EE7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1760" y="2750548"/>
              <a:ext cx="0" cy="21097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26D56A7-A2EA-C5BB-4C3E-A503AE1AB00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逻辑函数及其表示方法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由波形图到真值表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47601DD-E213-405D-F164-43FCE7880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000" y="2160000"/>
            <a:ext cx="1584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波形图</a:t>
            </a:r>
          </a:p>
        </p:txBody>
      </p:sp>
      <p:grpSp>
        <p:nvGrpSpPr>
          <p:cNvPr id="5" name="Group 72">
            <a:extLst>
              <a:ext uri="{FF2B5EF4-FFF2-40B4-BE49-F238E27FC236}">
                <a16:creationId xmlns:a16="http://schemas.microsoft.com/office/drawing/2014/main" id="{5028CC0A-787F-97DF-E304-33D441FD86F9}"/>
              </a:ext>
            </a:extLst>
          </p:cNvPr>
          <p:cNvGrpSpPr>
            <a:grpSpLocks/>
          </p:cNvGrpSpPr>
          <p:nvPr/>
        </p:nvGrpSpPr>
        <p:grpSpPr bwMode="auto">
          <a:xfrm>
            <a:off x="1890850" y="3703048"/>
            <a:ext cx="2714625" cy="388937"/>
            <a:chOff x="3933" y="3175"/>
            <a:chExt cx="1442" cy="240"/>
          </a:xfrm>
        </p:grpSpPr>
        <p:sp>
          <p:nvSpPr>
            <p:cNvPr id="6" name="Line 73">
              <a:extLst>
                <a:ext uri="{FF2B5EF4-FFF2-40B4-BE49-F238E27FC236}">
                  <a16:creationId xmlns:a16="http://schemas.microsoft.com/office/drawing/2014/main" id="{A35838DE-96D0-36DE-ADB7-500156EF4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4" y="3415"/>
              <a:ext cx="29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" name="Line 74">
              <a:extLst>
                <a:ext uri="{FF2B5EF4-FFF2-40B4-BE49-F238E27FC236}">
                  <a16:creationId xmlns:a16="http://schemas.microsoft.com/office/drawing/2014/main" id="{44034FA3-4088-2851-81D4-6334EF1CA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" y="3175"/>
              <a:ext cx="0" cy="24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" name="Line 75">
              <a:extLst>
                <a:ext uri="{FF2B5EF4-FFF2-40B4-BE49-F238E27FC236}">
                  <a16:creationId xmlns:a16="http://schemas.microsoft.com/office/drawing/2014/main" id="{2D5E8519-989F-9FC7-2B5C-B29FC4313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" y="3175"/>
              <a:ext cx="29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" name="Line 76">
              <a:extLst>
                <a:ext uri="{FF2B5EF4-FFF2-40B4-BE49-F238E27FC236}">
                  <a16:creationId xmlns:a16="http://schemas.microsoft.com/office/drawing/2014/main" id="{74FFEDF3-2F3A-1254-FBFB-C2456FE4A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4" y="3175"/>
              <a:ext cx="0" cy="24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Line 77">
              <a:extLst>
                <a:ext uri="{FF2B5EF4-FFF2-40B4-BE49-F238E27FC236}">
                  <a16:creationId xmlns:a16="http://schemas.microsoft.com/office/drawing/2014/main" id="{90AC79DA-E883-90C5-92FE-1F38D1263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4" y="3415"/>
              <a:ext cx="261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Line 78">
              <a:extLst>
                <a:ext uri="{FF2B5EF4-FFF2-40B4-BE49-F238E27FC236}">
                  <a16:creationId xmlns:a16="http://schemas.microsoft.com/office/drawing/2014/main" id="{04639CC6-7BFE-ADFE-08FD-D5ECB79B3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3" y="3415"/>
              <a:ext cx="29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Line 79">
              <a:extLst>
                <a:ext uri="{FF2B5EF4-FFF2-40B4-BE49-F238E27FC236}">
                  <a16:creationId xmlns:a16="http://schemas.microsoft.com/office/drawing/2014/main" id="{2F3F87BA-50C3-D2C6-1E57-685D79DE5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9" y="3175"/>
              <a:ext cx="0" cy="24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Line 80">
              <a:extLst>
                <a:ext uri="{FF2B5EF4-FFF2-40B4-BE49-F238E27FC236}">
                  <a16:creationId xmlns:a16="http://schemas.microsoft.com/office/drawing/2014/main" id="{5594052F-AC5C-FDD8-98D6-F66E703AC8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175"/>
              <a:ext cx="29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Line 81">
              <a:extLst>
                <a:ext uri="{FF2B5EF4-FFF2-40B4-BE49-F238E27FC236}">
                  <a16:creationId xmlns:a16="http://schemas.microsoft.com/office/drawing/2014/main" id="{B636CE88-33FE-110C-C1E7-F81071F9C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4" y="3175"/>
              <a:ext cx="0" cy="24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5" name="Line 82">
            <a:extLst>
              <a:ext uri="{FF2B5EF4-FFF2-40B4-BE49-F238E27FC236}">
                <a16:creationId xmlns:a16="http://schemas.microsoft.com/office/drawing/2014/main" id="{20243B70-7573-CBF5-154A-E2722E304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850" y="4458698"/>
            <a:ext cx="557212" cy="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Line 83">
            <a:extLst>
              <a:ext uri="{FF2B5EF4-FFF2-40B4-BE49-F238E27FC236}">
                <a16:creationId xmlns:a16="http://schemas.microsoft.com/office/drawing/2014/main" id="{681F3973-F60B-44EC-9E36-5B59A13516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8062" y="4476160"/>
            <a:ext cx="0" cy="385763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Line 84">
            <a:extLst>
              <a:ext uri="{FF2B5EF4-FFF2-40B4-BE49-F238E27FC236}">
                <a16:creationId xmlns:a16="http://schemas.microsoft.com/office/drawing/2014/main" id="{FD1BD5EF-89DF-DBD9-EB60-647F1D5FC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8062" y="4893673"/>
            <a:ext cx="1111250" cy="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Line 85">
            <a:extLst>
              <a:ext uri="{FF2B5EF4-FFF2-40B4-BE49-F238E27FC236}">
                <a16:creationId xmlns:a16="http://schemas.microsoft.com/office/drawing/2014/main" id="{677D49AF-82FD-E78E-2FF8-01C7BBC89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9312" y="4476160"/>
            <a:ext cx="0" cy="38893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Line 86">
            <a:extLst>
              <a:ext uri="{FF2B5EF4-FFF2-40B4-BE49-F238E27FC236}">
                <a16:creationId xmlns:a16="http://schemas.microsoft.com/office/drawing/2014/main" id="{3F051EE9-36E8-9662-DB2A-890DC0671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9312" y="4458698"/>
            <a:ext cx="1042988" cy="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Line 87">
            <a:extLst>
              <a:ext uri="{FF2B5EF4-FFF2-40B4-BE49-F238E27FC236}">
                <a16:creationId xmlns:a16="http://schemas.microsoft.com/office/drawing/2014/main" id="{763BF088-8D5F-E022-F188-175502660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3687" y="2931523"/>
            <a:ext cx="1085850" cy="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Line 88">
            <a:extLst>
              <a:ext uri="{FF2B5EF4-FFF2-40B4-BE49-F238E27FC236}">
                <a16:creationId xmlns:a16="http://schemas.microsoft.com/office/drawing/2014/main" id="{4F1F1135-8B73-9197-5815-5ADF0CE65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850" y="3344273"/>
            <a:ext cx="1112837" cy="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Line 89">
            <a:extLst>
              <a:ext uri="{FF2B5EF4-FFF2-40B4-BE49-F238E27FC236}">
                <a16:creationId xmlns:a16="http://schemas.microsoft.com/office/drawing/2014/main" id="{76041BBC-D65D-69CB-0717-F62C636532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3687" y="2931523"/>
            <a:ext cx="0" cy="398462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Line 90">
            <a:extLst>
              <a:ext uri="{FF2B5EF4-FFF2-40B4-BE49-F238E27FC236}">
                <a16:creationId xmlns:a16="http://schemas.microsoft.com/office/drawing/2014/main" id="{B57D5BFB-59D3-21BD-D824-07CA70E50C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3350" y="2933110"/>
            <a:ext cx="0" cy="395288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Line 91">
            <a:extLst>
              <a:ext uri="{FF2B5EF4-FFF2-40B4-BE49-F238E27FC236}">
                <a16:creationId xmlns:a16="http://schemas.microsoft.com/office/drawing/2014/main" id="{71322FB2-77FB-4F6B-5233-299C0BA300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3350" y="3347448"/>
            <a:ext cx="492125" cy="0"/>
          </a:xfrm>
          <a:prstGeom prst="line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Box 92">
            <a:extLst>
              <a:ext uri="{FF2B5EF4-FFF2-40B4-BE49-F238E27FC236}">
                <a16:creationId xmlns:a16="http://schemas.microsoft.com/office/drawing/2014/main" id="{7A869590-0C46-D971-E198-793AB7117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937" y="357763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</a:p>
        </p:txBody>
      </p:sp>
      <p:sp>
        <p:nvSpPr>
          <p:cNvPr id="26" name="Text Box 93">
            <a:extLst>
              <a:ext uri="{FF2B5EF4-FFF2-40B4-BE49-F238E27FC236}">
                <a16:creationId xmlns:a16="http://schemas.microsoft.com/office/drawing/2014/main" id="{BBC6B7B0-9FBF-769D-E282-875E508BF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000" y="283309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</a:p>
        </p:txBody>
      </p:sp>
      <p:sp>
        <p:nvSpPr>
          <p:cNvPr id="27" name="Text Box 94">
            <a:extLst>
              <a:ext uri="{FF2B5EF4-FFF2-40B4-BE49-F238E27FC236}">
                <a16:creationId xmlns:a16="http://schemas.microsoft.com/office/drawing/2014/main" id="{079E1ABE-D1AF-3CBD-FE97-33A99880E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099" y="4488860"/>
            <a:ext cx="3706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875DE8AF-98CF-9237-4940-AC748A5E5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00" y="2160000"/>
            <a:ext cx="125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真值表</a:t>
            </a:r>
          </a:p>
        </p:txBody>
      </p:sp>
      <p:graphicFrame>
        <p:nvGraphicFramePr>
          <p:cNvPr id="34" name="Group 6">
            <a:extLst>
              <a:ext uri="{FF2B5EF4-FFF2-40B4-BE49-F238E27FC236}">
                <a16:creationId xmlns:a16="http://schemas.microsoft.com/office/drawing/2014/main" id="{FFE247CE-A628-F5F7-A8C1-C49797161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728611"/>
              </p:ext>
            </p:extLst>
          </p:nvPr>
        </p:nvGraphicFramePr>
        <p:xfrm>
          <a:off x="7455484" y="2889074"/>
          <a:ext cx="2160588" cy="2016126"/>
        </p:xfrm>
        <a:graphic>
          <a:graphicData uri="http://schemas.openxmlformats.org/drawingml/2006/table">
            <a:tbl>
              <a:tblPr/>
              <a:tblGrid>
                <a:gridCol w="64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 eaLnBrk="1" hangingPunct="1"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1" lang="en-US" altLang="zh-CN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1" lang="en-US" altLang="zh-CN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1" lang="en-US" altLang="zh-CN" sz="24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Line 38">
            <a:extLst>
              <a:ext uri="{FF2B5EF4-FFF2-40B4-BE49-F238E27FC236}">
                <a16:creationId xmlns:a16="http://schemas.microsoft.com/office/drawing/2014/main" id="{97BA26A5-7A5A-78FD-3020-F2B7A54A9F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88984" y="2889074"/>
            <a:ext cx="0" cy="2016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Line 39">
            <a:extLst>
              <a:ext uri="{FF2B5EF4-FFF2-40B4-BE49-F238E27FC236}">
                <a16:creationId xmlns:a16="http://schemas.microsoft.com/office/drawing/2014/main" id="{93946A29-E435-1837-883C-72EA81F42E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5484" y="3392311"/>
            <a:ext cx="21605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38" name="Group 100">
            <a:extLst>
              <a:ext uri="{FF2B5EF4-FFF2-40B4-BE49-F238E27FC236}">
                <a16:creationId xmlns:a16="http://schemas.microsoft.com/office/drawing/2014/main" id="{9BE19C87-AF02-1DB4-B6F2-812452A4A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580930"/>
              </p:ext>
            </p:extLst>
          </p:nvPr>
        </p:nvGraphicFramePr>
        <p:xfrm>
          <a:off x="7455484" y="3387549"/>
          <a:ext cx="2160588" cy="1508126"/>
        </p:xfrm>
        <a:graphic>
          <a:graphicData uri="http://schemas.openxmlformats.org/drawingml/2006/table">
            <a:tbl>
              <a:tblPr/>
              <a:tblGrid>
                <a:gridCol w="64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8C85832F-A44F-8D35-CCC6-166879C69327}"/>
              </a:ext>
            </a:extLst>
          </p:cNvPr>
          <p:cNvSpPr txBox="1"/>
          <p:nvPr/>
        </p:nvSpPr>
        <p:spPr>
          <a:xfrm>
            <a:off x="1548000" y="5580000"/>
            <a:ext cx="9078076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! </a:t>
            </a:r>
            <a:r>
              <a:rPr kumimoji="1" lang="zh-CN" altLang="en-US" sz="24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波形图不具有唯一性，仅在输入固定的情况下，输出才有唯一性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2AA5A72-02C3-869B-77F4-31B20A27B8E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7597C31-4B2F-C4B2-F94F-BBB741C8CDD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3" name="箭头: 五边形 42">
                <a:extLst>
                  <a:ext uri="{FF2B5EF4-FFF2-40B4-BE49-F238E27FC236}">
                    <a16:creationId xmlns:a16="http://schemas.microsoft.com/office/drawing/2014/main" id="{A14DADE8-27B5-1DEA-8684-7EB3067ADC0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箭头: V 形 43">
                <a:extLst>
                  <a:ext uri="{FF2B5EF4-FFF2-40B4-BE49-F238E27FC236}">
                    <a16:creationId xmlns:a16="http://schemas.microsoft.com/office/drawing/2014/main" id="{8A2A9220-7765-2288-8ED4-9B71FEBB3DA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2" name="灯片编号占位符 3">
              <a:extLst>
                <a:ext uri="{FF2B5EF4-FFF2-40B4-BE49-F238E27FC236}">
                  <a16:creationId xmlns:a16="http://schemas.microsoft.com/office/drawing/2014/main" id="{AE10ABE6-0063-2D15-C955-23756CD8FD9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00DA924-C842-603A-F994-55C2607DD355}"/>
              </a:ext>
            </a:extLst>
          </p:cNvPr>
          <p:cNvSpPr txBox="1"/>
          <p:nvPr/>
        </p:nvSpPr>
        <p:spPr>
          <a:xfrm>
            <a:off x="360000" y="828000"/>
            <a:ext cx="9725307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波形图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  真值表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根据所给的波形，列出各输入变量组合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所对应的输出值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692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 animBg="1"/>
      <p:bldP spid="36" grpId="0" animBg="1"/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ED742-F882-07ED-CF82-1611BF12C9C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逻辑代数基本定理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1A610B5-9FE1-42B7-92AF-99B8E6AD4C6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3D91F294-2CCC-58AE-02B0-04084E2A422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9" name="箭头: 五边形 48">
                <a:extLst>
                  <a:ext uri="{FF2B5EF4-FFF2-40B4-BE49-F238E27FC236}">
                    <a16:creationId xmlns:a16="http://schemas.microsoft.com/office/drawing/2014/main" id="{6B47334A-31F2-78FB-91A9-231C37746F6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箭头: V 形 49">
                <a:extLst>
                  <a:ext uri="{FF2B5EF4-FFF2-40B4-BE49-F238E27FC236}">
                    <a16:creationId xmlns:a16="http://schemas.microsoft.com/office/drawing/2014/main" id="{F88A885B-FA9D-DE84-2CAD-9D8513B6B2D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8" name="灯片编号占位符 3">
              <a:extLst>
                <a:ext uri="{FF2B5EF4-FFF2-40B4-BE49-F238E27FC236}">
                  <a16:creationId xmlns:a16="http://schemas.microsoft.com/office/drawing/2014/main" id="{4BC960D0-9E42-D603-8536-0C93E22BA75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F0E403F2-CB95-1D76-00AC-BB8D242E4AED}"/>
                  </a:ext>
                </a:extLst>
              </p:cNvPr>
              <p:cNvSpPr txBox="1"/>
              <p:nvPr/>
            </p:nvSpPr>
            <p:spPr>
              <a:xfrm>
                <a:off x="360000" y="1404000"/>
                <a:ext cx="11110277" cy="2129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0=0</m:t>
                    </m:r>
                  </m:oMath>
                </a14:m>
                <a:r>
                  <a:rPr lang="en-US" altLang="zh-CN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zh-CN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altLang="zh-CN" sz="3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zh-CN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altLang="zh-CN" sz="3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3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	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3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</m:acc>
                    <m:r>
                      <a:rPr lang="en-US" altLang="zh-CN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zh-CN" altLang="en-US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		</a:t>
                </a:r>
                <a:endParaRPr lang="zh-CN" altLang="en-US" sz="3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F0E403F2-CB95-1D76-00AC-BB8D242E4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04000"/>
                <a:ext cx="11110277" cy="2129942"/>
              </a:xfrm>
              <a:prstGeom prst="rect">
                <a:avLst/>
              </a:prstGeom>
              <a:blipFill>
                <a:blip r:embed="rId2"/>
                <a:stretch>
                  <a:fillRect t="-3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8D23252-6042-5F82-9152-DD2E67906886}"/>
                  </a:ext>
                </a:extLst>
              </p:cNvPr>
              <p:cNvSpPr txBox="1"/>
              <p:nvPr/>
            </p:nvSpPr>
            <p:spPr>
              <a:xfrm>
                <a:off x="360000" y="3600000"/>
                <a:ext cx="10795733" cy="286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交换律：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结合律：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分配律：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28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吸收律：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反演律：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8D23252-6042-5F82-9152-DD2E67906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600000"/>
                <a:ext cx="10795733" cy="2863220"/>
              </a:xfrm>
              <a:prstGeom prst="rect">
                <a:avLst/>
              </a:prstGeom>
              <a:blipFill>
                <a:blip r:embed="rId3"/>
                <a:stretch>
                  <a:fillRect t="-2345" b="-5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BEA96A88-C0B3-8F41-3856-E3FE94F7D4FA}"/>
              </a:ext>
            </a:extLst>
          </p:cNvPr>
          <p:cNvSpPr/>
          <p:nvPr/>
        </p:nvSpPr>
        <p:spPr>
          <a:xfrm>
            <a:off x="826680" y="5908113"/>
            <a:ext cx="9772650" cy="488630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C47B259-3B9F-220F-48D6-F2F1799753B7}"/>
              </a:ext>
            </a:extLst>
          </p:cNvPr>
          <p:cNvSpPr txBox="1"/>
          <p:nvPr/>
        </p:nvSpPr>
        <p:spPr>
          <a:xfrm>
            <a:off x="8958222" y="5881145"/>
            <a:ext cx="16411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摩根定理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2ADCB2-A5FD-951C-0202-5C270F90565E}"/>
              </a:ext>
            </a:extLst>
          </p:cNvPr>
          <p:cNvSpPr txBox="1"/>
          <p:nvPr/>
        </p:nvSpPr>
        <p:spPr>
          <a:xfrm>
            <a:off x="360000" y="828000"/>
            <a:ext cx="22559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基本公式：</a:t>
            </a:r>
            <a:endParaRPr kumimoji="1" lang="zh-CN" altLang="en-US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868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13">
                <a:extLst>
                  <a:ext uri="{FF2B5EF4-FFF2-40B4-BE49-F238E27FC236}">
                    <a16:creationId xmlns:a16="http://schemas.microsoft.com/office/drawing/2014/main" id="{9391E270-235A-C406-8050-0032F3A89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2680" y="4126413"/>
                <a:ext cx="9366638" cy="503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buFontTx/>
                  <a:buNone/>
                </a:pPr>
                <a:r>
                  <a:rPr lang="zh-CN" altLang="en-US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800" b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Rectangle 13">
                <a:extLst>
                  <a:ext uri="{FF2B5EF4-FFF2-40B4-BE49-F238E27FC236}">
                    <a16:creationId xmlns:a16="http://schemas.microsoft.com/office/drawing/2014/main" id="{9391E270-235A-C406-8050-0032F3A89A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2680" y="4126413"/>
                <a:ext cx="9366638" cy="5034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13">
                <a:extLst>
                  <a:ext uri="{FF2B5EF4-FFF2-40B4-BE49-F238E27FC236}">
                    <a16:creationId xmlns:a16="http://schemas.microsoft.com/office/drawing/2014/main" id="{43FF2E97-722C-CE55-10E7-750CD4035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2680" y="3588810"/>
                <a:ext cx="9366638" cy="503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buFontTx/>
                  <a:buNone/>
                </a:pPr>
                <a:r>
                  <a:rPr lang="zh-CN" altLang="en-US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800" b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Rectangle 13">
                <a:extLst>
                  <a:ext uri="{FF2B5EF4-FFF2-40B4-BE49-F238E27FC236}">
                    <a16:creationId xmlns:a16="http://schemas.microsoft.com/office/drawing/2014/main" id="{43FF2E97-722C-CE55-10E7-750CD4035C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2680" y="3588810"/>
                <a:ext cx="9366638" cy="5034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9515BD1-7944-8048-07F0-963EA799D7BD}"/>
                  </a:ext>
                </a:extLst>
              </p:cNvPr>
              <p:cNvSpPr txBox="1"/>
              <p:nvPr/>
            </p:nvSpPr>
            <p:spPr>
              <a:xfrm>
                <a:off x="360000" y="1080000"/>
                <a:ext cx="8399491" cy="647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证明：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36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36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3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3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36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3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36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36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en-US" altLang="zh-CN" sz="36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3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36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3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6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endParaRPr lang="en-US" altLang="zh-CN" sz="36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9515BD1-7944-8048-07F0-963EA799D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080000"/>
                <a:ext cx="8399491" cy="647613"/>
              </a:xfrm>
              <a:prstGeom prst="rect">
                <a:avLst/>
              </a:prstGeom>
              <a:blipFill>
                <a:blip r:embed="rId4"/>
                <a:stretch>
                  <a:fillRect l="-1814" t="-3774" b="-29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935317C-12C6-407A-1149-0FDD8C734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058" y="1908000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tabLst>
                <a:tab pos="228600" algn="l"/>
              </a:tabLs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tabLst>
                <a:tab pos="228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800" b="0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真值表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93B3B98-22BC-54BB-160C-5EFFC993B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2681" y="2501858"/>
                <a:ext cx="9366637" cy="5610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buFontTx/>
                  <a:buNone/>
                </a:pPr>
                <a:r>
                  <a:rPr lang="zh-CN" altLang="en-US" sz="2800" b="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zh-CN" sz="2800" b="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zh-CN" sz="2800" b="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800" b="0" i="1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800" b="0" i="1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800" b="0" i="1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800" b="0" i="1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lang="en-US" altLang="zh-CN" sz="2800" b="0" i="1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endParaRPr lang="en-US" altLang="zh-CN" sz="2800" b="0" i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93B3B98-22BC-54BB-160C-5EFFC993B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2681" y="2501858"/>
                <a:ext cx="9366637" cy="5610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 72">
            <a:extLst>
              <a:ext uri="{FF2B5EF4-FFF2-40B4-BE49-F238E27FC236}">
                <a16:creationId xmlns:a16="http://schemas.microsoft.com/office/drawing/2014/main" id="{509876D5-9672-B80A-64EA-3A8B22FAD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7" y="5616000"/>
            <a:ext cx="6613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tabLst>
                <a:tab pos="228600" algn="l"/>
              </a:tabLs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tabLst>
                <a:tab pos="228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8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等式两边对应的真值表相同，故等式成立</a:t>
            </a:r>
            <a:endParaRPr lang="en-US" altLang="zh-CN" sz="2800" b="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Line 14">
            <a:extLst>
              <a:ext uri="{FF2B5EF4-FFF2-40B4-BE49-F238E27FC236}">
                <a16:creationId xmlns:a16="http://schemas.microsoft.com/office/drawing/2014/main" id="{EC33650A-8DC9-7522-AB57-F228A0BFF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681" y="3067203"/>
            <a:ext cx="9366637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Line 14">
            <a:extLst>
              <a:ext uri="{FF2B5EF4-FFF2-40B4-BE49-F238E27FC236}">
                <a16:creationId xmlns:a16="http://schemas.microsoft.com/office/drawing/2014/main" id="{CFDA6518-688C-9CA3-1462-C0C4FE254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681" y="2484835"/>
            <a:ext cx="9366637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Line 14">
            <a:extLst>
              <a:ext uri="{FF2B5EF4-FFF2-40B4-BE49-F238E27FC236}">
                <a16:creationId xmlns:a16="http://schemas.microsoft.com/office/drawing/2014/main" id="{ED18C004-164F-9BCB-87AF-7D7D2647F7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681" y="3587726"/>
            <a:ext cx="9366637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Line 14">
            <a:extLst>
              <a:ext uri="{FF2B5EF4-FFF2-40B4-BE49-F238E27FC236}">
                <a16:creationId xmlns:a16="http://schemas.microsoft.com/office/drawing/2014/main" id="{978C60C0-3649-B5FC-629E-8ADA95044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681" y="4105886"/>
            <a:ext cx="9366637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Line 14">
            <a:extLst>
              <a:ext uri="{FF2B5EF4-FFF2-40B4-BE49-F238E27FC236}">
                <a16:creationId xmlns:a16="http://schemas.microsoft.com/office/drawing/2014/main" id="{DE5BF6C0-9AFC-23F3-34AD-A27AD262B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681" y="4624046"/>
            <a:ext cx="9366637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13">
                <a:extLst>
                  <a:ext uri="{FF2B5EF4-FFF2-40B4-BE49-F238E27FC236}">
                    <a16:creationId xmlns:a16="http://schemas.microsoft.com/office/drawing/2014/main" id="{318A83A7-E0A5-F338-A38E-9305535D6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2681" y="3079961"/>
                <a:ext cx="9366638" cy="503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buFontTx/>
                  <a:buNone/>
                </a:pPr>
                <a:r>
                  <a:rPr lang="zh-CN" altLang="en-US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800" b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Rectangle 13">
                <a:extLst>
                  <a:ext uri="{FF2B5EF4-FFF2-40B4-BE49-F238E27FC236}">
                    <a16:creationId xmlns:a16="http://schemas.microsoft.com/office/drawing/2014/main" id="{318A83A7-E0A5-F338-A38E-9305535D6D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2681" y="3079961"/>
                <a:ext cx="9366638" cy="5034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13">
                <a:extLst>
                  <a:ext uri="{FF2B5EF4-FFF2-40B4-BE49-F238E27FC236}">
                    <a16:creationId xmlns:a16="http://schemas.microsoft.com/office/drawing/2014/main" id="{329AAC3A-EF86-C233-9AF8-A43C9C753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2680" y="4648114"/>
                <a:ext cx="9366638" cy="503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buFontTx/>
                  <a:buNone/>
                </a:pPr>
                <a:r>
                  <a:rPr lang="zh-CN" altLang="en-US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800" b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Rectangle 13">
                <a:extLst>
                  <a:ext uri="{FF2B5EF4-FFF2-40B4-BE49-F238E27FC236}">
                    <a16:creationId xmlns:a16="http://schemas.microsoft.com/office/drawing/2014/main" id="{329AAC3A-EF86-C233-9AF8-A43C9C753C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2680" y="4648114"/>
                <a:ext cx="9366638" cy="5034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Line 14">
            <a:extLst>
              <a:ext uri="{FF2B5EF4-FFF2-40B4-BE49-F238E27FC236}">
                <a16:creationId xmlns:a16="http://schemas.microsoft.com/office/drawing/2014/main" id="{CE7254B4-EA77-7573-A421-44ADD45AB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681" y="5145747"/>
            <a:ext cx="9366637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Line 14">
            <a:extLst>
              <a:ext uri="{FF2B5EF4-FFF2-40B4-BE49-F238E27FC236}">
                <a16:creationId xmlns:a16="http://schemas.microsoft.com/office/drawing/2014/main" id="{2039A9D1-A53A-7DBC-FB83-AFCDE1B3FCF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2160065" y="3823803"/>
            <a:ext cx="2643889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Line 14">
            <a:extLst>
              <a:ext uri="{FF2B5EF4-FFF2-40B4-BE49-F238E27FC236}">
                <a16:creationId xmlns:a16="http://schemas.microsoft.com/office/drawing/2014/main" id="{5098FA96-FEB7-B192-4C7F-DF163B441A5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910678" y="3819539"/>
            <a:ext cx="2643889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Line 14">
            <a:extLst>
              <a:ext uri="{FF2B5EF4-FFF2-40B4-BE49-F238E27FC236}">
                <a16:creationId xmlns:a16="http://schemas.microsoft.com/office/drawing/2014/main" id="{A5EED225-8153-AE2C-BD5B-72F4AD769400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404997" y="3817938"/>
            <a:ext cx="2643889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Line 14">
            <a:extLst>
              <a:ext uri="{FF2B5EF4-FFF2-40B4-BE49-F238E27FC236}">
                <a16:creationId xmlns:a16="http://schemas.microsoft.com/office/drawing/2014/main" id="{527CC73A-F3B4-25DC-6A63-33C30BFA028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684025" y="3811045"/>
            <a:ext cx="2643889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Line 14">
            <a:extLst>
              <a:ext uri="{FF2B5EF4-FFF2-40B4-BE49-F238E27FC236}">
                <a16:creationId xmlns:a16="http://schemas.microsoft.com/office/drawing/2014/main" id="{3CCA4F3C-1323-91BA-A021-7143B4E6A97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730619" y="3817939"/>
            <a:ext cx="2643889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07B409FB-D063-8802-3B0C-B680CAECA52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D4B780D5-9503-EFB8-B4B6-5D813983E8D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6" name="箭头: 五边形 85">
                <a:extLst>
                  <a:ext uri="{FF2B5EF4-FFF2-40B4-BE49-F238E27FC236}">
                    <a16:creationId xmlns:a16="http://schemas.microsoft.com/office/drawing/2014/main" id="{33A4FFAC-61CE-830A-7188-471AF313635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箭头: V 形 86">
                <a:extLst>
                  <a:ext uri="{FF2B5EF4-FFF2-40B4-BE49-F238E27FC236}">
                    <a16:creationId xmlns:a16="http://schemas.microsoft.com/office/drawing/2014/main" id="{B8C691D6-77FD-C418-59CA-003C4924173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5" name="灯片编号占位符 3">
              <a:extLst>
                <a:ext uri="{FF2B5EF4-FFF2-40B4-BE49-F238E27FC236}">
                  <a16:creationId xmlns:a16="http://schemas.microsoft.com/office/drawing/2014/main" id="{41ECBE42-BF07-84D3-6A14-134F856F4E8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4735560F-7E6D-35E2-FFE1-86E1A2FD3EA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逻辑代数基本定理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摩根定理的证明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72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D8F52-C1D9-39AC-5ABF-9D248057E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915A3D4-0DCF-AD98-AA37-764EA0DBCB3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5C9CC2C-F98B-7F1C-EBCC-27CBCE21CB7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DB182F47-03FE-B850-E5D4-47D8D2FE74B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B70311B0-A53D-3A5F-EED6-923B6CC8F3A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563C7203-1931-3A90-4F74-72C3E00E480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DEE196E-9042-FB56-A53F-877DDB41B701}"/>
                  </a:ext>
                </a:extLst>
              </p:cNvPr>
              <p:cNvSpPr txBox="1"/>
              <p:nvPr/>
            </p:nvSpPr>
            <p:spPr>
              <a:xfrm>
                <a:off x="360000" y="4680000"/>
                <a:ext cx="8824463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因此，反演律可以推广到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个变量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DEE196E-9042-FB56-A53F-877DDB41B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680000"/>
                <a:ext cx="8824463" cy="524118"/>
              </a:xfrm>
              <a:prstGeom prst="rect">
                <a:avLst/>
              </a:prstGeom>
              <a:blipFill>
                <a:blip r:embed="rId2"/>
                <a:stretch>
                  <a:fillRect t="-13953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CBB725B-84A2-2D16-FCE2-37D3CC54D3F8}"/>
                  </a:ext>
                </a:extLst>
              </p:cNvPr>
              <p:cNvSpPr txBox="1"/>
              <p:nvPr/>
            </p:nvSpPr>
            <p:spPr>
              <a:xfrm>
                <a:off x="2952000" y="5400000"/>
                <a:ext cx="6356382" cy="4935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3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32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32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32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⋯ </m:t>
                          </m:r>
                          <m:sSub>
                            <m:sSubPr>
                              <m:ctrlPr>
                                <a:rPr lang="en-US" altLang="zh-CN" sz="32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acc>
                      <m:r>
                        <a:rPr lang="en-US" altLang="zh-CN" sz="3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sz="3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32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zh-CN" sz="3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3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CBB725B-84A2-2D16-FCE2-37D3CC54D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000" y="5400000"/>
                <a:ext cx="6356382" cy="4935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73AA45E-538D-A22F-8CE5-CAA2E681773C}"/>
                  </a:ext>
                </a:extLst>
              </p:cNvPr>
              <p:cNvSpPr txBox="1"/>
              <p:nvPr/>
            </p:nvSpPr>
            <p:spPr>
              <a:xfrm>
                <a:off x="2880000" y="5976000"/>
                <a:ext cx="6356382" cy="4935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3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3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acc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3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sz="3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 </m:t>
                    </m:r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acc>
                  </m:oMath>
                </a14:m>
                <a:endParaRPr lang="zh-CN" altLang="en-US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73AA45E-538D-A22F-8CE5-CAA2E6817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000" y="5976000"/>
                <a:ext cx="6356382" cy="493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C49DC63C-2CBA-D700-A27B-3576E9157D3E}"/>
              </a:ext>
            </a:extLst>
          </p:cNvPr>
          <p:cNvSpPr txBox="1"/>
          <p:nvPr/>
        </p:nvSpPr>
        <p:spPr>
          <a:xfrm>
            <a:off x="360000" y="828000"/>
            <a:ext cx="1166036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代入规则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：在任一逻辑恒等式中，若以一个逻辑表达式，代替恒等式两边所有出现的某一变量，则所得等式仍然成立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6F2AF54-06AD-0DDB-52A6-5272E69422B7}"/>
                  </a:ext>
                </a:extLst>
              </p:cNvPr>
              <p:cNvSpPr txBox="1"/>
              <p:nvPr/>
            </p:nvSpPr>
            <p:spPr>
              <a:xfrm>
                <a:off x="360000" y="2412000"/>
                <a:ext cx="4498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6F2AF54-06AD-0DDB-52A6-5272E6942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412000"/>
                <a:ext cx="44984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E9D6B0-7194-7922-3C79-B30B2D4AEDA2}"/>
                  </a:ext>
                </a:extLst>
              </p:cNvPr>
              <p:cNvSpPr txBox="1"/>
              <p:nvPr/>
            </p:nvSpPr>
            <p:spPr>
              <a:xfrm>
                <a:off x="5976000" y="2412000"/>
                <a:ext cx="463184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CD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CD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E9D6B0-7194-7922-3C79-B30B2D4AE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000" y="2412000"/>
                <a:ext cx="463184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ABE14F0-4CC4-91C9-AFA4-ABCD8151C116}"/>
                  </a:ext>
                </a:extLst>
              </p:cNvPr>
              <p:cNvSpPr txBox="1"/>
              <p:nvPr/>
            </p:nvSpPr>
            <p:spPr>
              <a:xfrm>
                <a:off x="7373251" y="2772000"/>
                <a:ext cx="41410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ABE14F0-4CC4-91C9-AFA4-ABCD8151C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251" y="2772000"/>
                <a:ext cx="414107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箭头: 右 13">
            <a:extLst>
              <a:ext uri="{FF2B5EF4-FFF2-40B4-BE49-F238E27FC236}">
                <a16:creationId xmlns:a16="http://schemas.microsoft.com/office/drawing/2014/main" id="{386D8AE9-EA88-C1B0-FC95-D9A3292C2769}"/>
              </a:ext>
            </a:extLst>
          </p:cNvPr>
          <p:cNvSpPr/>
          <p:nvPr/>
        </p:nvSpPr>
        <p:spPr>
          <a:xfrm>
            <a:off x="5233255" y="2555871"/>
            <a:ext cx="367968" cy="26161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D3DD924-1051-6BA8-2437-D2E001E8DF31}"/>
                  </a:ext>
                </a:extLst>
              </p:cNvPr>
              <p:cNvSpPr txBox="1"/>
              <p:nvPr/>
            </p:nvSpPr>
            <p:spPr>
              <a:xfrm>
                <a:off x="360000" y="3456000"/>
                <a:ext cx="2490177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zh-CN" sz="28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D3DD924-1051-6BA8-2437-D2E001E8D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456000"/>
                <a:ext cx="2490177" cy="5241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EF2DF3D-B2C4-5AE8-44C1-4999AF09AE7C}"/>
                  </a:ext>
                </a:extLst>
              </p:cNvPr>
              <p:cNvSpPr txBox="1"/>
              <p:nvPr/>
            </p:nvSpPr>
            <p:spPr>
              <a:xfrm>
                <a:off x="5976000" y="3456000"/>
                <a:ext cx="2808862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zh-CN" sz="28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EF2DF3D-B2C4-5AE8-44C1-4999AF09A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000" y="3456000"/>
                <a:ext cx="2808862" cy="5241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DEEB854-F701-BA01-C78F-7D5D6F4CE526}"/>
                  </a:ext>
                </a:extLst>
              </p:cNvPr>
              <p:cNvSpPr txBox="1"/>
              <p:nvPr/>
            </p:nvSpPr>
            <p:spPr>
              <a:xfrm>
                <a:off x="8240364" y="3456000"/>
                <a:ext cx="2099851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DEEB854-F701-BA01-C78F-7D5D6F4CE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364" y="3456000"/>
                <a:ext cx="2099851" cy="5241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箭头: 右 21">
            <a:extLst>
              <a:ext uri="{FF2B5EF4-FFF2-40B4-BE49-F238E27FC236}">
                <a16:creationId xmlns:a16="http://schemas.microsoft.com/office/drawing/2014/main" id="{B63A7255-CE11-F610-97A2-AB2048548315}"/>
              </a:ext>
            </a:extLst>
          </p:cNvPr>
          <p:cNvSpPr/>
          <p:nvPr/>
        </p:nvSpPr>
        <p:spPr>
          <a:xfrm>
            <a:off x="5233152" y="3585138"/>
            <a:ext cx="367968" cy="26161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73558F2-0472-E633-67A0-1C7B20D867EA}"/>
                  </a:ext>
                </a:extLst>
              </p:cNvPr>
              <p:cNvSpPr txBox="1"/>
              <p:nvPr/>
            </p:nvSpPr>
            <p:spPr>
              <a:xfrm>
                <a:off x="360000" y="4068000"/>
                <a:ext cx="2818423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73558F2-0472-E633-67A0-1C7B20D86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068000"/>
                <a:ext cx="2818423" cy="5241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箭头: 右 23">
            <a:extLst>
              <a:ext uri="{FF2B5EF4-FFF2-40B4-BE49-F238E27FC236}">
                <a16:creationId xmlns:a16="http://schemas.microsoft.com/office/drawing/2014/main" id="{FAAC386F-1840-39AA-7BA2-A41395ABE894}"/>
              </a:ext>
            </a:extLst>
          </p:cNvPr>
          <p:cNvSpPr/>
          <p:nvPr/>
        </p:nvSpPr>
        <p:spPr>
          <a:xfrm>
            <a:off x="5233152" y="4212623"/>
            <a:ext cx="367968" cy="26161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AF9F22E-7BDB-E7DA-B0AC-7C811DC9B74B}"/>
                  </a:ext>
                </a:extLst>
              </p:cNvPr>
              <p:cNvSpPr txBox="1"/>
              <p:nvPr/>
            </p:nvSpPr>
            <p:spPr>
              <a:xfrm>
                <a:off x="5976000" y="4068000"/>
                <a:ext cx="4064815" cy="550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m:rPr>
                            <m:sty m:val="p"/>
                          </m:rPr>
                          <a:rPr lang="en-US" altLang="zh-CN" sz="28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d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AF9F22E-7BDB-E7DA-B0AC-7C811DC9B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000" y="4068000"/>
                <a:ext cx="4064815" cy="55085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2440BB1-2CB5-07B2-EED5-C1252C459D7E}"/>
                  </a:ext>
                </a:extLst>
              </p:cNvPr>
              <p:cNvSpPr txBox="1"/>
              <p:nvPr/>
            </p:nvSpPr>
            <p:spPr>
              <a:xfrm>
                <a:off x="9934635" y="4094370"/>
                <a:ext cx="1804342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2440BB1-2CB5-07B2-EED5-C1252C459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635" y="4094370"/>
                <a:ext cx="1804342" cy="52411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BC624B6A-CCC2-559C-30FD-70648A007479}"/>
              </a:ext>
            </a:extLst>
          </p:cNvPr>
          <p:cNvSpPr txBox="1"/>
          <p:nvPr/>
        </p:nvSpPr>
        <p:spPr>
          <a:xfrm>
            <a:off x="360000" y="1800000"/>
            <a:ext cx="75917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利用代入规则可以扩展基本定律的应用范围：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D9FE863-B455-F9D9-C9D6-309D866D661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逻辑代数基本定理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代入规则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23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10" grpId="0"/>
      <p:bldP spid="11" grpId="0"/>
      <p:bldP spid="13" grpId="0"/>
      <p:bldP spid="14" grpId="0" animBg="1"/>
      <p:bldP spid="15" grpId="0"/>
      <p:bldP spid="16" grpId="0"/>
      <p:bldP spid="18" grpId="0"/>
      <p:bldP spid="22" grpId="0" animBg="1"/>
      <p:bldP spid="23" grpId="0"/>
      <p:bldP spid="24" grpId="0" animBg="1"/>
      <p:bldP spid="25" grpId="0"/>
      <p:bldP spid="26" grpId="0"/>
      <p:bldP spid="2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DE086F50-E4E6-4C24-7397-722EDE17B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0000" y="1872000"/>
            <a:ext cx="450764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•</a:t>
            </a:r>
            <a:endParaRPr kumimoji="1" lang="en-US" altLang="zh-CN" sz="28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1800"/>
              </a:spcBef>
              <a:spcAft>
                <a:spcPts val="1800"/>
              </a:spcAft>
              <a:buNone/>
            </a:pPr>
            <a:r>
              <a:rPr kumimoji="1"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kumimoji="1" lang="zh-CN" altLang="en-US" sz="28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052F909-B4B8-F99F-7BAE-3AA1E58D0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0000" y="1872000"/>
            <a:ext cx="450764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1800"/>
              </a:spcBef>
              <a:spcAft>
                <a:spcPts val="1800"/>
              </a:spcAft>
              <a:buNone/>
            </a:pPr>
            <a:r>
              <a:rPr kumimoji="1"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en-US" altLang="zh-CN" sz="28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76298F19-A90D-5325-50E8-36E599542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000" y="1872000"/>
            <a:ext cx="394660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1800"/>
              </a:spcBef>
              <a:spcAft>
                <a:spcPts val="1800"/>
              </a:spcAft>
              <a:buNone/>
            </a:pPr>
            <a:r>
              <a:rPr kumimoji="1"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8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ED31AB33-8C36-8A08-8244-691219D36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00" y="1872000"/>
            <a:ext cx="394660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1800"/>
              </a:spcBef>
              <a:spcAft>
                <a:spcPts val="1800"/>
              </a:spcAft>
              <a:buNone/>
            </a:pPr>
            <a:r>
              <a:rPr kumimoji="1"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5A150FC9-4E05-3510-33B6-030EED168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000" y="1872000"/>
            <a:ext cx="1261884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1800"/>
              </a:spcBef>
              <a:spcAft>
                <a:spcPts val="1800"/>
              </a:spcAft>
              <a:buNone/>
            </a:pPr>
            <a:r>
              <a:rPr kumimoji="1" lang="zh-CN" altLang="en-US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原变量</a:t>
            </a:r>
            <a:endParaRPr kumimoji="1" lang="en-US" altLang="zh-CN" sz="28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1800"/>
              </a:spcBef>
              <a:spcAft>
                <a:spcPts val="1800"/>
              </a:spcAft>
              <a:buNone/>
            </a:pPr>
            <a:r>
              <a:rPr kumimoji="1" lang="zh-CN" altLang="en-US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反变量</a:t>
            </a:r>
            <a:endParaRPr lang="en-US" altLang="zh-CN" sz="28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B804E96C-48A0-5B18-C15F-B2E04D73E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000" y="1872000"/>
            <a:ext cx="1261884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1800"/>
              </a:spcBef>
              <a:spcAft>
                <a:spcPts val="1800"/>
              </a:spcAft>
              <a:buNone/>
            </a:pPr>
            <a:r>
              <a:rPr kumimoji="1" lang="zh-CN" altLang="en-US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反变量</a:t>
            </a:r>
            <a:endParaRPr kumimoji="1" lang="en-US" altLang="zh-CN" sz="28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1800"/>
              </a:spcBef>
              <a:spcAft>
                <a:spcPts val="1800"/>
              </a:spcAft>
              <a:buNone/>
            </a:pPr>
            <a:r>
              <a:rPr kumimoji="1" lang="zh-CN" altLang="en-US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原变量</a:t>
            </a:r>
            <a:endParaRPr lang="en-US" altLang="zh-CN" sz="28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A9011541-5BFE-781D-111D-FC40579EC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382" y="2376000"/>
            <a:ext cx="0" cy="432000"/>
          </a:xfrm>
          <a:prstGeom prst="line">
            <a:avLst/>
          </a:prstGeom>
          <a:noFill/>
          <a:ln w="38100">
            <a:solidFill>
              <a:schemeClr val="accent5">
                <a:lumMod val="75000"/>
              </a:schemeClr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E3CBA55-F702-9C3B-7B3E-A97BBCAC585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B274ABD-8726-F093-92A2-967E2FC1649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9" name="箭头: 五边形 18">
                <a:extLst>
                  <a:ext uri="{FF2B5EF4-FFF2-40B4-BE49-F238E27FC236}">
                    <a16:creationId xmlns:a16="http://schemas.microsoft.com/office/drawing/2014/main" id="{95A9C5D7-1A38-7517-177D-9AF4F344EB7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箭头: V 形 19">
                <a:extLst>
                  <a:ext uri="{FF2B5EF4-FFF2-40B4-BE49-F238E27FC236}">
                    <a16:creationId xmlns:a16="http://schemas.microsoft.com/office/drawing/2014/main" id="{D647FD26-F044-2AED-A013-67352C20D87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灯片编号占位符 3">
              <a:extLst>
                <a:ext uri="{FF2B5EF4-FFF2-40B4-BE49-F238E27FC236}">
                  <a16:creationId xmlns:a16="http://schemas.microsoft.com/office/drawing/2014/main" id="{FBA4C316-94A6-A1C5-8601-E1929E0EBF1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7C515B3-35F5-BBCD-F282-1DF1883B7B95}"/>
                  </a:ext>
                </a:extLst>
              </p:cNvPr>
              <p:cNvSpPr txBox="1"/>
              <p:nvPr/>
            </p:nvSpPr>
            <p:spPr>
              <a:xfrm>
                <a:off x="360000" y="5040000"/>
                <a:ext cx="11682386" cy="11447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			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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8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</m:acc>
                    <m:r>
                      <a:rPr kumimoji="1" lang="en-US" altLang="zh-CN" sz="2800" i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acc>
                      <m:accPr>
                        <m:chr m:val="̅"/>
                        <m:ctrlPr>
                          <a:rPr kumimoji="1" lang="en-US" altLang="zh-CN" sz="28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kumimoji="1" lang="en-US" altLang="zh-CN" sz="280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  <m: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)(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kumimoji="1" lang="en-US" altLang="zh-CN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e>
                    </m:acc>
                    <m: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 </a:t>
                </a:r>
                <a:r>
                  <a:rPr lang="en-US" altLang="zh-CN" sz="12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8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  <m:r>
                              <a:rPr lang="en-US" altLang="zh-CN" sz="28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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</m:acc>
                    <m:r>
                      <a:rPr kumimoji="1" lang="en-US" altLang="zh-CN" sz="2800" i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acc>
                      <m:accPr>
                        <m:chr m:val="̅"/>
                        <m:ctrlPr>
                          <a:rPr kumimoji="1" lang="en-US" altLang="zh-CN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kumimoji="1" lang="en-US" altLang="zh-CN" sz="2800" i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i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  <m:r>
                      <a:rPr kumimoji="1" lang="en-US" altLang="zh-CN" sz="2800" i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acc>
                      <m:accPr>
                        <m:chr m:val="̅"/>
                        <m:ctrlPr>
                          <a:rPr kumimoji="1" lang="en-US" altLang="zh-CN" sz="28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d>
                          <m:dPr>
                            <m:ctrlPr>
                              <a:rPr kumimoji="1" lang="en-US" altLang="zh-CN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kumimoji="1" lang="en-US" altLang="zh-CN" sz="28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</m:e>
                            </m:acc>
                            <m:r>
                              <a:rPr kumimoji="1" lang="en-US" altLang="zh-CN" sz="2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kumimoji="1" lang="en-US" altLang="zh-CN" sz="28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</m:t>
                                </m:r>
                              </m:e>
                            </m:acc>
                            <m:r>
                              <a:rPr kumimoji="1" lang="en-US" altLang="zh-CN" sz="2800" i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kumimoji="1" lang="en-US" altLang="zh-CN" sz="28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B</m:t>
                                </m:r>
                              </m:e>
                            </m:acc>
                          </m:e>
                        </m:d>
                      </m:e>
                    </m:acc>
                    <m: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  <m: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  <m: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kumimoji="1" lang="zh-CN" altLang="en-US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7C515B3-35F5-BBCD-F282-1DF1883B7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040000"/>
                <a:ext cx="11682386" cy="1144737"/>
              </a:xfrm>
              <a:prstGeom prst="rect">
                <a:avLst/>
              </a:prstGeom>
              <a:blipFill>
                <a:blip r:embed="rId3"/>
                <a:stretch>
                  <a:fillRect t="-6383" b="-10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4DDCC1-1BC7-DBF7-718F-3C792BADCC51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1154495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反演规则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：对于任一逻辑表达式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，若将其中所有运算符、常量和变量作如下变换，则得到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的反函数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zh-CN" altLang="en-US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4DDCC1-1BC7-DBF7-718F-3C792BADC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11544955" cy="954107"/>
              </a:xfrm>
              <a:prstGeom prst="rect">
                <a:avLst/>
              </a:prstGeom>
              <a:blipFill>
                <a:blip r:embed="rId4"/>
                <a:stretch>
                  <a:fillRect l="-1056" t="-7051" r="-58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8221E48D-128B-9981-70D1-642B0632DB9F}"/>
              </a:ext>
            </a:extLst>
          </p:cNvPr>
          <p:cNvSpPr txBox="1"/>
          <p:nvPr/>
        </p:nvSpPr>
        <p:spPr>
          <a:xfrm>
            <a:off x="360000" y="3528000"/>
            <a:ext cx="1132745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利用反演规则求反函数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保持原函数运算次序，即先括号，然后与，最后或，必要时适当地加入括号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不属于单个变量上的非号保留不变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31BD0AA6-A6F1-1954-15AB-D7942F5B628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逻辑代数基本定理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反演规则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CCEECD19-7975-1601-7340-E25649C14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5382" y="2376000"/>
            <a:ext cx="0" cy="432000"/>
          </a:xfrm>
          <a:prstGeom prst="line">
            <a:avLst/>
          </a:prstGeom>
          <a:noFill/>
          <a:ln w="38100">
            <a:solidFill>
              <a:schemeClr val="accent5">
                <a:lumMod val="75000"/>
              </a:schemeClr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Line 10">
            <a:extLst>
              <a:ext uri="{FF2B5EF4-FFF2-40B4-BE49-F238E27FC236}">
                <a16:creationId xmlns:a16="http://schemas.microsoft.com/office/drawing/2014/main" id="{5ADC2BB5-6E88-CB08-A45D-A8730D07BA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730" y="2376000"/>
            <a:ext cx="0" cy="432000"/>
          </a:xfrm>
          <a:prstGeom prst="line">
            <a:avLst/>
          </a:prstGeom>
          <a:noFill/>
          <a:ln w="38100">
            <a:solidFill>
              <a:schemeClr val="accent5">
                <a:lumMod val="75000"/>
              </a:schemeClr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Line 10">
            <a:extLst>
              <a:ext uri="{FF2B5EF4-FFF2-40B4-BE49-F238E27FC236}">
                <a16:creationId xmlns:a16="http://schemas.microsoft.com/office/drawing/2014/main" id="{63A0AFF0-C823-0A85-CC33-BA8FE8C33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8942" y="2376000"/>
            <a:ext cx="0" cy="432000"/>
          </a:xfrm>
          <a:prstGeom prst="line">
            <a:avLst/>
          </a:prstGeom>
          <a:noFill/>
          <a:ln w="38100">
            <a:solidFill>
              <a:schemeClr val="accent5">
                <a:lumMod val="75000"/>
              </a:schemeClr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0" name="Line 10">
            <a:extLst>
              <a:ext uri="{FF2B5EF4-FFF2-40B4-BE49-F238E27FC236}">
                <a16:creationId xmlns:a16="http://schemas.microsoft.com/office/drawing/2014/main" id="{9835912D-8644-AE79-6420-E62DB8A8D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6400" y="2376000"/>
            <a:ext cx="0" cy="432000"/>
          </a:xfrm>
          <a:prstGeom prst="line">
            <a:avLst/>
          </a:prstGeom>
          <a:noFill/>
          <a:ln w="38100">
            <a:solidFill>
              <a:schemeClr val="accent5">
                <a:lumMod val="75000"/>
              </a:schemeClr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Line 10">
            <a:extLst>
              <a:ext uri="{FF2B5EF4-FFF2-40B4-BE49-F238E27FC236}">
                <a16:creationId xmlns:a16="http://schemas.microsoft.com/office/drawing/2014/main" id="{62A38FD7-EF0C-C70A-E5E8-312AEA107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1542" y="2376000"/>
            <a:ext cx="0" cy="432000"/>
          </a:xfrm>
          <a:prstGeom prst="line">
            <a:avLst/>
          </a:prstGeom>
          <a:noFill/>
          <a:ln w="38100">
            <a:solidFill>
              <a:schemeClr val="accent5">
                <a:lumMod val="75000"/>
              </a:schemeClr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71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8398B00-16FE-46AA-FF68-E9744DF41D7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25CBD23-4C33-88AC-591B-F4E5981F9E4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E520AC5F-F674-1F9E-80FE-CA1E68612D7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CB1C54BF-B4A5-9041-5738-42006ABCB61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C001EBF3-41EF-EA5B-8DC3-8ECB286FDB2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D2CBAD6-FA24-D5DB-7A51-326409E1D14F}"/>
              </a:ext>
            </a:extLst>
          </p:cNvPr>
          <p:cNvSpPr txBox="1"/>
          <p:nvPr/>
        </p:nvSpPr>
        <p:spPr>
          <a:xfrm>
            <a:off x="360000" y="3528000"/>
            <a:ext cx="9477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ct val="100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利用对偶规则，从已知公式可以得到更多公式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60A1AD0-E33F-1F9D-FCDB-0DFBD1EFFB12}"/>
                  </a:ext>
                </a:extLst>
              </p:cNvPr>
              <p:cNvSpPr txBox="1"/>
              <p:nvPr/>
            </p:nvSpPr>
            <p:spPr>
              <a:xfrm>
                <a:off x="360000" y="4536000"/>
                <a:ext cx="10111294" cy="595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  <m: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e>
                    </m:d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AB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	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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8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p>
                        <m:r>
                          <a:rPr kumimoji="1" lang="en-US" altLang="zh-CN" sz="2800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r>
                      <a:rPr kumimoji="1" lang="en-US" altLang="zh-CN" sz="2800" i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  <m: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kumimoji="1" lang="en-US" altLang="zh-CN" sz="280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</m:oMath>
                </a14:m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60A1AD0-E33F-1F9D-FCDB-0DFBD1EFF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536000"/>
                <a:ext cx="10111294" cy="595869"/>
              </a:xfrm>
              <a:prstGeom prst="rect">
                <a:avLst/>
              </a:prstGeom>
              <a:blipFill>
                <a:blip r:embed="rId2"/>
                <a:stretch>
                  <a:fillRect t="-7143" b="-193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FB62957-5184-3007-83E0-B55AA08AADC1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20879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对偶规则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：对于任一逻辑式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，将其中所有运算符和常量作如下变换，则得到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的对偶式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kumimoji="1" lang="en-US" altLang="zh-C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；若两个逻辑式相等，则它们的对偶式也相等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FB62957-5184-3007-83E0-B55AA08AA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208792" cy="954107"/>
              </a:xfrm>
              <a:prstGeom prst="rect">
                <a:avLst/>
              </a:prstGeom>
              <a:blipFill>
                <a:blip r:embed="rId3"/>
                <a:stretch>
                  <a:fillRect l="-1088" t="-7051" r="-38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标题 1">
            <a:extLst>
              <a:ext uri="{FF2B5EF4-FFF2-40B4-BE49-F238E27FC236}">
                <a16:creationId xmlns:a16="http://schemas.microsoft.com/office/drawing/2014/main" id="{F64F05E0-6C42-F239-D04B-3C29E9698DD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逻辑代数基本定理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对偶规则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2DE320A-1352-8B3C-26E2-C7F4DAEC61A1}"/>
              </a:ext>
            </a:extLst>
          </p:cNvPr>
          <p:cNvGrpSpPr/>
          <p:nvPr/>
        </p:nvGrpSpPr>
        <p:grpSpPr>
          <a:xfrm>
            <a:off x="4278670" y="1872000"/>
            <a:ext cx="3634660" cy="1415772"/>
            <a:chOff x="2340000" y="1872000"/>
            <a:chExt cx="3634660" cy="1415772"/>
          </a:xfrm>
        </p:grpSpPr>
        <p:sp>
          <p:nvSpPr>
            <p:cNvPr id="2" name="Rectangle 4">
              <a:extLst>
                <a:ext uri="{FF2B5EF4-FFF2-40B4-BE49-F238E27FC236}">
                  <a16:creationId xmlns:a16="http://schemas.microsoft.com/office/drawing/2014/main" id="{78E9687D-71D5-FB66-0352-E5FE4911D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000" y="1872000"/>
              <a:ext cx="450764" cy="1415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ts val="1800"/>
                </a:spcBef>
                <a:spcAft>
                  <a:spcPts val="1800"/>
                </a:spcAft>
                <a:buFontTx/>
                <a:buNone/>
              </a:pPr>
              <a:r>
                <a:rPr lang="en-US" altLang="zh-CN" sz="28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•</a:t>
              </a:r>
              <a:endParaRPr kumimoji="1"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>
                <a:spcBef>
                  <a:spcPts val="1800"/>
                </a:spcBef>
                <a:spcAft>
                  <a:spcPts val="1800"/>
                </a:spcAft>
                <a:buNone/>
              </a:pPr>
              <a:r>
                <a:rPr kumimoji="1" lang="en-US" altLang="zh-CN" sz="28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kumimoji="1" lang="zh-CN" altLang="en-US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A8884CC2-D75B-A038-25D7-56B06C911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000" y="1872000"/>
              <a:ext cx="450764" cy="1415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ts val="1800"/>
                </a:spcBef>
                <a:spcAft>
                  <a:spcPts val="1800"/>
                </a:spcAft>
                <a:buNone/>
              </a:pPr>
              <a:r>
                <a:rPr kumimoji="1" lang="en-US" altLang="zh-CN" sz="28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ts val="1800"/>
                </a:spcBef>
                <a:spcAft>
                  <a:spcPts val="1800"/>
                </a:spcAft>
                <a:buFontTx/>
                <a:buNone/>
              </a:pPr>
              <a:r>
                <a:rPr lang="en-US" altLang="zh-CN" sz="28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•</a:t>
              </a:r>
            </a:p>
          </p:txBody>
        </p:sp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3A0DE03E-64D5-8422-97DC-869D6E632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000" y="1872000"/>
              <a:ext cx="394660" cy="1415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ts val="1800"/>
                </a:spcBef>
                <a:spcAft>
                  <a:spcPts val="1800"/>
                </a:spcAft>
                <a:buNone/>
              </a:pPr>
              <a:r>
                <a:rPr kumimoji="1" lang="en-US" altLang="zh-CN" sz="28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ts val="1800"/>
                </a:spcBef>
                <a:spcAft>
                  <a:spcPts val="1800"/>
                </a:spcAft>
                <a:buFontTx/>
                <a:buNone/>
              </a:pPr>
              <a:r>
                <a:rPr lang="en-US" altLang="zh-CN" sz="28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" name="Rectangle 4">
              <a:extLst>
                <a:ext uri="{FF2B5EF4-FFF2-40B4-BE49-F238E27FC236}">
                  <a16:creationId xmlns:a16="http://schemas.microsoft.com/office/drawing/2014/main" id="{B04158C8-D728-425A-7286-4751663CA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000" y="1872000"/>
              <a:ext cx="394660" cy="1415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ts val="1800"/>
                </a:spcBef>
                <a:spcAft>
                  <a:spcPts val="1800"/>
                </a:spcAft>
                <a:buNone/>
              </a:pPr>
              <a:r>
                <a:rPr kumimoji="1" lang="en-US" altLang="zh-CN" sz="28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28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ts val="1800"/>
                </a:spcBef>
                <a:spcAft>
                  <a:spcPts val="1800"/>
                </a:spcAft>
                <a:buFontTx/>
                <a:buNone/>
              </a:pPr>
              <a:r>
                <a:rPr lang="en-US" altLang="zh-CN" sz="28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13F6D968-A80A-8CEC-918B-92AE94D93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5382" y="2376000"/>
              <a:ext cx="0" cy="432000"/>
            </a:xfrm>
            <a:prstGeom prst="line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" name="Line 10">
              <a:extLst>
                <a:ext uri="{FF2B5EF4-FFF2-40B4-BE49-F238E27FC236}">
                  <a16:creationId xmlns:a16="http://schemas.microsoft.com/office/drawing/2014/main" id="{5E6E85F6-E2C5-70E9-679F-A15B74EC1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5382" y="2376000"/>
              <a:ext cx="0" cy="432000"/>
            </a:xfrm>
            <a:prstGeom prst="line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4" name="Line 10">
              <a:extLst>
                <a:ext uri="{FF2B5EF4-FFF2-40B4-BE49-F238E27FC236}">
                  <a16:creationId xmlns:a16="http://schemas.microsoft.com/office/drawing/2014/main" id="{C3DDC831-31F7-A31C-243F-C2F96DF35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9730" y="2376000"/>
              <a:ext cx="0" cy="432000"/>
            </a:xfrm>
            <a:prstGeom prst="line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86BB56DB-A959-86E6-E296-BF4174F66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8942" y="2376000"/>
              <a:ext cx="0" cy="432000"/>
            </a:xfrm>
            <a:prstGeom prst="line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289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F82A-4982-75C4-C2DB-7DD9000C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3B32C70-2082-BDB5-C8D4-7753D4DBD20D}"/>
              </a:ext>
            </a:extLst>
          </p:cNvPr>
          <p:cNvSpPr txBox="1"/>
          <p:nvPr/>
        </p:nvSpPr>
        <p:spPr>
          <a:xfrm>
            <a:off x="360000" y="828000"/>
            <a:ext cx="4627292" cy="4755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(1)</a:t>
            </a: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P39 - 40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1.5.3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1.6.1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1.6.2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1.6.3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1.6.4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A04AF741-2989-8935-977C-2D9C32296B5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C466ECB-186F-D577-C2A1-474601EF4BF0}"/>
                  </a:ext>
                </a:extLst>
              </p:cNvPr>
              <p:cNvSpPr txBox="1"/>
              <p:nvPr/>
            </p:nvSpPr>
            <p:spPr>
              <a:xfrm>
                <a:off x="6120000" y="828000"/>
                <a:ext cx="5613291" cy="4152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ct val="30000"/>
                  </a:spcAft>
                  <a:defRPr/>
                </a:pPr>
                <a:endParaRPr lang="en-US" altLang="zh-CN" sz="2800" kern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10000"/>
                  </a:lnSpc>
                  <a:spcAft>
                    <a:spcPct val="30000"/>
                  </a:spcAft>
                  <a:defRPr/>
                </a:pPr>
                <a:endParaRPr lang="en-US" altLang="zh-CN" sz="2800" kern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10000"/>
                  </a:lnSpc>
                  <a:spcAft>
                    <a:spcPct val="30000"/>
                  </a:spcAft>
                  <a:defRPr/>
                </a:pPr>
                <a:r>
                  <a:rPr lang="en-US" altLang="zh-CN" sz="2800" kern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P74</a:t>
                </a:r>
                <a:r>
                  <a:rPr lang="zh-CN" altLang="en-US" sz="2800" kern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800" kern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10000"/>
                  </a:lnSpc>
                  <a:spcAft>
                    <a:spcPct val="30000"/>
                  </a:spcAft>
                  <a:defRPr/>
                </a:pPr>
                <a:r>
                  <a:rPr lang="en-US" altLang="zh-CN" sz="2800" kern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2.1.1 (1)</a:t>
                </a:r>
              </a:p>
              <a:p>
                <a:pPr lvl="2">
                  <a:lnSpc>
                    <a:spcPct val="110000"/>
                  </a:lnSpc>
                  <a:spcAft>
                    <a:spcPct val="300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kumimoji="1" lang="zh-CN" altLang="en-US" sz="280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r>
                            <a:rPr kumimoji="1"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⨁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</m:e>
                      </m:d>
                      <m:r>
                        <a:rPr kumimoji="1"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⨁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C</m:t>
                      </m:r>
                      <m: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  <m:r>
                        <a:rPr kumimoji="1"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⨁</m:t>
                      </m:r>
                      <m: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B</m:t>
                      </m:r>
                      <m:r>
                        <a:rPr kumimoji="1"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⨁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C</m:t>
                      </m:r>
                      <m:r>
                        <a:rPr kumimoji="1"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800" kern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10000"/>
                  </a:lnSpc>
                  <a:spcAft>
                    <a:spcPct val="30000"/>
                  </a:spcAft>
                  <a:defRPr/>
                </a:pPr>
                <a:r>
                  <a:rPr lang="en-US" altLang="zh-CN" sz="2800" kern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2.1.2 (3),(4)</a:t>
                </a:r>
              </a:p>
              <a:p>
                <a:pPr lvl="1">
                  <a:lnSpc>
                    <a:spcPct val="110000"/>
                  </a:lnSpc>
                  <a:spcAft>
                    <a:spcPct val="30000"/>
                  </a:spcAft>
                  <a:defRPr/>
                </a:pPr>
                <a:r>
                  <a:rPr lang="en-US" altLang="zh-CN" sz="2800" kern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2.1.4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C466ECB-186F-D577-C2A1-474601EF4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000" y="828000"/>
                <a:ext cx="5613291" cy="4152740"/>
              </a:xfrm>
              <a:prstGeom prst="rect">
                <a:avLst/>
              </a:prstGeom>
              <a:blipFill>
                <a:blip r:embed="rId3"/>
                <a:stretch>
                  <a:fillRect l="-2280" b="-3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5151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5572</TotalTime>
  <Words>2169</Words>
  <Application>Microsoft Office PowerPoint</Application>
  <PresentationFormat>宽屏</PresentationFormat>
  <Paragraphs>555</Paragraphs>
  <Slides>22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等线</vt:lpstr>
      <vt:lpstr>Microsoft YaHei</vt:lpstr>
      <vt:lpstr>Microsoft YaHei</vt:lpstr>
      <vt:lpstr>Arial</vt:lpstr>
      <vt:lpstr>Cambria Math</vt:lpstr>
      <vt:lpstr>Candara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552</cp:revision>
  <dcterms:created xsi:type="dcterms:W3CDTF">2024-12-23T04:28:42Z</dcterms:created>
  <dcterms:modified xsi:type="dcterms:W3CDTF">2025-11-04T15:48:30Z</dcterms:modified>
</cp:coreProperties>
</file>