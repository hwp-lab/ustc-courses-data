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1354" r:id="rId2"/>
    <p:sldId id="6883" r:id="rId3"/>
    <p:sldId id="6907" r:id="rId4"/>
    <p:sldId id="6908" r:id="rId5"/>
    <p:sldId id="6937" r:id="rId6"/>
    <p:sldId id="6925" r:id="rId7"/>
    <p:sldId id="6909" r:id="rId8"/>
    <p:sldId id="6910" r:id="rId9"/>
    <p:sldId id="6936" r:id="rId10"/>
    <p:sldId id="6945" r:id="rId11"/>
    <p:sldId id="6913" r:id="rId12"/>
    <p:sldId id="6914" r:id="rId13"/>
    <p:sldId id="6915" r:id="rId14"/>
    <p:sldId id="6916" r:id="rId15"/>
    <p:sldId id="6918" r:id="rId16"/>
    <p:sldId id="6929" r:id="rId17"/>
    <p:sldId id="6928" r:id="rId18"/>
    <p:sldId id="6920" r:id="rId19"/>
    <p:sldId id="6930" r:id="rId20"/>
    <p:sldId id="6940" r:id="rId21"/>
    <p:sldId id="6939" r:id="rId22"/>
    <p:sldId id="6944" r:id="rId23"/>
    <p:sldId id="6924" r:id="rId24"/>
    <p:sldId id="6931" r:id="rId25"/>
    <p:sldId id="6932" r:id="rId26"/>
    <p:sldId id="6933" r:id="rId27"/>
    <p:sldId id="6934" r:id="rId28"/>
    <p:sldId id="6941" r:id="rId29"/>
    <p:sldId id="6942" r:id="rId30"/>
    <p:sldId id="6926" r:id="rId31"/>
    <p:sldId id="6943" r:id="rId32"/>
    <p:sldId id="6927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C8C8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95" autoAdjust="0"/>
    <p:restoredTop sz="65435" autoAdjust="0"/>
  </p:normalViewPr>
  <p:slideViewPr>
    <p:cSldViewPr snapToGrid="0">
      <p:cViewPr>
        <p:scale>
          <a:sx n="55" d="100"/>
          <a:sy n="55" d="100"/>
        </p:scale>
        <p:origin x="999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9" d="100"/>
          <a:sy n="59" d="100"/>
        </p:scale>
        <p:origin x="249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336B957-0C23-1CDE-A2B8-044701C667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7E1FBC-070D-8861-8D9C-258144CACE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2CA61-C7A7-44C1-8225-2F3B25FCEFE9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964B15-02A6-96D1-7025-FFA5019E5E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ABE5DA-4AAF-6256-556A-73DB14F76B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A6520-B727-41E0-BB1B-FA4B49A62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0418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499D7-817A-4BF8-98BA-7E2BFEC27B52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8E926-3218-4A05-BE3C-00B734B06F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20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zh.wikipedia.org/wiki/Wikipedia:IPA_for_English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zh.wikipedia.org/wiki/Wikipedia:IPA_for_English#Key" TargetMode="Externa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数制：数量表达的方式和规则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just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编码：信息从一种形式或格式转换为另一种形式或格式的过程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EC6D-DB1F-44A4-BAF7-4CD4248B20A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306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3DAE20-816B-478C-A474-06D4E56ADF3B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310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kumimoji="1" lang="zh-CN" altLang="en-US" dirty="0">
                <a:latin typeface="宋体" panose="02010600030101010101" pitchFamily="2" charset="-122"/>
              </a:rPr>
              <a:t>所谓“数制”就是计数的体制，也称进位计数制，指用一组固定的</a:t>
            </a:r>
            <a:r>
              <a:rPr kumimoji="1" lang="zh-CN" altLang="en-US" dirty="0">
                <a:solidFill>
                  <a:srgbClr val="0066FF"/>
                </a:solidFill>
                <a:latin typeface="宋体" panose="02010600030101010101" pitchFamily="2" charset="-122"/>
              </a:rPr>
              <a:t>计数符号</a:t>
            </a:r>
            <a:r>
              <a:rPr kumimoji="1" lang="en-US" altLang="zh-CN" dirty="0">
                <a:latin typeface="宋体" panose="02010600030101010101" pitchFamily="2" charset="-122"/>
              </a:rPr>
              <a:t>(</a:t>
            </a:r>
            <a:r>
              <a:rPr kumimoji="1" lang="zh-CN" altLang="en-US" dirty="0">
                <a:latin typeface="宋体" panose="02010600030101010101" pitchFamily="2" charset="-122"/>
              </a:rPr>
              <a:t>或称数码</a:t>
            </a:r>
            <a:r>
              <a:rPr kumimoji="1" lang="en-US" altLang="zh-CN" dirty="0">
                <a:latin typeface="宋体" panose="02010600030101010101" pitchFamily="2" charset="-122"/>
              </a:rPr>
              <a:t>)</a:t>
            </a:r>
            <a:r>
              <a:rPr kumimoji="1" lang="zh-CN" altLang="en-US" dirty="0">
                <a:latin typeface="宋体" panose="02010600030101010101" pitchFamily="2" charset="-122"/>
              </a:rPr>
              <a:t>和统一的</a:t>
            </a:r>
            <a:r>
              <a:rPr kumimoji="1" lang="zh-CN" altLang="en-US" dirty="0">
                <a:solidFill>
                  <a:srgbClr val="0066FF"/>
                </a:solidFill>
                <a:latin typeface="宋体" panose="02010600030101010101" pitchFamily="2" charset="-122"/>
              </a:rPr>
              <a:t>进位规则</a:t>
            </a:r>
            <a:r>
              <a:rPr kumimoji="1" lang="zh-CN" altLang="en-US" dirty="0">
                <a:latin typeface="宋体" panose="02010600030101010101" pitchFamily="2" charset="-122"/>
              </a:rPr>
              <a:t>来表示数值的方法</a:t>
            </a:r>
            <a:endParaRPr kumimoji="1" lang="en-US" altLang="zh-CN" dirty="0">
              <a:solidFill>
                <a:srgbClr val="000066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kumimoji="1" lang="en-US" altLang="zh-CN" dirty="0">
                <a:solidFill>
                  <a:srgbClr val="000066"/>
                </a:solidFill>
                <a:latin typeface="宋体" panose="02010600030101010101" pitchFamily="2" charset="-122"/>
              </a:rPr>
              <a:t>	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kumimoji="1" lang="zh-CN" altLang="en-US" dirty="0">
                <a:solidFill>
                  <a:srgbClr val="000066"/>
                </a:solidFill>
              </a:rPr>
              <a:t>例如，十进制采用 </a:t>
            </a:r>
            <a:r>
              <a:rPr kumimoji="1" lang="en-US" altLang="zh-CN" dirty="0">
                <a:solidFill>
                  <a:srgbClr val="000066"/>
                </a:solidFill>
              </a:rPr>
              <a:t>0, 1, 2, 3, 4, 5, 6, 7, 8, 9 </a:t>
            </a:r>
            <a:r>
              <a:rPr kumimoji="1" lang="zh-CN" altLang="en-US" dirty="0">
                <a:solidFill>
                  <a:srgbClr val="000066"/>
                </a:solidFill>
              </a:rPr>
              <a:t>十个数码，其进位的规则是“逢十进一”，各位的权都是 </a:t>
            </a:r>
            <a:r>
              <a:rPr kumimoji="1" lang="en-US" altLang="zh-CN" dirty="0">
                <a:solidFill>
                  <a:srgbClr val="000066"/>
                </a:solidFill>
              </a:rPr>
              <a:t>10 </a:t>
            </a:r>
            <a:r>
              <a:rPr kumimoji="1" lang="zh-CN" altLang="en-US" dirty="0">
                <a:solidFill>
                  <a:srgbClr val="000066"/>
                </a:solidFill>
              </a:rPr>
              <a:t>的幂</a:t>
            </a:r>
            <a:endParaRPr kumimoji="1" lang="en-US" altLang="zh-CN" dirty="0">
              <a:solidFill>
                <a:srgbClr val="000066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kumimoji="1" lang="en-US" altLang="zh-CN" dirty="0">
              <a:solidFill>
                <a:srgbClr val="000066"/>
              </a:solidFill>
            </a:endParaRPr>
          </a:p>
          <a:p>
            <a:pPr eaLnBrk="1" hangingPunct="1"/>
            <a:r>
              <a:rPr kumimoji="1" lang="en-US" altLang="zh-CN" dirty="0" err="1">
                <a:solidFill>
                  <a:srgbClr val="000066"/>
                </a:solidFill>
              </a:rPr>
              <a:t>k_i</a:t>
            </a:r>
            <a:r>
              <a:rPr kumimoji="1" lang="en-US" altLang="zh-CN" dirty="0">
                <a:solidFill>
                  <a:srgbClr val="000066"/>
                </a:solidFill>
              </a:rPr>
              <a:t> </a:t>
            </a:r>
            <a:r>
              <a:rPr kumimoji="1" lang="zh-CN" altLang="en-US" dirty="0">
                <a:solidFill>
                  <a:srgbClr val="000066"/>
                </a:solidFill>
              </a:rPr>
              <a:t>的取值为 </a:t>
            </a:r>
            <a:r>
              <a:rPr kumimoji="1" lang="en-US" altLang="zh-CN" dirty="0">
                <a:solidFill>
                  <a:srgbClr val="000066"/>
                </a:solidFill>
              </a:rPr>
              <a:t>0 </a:t>
            </a:r>
            <a:r>
              <a:rPr kumimoji="1" lang="zh-CN" altLang="en-US" dirty="0">
                <a:solidFill>
                  <a:srgbClr val="000066"/>
                </a:solidFill>
              </a:rPr>
              <a:t>到 </a:t>
            </a:r>
            <a:r>
              <a:rPr kumimoji="1" lang="en-US" altLang="zh-CN" dirty="0">
                <a:solidFill>
                  <a:srgbClr val="000066"/>
                </a:solidFill>
              </a:rPr>
              <a:t>R-1</a:t>
            </a:r>
          </a:p>
          <a:p>
            <a:pPr eaLnBrk="1" hangingPunct="1"/>
            <a:r>
              <a:rPr kumimoji="1" lang="zh-CN" altLang="en-US" dirty="0">
                <a:solidFill>
                  <a:srgbClr val="000066"/>
                </a:solidFill>
              </a:rPr>
              <a:t>数字电路不方便使用十进制，因为要求电路有十个完全不同的状态，过于复杂</a:t>
            </a:r>
            <a:endParaRPr kumimoji="1" lang="en-US" altLang="zh-CN" dirty="0">
              <a:solidFill>
                <a:srgbClr val="000066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042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kumimoji="1" lang="zh-CN" altLang="en-US" dirty="0"/>
              <a:t>为什么引入其他进制？ </a:t>
            </a:r>
            <a:endParaRPr kumimoji="1" lang="en-US" altLang="zh-CN" dirty="0"/>
          </a:p>
          <a:p>
            <a:pPr eaLnBrk="1" hangingPunct="1">
              <a:defRPr/>
            </a:pPr>
            <a:endParaRPr kumimoji="1" lang="en-US" altLang="zh-CN" dirty="0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kumimoji="1" lang="zh-CN" altLang="en-US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二进制优点：数字</a:t>
            </a:r>
            <a:r>
              <a:rPr kumimoji="1" lang="zh-CN" altLang="en-US" dirty="0">
                <a:solidFill>
                  <a:srgbClr val="000066"/>
                </a:solidFill>
              </a:rPr>
              <a:t>电路实现（存储、处理、传输）简单、可靠</a:t>
            </a:r>
            <a:endParaRPr kumimoji="1" lang="en-US" altLang="zh-CN" dirty="0">
              <a:solidFill>
                <a:srgbClr val="000066"/>
              </a:solidFill>
            </a:endParaRPr>
          </a:p>
          <a:p>
            <a:pPr eaLnBrk="1" hangingPunct="1">
              <a:defRPr/>
            </a:pPr>
            <a:r>
              <a:rPr kumimoji="1" lang="zh-CN" altLang="en-US" dirty="0">
                <a:solidFill>
                  <a:srgbClr val="000066"/>
                </a:solidFill>
              </a:rPr>
              <a:t>二进制缺点：使用不方便（位数长）</a:t>
            </a:r>
            <a:endParaRPr kumimoji="1" lang="en-US" altLang="zh-CN" dirty="0">
              <a:solidFill>
                <a:srgbClr val="000066"/>
              </a:solidFill>
            </a:endParaRPr>
          </a:p>
          <a:p>
            <a:pPr eaLnBrk="1" hangingPunct="1">
              <a:defRPr/>
            </a:pPr>
            <a:r>
              <a:rPr kumimoji="1" lang="zh-CN" altLang="en-US" dirty="0"/>
              <a:t>为克服二进制的缺点而引入十六进制和八进制</a:t>
            </a:r>
            <a:endParaRPr kumimoji="1" lang="en-US" altLang="zh-CN" dirty="0"/>
          </a:p>
          <a:p>
            <a:pPr eaLnBrk="1" hangingPunct="1">
              <a:defRPr/>
            </a:pPr>
            <a:endParaRPr kumimoji="1" lang="en-US" altLang="zh-CN" dirty="0"/>
          </a:p>
          <a:p>
            <a:pPr eaLnBrk="1" hangingPunct="1">
              <a:defRPr/>
            </a:pPr>
            <a:r>
              <a:rPr kumimoji="1" lang="zh-CN" altLang="en-US" dirty="0"/>
              <a:t>十六进制优点：</a:t>
            </a:r>
            <a:r>
              <a:rPr kumimoji="1" lang="zh-CN" altLang="en-US" dirty="0">
                <a:solidFill>
                  <a:srgbClr val="000066"/>
                </a:solidFill>
              </a:rPr>
              <a:t>与二进制之间的转换容易，书写简洁（计数容量较其它进制都大） </a:t>
            </a:r>
            <a:endParaRPr kumimoji="1" lang="en-US" altLang="zh-CN" dirty="0">
              <a:solidFill>
                <a:srgbClr val="000066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341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BB18F-2632-8926-7B23-0534F362C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6994B69-31D7-7E7D-9C41-BDD2D8596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734E47-67BD-CC6A-D74A-16C50E7A5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串行传输，所需设备简单，</a:t>
            </a:r>
            <a:r>
              <a:rPr lang="en-US" altLang="zh-CN" dirty="0"/>
              <a:t>USB3.0 </a:t>
            </a:r>
            <a:r>
              <a:rPr lang="zh-CN" altLang="en-US" dirty="0"/>
              <a:t>传输速度可达 </a:t>
            </a:r>
            <a:r>
              <a:rPr lang="en-US" altLang="zh-CN" dirty="0"/>
              <a:t>5Gbps</a:t>
            </a:r>
            <a:r>
              <a:rPr lang="zh-CN" altLang="en-US" dirty="0"/>
              <a:t> </a:t>
            </a:r>
            <a:r>
              <a:rPr lang="en-US" altLang="zh-CN" dirty="0"/>
              <a:t>(bits per second)</a:t>
            </a:r>
          </a:p>
          <a:p>
            <a:r>
              <a:rPr lang="zh-CN" altLang="en-US" dirty="0"/>
              <a:t>并行传输，计算机内部采用的方式，速度比串行快，但所需设备复杂</a:t>
            </a:r>
            <a:endParaRPr lang="en-US" altLang="zh-CN" dirty="0"/>
          </a:p>
          <a:p>
            <a:endParaRPr lang="en-US" altLang="zh-CN" dirty="0"/>
          </a:p>
          <a:p>
            <a:pPr eaLnBrk="1" hangingPunct="1"/>
            <a:r>
              <a:rPr kumimoji="1" lang="en-US" altLang="zh-CN" dirty="0">
                <a:solidFill>
                  <a:srgbClr val="000066"/>
                </a:solidFill>
              </a:rPr>
              <a:t>MSD</a:t>
            </a:r>
            <a:r>
              <a:rPr kumimoji="1" lang="zh-CN" altLang="en-US" dirty="0">
                <a:solidFill>
                  <a:srgbClr val="000066"/>
                </a:solidFill>
              </a:rPr>
              <a:t>：</a:t>
            </a:r>
            <a:r>
              <a:rPr kumimoji="1" lang="en-US" altLang="zh-CN" dirty="0">
                <a:solidFill>
                  <a:srgbClr val="000066"/>
                </a:solidFill>
              </a:rPr>
              <a:t>Most Significant Digit</a:t>
            </a:r>
            <a:r>
              <a:rPr kumimoji="1" lang="zh-CN" altLang="en-US" dirty="0">
                <a:solidFill>
                  <a:srgbClr val="000066"/>
                </a:solidFill>
              </a:rPr>
              <a:t> </a:t>
            </a:r>
            <a:endParaRPr kumimoji="1" lang="en-US" altLang="zh-CN" dirty="0">
              <a:solidFill>
                <a:srgbClr val="000066"/>
              </a:solidFill>
            </a:endParaRPr>
          </a:p>
          <a:p>
            <a:pPr eaLnBrk="1" hangingPunct="1"/>
            <a:r>
              <a:rPr kumimoji="1" lang="en-US" altLang="zh-CN" dirty="0">
                <a:solidFill>
                  <a:srgbClr val="000066"/>
                </a:solidFill>
              </a:rPr>
              <a:t>LSD</a:t>
            </a:r>
            <a:r>
              <a:rPr kumimoji="1" lang="zh-CN" altLang="en-US" dirty="0">
                <a:solidFill>
                  <a:srgbClr val="000066"/>
                </a:solidFill>
              </a:rPr>
              <a:t>：</a:t>
            </a:r>
            <a:r>
              <a:rPr kumimoji="1" lang="en-US" altLang="zh-CN" dirty="0">
                <a:solidFill>
                  <a:srgbClr val="000066"/>
                </a:solidFill>
              </a:rPr>
              <a:t>Least Significant Digit</a:t>
            </a:r>
          </a:p>
          <a:p>
            <a:pPr eaLnBrk="1" hangingPunct="1"/>
            <a:r>
              <a:rPr kumimoji="1" lang="zh-CN" altLang="en-US" dirty="0">
                <a:solidFill>
                  <a:srgbClr val="000066"/>
                </a:solidFill>
              </a:rPr>
              <a:t>有时候也叫做 </a:t>
            </a:r>
            <a:r>
              <a:rPr kumimoji="1" lang="en-US" altLang="zh-CN" dirty="0">
                <a:solidFill>
                  <a:srgbClr val="000066"/>
                </a:solidFill>
              </a:rPr>
              <a:t>MSB/LSB</a:t>
            </a:r>
            <a:r>
              <a:rPr kumimoji="1" lang="zh-CN" altLang="en-US" dirty="0">
                <a:solidFill>
                  <a:srgbClr val="000066"/>
                </a:solidFill>
              </a:rPr>
              <a:t>，即 </a:t>
            </a:r>
            <a:r>
              <a:rPr kumimoji="1" lang="en-US" altLang="zh-CN" dirty="0">
                <a:solidFill>
                  <a:srgbClr val="000066"/>
                </a:solidFill>
              </a:rPr>
              <a:t>Most Significant Bit / Least Significant Bit</a:t>
            </a:r>
            <a:endParaRPr kumimoji="1"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A0FE4D-8A56-5A89-9FBC-A0150C83FA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68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CP</a:t>
            </a:r>
            <a:r>
              <a:rPr kumimoji="1" lang="zh-CN" altLang="en-US" dirty="0"/>
              <a:t>：时钟脉冲信号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2887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546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665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进位和借位规则：逢 </a:t>
            </a:r>
            <a:r>
              <a:rPr lang="en-US" altLang="zh-CN" dirty="0"/>
              <a:t>2 </a:t>
            </a:r>
            <a:r>
              <a:rPr lang="zh-CN" altLang="en-US" dirty="0"/>
              <a:t>进 </a:t>
            </a:r>
            <a:r>
              <a:rPr lang="en-US" altLang="zh-CN" dirty="0"/>
              <a:t>1</a:t>
            </a:r>
            <a:r>
              <a:rPr lang="zh-CN" altLang="en-US" dirty="0"/>
              <a:t>，借 </a:t>
            </a:r>
            <a:r>
              <a:rPr lang="en-US" altLang="zh-CN" dirty="0"/>
              <a:t>1 </a:t>
            </a:r>
            <a:r>
              <a:rPr lang="zh-CN" altLang="en-US" dirty="0"/>
              <a:t>当 </a:t>
            </a:r>
            <a:r>
              <a:rPr lang="en-US" altLang="zh-CN" dirty="0"/>
              <a:t>2</a:t>
            </a:r>
            <a:endParaRPr lang="zh-CN" altLang="en-US" dirty="0"/>
          </a:p>
          <a:p>
            <a:pPr eaLnBrk="1" hangingPunct="1"/>
            <a:r>
              <a:rPr lang="zh-CN" altLang="en-US" dirty="0"/>
              <a:t>数字电路中普遍采用二进制算数运算</a:t>
            </a:r>
            <a:endParaRPr lang="en-US" altLang="zh-CN" dirty="0"/>
          </a:p>
          <a:p>
            <a:pPr eaLnBrk="1" hangingPunct="1"/>
            <a:r>
              <a:rPr lang="zh-CN" altLang="en-US" dirty="0"/>
              <a:t>无符号数运算与有符号数运算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补码的乘法，不在本课程范围内</a:t>
            </a:r>
            <a:endParaRPr lang="en-US" altLang="zh-CN" dirty="0"/>
          </a:p>
          <a:p>
            <a:pPr eaLnBrk="1" hangingPunct="1"/>
            <a:r>
              <a:rPr lang="zh-CN" altLang="en-US" dirty="0"/>
              <a:t>布斯 </a:t>
            </a:r>
            <a:r>
              <a:rPr lang="en-US" altLang="zh-CN" dirty="0"/>
              <a:t>Booth </a:t>
            </a:r>
            <a:r>
              <a:rPr lang="zh-CN" altLang="en-US" dirty="0"/>
              <a:t>算法，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1950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年安德鲁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唐纳德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布斯发明的算法</a:t>
            </a:r>
            <a:endParaRPr lang="en-US" altLang="zh-CN" dirty="0"/>
          </a:p>
          <a:p>
            <a:pPr eaLnBrk="1" hangingPunct="1"/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计算机体系结构里面可能有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9171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进位和借位规则：逢 </a:t>
            </a:r>
            <a:r>
              <a:rPr lang="en-US" altLang="zh-CN" dirty="0"/>
              <a:t>2 </a:t>
            </a:r>
            <a:r>
              <a:rPr lang="zh-CN" altLang="en-US" dirty="0"/>
              <a:t>进 </a:t>
            </a:r>
            <a:r>
              <a:rPr lang="en-US" altLang="zh-CN" dirty="0"/>
              <a:t>1</a:t>
            </a:r>
            <a:r>
              <a:rPr lang="zh-CN" altLang="en-US" dirty="0"/>
              <a:t>，借 </a:t>
            </a:r>
            <a:r>
              <a:rPr lang="en-US" altLang="zh-CN" dirty="0"/>
              <a:t>1 </a:t>
            </a:r>
            <a:r>
              <a:rPr lang="zh-CN" altLang="en-US" dirty="0"/>
              <a:t>当 </a:t>
            </a:r>
            <a:r>
              <a:rPr lang="en-US" altLang="zh-CN" dirty="0"/>
              <a:t>2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779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4346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补码的最高位既是符号位，也可以为数值位（位权为负），如 </a:t>
            </a:r>
            <a:r>
              <a:rPr lang="en-US" altLang="zh-CN" dirty="0"/>
              <a:t>1000</a:t>
            </a:r>
            <a:r>
              <a:rPr lang="zh-CN" altLang="en-US" dirty="0"/>
              <a:t> </a:t>
            </a:r>
            <a:r>
              <a:rPr lang="en-US" altLang="zh-CN" dirty="0"/>
              <a:t>(-8)</a:t>
            </a:r>
            <a:r>
              <a:rPr lang="zh-CN" altLang="en-US" dirty="0"/>
              <a:t>、</a:t>
            </a:r>
            <a:r>
              <a:rPr lang="en-US" altLang="zh-CN" dirty="0"/>
              <a:t>100</a:t>
            </a:r>
            <a:r>
              <a:rPr lang="zh-CN" altLang="en-US" dirty="0"/>
              <a:t> </a:t>
            </a:r>
            <a:r>
              <a:rPr lang="en-US" altLang="zh-CN" dirty="0"/>
              <a:t>(-4)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8884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补码的范围不对称，负数范围比正数范围大 </a:t>
            </a:r>
            <a:r>
              <a:rPr lang="en-US" altLang="zh-CN" dirty="0"/>
              <a:t>1</a:t>
            </a:r>
            <a:r>
              <a:rPr lang="zh-CN" altLang="en-US" dirty="0"/>
              <a:t>，因为补码对于 </a:t>
            </a:r>
            <a:r>
              <a:rPr lang="en-US" altLang="zh-CN" dirty="0"/>
              <a:t>0 </a:t>
            </a:r>
            <a:r>
              <a:rPr lang="zh-CN" altLang="en-US" dirty="0"/>
              <a:t>只用一个数来表示</a:t>
            </a:r>
            <a:endParaRPr lang="en-US" altLang="zh-CN" dirty="0"/>
          </a:p>
          <a:p>
            <a:r>
              <a:rPr kumimoji="1" lang="zh-CN" altLang="en-US" dirty="0"/>
              <a:t>补码表示法是计算机中最普遍采用的数据表示方法</a:t>
            </a:r>
            <a:endParaRPr kumimoji="1" lang="en-US" altLang="zh-CN" dirty="0"/>
          </a:p>
          <a:p>
            <a:r>
              <a:rPr kumimoji="1" lang="zh-CN" altLang="en-US" dirty="0"/>
              <a:t>用补码表示的数据符号位可以参与运算，从而</a:t>
            </a:r>
            <a:r>
              <a:rPr kumimoji="1" lang="zh-CN" altLang="en-US" dirty="0">
                <a:solidFill>
                  <a:srgbClr val="FF99CC"/>
                </a:solidFill>
              </a:rPr>
              <a:t>可以使减法运算转换为加法</a:t>
            </a:r>
            <a:r>
              <a:rPr kumimoji="1" lang="zh-CN" altLang="en-US" dirty="0"/>
              <a:t>运算，简化了机器的运算器电路</a:t>
            </a:r>
            <a:endParaRPr lang="en-US" altLang="zh-CN" dirty="0"/>
          </a:p>
          <a:p>
            <a:pPr eaLnBrk="1" hangingPunct="1"/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2687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给出负数的补码，可以用减 </a:t>
            </a:r>
            <a:r>
              <a:rPr lang="en-US" altLang="zh-CN" dirty="0"/>
              <a:t>1 </a:t>
            </a:r>
            <a:r>
              <a:rPr lang="zh-CN" altLang="en-US" dirty="0"/>
              <a:t>再取反来得到实际值</a:t>
            </a:r>
            <a:endParaRPr lang="en-US" altLang="zh-CN" dirty="0"/>
          </a:p>
          <a:p>
            <a:r>
              <a:rPr lang="zh-CN" altLang="en-US" dirty="0"/>
              <a:t>用加法实现的话，就是按位取反后加 </a:t>
            </a:r>
            <a:r>
              <a:rPr lang="en-US" altLang="zh-CN" dirty="0"/>
              <a:t>1 </a:t>
            </a:r>
            <a:r>
              <a:rPr lang="zh-CN" altLang="en-US" dirty="0"/>
              <a:t>再加个负号</a:t>
            </a:r>
            <a:endParaRPr lang="en-US" altLang="zh-CN" dirty="0"/>
          </a:p>
          <a:p>
            <a:r>
              <a:rPr lang="zh-CN" altLang="en-US" dirty="0"/>
              <a:t>加法比减法更易实现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4318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AE625-AFDA-E84F-5F39-96AE03727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88D118-7D3A-8783-4403-8DEC337F17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086D97-AA58-968E-37CA-053B14ABC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10 – 5 = 10 + 7 - 12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10920B-0DFD-E93D-5214-F89CFCEEC3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3164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>
              <a:buAutoNum type="arabicPeriod"/>
            </a:pPr>
            <a:r>
              <a:rPr lang="zh-CN" altLang="en-US" dirty="0"/>
              <a:t>参与运算的是补码，运算结果仍是补码</a:t>
            </a:r>
            <a:endParaRPr lang="en-US" altLang="zh-CN" dirty="0"/>
          </a:p>
          <a:p>
            <a:pPr marL="228600" indent="-228600" eaLnBrk="1" hangingPunct="1">
              <a:buAutoNum type="arabicPeriod"/>
            </a:pPr>
            <a:r>
              <a:rPr lang="zh-CN" altLang="en-US" dirty="0"/>
              <a:t>被加数与加数的补码均采用相同的位数，如果运算结果超过了模，将产生进位，则应丢弃进位才能得到正确结果</a:t>
            </a:r>
            <a:endParaRPr lang="en-US" altLang="zh-CN" dirty="0"/>
          </a:p>
          <a:p>
            <a:pPr marL="228600" indent="-228600" eaLnBrk="1" hangingPunct="1">
              <a:buAutoNum type="arabicPeriod"/>
            </a:pPr>
            <a:r>
              <a:rPr lang="zh-CN" altLang="en-US" dirty="0"/>
              <a:t>符号位与数值位一起参与运算，结果的符号位由运算结果决定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规则：</a:t>
            </a:r>
            <a:endParaRPr lang="en-US" altLang="zh-CN" dirty="0"/>
          </a:p>
          <a:p>
            <a:r>
              <a:rPr lang="zh-CN" altLang="zh-CN" sz="1800" b="1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实际值</a:t>
            </a:r>
            <a:r>
              <a:rPr lang="en-US" altLang="zh-CN" sz="1800" b="1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zh-CN" altLang="zh-CN" sz="1800" b="1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补码</a:t>
            </a:r>
            <a:endParaRPr lang="zh-CN" altLang="zh-C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正数：余下位</a:t>
            </a:r>
            <a:r>
              <a:rPr lang="zh-CN" altLang="en-US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数值位</a:t>
            </a:r>
            <a:endParaRPr lang="en-US" altLang="zh-C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负数：全部位 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取反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数值位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+ 1</a:t>
            </a:r>
            <a:endParaRPr lang="zh-CN" altLang="zh-C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 </a:t>
            </a:r>
            <a:r>
              <a:rPr lang="zh-CN" altLang="zh-CN" sz="1800" b="1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补码 </a:t>
            </a:r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altLang="zh-CN" sz="1800" b="1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zh-CN" altLang="zh-CN" sz="1800" b="1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实际值</a:t>
            </a:r>
            <a:endParaRPr lang="en-US" altLang="zh-CN" sz="1800" b="1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altLang="zh-CN" sz="1800" b="1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正数：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+(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补码 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   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负数：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–(/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补码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+ 1)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5008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53388-F05C-5699-FF04-7D596C7E6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F348312-53DD-78AD-E726-3150FD665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2B630D-3F6F-DA08-3FF1-06A50C412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>
              <a:buAutoNum type="arabicPeriod"/>
            </a:pPr>
            <a:r>
              <a:rPr lang="zh-CN" altLang="en-US" dirty="0"/>
              <a:t>参与运算的是补码，运算结果仍是补码</a:t>
            </a:r>
            <a:endParaRPr lang="en-US" altLang="zh-CN" dirty="0"/>
          </a:p>
          <a:p>
            <a:pPr marL="228600" indent="-228600" eaLnBrk="1" hangingPunct="1">
              <a:buAutoNum type="arabicPeriod"/>
            </a:pPr>
            <a:r>
              <a:rPr lang="zh-CN" altLang="en-US" dirty="0"/>
              <a:t>被加数与加数的补码均采用相同的位数，如果运算结果超过了模，将产生进位，则应丢弃进位才能得到正确结果</a:t>
            </a:r>
            <a:endParaRPr lang="en-US" altLang="zh-CN" dirty="0"/>
          </a:p>
          <a:p>
            <a:pPr marL="228600" indent="-228600" eaLnBrk="1" hangingPunct="1">
              <a:buAutoNum type="arabicPeriod"/>
            </a:pPr>
            <a:r>
              <a:rPr lang="zh-CN" altLang="en-US" dirty="0"/>
              <a:t>符号位与数值位一起参与运算，结果的符号位由运算结果决定</a:t>
            </a:r>
            <a:endParaRPr lang="en-US" altLang="zh-CN" dirty="0">
              <a:solidFill>
                <a:srgbClr val="FF3300"/>
              </a:solidFill>
            </a:endParaRPr>
          </a:p>
          <a:p>
            <a:pPr eaLnBrk="1" hangingPunct="1"/>
            <a:endParaRPr lang="en-US" altLang="zh-CN" dirty="0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FF3300"/>
                </a:solidFill>
              </a:rPr>
              <a:t>异号相加，绝对值小于或等于两个值的绝对值中大的一个，一定不会过界</a:t>
            </a:r>
            <a:endParaRPr lang="en-US" altLang="zh-CN" dirty="0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FF3300"/>
                </a:solidFill>
              </a:rPr>
              <a:t>同号相减，绝对值小于或等于两个值的绝对值中大的一个，一定不会过界</a:t>
            </a:r>
            <a:endParaRPr lang="en-US" altLang="zh-CN" dirty="0">
              <a:solidFill>
                <a:srgbClr val="FF33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1F0CFD-536C-E56C-0A3A-F1F3C76076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2557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4960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dirty="0"/>
              <a:t>二进制数码不仅可以表示数量的大小，还可以表示不同的事物</a:t>
            </a:r>
            <a:r>
              <a:rPr kumimoji="1" lang="zh-CN" altLang="en-US"/>
              <a:t>或状态</a:t>
            </a:r>
            <a:endParaRPr kumimoji="1" lang="en-US" altLang="zh-CN" dirty="0"/>
          </a:p>
          <a:p>
            <a:pPr eaLnBrk="1" hangingPunct="1"/>
            <a:endParaRPr kumimoji="1"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编码：以一定的规则，编制代码的过程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译码：将代码还原成所表示事物或状态的过程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kumimoji="1" lang="zh-CN" altLang="en-US" dirty="0">
                <a:latin typeface="Times New Roman" panose="02020603050405020304" pitchFamily="18" charset="0"/>
              </a:rPr>
              <a:t>码制：编制代码所要遵循的规则</a:t>
            </a:r>
            <a:endParaRPr kumimoji="1"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kumimoji="1"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kumimoji="1" lang="zh-CN" altLang="en-US" dirty="0">
                <a:latin typeface="Times New Roman" panose="02020603050405020304" pitchFamily="18" charset="0"/>
              </a:rPr>
              <a:t>对事物或状态编码，需要确定每个事物或状态都有唯一的可辩认的代码</a:t>
            </a:r>
            <a:br>
              <a:rPr kumimoji="1" lang="en-US" altLang="zh-CN" dirty="0">
                <a:latin typeface="Times New Roman" panose="02020603050405020304" pitchFamily="18" charset="0"/>
              </a:rPr>
            </a:br>
            <a:r>
              <a:rPr kumimoji="1" lang="zh-CN" altLang="en-US" dirty="0">
                <a:latin typeface="Times New Roman" panose="02020603050405020304" pitchFamily="18" charset="0"/>
              </a:rPr>
              <a:t>每个事物或者状态都可以有多种编码方式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8008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521C9-CA7E-606D-E4A9-EF983CC46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1F987D-520B-57E0-1BA8-B8F78B45EB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5FCA0E-F444-9593-AA06-5C524F7E7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同一个数值可以有多种编码方式，就如同一个人可以有不同的称呼，但每</a:t>
            </a:r>
            <a:r>
              <a:rPr lang="zh-CN" altLang="en-US"/>
              <a:t>种编码在其领域内都</a:t>
            </a:r>
            <a:r>
              <a:rPr lang="zh-CN" altLang="en-US" dirty="0"/>
              <a:t>只对应该数值（唯一性）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AFAAE1-F5C8-FA9F-9A6B-05C877CBA0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7896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两个加起来等于 </a:t>
            </a:r>
            <a:r>
              <a:rPr lang="en-US" altLang="zh-CN" dirty="0"/>
              <a:t>10 </a:t>
            </a:r>
            <a:r>
              <a:rPr lang="zh-CN" altLang="en-US" dirty="0"/>
              <a:t>的数，用余</a:t>
            </a:r>
            <a:r>
              <a:rPr lang="en-US" altLang="zh-CN" dirty="0"/>
              <a:t>3</a:t>
            </a:r>
            <a:r>
              <a:rPr lang="zh-CN" altLang="en-US" dirty="0"/>
              <a:t>码表示的话，加起来就是 </a:t>
            </a:r>
            <a:r>
              <a:rPr lang="en-US" altLang="zh-CN" dirty="0"/>
              <a:t>16</a:t>
            </a:r>
          </a:p>
          <a:p>
            <a:r>
              <a:rPr lang="zh-CN" altLang="en-US" dirty="0"/>
              <a:t>这些 </a:t>
            </a:r>
            <a:r>
              <a:rPr lang="en-US" altLang="zh-CN" dirty="0"/>
              <a:t>BCD </a:t>
            </a:r>
            <a:r>
              <a:rPr lang="zh-CN" altLang="en-US" dirty="0"/>
              <a:t>码是技术人员根据不同的工程背景和实际需要来构建的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4917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/>
              <a:t>ASCII</a:t>
            </a:r>
            <a:r>
              <a:rPr lang="zh-CN" altLang="en-US" dirty="0"/>
              <a:t>（</a:t>
            </a:r>
            <a:r>
              <a:rPr lang="en-US" altLang="zh-CN" dirty="0"/>
              <a:t>pronunciation: </a:t>
            </a:r>
            <a:r>
              <a:rPr lang="en-US" altLang="zh-CN" dirty="0">
                <a:hlinkClick r:id="rId3" tooltip="Wikipedia:IPA for English"/>
              </a:rPr>
              <a:t>/</a:t>
            </a:r>
            <a:r>
              <a:rPr lang="en-US" altLang="zh-CN" dirty="0" err="1">
                <a:hlinkClick r:id="rId4" tooltip="Wikipedia:IPA for English"/>
              </a:rPr>
              <a:t>æski</a:t>
            </a:r>
            <a:r>
              <a:rPr lang="en-US" altLang="zh-CN" dirty="0">
                <a:hlinkClick r:id="rId3" tooltip="Wikipedia:IPA for English"/>
              </a:rPr>
              <a:t>/</a:t>
            </a:r>
            <a:r>
              <a:rPr lang="zh-CN" altLang="en-US" dirty="0"/>
              <a:t>，</a:t>
            </a:r>
            <a:r>
              <a:rPr lang="en-US" altLang="zh-CN" dirty="0"/>
              <a:t>American Standard Code for Information Interchange</a:t>
            </a:r>
            <a:r>
              <a:rPr lang="zh-CN" altLang="en-US" dirty="0"/>
              <a:t>，美国信息交换标准代码）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/>
              <a:t>是基于拉丁字母的一套电脑编码系统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/>
              <a:t>它主要用于显示现代英语，而其扩展版本 </a:t>
            </a:r>
            <a:r>
              <a:rPr lang="en-US" altLang="zh-CN" dirty="0"/>
              <a:t>EASCII </a:t>
            </a:r>
            <a:r>
              <a:rPr lang="zh-CN" altLang="en-US" dirty="0"/>
              <a:t>则可以部分支持其他西欧语言，并等同于国际标准 </a:t>
            </a:r>
            <a:r>
              <a:rPr lang="en-US" altLang="zh-CN" dirty="0"/>
              <a:t>ISO/IEC 646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dirty="0"/>
              <a:t>由于万维网使得 </a:t>
            </a:r>
            <a:r>
              <a:rPr lang="en-US" altLang="zh-CN" dirty="0"/>
              <a:t>ASCII </a:t>
            </a:r>
            <a:r>
              <a:rPr lang="zh-CN" altLang="en-US" dirty="0"/>
              <a:t>广为通用，直到 </a:t>
            </a:r>
            <a:r>
              <a:rPr lang="en-US" altLang="zh-CN" dirty="0"/>
              <a:t>2007 </a:t>
            </a:r>
            <a:r>
              <a:rPr lang="zh-CN" altLang="en-US" dirty="0"/>
              <a:t>年 </a:t>
            </a:r>
            <a:r>
              <a:rPr lang="en-US" altLang="zh-CN" dirty="0"/>
              <a:t>12 </a:t>
            </a:r>
            <a:r>
              <a:rPr lang="zh-CN" altLang="en-US" dirty="0"/>
              <a:t>月，逐渐被 </a:t>
            </a:r>
            <a:r>
              <a:rPr lang="en-US" altLang="zh-CN" dirty="0"/>
              <a:t>Unicode </a:t>
            </a:r>
            <a:r>
              <a:rPr lang="zh-CN" altLang="en-US" dirty="0"/>
              <a:t>取代</a:t>
            </a:r>
            <a:endParaRPr lang="en-US" altLang="zh-CN" sz="900" dirty="0"/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1000" dirty="0"/>
              <a:t>用 </a:t>
            </a:r>
            <a:r>
              <a:rPr lang="en-US" altLang="zh-CN" sz="1000" dirty="0"/>
              <a:t>7 </a:t>
            </a:r>
            <a:r>
              <a:rPr lang="zh-CN" altLang="en-US" sz="1000" dirty="0"/>
              <a:t>位二进制编码表示一个字符，共可表示 </a:t>
            </a:r>
            <a:r>
              <a:rPr lang="en-US" altLang="zh-CN" sz="1000" dirty="0"/>
              <a:t>128</a:t>
            </a:r>
            <a:r>
              <a:rPr lang="zh-CN" altLang="en-US" sz="1000" dirty="0"/>
              <a:t>个 不同的字符（</a:t>
            </a:r>
            <a:r>
              <a:rPr lang="zh-CN" altLang="en-US" sz="900" dirty="0">
                <a:solidFill>
                  <a:srgbClr val="000066"/>
                </a:solidFill>
              </a:rPr>
              <a:t>大、小写英文字母、十进制数、标点符号、运算符号、控制符号等</a:t>
            </a:r>
            <a:r>
              <a:rPr lang="zh-CN" altLang="en-US" sz="1000" dirty="0"/>
              <a:t>）通常使用时在最高位添 </a:t>
            </a:r>
            <a:r>
              <a:rPr lang="en-US" altLang="zh-CN" sz="1000" dirty="0"/>
              <a:t>0 </a:t>
            </a:r>
            <a:r>
              <a:rPr lang="zh-CN" altLang="en-US" sz="1000" dirty="0"/>
              <a:t>凑成 </a:t>
            </a:r>
            <a:r>
              <a:rPr lang="en-US" altLang="zh-CN" sz="1000" dirty="0"/>
              <a:t>8 </a:t>
            </a:r>
            <a:r>
              <a:rPr lang="zh-CN" altLang="en-US" sz="1000" dirty="0"/>
              <a:t>位二进制编码，或根据实际情况将最高位用作校验位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3639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40BCD-2D40-80D6-A38C-303F15AEC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B1DF1F-AB5A-A4A4-DDF0-D666A7A84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5F0207-5521-3DFF-9A3B-847669846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9D0EC3-D1EA-0C4E-E899-08D457520C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725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bg3">
            <a:extLst>
              <a:ext uri="{FF2B5EF4-FFF2-40B4-BE49-F238E27FC236}">
                <a16:creationId xmlns:a16="http://schemas.microsoft.com/office/drawing/2014/main" id="{3C12D28E-7FDA-416A-89CF-B41CFE8C1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80031" b="16504"/>
          <a:stretch>
            <a:fillRect/>
          </a:stretch>
        </p:blipFill>
        <p:spPr bwMode="auto">
          <a:xfrm flipV="1">
            <a:off x="0" y="1711615"/>
            <a:ext cx="12192000" cy="4378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</p:pic>
      <p:pic>
        <p:nvPicPr>
          <p:cNvPr id="9" name="Picture 17" descr="bg3">
            <a:extLst>
              <a:ext uri="{FF2B5EF4-FFF2-40B4-BE49-F238E27FC236}">
                <a16:creationId xmlns:a16="http://schemas.microsoft.com/office/drawing/2014/main" id="{6256C6DD-5C6C-4934-AE0F-6E767F3C2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48767" b="15891"/>
          <a:stretch>
            <a:fillRect/>
          </a:stretch>
        </p:blipFill>
        <p:spPr bwMode="auto">
          <a:xfrm>
            <a:off x="0" y="1930558"/>
            <a:ext cx="12192000" cy="2777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2">
            <a:extLst>
              <a:ext uri="{FF2B5EF4-FFF2-40B4-BE49-F238E27FC236}">
                <a16:creationId xmlns:a16="http://schemas.microsoft.com/office/drawing/2014/main" id="{12F893B6-5430-4116-B41C-027E149AB2E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clrChange>
              <a:clrFrom>
                <a:srgbClr val="E8E8EA"/>
              </a:clrFrom>
              <a:clrTo>
                <a:srgbClr val="E8E8EA">
                  <a:alpha val="0"/>
                </a:srgbClr>
              </a:clrTo>
            </a:clrChange>
          </a:blip>
          <a:srcRect l="3981" t="5824" r="52233" b="80846"/>
          <a:stretch/>
        </p:blipFill>
        <p:spPr bwMode="auto">
          <a:xfrm>
            <a:off x="0" y="278392"/>
            <a:ext cx="4244196" cy="914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85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4" descr="bg2">
            <a:extLst>
              <a:ext uri="{FF2B5EF4-FFF2-40B4-BE49-F238E27FC236}">
                <a16:creationId xmlns:a16="http://schemas.microsoft.com/office/drawing/2014/main" id="{B5E88CDA-D72A-4EE5-A041-54DDE04C08E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r="31108" b="84377"/>
          <a:stretch/>
        </p:blipFill>
        <p:spPr bwMode="auto">
          <a:xfrm>
            <a:off x="0" y="1"/>
            <a:ext cx="12192000" cy="575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3758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05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3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370.png"/><Relationship Id="rId3" Type="http://schemas.openxmlformats.org/officeDocument/2006/relationships/image" Target="../media/image360.png"/><Relationship Id="rId12" Type="http://schemas.openxmlformats.org/officeDocument/2006/relationships/image" Target="../media/image40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4.png"/><Relationship Id="rId10" Type="http://schemas.openxmlformats.org/officeDocument/2006/relationships/image" Target="../media/image43.png"/><Relationship Id="rId4" Type="http://schemas.openxmlformats.org/officeDocument/2006/relationships/image" Target="../media/image40.png"/><Relationship Id="rId9" Type="http://schemas.openxmlformats.org/officeDocument/2006/relationships/image" Target="../media/image42.png"/><Relationship Id="rId1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400.png"/><Relationship Id="rId7" Type="http://schemas.openxmlformats.org/officeDocument/2006/relationships/image" Target="../media/image50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6.png"/><Relationship Id="rId5" Type="http://schemas.openxmlformats.org/officeDocument/2006/relationships/image" Target="../media/image48.png"/><Relationship Id="rId10" Type="http://schemas.openxmlformats.org/officeDocument/2006/relationships/image" Target="../media/image55.png"/><Relationship Id="rId4" Type="http://schemas.openxmlformats.org/officeDocument/2006/relationships/image" Target="../media/image451.png"/><Relationship Id="rId9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450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0.png"/><Relationship Id="rId10" Type="http://schemas.openxmlformats.org/officeDocument/2006/relationships/image" Target="../media/image47.png"/><Relationship Id="rId4" Type="http://schemas.openxmlformats.org/officeDocument/2006/relationships/image" Target="../media/image480.png"/><Relationship Id="rId9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70.png"/><Relationship Id="rId7" Type="http://schemas.openxmlformats.org/officeDocument/2006/relationships/image" Target="../media/image72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7.png"/><Relationship Id="rId5" Type="http://schemas.openxmlformats.org/officeDocument/2006/relationships/image" Target="../media/image72.png"/><Relationship Id="rId10" Type="http://schemas.openxmlformats.org/officeDocument/2006/relationships/image" Target="../media/image76.png"/><Relationship Id="rId4" Type="http://schemas.openxmlformats.org/officeDocument/2006/relationships/image" Target="../media/image71.png"/><Relationship Id="rId9" Type="http://schemas.openxmlformats.org/officeDocument/2006/relationships/image" Target="../media/image7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9073248-787E-5D40-AE5E-610E41D0A30C}"/>
              </a:ext>
            </a:extLst>
          </p:cNvPr>
          <p:cNvSpPr txBox="1">
            <a:spLocks/>
          </p:cNvSpPr>
          <p:nvPr/>
        </p:nvSpPr>
        <p:spPr>
          <a:xfrm>
            <a:off x="0" y="2817091"/>
            <a:ext cx="12191999" cy="1226516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数制与编码</a:t>
            </a:r>
            <a:endParaRPr lang="en-US" altLang="zh-CN" sz="5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42438B-9455-BCBC-7490-250107AE8BAC}"/>
              </a:ext>
            </a:extLst>
          </p:cNvPr>
          <p:cNvSpPr/>
          <p:nvPr/>
        </p:nvSpPr>
        <p:spPr>
          <a:xfrm>
            <a:off x="0" y="252787"/>
            <a:ext cx="4271375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图片包含 图形用户界面&#10;&#10;描述已自动生成">
            <a:extLst>
              <a:ext uri="{FF2B5EF4-FFF2-40B4-BE49-F238E27FC236}">
                <a16:creationId xmlns:a16="http://schemas.microsoft.com/office/drawing/2014/main" id="{36B95622-439B-2F01-3763-4744D210F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8" t="27915" r="8682" b="26692"/>
          <a:stretch/>
        </p:blipFill>
        <p:spPr>
          <a:xfrm>
            <a:off x="0" y="0"/>
            <a:ext cx="4405745" cy="99842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3570352-420A-0C13-044B-FD4A338CD6AA}"/>
              </a:ext>
            </a:extLst>
          </p:cNvPr>
          <p:cNvSpPr txBox="1"/>
          <p:nvPr/>
        </p:nvSpPr>
        <p:spPr>
          <a:xfrm>
            <a:off x="0" y="1931813"/>
            <a:ext cx="9531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模拟与数字电路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(Analog and Digital Circuits)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EF3C51-ACC3-CEB4-0CD3-FB5FA64AEC1C}"/>
              </a:ext>
            </a:extLst>
          </p:cNvPr>
          <p:cNvSpPr/>
          <p:nvPr/>
        </p:nvSpPr>
        <p:spPr>
          <a:xfrm>
            <a:off x="0" y="6352426"/>
            <a:ext cx="12192000" cy="505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计算机科学与技术学院本科课程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B8EF32-0A98-C282-B9A8-B06F2F078556}"/>
              </a:ext>
            </a:extLst>
          </p:cNvPr>
          <p:cNvSpPr/>
          <p:nvPr/>
        </p:nvSpPr>
        <p:spPr>
          <a:xfrm>
            <a:off x="4115280" y="5040000"/>
            <a:ext cx="3961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数电 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P11 – 28</a:t>
            </a:r>
          </a:p>
        </p:txBody>
      </p:sp>
    </p:spTree>
    <p:extLst>
      <p:ext uri="{BB962C8B-B14F-4D97-AF65-F5344CB8AC3E}">
        <p14:creationId xmlns:p14="http://schemas.microsoft.com/office/powerpoint/2010/main" val="253319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69B321EB-E334-BCEE-A281-8194231FF57C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28F654A1-916E-2E2F-7206-D97FA544FA0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2" name="箭头: 五边形 11">
                <a:extLst>
                  <a:ext uri="{FF2B5EF4-FFF2-40B4-BE49-F238E27FC236}">
                    <a16:creationId xmlns:a16="http://schemas.microsoft.com/office/drawing/2014/main" id="{B194F93F-25B5-B84E-EDF2-2A149328303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" name="箭头: V 形 12">
                <a:extLst>
                  <a:ext uri="{FF2B5EF4-FFF2-40B4-BE49-F238E27FC236}">
                    <a16:creationId xmlns:a16="http://schemas.microsoft.com/office/drawing/2014/main" id="{4A8F6ABE-DB33-0FB5-4DF7-226BD585CC9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" name="灯片编号占位符 3">
              <a:extLst>
                <a:ext uri="{FF2B5EF4-FFF2-40B4-BE49-F238E27FC236}">
                  <a16:creationId xmlns:a16="http://schemas.microsoft.com/office/drawing/2014/main" id="{77FF89E0-2F12-1439-C48A-586EC2A2CC0D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B982E049-0D21-EDB3-6F2D-11993A70C246}"/>
              </a:ext>
            </a:extLst>
          </p:cNvPr>
          <p:cNvSpPr txBox="1">
            <a:spLocks/>
          </p:cNvSpPr>
          <p:nvPr/>
        </p:nvSpPr>
        <p:spPr>
          <a:xfrm>
            <a:off x="360000" y="1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内容提纲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868400-1A47-FA9E-57A8-164BFA79D700}"/>
              </a:ext>
            </a:extLst>
          </p:cNvPr>
          <p:cNvSpPr txBox="1"/>
          <p:nvPr/>
        </p:nvSpPr>
        <p:spPr>
          <a:xfrm>
            <a:off x="1296000" y="1296000"/>
            <a:ext cx="6642554" cy="2338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3600" dirty="0" err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数制及其</a:t>
            </a: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二进制数的编码及算术运算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二进制代码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237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6447"/>
    </mc:Choice>
    <mc:Fallback xmlns="">
      <p:transition advTm="644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AE1C7-D4DF-C1CF-DA92-98CBF9E4B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11B912A-4ED1-CEA7-48CA-5443CD4D9F1A}"/>
              </a:ext>
            </a:extLst>
          </p:cNvPr>
          <p:cNvSpPr txBox="1"/>
          <p:nvPr/>
        </p:nvSpPr>
        <p:spPr>
          <a:xfrm>
            <a:off x="360000" y="828000"/>
            <a:ext cx="1163609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：多位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数码（ 计数符号 ）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的构成方式以及从低位到高位的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进位规则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zh-CN" altLang="en-US" sz="28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数值表示方法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B6AD9D9-EA8E-3669-FC96-40E13673DA29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109C41DA-9FB3-DF8F-17CE-C25BBDDECA9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" name="箭头: 五边形 7">
                <a:extLst>
                  <a:ext uri="{FF2B5EF4-FFF2-40B4-BE49-F238E27FC236}">
                    <a16:creationId xmlns:a16="http://schemas.microsoft.com/office/drawing/2014/main" id="{928D84FB-B1A8-3000-1BEE-0557C9244446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FCC81566-F3C9-53B3-9A51-B62C08ECF29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6064B60D-2F0B-356B-3650-DD93702BF78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9F99307F-709D-C194-A324-A991BF1724D2}"/>
              </a:ext>
            </a:extLst>
          </p:cNvPr>
          <p:cNvSpPr txBox="1"/>
          <p:nvPr/>
        </p:nvSpPr>
        <p:spPr>
          <a:xfrm>
            <a:off x="360000" y="2016000"/>
            <a:ext cx="9370703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十进制（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Decimal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），即以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为基数的计数体制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计数符号：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（共十个）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进位规则：逢十进一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B83B79A-08B6-408E-815A-B0D07AFEF8DC}"/>
                  </a:ext>
                </a:extLst>
              </p:cNvPr>
              <p:cNvSpPr txBox="1"/>
              <p:nvPr/>
            </p:nvSpPr>
            <p:spPr>
              <a:xfrm>
                <a:off x="360000" y="4248000"/>
                <a:ext cx="9370702" cy="9910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任意进制（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进制 ），即以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为基数的计数体制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个计数符号，逢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进一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B83B79A-08B6-408E-815A-B0D07AFEF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248000"/>
                <a:ext cx="9370702" cy="991041"/>
              </a:xfrm>
              <a:prstGeom prst="rect">
                <a:avLst/>
              </a:prstGeom>
              <a:blipFill>
                <a:blip r:embed="rId3"/>
                <a:stretch>
                  <a:fillRect l="-1171" t="-6790" b="-117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8AD513A-B5CF-28DC-9F20-17751CD245D7}"/>
                  </a:ext>
                </a:extLst>
              </p:cNvPr>
              <p:cNvSpPr txBox="1"/>
              <p:nvPr/>
            </p:nvSpPr>
            <p:spPr>
              <a:xfrm>
                <a:off x="875051" y="5135528"/>
                <a:ext cx="10054316" cy="12163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6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zh-CN" sz="2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2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.</m:t>
                          </m:r>
                          <m:r>
                            <a:rPr lang="en-US" altLang="zh-CN" sz="2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altLang="zh-CN" sz="2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−2</m:t>
                              </m:r>
                            </m:sub>
                          </m:sSub>
                          <m:r>
                            <a:rPr lang="en-US" altLang="zh-CN" sz="2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zh-CN" sz="2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6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R</m:t>
                          </m:r>
                        </m:sub>
                      </m:sSub>
                      <m:r>
                        <a:rPr lang="en-US" altLang="zh-CN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=−</m:t>
                          </m:r>
                          <m: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𝑚</m:t>
                          </m:r>
                        </m:sub>
                        <m:sup>
                          <m: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6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altLang="zh-CN" sz="2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8AD513A-B5CF-28DC-9F20-17751CD24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51" y="5135528"/>
                <a:ext cx="10054316" cy="12163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2EDF7291-456B-1FAD-E259-C6BB7C4903C3}"/>
              </a:ext>
            </a:extLst>
          </p:cNvPr>
          <p:cNvSpPr txBox="1"/>
          <p:nvPr/>
        </p:nvSpPr>
        <p:spPr>
          <a:xfrm>
            <a:off x="6562437" y="4851562"/>
            <a:ext cx="895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基数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745CEE-E40B-C387-CDB5-2D9ED91E1B7C}"/>
              </a:ext>
            </a:extLst>
          </p:cNvPr>
          <p:cNvSpPr txBox="1"/>
          <p:nvPr/>
        </p:nvSpPr>
        <p:spPr>
          <a:xfrm>
            <a:off x="9336226" y="6097637"/>
            <a:ext cx="895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位权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BB68FBE-7A78-85F5-0477-0496DBA134F0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7010112" y="5313227"/>
            <a:ext cx="0" cy="382693"/>
          </a:xfrm>
          <a:prstGeom prst="straightConnector1">
            <a:avLst/>
          </a:prstGeom>
          <a:ln w="25400">
            <a:solidFill>
              <a:srgbClr val="0000FF"/>
            </a:solidFill>
            <a:headEnd type="arrow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94BC369-4DC6-622F-E321-1E8E67640264}"/>
              </a:ext>
            </a:extLst>
          </p:cNvPr>
          <p:cNvGrpSpPr/>
          <p:nvPr/>
        </p:nvGrpSpPr>
        <p:grpSpPr>
          <a:xfrm>
            <a:off x="8823559" y="5939450"/>
            <a:ext cx="620193" cy="307830"/>
            <a:chOff x="9161983" y="5581296"/>
            <a:chExt cx="620193" cy="307830"/>
          </a:xfrm>
        </p:grpSpPr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D69113CC-D962-A015-C24A-F77551AFCBA4}"/>
                </a:ext>
              </a:extLst>
            </p:cNvPr>
            <p:cNvCxnSpPr>
              <a:cxnSpLocks/>
            </p:cNvCxnSpPr>
            <p:nvPr/>
          </p:nvCxnSpPr>
          <p:spPr>
            <a:xfrm>
              <a:off x="9425098" y="5581296"/>
              <a:ext cx="357078" cy="30783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9A21F612-EC86-6726-C1B2-EEBD8A7C4794}"/>
                </a:ext>
              </a:extLst>
            </p:cNvPr>
            <p:cNvCxnSpPr/>
            <p:nvPr/>
          </p:nvCxnSpPr>
          <p:spPr>
            <a:xfrm>
              <a:off x="9161983" y="5581296"/>
              <a:ext cx="271573" cy="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2C2F027-9A40-EFD4-3E89-9E0362F8EF6B}"/>
                  </a:ext>
                </a:extLst>
              </p:cNvPr>
              <p:cNvSpPr txBox="1"/>
              <p:nvPr/>
            </p:nvSpPr>
            <p:spPr>
              <a:xfrm>
                <a:off x="360000" y="3456000"/>
                <a:ext cx="11636089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151.75</m:t>
                              </m:r>
                            </m:e>
                          </m:d>
                        </m:e>
                        <m:sub>
                          <m:r>
                            <a:rPr lang="en-US" altLang="zh-CN" sz="2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10</m:t>
                          </m:r>
                        </m:sub>
                      </m:sSub>
                      <m:r>
                        <a:rPr lang="en-US" altLang="zh-CN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151.75</m:t>
                              </m:r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</m:t>
                          </m:r>
                        </m:sub>
                      </m:sSub>
                      <m:r>
                        <a:rPr lang="en-US" altLang="zh-CN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=1</m:t>
                      </m:r>
                      <m:r>
                        <a:rPr lang="en-US" altLang="zh-CN" sz="2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sz="2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altLang="zh-CN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5×</m:t>
                      </m:r>
                      <m:sSup>
                        <m:sSupPr>
                          <m:ctrlPr>
                            <a:rPr lang="en-US" altLang="zh-CN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  <m:r>
                        <a:rPr lang="en-US" altLang="zh-CN" sz="2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+7×</m:t>
                      </m:r>
                      <m:sSup>
                        <m:sSupPr>
                          <m:ctrlPr>
                            <a:rPr lang="en-US" altLang="zh-CN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2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5×</m:t>
                      </m:r>
                      <m:sSup>
                        <m:sSupPr>
                          <m:ctrlPr>
                            <a:rPr lang="en-US" altLang="zh-CN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zh-CN" altLang="en-US" sz="2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2C2F027-9A40-EFD4-3E89-9E0362F8E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456000"/>
                <a:ext cx="11636089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154146E7-8551-9E6A-4744-BDAAC55D812C}"/>
              </a:ext>
            </a:extLst>
          </p:cNvPr>
          <p:cNvSpPr txBox="1">
            <a:spLocks/>
          </p:cNvSpPr>
          <p:nvPr/>
        </p:nvSpPr>
        <p:spPr>
          <a:xfrm>
            <a:off x="360000" y="1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数制</a:t>
            </a:r>
            <a:r>
              <a:rPr lang="en-US" altLang="zh-CN" sz="3000" dirty="0" err="1"/>
              <a:t>及其</a:t>
            </a:r>
            <a:r>
              <a:rPr lang="zh-CN" altLang="en-US" sz="3000" dirty="0"/>
              <a:t>转换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数制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17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AB1230-AE9A-8A3C-AA1D-759B25D7391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数制</a:t>
            </a:r>
            <a:r>
              <a:rPr lang="en-US" altLang="zh-CN" sz="3000" dirty="0" err="1"/>
              <a:t>及其</a:t>
            </a:r>
            <a:r>
              <a:rPr lang="zh-CN" altLang="en-US" sz="3000" dirty="0"/>
              <a:t>转换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二、八、十六进制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56DA61F-E90D-4A95-4655-462FED2BA90F}"/>
                  </a:ext>
                </a:extLst>
              </p:cNvPr>
              <p:cNvSpPr txBox="1"/>
              <p:nvPr/>
            </p:nvSpPr>
            <p:spPr>
              <a:xfrm>
                <a:off x="360000" y="720000"/>
                <a:ext cx="4918480" cy="14619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二进制（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Binary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=0, 1</m:t>
                    </m:r>
                  </m:oMath>
                </a14:m>
                <a:endParaRPr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56DA61F-E90D-4A95-4655-462FED2BA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720000"/>
                <a:ext cx="4918480" cy="1461939"/>
              </a:xfrm>
              <a:prstGeom prst="rect">
                <a:avLst/>
              </a:prstGeom>
              <a:blipFill>
                <a:blip r:embed="rId3"/>
                <a:stretch>
                  <a:fillRect l="-2230" t="-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50EA80E-FA0E-D477-7410-C2EA612DC519}"/>
                  </a:ext>
                </a:extLst>
              </p:cNvPr>
              <p:cNvSpPr txBox="1"/>
              <p:nvPr/>
            </p:nvSpPr>
            <p:spPr>
              <a:xfrm>
                <a:off x="360000" y="2700000"/>
                <a:ext cx="5622673" cy="14619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八进制（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Octal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=0, </m:t>
                    </m:r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2, 3, 4, 5, 6, 7 </m:t>
                    </m:r>
                  </m:oMath>
                </a14:m>
                <a:endParaRPr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50EA80E-FA0E-D477-7410-C2EA612DC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700000"/>
                <a:ext cx="5622673" cy="1461939"/>
              </a:xfrm>
              <a:prstGeom prst="rect">
                <a:avLst/>
              </a:prstGeom>
              <a:blipFill>
                <a:blip r:embed="rId4"/>
                <a:stretch>
                  <a:fillRect l="-1952" t="-45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0E923FD-5A82-34DB-4A32-388CB7F3E28C}"/>
                  </a:ext>
                </a:extLst>
              </p:cNvPr>
              <p:cNvSpPr txBox="1"/>
              <p:nvPr/>
            </p:nvSpPr>
            <p:spPr>
              <a:xfrm>
                <a:off x="360001" y="4680000"/>
                <a:ext cx="7381130" cy="14619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十六进制（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Hexadecimal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</m:t>
                    </m:r>
                  </m:oMath>
                </a14:m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3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0, </m:t>
                    </m:r>
                    <m:r>
                      <a:rPr lang="en-US" altLang="zh-CN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2, 3, 4, 5, 6, 7, 8, 9,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B</m:t>
                    </m:r>
                    <m: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C</m:t>
                    </m:r>
                    <m: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D</m:t>
                    </m:r>
                    <m: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E</m:t>
                    </m:r>
                    <m: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F</m:t>
                    </m:r>
                    <m: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endParaRPr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0E923FD-5A82-34DB-4A32-388CB7F3E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4680000"/>
                <a:ext cx="7381130" cy="1461939"/>
              </a:xfrm>
              <a:prstGeom prst="rect">
                <a:avLst/>
              </a:prstGeom>
              <a:blipFill>
                <a:blip r:embed="rId5"/>
                <a:stretch>
                  <a:fillRect l="-1486" t="-45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BE672970-E35D-EAD7-F814-F606662721A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2B6E86D-8EF1-117C-338E-171563975146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" name="箭头: 五边形 8">
                <a:extLst>
                  <a:ext uri="{FF2B5EF4-FFF2-40B4-BE49-F238E27FC236}">
                    <a16:creationId xmlns:a16="http://schemas.microsoft.com/office/drawing/2014/main" id="{B25B433D-40A2-60CA-4912-A15238AF9BF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" name="箭头: V 形 9">
                <a:extLst>
                  <a:ext uri="{FF2B5EF4-FFF2-40B4-BE49-F238E27FC236}">
                    <a16:creationId xmlns:a16="http://schemas.microsoft.com/office/drawing/2014/main" id="{57728C0E-B28B-1967-A252-66F92AB6003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" name="灯片编号占位符 3">
              <a:extLst>
                <a:ext uri="{FF2B5EF4-FFF2-40B4-BE49-F238E27FC236}">
                  <a16:creationId xmlns:a16="http://schemas.microsoft.com/office/drawing/2014/main" id="{ED5A019F-E3D8-32B0-E06B-FCBB206FD8BE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3" name="箭头: 右 12">
            <a:extLst>
              <a:ext uri="{FF2B5EF4-FFF2-40B4-BE49-F238E27FC236}">
                <a16:creationId xmlns:a16="http://schemas.microsoft.com/office/drawing/2014/main" id="{3F484EEE-3AE5-8C10-DADC-765CFB72E4B2}"/>
              </a:ext>
            </a:extLst>
          </p:cNvPr>
          <p:cNvSpPr/>
          <p:nvPr/>
        </p:nvSpPr>
        <p:spPr>
          <a:xfrm>
            <a:off x="6471411" y="1162116"/>
            <a:ext cx="884221" cy="548639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2247564-3926-A96F-3602-797F3C98C6E0}"/>
              </a:ext>
            </a:extLst>
          </p:cNvPr>
          <p:cNvSpPr/>
          <p:nvPr/>
        </p:nvSpPr>
        <p:spPr>
          <a:xfrm>
            <a:off x="7514487" y="828000"/>
            <a:ext cx="4249648" cy="12105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zh-CN" altLang="en-US" sz="2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优点：电路实现简单、可靠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zh-CN" altLang="en-US" sz="2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缺点：使用不方便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D41AEA3A-0778-E7DE-DC04-B29F7CF605F1}"/>
              </a:ext>
            </a:extLst>
          </p:cNvPr>
          <p:cNvSpPr/>
          <p:nvPr/>
        </p:nvSpPr>
        <p:spPr>
          <a:xfrm rot="1242402">
            <a:off x="7582923" y="3567603"/>
            <a:ext cx="884221" cy="548639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DF887F3B-E751-3006-62C3-8479F4176B48}"/>
              </a:ext>
            </a:extLst>
          </p:cNvPr>
          <p:cNvSpPr/>
          <p:nvPr/>
        </p:nvSpPr>
        <p:spPr>
          <a:xfrm rot="20357598" flipV="1">
            <a:off x="7582924" y="4536368"/>
            <a:ext cx="884221" cy="548639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FDA018E-A6BE-5D6D-54C3-68024F9141EE}"/>
              </a:ext>
            </a:extLst>
          </p:cNvPr>
          <p:cNvSpPr/>
          <p:nvPr/>
        </p:nvSpPr>
        <p:spPr>
          <a:xfrm>
            <a:off x="8856000" y="3600000"/>
            <a:ext cx="2903448" cy="138499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sz="2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为克服二进制</a:t>
            </a:r>
            <a:endParaRPr lang="en-US" altLang="zh-CN" sz="26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zh-CN" altLang="en-US" sz="26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的缺点而引入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C2A9D7F-B58B-B5A0-C319-9154B9676BF4}"/>
                  </a:ext>
                </a:extLst>
              </p:cNvPr>
              <p:cNvSpPr txBox="1"/>
              <p:nvPr/>
            </p:nvSpPr>
            <p:spPr>
              <a:xfrm>
                <a:off x="8928000" y="2088000"/>
                <a:ext cx="2969385" cy="1183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6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26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  <m:r>
                            <a:rPr lang="en-US" altLang="zh-CN" sz="2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6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R</m:t>
                          </m:r>
                        </m:sub>
                      </m:sSub>
                      <m:r>
                        <a:rPr lang="en-US" altLang="zh-CN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=−</m:t>
                          </m:r>
                          <m: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6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altLang="zh-CN" sz="2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C2A9D7F-B58B-B5A0-C319-9154B9676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8000" y="2088000"/>
                <a:ext cx="2969385" cy="11832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29363DF-60CF-8516-3BD6-95BDD758A535}"/>
                  </a:ext>
                </a:extLst>
              </p:cNvPr>
              <p:cNvSpPr txBox="1"/>
              <p:nvPr/>
            </p:nvSpPr>
            <p:spPr>
              <a:xfrm>
                <a:off x="720000" y="2160000"/>
                <a:ext cx="50743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/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(1001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.0</m:t>
                        </m:r>
                        <m:r>
                          <a:rPr lang="en-US" altLang="zh-CN" sz="24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1)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(1001)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29363DF-60CF-8516-3BD6-95BDD758A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2160000"/>
                <a:ext cx="5074318" cy="461665"/>
              </a:xfrm>
              <a:prstGeom prst="rect">
                <a:avLst/>
              </a:prstGeom>
              <a:blipFill>
                <a:blip r:embed="rId7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075A3608-4234-73AD-DBDC-ED6FE3BCC0A8}"/>
                  </a:ext>
                </a:extLst>
              </p:cNvPr>
              <p:cNvSpPr txBox="1"/>
              <p:nvPr/>
            </p:nvSpPr>
            <p:spPr>
              <a:xfrm>
                <a:off x="720000" y="4140000"/>
                <a:ext cx="478455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/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sz="240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.3</m:t>
                        </m:r>
                        <m:r>
                          <a:rPr lang="en-US" altLang="zh-CN" sz="24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CN" sz="24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(7023)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075A3608-4234-73AD-DBDC-ED6FE3BCC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4140000"/>
                <a:ext cx="4784554" cy="461665"/>
              </a:xfrm>
              <a:prstGeom prst="rect">
                <a:avLst/>
              </a:prstGeom>
              <a:blipFill>
                <a:blip r:embed="rId8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C39FBD8-8D44-E7A4-CB6D-93177806E2C1}"/>
                  </a:ext>
                </a:extLst>
              </p:cNvPr>
              <p:cNvSpPr txBox="1"/>
              <p:nvPr/>
            </p:nvSpPr>
            <p:spPr>
              <a:xfrm>
                <a:off x="720000" y="6120000"/>
                <a:ext cx="478455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/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EF</m:t>
                        </m:r>
                        <m:r>
                          <a:rPr lang="en-US" altLang="zh-CN" sz="24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C39FBD8-8D44-E7A4-CB6D-93177806E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6120000"/>
                <a:ext cx="4784554" cy="461665"/>
              </a:xfrm>
              <a:prstGeom prst="rect">
                <a:avLst/>
              </a:prstGeom>
              <a:blipFill>
                <a:blip r:embed="rId9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7018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0F36A-3CCF-99DD-3C37-10EC04D7E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28E16309-297B-E213-AD1E-778D9ABB1BBB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47" name="组合 146">
              <a:extLst>
                <a:ext uri="{FF2B5EF4-FFF2-40B4-BE49-F238E27FC236}">
                  <a16:creationId xmlns:a16="http://schemas.microsoft.com/office/drawing/2014/main" id="{95AB5C16-BB6A-80EC-1BAA-6328863B63F8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49" name="箭头: 五边形 148">
                <a:extLst>
                  <a:ext uri="{FF2B5EF4-FFF2-40B4-BE49-F238E27FC236}">
                    <a16:creationId xmlns:a16="http://schemas.microsoft.com/office/drawing/2014/main" id="{1C02D87D-7053-F741-D19B-5294D81B0B80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0" name="箭头: V 形 149">
                <a:extLst>
                  <a:ext uri="{FF2B5EF4-FFF2-40B4-BE49-F238E27FC236}">
                    <a16:creationId xmlns:a16="http://schemas.microsoft.com/office/drawing/2014/main" id="{D802C8D8-391A-8167-546B-06BCEBFC251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8" name="灯片编号占位符 3">
              <a:extLst>
                <a:ext uri="{FF2B5EF4-FFF2-40B4-BE49-F238E27FC236}">
                  <a16:creationId xmlns:a16="http://schemas.microsoft.com/office/drawing/2014/main" id="{5C1658C8-3A93-76E7-5FEF-E5914D4F050C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99708184-F1C6-9706-0EDD-AAE75B5F1436}"/>
              </a:ext>
            </a:extLst>
          </p:cNvPr>
          <p:cNvSpPr txBox="1"/>
          <p:nvPr/>
        </p:nvSpPr>
        <p:spPr>
          <a:xfrm>
            <a:off x="360000" y="828000"/>
            <a:ext cx="23498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串行传输：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7E9F20-4342-8269-E2DB-07406715EF57}"/>
              </a:ext>
            </a:extLst>
          </p:cNvPr>
          <p:cNvSpPr/>
          <p:nvPr/>
        </p:nvSpPr>
        <p:spPr>
          <a:xfrm>
            <a:off x="1955509" y="1670619"/>
            <a:ext cx="1483825" cy="9949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1312FC-AF4F-73AA-5795-3F4D4059867C}"/>
              </a:ext>
            </a:extLst>
          </p:cNvPr>
          <p:cNvSpPr/>
          <p:nvPr/>
        </p:nvSpPr>
        <p:spPr>
          <a:xfrm>
            <a:off x="7445235" y="1670620"/>
            <a:ext cx="1483825" cy="9949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A3FB92A-4058-5CC8-695D-B3E5A7C56916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3439334" y="2168094"/>
            <a:ext cx="4005901" cy="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3B09F641-7EFD-7CE9-2CC3-3C34CDBF570B}"/>
              </a:ext>
            </a:extLst>
          </p:cNvPr>
          <p:cNvSpPr txBox="1"/>
          <p:nvPr/>
        </p:nvSpPr>
        <p:spPr>
          <a:xfrm>
            <a:off x="4164237" y="2537960"/>
            <a:ext cx="25560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串行数据传输线</a:t>
            </a:r>
            <a:endParaRPr lang="en-US" altLang="zh-CN" sz="22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D9D9F848-A56B-A60C-FA12-2391E55629D1}"/>
              </a:ext>
            </a:extLst>
          </p:cNvPr>
          <p:cNvCxnSpPr>
            <a:cxnSpLocks/>
            <a:stCxn id="49" idx="0"/>
          </p:cNvCxnSpPr>
          <p:nvPr/>
        </p:nvCxnSpPr>
        <p:spPr>
          <a:xfrm flipV="1">
            <a:off x="5442284" y="2191815"/>
            <a:ext cx="0" cy="346145"/>
          </a:xfrm>
          <a:prstGeom prst="straightConnector1">
            <a:avLst/>
          </a:prstGeom>
          <a:ln w="25400">
            <a:solidFill>
              <a:schemeClr val="accent5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0C64FD6-DB8E-8403-DDD9-2D7B4CED7FAE}"/>
              </a:ext>
            </a:extLst>
          </p:cNvPr>
          <p:cNvCxnSpPr>
            <a:cxnSpLocks/>
          </p:cNvCxnSpPr>
          <p:nvPr/>
        </p:nvCxnSpPr>
        <p:spPr>
          <a:xfrm>
            <a:off x="3840169" y="1724419"/>
            <a:ext cx="43860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39E74C78-95F5-FC11-6FC0-A306F072EFFC}"/>
              </a:ext>
            </a:extLst>
          </p:cNvPr>
          <p:cNvCxnSpPr>
            <a:cxnSpLocks/>
          </p:cNvCxnSpPr>
          <p:nvPr/>
        </p:nvCxnSpPr>
        <p:spPr>
          <a:xfrm>
            <a:off x="4278775" y="1361553"/>
            <a:ext cx="0" cy="36286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1CC338A0-A148-7547-5AF8-74EC6FAFD419}"/>
              </a:ext>
            </a:extLst>
          </p:cNvPr>
          <p:cNvCxnSpPr>
            <a:cxnSpLocks/>
          </p:cNvCxnSpPr>
          <p:nvPr/>
        </p:nvCxnSpPr>
        <p:spPr>
          <a:xfrm>
            <a:off x="4278775" y="1361553"/>
            <a:ext cx="43860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36FD6904-47C3-7970-625B-E670D74EEF5F}"/>
              </a:ext>
            </a:extLst>
          </p:cNvPr>
          <p:cNvCxnSpPr>
            <a:cxnSpLocks/>
          </p:cNvCxnSpPr>
          <p:nvPr/>
        </p:nvCxnSpPr>
        <p:spPr>
          <a:xfrm>
            <a:off x="4717380" y="1361553"/>
            <a:ext cx="0" cy="36286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4CE0D0C0-1433-834E-1CFA-159AF7437C9F}"/>
              </a:ext>
            </a:extLst>
          </p:cNvPr>
          <p:cNvCxnSpPr>
            <a:cxnSpLocks/>
          </p:cNvCxnSpPr>
          <p:nvPr/>
        </p:nvCxnSpPr>
        <p:spPr>
          <a:xfrm>
            <a:off x="4717380" y="1724419"/>
            <a:ext cx="87721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347ECE20-0BF8-1A0F-AFB9-B6F26FB9B4E8}"/>
              </a:ext>
            </a:extLst>
          </p:cNvPr>
          <p:cNvCxnSpPr>
            <a:cxnSpLocks/>
          </p:cNvCxnSpPr>
          <p:nvPr/>
        </p:nvCxnSpPr>
        <p:spPr>
          <a:xfrm>
            <a:off x="5594592" y="1361553"/>
            <a:ext cx="0" cy="36286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4E4F5239-C10B-F074-9272-D56D24F05DD4}"/>
              </a:ext>
            </a:extLst>
          </p:cNvPr>
          <p:cNvCxnSpPr>
            <a:cxnSpLocks/>
          </p:cNvCxnSpPr>
          <p:nvPr/>
        </p:nvCxnSpPr>
        <p:spPr>
          <a:xfrm>
            <a:off x="5594592" y="1359509"/>
            <a:ext cx="87721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CF515C9F-A967-A694-42C2-9990D68E563D}"/>
              </a:ext>
            </a:extLst>
          </p:cNvPr>
          <p:cNvCxnSpPr>
            <a:cxnSpLocks/>
          </p:cNvCxnSpPr>
          <p:nvPr/>
        </p:nvCxnSpPr>
        <p:spPr>
          <a:xfrm>
            <a:off x="6471803" y="1361553"/>
            <a:ext cx="0" cy="36286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C81A1C28-B066-C2E6-A0EB-1A9CE6A36C91}"/>
              </a:ext>
            </a:extLst>
          </p:cNvPr>
          <p:cNvCxnSpPr>
            <a:cxnSpLocks/>
          </p:cNvCxnSpPr>
          <p:nvPr/>
        </p:nvCxnSpPr>
        <p:spPr>
          <a:xfrm>
            <a:off x="6470932" y="1724419"/>
            <a:ext cx="43860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7DF3F3D4-B330-B2C0-C752-0152956217E1}"/>
              </a:ext>
            </a:extLst>
          </p:cNvPr>
          <p:cNvSpPr txBox="1"/>
          <p:nvPr/>
        </p:nvSpPr>
        <p:spPr>
          <a:xfrm>
            <a:off x="6469392" y="1335415"/>
            <a:ext cx="815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MSD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F6BB2645-34D1-8E71-1E5E-61C06BA82E87}"/>
              </a:ext>
            </a:extLst>
          </p:cNvPr>
          <p:cNvSpPr txBox="1"/>
          <p:nvPr/>
        </p:nvSpPr>
        <p:spPr>
          <a:xfrm>
            <a:off x="3525826" y="1331367"/>
            <a:ext cx="815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LSD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12193B98-8F63-509C-248E-DE336E788F4A}"/>
              </a:ext>
            </a:extLst>
          </p:cNvPr>
          <p:cNvSpPr txBox="1"/>
          <p:nvPr/>
        </p:nvSpPr>
        <p:spPr>
          <a:xfrm>
            <a:off x="3840169" y="1761589"/>
            <a:ext cx="43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3A9D6D19-161A-F05B-BB41-70C66D483C5E}"/>
              </a:ext>
            </a:extLst>
          </p:cNvPr>
          <p:cNvSpPr txBox="1"/>
          <p:nvPr/>
        </p:nvSpPr>
        <p:spPr>
          <a:xfrm>
            <a:off x="4278775" y="1761589"/>
            <a:ext cx="43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961A7B3F-02B2-1B4A-9D87-30279C580730}"/>
              </a:ext>
            </a:extLst>
          </p:cNvPr>
          <p:cNvSpPr txBox="1"/>
          <p:nvPr/>
        </p:nvSpPr>
        <p:spPr>
          <a:xfrm>
            <a:off x="4717380" y="1761589"/>
            <a:ext cx="43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51B466AC-D9DD-3A36-30CB-4E0CFBF7F0F1}"/>
              </a:ext>
            </a:extLst>
          </p:cNvPr>
          <p:cNvSpPr txBox="1"/>
          <p:nvPr/>
        </p:nvSpPr>
        <p:spPr>
          <a:xfrm>
            <a:off x="5155550" y="1761589"/>
            <a:ext cx="43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6A4C5B29-2C57-DFFA-69D2-89D5130F4772}"/>
              </a:ext>
            </a:extLst>
          </p:cNvPr>
          <p:cNvSpPr txBox="1"/>
          <p:nvPr/>
        </p:nvSpPr>
        <p:spPr>
          <a:xfrm>
            <a:off x="5594156" y="1761589"/>
            <a:ext cx="43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CDA6F843-0E8B-297A-6333-9D0B8786AF0E}"/>
              </a:ext>
            </a:extLst>
          </p:cNvPr>
          <p:cNvSpPr txBox="1"/>
          <p:nvPr/>
        </p:nvSpPr>
        <p:spPr>
          <a:xfrm>
            <a:off x="6032326" y="1761589"/>
            <a:ext cx="43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73638E70-2EF0-A02D-C1AE-962ED2045EA2}"/>
              </a:ext>
            </a:extLst>
          </p:cNvPr>
          <p:cNvSpPr txBox="1"/>
          <p:nvPr/>
        </p:nvSpPr>
        <p:spPr>
          <a:xfrm>
            <a:off x="6470496" y="1761587"/>
            <a:ext cx="43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BBDEDCC5-311E-1F8F-3F71-A3FFDA83B808}"/>
              </a:ext>
            </a:extLst>
          </p:cNvPr>
          <p:cNvSpPr txBox="1"/>
          <p:nvPr/>
        </p:nvSpPr>
        <p:spPr>
          <a:xfrm>
            <a:off x="360000" y="3708000"/>
            <a:ext cx="23498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并行传输：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0E7C58AB-8418-4FE5-8E9B-B92C3712B787}"/>
              </a:ext>
            </a:extLst>
          </p:cNvPr>
          <p:cNvSpPr/>
          <p:nvPr/>
        </p:nvSpPr>
        <p:spPr>
          <a:xfrm>
            <a:off x="1955509" y="5183495"/>
            <a:ext cx="1483825" cy="9949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C1A67B59-586E-3B63-9CBB-C60F9C8A2451}"/>
              </a:ext>
            </a:extLst>
          </p:cNvPr>
          <p:cNvSpPr/>
          <p:nvPr/>
        </p:nvSpPr>
        <p:spPr>
          <a:xfrm>
            <a:off x="7445235" y="5183494"/>
            <a:ext cx="1483825" cy="9949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8" name="直接连接符 187">
            <a:extLst>
              <a:ext uri="{FF2B5EF4-FFF2-40B4-BE49-F238E27FC236}">
                <a16:creationId xmlns:a16="http://schemas.microsoft.com/office/drawing/2014/main" id="{E5799462-DD50-EE67-B2B4-698C15C377F7}"/>
              </a:ext>
            </a:extLst>
          </p:cNvPr>
          <p:cNvCxnSpPr>
            <a:cxnSpLocks/>
          </p:cNvCxnSpPr>
          <p:nvPr/>
        </p:nvCxnSpPr>
        <p:spPr>
          <a:xfrm>
            <a:off x="3439336" y="5405594"/>
            <a:ext cx="36245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连接符 188">
            <a:extLst>
              <a:ext uri="{FF2B5EF4-FFF2-40B4-BE49-F238E27FC236}">
                <a16:creationId xmlns:a16="http://schemas.microsoft.com/office/drawing/2014/main" id="{BAC16741-80BC-DF3A-B498-2C7A836C09E6}"/>
              </a:ext>
            </a:extLst>
          </p:cNvPr>
          <p:cNvCxnSpPr>
            <a:cxnSpLocks/>
          </p:cNvCxnSpPr>
          <p:nvPr/>
        </p:nvCxnSpPr>
        <p:spPr>
          <a:xfrm>
            <a:off x="3439336" y="5276065"/>
            <a:ext cx="21078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连接符 189">
            <a:extLst>
              <a:ext uri="{FF2B5EF4-FFF2-40B4-BE49-F238E27FC236}">
                <a16:creationId xmlns:a16="http://schemas.microsoft.com/office/drawing/2014/main" id="{2F8C4915-43A3-3489-0B9A-2A73BF2CCED2}"/>
              </a:ext>
            </a:extLst>
          </p:cNvPr>
          <p:cNvCxnSpPr>
            <a:cxnSpLocks/>
          </p:cNvCxnSpPr>
          <p:nvPr/>
        </p:nvCxnSpPr>
        <p:spPr>
          <a:xfrm>
            <a:off x="3439334" y="6076929"/>
            <a:ext cx="4005901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连接符 190">
            <a:extLst>
              <a:ext uri="{FF2B5EF4-FFF2-40B4-BE49-F238E27FC236}">
                <a16:creationId xmlns:a16="http://schemas.microsoft.com/office/drawing/2014/main" id="{658DB171-4E2D-BB73-F11A-53D045B8EFF6}"/>
              </a:ext>
            </a:extLst>
          </p:cNvPr>
          <p:cNvCxnSpPr>
            <a:cxnSpLocks/>
          </p:cNvCxnSpPr>
          <p:nvPr/>
        </p:nvCxnSpPr>
        <p:spPr>
          <a:xfrm>
            <a:off x="3439336" y="5795961"/>
            <a:ext cx="724907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连接符 191">
            <a:extLst>
              <a:ext uri="{FF2B5EF4-FFF2-40B4-BE49-F238E27FC236}">
                <a16:creationId xmlns:a16="http://schemas.microsoft.com/office/drawing/2014/main" id="{8017E595-24E2-66E5-4798-D4B22C028495}"/>
              </a:ext>
            </a:extLst>
          </p:cNvPr>
          <p:cNvCxnSpPr>
            <a:cxnSpLocks/>
          </p:cNvCxnSpPr>
          <p:nvPr/>
        </p:nvCxnSpPr>
        <p:spPr>
          <a:xfrm>
            <a:off x="3439334" y="5662729"/>
            <a:ext cx="6201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E198D7ED-2F9B-77C1-3253-33281B3EEAF2}"/>
              </a:ext>
            </a:extLst>
          </p:cNvPr>
          <p:cNvCxnSpPr>
            <a:cxnSpLocks/>
          </p:cNvCxnSpPr>
          <p:nvPr/>
        </p:nvCxnSpPr>
        <p:spPr>
          <a:xfrm>
            <a:off x="3439336" y="5526951"/>
            <a:ext cx="49442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连接符 193">
            <a:extLst>
              <a:ext uri="{FF2B5EF4-FFF2-40B4-BE49-F238E27FC236}">
                <a16:creationId xmlns:a16="http://schemas.microsoft.com/office/drawing/2014/main" id="{DF00AD8C-3F51-DFE6-8807-FB2C99ECF16E}"/>
              </a:ext>
            </a:extLst>
          </p:cNvPr>
          <p:cNvCxnSpPr>
            <a:cxnSpLocks/>
          </p:cNvCxnSpPr>
          <p:nvPr/>
        </p:nvCxnSpPr>
        <p:spPr>
          <a:xfrm>
            <a:off x="3439335" y="5933414"/>
            <a:ext cx="862718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6AC1B404-2056-65A5-427A-2A4C7C2695B3}"/>
              </a:ext>
            </a:extLst>
          </p:cNvPr>
          <p:cNvCxnSpPr>
            <a:cxnSpLocks/>
          </p:cNvCxnSpPr>
          <p:nvPr/>
        </p:nvCxnSpPr>
        <p:spPr>
          <a:xfrm flipH="1">
            <a:off x="7082778" y="5405594"/>
            <a:ext cx="36245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连接符 195">
            <a:extLst>
              <a:ext uri="{FF2B5EF4-FFF2-40B4-BE49-F238E27FC236}">
                <a16:creationId xmlns:a16="http://schemas.microsoft.com/office/drawing/2014/main" id="{0438B5BF-40B3-7E27-41B5-C40A30DCAE28}"/>
              </a:ext>
            </a:extLst>
          </p:cNvPr>
          <p:cNvCxnSpPr>
            <a:cxnSpLocks/>
          </p:cNvCxnSpPr>
          <p:nvPr/>
        </p:nvCxnSpPr>
        <p:spPr>
          <a:xfrm flipH="1">
            <a:off x="7228694" y="5276065"/>
            <a:ext cx="216539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C9410B6A-755E-4871-8E3F-00E6779C5F57}"/>
              </a:ext>
            </a:extLst>
          </p:cNvPr>
          <p:cNvCxnSpPr>
            <a:cxnSpLocks/>
          </p:cNvCxnSpPr>
          <p:nvPr/>
        </p:nvCxnSpPr>
        <p:spPr>
          <a:xfrm flipH="1">
            <a:off x="6720326" y="5795961"/>
            <a:ext cx="724907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43AE41BA-8AD4-2AA7-2B24-DD5B9E2D975F}"/>
              </a:ext>
            </a:extLst>
          </p:cNvPr>
          <p:cNvCxnSpPr>
            <a:cxnSpLocks/>
          </p:cNvCxnSpPr>
          <p:nvPr/>
        </p:nvCxnSpPr>
        <p:spPr>
          <a:xfrm flipH="1">
            <a:off x="6825092" y="5662729"/>
            <a:ext cx="6201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>
            <a:extLst>
              <a:ext uri="{FF2B5EF4-FFF2-40B4-BE49-F238E27FC236}">
                <a16:creationId xmlns:a16="http://schemas.microsoft.com/office/drawing/2014/main" id="{C4A6BD4A-84EC-D18D-7B08-C5155B61B210}"/>
              </a:ext>
            </a:extLst>
          </p:cNvPr>
          <p:cNvCxnSpPr>
            <a:cxnSpLocks/>
          </p:cNvCxnSpPr>
          <p:nvPr/>
        </p:nvCxnSpPr>
        <p:spPr>
          <a:xfrm flipH="1">
            <a:off x="6950810" y="5526951"/>
            <a:ext cx="49442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接连接符 199">
            <a:extLst>
              <a:ext uri="{FF2B5EF4-FFF2-40B4-BE49-F238E27FC236}">
                <a16:creationId xmlns:a16="http://schemas.microsoft.com/office/drawing/2014/main" id="{DDBECE3F-052C-61A7-1257-203FA1FBB9D9}"/>
              </a:ext>
            </a:extLst>
          </p:cNvPr>
          <p:cNvCxnSpPr>
            <a:cxnSpLocks/>
          </p:cNvCxnSpPr>
          <p:nvPr/>
        </p:nvCxnSpPr>
        <p:spPr>
          <a:xfrm flipH="1">
            <a:off x="6582516" y="5933414"/>
            <a:ext cx="862718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A8B86189-49C0-A718-804A-D2B86596D6F2}"/>
              </a:ext>
            </a:extLst>
          </p:cNvPr>
          <p:cNvCxnSpPr>
            <a:cxnSpLocks/>
          </p:cNvCxnSpPr>
          <p:nvPr/>
        </p:nvCxnSpPr>
        <p:spPr>
          <a:xfrm flipV="1">
            <a:off x="4302053" y="5830857"/>
            <a:ext cx="0" cy="10255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连接符 204">
            <a:extLst>
              <a:ext uri="{FF2B5EF4-FFF2-40B4-BE49-F238E27FC236}">
                <a16:creationId xmlns:a16="http://schemas.microsoft.com/office/drawing/2014/main" id="{740EC79D-A25F-B7DB-78D6-71C2ED64B982}"/>
              </a:ext>
            </a:extLst>
          </p:cNvPr>
          <p:cNvCxnSpPr>
            <a:cxnSpLocks/>
          </p:cNvCxnSpPr>
          <p:nvPr/>
        </p:nvCxnSpPr>
        <p:spPr>
          <a:xfrm flipV="1">
            <a:off x="6582516" y="5830856"/>
            <a:ext cx="0" cy="10255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连接符 205">
            <a:extLst>
              <a:ext uri="{FF2B5EF4-FFF2-40B4-BE49-F238E27FC236}">
                <a16:creationId xmlns:a16="http://schemas.microsoft.com/office/drawing/2014/main" id="{9914C57E-3571-4F37-FBB0-8A7CAE98DFF2}"/>
              </a:ext>
            </a:extLst>
          </p:cNvPr>
          <p:cNvCxnSpPr>
            <a:cxnSpLocks/>
          </p:cNvCxnSpPr>
          <p:nvPr/>
        </p:nvCxnSpPr>
        <p:spPr>
          <a:xfrm>
            <a:off x="4302053" y="5830856"/>
            <a:ext cx="228046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连接符 207">
            <a:extLst>
              <a:ext uri="{FF2B5EF4-FFF2-40B4-BE49-F238E27FC236}">
                <a16:creationId xmlns:a16="http://schemas.microsoft.com/office/drawing/2014/main" id="{E978472B-DA00-C1FC-97B3-39BC5C81B6D8}"/>
              </a:ext>
            </a:extLst>
          </p:cNvPr>
          <p:cNvCxnSpPr>
            <a:cxnSpLocks/>
          </p:cNvCxnSpPr>
          <p:nvPr/>
        </p:nvCxnSpPr>
        <p:spPr>
          <a:xfrm flipV="1">
            <a:off x="4164238" y="5624835"/>
            <a:ext cx="0" cy="171126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B4F60764-64E4-CD2F-580F-A319C183D589}"/>
              </a:ext>
            </a:extLst>
          </p:cNvPr>
          <p:cNvCxnSpPr>
            <a:cxnSpLocks/>
          </p:cNvCxnSpPr>
          <p:nvPr/>
        </p:nvCxnSpPr>
        <p:spPr>
          <a:xfrm flipV="1">
            <a:off x="6720326" y="5624835"/>
            <a:ext cx="0" cy="171126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>
            <a:extLst>
              <a:ext uri="{FF2B5EF4-FFF2-40B4-BE49-F238E27FC236}">
                <a16:creationId xmlns:a16="http://schemas.microsoft.com/office/drawing/2014/main" id="{88149C9C-9E86-C773-394A-0886335C9F59}"/>
              </a:ext>
            </a:extLst>
          </p:cNvPr>
          <p:cNvCxnSpPr>
            <a:cxnSpLocks/>
          </p:cNvCxnSpPr>
          <p:nvPr/>
        </p:nvCxnSpPr>
        <p:spPr>
          <a:xfrm>
            <a:off x="4164238" y="5624835"/>
            <a:ext cx="2556088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连接符 212">
            <a:extLst>
              <a:ext uri="{FF2B5EF4-FFF2-40B4-BE49-F238E27FC236}">
                <a16:creationId xmlns:a16="http://schemas.microsoft.com/office/drawing/2014/main" id="{04FBB2BB-AD01-DC28-6728-6F4F86F5227B}"/>
              </a:ext>
            </a:extLst>
          </p:cNvPr>
          <p:cNvCxnSpPr>
            <a:cxnSpLocks/>
          </p:cNvCxnSpPr>
          <p:nvPr/>
        </p:nvCxnSpPr>
        <p:spPr>
          <a:xfrm flipV="1">
            <a:off x="4059473" y="5405594"/>
            <a:ext cx="0" cy="26054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连接符 213">
            <a:extLst>
              <a:ext uri="{FF2B5EF4-FFF2-40B4-BE49-F238E27FC236}">
                <a16:creationId xmlns:a16="http://schemas.microsoft.com/office/drawing/2014/main" id="{ED0B8F5E-DC3F-5393-492F-1371E4A7E450}"/>
              </a:ext>
            </a:extLst>
          </p:cNvPr>
          <p:cNvCxnSpPr>
            <a:cxnSpLocks/>
          </p:cNvCxnSpPr>
          <p:nvPr/>
        </p:nvCxnSpPr>
        <p:spPr>
          <a:xfrm>
            <a:off x="4059473" y="5405594"/>
            <a:ext cx="2765619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连接符 216">
            <a:extLst>
              <a:ext uri="{FF2B5EF4-FFF2-40B4-BE49-F238E27FC236}">
                <a16:creationId xmlns:a16="http://schemas.microsoft.com/office/drawing/2014/main" id="{D2EDBA94-936A-6B13-B25D-BF73664A7257}"/>
              </a:ext>
            </a:extLst>
          </p:cNvPr>
          <p:cNvCxnSpPr>
            <a:cxnSpLocks/>
          </p:cNvCxnSpPr>
          <p:nvPr/>
        </p:nvCxnSpPr>
        <p:spPr>
          <a:xfrm flipV="1">
            <a:off x="6825092" y="5402185"/>
            <a:ext cx="0" cy="26054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连接符 218">
            <a:extLst>
              <a:ext uri="{FF2B5EF4-FFF2-40B4-BE49-F238E27FC236}">
                <a16:creationId xmlns:a16="http://schemas.microsoft.com/office/drawing/2014/main" id="{A7D573F1-FB2F-6AE5-DBF5-FD114336E8E7}"/>
              </a:ext>
            </a:extLst>
          </p:cNvPr>
          <p:cNvCxnSpPr>
            <a:cxnSpLocks/>
          </p:cNvCxnSpPr>
          <p:nvPr/>
        </p:nvCxnSpPr>
        <p:spPr>
          <a:xfrm flipV="1">
            <a:off x="3933753" y="5183494"/>
            <a:ext cx="0" cy="35311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431348B1-B99A-C826-1125-5046EAA9D207}"/>
              </a:ext>
            </a:extLst>
          </p:cNvPr>
          <p:cNvCxnSpPr>
            <a:cxnSpLocks/>
          </p:cNvCxnSpPr>
          <p:nvPr/>
        </p:nvCxnSpPr>
        <p:spPr>
          <a:xfrm>
            <a:off x="3933753" y="5183494"/>
            <a:ext cx="3017057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连接符 223">
            <a:extLst>
              <a:ext uri="{FF2B5EF4-FFF2-40B4-BE49-F238E27FC236}">
                <a16:creationId xmlns:a16="http://schemas.microsoft.com/office/drawing/2014/main" id="{0C9FD861-54CB-D82D-6616-45511ABE84F4}"/>
              </a:ext>
            </a:extLst>
          </p:cNvPr>
          <p:cNvCxnSpPr>
            <a:cxnSpLocks/>
          </p:cNvCxnSpPr>
          <p:nvPr/>
        </p:nvCxnSpPr>
        <p:spPr>
          <a:xfrm flipV="1">
            <a:off x="6950810" y="5183494"/>
            <a:ext cx="0" cy="35311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>
            <a:extLst>
              <a:ext uri="{FF2B5EF4-FFF2-40B4-BE49-F238E27FC236}">
                <a16:creationId xmlns:a16="http://schemas.microsoft.com/office/drawing/2014/main" id="{ACBFE28B-63D0-033F-ACD3-E83E3266B21F}"/>
              </a:ext>
            </a:extLst>
          </p:cNvPr>
          <p:cNvCxnSpPr>
            <a:cxnSpLocks/>
          </p:cNvCxnSpPr>
          <p:nvPr/>
        </p:nvCxnSpPr>
        <p:spPr>
          <a:xfrm flipV="1">
            <a:off x="7082778" y="4961612"/>
            <a:ext cx="0" cy="44918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连接符 228">
            <a:extLst>
              <a:ext uri="{FF2B5EF4-FFF2-40B4-BE49-F238E27FC236}">
                <a16:creationId xmlns:a16="http://schemas.microsoft.com/office/drawing/2014/main" id="{FA80A839-5CF5-4EBA-DB06-6594F604EBBB}"/>
              </a:ext>
            </a:extLst>
          </p:cNvPr>
          <p:cNvCxnSpPr>
            <a:cxnSpLocks/>
          </p:cNvCxnSpPr>
          <p:nvPr/>
        </p:nvCxnSpPr>
        <p:spPr>
          <a:xfrm>
            <a:off x="3801789" y="4961612"/>
            <a:ext cx="3280989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57643C37-CDE4-DB48-0F10-60AFB8338DEB}"/>
              </a:ext>
            </a:extLst>
          </p:cNvPr>
          <p:cNvCxnSpPr>
            <a:cxnSpLocks/>
          </p:cNvCxnSpPr>
          <p:nvPr/>
        </p:nvCxnSpPr>
        <p:spPr>
          <a:xfrm flipV="1">
            <a:off x="3801789" y="4961612"/>
            <a:ext cx="0" cy="44057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45D4ED20-088D-42EB-8C48-AE6CEF906B03}"/>
              </a:ext>
            </a:extLst>
          </p:cNvPr>
          <p:cNvCxnSpPr>
            <a:cxnSpLocks/>
          </p:cNvCxnSpPr>
          <p:nvPr/>
        </p:nvCxnSpPr>
        <p:spPr>
          <a:xfrm flipV="1">
            <a:off x="3653704" y="4727367"/>
            <a:ext cx="0" cy="54869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连接符 234">
            <a:extLst>
              <a:ext uri="{FF2B5EF4-FFF2-40B4-BE49-F238E27FC236}">
                <a16:creationId xmlns:a16="http://schemas.microsoft.com/office/drawing/2014/main" id="{86FD2AB6-8EEA-A7D8-35E4-4D65A07E6E33}"/>
              </a:ext>
            </a:extLst>
          </p:cNvPr>
          <p:cNvCxnSpPr>
            <a:cxnSpLocks/>
          </p:cNvCxnSpPr>
          <p:nvPr/>
        </p:nvCxnSpPr>
        <p:spPr>
          <a:xfrm>
            <a:off x="3650116" y="4727367"/>
            <a:ext cx="3578578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接连接符 238">
            <a:extLst>
              <a:ext uri="{FF2B5EF4-FFF2-40B4-BE49-F238E27FC236}">
                <a16:creationId xmlns:a16="http://schemas.microsoft.com/office/drawing/2014/main" id="{51057DC0-CF8B-9AE0-3C10-042636AD8CF9}"/>
              </a:ext>
            </a:extLst>
          </p:cNvPr>
          <p:cNvCxnSpPr>
            <a:cxnSpLocks/>
          </p:cNvCxnSpPr>
          <p:nvPr/>
        </p:nvCxnSpPr>
        <p:spPr>
          <a:xfrm flipV="1">
            <a:off x="7228694" y="4727367"/>
            <a:ext cx="0" cy="54869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文本框 241">
            <a:extLst>
              <a:ext uri="{FF2B5EF4-FFF2-40B4-BE49-F238E27FC236}">
                <a16:creationId xmlns:a16="http://schemas.microsoft.com/office/drawing/2014/main" id="{50342122-B649-4414-7878-938BEFF745F2}"/>
              </a:ext>
            </a:extLst>
          </p:cNvPr>
          <p:cNvSpPr txBox="1"/>
          <p:nvPr/>
        </p:nvSpPr>
        <p:spPr>
          <a:xfrm>
            <a:off x="5157581" y="5795961"/>
            <a:ext cx="4386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FBC5EB5E-38DA-E2E0-FC9C-0780E7088489}"/>
              </a:ext>
            </a:extLst>
          </p:cNvPr>
          <p:cNvSpPr txBox="1"/>
          <p:nvPr/>
        </p:nvSpPr>
        <p:spPr>
          <a:xfrm>
            <a:off x="5157814" y="5564511"/>
            <a:ext cx="4386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244" name="文本框 243">
            <a:extLst>
              <a:ext uri="{FF2B5EF4-FFF2-40B4-BE49-F238E27FC236}">
                <a16:creationId xmlns:a16="http://schemas.microsoft.com/office/drawing/2014/main" id="{EA2C1E1D-C834-EA23-225A-DFAA39EFED4F}"/>
              </a:ext>
            </a:extLst>
          </p:cNvPr>
          <p:cNvSpPr txBox="1"/>
          <p:nvPr/>
        </p:nvSpPr>
        <p:spPr>
          <a:xfrm>
            <a:off x="5154105" y="5352842"/>
            <a:ext cx="4386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245" name="文本框 244">
            <a:extLst>
              <a:ext uri="{FF2B5EF4-FFF2-40B4-BE49-F238E27FC236}">
                <a16:creationId xmlns:a16="http://schemas.microsoft.com/office/drawing/2014/main" id="{FC5C2169-C85B-629B-034E-30D63B03D251}"/>
              </a:ext>
            </a:extLst>
          </p:cNvPr>
          <p:cNvSpPr txBox="1"/>
          <p:nvPr/>
        </p:nvSpPr>
        <p:spPr>
          <a:xfrm>
            <a:off x="5154105" y="5130960"/>
            <a:ext cx="4386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32E7055A-3497-1F3D-746D-21CE9AA36DD6}"/>
              </a:ext>
            </a:extLst>
          </p:cNvPr>
          <p:cNvSpPr txBox="1"/>
          <p:nvPr/>
        </p:nvSpPr>
        <p:spPr>
          <a:xfrm>
            <a:off x="5154104" y="4909401"/>
            <a:ext cx="4386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247" name="文本框 246">
            <a:extLst>
              <a:ext uri="{FF2B5EF4-FFF2-40B4-BE49-F238E27FC236}">
                <a16:creationId xmlns:a16="http://schemas.microsoft.com/office/drawing/2014/main" id="{4868ED82-B662-9BE9-344D-138D1BAD0860}"/>
              </a:ext>
            </a:extLst>
          </p:cNvPr>
          <p:cNvSpPr txBox="1"/>
          <p:nvPr/>
        </p:nvSpPr>
        <p:spPr>
          <a:xfrm>
            <a:off x="5154104" y="4682786"/>
            <a:ext cx="4386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248" name="文本框 247">
            <a:extLst>
              <a:ext uri="{FF2B5EF4-FFF2-40B4-BE49-F238E27FC236}">
                <a16:creationId xmlns:a16="http://schemas.microsoft.com/office/drawing/2014/main" id="{D3CE17EC-F5E0-1DDF-FACB-93CCD3996829}"/>
              </a:ext>
            </a:extLst>
          </p:cNvPr>
          <p:cNvSpPr txBox="1"/>
          <p:nvPr/>
        </p:nvSpPr>
        <p:spPr>
          <a:xfrm>
            <a:off x="5154104" y="4446949"/>
            <a:ext cx="4386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249" name="文本框 248">
            <a:extLst>
              <a:ext uri="{FF2B5EF4-FFF2-40B4-BE49-F238E27FC236}">
                <a16:creationId xmlns:a16="http://schemas.microsoft.com/office/drawing/2014/main" id="{69EE344F-26FF-7598-CD1F-79F1A88F5A0E}"/>
              </a:ext>
            </a:extLst>
          </p:cNvPr>
          <p:cNvSpPr txBox="1"/>
          <p:nvPr/>
        </p:nvSpPr>
        <p:spPr>
          <a:xfrm>
            <a:off x="4965481" y="6120974"/>
            <a:ext cx="815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LSD</a:t>
            </a:r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84211AC0-836D-E0FD-FBF9-F0A3DD2FD3CD}"/>
              </a:ext>
            </a:extLst>
          </p:cNvPr>
          <p:cNvSpPr txBox="1"/>
          <p:nvPr/>
        </p:nvSpPr>
        <p:spPr>
          <a:xfrm>
            <a:off x="4970146" y="4189815"/>
            <a:ext cx="8158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MSD</a:t>
            </a:r>
          </a:p>
        </p:txBody>
      </p:sp>
      <p:sp>
        <p:nvSpPr>
          <p:cNvPr id="251" name="文本框 250">
            <a:extLst>
              <a:ext uri="{FF2B5EF4-FFF2-40B4-BE49-F238E27FC236}">
                <a16:creationId xmlns:a16="http://schemas.microsoft.com/office/drawing/2014/main" id="{1CBC420A-BD9F-06B4-6A46-9492D8D8F7DD}"/>
              </a:ext>
            </a:extLst>
          </p:cNvPr>
          <p:cNvSpPr txBox="1"/>
          <p:nvPr/>
        </p:nvSpPr>
        <p:spPr>
          <a:xfrm>
            <a:off x="6825092" y="4155996"/>
            <a:ext cx="25560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并行数据传输线</a:t>
            </a:r>
            <a:endParaRPr lang="en-US" altLang="zh-CN" sz="22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2" name="直接箭头连接符 251">
            <a:extLst>
              <a:ext uri="{FF2B5EF4-FFF2-40B4-BE49-F238E27FC236}">
                <a16:creationId xmlns:a16="http://schemas.microsoft.com/office/drawing/2014/main" id="{5C2AB09F-681D-C1EA-B745-7724CD6EAAE2}"/>
              </a:ext>
            </a:extLst>
          </p:cNvPr>
          <p:cNvCxnSpPr>
            <a:cxnSpLocks/>
          </p:cNvCxnSpPr>
          <p:nvPr/>
        </p:nvCxnSpPr>
        <p:spPr>
          <a:xfrm flipH="1">
            <a:off x="7285245" y="4594151"/>
            <a:ext cx="261775" cy="277600"/>
          </a:xfrm>
          <a:prstGeom prst="straightConnector1">
            <a:avLst/>
          </a:prstGeom>
          <a:ln w="25400">
            <a:solidFill>
              <a:schemeClr val="accent5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文本框 257">
            <a:extLst>
              <a:ext uri="{FF2B5EF4-FFF2-40B4-BE49-F238E27FC236}">
                <a16:creationId xmlns:a16="http://schemas.microsoft.com/office/drawing/2014/main" id="{686C7E06-9385-7371-C7E2-7DEB67A69604}"/>
              </a:ext>
            </a:extLst>
          </p:cNvPr>
          <p:cNvSpPr txBox="1"/>
          <p:nvPr/>
        </p:nvSpPr>
        <p:spPr>
          <a:xfrm>
            <a:off x="6472195" y="3218729"/>
            <a:ext cx="54299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MSD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kumimoji="1"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Most Significant Digit</a:t>
            </a:r>
            <a:r>
              <a:rPr kumimoji="1"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，最高有效位</a:t>
            </a:r>
            <a:endParaRPr kumimoji="1" lang="en-US" altLang="zh-CN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LSD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kumimoji="1"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Least Significant Digit</a:t>
            </a:r>
            <a:r>
              <a:rPr kumimoji="1"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，最低有效位</a:t>
            </a:r>
            <a:endParaRPr kumimoji="1" lang="en-US" altLang="zh-CN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37599EEF-2822-7546-FEDB-7072E7B83927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数制</a:t>
            </a:r>
            <a:r>
              <a:rPr lang="en-US" altLang="zh-CN" sz="3000" dirty="0" err="1"/>
              <a:t>及其</a:t>
            </a:r>
            <a:r>
              <a:rPr lang="zh-CN" altLang="en-US" sz="3000" dirty="0"/>
              <a:t>转换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二进制数的传送方式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337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FAA25-77E4-F3B4-C080-973452AF6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E0364D9-1EA8-4E03-2157-7AE01B914263}"/>
              </a:ext>
            </a:extLst>
          </p:cNvPr>
          <p:cNvSpPr txBox="1"/>
          <p:nvPr/>
        </p:nvSpPr>
        <p:spPr>
          <a:xfrm>
            <a:off x="360000" y="828000"/>
            <a:ext cx="1013274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1.2.1 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一数字波形如图题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1.2.1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所示，时钟频率为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kHz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，试确定：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）它所表示的二进制数；（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）串行方式传送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位数据所需的时间；（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）以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位并行方式传送数据时需要的时间</a:t>
            </a: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C1EB22E9-B5C1-2875-21C9-6EF258861770}"/>
              </a:ext>
            </a:extLst>
          </p:cNvPr>
          <p:cNvSpPr txBox="1"/>
          <p:nvPr/>
        </p:nvSpPr>
        <p:spPr>
          <a:xfrm>
            <a:off x="360000" y="4971600"/>
            <a:ext cx="1035057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(1)  00101100</a:t>
            </a:r>
            <a:r>
              <a:rPr kumimoji="1" lang="zh-CN" altLang="en-US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（实际波形中会含延迟）</a:t>
            </a:r>
            <a:endParaRPr kumimoji="1" lang="en-US" altLang="zh-CN" sz="24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(2) </a:t>
            </a:r>
            <a:r>
              <a:rPr kumimoji="1" lang="zh-CN" altLang="en-US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下降沿传输：</a:t>
            </a:r>
            <a:r>
              <a:rPr kumimoji="1" lang="en-US" altLang="zh-CN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1/(4 kHz)</a:t>
            </a:r>
            <a:r>
              <a:rPr kumimoji="1" lang="zh-CN" altLang="en-US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*</a:t>
            </a:r>
            <a:r>
              <a:rPr kumimoji="1" lang="en-US" altLang="zh-CN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kumimoji="1" lang="zh-CN" altLang="en-US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=2 </a:t>
            </a:r>
            <a:r>
              <a:rPr kumimoji="1" lang="en-US" altLang="zh-CN" sz="2400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ms</a:t>
            </a:r>
            <a:r>
              <a:rPr kumimoji="1" lang="zh-CN" altLang="en-US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（比特率：</a:t>
            </a:r>
            <a:r>
              <a:rPr kumimoji="1" lang="en-US" altLang="zh-CN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kb/s</a:t>
            </a:r>
            <a:r>
              <a:rPr kumimoji="1" lang="zh-CN" altLang="en-US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kumimoji="1" lang="en-US" altLang="zh-CN" sz="24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(3) </a:t>
            </a:r>
            <a:r>
              <a:rPr kumimoji="1" lang="zh-CN" altLang="en-US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并行：</a:t>
            </a:r>
            <a:r>
              <a:rPr kumimoji="1" lang="en-US" altLang="zh-CN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1/(4 kHz)</a:t>
            </a:r>
            <a:r>
              <a:rPr kumimoji="1" lang="zh-CN" altLang="en-US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kumimoji="1" lang="zh-CN" altLang="en-US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2400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0.25 </a:t>
            </a:r>
            <a:r>
              <a:rPr kumimoji="1" lang="en-US" altLang="zh-CN" sz="2400" dirty="0" err="1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ms</a:t>
            </a:r>
            <a:endParaRPr kumimoji="1" lang="en-US" altLang="zh-CN" sz="2400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55EF9BF5-D808-184F-B004-5FE512EDD304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47" name="组合 146">
              <a:extLst>
                <a:ext uri="{FF2B5EF4-FFF2-40B4-BE49-F238E27FC236}">
                  <a16:creationId xmlns:a16="http://schemas.microsoft.com/office/drawing/2014/main" id="{FD066980-94D7-D88C-8FD8-A7E23220E9F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49" name="箭头: 五边形 148">
                <a:extLst>
                  <a:ext uri="{FF2B5EF4-FFF2-40B4-BE49-F238E27FC236}">
                    <a16:creationId xmlns:a16="http://schemas.microsoft.com/office/drawing/2014/main" id="{2EEC4580-612A-0673-2AB2-D35C9A8719C8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0" name="箭头: V 形 149">
                <a:extLst>
                  <a:ext uri="{FF2B5EF4-FFF2-40B4-BE49-F238E27FC236}">
                    <a16:creationId xmlns:a16="http://schemas.microsoft.com/office/drawing/2014/main" id="{6B744F5F-93C5-D36E-C6CE-1F3C4DD2A16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8" name="灯片编号占位符 3">
              <a:extLst>
                <a:ext uri="{FF2B5EF4-FFF2-40B4-BE49-F238E27FC236}">
                  <a16:creationId xmlns:a16="http://schemas.microsoft.com/office/drawing/2014/main" id="{C2BF848A-D193-617E-C290-BFB8D001832B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A02CC874-0B43-633C-38D7-0C5A00BB7A22}"/>
              </a:ext>
            </a:extLst>
          </p:cNvPr>
          <p:cNvGrpSpPr/>
          <p:nvPr/>
        </p:nvGrpSpPr>
        <p:grpSpPr>
          <a:xfrm>
            <a:off x="720000" y="2268000"/>
            <a:ext cx="10353044" cy="2433081"/>
            <a:chOff x="751609" y="2172112"/>
            <a:chExt cx="10353044" cy="2433081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7D72B85A-06FF-C1B9-B3A1-2478EFD5D5D5}"/>
                </a:ext>
              </a:extLst>
            </p:cNvPr>
            <p:cNvCxnSpPr>
              <a:cxnSpLocks/>
            </p:cNvCxnSpPr>
            <p:nvPr/>
          </p:nvCxnSpPr>
          <p:spPr>
            <a:xfrm>
              <a:off x="1746780" y="2781498"/>
              <a:ext cx="59692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B3D12E98-C902-56AC-25CD-43722370901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67071" y="2525707"/>
              <a:ext cx="51158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8B72D01D-9C43-2890-775A-4F627441837B}"/>
                </a:ext>
              </a:extLst>
            </p:cNvPr>
            <p:cNvCxnSpPr>
              <a:cxnSpLocks/>
            </p:cNvCxnSpPr>
            <p:nvPr/>
          </p:nvCxnSpPr>
          <p:spPr>
            <a:xfrm>
              <a:off x="2306536" y="2287980"/>
              <a:ext cx="59692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A6563C16-47B7-9802-7871-8DD24F4FF38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629161" y="2535821"/>
              <a:ext cx="51158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64BF1907-DEAF-37A0-3959-1E68F405A34F}"/>
                </a:ext>
              </a:extLst>
            </p:cNvPr>
            <p:cNvCxnSpPr>
              <a:cxnSpLocks/>
            </p:cNvCxnSpPr>
            <p:nvPr/>
          </p:nvCxnSpPr>
          <p:spPr>
            <a:xfrm>
              <a:off x="2865761" y="2781498"/>
              <a:ext cx="59692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9F96F18-E799-2571-BB34-9E091A5187E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187722" y="2524703"/>
              <a:ext cx="51158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D91ECA57-5791-B295-8090-B684250E8334}"/>
                </a:ext>
              </a:extLst>
            </p:cNvPr>
            <p:cNvCxnSpPr>
              <a:cxnSpLocks/>
            </p:cNvCxnSpPr>
            <p:nvPr/>
          </p:nvCxnSpPr>
          <p:spPr>
            <a:xfrm>
              <a:off x="3427186" y="2286976"/>
              <a:ext cx="59692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A479E76C-7D63-46C2-CDB5-EA146CDF32F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49744" y="2535821"/>
              <a:ext cx="51158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AAE09E9E-2908-D290-EAB4-6D2C35EF6DF2}"/>
                </a:ext>
              </a:extLst>
            </p:cNvPr>
            <p:cNvCxnSpPr>
              <a:cxnSpLocks/>
            </p:cNvCxnSpPr>
            <p:nvPr/>
          </p:nvCxnSpPr>
          <p:spPr>
            <a:xfrm>
              <a:off x="3987721" y="2780494"/>
              <a:ext cx="59692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F20041D5-8F60-A543-5D58-F12E8E6970B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309160" y="2524703"/>
              <a:ext cx="51158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2119496D-DCDA-B66A-DEA8-53980306F384}"/>
                </a:ext>
              </a:extLst>
            </p:cNvPr>
            <p:cNvCxnSpPr>
              <a:cxnSpLocks/>
            </p:cNvCxnSpPr>
            <p:nvPr/>
          </p:nvCxnSpPr>
          <p:spPr>
            <a:xfrm>
              <a:off x="4548625" y="2286976"/>
              <a:ext cx="59692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53A8BFCB-B542-F2B2-1907-E5D3484F8B7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869410" y="2534817"/>
              <a:ext cx="51158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E0B9553A-BA6C-36C9-6238-81CCAD762741}"/>
                </a:ext>
              </a:extLst>
            </p:cNvPr>
            <p:cNvCxnSpPr>
              <a:cxnSpLocks/>
            </p:cNvCxnSpPr>
            <p:nvPr/>
          </p:nvCxnSpPr>
          <p:spPr>
            <a:xfrm>
              <a:off x="5106690" y="2780494"/>
              <a:ext cx="59692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953B269-0CF7-C6C5-DA73-CAF05F87C9A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428650" y="2523699"/>
              <a:ext cx="51158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12962F3B-7700-596F-7B83-B95166121166}"/>
                </a:ext>
              </a:extLst>
            </p:cNvPr>
            <p:cNvCxnSpPr>
              <a:cxnSpLocks/>
            </p:cNvCxnSpPr>
            <p:nvPr/>
          </p:nvCxnSpPr>
          <p:spPr>
            <a:xfrm>
              <a:off x="5668115" y="2285973"/>
              <a:ext cx="59692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B551E8A4-4845-3761-9E99-7ABC086DA3D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990093" y="2534817"/>
              <a:ext cx="51158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4F67E177-2976-1A99-1D38-8FCCCA2B22D5}"/>
                </a:ext>
              </a:extLst>
            </p:cNvPr>
            <p:cNvCxnSpPr>
              <a:cxnSpLocks/>
            </p:cNvCxnSpPr>
            <p:nvPr/>
          </p:nvCxnSpPr>
          <p:spPr>
            <a:xfrm>
              <a:off x="6228020" y="2781910"/>
              <a:ext cx="59692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60C014C5-CCDC-37A0-E13D-1E401AF86A7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550274" y="2526119"/>
              <a:ext cx="51158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7DF9E333-D6F9-4CC2-ECCC-98EB012413CD}"/>
                </a:ext>
              </a:extLst>
            </p:cNvPr>
            <p:cNvCxnSpPr>
              <a:cxnSpLocks/>
            </p:cNvCxnSpPr>
            <p:nvPr/>
          </p:nvCxnSpPr>
          <p:spPr>
            <a:xfrm>
              <a:off x="6788529" y="2288393"/>
              <a:ext cx="59692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321E0D58-A02C-EF16-9CDA-82C52907025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111155" y="2536233"/>
              <a:ext cx="51158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885AD204-A714-E4C3-C6EB-2C49243B49D3}"/>
                </a:ext>
              </a:extLst>
            </p:cNvPr>
            <p:cNvCxnSpPr>
              <a:cxnSpLocks/>
            </p:cNvCxnSpPr>
            <p:nvPr/>
          </p:nvCxnSpPr>
          <p:spPr>
            <a:xfrm>
              <a:off x="7348434" y="2781910"/>
              <a:ext cx="59692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453B2B0-0849-2C2F-363A-8D081E593C2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669883" y="2525115"/>
              <a:ext cx="51158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D07C7F9A-ECBB-EBB9-B29F-1C8E215FF6A1}"/>
                </a:ext>
              </a:extLst>
            </p:cNvPr>
            <p:cNvCxnSpPr>
              <a:cxnSpLocks/>
            </p:cNvCxnSpPr>
            <p:nvPr/>
          </p:nvCxnSpPr>
          <p:spPr>
            <a:xfrm>
              <a:off x="7909348" y="2287389"/>
              <a:ext cx="59692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F2529FDB-BFAC-210C-9E81-AADEC463F1B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231325" y="2536233"/>
              <a:ext cx="51158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36C4AA20-9E41-37AA-3BAA-EDBEE7B10C13}"/>
                </a:ext>
              </a:extLst>
            </p:cNvPr>
            <p:cNvCxnSpPr>
              <a:cxnSpLocks/>
            </p:cNvCxnSpPr>
            <p:nvPr/>
          </p:nvCxnSpPr>
          <p:spPr>
            <a:xfrm>
              <a:off x="8468927" y="2780906"/>
              <a:ext cx="59692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6BE75659-537C-3DE8-E311-B8F37AE1EF9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791063" y="2525115"/>
              <a:ext cx="51158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A5C472E3-1576-42E0-B6FC-F57C267AEB95}"/>
                </a:ext>
              </a:extLst>
            </p:cNvPr>
            <p:cNvCxnSpPr>
              <a:cxnSpLocks/>
            </p:cNvCxnSpPr>
            <p:nvPr/>
          </p:nvCxnSpPr>
          <p:spPr>
            <a:xfrm>
              <a:off x="9030528" y="2287389"/>
              <a:ext cx="59692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3A62E627-FE79-587F-0704-6977D83C073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351313" y="2535230"/>
              <a:ext cx="51158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CC670F01-4900-5C0B-14B8-F844B11F0BC7}"/>
                </a:ext>
              </a:extLst>
            </p:cNvPr>
            <p:cNvCxnSpPr>
              <a:cxnSpLocks/>
            </p:cNvCxnSpPr>
            <p:nvPr/>
          </p:nvCxnSpPr>
          <p:spPr>
            <a:xfrm>
              <a:off x="9589381" y="2780906"/>
              <a:ext cx="59692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CF2BF1D3-FEAB-A1E2-B582-9E1C5BDB48E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910532" y="2524111"/>
              <a:ext cx="51158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FE5B5101-EF32-6A97-8D05-E372114C3BA7}"/>
                </a:ext>
              </a:extLst>
            </p:cNvPr>
            <p:cNvCxnSpPr>
              <a:cxnSpLocks/>
            </p:cNvCxnSpPr>
            <p:nvPr/>
          </p:nvCxnSpPr>
          <p:spPr>
            <a:xfrm>
              <a:off x="10149997" y="2286385"/>
              <a:ext cx="59692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8E24CFEB-6839-7257-39F4-B9C3052DF36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471524" y="2535230"/>
              <a:ext cx="51158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FF35BBAD-4122-0199-B1EE-2D38B524B06E}"/>
                </a:ext>
              </a:extLst>
            </p:cNvPr>
            <p:cNvCxnSpPr>
              <a:cxnSpLocks/>
            </p:cNvCxnSpPr>
            <p:nvPr/>
          </p:nvCxnSpPr>
          <p:spPr>
            <a:xfrm>
              <a:off x="10710571" y="2779902"/>
              <a:ext cx="39408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E589DF54-E286-EAB7-7A59-F72CEC0857DC}"/>
                </a:ext>
              </a:extLst>
            </p:cNvPr>
            <p:cNvSpPr txBox="1"/>
            <p:nvPr/>
          </p:nvSpPr>
          <p:spPr>
            <a:xfrm>
              <a:off x="9130494" y="2337118"/>
              <a:ext cx="388938" cy="4423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24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544AEEF0-1D38-66DA-95C2-8A3924C0682C}"/>
                </a:ext>
              </a:extLst>
            </p:cNvPr>
            <p:cNvSpPr txBox="1"/>
            <p:nvPr/>
          </p:nvSpPr>
          <p:spPr>
            <a:xfrm>
              <a:off x="10249962" y="2337118"/>
              <a:ext cx="388938" cy="4423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endParaRPr lang="zh-CN" altLang="en-US" sz="2400" dirty="0"/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5A98AC75-1E48-F92B-74F0-85895746C5FB}"/>
                </a:ext>
              </a:extLst>
            </p:cNvPr>
            <p:cNvSpPr txBox="1"/>
            <p:nvPr/>
          </p:nvSpPr>
          <p:spPr>
            <a:xfrm>
              <a:off x="1316481" y="2593353"/>
              <a:ext cx="38893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000" dirty="0"/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A3CDD159-1C74-99B0-FE7A-7F201387DE20}"/>
                </a:ext>
              </a:extLst>
            </p:cNvPr>
            <p:cNvSpPr txBox="1"/>
            <p:nvPr/>
          </p:nvSpPr>
          <p:spPr>
            <a:xfrm>
              <a:off x="1316481" y="2172112"/>
              <a:ext cx="38893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000" dirty="0"/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6CB22BB9-B6D6-03D4-8611-B5B04680D991}"/>
                </a:ext>
              </a:extLst>
            </p:cNvPr>
            <p:cNvSpPr txBox="1"/>
            <p:nvPr/>
          </p:nvSpPr>
          <p:spPr>
            <a:xfrm>
              <a:off x="751609" y="2372780"/>
              <a:ext cx="67739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CP</a:t>
              </a:r>
              <a:endParaRPr lang="zh-CN" altLang="en-US" sz="2000" dirty="0"/>
            </a:p>
          </p:txBody>
        </p: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A758E29E-21BB-0E38-DB26-970923DDAFAE}"/>
                </a:ext>
              </a:extLst>
            </p:cNvPr>
            <p:cNvCxnSpPr>
              <a:cxnSpLocks/>
            </p:cNvCxnSpPr>
            <p:nvPr/>
          </p:nvCxnSpPr>
          <p:spPr>
            <a:xfrm>
              <a:off x="1746780" y="3837347"/>
              <a:ext cx="2277335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69F3C60C-3AAF-ACBE-E308-0C1C19455946}"/>
                </a:ext>
              </a:extLst>
            </p:cNvPr>
            <p:cNvSpPr txBox="1"/>
            <p:nvPr/>
          </p:nvSpPr>
          <p:spPr>
            <a:xfrm>
              <a:off x="2410531" y="2379888"/>
              <a:ext cx="388938" cy="4423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400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DB54191E-19BF-33DA-FE0C-F4B3B32F72F4}"/>
                </a:ext>
              </a:extLst>
            </p:cNvPr>
            <p:cNvSpPr txBox="1"/>
            <p:nvPr/>
          </p:nvSpPr>
          <p:spPr>
            <a:xfrm>
              <a:off x="3530630" y="2372167"/>
              <a:ext cx="388938" cy="4423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89BBD561-E6B9-6A96-5AA5-BB56A460572A}"/>
                </a:ext>
              </a:extLst>
            </p:cNvPr>
            <p:cNvSpPr txBox="1"/>
            <p:nvPr/>
          </p:nvSpPr>
          <p:spPr>
            <a:xfrm>
              <a:off x="4650729" y="2338534"/>
              <a:ext cx="388938" cy="4423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400" dirty="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EB2C9B15-6890-AD3F-8D6A-DBC0C13FDC24}"/>
                </a:ext>
              </a:extLst>
            </p:cNvPr>
            <p:cNvSpPr txBox="1"/>
            <p:nvPr/>
          </p:nvSpPr>
          <p:spPr>
            <a:xfrm>
              <a:off x="5770828" y="2330518"/>
              <a:ext cx="388938" cy="4423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4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357FDB04-6F20-DEDB-CC75-18CC12942577}"/>
                </a:ext>
              </a:extLst>
            </p:cNvPr>
            <p:cNvSpPr txBox="1"/>
            <p:nvPr/>
          </p:nvSpPr>
          <p:spPr>
            <a:xfrm>
              <a:off x="6890927" y="2337118"/>
              <a:ext cx="388938" cy="4423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400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ACEA5856-41B5-A173-036C-CECD26C6BF70}"/>
                </a:ext>
              </a:extLst>
            </p:cNvPr>
            <p:cNvSpPr txBox="1"/>
            <p:nvPr/>
          </p:nvSpPr>
          <p:spPr>
            <a:xfrm>
              <a:off x="8011026" y="2330518"/>
              <a:ext cx="388938" cy="4423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400" dirty="0"/>
            </a:p>
          </p:txBody>
        </p: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96850676-AAD8-C7CD-6C23-9100115E6BF8}"/>
                </a:ext>
              </a:extLst>
            </p:cNvPr>
            <p:cNvCxnSpPr>
              <a:cxnSpLocks/>
            </p:cNvCxnSpPr>
            <p:nvPr/>
          </p:nvCxnSpPr>
          <p:spPr>
            <a:xfrm>
              <a:off x="2884952" y="2801568"/>
              <a:ext cx="0" cy="103578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DD5769D5-E63F-B19E-0994-AFEF82B3E5EC}"/>
                </a:ext>
              </a:extLst>
            </p:cNvPr>
            <p:cNvCxnSpPr>
              <a:cxnSpLocks/>
            </p:cNvCxnSpPr>
            <p:nvPr/>
          </p:nvCxnSpPr>
          <p:spPr>
            <a:xfrm>
              <a:off x="4007353" y="2800156"/>
              <a:ext cx="0" cy="103578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2356DCBE-6309-AA7F-53DE-501AF4FB6756}"/>
                </a:ext>
              </a:extLst>
            </p:cNvPr>
            <p:cNvCxnSpPr>
              <a:cxnSpLocks/>
            </p:cNvCxnSpPr>
            <p:nvPr/>
          </p:nvCxnSpPr>
          <p:spPr>
            <a:xfrm>
              <a:off x="5125201" y="2800156"/>
              <a:ext cx="0" cy="103578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850848FB-7545-BDE6-B293-B7A79B3AA8D3}"/>
                </a:ext>
              </a:extLst>
            </p:cNvPr>
            <p:cNvCxnSpPr>
              <a:cxnSpLocks/>
            </p:cNvCxnSpPr>
            <p:nvPr/>
          </p:nvCxnSpPr>
          <p:spPr>
            <a:xfrm>
              <a:off x="6245884" y="2801568"/>
              <a:ext cx="0" cy="103578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CD8010DD-BCC7-247F-2C37-47B1DE2A77BF}"/>
                </a:ext>
              </a:extLst>
            </p:cNvPr>
            <p:cNvCxnSpPr>
              <a:cxnSpLocks/>
            </p:cNvCxnSpPr>
            <p:nvPr/>
          </p:nvCxnSpPr>
          <p:spPr>
            <a:xfrm>
              <a:off x="7366946" y="2801568"/>
              <a:ext cx="0" cy="103578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7203977C-49FF-8235-9FDE-694839C6B296}"/>
                </a:ext>
              </a:extLst>
            </p:cNvPr>
            <p:cNvCxnSpPr>
              <a:cxnSpLocks/>
            </p:cNvCxnSpPr>
            <p:nvPr/>
          </p:nvCxnSpPr>
          <p:spPr>
            <a:xfrm>
              <a:off x="8489347" y="2801568"/>
              <a:ext cx="0" cy="103578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4196FE52-25E5-840D-8D24-611E725FB0BB}"/>
                </a:ext>
              </a:extLst>
            </p:cNvPr>
            <p:cNvCxnSpPr>
              <a:cxnSpLocks/>
            </p:cNvCxnSpPr>
            <p:nvPr/>
          </p:nvCxnSpPr>
          <p:spPr>
            <a:xfrm>
              <a:off x="9607195" y="2801568"/>
              <a:ext cx="0" cy="103578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AB9FC726-B681-F8A4-4386-E7A56C928E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27878" y="2800156"/>
              <a:ext cx="0" cy="103578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FEB225E9-652E-6CC0-8BB8-51877E1FFDB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49427" y="3584120"/>
              <a:ext cx="51158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AE1F5DF2-624C-D6FB-7718-13CCCE634208}"/>
                </a:ext>
              </a:extLst>
            </p:cNvPr>
            <p:cNvCxnSpPr>
              <a:cxnSpLocks/>
            </p:cNvCxnSpPr>
            <p:nvPr/>
          </p:nvCxnSpPr>
          <p:spPr>
            <a:xfrm>
              <a:off x="3987721" y="3345315"/>
              <a:ext cx="1137480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C45A3C92-E129-1165-D40B-A39E7237457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869410" y="3583190"/>
              <a:ext cx="51158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2B816B07-EFD4-AA53-D308-69CA2913526C}"/>
                </a:ext>
              </a:extLst>
            </p:cNvPr>
            <p:cNvCxnSpPr>
              <a:cxnSpLocks/>
            </p:cNvCxnSpPr>
            <p:nvPr/>
          </p:nvCxnSpPr>
          <p:spPr>
            <a:xfrm>
              <a:off x="5106690" y="3837347"/>
              <a:ext cx="1158354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7A5A2D01-1A4B-A2D7-AB05-CEEE8C39100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988379" y="3583190"/>
              <a:ext cx="51158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7F58C979-4436-820B-FD28-918924A4AB11}"/>
                </a:ext>
              </a:extLst>
            </p:cNvPr>
            <p:cNvCxnSpPr>
              <a:cxnSpLocks/>
            </p:cNvCxnSpPr>
            <p:nvPr/>
          </p:nvCxnSpPr>
          <p:spPr>
            <a:xfrm>
              <a:off x="6228942" y="3345315"/>
              <a:ext cx="2277335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81062DD7-0E57-939C-31AA-6EEC67FD3E4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231325" y="3601106"/>
              <a:ext cx="51158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AB4BE8B7-E62F-E7EE-8702-36D4D0DEF5DF}"/>
                </a:ext>
              </a:extLst>
            </p:cNvPr>
            <p:cNvCxnSpPr>
              <a:cxnSpLocks/>
            </p:cNvCxnSpPr>
            <p:nvPr/>
          </p:nvCxnSpPr>
          <p:spPr>
            <a:xfrm>
              <a:off x="8469591" y="3837347"/>
              <a:ext cx="2277335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B14C0619-6735-91B2-751E-20A380927CE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472529" y="3583190"/>
              <a:ext cx="51158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EE7245E3-662C-C6AE-EABF-F8E36E683ACD}"/>
                </a:ext>
              </a:extLst>
            </p:cNvPr>
            <p:cNvSpPr txBox="1"/>
            <p:nvPr/>
          </p:nvSpPr>
          <p:spPr>
            <a:xfrm>
              <a:off x="1313950" y="3651085"/>
              <a:ext cx="38893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0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D9C08CBA-6EF9-0422-CEEE-3484CF17196A}"/>
                </a:ext>
              </a:extLst>
            </p:cNvPr>
            <p:cNvSpPr txBox="1"/>
            <p:nvPr/>
          </p:nvSpPr>
          <p:spPr>
            <a:xfrm>
              <a:off x="1313950" y="3229844"/>
              <a:ext cx="38893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000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7BA5FA7B-6B1A-80D7-D621-C4080BF7EB4F}"/>
                </a:ext>
              </a:extLst>
            </p:cNvPr>
            <p:cNvSpPr txBox="1"/>
            <p:nvPr/>
          </p:nvSpPr>
          <p:spPr>
            <a:xfrm>
              <a:off x="1936545" y="3429899"/>
              <a:ext cx="81432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MSB</a:t>
              </a:r>
              <a:endParaRPr lang="zh-CN" altLang="en-US" sz="2000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125BAC79-02AE-4C4A-2EE3-0ACB2F79ABF4}"/>
                </a:ext>
              </a:extLst>
            </p:cNvPr>
            <p:cNvSpPr txBox="1"/>
            <p:nvPr/>
          </p:nvSpPr>
          <p:spPr>
            <a:xfrm>
              <a:off x="9779146" y="3425706"/>
              <a:ext cx="81432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LSB</a:t>
              </a:r>
              <a:endParaRPr lang="zh-CN" altLang="en-US" sz="2000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852DD994-9EE0-27A5-4A01-D0831C945DE3}"/>
                </a:ext>
              </a:extLst>
            </p:cNvPr>
            <p:cNvSpPr txBox="1"/>
            <p:nvPr/>
          </p:nvSpPr>
          <p:spPr>
            <a:xfrm>
              <a:off x="4930586" y="3948150"/>
              <a:ext cx="179968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图题 </a:t>
              </a:r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1.2.1</a:t>
              </a:r>
              <a:endParaRPr lang="zh-CN" altLang="en-US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3EBB0067-07EC-4546-2101-105E9878BC64}"/>
                </a:ext>
              </a:extLst>
            </p:cNvPr>
            <p:cNvSpPr txBox="1"/>
            <p:nvPr/>
          </p:nvSpPr>
          <p:spPr>
            <a:xfrm>
              <a:off x="2632693" y="4235861"/>
              <a:ext cx="69898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(MSB/LSB</a:t>
              </a:r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Most Significant</a:t>
              </a:r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Bit / Least</a:t>
              </a:r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Significant</a:t>
              </a:r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Bit )</a:t>
              </a:r>
              <a:endParaRPr lang="zh-CN" altLang="en-US" dirty="0"/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46F5BC96-9F7C-9092-3F1B-D92B71618A4F}"/>
                </a:ext>
              </a:extLst>
            </p:cNvPr>
            <p:cNvCxnSpPr>
              <a:cxnSpLocks/>
            </p:cNvCxnSpPr>
            <p:nvPr/>
          </p:nvCxnSpPr>
          <p:spPr>
            <a:xfrm>
              <a:off x="10710571" y="3345315"/>
              <a:ext cx="394082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标题 1">
            <a:extLst>
              <a:ext uri="{FF2B5EF4-FFF2-40B4-BE49-F238E27FC236}">
                <a16:creationId xmlns:a16="http://schemas.microsoft.com/office/drawing/2014/main" id="{F08121DB-7D76-4F40-A96A-82F8B8845BA7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数制</a:t>
            </a:r>
            <a:r>
              <a:rPr lang="en-US" altLang="zh-CN" sz="3000" dirty="0" err="1"/>
              <a:t>及其</a:t>
            </a:r>
            <a:r>
              <a:rPr lang="zh-CN" altLang="en-US" sz="3000" dirty="0"/>
              <a:t>转换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二进制数的传送方式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197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FF058FE-8216-44F8-4B0D-D763184C2495}"/>
              </a:ext>
            </a:extLst>
          </p:cNvPr>
          <p:cNvSpPr txBox="1"/>
          <p:nvPr/>
        </p:nvSpPr>
        <p:spPr>
          <a:xfrm>
            <a:off x="360000" y="828000"/>
            <a:ext cx="4459496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任意进制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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十进制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按位权展开求和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90CB64D-A3F1-DE1D-1A00-BCFA644CD5BC}"/>
                  </a:ext>
                </a:extLst>
              </p:cNvPr>
              <p:cNvSpPr txBox="1"/>
              <p:nvPr/>
            </p:nvSpPr>
            <p:spPr>
              <a:xfrm>
                <a:off x="7200000" y="828000"/>
                <a:ext cx="2969385" cy="1183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6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26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  <m:r>
                            <a:rPr lang="en-US" altLang="zh-CN" sz="2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6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R</m:t>
                          </m:r>
                        </m:sub>
                      </m:sSub>
                      <m:r>
                        <a:rPr lang="en-US" altLang="zh-CN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=−</m:t>
                          </m:r>
                          <m: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60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altLang="zh-CN" sz="2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en-US" altLang="zh-CN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90CB64D-A3F1-DE1D-1A00-BCFA644CD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0" y="828000"/>
                <a:ext cx="2969385" cy="11832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56AB876E-B2DF-8B83-08E0-D318D18C93A3}"/>
              </a:ext>
            </a:extLst>
          </p:cNvPr>
          <p:cNvSpPr txBox="1"/>
          <p:nvPr/>
        </p:nvSpPr>
        <p:spPr>
          <a:xfrm>
            <a:off x="360000" y="1908000"/>
            <a:ext cx="715332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 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任意进制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整数部分：辗转除基取余，先得较低有效位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小数部分：辗转乘基取整，先得较高有效位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E205D2A-288B-7159-9E7F-4D62ED0C1D21}"/>
                  </a:ext>
                </a:extLst>
              </p:cNvPr>
              <p:cNvSpPr txBox="1"/>
              <p:nvPr/>
            </p:nvSpPr>
            <p:spPr>
              <a:xfrm>
                <a:off x="360000" y="3600000"/>
                <a:ext cx="922384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(13.</m:t>
                        </m:r>
                        <m:r>
                          <a:rPr lang="en-US" altLang="zh-CN" sz="240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7</m:t>
                        </m:r>
                        <m:r>
                          <a:rPr lang="en-US" altLang="zh-C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9</m:t>
                        </m:r>
                        <m:r>
                          <a:rPr lang="en-US" altLang="zh-CN" sz="24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转为二进制数，误差不大于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4</m:t>
                        </m:r>
                      </m:sup>
                    </m:sSup>
                  </m:oMath>
                </a14:m>
                <a:endParaRPr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E205D2A-288B-7159-9E7F-4D62ED0C1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600000"/>
                <a:ext cx="9223842" cy="461665"/>
              </a:xfrm>
              <a:prstGeom prst="rect">
                <a:avLst/>
              </a:prstGeom>
              <a:blipFill>
                <a:blip r:embed="rId4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B88C9299-8481-AD8B-BAE6-E3C091D2D4DC}"/>
              </a:ext>
            </a:extLst>
          </p:cNvPr>
          <p:cNvSpPr txBox="1"/>
          <p:nvPr/>
        </p:nvSpPr>
        <p:spPr>
          <a:xfrm>
            <a:off x="3997497" y="4039265"/>
            <a:ext cx="8418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/2</a:t>
            </a:r>
            <a:endParaRPr lang="zh-CN" altLang="en-US" sz="20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B8F0131-3705-83B1-7898-AEA491823063}"/>
              </a:ext>
            </a:extLst>
          </p:cNvPr>
          <p:cNvCxnSpPr>
            <a:cxnSpLocks/>
          </p:cNvCxnSpPr>
          <p:nvPr/>
        </p:nvCxnSpPr>
        <p:spPr>
          <a:xfrm>
            <a:off x="3765379" y="4504149"/>
            <a:ext cx="238735" cy="361356"/>
          </a:xfrm>
          <a:prstGeom prst="straightConnector1">
            <a:avLst/>
          </a:prstGeom>
          <a:ln w="25400">
            <a:solidFill>
              <a:schemeClr val="accent5">
                <a:lumMod val="75000"/>
              </a:schemeClr>
            </a:solidFill>
            <a:headEnd type="arrow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CE70228B-6307-F7C2-52C0-E8E86EB0F4B3}"/>
              </a:ext>
            </a:extLst>
          </p:cNvPr>
          <p:cNvSpPr txBox="1"/>
          <p:nvPr/>
        </p:nvSpPr>
        <p:spPr>
          <a:xfrm>
            <a:off x="3046350" y="4039264"/>
            <a:ext cx="6854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/2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90D16518-0593-BE68-092C-AB6D58694A48}"/>
              </a:ext>
            </a:extLst>
          </p:cNvPr>
          <p:cNvSpPr txBox="1"/>
          <p:nvPr/>
        </p:nvSpPr>
        <p:spPr>
          <a:xfrm>
            <a:off x="2061071" y="4033665"/>
            <a:ext cx="6854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/2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72FF5114-27D6-33BA-40A9-BE51E3B5AA68}"/>
              </a:ext>
            </a:extLst>
          </p:cNvPr>
          <p:cNvSpPr txBox="1"/>
          <p:nvPr/>
        </p:nvSpPr>
        <p:spPr>
          <a:xfrm>
            <a:off x="1072014" y="4033665"/>
            <a:ext cx="6854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/2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9A4179EC-7124-B882-0A82-8CDC0A0768DC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3389071" y="4500929"/>
            <a:ext cx="0" cy="367796"/>
          </a:xfrm>
          <a:prstGeom prst="straightConnector1">
            <a:avLst/>
          </a:prstGeom>
          <a:ln w="25400">
            <a:solidFill>
              <a:schemeClr val="accent5">
                <a:lumMod val="75000"/>
              </a:schemeClr>
            </a:solidFill>
            <a:headEnd type="arrow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2E5464DD-0CCB-E2D8-A609-409688C12170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4418436" y="4500930"/>
            <a:ext cx="0" cy="367795"/>
          </a:xfrm>
          <a:prstGeom prst="straightConnector1">
            <a:avLst/>
          </a:prstGeom>
          <a:ln w="25400">
            <a:solidFill>
              <a:schemeClr val="accent5">
                <a:lumMod val="75000"/>
              </a:schemeClr>
            </a:solidFill>
            <a:headEnd type="arrow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4E0AE43D-5267-F69E-5553-F0216B195A18}"/>
              </a:ext>
            </a:extLst>
          </p:cNvPr>
          <p:cNvSpPr txBox="1"/>
          <p:nvPr/>
        </p:nvSpPr>
        <p:spPr>
          <a:xfrm>
            <a:off x="3907592" y="4868723"/>
            <a:ext cx="10216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余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5B655F61-B809-2AAA-9D78-0C79DA4C5E63}"/>
                  </a:ext>
                </a:extLst>
              </p:cNvPr>
              <p:cNvSpPr txBox="1"/>
              <p:nvPr/>
            </p:nvSpPr>
            <p:spPr>
              <a:xfrm>
                <a:off x="927274" y="5328776"/>
                <a:ext cx="993946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</m:sub>
                      </m:sSub>
                      <m:r>
                        <a:rPr lang="en-US" altLang="zh-CN" sz="2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2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1</m:t>
                      </m:r>
                    </m:oMath>
                  </m:oMathPara>
                </a14:m>
                <a:endParaRPr lang="zh-CN" altLang="en-US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5B655F61-B809-2AAA-9D78-0C79DA4C5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74" y="5328776"/>
                <a:ext cx="993946" cy="430887"/>
              </a:xfrm>
              <a:prstGeom prst="rect">
                <a:avLst/>
              </a:prstGeom>
              <a:blipFill>
                <a:blip r:embed="rId5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C0D24874-CE75-409A-E292-34E2FE9DA428}"/>
                  </a:ext>
                </a:extLst>
              </p:cNvPr>
              <p:cNvSpPr txBox="1"/>
              <p:nvPr/>
            </p:nvSpPr>
            <p:spPr>
              <a:xfrm>
                <a:off x="5686056" y="4033665"/>
                <a:ext cx="113952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0.79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C0D24874-CE75-409A-E292-34E2FE9DA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056" y="4033665"/>
                <a:ext cx="1139521" cy="461665"/>
              </a:xfrm>
              <a:prstGeom prst="rect">
                <a:avLst/>
              </a:prstGeom>
              <a:blipFill>
                <a:blip r:embed="rId6"/>
                <a:stretch>
                  <a:fillRect l="-8021" t="-10667" r="-4278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9FFDFF98-97C0-DC4D-1328-EFF3010DD19D}"/>
              </a:ext>
            </a:extLst>
          </p:cNvPr>
          <p:cNvCxnSpPr>
            <a:cxnSpLocks/>
          </p:cNvCxnSpPr>
          <p:nvPr/>
        </p:nvCxnSpPr>
        <p:spPr>
          <a:xfrm>
            <a:off x="2726756" y="4504149"/>
            <a:ext cx="238735" cy="361356"/>
          </a:xfrm>
          <a:prstGeom prst="straightConnector1">
            <a:avLst/>
          </a:prstGeom>
          <a:ln w="25400">
            <a:solidFill>
              <a:schemeClr val="accent5">
                <a:lumMod val="75000"/>
              </a:schemeClr>
            </a:solidFill>
            <a:headEnd type="arrow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4EA5C5CC-9FE6-31D4-A079-07AB45DCCEEE}"/>
              </a:ext>
            </a:extLst>
          </p:cNvPr>
          <p:cNvSpPr txBox="1"/>
          <p:nvPr/>
        </p:nvSpPr>
        <p:spPr>
          <a:xfrm>
            <a:off x="2872185" y="4871941"/>
            <a:ext cx="10216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余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0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1700284C-FA45-C46D-9A64-29D619B41AF8}"/>
              </a:ext>
            </a:extLst>
          </p:cNvPr>
          <p:cNvSpPr txBox="1"/>
          <p:nvPr/>
        </p:nvSpPr>
        <p:spPr>
          <a:xfrm>
            <a:off x="1890871" y="4872078"/>
            <a:ext cx="10216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余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6A4EED0A-A84F-D858-B903-37B187E4CB07}"/>
              </a:ext>
            </a:extLst>
          </p:cNvPr>
          <p:cNvCxnSpPr>
            <a:cxnSpLocks/>
            <a:stCxn id="119" idx="0"/>
            <a:endCxn id="67" idx="2"/>
          </p:cNvCxnSpPr>
          <p:nvPr/>
        </p:nvCxnSpPr>
        <p:spPr>
          <a:xfrm flipV="1">
            <a:off x="2401713" y="4495330"/>
            <a:ext cx="2079" cy="376748"/>
          </a:xfrm>
          <a:prstGeom prst="straightConnector1">
            <a:avLst/>
          </a:prstGeom>
          <a:ln w="25400">
            <a:solidFill>
              <a:schemeClr val="accent5">
                <a:lumMod val="75000"/>
              </a:schemeClr>
            </a:solidFill>
            <a:headEnd type="arrow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文本框 122">
            <a:extLst>
              <a:ext uri="{FF2B5EF4-FFF2-40B4-BE49-F238E27FC236}">
                <a16:creationId xmlns:a16="http://schemas.microsoft.com/office/drawing/2014/main" id="{8464BF90-B981-1D97-C0BF-98B7F4E4067E}"/>
              </a:ext>
            </a:extLst>
          </p:cNvPr>
          <p:cNvSpPr txBox="1"/>
          <p:nvPr/>
        </p:nvSpPr>
        <p:spPr>
          <a:xfrm>
            <a:off x="907524" y="4867111"/>
            <a:ext cx="10216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余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DBA418BF-B2FE-0B80-E92B-7C39090F4EAB}"/>
              </a:ext>
            </a:extLst>
          </p:cNvPr>
          <p:cNvCxnSpPr>
            <a:cxnSpLocks/>
          </p:cNvCxnSpPr>
          <p:nvPr/>
        </p:nvCxnSpPr>
        <p:spPr>
          <a:xfrm>
            <a:off x="1739398" y="4495133"/>
            <a:ext cx="238735" cy="361356"/>
          </a:xfrm>
          <a:prstGeom prst="straightConnector1">
            <a:avLst/>
          </a:prstGeom>
          <a:ln w="25400">
            <a:solidFill>
              <a:schemeClr val="accent5">
                <a:lumMod val="75000"/>
              </a:schemeClr>
            </a:solidFill>
            <a:headEnd type="arrow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D3879CF3-4D22-7E29-9A4A-309B9A559A96}"/>
              </a:ext>
            </a:extLst>
          </p:cNvPr>
          <p:cNvCxnSpPr>
            <a:cxnSpLocks/>
            <a:stCxn id="123" idx="0"/>
            <a:endCxn id="71" idx="2"/>
          </p:cNvCxnSpPr>
          <p:nvPr/>
        </p:nvCxnSpPr>
        <p:spPr>
          <a:xfrm flipH="1" flipV="1">
            <a:off x="1414735" y="4495330"/>
            <a:ext cx="3631" cy="371781"/>
          </a:xfrm>
          <a:prstGeom prst="straightConnector1">
            <a:avLst/>
          </a:prstGeom>
          <a:ln w="25400">
            <a:solidFill>
              <a:schemeClr val="accent5">
                <a:lumMod val="75000"/>
              </a:schemeClr>
            </a:solidFill>
            <a:headEnd type="arrow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4D6CDC43-25C0-0AF2-AFB3-280E5CFA7CA1}"/>
                  </a:ext>
                </a:extLst>
              </p:cNvPr>
              <p:cNvSpPr txBox="1"/>
              <p:nvPr/>
            </p:nvSpPr>
            <p:spPr>
              <a:xfrm>
                <a:off x="1899730" y="5335212"/>
                <a:ext cx="993946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2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1</m:t>
                      </m:r>
                    </m:oMath>
                  </m:oMathPara>
                </a14:m>
                <a:endParaRPr lang="zh-CN" altLang="en-US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4D6CDC43-25C0-0AF2-AFB3-280E5CFA7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9730" y="5335212"/>
                <a:ext cx="993946" cy="430887"/>
              </a:xfrm>
              <a:prstGeom prst="rect">
                <a:avLst/>
              </a:prstGeom>
              <a:blipFill>
                <a:blip r:embed="rId7"/>
                <a:stretch>
                  <a:fillRect l="-613" b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165DA312-54F3-257B-A630-F7592E1025E7}"/>
                  </a:ext>
                </a:extLst>
              </p:cNvPr>
              <p:cNvSpPr txBox="1"/>
              <p:nvPr/>
            </p:nvSpPr>
            <p:spPr>
              <a:xfrm>
                <a:off x="2913646" y="5335212"/>
                <a:ext cx="993946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2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0</m:t>
                      </m:r>
                    </m:oMath>
                  </m:oMathPara>
                </a14:m>
                <a:endParaRPr lang="zh-CN" altLang="en-US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165DA312-54F3-257B-A630-F7592E102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646" y="5335212"/>
                <a:ext cx="993946" cy="430887"/>
              </a:xfrm>
              <a:prstGeom prst="rect">
                <a:avLst/>
              </a:prstGeom>
              <a:blipFill>
                <a:blip r:embed="rId8"/>
                <a:stretch>
                  <a:fillRect l="-613" b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571FFAC6-C6C1-B631-01B1-8BF07BFB6D13}"/>
                  </a:ext>
                </a:extLst>
              </p:cNvPr>
              <p:cNvSpPr txBox="1"/>
              <p:nvPr/>
            </p:nvSpPr>
            <p:spPr>
              <a:xfrm>
                <a:off x="3923629" y="5335212"/>
                <a:ext cx="993946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  <m:r>
                        <a:rPr lang="en-US" altLang="zh-CN" sz="2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2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1</m:t>
                      </m:r>
                    </m:oMath>
                  </m:oMathPara>
                </a14:m>
                <a:endParaRPr lang="zh-CN" altLang="en-US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571FFAC6-C6C1-B631-01B1-8BF07BFB6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629" y="5335212"/>
                <a:ext cx="993946" cy="430887"/>
              </a:xfrm>
              <a:prstGeom prst="rect">
                <a:avLst/>
              </a:prstGeom>
              <a:blipFill>
                <a:blip r:embed="rId9"/>
                <a:stretch>
                  <a:fillRect l="-613" b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25EB442C-A9DD-C0A9-0F79-E4CD6B3DF3EA}"/>
                  </a:ext>
                </a:extLst>
              </p:cNvPr>
              <p:cNvSpPr txBox="1"/>
              <p:nvPr/>
            </p:nvSpPr>
            <p:spPr>
              <a:xfrm>
                <a:off x="6983270" y="4032246"/>
                <a:ext cx="113952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0.58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25EB442C-A9DD-C0A9-0F79-E4CD6B3DF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3270" y="4032246"/>
                <a:ext cx="1139521" cy="461665"/>
              </a:xfrm>
              <a:prstGeom prst="rect">
                <a:avLst/>
              </a:prstGeom>
              <a:blipFill>
                <a:blip r:embed="rId10"/>
                <a:stretch>
                  <a:fillRect l="-8065" t="-10526" r="-4839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2B34CAAB-124B-04E9-F1CD-43D6652D9488}"/>
                  </a:ext>
                </a:extLst>
              </p:cNvPr>
              <p:cNvSpPr txBox="1"/>
              <p:nvPr/>
            </p:nvSpPr>
            <p:spPr>
              <a:xfrm>
                <a:off x="8311638" y="4033467"/>
                <a:ext cx="113952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0.16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2B34CAAB-124B-04E9-F1CD-43D6652D9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1638" y="4033467"/>
                <a:ext cx="1139521" cy="461665"/>
              </a:xfrm>
              <a:prstGeom prst="rect">
                <a:avLst/>
              </a:prstGeom>
              <a:blipFill>
                <a:blip r:embed="rId11"/>
                <a:stretch>
                  <a:fillRect l="-7487" t="-10667" r="-4813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49F35431-36C4-620B-6C61-85237A96A982}"/>
                  </a:ext>
                </a:extLst>
              </p:cNvPr>
              <p:cNvSpPr txBox="1"/>
              <p:nvPr/>
            </p:nvSpPr>
            <p:spPr>
              <a:xfrm>
                <a:off x="9624428" y="4031837"/>
                <a:ext cx="113952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0.32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endPara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49F35431-36C4-620B-6C61-85237A96A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4428" y="4031837"/>
                <a:ext cx="1139521" cy="461665"/>
              </a:xfrm>
              <a:prstGeom prst="rect">
                <a:avLst/>
              </a:prstGeom>
              <a:blipFill>
                <a:blip r:embed="rId12"/>
                <a:stretch>
                  <a:fillRect l="-8021" t="-10526" r="-4278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5A4FF7D8-CEFF-04DA-DC23-1FC966CBC3E1}"/>
              </a:ext>
            </a:extLst>
          </p:cNvPr>
          <p:cNvCxnSpPr>
            <a:cxnSpLocks/>
            <a:endCxn id="101" idx="2"/>
          </p:cNvCxnSpPr>
          <p:nvPr/>
        </p:nvCxnSpPr>
        <p:spPr>
          <a:xfrm flipV="1">
            <a:off x="6255816" y="4495330"/>
            <a:ext cx="1" cy="370175"/>
          </a:xfrm>
          <a:prstGeom prst="straightConnector1">
            <a:avLst/>
          </a:prstGeom>
          <a:ln w="25400">
            <a:solidFill>
              <a:schemeClr val="accent5">
                <a:lumMod val="75000"/>
              </a:schemeClr>
            </a:solidFill>
            <a:headEnd type="arrow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文本框 142">
            <a:extLst>
              <a:ext uri="{FF2B5EF4-FFF2-40B4-BE49-F238E27FC236}">
                <a16:creationId xmlns:a16="http://schemas.microsoft.com/office/drawing/2014/main" id="{D4198B91-6C93-E0CF-1160-38B0D6B88551}"/>
              </a:ext>
            </a:extLst>
          </p:cNvPr>
          <p:cNvSpPr txBox="1"/>
          <p:nvPr/>
        </p:nvSpPr>
        <p:spPr>
          <a:xfrm>
            <a:off x="5744974" y="4871941"/>
            <a:ext cx="10216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1.58</a:t>
            </a:r>
            <a:endParaRPr lang="zh-CN" altLang="en-US" sz="20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D09F34C0-7B43-C134-5EA5-5A9298917DF1}"/>
              </a:ext>
            </a:extLst>
          </p:cNvPr>
          <p:cNvSpPr txBox="1"/>
          <p:nvPr/>
        </p:nvSpPr>
        <p:spPr>
          <a:xfrm>
            <a:off x="7042188" y="4870719"/>
            <a:ext cx="10216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1.16</a:t>
            </a:r>
            <a:endParaRPr lang="zh-CN" altLang="en-US" sz="20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8D96CA5D-F98A-83AF-3C3F-E26CA7086B65}"/>
              </a:ext>
            </a:extLst>
          </p:cNvPr>
          <p:cNvCxnSpPr>
            <a:cxnSpLocks/>
          </p:cNvCxnSpPr>
          <p:nvPr/>
        </p:nvCxnSpPr>
        <p:spPr>
          <a:xfrm flipV="1">
            <a:off x="7568607" y="4493911"/>
            <a:ext cx="1" cy="376808"/>
          </a:xfrm>
          <a:prstGeom prst="straightConnector1">
            <a:avLst/>
          </a:prstGeom>
          <a:ln w="25400">
            <a:solidFill>
              <a:schemeClr val="accent5">
                <a:lumMod val="75000"/>
              </a:schemeClr>
            </a:solidFill>
            <a:headEnd type="arrow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文本框 147">
            <a:extLst>
              <a:ext uri="{FF2B5EF4-FFF2-40B4-BE49-F238E27FC236}">
                <a16:creationId xmlns:a16="http://schemas.microsoft.com/office/drawing/2014/main" id="{D6CB51F0-9A3A-9582-8526-53FA37E37508}"/>
              </a:ext>
            </a:extLst>
          </p:cNvPr>
          <p:cNvSpPr txBox="1"/>
          <p:nvPr/>
        </p:nvSpPr>
        <p:spPr>
          <a:xfrm>
            <a:off x="8370556" y="4871941"/>
            <a:ext cx="10216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0.32</a:t>
            </a:r>
            <a:endParaRPr lang="zh-CN" altLang="en-US" sz="20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4C477155-0A51-1B37-7161-9E59CA89E7E1}"/>
              </a:ext>
            </a:extLst>
          </p:cNvPr>
          <p:cNvCxnSpPr>
            <a:cxnSpLocks/>
            <a:stCxn id="148" idx="0"/>
            <a:endCxn id="135" idx="2"/>
          </p:cNvCxnSpPr>
          <p:nvPr/>
        </p:nvCxnSpPr>
        <p:spPr>
          <a:xfrm flipV="1">
            <a:off x="8881398" y="4495132"/>
            <a:ext cx="1" cy="376809"/>
          </a:xfrm>
          <a:prstGeom prst="straightConnector1">
            <a:avLst/>
          </a:prstGeom>
          <a:ln w="25400">
            <a:solidFill>
              <a:schemeClr val="accent5">
                <a:lumMod val="75000"/>
              </a:schemeClr>
            </a:solidFill>
            <a:headEnd type="arrow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28AF26A5-AD29-7CD4-9F3D-B761BD29F0A1}"/>
              </a:ext>
            </a:extLst>
          </p:cNvPr>
          <p:cNvSpPr txBox="1"/>
          <p:nvPr/>
        </p:nvSpPr>
        <p:spPr>
          <a:xfrm>
            <a:off x="9683346" y="4865505"/>
            <a:ext cx="10216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0.64</a:t>
            </a:r>
            <a:endParaRPr lang="zh-CN" altLang="en-US" sz="20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1A0BD414-9873-C13F-5EB4-8FB5FE41D318}"/>
              </a:ext>
            </a:extLst>
          </p:cNvPr>
          <p:cNvCxnSpPr>
            <a:cxnSpLocks/>
            <a:stCxn id="153" idx="0"/>
            <a:endCxn id="136" idx="2"/>
          </p:cNvCxnSpPr>
          <p:nvPr/>
        </p:nvCxnSpPr>
        <p:spPr>
          <a:xfrm flipV="1">
            <a:off x="10194188" y="4493502"/>
            <a:ext cx="1" cy="372003"/>
          </a:xfrm>
          <a:prstGeom prst="straightConnector1">
            <a:avLst/>
          </a:prstGeom>
          <a:ln w="25400">
            <a:solidFill>
              <a:schemeClr val="accent5">
                <a:lumMod val="75000"/>
              </a:schemeClr>
            </a:solidFill>
            <a:headEnd type="arrow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3E836AEC-F2F1-C025-1C0D-C98D81D23B6E}"/>
                  </a:ext>
                </a:extLst>
              </p:cNvPr>
              <p:cNvSpPr txBox="1"/>
              <p:nvPr/>
            </p:nvSpPr>
            <p:spPr>
              <a:xfrm>
                <a:off x="5686056" y="5335212"/>
                <a:ext cx="1139521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b>
                      </m:sSub>
                      <m:r>
                        <a:rPr lang="en-US" altLang="zh-CN" sz="2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2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1</m:t>
                      </m:r>
                    </m:oMath>
                  </m:oMathPara>
                </a14:m>
                <a:endParaRPr lang="zh-CN" altLang="en-US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3E836AEC-F2F1-C025-1C0D-C98D81D23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056" y="5335212"/>
                <a:ext cx="1139521" cy="430887"/>
              </a:xfrm>
              <a:prstGeom prst="rect">
                <a:avLst/>
              </a:prstGeom>
              <a:blipFill>
                <a:blip r:embed="rId13"/>
                <a:stretch>
                  <a:fillRect l="-535" b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930660D6-B127-8462-E6A5-7F255B947C88}"/>
                  </a:ext>
                </a:extLst>
              </p:cNvPr>
              <p:cNvSpPr txBox="1"/>
              <p:nvPr/>
            </p:nvSpPr>
            <p:spPr>
              <a:xfrm>
                <a:off x="6998846" y="5333989"/>
                <a:ext cx="1139521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−2</m:t>
                          </m:r>
                        </m:sub>
                      </m:sSub>
                      <m:r>
                        <a:rPr lang="en-US" altLang="zh-CN" sz="2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2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1</m:t>
                      </m:r>
                    </m:oMath>
                  </m:oMathPara>
                </a14:m>
                <a:endParaRPr lang="zh-CN" altLang="en-US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930660D6-B127-8462-E6A5-7F255B947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8846" y="5333989"/>
                <a:ext cx="1139521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ABDA2A2D-DAF0-3726-C1D1-1A7A787991B3}"/>
                  </a:ext>
                </a:extLst>
              </p:cNvPr>
              <p:cNvSpPr txBox="1"/>
              <p:nvPr/>
            </p:nvSpPr>
            <p:spPr>
              <a:xfrm>
                <a:off x="8311636" y="5335211"/>
                <a:ext cx="1139521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−3</m:t>
                          </m:r>
                        </m:sub>
                      </m:sSub>
                      <m:r>
                        <a:rPr lang="en-US" altLang="zh-CN" sz="2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2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0</m:t>
                      </m:r>
                    </m:oMath>
                  </m:oMathPara>
                </a14:m>
                <a:endParaRPr lang="zh-CN" altLang="en-US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ABDA2A2D-DAF0-3726-C1D1-1A7A78799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1636" y="5335211"/>
                <a:ext cx="1139521" cy="430887"/>
              </a:xfrm>
              <a:prstGeom prst="rect">
                <a:avLst/>
              </a:prstGeom>
              <a:blipFill>
                <a:blip r:embed="rId15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50B98890-FF7F-5132-BB62-DAF17F70B1A7}"/>
                  </a:ext>
                </a:extLst>
              </p:cNvPr>
              <p:cNvSpPr txBox="1"/>
              <p:nvPr/>
            </p:nvSpPr>
            <p:spPr>
              <a:xfrm>
                <a:off x="9624426" y="5335211"/>
                <a:ext cx="1139521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−4</m:t>
                          </m:r>
                        </m:sub>
                      </m:sSub>
                      <m:r>
                        <a:rPr lang="en-US" altLang="zh-CN" sz="2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2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0</m:t>
                      </m:r>
                    </m:oMath>
                  </m:oMathPara>
                </a14:m>
                <a:endParaRPr lang="zh-CN" altLang="en-US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50B98890-FF7F-5132-BB62-DAF17F70B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4426" y="5335211"/>
                <a:ext cx="1139521" cy="430887"/>
              </a:xfrm>
              <a:prstGeom prst="rect">
                <a:avLst/>
              </a:prstGeom>
              <a:blipFill>
                <a:blip r:embed="rId16"/>
                <a:stretch>
                  <a:fillRect l="-535" b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8B949728-8012-E6E1-3D49-2F1407CA8FF7}"/>
              </a:ext>
            </a:extLst>
          </p:cNvPr>
          <p:cNvCxnSpPr>
            <a:cxnSpLocks/>
          </p:cNvCxnSpPr>
          <p:nvPr/>
        </p:nvCxnSpPr>
        <p:spPr>
          <a:xfrm flipH="1">
            <a:off x="6765890" y="4493502"/>
            <a:ext cx="238735" cy="361356"/>
          </a:xfrm>
          <a:prstGeom prst="straightConnector1">
            <a:avLst/>
          </a:prstGeom>
          <a:ln w="25400">
            <a:solidFill>
              <a:schemeClr val="accent5">
                <a:lumMod val="75000"/>
              </a:schemeClr>
            </a:solidFill>
            <a:headEnd type="arrow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38FFB2EB-6542-4F77-AA83-C34728833A5A}"/>
              </a:ext>
            </a:extLst>
          </p:cNvPr>
          <p:cNvCxnSpPr>
            <a:cxnSpLocks/>
          </p:cNvCxnSpPr>
          <p:nvPr/>
        </p:nvCxnSpPr>
        <p:spPr>
          <a:xfrm flipH="1">
            <a:off x="8079450" y="4500542"/>
            <a:ext cx="238735" cy="361356"/>
          </a:xfrm>
          <a:prstGeom prst="straightConnector1">
            <a:avLst/>
          </a:prstGeom>
          <a:ln w="25400">
            <a:solidFill>
              <a:schemeClr val="accent5">
                <a:lumMod val="75000"/>
              </a:schemeClr>
            </a:solidFill>
            <a:headEnd type="arrow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12EC01B2-0AD6-1518-2F7D-957365EFB13F}"/>
              </a:ext>
            </a:extLst>
          </p:cNvPr>
          <p:cNvCxnSpPr>
            <a:cxnSpLocks/>
          </p:cNvCxnSpPr>
          <p:nvPr/>
        </p:nvCxnSpPr>
        <p:spPr>
          <a:xfrm flipH="1">
            <a:off x="9443467" y="4493502"/>
            <a:ext cx="238735" cy="361356"/>
          </a:xfrm>
          <a:prstGeom prst="straightConnector1">
            <a:avLst/>
          </a:prstGeom>
          <a:ln w="25400">
            <a:solidFill>
              <a:schemeClr val="accent5">
                <a:lumMod val="75000"/>
              </a:schemeClr>
            </a:solidFill>
            <a:headEnd type="arrow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A7069CC3-6F80-5950-C184-5D2890208932}"/>
                  </a:ext>
                </a:extLst>
              </p:cNvPr>
              <p:cNvSpPr txBox="1"/>
              <p:nvPr/>
            </p:nvSpPr>
            <p:spPr>
              <a:xfrm>
                <a:off x="3607062" y="5967849"/>
                <a:ext cx="415798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(13.</m:t>
                          </m:r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79</m:t>
                          </m:r>
                          <m:r>
                            <a:rPr lang="en-US" altLang="zh-CN" sz="24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  <m:r>
                        <a:rPr lang="en-US" altLang="zh-CN" sz="240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(1101.</m:t>
                          </m:r>
                          <m: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24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101)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A7069CC3-6F80-5950-C184-5D2890208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062" y="5967849"/>
                <a:ext cx="4157988" cy="461665"/>
              </a:xfrm>
              <a:prstGeom prst="rect">
                <a:avLst/>
              </a:prstGeom>
              <a:blipFill>
                <a:blip r:embed="rId17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54EB64CD-94E9-C2EA-1DB3-8BBB39FA4790}"/>
                  </a:ext>
                </a:extLst>
              </p:cNvPr>
              <p:cNvSpPr txBox="1"/>
              <p:nvPr/>
            </p:nvSpPr>
            <p:spPr>
              <a:xfrm>
                <a:off x="10705028" y="4903893"/>
                <a:ext cx="113952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四舍五入</a:t>
                </a:r>
                <a:r>
                  <a:rPr lang="en-US" altLang="zh-CN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−4</m:t>
                        </m:r>
                      </m:sub>
                    </m:sSub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</m:t>
                    </m:r>
                  </m:oMath>
                </a14:m>
                <a:endParaRPr lang="zh-CN" altLang="en-US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54EB64CD-94E9-C2EA-1DB3-8BBB39FA4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5028" y="4903893"/>
                <a:ext cx="1139521" cy="646331"/>
              </a:xfrm>
              <a:prstGeom prst="rect">
                <a:avLst/>
              </a:prstGeom>
              <a:blipFill>
                <a:blip r:embed="rId18"/>
                <a:stretch>
                  <a:fillRect l="-3209" t="-4717" r="-32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7" name="组合 166">
            <a:extLst>
              <a:ext uri="{FF2B5EF4-FFF2-40B4-BE49-F238E27FC236}">
                <a16:creationId xmlns:a16="http://schemas.microsoft.com/office/drawing/2014/main" id="{880D8905-3EBE-E934-5C0D-1C77C496C14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68" name="组合 167">
              <a:extLst>
                <a:ext uri="{FF2B5EF4-FFF2-40B4-BE49-F238E27FC236}">
                  <a16:creationId xmlns:a16="http://schemas.microsoft.com/office/drawing/2014/main" id="{143F31BC-221B-E940-0391-500C879F4A0C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70" name="箭头: 五边形 169">
                <a:extLst>
                  <a:ext uri="{FF2B5EF4-FFF2-40B4-BE49-F238E27FC236}">
                    <a16:creationId xmlns:a16="http://schemas.microsoft.com/office/drawing/2014/main" id="{D3F6B86F-4471-9A27-A00B-4C8C95AC0F9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1" name="箭头: V 形 170">
                <a:extLst>
                  <a:ext uri="{FF2B5EF4-FFF2-40B4-BE49-F238E27FC236}">
                    <a16:creationId xmlns:a16="http://schemas.microsoft.com/office/drawing/2014/main" id="{6F0CF9AA-C102-5FA4-DF5B-6E9DA67D2EE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69" name="灯片编号占位符 3">
              <a:extLst>
                <a:ext uri="{FF2B5EF4-FFF2-40B4-BE49-F238E27FC236}">
                  <a16:creationId xmlns:a16="http://schemas.microsoft.com/office/drawing/2014/main" id="{A8013958-1C8D-30CA-01C7-50900DE9CEC1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F9C6B6D-8CDA-566A-2D49-1EBFC168BD51}"/>
              </a:ext>
            </a:extLst>
          </p:cNvPr>
          <p:cNvCxnSpPr>
            <a:cxnSpLocks/>
          </p:cNvCxnSpPr>
          <p:nvPr/>
        </p:nvCxnSpPr>
        <p:spPr>
          <a:xfrm>
            <a:off x="10103922" y="5227059"/>
            <a:ext cx="601106" cy="0"/>
          </a:xfrm>
          <a:prstGeom prst="line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1">
            <a:extLst>
              <a:ext uri="{FF2B5EF4-FFF2-40B4-BE49-F238E27FC236}">
                <a16:creationId xmlns:a16="http://schemas.microsoft.com/office/drawing/2014/main" id="{A786D99A-F393-503E-990C-C77683410B7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数制</a:t>
            </a:r>
            <a:r>
              <a:rPr lang="en-US" altLang="zh-CN" sz="3000" dirty="0" err="1"/>
              <a:t>及其</a:t>
            </a:r>
            <a:r>
              <a:rPr lang="zh-CN" altLang="en-US" sz="3000" dirty="0"/>
              <a:t>转换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不同进制之间的转换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82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4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8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30" grpId="0"/>
      <p:bldP spid="67" grpId="0"/>
      <p:bldP spid="71" grpId="0"/>
      <p:bldP spid="92" grpId="0"/>
      <p:bldP spid="100" grpId="0"/>
      <p:bldP spid="101" grpId="0"/>
      <p:bldP spid="117" grpId="0"/>
      <p:bldP spid="119" grpId="0"/>
      <p:bldP spid="123" grpId="0"/>
      <p:bldP spid="130" grpId="0"/>
      <p:bldP spid="131" grpId="0"/>
      <p:bldP spid="132" grpId="0"/>
      <p:bldP spid="134" grpId="0"/>
      <p:bldP spid="135" grpId="0"/>
      <p:bldP spid="136" grpId="0"/>
      <p:bldP spid="143" grpId="0"/>
      <p:bldP spid="144" grpId="0"/>
      <p:bldP spid="148" grpId="0"/>
      <p:bldP spid="153" grpId="0"/>
      <p:bldP spid="157" grpId="0"/>
      <p:bldP spid="158" grpId="0"/>
      <p:bldP spid="159" grpId="0"/>
      <p:bldP spid="160" grpId="0"/>
      <p:bldP spid="164" grpId="0"/>
      <p:bldP spid="16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00A64-8087-5931-BCDE-5E589005E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F7C994CB-B300-2BE8-BB71-25EB974180C6}"/>
                  </a:ext>
                </a:extLst>
              </p:cNvPr>
              <p:cNvSpPr txBox="1"/>
              <p:nvPr/>
            </p:nvSpPr>
            <p:spPr>
              <a:xfrm>
                <a:off x="7734639" y="5083507"/>
                <a:ext cx="7496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01</m:t>
                      </m:r>
                      <m:r>
                        <a:rPr lang="en-US" altLang="zh-CN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0</m:t>
                      </m:r>
                      <m:r>
                        <a:rPr lang="en-US" altLang="zh-CN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0</m:t>
                      </m:r>
                    </m:oMath>
                  </m:oMathPara>
                </a14:m>
                <a:endParaRPr lang="zh-CN" altLang="en-US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F7C994CB-B300-2BE8-BB71-25EB97418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639" y="5083507"/>
                <a:ext cx="74969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50A204A-6868-9982-2F76-E083EE90F0BE}"/>
                  </a:ext>
                </a:extLst>
              </p:cNvPr>
              <p:cNvSpPr txBox="1"/>
              <p:nvPr/>
            </p:nvSpPr>
            <p:spPr>
              <a:xfrm>
                <a:off x="2678948" y="4437391"/>
                <a:ext cx="681346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600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1 0 1 1 0 </m:t>
                          </m:r>
                          <m:r>
                            <a:rPr lang="en-US" altLang="zh-CN" sz="3600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3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600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  <m:r>
                            <a:rPr lang="en-US" altLang="zh-CN" sz="3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600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3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600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.</m:t>
                          </m:r>
                          <m:r>
                            <a:rPr lang="en-US" altLang="zh-CN" sz="3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600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3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600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3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600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3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600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  <m:r>
                            <a:rPr lang="en-US" altLang="zh-CN" sz="3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600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  <m:r>
                            <a:rPr lang="en-US" altLang="zh-CN" sz="3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600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3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600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zh-CN" altLang="en-US" sz="36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50A204A-6868-9982-2F76-E083EE90F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8948" y="4437391"/>
                <a:ext cx="6813465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FA816D38-9A79-311F-103C-B957158B79D4}"/>
              </a:ext>
            </a:extLst>
          </p:cNvPr>
          <p:cNvCxnSpPr>
            <a:cxnSpLocks/>
          </p:cNvCxnSpPr>
          <p:nvPr/>
        </p:nvCxnSpPr>
        <p:spPr>
          <a:xfrm>
            <a:off x="4178878" y="4437175"/>
            <a:ext cx="861663" cy="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2CA6257F-A158-AE14-C2CC-6F4FAD48C834}"/>
                  </a:ext>
                </a:extLst>
              </p:cNvPr>
              <p:cNvSpPr txBox="1"/>
              <p:nvPr/>
            </p:nvSpPr>
            <p:spPr>
              <a:xfrm>
                <a:off x="3338682" y="4067952"/>
                <a:ext cx="7496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0</m:t>
                      </m:r>
                      <m:r>
                        <a:rPr lang="en-US" altLang="zh-C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1</m:t>
                      </m:r>
                      <m:r>
                        <a:rPr lang="en-US" altLang="zh-CN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0</m:t>
                      </m:r>
                    </m:oMath>
                  </m:oMathPara>
                </a14:m>
                <a:endParaRPr lang="zh-CN" altLang="en-US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2CA6257F-A158-AE14-C2CC-6F4FAD48C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8682" y="4067952"/>
                <a:ext cx="74969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04592CE-3FD0-B5F7-196A-A874C39D37AF}"/>
              </a:ext>
            </a:extLst>
          </p:cNvPr>
          <p:cNvCxnSpPr>
            <a:cxnSpLocks/>
          </p:cNvCxnSpPr>
          <p:nvPr/>
        </p:nvCxnSpPr>
        <p:spPr>
          <a:xfrm>
            <a:off x="6446993" y="5083722"/>
            <a:ext cx="1200150" cy="0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25D1086-CE97-212B-0C19-16F89E408A90}"/>
              </a:ext>
            </a:extLst>
          </p:cNvPr>
          <p:cNvCxnSpPr>
            <a:cxnSpLocks/>
          </p:cNvCxnSpPr>
          <p:nvPr/>
        </p:nvCxnSpPr>
        <p:spPr>
          <a:xfrm>
            <a:off x="7867650" y="5083722"/>
            <a:ext cx="483673" cy="0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F22EDF1-CB3C-70B2-AD94-410E024F7689}"/>
              </a:ext>
            </a:extLst>
          </p:cNvPr>
          <p:cNvCxnSpPr>
            <a:cxnSpLocks/>
          </p:cNvCxnSpPr>
          <p:nvPr/>
        </p:nvCxnSpPr>
        <p:spPr>
          <a:xfrm>
            <a:off x="4882314" y="5083722"/>
            <a:ext cx="1213686" cy="0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F40441E-C62D-F275-3539-562FCEF724FF}"/>
              </a:ext>
            </a:extLst>
          </p:cNvPr>
          <p:cNvCxnSpPr>
            <a:cxnSpLocks/>
          </p:cNvCxnSpPr>
          <p:nvPr/>
        </p:nvCxnSpPr>
        <p:spPr>
          <a:xfrm>
            <a:off x="3456285" y="5083722"/>
            <a:ext cx="1213686" cy="0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2229FB09-4C74-13CA-8492-672FF309FE8D}"/>
                  </a:ext>
                </a:extLst>
              </p:cNvPr>
              <p:cNvSpPr txBox="1"/>
              <p:nvPr/>
            </p:nvSpPr>
            <p:spPr>
              <a:xfrm>
                <a:off x="4604345" y="5706344"/>
                <a:ext cx="367357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600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6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36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B</m:t>
                          </m:r>
                          <m:r>
                            <a:rPr lang="en-US" altLang="zh-CN" sz="36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5 .  </m:t>
                          </m:r>
                          <m:r>
                            <m:rPr>
                              <m:sty m:val="p"/>
                            </m:rPr>
                            <a:rPr lang="en-US" altLang="zh-CN" sz="36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E</m:t>
                          </m:r>
                          <m:r>
                            <a:rPr lang="en-US" altLang="zh-CN" sz="36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4 )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6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zh-CN" altLang="en-US" sz="3600" dirty="0">
                  <a:solidFill>
                    <a:schemeClr val="accent6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2229FB09-4C74-13CA-8492-672FF309F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4345" y="5706344"/>
                <a:ext cx="3673575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E2EBEBEA-C9BA-644D-1D72-7235622EDABE}"/>
              </a:ext>
            </a:extLst>
          </p:cNvPr>
          <p:cNvCxnSpPr>
            <a:cxnSpLocks/>
          </p:cNvCxnSpPr>
          <p:nvPr/>
        </p:nvCxnSpPr>
        <p:spPr>
          <a:xfrm>
            <a:off x="5234337" y="4437175"/>
            <a:ext cx="861663" cy="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17B1294-3F61-D173-EBEE-2EC485822E78}"/>
              </a:ext>
            </a:extLst>
          </p:cNvPr>
          <p:cNvCxnSpPr>
            <a:cxnSpLocks/>
          </p:cNvCxnSpPr>
          <p:nvPr/>
        </p:nvCxnSpPr>
        <p:spPr>
          <a:xfrm>
            <a:off x="3456285" y="4437175"/>
            <a:ext cx="521926" cy="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B5EE581D-4CCE-8517-6A23-29A105832596}"/>
              </a:ext>
            </a:extLst>
          </p:cNvPr>
          <p:cNvCxnSpPr>
            <a:cxnSpLocks/>
          </p:cNvCxnSpPr>
          <p:nvPr/>
        </p:nvCxnSpPr>
        <p:spPr>
          <a:xfrm>
            <a:off x="6446993" y="4437175"/>
            <a:ext cx="861663" cy="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535C9CE1-FF2A-6EDA-E3F3-B11590D0A6FA}"/>
              </a:ext>
            </a:extLst>
          </p:cNvPr>
          <p:cNvCxnSpPr>
            <a:cxnSpLocks/>
          </p:cNvCxnSpPr>
          <p:nvPr/>
        </p:nvCxnSpPr>
        <p:spPr>
          <a:xfrm>
            <a:off x="7489660" y="4437175"/>
            <a:ext cx="861663" cy="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7DD70B0-E148-71AC-C469-A7A0DC494418}"/>
                  </a:ext>
                </a:extLst>
              </p:cNvPr>
              <p:cNvSpPr txBox="1"/>
              <p:nvPr/>
            </p:nvSpPr>
            <p:spPr>
              <a:xfrm>
                <a:off x="4435911" y="3168222"/>
                <a:ext cx="367357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6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6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6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sz="36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6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6</m:t>
                          </m:r>
                          <m:r>
                            <a:rPr lang="en-US" altLang="zh-CN" sz="36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5 .  </m:t>
                          </m:r>
                          <m:r>
                            <a:rPr lang="en-US" altLang="zh-CN" sz="36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7</m:t>
                          </m:r>
                          <m:r>
                            <a:rPr lang="en-US" altLang="zh-CN" sz="36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6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36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6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6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O</m:t>
                          </m:r>
                        </m:sub>
                      </m:sSub>
                    </m:oMath>
                  </m:oMathPara>
                </a14:m>
                <a:endParaRPr lang="zh-CN" altLang="en-US" sz="36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7DD70B0-E148-71AC-C469-A7A0DC494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5911" y="3168222"/>
                <a:ext cx="3673575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10D7B655-D67A-C2F1-E471-C4E292CDE669}"/>
              </a:ext>
            </a:extLst>
          </p:cNvPr>
          <p:cNvCxnSpPr>
            <a:cxnSpLocks/>
          </p:cNvCxnSpPr>
          <p:nvPr/>
        </p:nvCxnSpPr>
        <p:spPr>
          <a:xfrm flipH="1">
            <a:off x="3978211" y="3720814"/>
            <a:ext cx="1256126" cy="456584"/>
          </a:xfrm>
          <a:prstGeom prst="straightConnector1">
            <a:avLst/>
          </a:prstGeom>
          <a:ln w="25400">
            <a:solidFill>
              <a:srgbClr val="0000FF"/>
            </a:solidFill>
            <a:headEnd type="arrow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1937BEFF-8685-CEC6-B415-B80E6CE6548D}"/>
              </a:ext>
            </a:extLst>
          </p:cNvPr>
          <p:cNvCxnSpPr>
            <a:cxnSpLocks/>
          </p:cNvCxnSpPr>
          <p:nvPr/>
        </p:nvCxnSpPr>
        <p:spPr>
          <a:xfrm flipH="1">
            <a:off x="4604345" y="3720814"/>
            <a:ext cx="972927" cy="653143"/>
          </a:xfrm>
          <a:prstGeom prst="straightConnector1">
            <a:avLst/>
          </a:prstGeom>
          <a:ln w="25400">
            <a:solidFill>
              <a:srgbClr val="0000FF"/>
            </a:solidFill>
            <a:headEnd type="arrow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7EA5E480-2703-015F-A9B0-A5E886749444}"/>
              </a:ext>
            </a:extLst>
          </p:cNvPr>
          <p:cNvCxnSpPr>
            <a:cxnSpLocks/>
          </p:cNvCxnSpPr>
          <p:nvPr/>
        </p:nvCxnSpPr>
        <p:spPr>
          <a:xfrm flipH="1">
            <a:off x="5673824" y="3720814"/>
            <a:ext cx="301013" cy="653143"/>
          </a:xfrm>
          <a:prstGeom prst="straightConnector1">
            <a:avLst/>
          </a:prstGeom>
          <a:ln w="25400">
            <a:solidFill>
              <a:srgbClr val="0000FF"/>
            </a:solidFill>
            <a:headEnd type="arrow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AAEA033A-2E41-E7D5-5C5E-2A44CC64A51E}"/>
              </a:ext>
            </a:extLst>
          </p:cNvPr>
          <p:cNvCxnSpPr>
            <a:cxnSpLocks/>
          </p:cNvCxnSpPr>
          <p:nvPr/>
        </p:nvCxnSpPr>
        <p:spPr>
          <a:xfrm>
            <a:off x="6614730" y="3720814"/>
            <a:ext cx="274507" cy="653143"/>
          </a:xfrm>
          <a:prstGeom prst="straightConnector1">
            <a:avLst/>
          </a:prstGeom>
          <a:ln w="25400">
            <a:solidFill>
              <a:srgbClr val="0000FF"/>
            </a:solidFill>
            <a:headEnd type="arrow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29A88CA2-3EA6-7ECA-984E-A80CF3F1BF47}"/>
              </a:ext>
            </a:extLst>
          </p:cNvPr>
          <p:cNvCxnSpPr>
            <a:cxnSpLocks/>
          </p:cNvCxnSpPr>
          <p:nvPr/>
        </p:nvCxnSpPr>
        <p:spPr>
          <a:xfrm>
            <a:off x="6980109" y="3720814"/>
            <a:ext cx="948477" cy="653143"/>
          </a:xfrm>
          <a:prstGeom prst="straightConnector1">
            <a:avLst/>
          </a:prstGeom>
          <a:ln w="25400">
            <a:solidFill>
              <a:srgbClr val="0000FF"/>
            </a:solidFill>
            <a:headEnd type="arrow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DDBC84B3-8B50-3650-28BB-62E6472A60CA}"/>
              </a:ext>
            </a:extLst>
          </p:cNvPr>
          <p:cNvCxnSpPr>
            <a:cxnSpLocks/>
          </p:cNvCxnSpPr>
          <p:nvPr/>
        </p:nvCxnSpPr>
        <p:spPr>
          <a:xfrm flipH="1" flipV="1">
            <a:off x="4043806" y="5146370"/>
            <a:ext cx="1465312" cy="664502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headEnd type="arrow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FD768729-0795-B0A0-6B55-31355DC808E6}"/>
              </a:ext>
            </a:extLst>
          </p:cNvPr>
          <p:cNvCxnSpPr>
            <a:cxnSpLocks/>
          </p:cNvCxnSpPr>
          <p:nvPr/>
        </p:nvCxnSpPr>
        <p:spPr>
          <a:xfrm flipH="1" flipV="1">
            <a:off x="5509118" y="5146370"/>
            <a:ext cx="465719" cy="664502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headEnd type="arrow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45FB7583-96D8-71CA-51CA-BE3C6AACC507}"/>
              </a:ext>
            </a:extLst>
          </p:cNvPr>
          <p:cNvCxnSpPr>
            <a:cxnSpLocks/>
          </p:cNvCxnSpPr>
          <p:nvPr/>
        </p:nvCxnSpPr>
        <p:spPr>
          <a:xfrm flipV="1">
            <a:off x="6730211" y="5146370"/>
            <a:ext cx="335091" cy="664502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headEnd type="arrow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FDF836B3-E349-3247-C1CB-832492C82453}"/>
              </a:ext>
            </a:extLst>
          </p:cNvPr>
          <p:cNvCxnSpPr>
            <a:cxnSpLocks/>
          </p:cNvCxnSpPr>
          <p:nvPr/>
        </p:nvCxnSpPr>
        <p:spPr>
          <a:xfrm flipV="1">
            <a:off x="7065302" y="5384909"/>
            <a:ext cx="802348" cy="425963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headEnd type="arrow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DBDC133B-EDC0-2234-244D-F169325F063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16069139-B21F-BCB3-7FE0-0EF9409BE4C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9" name="箭头: 五边形 88">
                <a:extLst>
                  <a:ext uri="{FF2B5EF4-FFF2-40B4-BE49-F238E27FC236}">
                    <a16:creationId xmlns:a16="http://schemas.microsoft.com/office/drawing/2014/main" id="{252D3B15-EA89-9957-64D6-93B480A7B18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0" name="箭头: V 形 89">
                <a:extLst>
                  <a:ext uri="{FF2B5EF4-FFF2-40B4-BE49-F238E27FC236}">
                    <a16:creationId xmlns:a16="http://schemas.microsoft.com/office/drawing/2014/main" id="{66A38D7E-71D9-91C9-CD0F-BD8CFAFF335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8" name="灯片编号占位符 3">
              <a:extLst>
                <a:ext uri="{FF2B5EF4-FFF2-40B4-BE49-F238E27FC236}">
                  <a16:creationId xmlns:a16="http://schemas.microsoft.com/office/drawing/2014/main" id="{B618BDD0-4342-E0F0-B154-1DF523593F8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61D8B349-AEF9-1641-D50D-F23E5EC7D10F}"/>
              </a:ext>
            </a:extLst>
          </p:cNvPr>
          <p:cNvSpPr txBox="1"/>
          <p:nvPr/>
        </p:nvSpPr>
        <p:spPr>
          <a:xfrm>
            <a:off x="360000" y="828000"/>
            <a:ext cx="11450442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二、八、十六进制之间的转换：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 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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八（十六）进制：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以小数点为起点，按三（四）位分组，不足部分补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，每组转换为一位八（十六）进制数码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八（十六）进制 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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二进制：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每位八（十六）进制数码转换为三（四）位二进制数码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C53DFF37-D833-076A-EB88-05F86543C9A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数制</a:t>
            </a:r>
            <a:r>
              <a:rPr lang="en-US" altLang="zh-CN" sz="3000" dirty="0" err="1"/>
              <a:t>及其</a:t>
            </a:r>
            <a:r>
              <a:rPr lang="zh-CN" altLang="en-US" sz="3000" dirty="0"/>
              <a:t>转换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不同进制之间的转换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05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3" grpId="0"/>
      <p:bldP spid="46" grpId="0"/>
      <p:bldP spid="28" grpId="0"/>
      <p:bldP spid="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08B50-22DB-AA7A-EDAF-7F16A1E22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25FCF88-13A8-CE30-4092-0BDEDA107FFC}"/>
              </a:ext>
            </a:extLst>
          </p:cNvPr>
          <p:cNvSpPr txBox="1"/>
          <p:nvPr/>
        </p:nvSpPr>
        <p:spPr>
          <a:xfrm>
            <a:off x="360000" y="828000"/>
            <a:ext cx="10775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Group 19">
                <a:extLst>
                  <a:ext uri="{FF2B5EF4-FFF2-40B4-BE49-F238E27FC236}">
                    <a16:creationId xmlns:a16="http://schemas.microsoft.com/office/drawing/2014/main" id="{06E5A34E-4B05-B1DF-3D45-F594DE11021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27316" y="5053452"/>
              <a:ext cx="9904240" cy="1500510"/>
            </p:xfrm>
            <a:graphic>
              <a:graphicData uri="http://schemas.openxmlformats.org/drawingml/2006/table">
                <a:tbl>
                  <a:tblPr/>
                  <a:tblGrid>
                    <a:gridCol w="82470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665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470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2470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2665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82470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82470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826653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824703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824704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826653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  <a:gridCol w="824703">
                      <a:extLst>
                        <a:ext uri="{9D8B030D-6E8A-4147-A177-3AD203B41FA5}">
                          <a16:colId xmlns:a16="http://schemas.microsoft.com/office/drawing/2014/main" val="20011"/>
                        </a:ext>
                      </a:extLst>
                    </a:gridCol>
                  </a:tblGrid>
                  <a:tr h="39862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</a:t>
                          </a:r>
                          <a:endPara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3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4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5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6</a:t>
                          </a:r>
                          <a:endPara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7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8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9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10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20</a:t>
                          </a:r>
                          <a:endPara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30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26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</a:p>
                      </a:txBody>
                      <a:tcPr marL="0" marR="0" marT="46827" marB="46827" anchor="ctr" anchorCtr="1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4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8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16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32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64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128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256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512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zh-CN" sz="20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</a:rPr>
                            <a:t>1024</a:t>
                          </a:r>
                          <a:endParaRPr kumimoji="0" lang="zh-CN" altLang="en-US" sz="2000" b="0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zh-CN" sz="20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</a:rPr>
                            <a:t>1.049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US" altLang="zh-CN" sz="2000" b="0" i="1" u="none" strike="noStrike" kern="1200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kumimoji="0" lang="en-US" altLang="zh-CN" sz="2000" b="0" i="1" u="none" strike="noStrike" kern="1200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2000" b="0" i="1" u="none" strike="noStrike" kern="1200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altLang="zh-CN" sz="2000" b="0" i="1" u="none" strike="noStrike" kern="1200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zh-CN" altLang="en-US" sz="2000" b="0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zh-CN" sz="20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</a:rPr>
                            <a:t>1.0995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US" altLang="zh-CN" sz="2000" b="0" i="1" u="none" strike="noStrike" kern="1200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kumimoji="0" lang="en-US" altLang="zh-CN" sz="2000" b="0" i="1" u="none" strike="noStrike" kern="1200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2000" b="0" i="1" u="none" strike="noStrike" kern="1200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altLang="zh-CN" sz="2000" b="0" i="1" u="none" strike="noStrike" kern="1200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charset="0"/>
                                      </a:rPr>
                                      <m:t>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zh-CN" altLang="en-US" sz="2000" b="0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862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1K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1M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1G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Group 19">
                <a:extLst>
                  <a:ext uri="{FF2B5EF4-FFF2-40B4-BE49-F238E27FC236}">
                    <a16:creationId xmlns:a16="http://schemas.microsoft.com/office/drawing/2014/main" id="{B03C2724-3B4E-C459-3062-FD3752DA40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4078241"/>
                  </p:ext>
                </p:extLst>
              </p:nvPr>
            </p:nvGraphicFramePr>
            <p:xfrm>
              <a:off x="927316" y="5053452"/>
              <a:ext cx="9904240" cy="1500510"/>
            </p:xfrm>
            <a:graphic>
              <a:graphicData uri="http://schemas.openxmlformats.org/drawingml/2006/table">
                <a:tbl>
                  <a:tblPr/>
                  <a:tblGrid>
                    <a:gridCol w="82470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665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470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2470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2665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82470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82470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826653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824703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824704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826653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  <a:gridCol w="824703">
                      <a:extLst>
                        <a:ext uri="{9D8B030D-6E8A-4147-A177-3AD203B41FA5}">
                          <a16:colId xmlns:a16="http://schemas.microsoft.com/office/drawing/2014/main" val="20011"/>
                        </a:ext>
                      </a:extLst>
                    </a:gridCol>
                  </a:tblGrid>
                  <a:tr h="39862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</a:t>
                          </a:r>
                          <a:endPara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3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4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5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6</a:t>
                          </a:r>
                          <a:endPara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7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8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9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10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20</a:t>
                          </a:r>
                          <a:endPara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30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32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</a:p>
                      </a:txBody>
                      <a:tcPr marL="0" marR="0" marT="46827" marB="46827" anchor="ctr" anchorCtr="1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4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8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16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32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64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128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256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512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zh-CN" sz="20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</a:rPr>
                            <a:t>1024</a:t>
                          </a:r>
                          <a:endParaRPr kumimoji="0" lang="zh-CN" altLang="en-US" sz="2000" b="0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995588" t="-59483" r="-114706" b="-724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03704" t="-59483" r="-15556" b="-724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862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1K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1M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1G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DA994F73-5026-93F8-5525-1BD3905F5042}"/>
              </a:ext>
            </a:extLst>
          </p:cNvPr>
          <p:cNvSpPr txBox="1"/>
          <p:nvPr/>
        </p:nvSpPr>
        <p:spPr>
          <a:xfrm>
            <a:off x="4848168" y="4653342"/>
            <a:ext cx="20625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二进制的位权表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8934AED-3BEC-FE05-EE8C-33BCF72813B4}"/>
                  </a:ext>
                </a:extLst>
              </p:cNvPr>
              <p:cNvSpPr txBox="1"/>
              <p:nvPr/>
            </p:nvSpPr>
            <p:spPr>
              <a:xfrm>
                <a:off x="1992704" y="1323780"/>
                <a:ext cx="777346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100</m:t>
                          </m:r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101.101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3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2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37.625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10</m:t>
                          </m:r>
                        </m:sub>
                      </m:sSub>
                      <m:r>
                        <a:rPr lang="en-US" altLang="zh-CN" sz="3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 </m:t>
                          </m:r>
                          <m:r>
                            <a:rPr lang="en-US" altLang="zh-CN" sz="32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25.</m:t>
                          </m:r>
                          <m:r>
                            <m:rPr>
                              <m:sty m:val="p"/>
                            </m:rPr>
                            <a:rPr lang="en-US" altLang="zh-CN" sz="32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)</m:t>
                          </m:r>
                        </m:e>
                        <m:sub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16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8934AED-3BEC-FE05-EE8C-33BCF7281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704" y="1323780"/>
                <a:ext cx="7773466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34BEFEE-5851-DAA4-520B-914FBB7DD677}"/>
                  </a:ext>
                </a:extLst>
              </p:cNvPr>
              <p:cNvSpPr txBox="1"/>
              <p:nvPr/>
            </p:nvSpPr>
            <p:spPr>
              <a:xfrm>
                <a:off x="1992703" y="2076665"/>
                <a:ext cx="777346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15.6 )</m:t>
                          </m:r>
                        </m:e>
                        <m:sub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16</m:t>
                          </m:r>
                        </m:sub>
                      </m:sSub>
                      <m:r>
                        <a:rPr lang="en-US" altLang="zh-CN" sz="3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2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3861.375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10</m:t>
                          </m:r>
                        </m:sub>
                      </m:sSub>
                      <m:r>
                        <a:rPr lang="en-US" altLang="zh-CN" sz="3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 </m:t>
                          </m:r>
                          <m:r>
                            <a:rPr lang="en-US" altLang="zh-CN" sz="32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7425.3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34BEFEE-5851-DAA4-520B-914FBB7DD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703" y="2076665"/>
                <a:ext cx="777346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215F754-A0F5-01AB-FD69-AA9D27839830}"/>
                  </a:ext>
                </a:extLst>
              </p:cNvPr>
              <p:cNvSpPr txBox="1"/>
              <p:nvPr/>
            </p:nvSpPr>
            <p:spPr>
              <a:xfrm>
                <a:off x="1992702" y="2829550"/>
                <a:ext cx="825423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205 </m:t>
                          </m:r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8</m:t>
                          </m:r>
                        </m:sub>
                      </m:sSub>
                      <m:r>
                        <a:rPr lang="en-US" altLang="zh-CN" sz="3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2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133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10</m:t>
                          </m:r>
                        </m:sub>
                      </m:sSub>
                      <m:r>
                        <a:rPr lang="en-US" altLang="zh-CN" sz="3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 </m:t>
                          </m:r>
                          <m:r>
                            <a:rPr lang="en-US" altLang="zh-CN" sz="32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10000101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215F754-A0F5-01AB-FD69-AA9D27839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702" y="2829550"/>
                <a:ext cx="8254233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731CAF1-4BA0-294B-D32E-00361C4057EF}"/>
                  </a:ext>
                </a:extLst>
              </p:cNvPr>
              <p:cNvSpPr txBox="1"/>
              <p:nvPr/>
            </p:nvSpPr>
            <p:spPr>
              <a:xfrm>
                <a:off x="1992703" y="3582435"/>
                <a:ext cx="941373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45.6 </m:t>
                          </m:r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10</m:t>
                          </m:r>
                        </m:sub>
                      </m:sSub>
                      <m:r>
                        <a:rPr lang="en-US" altLang="zh-CN" sz="3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2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101101. 1001⋯ </m:t>
                          </m:r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3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  <m:r>
                                <a:rPr lang="en-US" altLang="zh-CN" sz="32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32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D</m:t>
                              </m:r>
                              <m:r>
                                <a:rPr lang="en-US" altLang="zh-CN" sz="32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.9⋯  </m:t>
                              </m:r>
                            </m:e>
                          </m:d>
                        </m:e>
                        <m:sub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16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731CAF1-4BA0-294B-D32E-00361C405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703" y="3582435"/>
                <a:ext cx="941373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F7E3D4EE-598B-A133-1936-70E583365943}"/>
              </a:ext>
            </a:extLst>
          </p:cNvPr>
          <p:cNvSpPr/>
          <p:nvPr/>
        </p:nvSpPr>
        <p:spPr>
          <a:xfrm>
            <a:off x="5570867" y="1434881"/>
            <a:ext cx="1225859" cy="4033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AD3401-2247-A207-EBAE-03E8F67B2AA8}"/>
              </a:ext>
            </a:extLst>
          </p:cNvPr>
          <p:cNvSpPr/>
          <p:nvPr/>
        </p:nvSpPr>
        <p:spPr>
          <a:xfrm>
            <a:off x="7566805" y="2217750"/>
            <a:ext cx="1221291" cy="383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E60CB-3BBA-0D26-5173-05833373D49E}"/>
              </a:ext>
            </a:extLst>
          </p:cNvPr>
          <p:cNvSpPr/>
          <p:nvPr/>
        </p:nvSpPr>
        <p:spPr>
          <a:xfrm>
            <a:off x="4625196" y="2217750"/>
            <a:ext cx="1698948" cy="383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05A4174-8A39-B9D9-437B-C9873483580D}"/>
              </a:ext>
            </a:extLst>
          </p:cNvPr>
          <p:cNvSpPr/>
          <p:nvPr/>
        </p:nvSpPr>
        <p:spPr>
          <a:xfrm>
            <a:off x="4132282" y="2975917"/>
            <a:ext cx="740868" cy="375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0B3C17F-6C8E-C508-92FA-8DA9ADB002D6}"/>
              </a:ext>
            </a:extLst>
          </p:cNvPr>
          <p:cNvSpPr/>
          <p:nvPr/>
        </p:nvSpPr>
        <p:spPr>
          <a:xfrm>
            <a:off x="6119817" y="2975917"/>
            <a:ext cx="1759353" cy="375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5BDC9E6-1E56-DB37-A53A-E8DEB409FDB1}"/>
              </a:ext>
            </a:extLst>
          </p:cNvPr>
          <p:cNvSpPr/>
          <p:nvPr/>
        </p:nvSpPr>
        <p:spPr>
          <a:xfrm>
            <a:off x="4399666" y="3726171"/>
            <a:ext cx="2877206" cy="375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58B8386-854D-2F57-5EC5-7103D672A32D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E42AA966-91BF-91C0-1E7A-018199783445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25" name="箭头: 五边形 24">
                <a:extLst>
                  <a:ext uri="{FF2B5EF4-FFF2-40B4-BE49-F238E27FC236}">
                    <a16:creationId xmlns:a16="http://schemas.microsoft.com/office/drawing/2014/main" id="{E398525E-1F83-A9BF-5875-4BBFB6FFF99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" name="箭头: V 形 25">
                <a:extLst>
                  <a:ext uri="{FF2B5EF4-FFF2-40B4-BE49-F238E27FC236}">
                    <a16:creationId xmlns:a16="http://schemas.microsoft.com/office/drawing/2014/main" id="{FCAD0296-1143-6FF7-D898-64B524DAC42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4" name="灯片编号占位符 3">
              <a:extLst>
                <a:ext uri="{FF2B5EF4-FFF2-40B4-BE49-F238E27FC236}">
                  <a16:creationId xmlns:a16="http://schemas.microsoft.com/office/drawing/2014/main" id="{63E52959-13B8-2655-EEC6-70D2CAA4FFC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D567F96A-5983-C13A-6168-C35D7EF7FFF9}"/>
              </a:ext>
            </a:extLst>
          </p:cNvPr>
          <p:cNvSpPr/>
          <p:nvPr/>
        </p:nvSpPr>
        <p:spPr>
          <a:xfrm>
            <a:off x="8032834" y="1434881"/>
            <a:ext cx="932057" cy="4033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34207F-8B8A-9388-2F12-9E6B49C367CC}"/>
              </a:ext>
            </a:extLst>
          </p:cNvPr>
          <p:cNvSpPr/>
          <p:nvPr/>
        </p:nvSpPr>
        <p:spPr>
          <a:xfrm>
            <a:off x="8390356" y="3726170"/>
            <a:ext cx="1421649" cy="375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829ACEC9-C332-62B3-D463-5FCECBCBEC52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数制</a:t>
            </a:r>
            <a:r>
              <a:rPr lang="en-US" altLang="zh-CN" sz="3000" dirty="0" err="1"/>
              <a:t>及其</a:t>
            </a:r>
            <a:r>
              <a:rPr lang="zh-CN" altLang="en-US" sz="3000" dirty="0"/>
              <a:t>转换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不同进制之间的转换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944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D750B-DC7B-7669-9BF8-91C168E47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0FD9967-E20B-ADEE-9FAE-63A13FB015B7}"/>
              </a:ext>
            </a:extLst>
          </p:cNvPr>
          <p:cNvSpPr txBox="1"/>
          <p:nvPr/>
        </p:nvSpPr>
        <p:spPr>
          <a:xfrm>
            <a:off x="360000" y="828000"/>
            <a:ext cx="10775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Group 19">
                <a:extLst>
                  <a:ext uri="{FF2B5EF4-FFF2-40B4-BE49-F238E27FC236}">
                    <a16:creationId xmlns:a16="http://schemas.microsoft.com/office/drawing/2014/main" id="{7B5BB805-C2F1-C634-BBDC-F2086477686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27316" y="5053452"/>
              <a:ext cx="9904240" cy="1500510"/>
            </p:xfrm>
            <a:graphic>
              <a:graphicData uri="http://schemas.openxmlformats.org/drawingml/2006/table">
                <a:tbl>
                  <a:tblPr/>
                  <a:tblGrid>
                    <a:gridCol w="82470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665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470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2470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2665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82470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82470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826653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824703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824704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826653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  <a:gridCol w="824703">
                      <a:extLst>
                        <a:ext uri="{9D8B030D-6E8A-4147-A177-3AD203B41FA5}">
                          <a16:colId xmlns:a16="http://schemas.microsoft.com/office/drawing/2014/main" val="20011"/>
                        </a:ext>
                      </a:extLst>
                    </a:gridCol>
                  </a:tblGrid>
                  <a:tr h="39862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</a:t>
                          </a:r>
                          <a:endPara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3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4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5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6</a:t>
                          </a:r>
                          <a:endPara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7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8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9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10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20</a:t>
                          </a:r>
                          <a:endPara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30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260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</a:p>
                      </a:txBody>
                      <a:tcPr marL="0" marR="0" marT="46827" marB="46827" anchor="ctr" anchorCtr="1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4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8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16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32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64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128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256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512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zh-CN" sz="20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</a:rPr>
                            <a:t>1024</a:t>
                          </a:r>
                          <a:endParaRPr kumimoji="0" lang="zh-CN" altLang="en-US" sz="2000" b="0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zh-CN" sz="20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</a:rPr>
                            <a:t>1.049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US" altLang="zh-CN" sz="2000" b="0" i="1" u="none" strike="noStrike" kern="1200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kumimoji="0" lang="en-US" altLang="zh-CN" sz="2000" b="0" i="1" u="none" strike="noStrike" kern="1200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2000" b="0" i="1" u="none" strike="noStrike" kern="1200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altLang="zh-CN" sz="2000" b="0" i="1" u="none" strike="noStrike" kern="1200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charset="0"/>
                                      </a:rPr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zh-CN" altLang="en-US" sz="2000" b="0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zh-CN" sz="20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</a:rPr>
                            <a:t>1.0995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US" altLang="zh-CN" sz="2000" b="0" i="1" u="none" strike="noStrike" kern="1200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kumimoji="0" lang="en-US" altLang="zh-CN" sz="2000" b="0" i="1" u="none" strike="noStrike" kern="1200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2000" b="0" i="1" u="none" strike="noStrike" kern="1200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kumimoji="0" lang="en-US" altLang="zh-CN" sz="2000" b="0" i="1" u="none" strike="noStrike" kern="1200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宋体" charset="0"/>
                                      </a:rPr>
                                      <m:t>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zh-CN" altLang="en-US" sz="2000" b="0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862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1K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1M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1G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Group 19">
                <a:extLst>
                  <a:ext uri="{FF2B5EF4-FFF2-40B4-BE49-F238E27FC236}">
                    <a16:creationId xmlns:a16="http://schemas.microsoft.com/office/drawing/2014/main" id="{B03C2724-3B4E-C459-3062-FD3752DA40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4078241"/>
                  </p:ext>
                </p:extLst>
              </p:nvPr>
            </p:nvGraphicFramePr>
            <p:xfrm>
              <a:off x="927316" y="5053452"/>
              <a:ext cx="9904240" cy="1500510"/>
            </p:xfrm>
            <a:graphic>
              <a:graphicData uri="http://schemas.openxmlformats.org/drawingml/2006/table">
                <a:tbl>
                  <a:tblPr/>
                  <a:tblGrid>
                    <a:gridCol w="82470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665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2470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2470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2665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82470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82470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826653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824703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824704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826653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  <a:gridCol w="824703">
                      <a:extLst>
                        <a:ext uri="{9D8B030D-6E8A-4147-A177-3AD203B41FA5}">
                          <a16:colId xmlns:a16="http://schemas.microsoft.com/office/drawing/2014/main" val="20011"/>
                        </a:ext>
                      </a:extLst>
                    </a:gridCol>
                  </a:tblGrid>
                  <a:tr h="39862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</a:t>
                          </a:r>
                          <a:endPara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3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4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5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6</a:t>
                          </a:r>
                          <a:endPara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7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8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9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10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20</a:t>
                          </a:r>
                          <a:endPara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  <a:r>
                            <a:rPr kumimoji="0" lang="en-US" altLang="zh-CN" sz="2000" b="0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30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325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</a:t>
                          </a:r>
                        </a:p>
                      </a:txBody>
                      <a:tcPr marL="0" marR="0" marT="46827" marB="46827" anchor="ctr" anchorCtr="1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4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8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16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32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64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128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256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512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altLang="zh-CN" sz="2000" b="0" i="0" u="none" strike="noStrike" kern="1200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</a:rPr>
                            <a:t>1024</a:t>
                          </a:r>
                          <a:endParaRPr kumimoji="0" lang="zh-CN" altLang="en-US" sz="2000" b="0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995588" t="-59483" r="-114706" b="-724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1103704" t="-59483" r="-15556" b="-724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862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endParaRPr kumimoji="0" lang="en-US" altLang="zh-CN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charset="0"/>
                            <a:ea typeface="宋体" charset="0"/>
                            <a:cs typeface="宋体" charset="0"/>
                          </a:endParaRP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1K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1M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0" fontAlgn="base" latinLnBrk="0" hangingPunct="0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2000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zh-CN" sz="20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Arial" charset="0"/>
                              <a:ea typeface="宋体" charset="0"/>
                              <a:cs typeface="宋体" charset="0"/>
                            </a:rPr>
                            <a:t>1G</a:t>
                          </a:r>
                        </a:p>
                      </a:txBody>
                      <a:tcPr marL="0" marR="0" marT="46827" marB="46827" anchor="ctr" anchorCtr="1" horzOverflow="overflow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64CAB01C-D9E0-9BD2-00F3-F2128BBC661B}"/>
              </a:ext>
            </a:extLst>
          </p:cNvPr>
          <p:cNvSpPr txBox="1"/>
          <p:nvPr/>
        </p:nvSpPr>
        <p:spPr>
          <a:xfrm>
            <a:off x="4848168" y="4653342"/>
            <a:ext cx="20625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二进制的位权表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C42CBCD-3C67-7005-F467-B988DEA35151}"/>
                  </a:ext>
                </a:extLst>
              </p:cNvPr>
              <p:cNvSpPr txBox="1"/>
              <p:nvPr/>
            </p:nvSpPr>
            <p:spPr>
              <a:xfrm>
                <a:off x="1992704" y="1323780"/>
                <a:ext cx="777346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100</m:t>
                          </m:r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101.101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3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2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37.625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10</m:t>
                          </m:r>
                        </m:sub>
                      </m:sSub>
                      <m:r>
                        <a:rPr lang="en-US" altLang="zh-CN" sz="3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 </m:t>
                          </m:r>
                          <m:r>
                            <a:rPr lang="en-US" altLang="zh-CN" sz="32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25.</m:t>
                          </m:r>
                          <m:r>
                            <m:rPr>
                              <m:sty m:val="p"/>
                            </m:rPr>
                            <a:rPr lang="en-US" altLang="zh-CN" sz="32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)</m:t>
                          </m:r>
                        </m:e>
                        <m:sub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16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8934AED-3BEC-FE05-EE8C-33BCF7281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704" y="1323780"/>
                <a:ext cx="7773466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07E3D7C-BF99-B2DC-18B2-DF5270EFF3ED}"/>
                  </a:ext>
                </a:extLst>
              </p:cNvPr>
              <p:cNvSpPr txBox="1"/>
              <p:nvPr/>
            </p:nvSpPr>
            <p:spPr>
              <a:xfrm>
                <a:off x="1992703" y="2076665"/>
                <a:ext cx="777346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F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15.6 )</m:t>
                          </m:r>
                        </m:e>
                        <m:sub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16</m:t>
                          </m:r>
                        </m:sub>
                      </m:sSub>
                      <m:r>
                        <a:rPr lang="en-US" altLang="zh-CN" sz="3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2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3861.375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10</m:t>
                          </m:r>
                        </m:sub>
                      </m:sSub>
                      <m:r>
                        <a:rPr lang="en-US" altLang="zh-CN" sz="3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 </m:t>
                          </m:r>
                          <m:r>
                            <a:rPr lang="en-US" altLang="zh-CN" sz="32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7425.3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34BEFEE-5851-DAA4-520B-914FBB7DD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703" y="2076665"/>
                <a:ext cx="777346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01E6DC5-BCF5-92CB-2A80-CC53BDECCEBF}"/>
                  </a:ext>
                </a:extLst>
              </p:cNvPr>
              <p:cNvSpPr txBox="1"/>
              <p:nvPr/>
            </p:nvSpPr>
            <p:spPr>
              <a:xfrm>
                <a:off x="1992702" y="2829550"/>
                <a:ext cx="825423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205 </m:t>
                          </m:r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8</m:t>
                          </m:r>
                        </m:sub>
                      </m:sSub>
                      <m:r>
                        <a:rPr lang="en-US" altLang="zh-CN" sz="3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2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133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10</m:t>
                          </m:r>
                        </m:sub>
                      </m:sSub>
                      <m:r>
                        <a:rPr lang="en-US" altLang="zh-CN" sz="3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 </m:t>
                          </m:r>
                          <m:r>
                            <a:rPr lang="en-US" altLang="zh-CN" sz="32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10000101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215F754-A0F5-01AB-FD69-AA9D27839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702" y="2829550"/>
                <a:ext cx="8254233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105E141-9554-69A4-78F9-5BBB31245D22}"/>
                  </a:ext>
                </a:extLst>
              </p:cNvPr>
              <p:cNvSpPr txBox="1"/>
              <p:nvPr/>
            </p:nvSpPr>
            <p:spPr>
              <a:xfrm>
                <a:off x="1992703" y="3582435"/>
                <a:ext cx="941373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45.6 </m:t>
                          </m:r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10</m:t>
                          </m:r>
                        </m:sub>
                      </m:sSub>
                      <m:r>
                        <a:rPr lang="en-US" altLang="zh-CN" sz="3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r>
                            <a:rPr lang="en-US" altLang="zh-CN" sz="32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101101. 1001⋯ </m:t>
                          </m:r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a:rPr lang="en-US" altLang="zh-CN" sz="32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32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3200" i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  <m:r>
                                <a:rPr lang="en-US" altLang="zh-CN" sz="32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32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D</m:t>
                              </m:r>
                              <m:r>
                                <a:rPr lang="en-US" altLang="zh-CN" sz="320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.9⋯  </m:t>
                              </m:r>
                            </m:e>
                          </m:d>
                        </m:e>
                        <m:sub>
                          <m:r>
                            <a:rPr lang="en-US" altLang="zh-CN" sz="3200" i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16</m:t>
                          </m:r>
                        </m:sub>
                      </m:sSub>
                    </m:oMath>
                  </m:oMathPara>
                </a14:m>
                <a:endParaRPr lang="zh-CN" altLang="en-US" sz="3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731CAF1-4BA0-294B-D32E-00361C405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703" y="3582435"/>
                <a:ext cx="941373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组合 21">
            <a:extLst>
              <a:ext uri="{FF2B5EF4-FFF2-40B4-BE49-F238E27FC236}">
                <a16:creationId xmlns:a16="http://schemas.microsoft.com/office/drawing/2014/main" id="{EEC5A0D9-AC52-F739-6108-BBB6EC07E40B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2A21BE6C-2F1D-0B1B-8A05-16B579E85814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25" name="箭头: 五边形 24">
                <a:extLst>
                  <a:ext uri="{FF2B5EF4-FFF2-40B4-BE49-F238E27FC236}">
                    <a16:creationId xmlns:a16="http://schemas.microsoft.com/office/drawing/2014/main" id="{45CC3B39-8F75-CD0D-F88E-6924083D117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" name="箭头: V 形 25">
                <a:extLst>
                  <a:ext uri="{FF2B5EF4-FFF2-40B4-BE49-F238E27FC236}">
                    <a16:creationId xmlns:a16="http://schemas.microsoft.com/office/drawing/2014/main" id="{806C4D17-288C-60D5-9DA6-72C28B9734F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4" name="灯片编号占位符 3">
              <a:extLst>
                <a:ext uri="{FF2B5EF4-FFF2-40B4-BE49-F238E27FC236}">
                  <a16:creationId xmlns:a16="http://schemas.microsoft.com/office/drawing/2014/main" id="{68183D5F-53D6-F7DC-04FA-2202E4B38FB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标题 1">
            <a:extLst>
              <a:ext uri="{FF2B5EF4-FFF2-40B4-BE49-F238E27FC236}">
                <a16:creationId xmlns:a16="http://schemas.microsoft.com/office/drawing/2014/main" id="{E2D7E165-6CDC-E2E6-FDBB-33594EE846E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数制</a:t>
            </a:r>
            <a:r>
              <a:rPr lang="en-US" altLang="zh-CN" sz="3000" dirty="0" err="1"/>
              <a:t>及其</a:t>
            </a:r>
            <a:r>
              <a:rPr lang="zh-CN" altLang="en-US" sz="3000" dirty="0"/>
              <a:t>转换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不同进制之间的转换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286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1844DA-95F5-CF2B-0EF0-6B6A08A77FD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二进制数的编码及算术运算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AFBBC8-EADE-901B-292A-3D3AC6B86FF7}"/>
              </a:ext>
            </a:extLst>
          </p:cNvPr>
          <p:cNvSpPr txBox="1"/>
          <p:nvPr/>
        </p:nvSpPr>
        <p:spPr>
          <a:xfrm>
            <a:off x="360000" y="828000"/>
            <a:ext cx="1132745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3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二进制数可以进行算术运算</a:t>
            </a:r>
            <a:endParaRPr lang="en-US" altLang="zh-CN" sz="3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3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加、减运算与十进制数运算规则类似，不同在于进位或借位规则</a:t>
            </a:r>
            <a:endParaRPr lang="en-US" altLang="zh-CN" sz="3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3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乘、除运算可以用加、减和移位运算实现</a:t>
            </a:r>
            <a:endParaRPr lang="en-US" altLang="zh-CN" sz="3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3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数据用</a:t>
            </a:r>
            <a:r>
              <a:rPr lang="zh-CN" altLang="en-US" sz="3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</a:t>
            </a:r>
            <a:r>
              <a:rPr lang="zh-CN" altLang="en-US" sz="3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表示，减法可转化为加法运算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F373BB9-3F73-1BE8-ADDB-454744AE8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2418" y="3960000"/>
            <a:ext cx="6507163" cy="143986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rgbClr val="00B0F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加、减、乘、除算术运算</a:t>
            </a:r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全部可以用</a:t>
            </a:r>
            <a:r>
              <a:rPr lang="zh-CN" altLang="en-US" sz="28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加法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zh-CN" altLang="en-US" sz="28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移位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运算来实现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52DCD3-2356-860D-1744-68CE95942D9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A092A3F4-E065-0488-FE76-318091F1FB1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0" name="箭头: 五边形 9">
                <a:extLst>
                  <a:ext uri="{FF2B5EF4-FFF2-40B4-BE49-F238E27FC236}">
                    <a16:creationId xmlns:a16="http://schemas.microsoft.com/office/drawing/2014/main" id="{43FAAD8C-CE1A-56AF-FF74-460C43BBE9EC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" name="箭头: V 形 10">
                <a:extLst>
                  <a:ext uri="{FF2B5EF4-FFF2-40B4-BE49-F238E27FC236}">
                    <a16:creationId xmlns:a16="http://schemas.microsoft.com/office/drawing/2014/main" id="{9A818D77-821F-CC8D-E6D6-FC612FCC6D3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" name="灯片编号占位符 3">
              <a:extLst>
                <a:ext uri="{FF2B5EF4-FFF2-40B4-BE49-F238E27FC236}">
                  <a16:creationId xmlns:a16="http://schemas.microsoft.com/office/drawing/2014/main" id="{5A0F070C-282E-E6ED-CC78-1124741B87F0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5671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585F9-70DF-616F-91E6-605480476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68E9DA47-4F2A-9CA0-7127-E518735B10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530464"/>
              </p:ext>
            </p:extLst>
          </p:nvPr>
        </p:nvGraphicFramePr>
        <p:xfrm>
          <a:off x="936000" y="2736000"/>
          <a:ext cx="3310060" cy="3657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841500" imgH="1625600" progId="Equation.3">
                  <p:embed/>
                </p:oleObj>
              </mc:Choice>
              <mc:Fallback>
                <p:oleObj name="公式" r:id="rId3" imgW="1841500" imgH="1625600" progId="Equation.3">
                  <p:embed/>
                  <p:pic>
                    <p:nvPicPr>
                      <p:cNvPr id="10" name="Object 5">
                        <a:extLst>
                          <a:ext uri="{FF2B5EF4-FFF2-40B4-BE49-F238E27FC236}">
                            <a16:creationId xmlns:a16="http://schemas.microsoft.com/office/drawing/2014/main" id="{8E2A8835-78AE-9DB3-2884-37B2A7021B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000" y="2736000"/>
                        <a:ext cx="3310060" cy="36570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5F8E104E-7780-8DC0-84A5-0784252A17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4229196"/>
              </p:ext>
            </p:extLst>
          </p:nvPr>
        </p:nvGraphicFramePr>
        <p:xfrm>
          <a:off x="2160000" y="828000"/>
          <a:ext cx="2000250" cy="139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939392" imgH="660113" progId="Equation.3">
                  <p:embed/>
                </p:oleObj>
              </mc:Choice>
              <mc:Fallback>
                <p:oleObj name="公式" r:id="rId5" imgW="939392" imgH="660113" progId="Equation.3">
                  <p:embed/>
                  <p:pic>
                    <p:nvPicPr>
                      <p:cNvPr id="8" name="Object 3">
                        <a:extLst>
                          <a:ext uri="{FF2B5EF4-FFF2-40B4-BE49-F238E27FC236}">
                            <a16:creationId xmlns:a16="http://schemas.microsoft.com/office/drawing/2014/main" id="{DE945FC8-69FF-8976-9FD2-C26981DC3C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000" y="828000"/>
                        <a:ext cx="2000250" cy="1395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CE9AD8FE-CB93-ADF5-86EE-E1620BB9B502}"/>
              </a:ext>
            </a:extLst>
          </p:cNvPr>
          <p:cNvSpPr txBox="1"/>
          <p:nvPr/>
        </p:nvSpPr>
        <p:spPr>
          <a:xfrm>
            <a:off x="720000" y="828000"/>
            <a:ext cx="1046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加法：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53975D-4D4E-E4E5-F34F-16E75E0BBDC6}"/>
              </a:ext>
            </a:extLst>
          </p:cNvPr>
          <p:cNvSpPr txBox="1"/>
          <p:nvPr/>
        </p:nvSpPr>
        <p:spPr>
          <a:xfrm>
            <a:off x="5220000" y="828000"/>
            <a:ext cx="1046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减法：</a:t>
            </a:r>
            <a:endParaRPr lang="zh-CN" altLang="en-US" sz="2400" dirty="0"/>
          </a:p>
        </p:txBody>
      </p:sp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A40304FA-8C24-AFE3-C84E-9CEA5C3FDC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5551951"/>
              </p:ext>
            </p:extLst>
          </p:nvPr>
        </p:nvGraphicFramePr>
        <p:xfrm>
          <a:off x="6660000" y="828000"/>
          <a:ext cx="2000250" cy="1400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939392" imgH="660113" progId="Equation.3">
                  <p:embed/>
                </p:oleObj>
              </mc:Choice>
              <mc:Fallback>
                <p:oleObj name="公式" r:id="rId7" imgW="939392" imgH="660113" progId="Equation.3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35DAFF97-2C0D-7A41-D51F-28CA7A0545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0000" y="828000"/>
                        <a:ext cx="2000250" cy="14009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1F3613F-B618-4874-5A74-F37A10E6A01B}"/>
              </a:ext>
            </a:extLst>
          </p:cNvPr>
          <p:cNvSpPr txBox="1"/>
          <p:nvPr/>
        </p:nvSpPr>
        <p:spPr>
          <a:xfrm>
            <a:off x="720000" y="2736000"/>
            <a:ext cx="1046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乘法：</a:t>
            </a:r>
            <a:endParaRPr lang="zh-CN" altLang="en-US" sz="2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F3C90E-63B7-75AC-A64D-D711ACA6685E}"/>
              </a:ext>
            </a:extLst>
          </p:cNvPr>
          <p:cNvSpPr txBox="1"/>
          <p:nvPr/>
        </p:nvSpPr>
        <p:spPr>
          <a:xfrm>
            <a:off x="5220000" y="2736000"/>
            <a:ext cx="10464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除法：</a:t>
            </a:r>
            <a:endParaRPr lang="zh-CN" altLang="en-US" sz="2400" dirty="0"/>
          </a:p>
        </p:txBody>
      </p:sp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A9F7DC70-6775-F599-0F35-AAE53F85FD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6136440"/>
              </p:ext>
            </p:extLst>
          </p:nvPr>
        </p:nvGraphicFramePr>
        <p:xfrm>
          <a:off x="6336000" y="2736000"/>
          <a:ext cx="5011812" cy="3847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565400" imgH="1917700" progId="Equation.3">
                  <p:embed/>
                </p:oleObj>
              </mc:Choice>
              <mc:Fallback>
                <p:oleObj name="公式" r:id="rId9" imgW="2565400" imgH="1917700" progId="Equation.3">
                  <p:embed/>
                  <p:pic>
                    <p:nvPicPr>
                      <p:cNvPr id="11" name="Object 6">
                        <a:extLst>
                          <a:ext uri="{FF2B5EF4-FFF2-40B4-BE49-F238E27FC236}">
                            <a16:creationId xmlns:a16="http://schemas.microsoft.com/office/drawing/2014/main" id="{9B098CF0-E5EB-F705-6E23-42F7E36670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6000" y="2736000"/>
                        <a:ext cx="5011812" cy="38475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96FAAE94-AED9-466B-3074-008F1BF70B1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01E50494-CFD1-985B-E1AA-1915DEB4D5EC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8" name="箭头: 五边形 17">
                <a:extLst>
                  <a:ext uri="{FF2B5EF4-FFF2-40B4-BE49-F238E27FC236}">
                    <a16:creationId xmlns:a16="http://schemas.microsoft.com/office/drawing/2014/main" id="{C65522A1-25C7-9692-BC59-45B6C0D8FAC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" name="箭头: V 形 18">
                <a:extLst>
                  <a:ext uri="{FF2B5EF4-FFF2-40B4-BE49-F238E27FC236}">
                    <a16:creationId xmlns:a16="http://schemas.microsoft.com/office/drawing/2014/main" id="{AB64D4EB-FF74-BDC5-8F2D-6CA4673CC938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灯片编号占位符 3">
              <a:extLst>
                <a:ext uri="{FF2B5EF4-FFF2-40B4-BE49-F238E27FC236}">
                  <a16:creationId xmlns:a16="http://schemas.microsoft.com/office/drawing/2014/main" id="{BC830D3C-ABEE-3B39-9F80-370FC19BAEB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" name="标题 1">
            <a:extLst>
              <a:ext uri="{FF2B5EF4-FFF2-40B4-BE49-F238E27FC236}">
                <a16:creationId xmlns:a16="http://schemas.microsoft.com/office/drawing/2014/main" id="{4DF82889-DEFE-D883-31C4-7D102F8FEA1B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二进制数的编码及算术运算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无符号数算术运算示例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642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26FB7-5C02-52A6-DF2E-48F108F65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57D4105-4A25-455A-B6DD-DC7314BAF2AE}"/>
              </a:ext>
            </a:extLst>
          </p:cNvPr>
          <p:cNvSpPr txBox="1"/>
          <p:nvPr/>
        </p:nvSpPr>
        <p:spPr>
          <a:xfrm>
            <a:off x="360000" y="828000"/>
            <a:ext cx="10156288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二进制数的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原码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反码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</a:t>
            </a:r>
            <a:endParaRPr lang="en-US" altLang="zh-CN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最高位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（符号位）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表示符号：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表示正数，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表示负数 </a:t>
            </a: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余下位表示数值 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（数值位）</a:t>
            </a:r>
            <a:endParaRPr lang="en-US" altLang="zh-CN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E19AC4-C334-FEFB-AB62-4BE2E9338922}"/>
              </a:ext>
            </a:extLst>
          </p:cNvPr>
          <p:cNvSpPr txBox="1"/>
          <p:nvPr/>
        </p:nvSpPr>
        <p:spPr>
          <a:xfrm>
            <a:off x="360000" y="2880000"/>
            <a:ext cx="89119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对于正数，原码、反码和补码都相同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91733D3-1FCE-7CA7-9599-13CD188EA59D}"/>
              </a:ext>
            </a:extLst>
          </p:cNvPr>
          <p:cNvSpPr txBox="1"/>
          <p:nvPr/>
        </p:nvSpPr>
        <p:spPr>
          <a:xfrm>
            <a:off x="360000" y="3960000"/>
            <a:ext cx="876668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对于负数，三种码不同，符号位不变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原码：余下位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数值位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反码：余下位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取反的数值位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补码：余下位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取反的数值位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+ 1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87C0355-89A6-A547-2A9E-76548689AB82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D2884B14-4594-F794-BFCC-BED015E5960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8" name="箭头: 五边形 17">
                <a:extLst>
                  <a:ext uri="{FF2B5EF4-FFF2-40B4-BE49-F238E27FC236}">
                    <a16:creationId xmlns:a16="http://schemas.microsoft.com/office/drawing/2014/main" id="{0DA162E7-C67C-5812-57BF-96C4319CABC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" name="箭头: V 形 18">
                <a:extLst>
                  <a:ext uri="{FF2B5EF4-FFF2-40B4-BE49-F238E27FC236}">
                    <a16:creationId xmlns:a16="http://schemas.microsoft.com/office/drawing/2014/main" id="{2C6C035A-3DD6-6366-AA5C-94B46C450ED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灯片编号占位符 3">
              <a:extLst>
                <a:ext uri="{FF2B5EF4-FFF2-40B4-BE49-F238E27FC236}">
                  <a16:creationId xmlns:a16="http://schemas.microsoft.com/office/drawing/2014/main" id="{5530C850-E157-0A65-0C14-BCC86BB52D7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3" name="标题 1">
            <a:extLst>
              <a:ext uri="{FF2B5EF4-FFF2-40B4-BE49-F238E27FC236}">
                <a16:creationId xmlns:a16="http://schemas.microsoft.com/office/drawing/2014/main" id="{DE1738A0-556C-7BEE-0C2F-F1A47A0FBF2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二进制数的编码及算术运算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有符号数的编码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697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A466E-71A1-1433-84E4-A693D19BF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2CC8C73-95DA-8B59-F816-5291E38BDC1D}"/>
              </a:ext>
            </a:extLst>
          </p:cNvPr>
          <p:cNvSpPr txBox="1"/>
          <p:nvPr/>
        </p:nvSpPr>
        <p:spPr>
          <a:xfrm>
            <a:off x="360001" y="828000"/>
            <a:ext cx="6155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位二进制数码表示有符号数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4FC001-76C3-296E-27E8-19E85F1FF064}"/>
              </a:ext>
            </a:extLst>
          </p:cNvPr>
          <p:cNvSpPr/>
          <p:nvPr/>
        </p:nvSpPr>
        <p:spPr>
          <a:xfrm>
            <a:off x="6912000" y="648000"/>
            <a:ext cx="5149157" cy="12253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300"/>
              </a:spcAft>
            </a:pP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原码：余下位 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数值位</a:t>
            </a:r>
            <a:endParaRPr lang="en-US" altLang="zh-CN" sz="20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300"/>
              </a:spcAft>
            </a:pP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负数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反码：余下位 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取反的数值位</a:t>
            </a:r>
            <a:endParaRPr lang="en-US" altLang="zh-CN" sz="20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300"/>
              </a:spcAft>
            </a:pP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补码：余下位 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取反的数值位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+ 1</a:t>
            </a:r>
          </a:p>
        </p:txBody>
      </p:sp>
      <p:sp>
        <p:nvSpPr>
          <p:cNvPr id="47" name="右大括号 46">
            <a:extLst>
              <a:ext uri="{FF2B5EF4-FFF2-40B4-BE49-F238E27FC236}">
                <a16:creationId xmlns:a16="http://schemas.microsoft.com/office/drawing/2014/main" id="{81615B47-3139-8410-6100-28766E3E9D0F}"/>
              </a:ext>
            </a:extLst>
          </p:cNvPr>
          <p:cNvSpPr/>
          <p:nvPr/>
        </p:nvSpPr>
        <p:spPr>
          <a:xfrm flipH="1">
            <a:off x="7673065" y="817907"/>
            <a:ext cx="242276" cy="908498"/>
          </a:xfrm>
          <a:prstGeom prst="rightBrace">
            <a:avLst>
              <a:gd name="adj1" fmla="val 51969"/>
              <a:gd name="adj2" fmla="val 50000"/>
            </a:avLst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C32FDF7E-9D06-3C9E-C030-DEED0E19EF00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D8DE1B3C-C63B-DE51-1472-83CDED24AF74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0" name="箭头: 五边形 59">
                <a:extLst>
                  <a:ext uri="{FF2B5EF4-FFF2-40B4-BE49-F238E27FC236}">
                    <a16:creationId xmlns:a16="http://schemas.microsoft.com/office/drawing/2014/main" id="{E7269A10-105E-2DF0-502B-785A0F2AF304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1" name="箭头: V 形 60">
                <a:extLst>
                  <a:ext uri="{FF2B5EF4-FFF2-40B4-BE49-F238E27FC236}">
                    <a16:creationId xmlns:a16="http://schemas.microsoft.com/office/drawing/2014/main" id="{8F38230A-3447-B497-6510-BA395A67F278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9" name="灯片编号占位符 3">
              <a:extLst>
                <a:ext uri="{FF2B5EF4-FFF2-40B4-BE49-F238E27FC236}">
                  <a16:creationId xmlns:a16="http://schemas.microsoft.com/office/drawing/2014/main" id="{4852E39C-C904-3526-8BD1-9D57FEE4DEFC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313DCA6-2D86-F000-620B-D721D2DCF3BC}"/>
                  </a:ext>
                </a:extLst>
              </p:cNvPr>
              <p:cNvSpPr txBox="1"/>
              <p:nvPr/>
            </p:nvSpPr>
            <p:spPr>
              <a:xfrm>
                <a:off x="360000" y="4032000"/>
                <a:ext cx="1147863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负数的数值位：</a:t>
                </a:r>
                <a:r>
                  <a: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 N</a:t>
                </a:r>
                <a:r>
                  <a:rPr lang="en-US" altLang="zh-CN" sz="2400" b="0" i="1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2400" b="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</a:t>
                </a:r>
                <a:r>
                  <a:rPr lang="en-US" altLang="zh-CN" sz="2400" b="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 b="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−1−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( |N| )</a:t>
                </a:r>
                <a:r>
                  <a:rPr lang="en-US" altLang="zh-CN" sz="24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 N</a:t>
                </a:r>
                <a:r>
                  <a:rPr lang="en-US" altLang="zh-CN" sz="2400" i="1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24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( |N| )</a:t>
                </a:r>
                <a:r>
                  <a:rPr lang="en-US" altLang="zh-CN" sz="24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为数值位位数</a:t>
                </a: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313DCA6-2D86-F000-620B-D721D2DCF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032000"/>
                <a:ext cx="11478634" cy="461665"/>
              </a:xfrm>
              <a:prstGeom prst="rect">
                <a:avLst/>
              </a:prstGeom>
              <a:blipFill>
                <a:blip r:embed="rId3"/>
                <a:stretch>
                  <a:fillRect l="-797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BB09BED-D3B8-35EC-1C47-07D8E6652414}"/>
                  </a:ext>
                </a:extLst>
              </p:cNvPr>
              <p:cNvSpPr txBox="1"/>
              <p:nvPr/>
            </p:nvSpPr>
            <p:spPr>
              <a:xfrm>
                <a:off x="936000" y="5652000"/>
                <a:ext cx="104397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</m:oMath>
                </a14:m>
                <a:r>
                  <a:rPr lang="en-US" altLang="zh-CN" sz="28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</a:t>
                </a:r>
                <a14:m>
                  <m:oMath xmlns:m="http://schemas.openxmlformats.org/officeDocument/2006/math"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2800" dirty="0">
                    <a:solidFill>
                      <a:srgbClr val="C00000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</m:oMath>
                </a14:m>
                <a:r>
                  <a:rPr lang="en-US" altLang="zh-CN" sz="28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en-US" altLang="zh-CN" sz="2800" baseline="30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2</a:t>
                </a:r>
                <a:r>
                  <a:rPr lang="en-US" altLang="zh-CN" sz="2800" baseline="30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2800" dirty="0">
                    <a:solidFill>
                      <a:srgbClr val="C00000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2</a:t>
                </a:r>
                <a:r>
                  <a:rPr lang="en-US" altLang="zh-CN" sz="2800" baseline="30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2800" dirty="0">
                    <a:solidFill>
                      <a:srgbClr val="C00000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2</a:t>
                </a:r>
                <a:r>
                  <a:rPr lang="en-US" altLang="zh-CN" sz="2800" baseline="30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en-US" altLang="zh-CN" sz="28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011)</a:t>
                </a:r>
                <a:r>
                  <a:rPr lang="en-US" altLang="zh-CN" sz="28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BB09BED-D3B8-35EC-1C47-07D8E6652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000" y="5652000"/>
                <a:ext cx="10439790" cy="523220"/>
              </a:xfrm>
              <a:prstGeom prst="rect">
                <a:avLst/>
              </a:prstGeom>
              <a:blipFill>
                <a:blip r:embed="rId4"/>
                <a:stretch>
                  <a:fillRect t="-12791" b="-30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F55AEF70-2873-E938-F88F-8B9EEA12B855}"/>
              </a:ext>
            </a:extLst>
          </p:cNvPr>
          <p:cNvSpPr txBox="1"/>
          <p:nvPr/>
        </p:nvSpPr>
        <p:spPr>
          <a:xfrm>
            <a:off x="1188000" y="6228000"/>
            <a:ext cx="8375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补码的最高位既是符号位，也可以为数值位（位权为负）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A854E8C-BCF9-1ACD-DFD1-06DC90353482}"/>
                  </a:ext>
                </a:extLst>
              </p:cNvPr>
              <p:cNvSpPr txBox="1"/>
              <p:nvPr/>
            </p:nvSpPr>
            <p:spPr>
              <a:xfrm>
                <a:off x="1079809" y="4799290"/>
                <a:ext cx="51828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原码数值位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反码数值位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(1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⋯</m:t>
                    </m:r>
                  </m:oMath>
                </a14:m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1)</a:t>
                </a:r>
                <a:r>
                  <a:rPr lang="en-US" altLang="zh-CN" sz="20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A854E8C-BCF9-1ACD-DFD1-06DC90353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809" y="4799290"/>
                <a:ext cx="5182862" cy="400110"/>
              </a:xfrm>
              <a:prstGeom prst="rect">
                <a:avLst/>
              </a:prstGeom>
              <a:blipFill>
                <a:blip r:embed="rId8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28BFB55-A397-F314-C84D-2BA66F01958C}"/>
                  </a:ext>
                </a:extLst>
              </p:cNvPr>
              <p:cNvSpPr txBox="1"/>
              <p:nvPr/>
            </p:nvSpPr>
            <p:spPr>
              <a:xfrm>
                <a:off x="6262671" y="4803701"/>
                <a:ext cx="51828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原码数值位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补码数值位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(1 0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⋯</m:t>
                    </m:r>
                  </m:oMath>
                </a14:m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0)</a:t>
                </a:r>
                <a:r>
                  <a:rPr lang="en-US" altLang="zh-CN" sz="20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endPara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28BFB55-A397-F314-C84D-2BA66F019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671" y="4803701"/>
                <a:ext cx="5182862" cy="400110"/>
              </a:xfrm>
              <a:prstGeom prst="rect">
                <a:avLst/>
              </a:prstGeom>
              <a:blipFill>
                <a:blip r:embed="rId9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43B67A7-4A97-2297-57B1-6CDD0FBA76FA}"/>
              </a:ext>
            </a:extLst>
          </p:cNvPr>
          <p:cNvCxnSpPr>
            <a:cxnSpLocks/>
          </p:cNvCxnSpPr>
          <p:nvPr/>
        </p:nvCxnSpPr>
        <p:spPr>
          <a:xfrm>
            <a:off x="4378192" y="4531093"/>
            <a:ext cx="0" cy="268197"/>
          </a:xfrm>
          <a:prstGeom prst="straightConnector1">
            <a:avLst/>
          </a:prstGeom>
          <a:ln w="254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48621A9-74EA-4358-24E3-A351993CD9BD}"/>
              </a:ext>
            </a:extLst>
          </p:cNvPr>
          <p:cNvCxnSpPr>
            <a:cxnSpLocks/>
          </p:cNvCxnSpPr>
          <p:nvPr/>
        </p:nvCxnSpPr>
        <p:spPr>
          <a:xfrm>
            <a:off x="2581973" y="4518309"/>
            <a:ext cx="3393288" cy="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06AE0B1-22C3-EDC4-0084-3E67DF2C03D9}"/>
              </a:ext>
            </a:extLst>
          </p:cNvPr>
          <p:cNvCxnSpPr>
            <a:cxnSpLocks/>
          </p:cNvCxnSpPr>
          <p:nvPr/>
        </p:nvCxnSpPr>
        <p:spPr>
          <a:xfrm>
            <a:off x="6304208" y="4517000"/>
            <a:ext cx="2843546" cy="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D8E43C4-09EF-204D-6BEA-BEDDF93CFA28}"/>
              </a:ext>
            </a:extLst>
          </p:cNvPr>
          <p:cNvCxnSpPr>
            <a:cxnSpLocks/>
          </p:cNvCxnSpPr>
          <p:nvPr/>
        </p:nvCxnSpPr>
        <p:spPr>
          <a:xfrm>
            <a:off x="7790382" y="4531093"/>
            <a:ext cx="0" cy="268197"/>
          </a:xfrm>
          <a:prstGeom prst="straightConnector1">
            <a:avLst/>
          </a:prstGeom>
          <a:ln w="254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右大括号 27">
            <a:extLst>
              <a:ext uri="{FF2B5EF4-FFF2-40B4-BE49-F238E27FC236}">
                <a16:creationId xmlns:a16="http://schemas.microsoft.com/office/drawing/2014/main" id="{94890028-8254-F98C-A3A4-B7758A7B65D8}"/>
              </a:ext>
            </a:extLst>
          </p:cNvPr>
          <p:cNvSpPr/>
          <p:nvPr/>
        </p:nvSpPr>
        <p:spPr>
          <a:xfrm rot="5400000">
            <a:off x="5147876" y="4933850"/>
            <a:ext cx="109007" cy="518298"/>
          </a:xfrm>
          <a:prstGeom prst="rightBrace">
            <a:avLst>
              <a:gd name="adj1" fmla="val 76996"/>
              <a:gd name="adj2" fmla="val 50000"/>
            </a:avLst>
          </a:prstGeom>
          <a:ln w="127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F4CDE3C-42D0-2F2A-490A-C78F38EB202B}"/>
                  </a:ext>
                </a:extLst>
              </p:cNvPr>
              <p:cNvSpPr txBox="1"/>
              <p:nvPr/>
            </p:nvSpPr>
            <p:spPr>
              <a:xfrm>
                <a:off x="4787891" y="5222012"/>
                <a:ext cx="8289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个 </a:t>
                </a:r>
                <a:r>
                  <a:rPr lang="en-US" altLang="zh-CN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zh-CN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3F4CDE3C-42D0-2F2A-490A-C78F38EB2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891" y="5222012"/>
                <a:ext cx="828976" cy="369332"/>
              </a:xfrm>
              <a:prstGeom prst="rect">
                <a:avLst/>
              </a:prstGeom>
              <a:blipFill>
                <a:blip r:embed="rId10"/>
                <a:stretch>
                  <a:fillRect t="-11667" r="-5882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右大括号 41">
            <a:extLst>
              <a:ext uri="{FF2B5EF4-FFF2-40B4-BE49-F238E27FC236}">
                <a16:creationId xmlns:a16="http://schemas.microsoft.com/office/drawing/2014/main" id="{420AE006-F05D-3119-89D7-7EBD77C94CF7}"/>
              </a:ext>
            </a:extLst>
          </p:cNvPr>
          <p:cNvSpPr/>
          <p:nvPr/>
        </p:nvSpPr>
        <p:spPr>
          <a:xfrm rot="5400000">
            <a:off x="10424701" y="4930128"/>
            <a:ext cx="109007" cy="518298"/>
          </a:xfrm>
          <a:prstGeom prst="rightBrace">
            <a:avLst>
              <a:gd name="adj1" fmla="val 76996"/>
              <a:gd name="adj2" fmla="val 50000"/>
            </a:avLst>
          </a:prstGeom>
          <a:ln w="127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2C3BDB8C-6733-ABDF-7A3B-A4C80328AA32}"/>
                  </a:ext>
                </a:extLst>
              </p:cNvPr>
              <p:cNvSpPr txBox="1"/>
              <p:nvPr/>
            </p:nvSpPr>
            <p:spPr>
              <a:xfrm>
                <a:off x="10064716" y="5218290"/>
                <a:ext cx="8289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个 </a:t>
                </a:r>
                <a:r>
                  <a:rPr lang="en-US" altLang="zh-CN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zh-CN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2C3BDB8C-6733-ABDF-7A3B-A4C80328A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16" y="5218290"/>
                <a:ext cx="828976" cy="369332"/>
              </a:xfrm>
              <a:prstGeom prst="rect">
                <a:avLst/>
              </a:prstGeom>
              <a:blipFill>
                <a:blip r:embed="rId11"/>
                <a:stretch>
                  <a:fillRect t="-9836" r="-5882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组合 24">
            <a:extLst>
              <a:ext uri="{FF2B5EF4-FFF2-40B4-BE49-F238E27FC236}">
                <a16:creationId xmlns:a16="http://schemas.microsoft.com/office/drawing/2014/main" id="{2B1BA144-D9AE-66EA-1BF6-E24B40553D9D}"/>
              </a:ext>
            </a:extLst>
          </p:cNvPr>
          <p:cNvGrpSpPr/>
          <p:nvPr/>
        </p:nvGrpSpPr>
        <p:grpSpPr>
          <a:xfrm>
            <a:off x="1298307" y="1975999"/>
            <a:ext cx="9595386" cy="1975195"/>
            <a:chOff x="1298307" y="1975999"/>
            <a:chExt cx="9595386" cy="19751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C5F5DB3-EE59-2377-F3FA-F2739D00590D}"/>
                    </a:ext>
                  </a:extLst>
                </p:cNvPr>
                <p:cNvSpPr txBox="1"/>
                <p:nvPr/>
              </p:nvSpPr>
              <p:spPr>
                <a:xfrm>
                  <a:off x="1891180" y="2966438"/>
                  <a:ext cx="7366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</m:oMath>
                  </a14:m>
                  <a:r>
                    <a:rPr lang="en-US" altLang="zh-CN" sz="280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5</a:t>
                  </a:r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CC5F5DB3-EE59-2377-F3FA-F2739D0059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1180" y="2966438"/>
                  <a:ext cx="736613" cy="523220"/>
                </a:xfrm>
                <a:prstGeom prst="rect">
                  <a:avLst/>
                </a:prstGeom>
                <a:blipFill>
                  <a:blip r:embed="rId12"/>
                  <a:stretch>
                    <a:fillRect t="-12941" r="-11570" b="-3294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0BD5C95-A709-58E1-2193-8246C50A9EA0}"/>
                </a:ext>
              </a:extLst>
            </p:cNvPr>
            <p:cNvSpPr txBox="1"/>
            <p:nvPr/>
          </p:nvSpPr>
          <p:spPr>
            <a:xfrm>
              <a:off x="4278617" y="2966438"/>
              <a:ext cx="113666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101</a:t>
              </a:r>
              <a:endPara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879467C4-156E-467F-316E-B68F57B3E103}"/>
                    </a:ext>
                  </a:extLst>
                </p:cNvPr>
                <p:cNvSpPr txBox="1"/>
                <p:nvPr/>
              </p:nvSpPr>
              <p:spPr>
                <a:xfrm>
                  <a:off x="1891180" y="3427974"/>
                  <a:ext cx="73661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</m:oMath>
                  </a14:m>
                  <a:r>
                    <a:rPr lang="en-US" altLang="zh-CN" sz="280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5</a:t>
                  </a:r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879467C4-156E-467F-316E-B68F57B3E1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1180" y="3427974"/>
                  <a:ext cx="736613" cy="523220"/>
                </a:xfrm>
                <a:prstGeom prst="rect">
                  <a:avLst/>
                </a:prstGeom>
                <a:blipFill>
                  <a:blip r:embed="rId13"/>
                  <a:stretch>
                    <a:fillRect t="-11628" r="-11570" b="-313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4591812F-151C-E0EE-AB72-DEBAEC6CC301}"/>
                    </a:ext>
                  </a:extLst>
                </p:cNvPr>
                <p:cNvSpPr txBox="1"/>
                <p:nvPr/>
              </p:nvSpPr>
              <p:spPr>
                <a:xfrm>
                  <a:off x="1755705" y="1975999"/>
                  <a:ext cx="135199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十进制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4591812F-151C-E0EE-AB72-DEBAEC6CC3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5705" y="1975999"/>
                  <a:ext cx="1351997" cy="461665"/>
                </a:xfrm>
                <a:prstGeom prst="rect">
                  <a:avLst/>
                </a:prstGeom>
                <a:blipFill>
                  <a:blip r:embed="rId14"/>
                  <a:stretch>
                    <a:fillRect b="-157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A03C60D-D71F-829D-CFBB-35A09FE5A005}"/>
                </a:ext>
              </a:extLst>
            </p:cNvPr>
            <p:cNvSpPr txBox="1"/>
            <p:nvPr/>
          </p:nvSpPr>
          <p:spPr>
            <a:xfrm>
              <a:off x="5461529" y="1976964"/>
              <a:ext cx="35210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二进制（</a:t>
              </a:r>
              <a:r>
                <a: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</a:t>
              </a:r>
              <a:r>
                <a: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位数值位）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60F88A9-5729-90F2-2B03-4097AB3437E3}"/>
                </a:ext>
              </a:extLst>
            </p:cNvPr>
            <p:cNvSpPr txBox="1"/>
            <p:nvPr/>
          </p:nvSpPr>
          <p:spPr>
            <a:xfrm>
              <a:off x="4287790" y="2437664"/>
              <a:ext cx="113666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原码</a:t>
              </a: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613B0A72-0A65-4FB8-24A1-95D04D8C843C}"/>
                </a:ext>
              </a:extLst>
            </p:cNvPr>
            <p:cNvCxnSpPr>
              <a:cxnSpLocks/>
            </p:cNvCxnSpPr>
            <p:nvPr/>
          </p:nvCxnSpPr>
          <p:spPr>
            <a:xfrm>
              <a:off x="1298308" y="2430583"/>
              <a:ext cx="959538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A700ED7-A7C4-09B0-4B8F-3F4C41E18C10}"/>
                </a:ext>
              </a:extLst>
            </p:cNvPr>
            <p:cNvSpPr txBox="1"/>
            <p:nvPr/>
          </p:nvSpPr>
          <p:spPr>
            <a:xfrm>
              <a:off x="6767914" y="2433702"/>
              <a:ext cx="9082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反码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2787B483-C414-74B0-3C6D-FA62D860530B}"/>
                </a:ext>
              </a:extLst>
            </p:cNvPr>
            <p:cNvSpPr txBox="1"/>
            <p:nvPr/>
          </p:nvSpPr>
          <p:spPr>
            <a:xfrm>
              <a:off x="8936322" y="2437664"/>
              <a:ext cx="9082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补码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512E016F-3379-55F6-A3A0-659CB9207704}"/>
                </a:ext>
              </a:extLst>
            </p:cNvPr>
            <p:cNvSpPr txBox="1"/>
            <p:nvPr/>
          </p:nvSpPr>
          <p:spPr>
            <a:xfrm>
              <a:off x="4287790" y="3427974"/>
              <a:ext cx="113666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101</a:t>
              </a:r>
              <a:endPara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FA12FA04-C2F1-4875-1B32-19DCC8A5E7B7}"/>
                </a:ext>
              </a:extLst>
            </p:cNvPr>
            <p:cNvSpPr txBox="1"/>
            <p:nvPr/>
          </p:nvSpPr>
          <p:spPr>
            <a:xfrm>
              <a:off x="6653718" y="2966438"/>
              <a:ext cx="113666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101</a:t>
              </a:r>
              <a:endPara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3E64291B-A959-FF76-DE85-2C8A4B908E5F}"/>
                </a:ext>
              </a:extLst>
            </p:cNvPr>
            <p:cNvSpPr txBox="1"/>
            <p:nvPr/>
          </p:nvSpPr>
          <p:spPr>
            <a:xfrm>
              <a:off x="8822126" y="2961671"/>
              <a:ext cx="113666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101</a:t>
              </a:r>
              <a:endPara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D8C2A8E8-B606-1447-4A75-0B393F9D2C0A}"/>
                </a:ext>
              </a:extLst>
            </p:cNvPr>
            <p:cNvSpPr txBox="1"/>
            <p:nvPr/>
          </p:nvSpPr>
          <p:spPr>
            <a:xfrm>
              <a:off x="6653717" y="3427974"/>
              <a:ext cx="113666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010</a:t>
              </a:r>
              <a:endPara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DA36BD67-93CB-A9E9-97EE-F2CDB380C8E7}"/>
                </a:ext>
              </a:extLst>
            </p:cNvPr>
            <p:cNvSpPr txBox="1"/>
            <p:nvPr/>
          </p:nvSpPr>
          <p:spPr>
            <a:xfrm>
              <a:off x="8822126" y="3427974"/>
              <a:ext cx="113666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011</a:t>
              </a:r>
              <a:endPara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A9B8D6DF-AD94-A69A-B9CC-C99763D98C11}"/>
                </a:ext>
              </a:extLst>
            </p:cNvPr>
            <p:cNvCxnSpPr>
              <a:cxnSpLocks/>
            </p:cNvCxnSpPr>
            <p:nvPr/>
          </p:nvCxnSpPr>
          <p:spPr>
            <a:xfrm>
              <a:off x="1298307" y="2895367"/>
              <a:ext cx="959538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35B53E5-2AC7-700A-43C2-9BC6AFEBBAD3}"/>
                </a:ext>
              </a:extLst>
            </p:cNvPr>
            <p:cNvCxnSpPr>
              <a:cxnSpLocks/>
            </p:cNvCxnSpPr>
            <p:nvPr/>
          </p:nvCxnSpPr>
          <p:spPr>
            <a:xfrm>
              <a:off x="1298307" y="3950480"/>
              <a:ext cx="959538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ACA07A61-103D-7A2D-527A-13EEE8A4A66C}"/>
                </a:ext>
              </a:extLst>
            </p:cNvPr>
            <p:cNvCxnSpPr>
              <a:cxnSpLocks/>
            </p:cNvCxnSpPr>
            <p:nvPr/>
          </p:nvCxnSpPr>
          <p:spPr>
            <a:xfrm>
              <a:off x="3477519" y="2437664"/>
              <a:ext cx="0" cy="151281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标题 1">
            <a:extLst>
              <a:ext uri="{FF2B5EF4-FFF2-40B4-BE49-F238E27FC236}">
                <a16:creationId xmlns:a16="http://schemas.microsoft.com/office/drawing/2014/main" id="{7BA385EB-1A76-E256-E31A-5B7F52574F4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二进制数的编码及算术运算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原码、反码、补码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01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6" grpId="0"/>
      <p:bldP spid="9" grpId="0"/>
      <p:bldP spid="28" grpId="0" animBg="1"/>
      <p:bldP spid="41" grpId="0"/>
      <p:bldP spid="42" grpId="0" animBg="1"/>
      <p:bldP spid="4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2A9A7B-E953-79CB-CF11-6A7E0482CD1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二进制数的编码及算术运算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不同编码的对比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aphicFrame>
        <p:nvGraphicFramePr>
          <p:cNvPr id="3" name="Group 132">
            <a:extLst>
              <a:ext uri="{FF2B5EF4-FFF2-40B4-BE49-F238E27FC236}">
                <a16:creationId xmlns:a16="http://schemas.microsoft.com/office/drawing/2014/main" id="{C99B84F9-6BB4-407D-00FD-AAE0D2B7E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973521"/>
              </p:ext>
            </p:extLst>
          </p:nvPr>
        </p:nvGraphicFramePr>
        <p:xfrm>
          <a:off x="2086911" y="764179"/>
          <a:ext cx="8351520" cy="5869566"/>
        </p:xfrm>
        <a:graphic>
          <a:graphicData uri="http://schemas.openxmlformats.org/drawingml/2006/table">
            <a:tbl>
              <a:tblPr/>
              <a:tblGrid>
                <a:gridCol w="1680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14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9569">
                  <a:extLst>
                    <a:ext uri="{9D8B030D-6E8A-4147-A177-3AD203B41FA5}">
                      <a16:colId xmlns:a16="http://schemas.microsoft.com/office/drawing/2014/main" val="264488353"/>
                    </a:ext>
                  </a:extLst>
                </a:gridCol>
                <a:gridCol w="1669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239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二进制数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无符号数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原码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反码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补码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76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71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0001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476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0010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476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0011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476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0100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476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0101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476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0110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371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0111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5476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-8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5476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5476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1010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5476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1011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5476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1100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371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1101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5476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1110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5476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1111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4" name="Rectangle 130">
            <a:extLst>
              <a:ext uri="{FF2B5EF4-FFF2-40B4-BE49-F238E27FC236}">
                <a16:creationId xmlns:a16="http://schemas.microsoft.com/office/drawing/2014/main" id="{BA1CE43C-FA82-9A74-53ED-A394D5BEC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671" y="3881842"/>
            <a:ext cx="8636000" cy="2751903"/>
          </a:xfrm>
          <a:prstGeom prst="rect">
            <a:avLst/>
          </a:prstGeom>
          <a:noFill/>
          <a:ln w="5080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60C6D8A-EDFE-BF06-3F7D-90E15E730FEB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D52E19D4-D1A8-00A3-F749-2279340D4D6D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" name="箭头: 五边形 7">
                <a:extLst>
                  <a:ext uri="{FF2B5EF4-FFF2-40B4-BE49-F238E27FC236}">
                    <a16:creationId xmlns:a16="http://schemas.microsoft.com/office/drawing/2014/main" id="{F6BDDED9-CE6A-6C98-ACF8-B7AAF211C61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766B7E36-B564-3121-C418-0D8E891026B0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3F3D03F4-B789-333D-2CB7-FEF1A565A27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722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DB81C-44E0-F9F5-A28F-087756986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F555D728-B1E6-2A87-474F-E2E34830B20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二进制数的编码及算术运算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由补码求实际值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34FB677-AA18-0F03-AD3E-9259172DA8B1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8521292" cy="1462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补码 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  实际值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正数：实际值 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补码</a:t>
                </a:r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负数：实际值 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</m:oMath>
                </a14:m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( 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补码按位取反加 </a:t>
                </a:r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1 )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 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补码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1 )</a:t>
                </a:r>
                <a:endParaRPr lang="zh-CN" altLang="en-US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34FB677-AA18-0F03-AD3E-9259172DA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8521292" cy="1462836"/>
              </a:xfrm>
              <a:prstGeom prst="rect">
                <a:avLst/>
              </a:prstGeom>
              <a:blipFill>
                <a:blip r:embed="rId3"/>
                <a:stretch>
                  <a:fillRect l="-1431" t="-5000" b="-5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73360C91-0A2C-5DE1-A601-20F8410E1821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C2333962-702A-B034-FD3F-5217AC5C620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6" name="箭头: 五边形 15">
                <a:extLst>
                  <a:ext uri="{FF2B5EF4-FFF2-40B4-BE49-F238E27FC236}">
                    <a16:creationId xmlns:a16="http://schemas.microsoft.com/office/drawing/2014/main" id="{7423DE9C-69C0-DB35-FA71-729268AD1748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" name="箭头: V 形 16">
                <a:extLst>
                  <a:ext uri="{FF2B5EF4-FFF2-40B4-BE49-F238E27FC236}">
                    <a16:creationId xmlns:a16="http://schemas.microsoft.com/office/drawing/2014/main" id="{26A1B3B1-FF30-1BCD-43CB-0E435D01FEB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" name="灯片编号占位符 3">
              <a:extLst>
                <a:ext uri="{FF2B5EF4-FFF2-40B4-BE49-F238E27FC236}">
                  <a16:creationId xmlns:a16="http://schemas.microsoft.com/office/drawing/2014/main" id="{3A8A12D4-5965-A0E9-FCAE-3410EE60A66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84F466C-2E48-E685-1CB4-1AFBF04521DB}"/>
                  </a:ext>
                </a:extLst>
              </p:cNvPr>
              <p:cNvSpPr txBox="1"/>
              <p:nvPr/>
            </p:nvSpPr>
            <p:spPr>
              <a:xfrm>
                <a:off x="360001" y="2376000"/>
                <a:ext cx="100650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某负数，原码为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，反码为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，补码为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，可得：</a:t>
                </a:r>
                <a:endPara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84F466C-2E48-E685-1CB4-1AFBF0452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2376000"/>
                <a:ext cx="10065088" cy="400110"/>
              </a:xfrm>
              <a:prstGeom prst="rect">
                <a:avLst/>
              </a:prstGeom>
              <a:blipFill>
                <a:blip r:embed="rId4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D949DE2E-2628-B4C2-B6F9-45FE123E8659}"/>
                  </a:ext>
                </a:extLst>
              </p:cNvPr>
              <p:cNvSpPr txBox="1"/>
              <p:nvPr/>
            </p:nvSpPr>
            <p:spPr>
              <a:xfrm>
                <a:off x="360000" y="2972173"/>
                <a:ext cx="10347328" cy="4798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1 1 1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0 0 1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 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0 0 1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sub>
                    </m:sSub>
                  </m:oMath>
                </a14:m>
                <a:r>
                  <a:rPr lang="en-US" altLang="zh-CN" sz="200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D949DE2E-2628-B4C2-B6F9-45FE123E8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972173"/>
                <a:ext cx="10347328" cy="479811"/>
              </a:xfrm>
              <a:prstGeom prst="rect">
                <a:avLst/>
              </a:prstGeom>
              <a:blipFill>
                <a:blip r:embed="rId5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AC18054D-ABA4-983F-6359-C85FD8EEAF85}"/>
                  </a:ext>
                </a:extLst>
              </p:cNvPr>
              <p:cNvSpPr txBox="1"/>
              <p:nvPr/>
            </p:nvSpPr>
            <p:spPr>
              <a:xfrm>
                <a:off x="8474825" y="3629847"/>
                <a:ext cx="117856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AC18054D-ABA4-983F-6359-C85FD8EEA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825" y="3629847"/>
                <a:ext cx="1178560" cy="369332"/>
              </a:xfrm>
              <a:prstGeom prst="rect">
                <a:avLst/>
              </a:prstGeom>
              <a:blipFill>
                <a:blip r:embed="rId6"/>
                <a:stretch>
                  <a:fillRect r="-61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169D0444-5338-FEB0-3C69-9E719143938D}"/>
                  </a:ext>
                </a:extLst>
              </p:cNvPr>
              <p:cNvSpPr txBox="1"/>
              <p:nvPr/>
            </p:nvSpPr>
            <p:spPr>
              <a:xfrm>
                <a:off x="5669265" y="3629847"/>
                <a:ext cx="13022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zh-CN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zh-CN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169D0444-5338-FEB0-3C69-9E7191439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65" y="3629847"/>
                <a:ext cx="130227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32E7F555-BB0A-038D-CB56-9D0C0E2A2EBE}"/>
              </a:ext>
            </a:extLst>
          </p:cNvPr>
          <p:cNvCxnSpPr>
            <a:cxnSpLocks/>
          </p:cNvCxnSpPr>
          <p:nvPr/>
        </p:nvCxnSpPr>
        <p:spPr>
          <a:xfrm>
            <a:off x="7876854" y="3442814"/>
            <a:ext cx="2376681" cy="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3FBDC358-6559-785B-4041-D33CCB9C2A5F}"/>
              </a:ext>
            </a:extLst>
          </p:cNvPr>
          <p:cNvCxnSpPr>
            <a:cxnSpLocks/>
          </p:cNvCxnSpPr>
          <p:nvPr/>
        </p:nvCxnSpPr>
        <p:spPr>
          <a:xfrm>
            <a:off x="9064105" y="3442814"/>
            <a:ext cx="0" cy="214409"/>
          </a:xfrm>
          <a:prstGeom prst="straightConnector1">
            <a:avLst/>
          </a:prstGeom>
          <a:ln w="254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E09541D4-7CCF-B6F8-2ED3-095D88F37AA9}"/>
              </a:ext>
            </a:extLst>
          </p:cNvPr>
          <p:cNvCxnSpPr>
            <a:cxnSpLocks/>
          </p:cNvCxnSpPr>
          <p:nvPr/>
        </p:nvCxnSpPr>
        <p:spPr>
          <a:xfrm>
            <a:off x="6320400" y="3442814"/>
            <a:ext cx="0" cy="214409"/>
          </a:xfrm>
          <a:prstGeom prst="straightConnector1">
            <a:avLst/>
          </a:prstGeom>
          <a:ln w="25400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E4BDAE0E-9919-719A-0126-16DE08F56EAE}"/>
              </a:ext>
            </a:extLst>
          </p:cNvPr>
          <p:cNvCxnSpPr>
            <a:cxnSpLocks/>
          </p:cNvCxnSpPr>
          <p:nvPr/>
        </p:nvCxnSpPr>
        <p:spPr>
          <a:xfrm>
            <a:off x="5172966" y="3442814"/>
            <a:ext cx="2365513" cy="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5E41BCB3-1E66-634A-32AD-C8DF302432C1}"/>
              </a:ext>
            </a:extLst>
          </p:cNvPr>
          <p:cNvGrpSpPr/>
          <p:nvPr/>
        </p:nvGrpSpPr>
        <p:grpSpPr>
          <a:xfrm>
            <a:off x="7801901" y="2008304"/>
            <a:ext cx="3058011" cy="1990875"/>
            <a:chOff x="7497628" y="1729918"/>
            <a:chExt cx="3058011" cy="1990875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E9089165-E744-1DD3-F44F-BD699B9B24E5}"/>
                </a:ext>
              </a:extLst>
            </p:cNvPr>
            <p:cNvSpPr/>
            <p:nvPr/>
          </p:nvSpPr>
          <p:spPr>
            <a:xfrm>
              <a:off x="7497628" y="2671677"/>
              <a:ext cx="2509445" cy="1049116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91FE4477-2155-4B7A-BCA4-16EA34F596B3}"/>
                </a:ext>
              </a:extLst>
            </p:cNvPr>
            <p:cNvCxnSpPr>
              <a:cxnSpLocks/>
              <a:stCxn id="70" idx="3"/>
            </p:cNvCxnSpPr>
            <p:nvPr/>
          </p:nvCxnSpPr>
          <p:spPr>
            <a:xfrm>
              <a:off x="10007073" y="3196235"/>
              <a:ext cx="525489" cy="0"/>
            </a:xfrm>
            <a:prstGeom prst="line">
              <a:avLst/>
            </a:prstGeom>
            <a:ln w="38100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4F5DC342-4102-9404-E502-646396FFC657}"/>
                </a:ext>
              </a:extLst>
            </p:cNvPr>
            <p:cNvCxnSpPr>
              <a:cxnSpLocks/>
            </p:cNvCxnSpPr>
            <p:nvPr/>
          </p:nvCxnSpPr>
          <p:spPr>
            <a:xfrm>
              <a:off x="10555639" y="1729918"/>
              <a:ext cx="0" cy="1511837"/>
            </a:xfrm>
            <a:prstGeom prst="line">
              <a:avLst/>
            </a:prstGeom>
            <a:ln w="38100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ABD90C1C-2E94-2B51-34FE-65B1D12AA8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08203" y="1747593"/>
              <a:ext cx="2192983" cy="0"/>
            </a:xfrm>
            <a:prstGeom prst="line">
              <a:avLst/>
            </a:prstGeom>
            <a:ln w="38100">
              <a:solidFill>
                <a:srgbClr val="C000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B921D50C-9BEF-80D4-85BD-F6FFF2838497}"/>
                  </a:ext>
                </a:extLst>
              </p:cNvPr>
              <p:cNvSpPr txBox="1"/>
              <p:nvPr/>
            </p:nvSpPr>
            <p:spPr>
              <a:xfrm>
                <a:off x="1708120" y="4613061"/>
                <a:ext cx="556235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 X )</a:t>
                </a:r>
                <a:r>
                  <a:rPr lang="zh-CN" altLang="en-US" sz="24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0100111</m:t>
                        </m:r>
                        <m:r>
                          <a:rPr lang="en-US" altLang="zh-CN" sz="2400" b="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  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 </a:t>
                </a:r>
                <a14:m>
                  <m:oMath xmlns:m="http://schemas.openxmlformats.org/officeDocument/2006/math">
                    <m:r>
                      <a:rPr lang="en-US" altLang="zh-CN" sz="24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?</a:t>
                </a:r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B921D50C-9BEF-80D4-85BD-F6FFF2838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120" y="4613061"/>
                <a:ext cx="5562358" cy="461665"/>
              </a:xfrm>
              <a:prstGeom prst="rect">
                <a:avLst/>
              </a:prstGeom>
              <a:blipFill>
                <a:blip r:embed="rId8"/>
                <a:stretch>
                  <a:fillRect l="-1643"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EC6DD1FD-97EE-FA3F-563F-FC1A8A9DB14C}"/>
                  </a:ext>
                </a:extLst>
              </p:cNvPr>
              <p:cNvSpPr txBox="1"/>
              <p:nvPr/>
            </p:nvSpPr>
            <p:spPr>
              <a:xfrm>
                <a:off x="1708121" y="5236482"/>
                <a:ext cx="556235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 X )</a:t>
                </a:r>
                <a:r>
                  <a:rPr lang="zh-CN" altLang="en-US" sz="24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1100100</m:t>
                        </m:r>
                        <m:r>
                          <a:rPr lang="en-US" altLang="zh-CN" sz="2400" b="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  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 </a:t>
                </a:r>
                <a14:m>
                  <m:oMath xmlns:m="http://schemas.openxmlformats.org/officeDocument/2006/math">
                    <m:r>
                      <a:rPr lang="en-US" altLang="zh-CN" sz="24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?</a:t>
                </a:r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EC6DD1FD-97EE-FA3F-563F-FC1A8A9DB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121" y="5236482"/>
                <a:ext cx="5562357" cy="461665"/>
              </a:xfrm>
              <a:prstGeom prst="rect">
                <a:avLst/>
              </a:prstGeom>
              <a:blipFill>
                <a:blip r:embed="rId9"/>
                <a:stretch>
                  <a:fillRect l="-1643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A23D5903-4FD8-A191-B058-1846498DD606}"/>
                  </a:ext>
                </a:extLst>
              </p:cNvPr>
              <p:cNvSpPr txBox="1"/>
              <p:nvPr/>
            </p:nvSpPr>
            <p:spPr>
              <a:xfrm>
                <a:off x="1708122" y="5854610"/>
                <a:ext cx="556235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 X )</a:t>
                </a:r>
                <a:r>
                  <a:rPr lang="zh-CN" altLang="en-US" sz="24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0000000</m:t>
                        </m:r>
                        <m:r>
                          <a:rPr lang="en-US" altLang="zh-CN" sz="2400" b="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B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  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 </a:t>
                </a:r>
                <a14:m>
                  <m:oMath xmlns:m="http://schemas.openxmlformats.org/officeDocument/2006/math">
                    <m:r>
                      <a:rPr lang="en-US" altLang="zh-CN" sz="24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?</a:t>
                </a:r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A23D5903-4FD8-A191-B058-1846498DD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122" y="5854610"/>
                <a:ext cx="5562356" cy="461665"/>
              </a:xfrm>
              <a:prstGeom prst="rect">
                <a:avLst/>
              </a:prstGeom>
              <a:blipFill>
                <a:blip r:embed="rId10"/>
                <a:stretch>
                  <a:fillRect l="-1643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2739C010-B48A-5E67-4BAA-BEBBD972A050}"/>
                  </a:ext>
                </a:extLst>
              </p:cNvPr>
              <p:cNvSpPr txBox="1"/>
              <p:nvPr/>
            </p:nvSpPr>
            <p:spPr>
              <a:xfrm>
                <a:off x="7117470" y="4613060"/>
                <a:ext cx="21049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2400" b="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100111</m:t>
                          </m:r>
                          <m:r>
                            <a:rPr lang="en-US" altLang="zh-CN" sz="2400" b="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2739C010-B48A-5E67-4BAA-BEBBD972A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7470" y="4613060"/>
                <a:ext cx="2104920" cy="461665"/>
              </a:xfrm>
              <a:prstGeom prst="rect">
                <a:avLst/>
              </a:prstGeom>
              <a:blipFill>
                <a:blip r:embed="rId11"/>
                <a:stretch>
                  <a:fillRect l="-290" b="-18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C14D7193-9962-77A3-45B6-DB124FFA5306}"/>
                  </a:ext>
                </a:extLst>
              </p:cNvPr>
              <p:cNvSpPr txBox="1"/>
              <p:nvPr/>
            </p:nvSpPr>
            <p:spPr>
              <a:xfrm>
                <a:off x="7117470" y="5236482"/>
                <a:ext cx="21049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sz="2400" b="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11100</m:t>
                          </m:r>
                          <m:r>
                            <a:rPr lang="en-US" altLang="zh-CN" sz="2400" b="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C14D7193-9962-77A3-45B6-DB124FFA5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7470" y="5236482"/>
                <a:ext cx="2104920" cy="461665"/>
              </a:xfrm>
              <a:prstGeom prst="rect">
                <a:avLst/>
              </a:prstGeom>
              <a:blipFill>
                <a:blip r:embed="rId12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41CFE6B3-B6DD-6E78-A342-E13BDC27D9EE}"/>
                  </a:ext>
                </a:extLst>
              </p:cNvPr>
              <p:cNvSpPr txBox="1"/>
              <p:nvPr/>
            </p:nvSpPr>
            <p:spPr>
              <a:xfrm>
                <a:off x="7117470" y="5854610"/>
                <a:ext cx="232637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sz="2400" b="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(</m:t>
                          </m:r>
                          <m:r>
                            <a:rPr lang="en-US" altLang="zh-CN" sz="240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10000000</m:t>
                          </m:r>
                          <m:r>
                            <a:rPr lang="en-US" altLang="zh-CN" sz="2400" b="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)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41CFE6B3-B6DD-6E78-A342-E13BDC27D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7470" y="5854610"/>
                <a:ext cx="2326376" cy="461665"/>
              </a:xfrm>
              <a:prstGeom prst="rect">
                <a:avLst/>
              </a:prstGeom>
              <a:blipFill>
                <a:blip r:embed="rId1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54DF76D-D585-4B62-FD74-AF1D9BE11D7F}"/>
              </a:ext>
            </a:extLst>
          </p:cNvPr>
          <p:cNvCxnSpPr>
            <a:cxnSpLocks/>
          </p:cNvCxnSpPr>
          <p:nvPr/>
        </p:nvCxnSpPr>
        <p:spPr>
          <a:xfrm>
            <a:off x="7173639" y="1786557"/>
            <a:ext cx="5825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713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1" grpId="0"/>
      <p:bldP spid="57" grpId="0"/>
      <p:bldP spid="58" grpId="0"/>
      <p:bldP spid="91" grpId="0"/>
      <p:bldP spid="93" grpId="0"/>
      <p:bldP spid="94" grpId="0"/>
      <p:bldP spid="95" grpId="0"/>
      <p:bldP spid="97" grpId="0"/>
      <p:bldP spid="9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E7CF7-4750-3742-2D0C-38BDB1BA8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8BEA0-BF13-1AAA-FF8B-6D16A515681E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二进制数的编码及算术运算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补码的加减运算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pic>
        <p:nvPicPr>
          <p:cNvPr id="29" name="Picture 26">
            <a:extLst>
              <a:ext uri="{FF2B5EF4-FFF2-40B4-BE49-F238E27FC236}">
                <a16:creationId xmlns:a16="http://schemas.microsoft.com/office/drawing/2014/main" id="{7901AC48-4C3F-7F2B-6B96-789A621F4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133" y="3626702"/>
            <a:ext cx="2888505" cy="2885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01FB6E9D-6B9D-ED5E-ABD5-E5ED2778344C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DD3E1E62-C75B-A83E-AB73-F7AD97851AF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3" name="箭头: 五边形 32">
                <a:extLst>
                  <a:ext uri="{FF2B5EF4-FFF2-40B4-BE49-F238E27FC236}">
                    <a16:creationId xmlns:a16="http://schemas.microsoft.com/office/drawing/2014/main" id="{BDB46F9F-D504-22E3-C2F1-F053173A4856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" name="箭头: V 形 33">
                <a:extLst>
                  <a:ext uri="{FF2B5EF4-FFF2-40B4-BE49-F238E27FC236}">
                    <a16:creationId xmlns:a16="http://schemas.microsoft.com/office/drawing/2014/main" id="{3ADB011D-0869-0265-9C84-6E04056D7D7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2" name="灯片编号占位符 3">
              <a:extLst>
                <a:ext uri="{FF2B5EF4-FFF2-40B4-BE49-F238E27FC236}">
                  <a16:creationId xmlns:a16="http://schemas.microsoft.com/office/drawing/2014/main" id="{C5747F2A-E54C-5FB6-D211-451B64B5F61E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51821690-D89A-D5E1-348E-0C03AB05B837}"/>
              </a:ext>
            </a:extLst>
          </p:cNvPr>
          <p:cNvSpPr txBox="1"/>
          <p:nvPr/>
        </p:nvSpPr>
        <p:spPr>
          <a:xfrm>
            <a:off x="2700000" y="2268000"/>
            <a:ext cx="88927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chemeClr val="accent5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将 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zh-CN" altLang="en-US" sz="2000" b="0" i="0" dirty="0">
                <a:solidFill>
                  <a:schemeClr val="accent5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的补码的所有位（包括符号位）按位取反后加 </a:t>
            </a:r>
            <a:r>
              <a:rPr lang="en-US" altLang="zh-CN" sz="2000" b="0" i="0" dirty="0">
                <a:solidFill>
                  <a:schemeClr val="accent5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0" i="0" dirty="0">
                <a:solidFill>
                  <a:schemeClr val="accent5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，即可得到 </a:t>
            </a:r>
            <a:r>
              <a:rPr lang="en-US" altLang="zh-CN" sz="2000" b="0" i="0" dirty="0">
                <a:solidFill>
                  <a:schemeClr val="accent5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Y) </a:t>
            </a:r>
            <a:r>
              <a:rPr lang="zh-CN" altLang="en-US" sz="2000" b="0" i="0" dirty="0">
                <a:solidFill>
                  <a:schemeClr val="accent5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的补码</a:t>
            </a:r>
            <a:endParaRPr lang="zh-CN" altLang="en-US" sz="20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B3BB5033-205E-B929-9E5C-7CF85BD6F498}"/>
                  </a:ext>
                </a:extLst>
              </p:cNvPr>
              <p:cNvSpPr txBox="1"/>
              <p:nvPr/>
            </p:nvSpPr>
            <p:spPr>
              <a:xfrm>
                <a:off x="4449600" y="4896000"/>
                <a:ext cx="699699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时钟的模为 </a:t>
                </a:r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 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 </a:t>
                </a:r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 </m:t>
                    </m:r>
                  </m:oMath>
                </a14:m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5) 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对模 </a:t>
                </a:r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 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的补码</a:t>
                </a:r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因此，</a:t>
                </a:r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(10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</m:oMath>
                </a14:m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5) 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可用 </a:t>
                </a:r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(10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7) 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舍去进位 </a:t>
                </a:r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 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完成</a:t>
                </a: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B3BB5033-205E-B929-9E5C-7CF85BD6F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600" y="4896000"/>
                <a:ext cx="6996991" cy="830997"/>
              </a:xfrm>
              <a:prstGeom prst="rect">
                <a:avLst/>
              </a:prstGeom>
              <a:blipFill>
                <a:blip r:embed="rId4"/>
                <a:stretch>
                  <a:fillRect l="-1394" t="-588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B571B09-44F8-1F5B-17F3-A5493877B237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8892702" cy="1415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采用补码，可以用加法来实现减法运算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加法：</a:t>
                </a:r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 X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Y )</a:t>
                </a:r>
                <a:r>
                  <a:rPr lang="zh-CN" altLang="en-US" sz="2400" baseline="-250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 </a:t>
                </a:r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 ( X )</a:t>
                </a:r>
                <a:r>
                  <a:rPr lang="zh-CN" altLang="en-US" sz="2400" baseline="-250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( Y )</a:t>
                </a:r>
                <a:r>
                  <a:rPr lang="zh-CN" altLang="en-US" sz="2400" baseline="-250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</a:t>
                </a:r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减法：</a:t>
                </a:r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 X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</m:oMath>
                </a14:m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Y )</a:t>
                </a:r>
                <a:r>
                  <a:rPr lang="zh-CN" altLang="en-US" sz="2400" baseline="-250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 </a:t>
                </a:r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 ( X )</a:t>
                </a:r>
                <a:r>
                  <a:rPr lang="zh-CN" altLang="en-US" sz="2400" baseline="-250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24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</m:oMath>
                </a14:m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 )</a:t>
                </a:r>
                <a:r>
                  <a:rPr lang="zh-CN" altLang="en-US" sz="2400" baseline="-250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</a:t>
                </a:r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= ( X )</a:t>
                </a:r>
                <a:r>
                  <a:rPr lang="zh-CN" altLang="en-US" sz="2400" baseline="-250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( Y )</a:t>
                </a:r>
                <a:r>
                  <a:rPr lang="zh-CN" altLang="en-US" sz="2400" baseline="-250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</a:t>
                </a:r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1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B571B09-44F8-1F5B-17F3-A5493877B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8892702" cy="1415772"/>
              </a:xfrm>
              <a:prstGeom prst="rect">
                <a:avLst/>
              </a:prstGeom>
              <a:blipFill>
                <a:blip r:embed="rId5"/>
                <a:stretch>
                  <a:fillRect l="-1371" t="-4741" b="-90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7E078AD-D693-1407-1911-40A20E3101C0}"/>
              </a:ext>
            </a:extLst>
          </p:cNvPr>
          <p:cNvCxnSpPr>
            <a:cxnSpLocks/>
          </p:cNvCxnSpPr>
          <p:nvPr/>
        </p:nvCxnSpPr>
        <p:spPr>
          <a:xfrm>
            <a:off x="7273344" y="1803713"/>
            <a:ext cx="74697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EA869A8C-B707-FCDD-5331-7C72A650F262}"/>
              </a:ext>
            </a:extLst>
          </p:cNvPr>
          <p:cNvSpPr txBox="1"/>
          <p:nvPr/>
        </p:nvSpPr>
        <p:spPr>
          <a:xfrm>
            <a:off x="4140000" y="4140000"/>
            <a:ext cx="7640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“模”（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 M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）：一个计数系统的进位基数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E8B10DF-F33F-2D30-719F-C59BD19D1AFD}"/>
              </a:ext>
            </a:extLst>
          </p:cNvPr>
          <p:cNvSpPr txBox="1"/>
          <p:nvPr/>
        </p:nvSpPr>
        <p:spPr>
          <a:xfrm>
            <a:off x="359999" y="2736000"/>
            <a:ext cx="112087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减去某个数可以用加上它的负数的补码来完成（有进位舍去进位）</a:t>
            </a:r>
            <a:endParaRPr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7913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12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0FD7BF-6AE7-607B-81A5-D1B5CEDD9052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二进制数的编码及算术运算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补码的加减运算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6DCE93A-A81B-F130-97FC-117A91B32F4B}"/>
                  </a:ext>
                </a:extLst>
              </p:cNvPr>
              <p:cNvSpPr txBox="1"/>
              <p:nvPr/>
            </p:nvSpPr>
            <p:spPr>
              <a:xfrm>
                <a:off x="360000" y="1080000"/>
                <a:ext cx="622423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300"/>
                  </a:spcAft>
                </a:pP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 X )</a:t>
                </a:r>
                <a:r>
                  <a:rPr lang="zh-CN" altLang="en-US" sz="2800" baseline="-250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= 1010   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   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(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 )</a:t>
                </a:r>
                <a:r>
                  <a:rPr lang="zh-CN" altLang="en-US" sz="2800" baseline="-250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= ? </a:t>
                </a:r>
                <a:endParaRPr lang="zh-CN" altLang="en-US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6DCE93A-A81B-F130-97FC-117A91B32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080000"/>
                <a:ext cx="6224235" cy="523220"/>
              </a:xfrm>
              <a:prstGeom prst="rect">
                <a:avLst/>
              </a:prstGeom>
              <a:blipFill>
                <a:blip r:embed="rId3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8FE33B2-4395-0D61-0429-9B4C36EC79D4}"/>
                  </a:ext>
                </a:extLst>
              </p:cNvPr>
              <p:cNvSpPr txBox="1"/>
              <p:nvPr/>
            </p:nvSpPr>
            <p:spPr>
              <a:xfrm>
                <a:off x="360000" y="4320000"/>
                <a:ext cx="37662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3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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 X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Wingdings" panose="05000000000000000000" pitchFamily="2" charset="2"/>
                      </a:rPr>
                      <m:t>+</m:t>
                    </m:r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Y )</a:t>
                </a:r>
                <a:r>
                  <a:rPr lang="zh-CN" altLang="en-US" sz="2800" baseline="-250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= ?</a:t>
                </a:r>
                <a:endParaRPr lang="zh-CN" altLang="en-US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8FE33B2-4395-0D61-0429-9B4C36EC7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320000"/>
                <a:ext cx="3766259" cy="523220"/>
              </a:xfrm>
              <a:prstGeom prst="rect">
                <a:avLst/>
              </a:prstGeom>
              <a:blipFill>
                <a:blip r:embed="rId4"/>
                <a:stretch>
                  <a:fillRect t="-14118" b="-3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F8778B4-0BD4-818C-F220-EDEF4C9C5326}"/>
                  </a:ext>
                </a:extLst>
              </p:cNvPr>
              <p:cNvSpPr txBox="1"/>
              <p:nvPr/>
            </p:nvSpPr>
            <p:spPr>
              <a:xfrm>
                <a:off x="360000" y="2340000"/>
                <a:ext cx="7289635" cy="1415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 =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 </m:t>
                    </m:r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5,  Y = 3</a:t>
                </a:r>
                <a:endParaRPr lang="zh-CN" altLang="en-US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 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 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0101,  (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5 )</a:t>
                </a:r>
                <a:r>
                  <a:rPr lang="zh-CN" altLang="en-US" sz="24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 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1010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Wingdings" panose="05000000000000000000" pitchFamily="2" charset="2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 1 = 1011 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 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0011,  (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3 )</a:t>
                </a:r>
                <a:r>
                  <a:rPr lang="zh-CN" altLang="en-US" sz="24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 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1100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Wingdings" panose="05000000000000000000" pitchFamily="2" charset="2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 1 = 1101 </a:t>
                </a:r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F8778B4-0BD4-818C-F220-EDEF4C9C5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340000"/>
                <a:ext cx="7289635" cy="1415772"/>
              </a:xfrm>
              <a:prstGeom prst="rect">
                <a:avLst/>
              </a:prstGeom>
              <a:blipFill>
                <a:blip r:embed="rId5"/>
                <a:stretch>
                  <a:fillRect t="-4741" b="-90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469E8D9-5843-803E-4D7A-078A3E511AFB}"/>
                  </a:ext>
                </a:extLst>
              </p:cNvPr>
              <p:cNvSpPr txBox="1"/>
              <p:nvPr/>
            </p:nvSpPr>
            <p:spPr>
              <a:xfrm>
                <a:off x="360000" y="5148000"/>
                <a:ext cx="376625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3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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 X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Y )</a:t>
                </a:r>
                <a:r>
                  <a:rPr lang="zh-CN" altLang="en-US" sz="2800" baseline="-250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= ?</a:t>
                </a:r>
                <a:endParaRPr lang="zh-CN" altLang="en-US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469E8D9-5843-803E-4D7A-078A3E511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148000"/>
                <a:ext cx="3766259" cy="523220"/>
              </a:xfrm>
              <a:prstGeom prst="rect">
                <a:avLst/>
              </a:prstGeom>
              <a:blipFill>
                <a:blip r:embed="rId6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E7891DF-C37D-FB35-E148-6BB74569350C}"/>
                  </a:ext>
                </a:extLst>
              </p:cNvPr>
              <p:cNvSpPr txBox="1"/>
              <p:nvPr/>
            </p:nvSpPr>
            <p:spPr>
              <a:xfrm>
                <a:off x="4068000" y="4320000"/>
                <a:ext cx="609460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1011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Wingdings" panose="05000000000000000000" pitchFamily="2" charset="2"/>
                      </a:rPr>
                      <m:t>+</m:t>
                    </m:r>
                  </m:oMath>
                </a14:m>
                <a:r>
                  <a:rPr lang="en-US" altLang="zh-CN" sz="28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 0011 = 1110  </a:t>
                </a:r>
                <a:r>
                  <a:rPr lang="zh-CN" altLang="en-US" sz="28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</a:t>
                </a:r>
                <a:r>
                  <a:rPr lang="en-US" altLang="zh-CN" sz="28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  (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</m:oMath>
                </a14:m>
                <a:r>
                  <a:rPr lang="en-US" altLang="zh-CN" sz="28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2 )</a:t>
                </a:r>
                <a:r>
                  <a:rPr lang="zh-CN" altLang="en-US" sz="2800" baseline="-25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</a:t>
                </a:r>
                <a:endParaRPr lang="zh-CN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E7891DF-C37D-FB35-E148-6BB745693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00" y="4320000"/>
                <a:ext cx="6094602" cy="523220"/>
              </a:xfrm>
              <a:prstGeom prst="rect">
                <a:avLst/>
              </a:prstGeom>
              <a:blipFill>
                <a:blip r:embed="rId7"/>
                <a:stretch>
                  <a:fillRect l="-2000" t="-15294" b="-3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14E7C90-B89C-D3F6-58D7-23632A289141}"/>
                  </a:ext>
                </a:extLst>
              </p:cNvPr>
              <p:cNvSpPr txBox="1"/>
              <p:nvPr/>
            </p:nvSpPr>
            <p:spPr>
              <a:xfrm>
                <a:off x="6731008" y="1080000"/>
                <a:ext cx="227341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0110  (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Wingdings" panose="05000000000000000000" pitchFamily="2" charset="2"/>
                      </a:rPr>
                      <m:t>+</m:t>
                    </m:r>
                  </m:oMath>
                </a14:m>
                <a:r>
                  <a:rPr lang="en-US" altLang="zh-CN" sz="28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6 )</a:t>
                </a:r>
                <a:endParaRPr lang="zh-CN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14E7C90-B89C-D3F6-58D7-23632A289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008" y="1080000"/>
                <a:ext cx="2273415" cy="523220"/>
              </a:xfrm>
              <a:prstGeom prst="rect">
                <a:avLst/>
              </a:prstGeom>
              <a:blipFill>
                <a:blip r:embed="rId8"/>
                <a:stretch>
                  <a:fillRect l="-5362" t="-12791" b="-30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4">
                <a:extLst>
                  <a:ext uri="{FF2B5EF4-FFF2-40B4-BE49-F238E27FC236}">
                    <a16:creationId xmlns:a16="http://schemas.microsoft.com/office/drawing/2014/main" id="{8ECE679F-6519-FA4D-FFC6-3001761541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8000" y="5148000"/>
                <a:ext cx="7502375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None/>
                </a:pPr>
                <a:r>
                  <a:rPr lang="en-US" altLang="zh-CN" sz="2800" b="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1011 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Wingdings" panose="05000000000000000000" pitchFamily="2" charset="2"/>
                      </a:rPr>
                      <m:t>+ </m:t>
                    </m:r>
                  </m:oMath>
                </a14:m>
                <a:r>
                  <a:rPr lang="en-US" altLang="zh-CN" sz="2800" b="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1101 = </a:t>
                </a:r>
                <a:r>
                  <a:rPr lang="en-US" altLang="zh-CN" sz="2800" b="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2800" b="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1000  </a:t>
                </a:r>
                <a:r>
                  <a:rPr lang="zh-CN" altLang="en-US" sz="2800" b="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  </a:t>
                </a:r>
                <a:r>
                  <a:rPr lang="en-US" altLang="zh-CN" sz="2800" b="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1000  </a:t>
                </a:r>
                <a:r>
                  <a:rPr lang="zh-CN" altLang="en-US" sz="2800" b="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 </a:t>
                </a:r>
                <a:r>
                  <a:rPr lang="en-US" altLang="zh-CN" sz="2800" b="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( </a:t>
                </a:r>
                <a14:m>
                  <m:oMath xmlns:m="http://schemas.openxmlformats.org/officeDocument/2006/math">
                    <m:r>
                      <a:rPr lang="en-US" altLang="zh-CN" sz="2800" b="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</m:oMath>
                </a14:m>
                <a:r>
                  <a:rPr lang="en-US" altLang="zh-CN" sz="2800" b="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8 )</a:t>
                </a:r>
                <a:r>
                  <a:rPr lang="zh-CN" altLang="en-US" sz="2800" b="0" baseline="-25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</a:t>
                </a:r>
                <a:endParaRPr lang="en-US" altLang="zh-CN" sz="2800" b="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Rectangle 4">
                <a:extLst>
                  <a:ext uri="{FF2B5EF4-FFF2-40B4-BE49-F238E27FC236}">
                    <a16:creationId xmlns:a16="http://schemas.microsoft.com/office/drawing/2014/main" id="{8ECE679F-6519-FA4D-FFC6-3001761541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8000" y="5148000"/>
                <a:ext cx="7502375" cy="523220"/>
              </a:xfrm>
              <a:prstGeom prst="rect">
                <a:avLst/>
              </a:prstGeom>
              <a:blipFill>
                <a:blip r:embed="rId9"/>
                <a:stretch>
                  <a:fillRect l="-1625" t="-12791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F7582E4B-E195-9AAD-3B0C-748C579D34E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2774079-C7F4-AA7D-AB2F-5CB6D24B0338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" name="箭头: 五边形 8">
                <a:extLst>
                  <a:ext uri="{FF2B5EF4-FFF2-40B4-BE49-F238E27FC236}">
                    <a16:creationId xmlns:a16="http://schemas.microsoft.com/office/drawing/2014/main" id="{D1EB2321-11E9-7740-8D8E-38D25A3D1136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" name="箭头: V 形 10">
                <a:extLst>
                  <a:ext uri="{FF2B5EF4-FFF2-40B4-BE49-F238E27FC236}">
                    <a16:creationId xmlns:a16="http://schemas.microsoft.com/office/drawing/2014/main" id="{4F49C77E-8070-0180-B99B-95A2B7FFB1CC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" name="灯片编号占位符 3">
              <a:extLst>
                <a:ext uri="{FF2B5EF4-FFF2-40B4-BE49-F238E27FC236}">
                  <a16:creationId xmlns:a16="http://schemas.microsoft.com/office/drawing/2014/main" id="{8143F61F-F25A-C274-1E12-DD505E33DBD0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A6F38C1-8092-C519-AF8A-4B01FE7C7EE5}"/>
                  </a:ext>
                </a:extLst>
              </p:cNvPr>
              <p:cNvSpPr txBox="1"/>
              <p:nvPr/>
            </p:nvSpPr>
            <p:spPr>
              <a:xfrm>
                <a:off x="2226120" y="1645093"/>
                <a:ext cx="677830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b="0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 </a:t>
                </a:r>
                <a:r>
                  <a:rPr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 </a:t>
                </a:r>
                <a:r>
                  <a:rPr lang="zh-CN" altLang="en-US" sz="2000" b="0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的补码按位取反后加 </a:t>
                </a:r>
                <a:r>
                  <a:rPr lang="en-US" altLang="zh-CN" sz="2000" b="0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000" b="0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，即可得到 </a:t>
                </a:r>
                <a:r>
                  <a:rPr lang="en-US" altLang="zh-CN" sz="2000" b="0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sz="20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–</m:t>
                    </m:r>
                  </m:oMath>
                </a14:m>
                <a:r>
                  <a:rPr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X) </a:t>
                </a:r>
                <a:r>
                  <a:rPr lang="zh-CN" altLang="en-US" sz="2000" b="0" i="0" dirty="0">
                    <a:solidFill>
                      <a:schemeClr val="accent5">
                        <a:lumMod val="75000"/>
                      </a:schemeClr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的补码</a:t>
                </a:r>
                <a:endPara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A6F38C1-8092-C519-AF8A-4B01FE7C7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6120" y="1645093"/>
                <a:ext cx="6778304" cy="400110"/>
              </a:xfrm>
              <a:prstGeom prst="rect">
                <a:avLst/>
              </a:prstGeom>
              <a:blipFill>
                <a:blip r:embed="rId10"/>
                <a:stretch>
                  <a:fillRect l="-899" t="-9231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287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2" grpId="0"/>
      <p:bldP spid="13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2B97F-0AB3-F54D-F178-94A8EC71D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AB1B57-923D-64D0-235F-877BCE6E7EC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二进制数的编码及算术运算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补码运算的溢出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1F23070-ECA3-2D9C-903F-08695065D08D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160D600-A0A1-97EA-4902-ACF91A741001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5" name="箭头: 五边形 14">
                <a:extLst>
                  <a:ext uri="{FF2B5EF4-FFF2-40B4-BE49-F238E27FC236}">
                    <a16:creationId xmlns:a16="http://schemas.microsoft.com/office/drawing/2014/main" id="{4722AE9D-2159-4FD4-5EF0-D41FAB88634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" name="箭头: V 形 15">
                <a:extLst>
                  <a:ext uri="{FF2B5EF4-FFF2-40B4-BE49-F238E27FC236}">
                    <a16:creationId xmlns:a16="http://schemas.microsoft.com/office/drawing/2014/main" id="{9A6EA0BF-15D8-16AA-AEDA-ED65659CB92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" name="灯片编号占位符 3">
              <a:extLst>
                <a:ext uri="{FF2B5EF4-FFF2-40B4-BE49-F238E27FC236}">
                  <a16:creationId xmlns:a16="http://schemas.microsoft.com/office/drawing/2014/main" id="{63164A48-CF1E-2E07-4104-5E44DFDAC9E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64BBB1E-0276-1BFA-58DA-85BA05EF89FC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891194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位二进制补码表示范围：</a:t>
                </a:r>
                <a:r>
                  <a:rPr lang="en-US" altLang="zh-CN" sz="2800" dirty="0">
                    <a:solidFill>
                      <a:srgbClr val="002060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sSup>
                      <m:sSupPr>
                        <m:ctrlPr>
                          <a:rPr lang="en-US" altLang="zh-CN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p>
                      <m:sSupPr>
                        <m:ctrlPr>
                          <a:rPr lang="en-US" altLang="zh-CN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en-US" altLang="zh-CN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p>
                    </m:sSup>
                    <m:r>
                      <a:rPr lang="en-US" altLang="zh-CN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−1)</m:t>
                    </m:r>
                  </m:oMath>
                </a14:m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64BBB1E-0276-1BFA-58DA-85BA05EF8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8911941" cy="523220"/>
              </a:xfrm>
              <a:prstGeom prst="rect">
                <a:avLst/>
              </a:prstGeom>
              <a:blipFill>
                <a:blip r:embed="rId3"/>
                <a:stretch>
                  <a:fillRect t="-13953" b="-30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C60E1301-6527-2DFE-D604-433663449258}"/>
              </a:ext>
            </a:extLst>
          </p:cNvPr>
          <p:cNvSpPr txBox="1"/>
          <p:nvPr/>
        </p:nvSpPr>
        <p:spPr>
          <a:xfrm>
            <a:off x="360000" y="1548000"/>
            <a:ext cx="8911941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溢出：运算的结果超出了补码的表示范围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两个数，同号相减、异号相加，不会溢出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两个数，同号相加、异号相减，可能溢出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7C7D9BA-B3ED-5EDD-0C60-6068A2A989B5}"/>
              </a:ext>
            </a:extLst>
          </p:cNvPr>
          <p:cNvSpPr txBox="1"/>
          <p:nvPr/>
        </p:nvSpPr>
        <p:spPr>
          <a:xfrm>
            <a:off x="360000" y="3168000"/>
            <a:ext cx="10877484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溢出判别：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Aft>
                <a:spcPts val="600"/>
              </a:spcAft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两个加数的符号相同，而和的符号与它们不同，则运算结果错误，产生溢出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C3BD9C3-6BDA-0132-C39A-91BDF4B31191}"/>
                  </a:ext>
                </a:extLst>
              </p:cNvPr>
              <p:cNvSpPr txBox="1"/>
              <p:nvPr/>
            </p:nvSpPr>
            <p:spPr>
              <a:xfrm>
                <a:off x="360000" y="4428000"/>
                <a:ext cx="10603747" cy="18004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( 4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3 )</a:t>
                </a:r>
                <a:r>
                  <a:rPr lang="zh-CN" altLang="en-US" sz="24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( 4 )</a:t>
                </a:r>
                <a:r>
                  <a:rPr lang="zh-CN" altLang="en-US" sz="24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( 3 )</a:t>
                </a:r>
                <a:r>
                  <a:rPr lang="zh-CN" altLang="en-US" sz="24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100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011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111		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无溢出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spcAft>
                    <a:spcPts val="600"/>
                  </a:spcAft>
                </a:pP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( 6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2 )</a:t>
                </a:r>
                <a:r>
                  <a:rPr lang="zh-CN" altLang="en-US" sz="24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( 6 )</a:t>
                </a:r>
                <a:r>
                  <a:rPr lang="zh-CN" altLang="en-US" sz="24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2)</a:t>
                </a:r>
                <a:r>
                  <a:rPr lang="zh-CN" altLang="en-US" sz="24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110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100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[1]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100		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无溢出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spcAft>
                    <a:spcPts val="600"/>
                  </a:spcAft>
                </a:pP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( 7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6 )</a:t>
                </a:r>
                <a:r>
                  <a:rPr lang="zh-CN" altLang="en-US" sz="24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( 7 )</a:t>
                </a:r>
                <a:r>
                  <a:rPr lang="zh-CN" altLang="en-US" sz="24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( 6 )</a:t>
                </a:r>
                <a:r>
                  <a:rPr lang="zh-CN" altLang="en-US" sz="24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111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110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101		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溢出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spcAft>
                    <a:spcPts val="600"/>
                  </a:spcAft>
                </a:pP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5)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 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4))</a:t>
                </a:r>
                <a:r>
                  <a:rPr lang="zh-CN" altLang="en-US" sz="24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5)</a:t>
                </a:r>
                <a:r>
                  <a:rPr lang="zh-CN" altLang="en-US" sz="24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4)</a:t>
                </a:r>
                <a:r>
                  <a:rPr lang="zh-CN" altLang="en-US" sz="24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011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100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[1]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111	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溢出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C3BD9C3-6BDA-0132-C39A-91BDF4B31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428000"/>
                <a:ext cx="10603747" cy="1800493"/>
              </a:xfrm>
              <a:prstGeom prst="rect">
                <a:avLst/>
              </a:prstGeom>
              <a:blipFill>
                <a:blip r:embed="rId4"/>
                <a:stretch>
                  <a:fillRect t="-2703" b="-60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5827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B5E91-4CDB-C17D-DDFA-CFB115640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4F32D40-E768-ACC1-4786-21F293B9D3AB}"/>
              </a:ext>
            </a:extLst>
          </p:cNvPr>
          <p:cNvSpPr/>
          <p:nvPr/>
        </p:nvSpPr>
        <p:spPr>
          <a:xfrm>
            <a:off x="8632800" y="1854000"/>
            <a:ext cx="860025" cy="314506"/>
          </a:xfrm>
          <a:prstGeom prst="rect">
            <a:avLst/>
          </a:prstGeom>
          <a:solidFill>
            <a:srgbClr val="FFFF00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DE1732-13A2-B23F-78A2-E59B3743C57F}"/>
              </a:ext>
            </a:extLst>
          </p:cNvPr>
          <p:cNvSpPr/>
          <p:nvPr/>
        </p:nvSpPr>
        <p:spPr>
          <a:xfrm>
            <a:off x="2862000" y="1854000"/>
            <a:ext cx="860025" cy="314506"/>
          </a:xfrm>
          <a:prstGeom prst="rect">
            <a:avLst/>
          </a:prstGeom>
          <a:solidFill>
            <a:srgbClr val="FFC8C8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69E96BA-BD6E-00C0-CED3-71F3C7C7D4C8}"/>
              </a:ext>
            </a:extLst>
          </p:cNvPr>
          <p:cNvSpPr/>
          <p:nvPr/>
        </p:nvSpPr>
        <p:spPr>
          <a:xfrm>
            <a:off x="2862000" y="1407066"/>
            <a:ext cx="860025" cy="314506"/>
          </a:xfrm>
          <a:prstGeom prst="rect">
            <a:avLst/>
          </a:prstGeom>
          <a:solidFill>
            <a:srgbClr val="FFFF00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70CF78-2920-B2A7-183C-1F0518857D10}"/>
              </a:ext>
            </a:extLst>
          </p:cNvPr>
          <p:cNvSpPr/>
          <p:nvPr/>
        </p:nvSpPr>
        <p:spPr>
          <a:xfrm>
            <a:off x="8632800" y="1407066"/>
            <a:ext cx="860025" cy="314506"/>
          </a:xfrm>
          <a:prstGeom prst="rect">
            <a:avLst/>
          </a:prstGeom>
          <a:solidFill>
            <a:srgbClr val="FFC8C8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40683E6-B849-507C-47CB-EE1A5D20573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二进制数的编码及算术运算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补码的一些性质补充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BB9D123-CEF1-F915-7438-71BCF8651B57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10957081" cy="1415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对于正数，补码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反码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原码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对于负数，补码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反码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+ 1</a:t>
                </a: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−9=</m:t>
                    </m:r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1001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baseline="-250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补</m:t>
                    </m:r>
                  </m:oMath>
                </a14:m>
                <a:r>
                  <a:rPr lang="zh-CN" altLang="en-US" sz="24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zh-CN" altLang="en-US" sz="2400" i="1" baseline="-2500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反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+1=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0110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1=</m:t>
                    </m:r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0111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=−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7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11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baseline="-250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补</m:t>
                    </m:r>
                  </m:oMath>
                </a14:m>
                <a:r>
                  <a:rPr lang="zh-CN" altLang="en-US" sz="2400" baseline="-25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zh-CN" altLang="en-US" sz="2400" i="1" baseline="-250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反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+1=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00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0+1=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00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BB9D123-CEF1-F915-7438-71BCF8651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10957081" cy="1415772"/>
              </a:xfrm>
              <a:prstGeom prst="rect">
                <a:avLst/>
              </a:prstGeom>
              <a:blipFill>
                <a:blip r:embed="rId3"/>
                <a:stretch>
                  <a:fillRect l="-1002" t="-4741" b="-86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6CEE4A0B-5051-CB08-2A35-F5C4F9F416F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6AE583C7-8861-D742-9C38-0F9A44031AB1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" name="箭头: 五边形 7">
                <a:extLst>
                  <a:ext uri="{FF2B5EF4-FFF2-40B4-BE49-F238E27FC236}">
                    <a16:creationId xmlns:a16="http://schemas.microsoft.com/office/drawing/2014/main" id="{BCFD5D69-8183-3E6F-FFCA-F7D0ACA96EBA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3E67700F-D203-6609-31A2-4BB3492A210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180F6C18-D7FD-894E-F7AA-FBC0080C934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9498DD7-C683-10C5-330F-F92E035013D3}"/>
                  </a:ext>
                </a:extLst>
              </p:cNvPr>
              <p:cNvSpPr txBox="1"/>
              <p:nvPr/>
            </p:nvSpPr>
            <p:spPr>
              <a:xfrm>
                <a:off x="360000" y="2448000"/>
                <a:ext cx="10782399" cy="23616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X</m:t>
                    </m:r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s</m:t>
                    </m:r>
                    <m:r>
                      <a:rPr lang="en-US" altLang="zh-CN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b>
                    </m:sSub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⋯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s</m:t>
                    </m:r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为符号位，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b>
                    </m:sSub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⋯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数值位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s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X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</m:d>
                    <m:r>
                      <m:rPr>
                        <m:nor/>
                      </m:rPr>
                      <a:rPr lang="zh-CN" altLang="en-US" sz="2400" baseline="-250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补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X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s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X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&lt;0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，设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</m:d>
                    <m:r>
                      <m:rPr>
                        <m:nor/>
                      </m:rPr>
                      <a:rPr lang="zh-CN" altLang="en-US" sz="2400" baseline="-250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补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，那么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lvl="2"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X</m:t>
                      </m:r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⋯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1</m:t>
                      </m:r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accPr>
                            <m:e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X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zh-CN" altLang="en-US" sz="2400" baseline="-25000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m:t>补</m:t>
                              </m:r>
                            </m:e>
                          </m:acc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e>
                      </m:d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=−</m:t>
                      </m:r>
                      <m:acc>
                        <m:accPr>
                          <m:chr m:val="̅"/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accPr>
                        <m:e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X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zh-CN" altLang="en-US" sz="2400" baseline="-250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m:t>补</m:t>
                          </m:r>
                        </m:e>
                      </m:acc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+1</m:t>
                      </m:r>
                    </m:oMath>
                  </m:oMathPara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ea typeface="微软雅黑" panose="020B0503020204020204" pitchFamily="34" charset="-122"/>
                </a:endParaRPr>
              </a:p>
              <a:p>
                <a:pPr lvl="2"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即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保持符号位不变，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</m:d>
                    <m:r>
                      <m:rPr>
                        <m:nor/>
                      </m:rPr>
                      <a:rPr lang="zh-CN" altLang="en-US" sz="2400" baseline="-250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补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的数值位取反加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，就能得到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X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（实际值）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9498DD7-C683-10C5-330F-F92E03501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448000"/>
                <a:ext cx="10782399" cy="2361609"/>
              </a:xfrm>
              <a:prstGeom prst="rect">
                <a:avLst/>
              </a:prstGeom>
              <a:blipFill>
                <a:blip r:embed="rId4"/>
                <a:stretch>
                  <a:fillRect l="-1018" t="-2842" b="-51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箭头: 右弧形 20">
            <a:extLst>
              <a:ext uri="{FF2B5EF4-FFF2-40B4-BE49-F238E27FC236}">
                <a16:creationId xmlns:a16="http://schemas.microsoft.com/office/drawing/2014/main" id="{9EB11CAA-E6C2-8F65-E2C5-95983CADE70F}"/>
              </a:ext>
            </a:extLst>
          </p:cNvPr>
          <p:cNvSpPr/>
          <p:nvPr/>
        </p:nvSpPr>
        <p:spPr>
          <a:xfrm flipV="1">
            <a:off x="9709325" y="1754159"/>
            <a:ext cx="663868" cy="1988921"/>
          </a:xfrm>
          <a:prstGeom prst="curvedLeftArrow">
            <a:avLst>
              <a:gd name="adj1" fmla="val 26382"/>
              <a:gd name="adj2" fmla="val 49441"/>
              <a:gd name="adj3" fmla="val 25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ABE482C-570B-911D-D5D1-8947417CC1E1}"/>
              </a:ext>
            </a:extLst>
          </p:cNvPr>
          <p:cNvSpPr txBox="1"/>
          <p:nvPr/>
        </p:nvSpPr>
        <p:spPr>
          <a:xfrm>
            <a:off x="10368000" y="2376000"/>
            <a:ext cx="17311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补码的补码就是原码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7DEAE6B-D487-AEBE-E52D-14E75B34DE24}"/>
                  </a:ext>
                </a:extLst>
              </p:cNvPr>
              <p:cNvSpPr txBox="1"/>
              <p:nvPr/>
            </p:nvSpPr>
            <p:spPr>
              <a:xfrm>
                <a:off x="360000" y="5148000"/>
                <a:ext cx="6884768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en-US" altLang="zh-CN" sz="320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  <m:sub>
                        <m:r>
                          <a:rPr lang="en-US" altLang="zh-CN" sz="3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   =</m:t>
                    </m:r>
                    <m:r>
                      <a:rPr lang="en-US" altLang="zh-CN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sz="3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1001</m:t>
                    </m:r>
                    <m:r>
                      <a:rPr lang="en-US" altLang="zh-CN" sz="3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3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sz="32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000001001</m:t>
                    </m:r>
                  </m:oMath>
                </a14:m>
                <a:endParaRPr lang="en-US" altLang="zh-CN" sz="32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32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32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sz="32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zh-CN" altLang="en-US" sz="3200" baseline="-250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m:t>补</m:t>
                      </m:r>
                      <m:r>
                        <a:rPr lang="en-US" altLang="zh-CN" sz="3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1</m:t>
                      </m:r>
                      <m:r>
                        <a:rPr lang="en-US" altLang="zh-CN" sz="32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0111=</m:t>
                      </m:r>
                      <m:r>
                        <a:rPr lang="en-US" altLang="zh-CN" sz="3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1</m:t>
                      </m:r>
                      <m:r>
                        <a:rPr lang="en-US" altLang="zh-CN" sz="32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1</m:t>
                      </m:r>
                      <m:r>
                        <a:rPr lang="en-US" altLang="zh-CN" sz="32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11110111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7DEAE6B-D487-AEBE-E52D-14E75B34D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148000"/>
                <a:ext cx="6884768" cy="10772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7D1DF972-A22E-4874-988A-A6ADD2CAA9F1}"/>
              </a:ext>
            </a:extLst>
          </p:cNvPr>
          <p:cNvSpPr txBox="1"/>
          <p:nvPr/>
        </p:nvSpPr>
        <p:spPr>
          <a:xfrm>
            <a:off x="7560000" y="5148000"/>
            <a:ext cx="265800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位数增多时</a:t>
            </a:r>
            <a:endParaRPr lang="en-US" altLang="zh-CN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原码往前加 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补码往前加 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endParaRPr lang="zh-CN" altLang="en-US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417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3" grpId="0" animBg="1"/>
      <p:bldP spid="11" grpId="0" animBg="1"/>
      <p:bldP spid="10" grpId="0" animBg="1"/>
      <p:bldP spid="19" grpId="0"/>
      <p:bldP spid="21" grpId="0" animBg="1"/>
      <p:bldP spid="12" grpId="0"/>
      <p:bldP spid="15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6C092-86C6-7679-07DF-BBA38E8F5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F588FE-8E7A-7147-815F-1785AAF0120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二进制数的编码及算术运算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补码的一些性质补充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A391685-96F1-ED56-9429-20DD0F15A63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580E6EE-F7D5-7B1D-193A-D981F0BC8C3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" name="箭头: 五边形 7">
                <a:extLst>
                  <a:ext uri="{FF2B5EF4-FFF2-40B4-BE49-F238E27FC236}">
                    <a16:creationId xmlns:a16="http://schemas.microsoft.com/office/drawing/2014/main" id="{5F53376B-8434-1746-A6CD-45E8EE9AEEF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59852B1E-E3C8-0D9C-58A4-88955DF3557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1150F2F9-CEB5-DEFB-2296-469ACFE200F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6945BA2-73A7-199D-263B-80EAEF40032C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11180607" cy="5508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关于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</m:d>
                    <m:r>
                      <m:rPr>
                        <m:nor/>
                      </m:rPr>
                      <a:rPr lang="zh-CN" altLang="en-US" sz="2800" baseline="-250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补</m:t>
                    </m:r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CN" altLang="en-US" sz="2800" baseline="-25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补</m:t>
                        </m:r>
                      </m:e>
                    </m:acc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</m:t>
                    </m:r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，仍设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X</m:t>
                    </m:r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=(</m:t>
                    </m:r>
                    <m:r>
                      <m:rPr>
                        <m:sty m:val="p"/>
                      </m:rPr>
                      <a:rPr lang="en-US" altLang="zh-CN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s</m:t>
                    </m:r>
                    <m:r>
                      <a:rPr lang="en-US" altLang="zh-CN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b>
                    </m:sSub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⋯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 </m:t>
                    </m:r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，如下：</a:t>
                </a:r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6945BA2-73A7-199D-263B-80EAEF400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11180607" cy="550856"/>
              </a:xfrm>
              <a:prstGeom prst="rect">
                <a:avLst/>
              </a:prstGeom>
              <a:blipFill>
                <a:blip r:embed="rId2"/>
                <a:stretch>
                  <a:fillRect l="-981" t="-6667" b="-3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01BDCDD-C550-BB16-B6EA-37A85AAC29F2}"/>
                  </a:ext>
                </a:extLst>
              </p:cNvPr>
              <p:cNvSpPr txBox="1"/>
              <p:nvPr/>
            </p:nvSpPr>
            <p:spPr>
              <a:xfrm>
                <a:off x="360000" y="3488057"/>
                <a:ext cx="595465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s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X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=(</m:t>
                    </m:r>
                    <m:r>
                      <a:rPr lang="en-US" altLang="zh-CN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)&lt;0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01BDCDD-C550-BB16-B6EA-37A85AAC2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488057"/>
                <a:ext cx="5954652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5BC58ED-4429-203E-6EDD-131732314EF8}"/>
                  </a:ext>
                </a:extLst>
              </p:cNvPr>
              <p:cNvSpPr txBox="1"/>
              <p:nvPr/>
            </p:nvSpPr>
            <p:spPr>
              <a:xfrm>
                <a:off x="360000" y="1510260"/>
                <a:ext cx="688719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s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X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=(</m:t>
                    </m:r>
                    <m:r>
                      <a:rPr lang="en-US" altLang="zh-CN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⋯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)&gt;0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5BC58ED-4429-203E-6EDD-131732314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510260"/>
                <a:ext cx="6887196" cy="461665"/>
              </a:xfrm>
              <a:prstGeom prst="rect">
                <a:avLst/>
              </a:prstGeom>
              <a:blipFill>
                <a:blip r:embed="rId4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FA7C585-9789-6297-B2F7-6A1E07A4CE28}"/>
                  </a:ext>
                </a:extLst>
              </p:cNvPr>
              <p:cNvSpPr txBox="1"/>
              <p:nvPr/>
            </p:nvSpPr>
            <p:spPr>
              <a:xfrm>
                <a:off x="360000" y="2113989"/>
                <a:ext cx="715480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spcAft>
                    <a:spcPts val="60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</m:d>
                    <m:r>
                      <m:rPr>
                        <m:nor/>
                      </m:rPr>
                      <a:rPr lang="zh-CN" altLang="en-US" sz="2400" baseline="-250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补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zh-CN" altLang="en-US" sz="2400" baseline="-250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补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−1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  <m:acc>
                          <m:accPr>
                            <m:chr m:val="̅"/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</m:t>
                    </m:r>
                  </m:oMath>
                </a14:m>
                <a:r>
                  <a:rPr lang="en-US" altLang="zh-CN" sz="2400" i="1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FA7C585-9789-6297-B2F7-6A1E07A4C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113989"/>
                <a:ext cx="7154802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B13C5D5-8CD5-E242-69EC-73527DC9AB64}"/>
                  </a:ext>
                </a:extLst>
              </p:cNvPr>
              <p:cNvSpPr txBox="1"/>
              <p:nvPr/>
            </p:nvSpPr>
            <p:spPr>
              <a:xfrm>
                <a:off x="360000" y="4090095"/>
                <a:ext cx="876928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spcAft>
                    <a:spcPts val="60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</m:d>
                    <m:r>
                      <m:rPr>
                        <m:nor/>
                      </m:rPr>
                      <a:rPr lang="zh-CN" altLang="en-US" sz="2400" baseline="-250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补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zh-CN" altLang="en-US" sz="2400" baseline="-250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补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X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&gt;0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B13C5D5-8CD5-E242-69EC-73527DC9A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090095"/>
                <a:ext cx="8769289" cy="461665"/>
              </a:xfrm>
              <a:prstGeom prst="rect">
                <a:avLst/>
              </a:prstGeom>
              <a:blipFill>
                <a:blip r:embed="rId6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2376BE7-CD8F-466B-B257-789FF8E299BE}"/>
                  </a:ext>
                </a:extLst>
              </p:cNvPr>
              <p:cNvSpPr txBox="1"/>
              <p:nvPr/>
            </p:nvSpPr>
            <p:spPr>
              <a:xfrm>
                <a:off x="7341937" y="2092188"/>
                <a:ext cx="3036503" cy="509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e>
                        </m:acc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−1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  <m:acc>
                          <m:accPr>
                            <m:chr m:val="̅"/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2376BE7-CD8F-466B-B257-789FF8E29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1937" y="2092188"/>
                <a:ext cx="3036503" cy="5091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5DB9923-6E37-C456-B568-6FD7832A5D78}"/>
                  </a:ext>
                </a:extLst>
              </p:cNvPr>
              <p:cNvSpPr txBox="1"/>
              <p:nvPr/>
            </p:nvSpPr>
            <p:spPr>
              <a:xfrm>
                <a:off x="360000" y="2743430"/>
                <a:ext cx="3747233" cy="485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CN" altLang="en-US" sz="2400" baseline="-250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补</m:t>
                        </m:r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25DB9923-6E37-C456-B568-6FD7832A5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743430"/>
                <a:ext cx="3747233" cy="48532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42EBC1A1-4CAA-5C56-0DC3-BEE5880E9C70}"/>
                  </a:ext>
                </a:extLst>
              </p:cNvPr>
              <p:cNvSpPr txBox="1"/>
              <p:nvPr/>
            </p:nvSpPr>
            <p:spPr>
              <a:xfrm>
                <a:off x="360000" y="4692133"/>
                <a:ext cx="1091241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</m:d>
                    <m:r>
                      <m:rPr>
                        <m:nor/>
                      </m:rPr>
                      <a:rPr lang="zh-CN" altLang="en-US" sz="2400" baseline="-250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补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1 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−1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，由于补码的补码是原码，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X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−1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  <m:acc>
                          <m:accPr>
                            <m:chr m:val="̅"/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42EBC1A1-4CAA-5C56-0DC3-BEE5880E9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692133"/>
                <a:ext cx="10912414" cy="461665"/>
              </a:xfrm>
              <a:prstGeom prst="rect">
                <a:avLst/>
              </a:prstGeom>
              <a:blipFill>
                <a:blip r:embed="rId9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8E08771-E1B9-2A48-36F5-6038009DCCC0}"/>
                  </a:ext>
                </a:extLst>
              </p:cNvPr>
              <p:cNvSpPr txBox="1"/>
              <p:nvPr/>
            </p:nvSpPr>
            <p:spPr>
              <a:xfrm>
                <a:off x="360000" y="5293294"/>
                <a:ext cx="7740590" cy="5149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spcAft>
                    <a:spcPts val="6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CN" altLang="en-US" sz="2400" baseline="-250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补</m:t>
                        </m:r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+1=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4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e>
                        </m:acc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−1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  <m:acc>
                          <m:accPr>
                            <m:chr m:val="̅"/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+1=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−1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⋯</m:t>
                        </m:r>
                        <m:acc>
                          <m:accPr>
                            <m:chr m:val="̅"/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8E08771-E1B9-2A48-36F5-6038009DC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293294"/>
                <a:ext cx="7740590" cy="51494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41C4A36-45C5-7478-D8C4-E19130AB6D45}"/>
                  </a:ext>
                </a:extLst>
              </p:cNvPr>
              <p:cNvSpPr txBox="1"/>
              <p:nvPr/>
            </p:nvSpPr>
            <p:spPr>
              <a:xfrm>
                <a:off x="360000" y="5946396"/>
                <a:ext cx="324002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X</m:t>
                    </m:r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</m:d>
                    <m:r>
                      <m:rPr>
                        <m:nor/>
                      </m:rPr>
                      <a:rPr lang="zh-CN" altLang="en-US" sz="2400" baseline="-250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补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A41C4A36-45C5-7478-D8C4-E19130AB6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946396"/>
                <a:ext cx="3240028" cy="461665"/>
              </a:xfrm>
              <a:prstGeom prst="rect">
                <a:avLst/>
              </a:prstGeom>
              <a:blipFill>
                <a:blip r:embed="rId11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0168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27" grpId="0"/>
      <p:bldP spid="30" grpId="0"/>
      <p:bldP spid="31" grpId="0"/>
      <p:bldP spid="32" grpId="0"/>
      <p:bldP spid="33" grpId="0"/>
      <p:bldP spid="3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FC525-5D0A-573F-18ED-C303545D3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BD7D13C-D235-AE02-DD8A-751107580D05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B260488-A33B-E80A-C989-046A11FBBCF4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" name="箭头: 五边形 7">
                <a:extLst>
                  <a:ext uri="{FF2B5EF4-FFF2-40B4-BE49-F238E27FC236}">
                    <a16:creationId xmlns:a16="http://schemas.microsoft.com/office/drawing/2014/main" id="{C007F2B2-5787-23DB-A3C6-4CCB76EF2F6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15A0DD37-B9DA-69A5-9EFC-3DA54882C635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327E3A53-832B-810E-CDB7-2941A4A0B914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BC405E2-7ADA-6AAD-9283-F96ED35313DE}"/>
                  </a:ext>
                </a:extLst>
              </p:cNvPr>
              <p:cNvSpPr txBox="1"/>
              <p:nvPr/>
            </p:nvSpPr>
            <p:spPr>
              <a:xfrm>
                <a:off x="360000" y="1080000"/>
                <a:ext cx="7239173" cy="3597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对于正数，原码、反码、补码相同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对于负数，补码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反码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+ 1</a:t>
                </a: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补码的补码是原码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X</m:t>
                        </m:r>
                      </m:e>
                    </m:d>
                    <m:r>
                      <m:rPr>
                        <m:nor/>
                      </m:rPr>
                      <a:rPr lang="zh-CN" altLang="en-US" sz="2800" baseline="-250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补</m:t>
                    </m:r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d>
                          <m:dPr>
                            <m:ctrlP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CN" altLang="en-US" sz="2800" baseline="-250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补</m:t>
                        </m:r>
                      </m:e>
                    </m:acc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</m:t>
                    </m:r>
                  </m:oMath>
                </a14:m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BC405E2-7ADA-6AAD-9283-F96ED3531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080000"/>
                <a:ext cx="7239173" cy="3597844"/>
              </a:xfrm>
              <a:prstGeom prst="rect">
                <a:avLst/>
              </a:prstGeom>
              <a:blipFill>
                <a:blip r:embed="rId2"/>
                <a:stretch>
                  <a:fillRect l="-1515" t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EF97F477-1E89-67F0-7EE9-7D50C53C38B2}"/>
              </a:ext>
            </a:extLst>
          </p:cNvPr>
          <p:cNvSpPr txBox="1"/>
          <p:nvPr/>
        </p:nvSpPr>
        <p:spPr>
          <a:xfrm>
            <a:off x="2160000" y="4680000"/>
            <a:ext cx="15955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按位取反，包括符号位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FC814CA6-B412-D3C9-A859-E12F9AF2A16B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二进制数的编码及算术运算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补码的一些性质补充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510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E1FC14-3A94-FEAF-0876-D3644509F2CE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二进制代码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7761B38-DE5F-56B9-15BC-5E0B9463C43B}"/>
                  </a:ext>
                </a:extLst>
              </p:cNvPr>
              <p:cNvSpPr txBox="1"/>
              <p:nvPr/>
            </p:nvSpPr>
            <p:spPr>
              <a:xfrm>
                <a:off x="360000" y="3600000"/>
                <a:ext cx="11180607" cy="20005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常用代码：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BCD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码、格雷码、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ASCII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待编码的事物或状态的个数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，与编码后二进制代码的位数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之间应满足：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e>
                      <m:sup>
                        <m:r>
                          <a:rPr lang="pt-BR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</m:sSup>
                    <m:r>
                      <a:rPr lang="pt-BR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或 </a:t>
                </a:r>
                <a:r>
                  <a:rPr lang="pt-BR" altLang="zh-CN" sz="2800" dirty="0">
                    <a:solidFill>
                      <a:srgbClr val="002060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pt-BR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log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𝑁</m:t>
                    </m:r>
                  </m:oMath>
                </a14:m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7761B38-DE5F-56B9-15BC-5E0B9463C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600000"/>
                <a:ext cx="11180607" cy="2000548"/>
              </a:xfrm>
              <a:prstGeom prst="rect">
                <a:avLst/>
              </a:prstGeom>
              <a:blipFill>
                <a:blip r:embed="rId3"/>
                <a:stretch>
                  <a:fillRect l="-981" t="-3354" b="-5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7214628A-6F33-80DB-A2AD-9623EACC0620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5A86B4B4-73FA-DF6A-1212-19D9623C881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" name="箭头: 五边形 8">
                <a:extLst>
                  <a:ext uri="{FF2B5EF4-FFF2-40B4-BE49-F238E27FC236}">
                    <a16:creationId xmlns:a16="http://schemas.microsoft.com/office/drawing/2014/main" id="{5D49C69A-9CA2-B0D9-68F2-EA8747A4435C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" name="箭头: V 形 9">
                <a:extLst>
                  <a:ext uri="{FF2B5EF4-FFF2-40B4-BE49-F238E27FC236}">
                    <a16:creationId xmlns:a16="http://schemas.microsoft.com/office/drawing/2014/main" id="{9E2F35E7-E570-4BC7-42BA-029ECA3D5DB8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FBB855C7-AA42-10EB-5B4D-2735716B710C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628262A3-6E38-B769-46B2-F9BD4006E736}"/>
              </a:ext>
            </a:extLst>
          </p:cNvPr>
          <p:cNvSpPr txBox="1"/>
          <p:nvPr/>
        </p:nvSpPr>
        <p:spPr>
          <a:xfrm>
            <a:off x="360000" y="1080000"/>
            <a:ext cx="8911940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代码：表示事物或状态的二进制数码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编码：以一定规则编制代码的过程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译码：将代码还原成所表示的事物或状态的过程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码制：编制代码所要遵循的规则</a:t>
            </a:r>
          </a:p>
        </p:txBody>
      </p:sp>
    </p:spTree>
    <p:extLst>
      <p:ext uri="{BB962C8B-B14F-4D97-AF65-F5344CB8AC3E}">
        <p14:creationId xmlns:p14="http://schemas.microsoft.com/office/powerpoint/2010/main" val="4199866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0DCB1-9FC7-D845-192E-EA364DDDE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A6F6B78-7A11-4667-C2A4-451286FED9F8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10854937" cy="55553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二 </a:t>
                </a:r>
                <a14:m>
                  <m:oMath xmlns:m="http://schemas.openxmlformats.org/officeDocument/2006/math">
                    <m:r>
                      <a:rPr lang="en-US" altLang="zh-CN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十进制（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Binary-Coded-Decimal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）码，即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BCD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位二进制数来表示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位十进制数中的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0~9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（十个数码）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二进制编码的十进制码，有多种编码方案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常用 </a:t>
                </a:r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BCD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有权码：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8421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码、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2421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码、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5421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3">
                  <a:spcAft>
                    <a:spcPts val="600"/>
                  </a:spcAft>
                </a:pPr>
                <a:r>
                  <a:rPr lang="en-US" altLang="zh-CN" sz="2400" dirty="0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:r>
                  <a:rPr lang="zh-CN" altLang="en-US" sz="2400" dirty="0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例：十进制数 </a:t>
                </a:r>
                <a:r>
                  <a:rPr lang="en-US" altLang="zh-CN" sz="2400" dirty="0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 </a:t>
                </a:r>
                <a:r>
                  <a:rPr lang="zh-CN" altLang="en-US" sz="2400" dirty="0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在上述编码中对应的二进制数分别为：</a:t>
                </a:r>
                <a:endParaRPr lang="en-US" altLang="zh-CN" sz="2400" dirty="0">
                  <a:solidFill>
                    <a:schemeClr val="accent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4">
                  <a:spcAft>
                    <a:spcPts val="600"/>
                  </a:spcAft>
                </a:pPr>
                <a:r>
                  <a:rPr lang="en-US" altLang="zh-CN" sz="2400" dirty="0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0101</a:t>
                </a:r>
                <a:r>
                  <a:rPr lang="zh-CN" altLang="en-US" sz="2400" dirty="0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(0+4+0+1)</a:t>
                </a:r>
                <a:r>
                  <a:rPr lang="zh-CN" altLang="en-US" sz="2400" dirty="0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400" dirty="0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1011</a:t>
                </a:r>
                <a:r>
                  <a:rPr lang="zh-CN" altLang="en-US" sz="2400" dirty="0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(2+0+2+1)</a:t>
                </a:r>
                <a:r>
                  <a:rPr lang="zh-CN" altLang="en-US" sz="2400" dirty="0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400" dirty="0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1000 (5+0+0+0)</a:t>
                </a: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无权码，余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码、余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循环码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如无特别说明，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BCD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码一般指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8421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3">
                  <a:spcAft>
                    <a:spcPts val="600"/>
                  </a:spcAft>
                </a:pPr>
                <a:r>
                  <a:rPr lang="en-US" altLang="zh-CN" sz="2400" dirty="0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:r>
                  <a:rPr lang="zh-CN" altLang="en-US" sz="2400" dirty="0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</a:t>
                </a:r>
                <a:r>
                  <a:rPr lang="en-US" altLang="zh-CN" sz="2400" dirty="0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( 456 )</a:t>
                </a:r>
                <a:r>
                  <a:rPr lang="en-US" altLang="zh-CN" sz="2400" baseline="-20000" dirty="0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  </a:t>
                </a:r>
                <a:r>
                  <a:rPr lang="en-US" altLang="zh-CN" sz="2400" dirty="0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 ( 0100 0101 0110 )</a:t>
                </a:r>
                <a:r>
                  <a:rPr lang="en-US" altLang="zh-CN" sz="2400" baseline="-20000" dirty="0">
                    <a:solidFill>
                      <a:schemeClr val="accent2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BCD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8421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码中，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0000~1001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0~9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，剩下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1010~1111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为无效数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A6F6B78-7A11-4667-C2A4-451286FED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10854937" cy="5555367"/>
              </a:xfrm>
              <a:prstGeom prst="rect">
                <a:avLst/>
              </a:prstGeom>
              <a:blipFill>
                <a:blip r:embed="rId3"/>
                <a:stretch>
                  <a:fillRect l="-1123" t="-1207" b="-1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C646F259-70F9-1111-488D-E01C98D0CC6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AF7F4D30-1134-4289-C1E7-7791765A211C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" name="箭头: 五边形 8">
                <a:extLst>
                  <a:ext uri="{FF2B5EF4-FFF2-40B4-BE49-F238E27FC236}">
                    <a16:creationId xmlns:a16="http://schemas.microsoft.com/office/drawing/2014/main" id="{C12CF0F0-1D7F-C9B4-A061-0ECEC2AC51FC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" name="箭头: V 形 9">
                <a:extLst>
                  <a:ext uri="{FF2B5EF4-FFF2-40B4-BE49-F238E27FC236}">
                    <a16:creationId xmlns:a16="http://schemas.microsoft.com/office/drawing/2014/main" id="{73AD1354-896A-6E73-79F5-551CE915B3B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8C05AE1D-7F12-93E5-55C7-85C20A599CD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FC189062-97AB-E842-83BB-57A9CC74604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二进制代码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BCD </a:t>
            </a:r>
            <a:r>
              <a:rPr lang="zh-CN" altLang="en-US" sz="3000" dirty="0">
                <a:solidFill>
                  <a:srgbClr val="FFFF00"/>
                </a:solidFill>
              </a:rPr>
              <a:t>码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89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2">
            <a:extLst>
              <a:ext uri="{FF2B5EF4-FFF2-40B4-BE49-F238E27FC236}">
                <a16:creationId xmlns:a16="http://schemas.microsoft.com/office/drawing/2014/main" id="{8652B851-13E2-0A81-2C60-3A7022CDF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004729"/>
              </p:ext>
            </p:extLst>
          </p:nvPr>
        </p:nvGraphicFramePr>
        <p:xfrm>
          <a:off x="1526054" y="1410682"/>
          <a:ext cx="8944722" cy="5068890"/>
        </p:xfrm>
        <a:graphic>
          <a:graphicData uri="http://schemas.openxmlformats.org/drawingml/2006/table">
            <a:tbl>
              <a:tblPr/>
              <a:tblGrid>
                <a:gridCol w="1538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6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8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52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0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97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26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十进制数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8421 </a:t>
                      </a: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码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2421 </a:t>
                      </a: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码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5421 </a:t>
                      </a: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码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余 </a:t>
                      </a: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</a:t>
                      </a: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码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余 </a:t>
                      </a: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</a:t>
                      </a: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循环码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31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7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38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38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5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800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338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86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542A86BF-E8E7-1561-AB3B-083852201684}"/>
              </a:ext>
            </a:extLst>
          </p:cNvPr>
          <p:cNvSpPr txBox="1"/>
          <p:nvPr/>
        </p:nvSpPr>
        <p:spPr>
          <a:xfrm>
            <a:off x="2117725" y="900000"/>
            <a:ext cx="7956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常用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BCD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</a:t>
            </a:r>
            <a:endParaRPr lang="zh-CN" altLang="en-US" sz="28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0ACBFB6-08B6-4325-856F-213D68384C8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F1412122-895D-B952-2F23-2D6039E0F955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" name="箭头: 五边形 7">
                <a:extLst>
                  <a:ext uri="{FF2B5EF4-FFF2-40B4-BE49-F238E27FC236}">
                    <a16:creationId xmlns:a16="http://schemas.microsoft.com/office/drawing/2014/main" id="{DCF889C5-0714-EC31-8CDA-361062A00E5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56E59962-732A-506F-CA1D-37D6EE8BE66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D9CCFE78-4963-D521-7F23-DE66399D1D4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0" name="标题 1">
            <a:extLst>
              <a:ext uri="{FF2B5EF4-FFF2-40B4-BE49-F238E27FC236}">
                <a16:creationId xmlns:a16="http://schemas.microsoft.com/office/drawing/2014/main" id="{E96FAF40-69D0-63DF-8CFF-F47CAA59629B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二进制代码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BCD </a:t>
            </a:r>
            <a:r>
              <a:rPr lang="zh-CN" altLang="en-US" sz="3000" dirty="0">
                <a:solidFill>
                  <a:srgbClr val="FFFF00"/>
                </a:solidFill>
              </a:rPr>
              <a:t>码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5241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9E3A8-0D40-29BD-40C4-AE8538191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DC99234-3409-963E-734E-69CFFFC60B7E}"/>
              </a:ext>
            </a:extLst>
          </p:cNvPr>
          <p:cNvSpPr txBox="1"/>
          <p:nvPr/>
        </p:nvSpPr>
        <p:spPr>
          <a:xfrm>
            <a:off x="360000" y="828000"/>
            <a:ext cx="8890933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编码顺序依次变化时，相邻代码仅有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位不同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最小和最大之间也只有 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位不同，也称循环码</a:t>
            </a:r>
          </a:p>
        </p:txBody>
      </p:sp>
      <p:graphicFrame>
        <p:nvGraphicFramePr>
          <p:cNvPr id="8" name="Group 4">
            <a:extLst>
              <a:ext uri="{FF2B5EF4-FFF2-40B4-BE49-F238E27FC236}">
                <a16:creationId xmlns:a16="http://schemas.microsoft.com/office/drawing/2014/main" id="{66E80A14-A05F-655E-DCE1-B33DBBBCFA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803076"/>
              </p:ext>
            </p:extLst>
          </p:nvPr>
        </p:nvGraphicFramePr>
        <p:xfrm>
          <a:off x="1874358" y="2009838"/>
          <a:ext cx="8776626" cy="4488238"/>
        </p:xfrm>
        <a:graphic>
          <a:graphicData uri="http://schemas.openxmlformats.org/drawingml/2006/table">
            <a:tbl>
              <a:tblPr/>
              <a:tblGrid>
                <a:gridCol w="1411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5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2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19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24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9125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编码顺序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二进制码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格雷码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编码顺序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二进制码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格雷码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663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0000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0000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1100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74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962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74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0010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74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0100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12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1100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74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13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74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14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1110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748"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7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0100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15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1111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Aft>
                          <a:spcPct val="20000"/>
                        </a:spcAft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Aft>
                          <a:spcPct val="20000"/>
                        </a:spcAf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Aft>
                          <a:spcPct val="2000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2000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1000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71C77575-1714-2D4F-6619-C5EFF791A84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6D3D862-871A-1BB5-96F2-815CDE617EB0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774F3B8B-76E5-64FC-7442-652D2197EF6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60D48990-928A-5126-1526-B529848D73A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AF8EF308-E4EB-CB64-12AA-EDFCE3C5CD7D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0" name="标题 1">
            <a:extLst>
              <a:ext uri="{FF2B5EF4-FFF2-40B4-BE49-F238E27FC236}">
                <a16:creationId xmlns:a16="http://schemas.microsoft.com/office/drawing/2014/main" id="{901E1C0B-5348-E708-6D2A-BED61331DE9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二进制代码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格雷码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632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95D16-5942-3DD5-2BF3-74224861A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组合 95">
            <a:extLst>
              <a:ext uri="{FF2B5EF4-FFF2-40B4-BE49-F238E27FC236}">
                <a16:creationId xmlns:a16="http://schemas.microsoft.com/office/drawing/2014/main" id="{A753E48E-0BD8-284D-D609-100D508D028B}"/>
              </a:ext>
            </a:extLst>
          </p:cNvPr>
          <p:cNvGrpSpPr/>
          <p:nvPr/>
        </p:nvGrpSpPr>
        <p:grpSpPr>
          <a:xfrm>
            <a:off x="7221223" y="1079916"/>
            <a:ext cx="4607874" cy="4158822"/>
            <a:chOff x="6643236" y="694068"/>
            <a:chExt cx="4607874" cy="4158822"/>
          </a:xfrm>
        </p:grpSpPr>
        <p:sp>
          <p:nvSpPr>
            <p:cNvPr id="43" name="空心弧 42">
              <a:extLst>
                <a:ext uri="{FF2B5EF4-FFF2-40B4-BE49-F238E27FC236}">
                  <a16:creationId xmlns:a16="http://schemas.microsoft.com/office/drawing/2014/main" id="{DD0E032B-5D71-0B74-35D9-9BB10CB6F6D2}"/>
                </a:ext>
              </a:extLst>
            </p:cNvPr>
            <p:cNvSpPr/>
            <p:nvPr/>
          </p:nvSpPr>
          <p:spPr>
            <a:xfrm>
              <a:off x="7858513" y="1703928"/>
              <a:ext cx="2160000" cy="2160000"/>
            </a:xfrm>
            <a:prstGeom prst="blockArc">
              <a:avLst>
                <a:gd name="adj1" fmla="val 5418665"/>
                <a:gd name="adj2" fmla="val 16193148"/>
                <a:gd name="adj3" fmla="val 16832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空心弧 41">
              <a:extLst>
                <a:ext uri="{FF2B5EF4-FFF2-40B4-BE49-F238E27FC236}">
                  <a16:creationId xmlns:a16="http://schemas.microsoft.com/office/drawing/2014/main" id="{92CA80DC-5F92-C1BA-1AED-2B8976C950E4}"/>
                </a:ext>
              </a:extLst>
            </p:cNvPr>
            <p:cNvSpPr/>
            <p:nvPr/>
          </p:nvSpPr>
          <p:spPr>
            <a:xfrm rot="8100000">
              <a:off x="7507701" y="1336495"/>
              <a:ext cx="2880000" cy="2880000"/>
            </a:xfrm>
            <a:prstGeom prst="blockArc">
              <a:avLst>
                <a:gd name="adj1" fmla="val 13499047"/>
                <a:gd name="adj2" fmla="val 2685579"/>
                <a:gd name="adj3" fmla="val 12751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空心弧 35">
              <a:extLst>
                <a:ext uri="{FF2B5EF4-FFF2-40B4-BE49-F238E27FC236}">
                  <a16:creationId xmlns:a16="http://schemas.microsoft.com/office/drawing/2014/main" id="{C72E6AF9-E569-9691-3150-1B5D70F5772D}"/>
                </a:ext>
              </a:extLst>
            </p:cNvPr>
            <p:cNvSpPr/>
            <p:nvPr/>
          </p:nvSpPr>
          <p:spPr>
            <a:xfrm rot="14820000">
              <a:off x="7147701" y="983928"/>
              <a:ext cx="3600000" cy="3600000"/>
            </a:xfrm>
            <a:prstGeom prst="blockArc">
              <a:avLst>
                <a:gd name="adj1" fmla="val 14919444"/>
                <a:gd name="adj2" fmla="val 20258089"/>
                <a:gd name="adj3" fmla="val 9973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空心弧 34">
              <a:extLst>
                <a:ext uri="{FF2B5EF4-FFF2-40B4-BE49-F238E27FC236}">
                  <a16:creationId xmlns:a16="http://schemas.microsoft.com/office/drawing/2014/main" id="{FAFEFB7D-A60F-B2B1-351E-9D7CDE58757C}"/>
                </a:ext>
              </a:extLst>
            </p:cNvPr>
            <p:cNvSpPr/>
            <p:nvPr/>
          </p:nvSpPr>
          <p:spPr>
            <a:xfrm rot="6720000">
              <a:off x="7150190" y="979578"/>
              <a:ext cx="3600000" cy="3600000"/>
            </a:xfrm>
            <a:prstGeom prst="blockArc">
              <a:avLst>
                <a:gd name="adj1" fmla="val 14918935"/>
                <a:gd name="adj2" fmla="val 17571539"/>
                <a:gd name="adj3" fmla="val 9569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空心弧 31">
              <a:extLst>
                <a:ext uri="{FF2B5EF4-FFF2-40B4-BE49-F238E27FC236}">
                  <a16:creationId xmlns:a16="http://schemas.microsoft.com/office/drawing/2014/main" id="{7BAC2AC0-002C-A141-A2B2-4223689D53DA}"/>
                </a:ext>
              </a:extLst>
            </p:cNvPr>
            <p:cNvSpPr/>
            <p:nvPr/>
          </p:nvSpPr>
          <p:spPr>
            <a:xfrm rot="4020000">
              <a:off x="7151193" y="969728"/>
              <a:ext cx="3600000" cy="3600000"/>
            </a:xfrm>
            <a:prstGeom prst="blockArc">
              <a:avLst>
                <a:gd name="adj1" fmla="val 14841504"/>
                <a:gd name="adj2" fmla="val 17610584"/>
                <a:gd name="adj3" fmla="val 9796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B39928B4-4685-DBF9-2440-6773605EA309}"/>
                </a:ext>
              </a:extLst>
            </p:cNvPr>
            <p:cNvSpPr/>
            <p:nvPr/>
          </p:nvSpPr>
          <p:spPr>
            <a:xfrm>
              <a:off x="7150996" y="971211"/>
              <a:ext cx="3600000" cy="3600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6F6A4B44-B95C-65B4-E0DC-FC28FDDD9226}"/>
                </a:ext>
              </a:extLst>
            </p:cNvPr>
            <p:cNvSpPr/>
            <p:nvPr/>
          </p:nvSpPr>
          <p:spPr>
            <a:xfrm>
              <a:off x="7510996" y="1331211"/>
              <a:ext cx="2880000" cy="2880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13222B39-AD35-DA8A-262A-CDE5E2E44F4E}"/>
                </a:ext>
              </a:extLst>
            </p:cNvPr>
            <p:cNvSpPr/>
            <p:nvPr/>
          </p:nvSpPr>
          <p:spPr>
            <a:xfrm>
              <a:off x="7870996" y="1691211"/>
              <a:ext cx="2160000" cy="2160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0972F020-5C1A-F433-DBA5-CD3DE031C194}"/>
                </a:ext>
              </a:extLst>
            </p:cNvPr>
            <p:cNvSpPr/>
            <p:nvPr/>
          </p:nvSpPr>
          <p:spPr>
            <a:xfrm>
              <a:off x="8227704" y="2051211"/>
              <a:ext cx="1440000" cy="1440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5F40EDD3-E382-B438-471F-B83AF4A004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67704" y="2776828"/>
              <a:ext cx="396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51042F39-824E-02F7-6813-362D66BBEAC9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6967704" y="2755450"/>
              <a:ext cx="396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FB986DFF-C998-DBEA-C282-A34FDEA07B05}"/>
                </a:ext>
              </a:extLst>
            </p:cNvPr>
            <p:cNvCxnSpPr>
              <a:cxnSpLocks/>
            </p:cNvCxnSpPr>
            <p:nvPr/>
          </p:nvCxnSpPr>
          <p:spPr>
            <a:xfrm rot="2700000" flipH="1">
              <a:off x="6967704" y="2771210"/>
              <a:ext cx="396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E90D8B4-2F96-43AF-70D8-7D583A11DCA6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6967704" y="2771210"/>
              <a:ext cx="396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F42D566C-085E-5C28-05EA-7DFFA8096DDD}"/>
                </a:ext>
              </a:extLst>
            </p:cNvPr>
            <p:cNvSpPr txBox="1"/>
            <p:nvPr/>
          </p:nvSpPr>
          <p:spPr>
            <a:xfrm>
              <a:off x="9384183" y="694068"/>
              <a:ext cx="6468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000</a:t>
              </a:r>
              <a:endParaRPr lang="zh-CN" altLang="en-US" sz="2000" dirty="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F2FB7A61-DB8B-EB1D-817E-4C81D9A770AE}"/>
                </a:ext>
              </a:extLst>
            </p:cNvPr>
            <p:cNvSpPr txBox="1"/>
            <p:nvPr/>
          </p:nvSpPr>
          <p:spPr>
            <a:xfrm>
              <a:off x="10604297" y="1789403"/>
              <a:ext cx="6468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001</a:t>
              </a:r>
              <a:endParaRPr lang="zh-CN" altLang="en-US" sz="2000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FCCBAC68-216A-F80B-B97E-789CD282D846}"/>
                </a:ext>
              </a:extLst>
            </p:cNvPr>
            <p:cNvSpPr txBox="1"/>
            <p:nvPr/>
          </p:nvSpPr>
          <p:spPr>
            <a:xfrm>
              <a:off x="10602608" y="3435075"/>
              <a:ext cx="6468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011</a:t>
              </a:r>
              <a:endParaRPr lang="zh-CN" altLang="en-US" sz="2000" dirty="0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3FFDCBFE-780E-BA59-65FD-58D83FB47B46}"/>
                </a:ext>
              </a:extLst>
            </p:cNvPr>
            <p:cNvSpPr txBox="1"/>
            <p:nvPr/>
          </p:nvSpPr>
          <p:spPr>
            <a:xfrm>
              <a:off x="9390463" y="4452780"/>
              <a:ext cx="6468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010</a:t>
              </a:r>
              <a:endParaRPr lang="zh-CN" altLang="en-US" sz="20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2B0CF86-B499-5216-27FB-450972F62E14}"/>
                </a:ext>
              </a:extLst>
            </p:cNvPr>
            <p:cNvSpPr txBox="1"/>
            <p:nvPr/>
          </p:nvSpPr>
          <p:spPr>
            <a:xfrm>
              <a:off x="7870996" y="4452780"/>
              <a:ext cx="6468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110</a:t>
              </a:r>
              <a:endParaRPr lang="zh-CN" altLang="en-US" sz="2000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8265AFA8-2CFB-6962-0955-4D03DBCDF9EB}"/>
                </a:ext>
              </a:extLst>
            </p:cNvPr>
            <p:cNvSpPr txBox="1"/>
            <p:nvPr/>
          </p:nvSpPr>
          <p:spPr>
            <a:xfrm>
              <a:off x="6643236" y="3473965"/>
              <a:ext cx="6468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111</a:t>
              </a:r>
              <a:endParaRPr lang="zh-CN" altLang="en-US" sz="2000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899A6774-B57C-D049-2B99-1A7170BA3182}"/>
                </a:ext>
              </a:extLst>
            </p:cNvPr>
            <p:cNvSpPr txBox="1"/>
            <p:nvPr/>
          </p:nvSpPr>
          <p:spPr>
            <a:xfrm>
              <a:off x="6644297" y="1789403"/>
              <a:ext cx="6468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101</a:t>
              </a:r>
              <a:endParaRPr lang="zh-CN" altLang="en-US" sz="2000" dirty="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53C119C2-5476-DC17-C5F9-FC9C409A65B9}"/>
                </a:ext>
              </a:extLst>
            </p:cNvPr>
            <p:cNvSpPr txBox="1"/>
            <p:nvPr/>
          </p:nvSpPr>
          <p:spPr>
            <a:xfrm>
              <a:off x="7870995" y="696929"/>
              <a:ext cx="6468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</a:t>
              </a:r>
              <a:endParaRPr lang="zh-CN" altLang="en-US" sz="2000" dirty="0"/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4DEB3C0F-343A-464F-4A1F-F347A81888A2}"/>
              </a:ext>
            </a:extLst>
          </p:cNvPr>
          <p:cNvGrpSpPr/>
          <p:nvPr/>
        </p:nvGrpSpPr>
        <p:grpSpPr>
          <a:xfrm>
            <a:off x="302596" y="1066540"/>
            <a:ext cx="4607874" cy="4158822"/>
            <a:chOff x="122007" y="705775"/>
            <a:chExt cx="4607874" cy="4158821"/>
          </a:xfrm>
        </p:grpSpPr>
        <p:sp>
          <p:nvSpPr>
            <p:cNvPr id="73" name="空心弧 72">
              <a:extLst>
                <a:ext uri="{FF2B5EF4-FFF2-40B4-BE49-F238E27FC236}">
                  <a16:creationId xmlns:a16="http://schemas.microsoft.com/office/drawing/2014/main" id="{67BB5A15-848A-71B9-28F5-45F75145A3AE}"/>
                </a:ext>
              </a:extLst>
            </p:cNvPr>
            <p:cNvSpPr/>
            <p:nvPr/>
          </p:nvSpPr>
          <p:spPr>
            <a:xfrm>
              <a:off x="1337284" y="1715635"/>
              <a:ext cx="2160000" cy="2160000"/>
            </a:xfrm>
            <a:prstGeom prst="blockArc">
              <a:avLst>
                <a:gd name="adj1" fmla="val 5418665"/>
                <a:gd name="adj2" fmla="val 16193148"/>
                <a:gd name="adj3" fmla="val 16832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4" name="空心弧 73">
              <a:extLst>
                <a:ext uri="{FF2B5EF4-FFF2-40B4-BE49-F238E27FC236}">
                  <a16:creationId xmlns:a16="http://schemas.microsoft.com/office/drawing/2014/main" id="{ACC0FA22-3423-BB72-D592-165513F7B16E}"/>
                </a:ext>
              </a:extLst>
            </p:cNvPr>
            <p:cNvSpPr/>
            <p:nvPr/>
          </p:nvSpPr>
          <p:spPr>
            <a:xfrm rot="8100000">
              <a:off x="986472" y="1348202"/>
              <a:ext cx="2880000" cy="2880000"/>
            </a:xfrm>
            <a:prstGeom prst="blockArc">
              <a:avLst>
                <a:gd name="adj1" fmla="val 13499039"/>
                <a:gd name="adj2" fmla="val 18924114"/>
                <a:gd name="adj3" fmla="val 12254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5" name="空心弧 74">
              <a:extLst>
                <a:ext uri="{FF2B5EF4-FFF2-40B4-BE49-F238E27FC236}">
                  <a16:creationId xmlns:a16="http://schemas.microsoft.com/office/drawing/2014/main" id="{95EDC668-1E2C-9616-D9D7-DF3DA296E2FD}"/>
                </a:ext>
              </a:extLst>
            </p:cNvPr>
            <p:cNvSpPr/>
            <p:nvPr/>
          </p:nvSpPr>
          <p:spPr>
            <a:xfrm rot="18900000">
              <a:off x="986472" y="1353556"/>
              <a:ext cx="2880000" cy="2880000"/>
            </a:xfrm>
            <a:prstGeom prst="blockArc">
              <a:avLst>
                <a:gd name="adj1" fmla="val 13499039"/>
                <a:gd name="adj2" fmla="val 18924673"/>
                <a:gd name="adj3" fmla="val 13112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6" name="空心弧 75">
              <a:extLst>
                <a:ext uri="{FF2B5EF4-FFF2-40B4-BE49-F238E27FC236}">
                  <a16:creationId xmlns:a16="http://schemas.microsoft.com/office/drawing/2014/main" id="{AB715B6A-98FA-B249-F4B0-A038DCAF323D}"/>
                </a:ext>
              </a:extLst>
            </p:cNvPr>
            <p:cNvSpPr/>
            <p:nvPr/>
          </p:nvSpPr>
          <p:spPr>
            <a:xfrm rot="14820000">
              <a:off x="626472" y="995635"/>
              <a:ext cx="3600000" cy="3600000"/>
            </a:xfrm>
            <a:prstGeom prst="blockArc">
              <a:avLst>
                <a:gd name="adj1" fmla="val 14919444"/>
                <a:gd name="adj2" fmla="val 17571344"/>
                <a:gd name="adj3" fmla="val 10484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7" name="空心弧 76">
              <a:extLst>
                <a:ext uri="{FF2B5EF4-FFF2-40B4-BE49-F238E27FC236}">
                  <a16:creationId xmlns:a16="http://schemas.microsoft.com/office/drawing/2014/main" id="{D890205D-0E4F-806A-9B7E-8B4647AF46F9}"/>
                </a:ext>
              </a:extLst>
            </p:cNvPr>
            <p:cNvSpPr/>
            <p:nvPr/>
          </p:nvSpPr>
          <p:spPr>
            <a:xfrm rot="9420000">
              <a:off x="628961" y="991285"/>
              <a:ext cx="3600000" cy="3600000"/>
            </a:xfrm>
            <a:prstGeom prst="blockArc">
              <a:avLst>
                <a:gd name="adj1" fmla="val 14872113"/>
                <a:gd name="adj2" fmla="val 17592155"/>
                <a:gd name="adj3" fmla="val 1005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8" name="空心弧 77">
              <a:extLst>
                <a:ext uri="{FF2B5EF4-FFF2-40B4-BE49-F238E27FC236}">
                  <a16:creationId xmlns:a16="http://schemas.microsoft.com/office/drawing/2014/main" id="{B3DDC3FB-B1CC-2705-F99E-E8B240ED756D}"/>
                </a:ext>
              </a:extLst>
            </p:cNvPr>
            <p:cNvSpPr/>
            <p:nvPr/>
          </p:nvSpPr>
          <p:spPr>
            <a:xfrm rot="20220000">
              <a:off x="628484" y="986790"/>
              <a:ext cx="3600000" cy="3600000"/>
            </a:xfrm>
            <a:prstGeom prst="blockArc">
              <a:avLst>
                <a:gd name="adj1" fmla="val 14885966"/>
                <a:gd name="adj2" fmla="val 17610583"/>
                <a:gd name="adj3" fmla="val 9796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空心弧 78">
              <a:extLst>
                <a:ext uri="{FF2B5EF4-FFF2-40B4-BE49-F238E27FC236}">
                  <a16:creationId xmlns:a16="http://schemas.microsoft.com/office/drawing/2014/main" id="{F589B8B4-8494-0879-3318-36A42F2A0C38}"/>
                </a:ext>
              </a:extLst>
            </p:cNvPr>
            <p:cNvSpPr/>
            <p:nvPr/>
          </p:nvSpPr>
          <p:spPr>
            <a:xfrm rot="4020000">
              <a:off x="629964" y="981435"/>
              <a:ext cx="3600000" cy="3600000"/>
            </a:xfrm>
            <a:prstGeom prst="blockArc">
              <a:avLst>
                <a:gd name="adj1" fmla="val 14841504"/>
                <a:gd name="adj2" fmla="val 17610584"/>
                <a:gd name="adj3" fmla="val 9796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DD19CCA8-9F63-C812-9200-DF29C351D98D}"/>
                </a:ext>
              </a:extLst>
            </p:cNvPr>
            <p:cNvSpPr/>
            <p:nvPr/>
          </p:nvSpPr>
          <p:spPr>
            <a:xfrm>
              <a:off x="629767" y="982918"/>
              <a:ext cx="3600000" cy="3600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9082D86D-56E0-1058-36CB-ACDA83B3763F}"/>
                </a:ext>
              </a:extLst>
            </p:cNvPr>
            <p:cNvSpPr/>
            <p:nvPr/>
          </p:nvSpPr>
          <p:spPr>
            <a:xfrm>
              <a:off x="989767" y="1342918"/>
              <a:ext cx="2880000" cy="2880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B815EF08-8A13-9C15-74FB-ACF8ACAC64B5}"/>
                </a:ext>
              </a:extLst>
            </p:cNvPr>
            <p:cNvSpPr/>
            <p:nvPr/>
          </p:nvSpPr>
          <p:spPr>
            <a:xfrm>
              <a:off x="1349767" y="1702918"/>
              <a:ext cx="2160000" cy="2160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D94082D9-5071-1A3C-E804-A4183500ADBB}"/>
                </a:ext>
              </a:extLst>
            </p:cNvPr>
            <p:cNvSpPr/>
            <p:nvPr/>
          </p:nvSpPr>
          <p:spPr>
            <a:xfrm>
              <a:off x="1706475" y="2062918"/>
              <a:ext cx="1440000" cy="14400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DF1B8FE5-FA63-BEE0-AEB2-A7B05F6EA8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475" y="2788535"/>
              <a:ext cx="396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CBAEB558-B1B5-63BE-93CB-98063AB90B2F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446475" y="2767157"/>
              <a:ext cx="396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F4D20249-18D1-9AF8-0122-68A8B4AF0E49}"/>
                </a:ext>
              </a:extLst>
            </p:cNvPr>
            <p:cNvCxnSpPr>
              <a:cxnSpLocks/>
            </p:cNvCxnSpPr>
            <p:nvPr/>
          </p:nvCxnSpPr>
          <p:spPr>
            <a:xfrm rot="2700000" flipH="1">
              <a:off x="446475" y="2782917"/>
              <a:ext cx="396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B213D5D4-4FD7-1688-711B-E8EA9582BA6D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446475" y="2782917"/>
              <a:ext cx="396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4FB3D4C1-0DF5-AB07-CE9D-140DF40F1759}"/>
                </a:ext>
              </a:extLst>
            </p:cNvPr>
            <p:cNvSpPr txBox="1"/>
            <p:nvPr/>
          </p:nvSpPr>
          <p:spPr>
            <a:xfrm>
              <a:off x="2862954" y="705775"/>
              <a:ext cx="64681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000</a:t>
              </a:r>
              <a:endParaRPr lang="zh-CN" altLang="en-US" sz="2000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47903F0D-B71A-3037-8D58-14FCF13BA5ED}"/>
                </a:ext>
              </a:extLst>
            </p:cNvPr>
            <p:cNvSpPr txBox="1"/>
            <p:nvPr/>
          </p:nvSpPr>
          <p:spPr>
            <a:xfrm>
              <a:off x="4083067" y="1801110"/>
              <a:ext cx="64681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001</a:t>
              </a:r>
              <a:endParaRPr lang="zh-CN" altLang="en-US" sz="20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B62DC36F-1B85-171A-05FE-D281EFC30652}"/>
                </a:ext>
              </a:extLst>
            </p:cNvPr>
            <p:cNvSpPr txBox="1"/>
            <p:nvPr/>
          </p:nvSpPr>
          <p:spPr>
            <a:xfrm>
              <a:off x="4081379" y="3446782"/>
              <a:ext cx="64681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010</a:t>
              </a:r>
              <a:endParaRPr lang="zh-CN" altLang="en-US" sz="2000" dirty="0"/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9AB7D937-F6A6-8F9F-F585-019ED641C91B}"/>
                </a:ext>
              </a:extLst>
            </p:cNvPr>
            <p:cNvSpPr txBox="1"/>
            <p:nvPr/>
          </p:nvSpPr>
          <p:spPr>
            <a:xfrm>
              <a:off x="2869234" y="4464486"/>
              <a:ext cx="64681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011</a:t>
              </a:r>
              <a:endParaRPr lang="zh-CN" altLang="en-US" sz="2000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5E45BF04-42C4-B070-A4F6-A7E551DBB10C}"/>
                </a:ext>
              </a:extLst>
            </p:cNvPr>
            <p:cNvSpPr txBox="1"/>
            <p:nvPr/>
          </p:nvSpPr>
          <p:spPr>
            <a:xfrm>
              <a:off x="1349768" y="4464486"/>
              <a:ext cx="64681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</a:t>
              </a:r>
              <a:endParaRPr lang="zh-CN" altLang="en-US" sz="2000" dirty="0"/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D54DABB0-E609-F5DC-8C3E-14389F24B82D}"/>
                </a:ext>
              </a:extLst>
            </p:cNvPr>
            <p:cNvSpPr txBox="1"/>
            <p:nvPr/>
          </p:nvSpPr>
          <p:spPr>
            <a:xfrm>
              <a:off x="122007" y="3485673"/>
              <a:ext cx="64681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101</a:t>
              </a:r>
              <a:endParaRPr lang="zh-CN" altLang="en-US" sz="2000" dirty="0"/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880C76F6-6934-344B-6B8D-BB5C9FAC0688}"/>
                </a:ext>
              </a:extLst>
            </p:cNvPr>
            <p:cNvSpPr txBox="1"/>
            <p:nvPr/>
          </p:nvSpPr>
          <p:spPr>
            <a:xfrm>
              <a:off x="123068" y="1801110"/>
              <a:ext cx="64681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110</a:t>
              </a:r>
              <a:endParaRPr lang="zh-CN" altLang="en-US" sz="2000" dirty="0"/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B57E1AD8-EC12-ABFF-C7DD-5B2393BE4556}"/>
                </a:ext>
              </a:extLst>
            </p:cNvPr>
            <p:cNvSpPr txBox="1"/>
            <p:nvPr/>
          </p:nvSpPr>
          <p:spPr>
            <a:xfrm>
              <a:off x="1349766" y="708636"/>
              <a:ext cx="64681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111</a:t>
              </a:r>
              <a:endParaRPr lang="zh-CN" altLang="en-US" sz="2000" dirty="0"/>
            </a:p>
          </p:txBody>
        </p:sp>
      </p:grpSp>
      <p:sp>
        <p:nvSpPr>
          <p:cNvPr id="97" name="椭圆 96">
            <a:extLst>
              <a:ext uri="{FF2B5EF4-FFF2-40B4-BE49-F238E27FC236}">
                <a16:creationId xmlns:a16="http://schemas.microsoft.com/office/drawing/2014/main" id="{EA837466-89B7-6641-202C-3F0DBAAE86F9}"/>
              </a:ext>
            </a:extLst>
          </p:cNvPr>
          <p:cNvSpPr/>
          <p:nvPr/>
        </p:nvSpPr>
        <p:spPr>
          <a:xfrm>
            <a:off x="2657846" y="3988732"/>
            <a:ext cx="90187" cy="901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1361C46A-2899-E42B-A4FE-D99AA4359F32}"/>
              </a:ext>
            </a:extLst>
          </p:cNvPr>
          <p:cNvSpPr/>
          <p:nvPr/>
        </p:nvSpPr>
        <p:spPr>
          <a:xfrm>
            <a:off x="2661521" y="4354562"/>
            <a:ext cx="90187" cy="901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89EFFCF6-9192-052A-8F02-B5762CDCDF31}"/>
              </a:ext>
            </a:extLst>
          </p:cNvPr>
          <p:cNvSpPr/>
          <p:nvPr/>
        </p:nvSpPr>
        <p:spPr>
          <a:xfrm>
            <a:off x="2466532" y="4724490"/>
            <a:ext cx="90187" cy="901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7" name="组合 166">
            <a:extLst>
              <a:ext uri="{FF2B5EF4-FFF2-40B4-BE49-F238E27FC236}">
                <a16:creationId xmlns:a16="http://schemas.microsoft.com/office/drawing/2014/main" id="{02BF98AC-DA6A-28E4-28B3-E6A45D93C3E0}"/>
              </a:ext>
            </a:extLst>
          </p:cNvPr>
          <p:cNvGrpSpPr/>
          <p:nvPr/>
        </p:nvGrpSpPr>
        <p:grpSpPr>
          <a:xfrm>
            <a:off x="1887065" y="5471637"/>
            <a:ext cx="1417332" cy="443421"/>
            <a:chOff x="1887065" y="5435952"/>
            <a:chExt cx="1417332" cy="443421"/>
          </a:xfrm>
        </p:grpSpPr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615C47DD-FDDD-A040-60D4-7CDD891691A3}"/>
                </a:ext>
              </a:extLst>
            </p:cNvPr>
            <p:cNvSpPr/>
            <p:nvPr/>
          </p:nvSpPr>
          <p:spPr>
            <a:xfrm>
              <a:off x="1887065" y="5436198"/>
              <a:ext cx="472678" cy="443175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rgbClr val="002060"/>
                  </a:solidFill>
                </a:rPr>
                <a:t>0</a:t>
              </a:r>
              <a:endParaRPr lang="zh-CN" altLang="en-US" sz="2800" b="1" dirty="0">
                <a:solidFill>
                  <a:srgbClr val="002060"/>
                </a:solidFill>
              </a:endParaRPr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A0B590D9-E55C-E828-FD42-8C586CD66387}"/>
                </a:ext>
              </a:extLst>
            </p:cNvPr>
            <p:cNvSpPr/>
            <p:nvPr/>
          </p:nvSpPr>
          <p:spPr>
            <a:xfrm>
              <a:off x="2359392" y="5435952"/>
              <a:ext cx="472678" cy="443175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rgbClr val="002060"/>
                  </a:solidFill>
                </a:rPr>
                <a:t>1</a:t>
              </a:r>
              <a:endParaRPr lang="zh-CN" altLang="en-US" sz="2800" b="1" dirty="0">
                <a:solidFill>
                  <a:srgbClr val="002060"/>
                </a:solidFill>
              </a:endParaRPr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794DF445-4D4B-F061-D194-210612316892}"/>
                </a:ext>
              </a:extLst>
            </p:cNvPr>
            <p:cNvSpPr/>
            <p:nvPr/>
          </p:nvSpPr>
          <p:spPr>
            <a:xfrm>
              <a:off x="2831719" y="5436198"/>
              <a:ext cx="472678" cy="443175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rgbClr val="002060"/>
                  </a:solidFill>
                </a:rPr>
                <a:t>0</a:t>
              </a:r>
              <a:endParaRPr lang="zh-CN" altLang="en-US" sz="2800" b="1" dirty="0">
                <a:solidFill>
                  <a:srgbClr val="002060"/>
                </a:solidFill>
              </a:endParaRPr>
            </a:p>
          </p:txBody>
        </p:sp>
      </p:grpSp>
      <p:cxnSp>
        <p:nvCxnSpPr>
          <p:cNvPr id="127" name="连接符: 肘形 126">
            <a:extLst>
              <a:ext uri="{FF2B5EF4-FFF2-40B4-BE49-F238E27FC236}">
                <a16:creationId xmlns:a16="http://schemas.microsoft.com/office/drawing/2014/main" id="{1BAA79E5-1CDE-2140-200B-8C4F6BD45B10}"/>
              </a:ext>
            </a:extLst>
          </p:cNvPr>
          <p:cNvCxnSpPr>
            <a:stCxn id="97" idx="2"/>
            <a:endCxn id="100" idx="0"/>
          </p:cNvCxnSpPr>
          <p:nvPr/>
        </p:nvCxnSpPr>
        <p:spPr>
          <a:xfrm rot="10800000" flipV="1">
            <a:off x="2123404" y="4033825"/>
            <a:ext cx="534442" cy="1438057"/>
          </a:xfrm>
          <a:prstGeom prst="bent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连接符: 肘形 135">
            <a:extLst>
              <a:ext uri="{FF2B5EF4-FFF2-40B4-BE49-F238E27FC236}">
                <a16:creationId xmlns:a16="http://schemas.microsoft.com/office/drawing/2014/main" id="{9F387AEC-B500-9827-CCE7-8BB1FC63475A}"/>
              </a:ext>
            </a:extLst>
          </p:cNvPr>
          <p:cNvCxnSpPr>
            <a:cxnSpLocks/>
            <a:stCxn id="99" idx="6"/>
            <a:endCxn id="102" idx="0"/>
          </p:cNvCxnSpPr>
          <p:nvPr/>
        </p:nvCxnSpPr>
        <p:spPr>
          <a:xfrm>
            <a:off x="2556719" y="4769584"/>
            <a:ext cx="511339" cy="702299"/>
          </a:xfrm>
          <a:prstGeom prst="bent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文本框 170">
            <a:extLst>
              <a:ext uri="{FF2B5EF4-FFF2-40B4-BE49-F238E27FC236}">
                <a16:creationId xmlns:a16="http://schemas.microsoft.com/office/drawing/2014/main" id="{3B9AE036-780B-FBCE-FC24-C7E62C870B6C}"/>
              </a:ext>
            </a:extLst>
          </p:cNvPr>
          <p:cNvSpPr txBox="1"/>
          <p:nvPr/>
        </p:nvSpPr>
        <p:spPr>
          <a:xfrm>
            <a:off x="230715" y="6051949"/>
            <a:ext cx="4720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二进制编码可能会出现错误输出</a:t>
            </a:r>
            <a:endParaRPr lang="zh-CN" altLang="en-US" sz="2400" dirty="0"/>
          </a:p>
        </p:txBody>
      </p:sp>
      <p:cxnSp>
        <p:nvCxnSpPr>
          <p:cNvPr id="211" name="直接连接符 210">
            <a:extLst>
              <a:ext uri="{FF2B5EF4-FFF2-40B4-BE49-F238E27FC236}">
                <a16:creationId xmlns:a16="http://schemas.microsoft.com/office/drawing/2014/main" id="{BDEB6DCB-4A88-FFE0-7C8E-284D2E955A41}"/>
              </a:ext>
            </a:extLst>
          </p:cNvPr>
          <p:cNvCxnSpPr>
            <a:stCxn id="98" idx="2"/>
          </p:cNvCxnSpPr>
          <p:nvPr/>
        </p:nvCxnSpPr>
        <p:spPr>
          <a:xfrm flipH="1" flipV="1">
            <a:off x="2359392" y="4399655"/>
            <a:ext cx="302129" cy="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连接符 211">
            <a:extLst>
              <a:ext uri="{FF2B5EF4-FFF2-40B4-BE49-F238E27FC236}">
                <a16:creationId xmlns:a16="http://schemas.microsoft.com/office/drawing/2014/main" id="{0B315E8A-633D-27F0-8829-FEC0FAAEA6A8}"/>
              </a:ext>
            </a:extLst>
          </p:cNvPr>
          <p:cNvCxnSpPr>
            <a:cxnSpLocks/>
            <a:stCxn id="101" idx="0"/>
          </p:cNvCxnSpPr>
          <p:nvPr/>
        </p:nvCxnSpPr>
        <p:spPr>
          <a:xfrm flipV="1">
            <a:off x="2595731" y="5269740"/>
            <a:ext cx="0" cy="20189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连接符 214">
            <a:extLst>
              <a:ext uri="{FF2B5EF4-FFF2-40B4-BE49-F238E27FC236}">
                <a16:creationId xmlns:a16="http://schemas.microsoft.com/office/drawing/2014/main" id="{E5AB593E-E013-4D2A-AD2E-854D7C661440}"/>
              </a:ext>
            </a:extLst>
          </p:cNvPr>
          <p:cNvCxnSpPr>
            <a:cxnSpLocks/>
          </p:cNvCxnSpPr>
          <p:nvPr/>
        </p:nvCxnSpPr>
        <p:spPr>
          <a:xfrm flipH="1">
            <a:off x="2368120" y="5279873"/>
            <a:ext cx="240343" cy="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连接符 215">
            <a:extLst>
              <a:ext uri="{FF2B5EF4-FFF2-40B4-BE49-F238E27FC236}">
                <a16:creationId xmlns:a16="http://schemas.microsoft.com/office/drawing/2014/main" id="{A4A3005E-7D09-F7A3-3ABF-28476C78188A}"/>
              </a:ext>
            </a:extLst>
          </p:cNvPr>
          <p:cNvCxnSpPr>
            <a:cxnSpLocks/>
          </p:cNvCxnSpPr>
          <p:nvPr/>
        </p:nvCxnSpPr>
        <p:spPr>
          <a:xfrm flipV="1">
            <a:off x="2371795" y="4387966"/>
            <a:ext cx="0" cy="90369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椭圆 221">
            <a:extLst>
              <a:ext uri="{FF2B5EF4-FFF2-40B4-BE49-F238E27FC236}">
                <a16:creationId xmlns:a16="http://schemas.microsoft.com/office/drawing/2014/main" id="{F205F696-FA65-FDE7-E632-59F79CE074E7}"/>
              </a:ext>
            </a:extLst>
          </p:cNvPr>
          <p:cNvSpPr/>
          <p:nvPr/>
        </p:nvSpPr>
        <p:spPr>
          <a:xfrm>
            <a:off x="9592156" y="3985500"/>
            <a:ext cx="90187" cy="901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椭圆 222">
            <a:extLst>
              <a:ext uri="{FF2B5EF4-FFF2-40B4-BE49-F238E27FC236}">
                <a16:creationId xmlns:a16="http://schemas.microsoft.com/office/drawing/2014/main" id="{EAC11BC7-B0BC-2FF8-A175-D35FED18B0B7}"/>
              </a:ext>
            </a:extLst>
          </p:cNvPr>
          <p:cNvSpPr/>
          <p:nvPr/>
        </p:nvSpPr>
        <p:spPr>
          <a:xfrm>
            <a:off x="9595831" y="4351330"/>
            <a:ext cx="90187" cy="901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椭圆 223">
            <a:extLst>
              <a:ext uri="{FF2B5EF4-FFF2-40B4-BE49-F238E27FC236}">
                <a16:creationId xmlns:a16="http://schemas.microsoft.com/office/drawing/2014/main" id="{4EC111D4-BF76-3A3F-C952-BB7F64916A69}"/>
              </a:ext>
            </a:extLst>
          </p:cNvPr>
          <p:cNvSpPr/>
          <p:nvPr/>
        </p:nvSpPr>
        <p:spPr>
          <a:xfrm>
            <a:off x="9400842" y="4721258"/>
            <a:ext cx="90187" cy="9018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5" name="组合 224">
            <a:extLst>
              <a:ext uri="{FF2B5EF4-FFF2-40B4-BE49-F238E27FC236}">
                <a16:creationId xmlns:a16="http://schemas.microsoft.com/office/drawing/2014/main" id="{632B06A9-860C-252A-5EF0-F027D7C2A0FA}"/>
              </a:ext>
            </a:extLst>
          </p:cNvPr>
          <p:cNvGrpSpPr/>
          <p:nvPr/>
        </p:nvGrpSpPr>
        <p:grpSpPr>
          <a:xfrm>
            <a:off x="8821375" y="5472000"/>
            <a:ext cx="1417332" cy="443421"/>
            <a:chOff x="1887065" y="5435952"/>
            <a:chExt cx="1417332" cy="443421"/>
          </a:xfrm>
        </p:grpSpPr>
        <p:sp>
          <p:nvSpPr>
            <p:cNvPr id="226" name="矩形 225">
              <a:extLst>
                <a:ext uri="{FF2B5EF4-FFF2-40B4-BE49-F238E27FC236}">
                  <a16:creationId xmlns:a16="http://schemas.microsoft.com/office/drawing/2014/main" id="{CE0B3DC6-2364-5A1D-8996-FE71E9743DE3}"/>
                </a:ext>
              </a:extLst>
            </p:cNvPr>
            <p:cNvSpPr/>
            <p:nvPr/>
          </p:nvSpPr>
          <p:spPr>
            <a:xfrm>
              <a:off x="1887065" y="5436198"/>
              <a:ext cx="472678" cy="443175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rgbClr val="002060"/>
                  </a:solidFill>
                </a:rPr>
                <a:t>0</a:t>
              </a:r>
              <a:endParaRPr lang="zh-CN" altLang="en-US" sz="2800" b="1" dirty="0">
                <a:solidFill>
                  <a:srgbClr val="002060"/>
                </a:solidFill>
              </a:endParaRPr>
            </a:p>
          </p:txBody>
        </p:sp>
        <p:sp>
          <p:nvSpPr>
            <p:cNvPr id="227" name="矩形 226">
              <a:extLst>
                <a:ext uri="{FF2B5EF4-FFF2-40B4-BE49-F238E27FC236}">
                  <a16:creationId xmlns:a16="http://schemas.microsoft.com/office/drawing/2014/main" id="{91AB8183-0E65-7E42-B546-DC312D476522}"/>
                </a:ext>
              </a:extLst>
            </p:cNvPr>
            <p:cNvSpPr/>
            <p:nvPr/>
          </p:nvSpPr>
          <p:spPr>
            <a:xfrm>
              <a:off x="2359392" y="5435952"/>
              <a:ext cx="472678" cy="443175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rgbClr val="002060"/>
                  </a:solidFill>
                </a:rPr>
                <a:t>1</a:t>
              </a:r>
              <a:endParaRPr lang="zh-CN" altLang="en-US" sz="2800" b="1" dirty="0">
                <a:solidFill>
                  <a:srgbClr val="002060"/>
                </a:solidFill>
              </a:endParaRPr>
            </a:p>
          </p:txBody>
        </p:sp>
        <p:sp>
          <p:nvSpPr>
            <p:cNvPr id="228" name="矩形 227">
              <a:extLst>
                <a:ext uri="{FF2B5EF4-FFF2-40B4-BE49-F238E27FC236}">
                  <a16:creationId xmlns:a16="http://schemas.microsoft.com/office/drawing/2014/main" id="{005EE995-F304-DA6E-C610-3D5E18CA69EA}"/>
                </a:ext>
              </a:extLst>
            </p:cNvPr>
            <p:cNvSpPr/>
            <p:nvPr/>
          </p:nvSpPr>
          <p:spPr>
            <a:xfrm>
              <a:off x="2831719" y="5436198"/>
              <a:ext cx="472678" cy="443175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solidFill>
                    <a:srgbClr val="002060"/>
                  </a:solidFill>
                </a:rPr>
                <a:t>0</a:t>
              </a:r>
              <a:endParaRPr lang="zh-CN" altLang="en-US" sz="2800" b="1" dirty="0">
                <a:solidFill>
                  <a:srgbClr val="002060"/>
                </a:solidFill>
              </a:endParaRPr>
            </a:p>
          </p:txBody>
        </p:sp>
      </p:grpSp>
      <p:cxnSp>
        <p:nvCxnSpPr>
          <p:cNvPr id="229" name="连接符: 肘形 228">
            <a:extLst>
              <a:ext uri="{FF2B5EF4-FFF2-40B4-BE49-F238E27FC236}">
                <a16:creationId xmlns:a16="http://schemas.microsoft.com/office/drawing/2014/main" id="{B288E96B-6A44-F9CE-5A26-A57BB7F5B4E0}"/>
              </a:ext>
            </a:extLst>
          </p:cNvPr>
          <p:cNvCxnSpPr>
            <a:stCxn id="222" idx="2"/>
            <a:endCxn id="226" idx="0"/>
          </p:cNvCxnSpPr>
          <p:nvPr/>
        </p:nvCxnSpPr>
        <p:spPr>
          <a:xfrm rot="10800000" flipV="1">
            <a:off x="9057714" y="4030594"/>
            <a:ext cx="534442" cy="1441652"/>
          </a:xfrm>
          <a:prstGeom prst="bent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连接符: 肘形 229">
            <a:extLst>
              <a:ext uri="{FF2B5EF4-FFF2-40B4-BE49-F238E27FC236}">
                <a16:creationId xmlns:a16="http://schemas.microsoft.com/office/drawing/2014/main" id="{312FC86E-BB09-7B3F-7B94-A805C5855CB7}"/>
              </a:ext>
            </a:extLst>
          </p:cNvPr>
          <p:cNvCxnSpPr>
            <a:cxnSpLocks/>
            <a:stCxn id="224" idx="6"/>
            <a:endCxn id="228" idx="0"/>
          </p:cNvCxnSpPr>
          <p:nvPr/>
        </p:nvCxnSpPr>
        <p:spPr>
          <a:xfrm>
            <a:off x="9491029" y="4766352"/>
            <a:ext cx="511339" cy="705894"/>
          </a:xfrm>
          <a:prstGeom prst="bent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>
            <a:extLst>
              <a:ext uri="{FF2B5EF4-FFF2-40B4-BE49-F238E27FC236}">
                <a16:creationId xmlns:a16="http://schemas.microsoft.com/office/drawing/2014/main" id="{06A93199-20F3-F2FB-A789-168D09A0E20E}"/>
              </a:ext>
            </a:extLst>
          </p:cNvPr>
          <p:cNvCxnSpPr>
            <a:stCxn id="223" idx="2"/>
          </p:cNvCxnSpPr>
          <p:nvPr/>
        </p:nvCxnSpPr>
        <p:spPr>
          <a:xfrm flipH="1" flipV="1">
            <a:off x="9293702" y="4396423"/>
            <a:ext cx="302129" cy="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>
            <a:extLst>
              <a:ext uri="{FF2B5EF4-FFF2-40B4-BE49-F238E27FC236}">
                <a16:creationId xmlns:a16="http://schemas.microsoft.com/office/drawing/2014/main" id="{17F5E525-51EC-09D4-F1EB-C56C6F22765E}"/>
              </a:ext>
            </a:extLst>
          </p:cNvPr>
          <p:cNvCxnSpPr>
            <a:cxnSpLocks/>
            <a:stCxn id="227" idx="0"/>
          </p:cNvCxnSpPr>
          <p:nvPr/>
        </p:nvCxnSpPr>
        <p:spPr>
          <a:xfrm flipV="1">
            <a:off x="9530041" y="5270103"/>
            <a:ext cx="0" cy="20189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AD812CEF-7244-30EA-E9FB-1F111BE11FA1}"/>
              </a:ext>
            </a:extLst>
          </p:cNvPr>
          <p:cNvCxnSpPr>
            <a:cxnSpLocks/>
          </p:cNvCxnSpPr>
          <p:nvPr/>
        </p:nvCxnSpPr>
        <p:spPr>
          <a:xfrm flipH="1">
            <a:off x="9302430" y="5276641"/>
            <a:ext cx="240343" cy="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连接符 233">
            <a:extLst>
              <a:ext uri="{FF2B5EF4-FFF2-40B4-BE49-F238E27FC236}">
                <a16:creationId xmlns:a16="http://schemas.microsoft.com/office/drawing/2014/main" id="{7DF77FC2-E717-D000-B854-563E1E41EACD}"/>
              </a:ext>
            </a:extLst>
          </p:cNvPr>
          <p:cNvCxnSpPr>
            <a:cxnSpLocks/>
          </p:cNvCxnSpPr>
          <p:nvPr/>
        </p:nvCxnSpPr>
        <p:spPr>
          <a:xfrm flipV="1">
            <a:off x="9306105" y="4384734"/>
            <a:ext cx="0" cy="90369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文本框 234">
            <a:extLst>
              <a:ext uri="{FF2B5EF4-FFF2-40B4-BE49-F238E27FC236}">
                <a16:creationId xmlns:a16="http://schemas.microsoft.com/office/drawing/2014/main" id="{A64B1336-FFD2-DE63-D114-3F37BC5A8D52}"/>
              </a:ext>
            </a:extLst>
          </p:cNvPr>
          <p:cNvSpPr txBox="1"/>
          <p:nvPr/>
        </p:nvSpPr>
        <p:spPr>
          <a:xfrm>
            <a:off x="4918506" y="720000"/>
            <a:ext cx="23549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光电码盘</a:t>
            </a:r>
            <a:endParaRPr lang="zh-CN" altLang="en-US" sz="2800" dirty="0"/>
          </a:p>
        </p:txBody>
      </p:sp>
      <p:sp>
        <p:nvSpPr>
          <p:cNvPr id="236" name="文本框 235">
            <a:extLst>
              <a:ext uri="{FF2B5EF4-FFF2-40B4-BE49-F238E27FC236}">
                <a16:creationId xmlns:a16="http://schemas.microsoft.com/office/drawing/2014/main" id="{E2282480-0D04-78E1-2D41-70326D5A43F4}"/>
              </a:ext>
            </a:extLst>
          </p:cNvPr>
          <p:cNvSpPr txBox="1"/>
          <p:nvPr/>
        </p:nvSpPr>
        <p:spPr>
          <a:xfrm>
            <a:off x="7182548" y="6070625"/>
            <a:ext cx="47204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格雷码不会出现错误编码</a:t>
            </a:r>
            <a:endParaRPr lang="zh-CN" altLang="en-US" sz="2400" dirty="0"/>
          </a:p>
        </p:txBody>
      </p:sp>
      <p:sp>
        <p:nvSpPr>
          <p:cNvPr id="237" name="文本框 236">
            <a:extLst>
              <a:ext uri="{FF2B5EF4-FFF2-40B4-BE49-F238E27FC236}">
                <a16:creationId xmlns:a16="http://schemas.microsoft.com/office/drawing/2014/main" id="{0274A2F5-6A9B-C49D-578B-3D54B86C5E2C}"/>
              </a:ext>
            </a:extLst>
          </p:cNvPr>
          <p:cNvSpPr txBox="1"/>
          <p:nvPr/>
        </p:nvSpPr>
        <p:spPr>
          <a:xfrm>
            <a:off x="3315026" y="5147226"/>
            <a:ext cx="357502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2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出现错误编码 </a:t>
            </a:r>
            <a:r>
              <a:rPr lang="en-US" altLang="zh-CN" sz="22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010</a:t>
            </a:r>
          </a:p>
          <a:p>
            <a:pPr algn="ctr"/>
            <a:r>
              <a:rPr lang="zh-CN" altLang="en-US" sz="22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 既不是 </a:t>
            </a:r>
            <a:r>
              <a:rPr lang="en-US" altLang="zh-CN" sz="22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011 </a:t>
            </a:r>
            <a:r>
              <a:rPr lang="zh-CN" altLang="en-US" sz="22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也不是 </a:t>
            </a:r>
            <a:r>
              <a:rPr lang="en-US" altLang="zh-CN" sz="22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 </a:t>
            </a:r>
            <a:r>
              <a:rPr lang="zh-CN" altLang="en-US" sz="22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200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BBC75F5-1BBE-5159-BDD4-9D3AD2DF00CB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7A3A9FC-2539-A223-6784-9A3B7F304A8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6986BB6E-AFFD-55EB-AAAC-14240C36DE0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02AF291D-9702-FB0E-5665-D72EDBA4C82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01314D0E-94F4-29D6-B335-C8A3866D4E5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标题 1">
            <a:extLst>
              <a:ext uri="{FF2B5EF4-FFF2-40B4-BE49-F238E27FC236}">
                <a16:creationId xmlns:a16="http://schemas.microsoft.com/office/drawing/2014/main" id="{9E6BA9EB-E614-5CD4-5361-0CBFD741362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二进制代码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格雷码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0399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980B3-1355-D7EA-8B3E-0D26F8D6E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D4F9DC3-C498-627B-E595-D6D9EF963C4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1CDE03C6-B858-4065-520C-85E9A7F1381C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38670FB4-B241-9522-DCDA-09BDE5BFC55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BBC2863A-FF6C-72F3-622B-81869CEBB065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1262B69E-8419-5D1A-4035-AA2C8754B9E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5DD26328-7195-2F40-FD26-44B9124672EA}"/>
              </a:ext>
            </a:extLst>
          </p:cNvPr>
          <p:cNvSpPr txBox="1"/>
          <p:nvPr/>
        </p:nvSpPr>
        <p:spPr>
          <a:xfrm>
            <a:off x="360000" y="828000"/>
            <a:ext cx="10176608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二进制码 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 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格雷码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二进制码的最高位（最左边）与格雷码的最高位相同</a:t>
            </a: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从左到右，逐一将二进制码相邻的 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位相加（舍去进位），作为格雷码的下一位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6E339B3-F668-DBF9-EDAF-3308F3FA2A6E}"/>
              </a:ext>
            </a:extLst>
          </p:cNvPr>
          <p:cNvSpPr txBox="1"/>
          <p:nvPr/>
        </p:nvSpPr>
        <p:spPr>
          <a:xfrm>
            <a:off x="360000" y="3060000"/>
            <a:ext cx="77001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sz="28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例：将二进制码 </a:t>
            </a:r>
            <a:r>
              <a:rPr lang="en-US" altLang="zh-CN" sz="28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1011</a:t>
            </a:r>
            <a:r>
              <a:rPr lang="zh-CN" altLang="en-US" sz="28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转换成格雷码</a:t>
            </a:r>
            <a:endParaRPr lang="zh-CN" altLang="en-US" sz="2800" dirty="0">
              <a:solidFill>
                <a:srgbClr val="C55A11"/>
              </a:solidFill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89D68AF-D3FC-D28B-2C31-D0ABAE748E97}"/>
              </a:ext>
            </a:extLst>
          </p:cNvPr>
          <p:cNvGrpSpPr/>
          <p:nvPr/>
        </p:nvGrpSpPr>
        <p:grpSpPr>
          <a:xfrm>
            <a:off x="360000" y="3960000"/>
            <a:ext cx="9681308" cy="2093783"/>
            <a:chOff x="338992" y="3926120"/>
            <a:chExt cx="9681308" cy="2093783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10E1B03-B7C5-612A-E0FC-E53BF57B60CD}"/>
                </a:ext>
              </a:extLst>
            </p:cNvPr>
            <p:cNvSpPr txBox="1"/>
            <p:nvPr/>
          </p:nvSpPr>
          <p:spPr>
            <a:xfrm>
              <a:off x="338992" y="3926120"/>
              <a:ext cx="968130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zh-CN" altLang="en-US" sz="2800" dirty="0">
                  <a:solidFill>
                    <a:srgbClr val="C55A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二进制码：</a:t>
              </a:r>
              <a:r>
                <a:rPr lang="en-US" altLang="zh-CN" sz="2800" dirty="0">
                  <a:solidFill>
                    <a:srgbClr val="C55A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1		0		1		1</a:t>
              </a:r>
              <a:endParaRPr lang="zh-CN" altLang="en-US" sz="28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BA770D2-2357-D4D7-7360-24F85401647F}"/>
                </a:ext>
              </a:extLst>
            </p:cNvPr>
            <p:cNvSpPr txBox="1"/>
            <p:nvPr/>
          </p:nvSpPr>
          <p:spPr>
            <a:xfrm>
              <a:off x="338992" y="5496683"/>
              <a:ext cx="968130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zh-CN" altLang="en-US" sz="2800" dirty="0">
                  <a:solidFill>
                    <a:srgbClr val="C55A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格雷码：</a:t>
              </a:r>
              <a:r>
                <a:rPr lang="en-US" altLang="zh-CN" sz="2800" dirty="0">
                  <a:solidFill>
                    <a:srgbClr val="C55A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1		1		1		0</a:t>
              </a:r>
              <a:endParaRPr lang="zh-CN" altLang="en-US" sz="28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DCC0E689-980A-E0EA-F480-28F68B24FFCD}"/>
                </a:ext>
              </a:extLst>
            </p:cNvPr>
            <p:cNvCxnSpPr>
              <a:cxnSpLocks/>
            </p:cNvCxnSpPr>
            <p:nvPr/>
          </p:nvCxnSpPr>
          <p:spPr>
            <a:xfrm>
              <a:off x="3291314" y="4470300"/>
              <a:ext cx="0" cy="1026383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86CF3E9D-42CB-A86B-097A-20743A5F268B}"/>
                </a:ext>
              </a:extLst>
            </p:cNvPr>
            <p:cNvCxnSpPr>
              <a:cxnSpLocks/>
            </p:cNvCxnSpPr>
            <p:nvPr/>
          </p:nvCxnSpPr>
          <p:spPr>
            <a:xfrm>
              <a:off x="3405809" y="4470300"/>
              <a:ext cx="1563756" cy="359471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00EC6776-866D-81FB-60EB-D181A050E138}"/>
                </a:ext>
              </a:extLst>
            </p:cNvPr>
            <p:cNvCxnSpPr>
              <a:cxnSpLocks/>
            </p:cNvCxnSpPr>
            <p:nvPr/>
          </p:nvCxnSpPr>
          <p:spPr>
            <a:xfrm>
              <a:off x="5112360" y="4470300"/>
              <a:ext cx="0" cy="317789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B7D4AC36-8689-412D-62E2-FBF662CDF327}"/>
                </a:ext>
              </a:extLst>
            </p:cNvPr>
            <p:cNvSpPr txBox="1"/>
            <p:nvPr/>
          </p:nvSpPr>
          <p:spPr>
            <a:xfrm>
              <a:off x="4893594" y="4711401"/>
              <a:ext cx="43753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endParaRPr lang="zh-CN" altLang="en-US" sz="28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6113DFCD-3FB0-BD7E-C4A3-3F80464A6FD9}"/>
                </a:ext>
              </a:extLst>
            </p:cNvPr>
            <p:cNvCxnSpPr>
              <a:cxnSpLocks/>
            </p:cNvCxnSpPr>
            <p:nvPr/>
          </p:nvCxnSpPr>
          <p:spPr>
            <a:xfrm>
              <a:off x="5112360" y="5178894"/>
              <a:ext cx="0" cy="317789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18508C76-3BA3-D146-DB92-2846A6A97E64}"/>
                </a:ext>
              </a:extLst>
            </p:cNvPr>
            <p:cNvCxnSpPr>
              <a:cxnSpLocks/>
            </p:cNvCxnSpPr>
            <p:nvPr/>
          </p:nvCxnSpPr>
          <p:spPr>
            <a:xfrm>
              <a:off x="5246732" y="4470300"/>
              <a:ext cx="1563756" cy="359471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10A1D63A-6558-0C8B-27C7-1AB2B97DA307}"/>
                </a:ext>
              </a:extLst>
            </p:cNvPr>
            <p:cNvCxnSpPr>
              <a:cxnSpLocks/>
            </p:cNvCxnSpPr>
            <p:nvPr/>
          </p:nvCxnSpPr>
          <p:spPr>
            <a:xfrm>
              <a:off x="6953283" y="4470300"/>
              <a:ext cx="0" cy="317789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F6EA8AF-4787-F4A5-0571-C301377FDFB4}"/>
                </a:ext>
              </a:extLst>
            </p:cNvPr>
            <p:cNvSpPr txBox="1"/>
            <p:nvPr/>
          </p:nvSpPr>
          <p:spPr>
            <a:xfrm>
              <a:off x="6734517" y="4711401"/>
              <a:ext cx="43753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endParaRPr lang="zh-CN" altLang="en-US" sz="28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04B44D77-2E08-04A3-FB5B-F74ACF5A9249}"/>
                </a:ext>
              </a:extLst>
            </p:cNvPr>
            <p:cNvCxnSpPr>
              <a:cxnSpLocks/>
            </p:cNvCxnSpPr>
            <p:nvPr/>
          </p:nvCxnSpPr>
          <p:spPr>
            <a:xfrm>
              <a:off x="6953283" y="5178894"/>
              <a:ext cx="0" cy="317789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6F451D6A-910D-1642-53E3-EA4675A64A34}"/>
                </a:ext>
              </a:extLst>
            </p:cNvPr>
            <p:cNvCxnSpPr>
              <a:cxnSpLocks/>
            </p:cNvCxnSpPr>
            <p:nvPr/>
          </p:nvCxnSpPr>
          <p:spPr>
            <a:xfrm>
              <a:off x="7066389" y="4451758"/>
              <a:ext cx="1563756" cy="359471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FF59E2A4-FEE4-FA52-73E0-BDBAE94CF567}"/>
                </a:ext>
              </a:extLst>
            </p:cNvPr>
            <p:cNvCxnSpPr>
              <a:cxnSpLocks/>
            </p:cNvCxnSpPr>
            <p:nvPr/>
          </p:nvCxnSpPr>
          <p:spPr>
            <a:xfrm>
              <a:off x="8772940" y="4451758"/>
              <a:ext cx="0" cy="317789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6B3DE27-8F35-57A1-A636-B8E3495E14AA}"/>
                </a:ext>
              </a:extLst>
            </p:cNvPr>
            <p:cNvSpPr txBox="1"/>
            <p:nvPr/>
          </p:nvSpPr>
          <p:spPr>
            <a:xfrm>
              <a:off x="8554174" y="4692859"/>
              <a:ext cx="43753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endParaRPr lang="zh-CN" altLang="en-US" sz="28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0F3D78E8-DE0F-DE03-131D-CACFC7827EAA}"/>
                </a:ext>
              </a:extLst>
            </p:cNvPr>
            <p:cNvCxnSpPr>
              <a:cxnSpLocks/>
            </p:cNvCxnSpPr>
            <p:nvPr/>
          </p:nvCxnSpPr>
          <p:spPr>
            <a:xfrm>
              <a:off x="8772940" y="5160352"/>
              <a:ext cx="0" cy="317789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A1BFF072-3206-375A-B317-68F4F4929F6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二进制代码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格雷码与二进制码之间的转换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061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ED7BD-0297-B4AD-7A2A-57AEE0DF0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E528C69E-6161-7180-1E2D-46D39D34E28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4A1C3872-EDA8-5C36-D791-4E1D903A82BC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7D1DD37A-8C63-CCEB-B7E8-D2475B4E3F54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FC91D98A-1B07-C8A5-318B-736537DFAB4E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5F4B8F54-CC0E-1E4B-4360-CF56A742FECC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55006F97-785B-31AA-F12B-6AB381100115}"/>
              </a:ext>
            </a:extLst>
          </p:cNvPr>
          <p:cNvSpPr txBox="1"/>
          <p:nvPr/>
        </p:nvSpPr>
        <p:spPr>
          <a:xfrm>
            <a:off x="360000" y="828000"/>
            <a:ext cx="10176608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格雷码  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  二进制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格雷码的最高位（最左边）与二进制码的最高位相同</a:t>
            </a: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将产生的每一位二进制码，与右侧下一位对应的格雷码相加（舍去进位），作为二进制码的下一位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C3CA038-7977-18DA-36C0-D1323DDCBAA3}"/>
              </a:ext>
            </a:extLst>
          </p:cNvPr>
          <p:cNvSpPr txBox="1"/>
          <p:nvPr/>
        </p:nvSpPr>
        <p:spPr>
          <a:xfrm>
            <a:off x="360000" y="3060000"/>
            <a:ext cx="77001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sz="28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例：将格雷码 </a:t>
            </a:r>
            <a:r>
              <a:rPr lang="en-US" altLang="zh-CN" sz="28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1011</a:t>
            </a:r>
            <a:r>
              <a:rPr lang="zh-CN" altLang="en-US" sz="28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转换成二进制码</a:t>
            </a:r>
            <a:endParaRPr lang="zh-CN" altLang="en-US" sz="2800" dirty="0">
              <a:solidFill>
                <a:srgbClr val="C55A11"/>
              </a:solidFill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97E6FDB-2471-93E5-9850-1498D683129B}"/>
              </a:ext>
            </a:extLst>
          </p:cNvPr>
          <p:cNvGrpSpPr/>
          <p:nvPr/>
        </p:nvGrpSpPr>
        <p:grpSpPr>
          <a:xfrm>
            <a:off x="360000" y="3960000"/>
            <a:ext cx="9681308" cy="2093783"/>
            <a:chOff x="338992" y="3926120"/>
            <a:chExt cx="9681308" cy="2093783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6BADE64-D6C3-1E26-9E08-420EFA91898D}"/>
                </a:ext>
              </a:extLst>
            </p:cNvPr>
            <p:cNvSpPr txBox="1"/>
            <p:nvPr/>
          </p:nvSpPr>
          <p:spPr>
            <a:xfrm>
              <a:off x="338992" y="3926120"/>
              <a:ext cx="968130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zh-CN" altLang="en-US" sz="2800" dirty="0">
                  <a:solidFill>
                    <a:srgbClr val="C55A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格雷码：</a:t>
              </a:r>
              <a:r>
                <a:rPr lang="en-US" altLang="zh-CN" sz="2800" dirty="0">
                  <a:solidFill>
                    <a:srgbClr val="C55A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1		0		1		1</a:t>
              </a:r>
              <a:endParaRPr lang="zh-CN" altLang="en-US" sz="28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79E4FB3-E844-8D5D-4D2D-0184CC4BB1E7}"/>
                </a:ext>
              </a:extLst>
            </p:cNvPr>
            <p:cNvSpPr txBox="1"/>
            <p:nvPr/>
          </p:nvSpPr>
          <p:spPr>
            <a:xfrm>
              <a:off x="338992" y="5496683"/>
              <a:ext cx="968130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zh-CN" altLang="en-US" sz="2800" dirty="0">
                  <a:solidFill>
                    <a:srgbClr val="C55A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二进制码：</a:t>
              </a:r>
              <a:r>
                <a:rPr lang="en-US" altLang="zh-CN" sz="2800" dirty="0">
                  <a:solidFill>
                    <a:srgbClr val="C55A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1		1		0		1</a:t>
              </a:r>
              <a:endParaRPr lang="zh-CN" altLang="en-US" sz="28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20EE31FB-5C16-FA90-35E0-91087F798DAC}"/>
                </a:ext>
              </a:extLst>
            </p:cNvPr>
            <p:cNvCxnSpPr>
              <a:cxnSpLocks/>
            </p:cNvCxnSpPr>
            <p:nvPr/>
          </p:nvCxnSpPr>
          <p:spPr>
            <a:xfrm>
              <a:off x="3291314" y="4470300"/>
              <a:ext cx="0" cy="1026383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FE7A5620-9683-F737-7829-34030FE987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2808" y="4829771"/>
              <a:ext cx="1526757" cy="648370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A6E7CBEF-D5DF-6B42-E8C5-2F404F6B5083}"/>
                </a:ext>
              </a:extLst>
            </p:cNvPr>
            <p:cNvCxnSpPr>
              <a:cxnSpLocks/>
            </p:cNvCxnSpPr>
            <p:nvPr/>
          </p:nvCxnSpPr>
          <p:spPr>
            <a:xfrm>
              <a:off x="5112360" y="4470300"/>
              <a:ext cx="0" cy="317789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731CA1B-0A94-C037-B6F3-5A98889D6E74}"/>
                </a:ext>
              </a:extLst>
            </p:cNvPr>
            <p:cNvSpPr txBox="1"/>
            <p:nvPr/>
          </p:nvSpPr>
          <p:spPr>
            <a:xfrm>
              <a:off x="4893594" y="4711401"/>
              <a:ext cx="43753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endParaRPr lang="zh-CN" altLang="en-US" sz="28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20C1A0BB-17BA-E5EF-499C-709181B47069}"/>
                </a:ext>
              </a:extLst>
            </p:cNvPr>
            <p:cNvCxnSpPr>
              <a:cxnSpLocks/>
            </p:cNvCxnSpPr>
            <p:nvPr/>
          </p:nvCxnSpPr>
          <p:spPr>
            <a:xfrm>
              <a:off x="5112360" y="5178894"/>
              <a:ext cx="0" cy="317789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450F1358-8ECA-A572-63F3-2FFB905E8CF9}"/>
                </a:ext>
              </a:extLst>
            </p:cNvPr>
            <p:cNvCxnSpPr>
              <a:cxnSpLocks/>
            </p:cNvCxnSpPr>
            <p:nvPr/>
          </p:nvCxnSpPr>
          <p:spPr>
            <a:xfrm>
              <a:off x="6953283" y="4470300"/>
              <a:ext cx="0" cy="317789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662B0F0-7435-17BC-79CA-C0FB0AB06CF8}"/>
                </a:ext>
              </a:extLst>
            </p:cNvPr>
            <p:cNvSpPr txBox="1"/>
            <p:nvPr/>
          </p:nvSpPr>
          <p:spPr>
            <a:xfrm>
              <a:off x="6734517" y="4711401"/>
              <a:ext cx="43753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endParaRPr lang="zh-CN" altLang="en-US" sz="28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8B1E5C72-614A-56E9-71E3-E8D33050B59A}"/>
                </a:ext>
              </a:extLst>
            </p:cNvPr>
            <p:cNvCxnSpPr>
              <a:cxnSpLocks/>
            </p:cNvCxnSpPr>
            <p:nvPr/>
          </p:nvCxnSpPr>
          <p:spPr>
            <a:xfrm>
              <a:off x="6953283" y="5178894"/>
              <a:ext cx="0" cy="317789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D3513C67-98E9-9007-7C25-5CE05377672E}"/>
                </a:ext>
              </a:extLst>
            </p:cNvPr>
            <p:cNvCxnSpPr>
              <a:cxnSpLocks/>
            </p:cNvCxnSpPr>
            <p:nvPr/>
          </p:nvCxnSpPr>
          <p:spPr>
            <a:xfrm>
              <a:off x="8772940" y="4451758"/>
              <a:ext cx="0" cy="317789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48424F3-32D5-FC29-F34E-8524DA9DEE0E}"/>
                </a:ext>
              </a:extLst>
            </p:cNvPr>
            <p:cNvSpPr txBox="1"/>
            <p:nvPr/>
          </p:nvSpPr>
          <p:spPr>
            <a:xfrm>
              <a:off x="8554174" y="4692859"/>
              <a:ext cx="43753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endParaRPr lang="zh-CN" altLang="en-US" sz="28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E14B0755-1503-07BD-06C6-2DAF49869D71}"/>
                </a:ext>
              </a:extLst>
            </p:cNvPr>
            <p:cNvCxnSpPr>
              <a:cxnSpLocks/>
            </p:cNvCxnSpPr>
            <p:nvPr/>
          </p:nvCxnSpPr>
          <p:spPr>
            <a:xfrm>
              <a:off x="8772940" y="5160352"/>
              <a:ext cx="0" cy="317789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3B601114-3BB8-DEB6-4C6A-9B1E5C38E0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83730" y="4827352"/>
              <a:ext cx="1526757" cy="648370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2B9B2289-DDF0-248E-5B0F-4E641CCCE7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6080" y="4827352"/>
              <a:ext cx="1526757" cy="648370"/>
            </a:xfrm>
            <a:prstGeom prst="straightConnector1">
              <a:avLst/>
            </a:prstGeom>
            <a:ln w="25400">
              <a:solidFill>
                <a:schemeClr val="accent5">
                  <a:lumMod val="7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12013071-363F-FFA3-EDE6-4A61E2D903A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二进制代码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格雷码与二进制码之间的转换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99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847566-F306-840E-8EEC-0D12012AC6D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二进制代码 </a:t>
            </a:r>
            <a:r>
              <a:rPr lang="en-US" altLang="zh-CN" sz="3000" dirty="0"/>
              <a:t>—— </a:t>
            </a:r>
            <a:r>
              <a:rPr lang="en-US" altLang="zh-CN" dirty="0">
                <a:solidFill>
                  <a:srgbClr val="FFFF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ASCII </a:t>
            </a:r>
            <a:r>
              <a:rPr lang="zh-CN" altLang="en-US" dirty="0">
                <a:solidFill>
                  <a:srgbClr val="FFFF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码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pic>
        <p:nvPicPr>
          <p:cNvPr id="3" name="Picture 4" descr="ASCII码表">
            <a:extLst>
              <a:ext uri="{FF2B5EF4-FFF2-40B4-BE49-F238E27FC236}">
                <a16:creationId xmlns:a16="http://schemas.microsoft.com/office/drawing/2014/main" id="{246A4446-0639-8B1E-C97E-BBA8DA390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3278" y="691099"/>
            <a:ext cx="5889536" cy="5739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B7EBF28-8D12-4126-33B8-1790FBAD4062}"/>
              </a:ext>
            </a:extLst>
          </p:cNvPr>
          <p:cNvSpPr txBox="1"/>
          <p:nvPr/>
        </p:nvSpPr>
        <p:spPr>
          <a:xfrm>
            <a:off x="360000" y="828000"/>
            <a:ext cx="5160980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美国信息交换标准代码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位二进制代码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共可表示 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 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个字符</a:t>
            </a: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 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个可显示和打印字符</a:t>
            </a: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33 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个控制字符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E57A50C-9B7F-CF88-04FA-87925AD0E7C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2AA556B-4A8B-20F8-9364-5813B504670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" name="箭头: 五边形 7">
                <a:extLst>
                  <a:ext uri="{FF2B5EF4-FFF2-40B4-BE49-F238E27FC236}">
                    <a16:creationId xmlns:a16="http://schemas.microsoft.com/office/drawing/2014/main" id="{81166757-7680-022D-2A5E-CB8D8421605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B7695B10-9CA6-9331-712A-AC6FD1CD5E9E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7898D9CB-F1A7-455D-D024-287AB58A3C01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51979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B7FFE-3B18-191D-DC9B-73ADD5FCB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ASCII码表">
            <a:extLst>
              <a:ext uri="{FF2B5EF4-FFF2-40B4-BE49-F238E27FC236}">
                <a16:creationId xmlns:a16="http://schemas.microsoft.com/office/drawing/2014/main" id="{12CA1964-59B7-C49D-EC4F-E21BFDF6B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3278" y="691099"/>
            <a:ext cx="5889536" cy="5739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E38D0520-419C-B043-282A-DF798107473B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C0113D4A-9670-48AA-1187-EF698B66DC2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" name="箭头: 五边形 7">
                <a:extLst>
                  <a:ext uri="{FF2B5EF4-FFF2-40B4-BE49-F238E27FC236}">
                    <a16:creationId xmlns:a16="http://schemas.microsoft.com/office/drawing/2014/main" id="{78309305-8C86-A35C-C65E-F011711D447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3363FEAC-85FF-8AF5-0404-F1E57986C0B5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2F355C40-6DEE-EE42-3B79-C130BF57871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7A90F9D-32A9-E664-0100-CBB8C0D4A1A7}"/>
                  </a:ext>
                </a:extLst>
              </p:cNvPr>
              <p:cNvSpPr txBox="1"/>
              <p:nvPr/>
            </p:nvSpPr>
            <p:spPr>
              <a:xfrm>
                <a:off x="360000" y="2016000"/>
                <a:ext cx="4779763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例：用十六进制写出“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C55A1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∗</m:t>
                    </m:r>
                  </m:oMath>
                </a14:m>
                <a:r>
                  <a:rPr lang="zh-CN" altLang="en-US" sz="28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”的</a:t>
                </a:r>
                <a:r>
                  <a:rPr lang="en-US" altLang="zh-CN" sz="28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ASCII </a:t>
                </a:r>
                <a:r>
                  <a:rPr lang="zh-CN" altLang="en-US" sz="28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码</a:t>
                </a:r>
                <a:endParaRPr lang="zh-CN" altLang="en-US" sz="2800" dirty="0">
                  <a:solidFill>
                    <a:srgbClr val="C55A11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7A90F9D-32A9-E664-0100-CBB8C0D4A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016000"/>
                <a:ext cx="4779763" cy="954107"/>
              </a:xfrm>
              <a:prstGeom prst="rect">
                <a:avLst/>
              </a:prstGeom>
              <a:blipFill>
                <a:blip r:embed="rId4"/>
                <a:stretch>
                  <a:fillRect l="-2551" t="-7051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F722FC9-A107-3D28-1B6B-5B4528D6FB66}"/>
                  </a:ext>
                </a:extLst>
              </p:cNvPr>
              <p:cNvSpPr txBox="1"/>
              <p:nvPr/>
            </p:nvSpPr>
            <p:spPr>
              <a:xfrm>
                <a:off x="360000" y="3348000"/>
                <a:ext cx="4364984" cy="25545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C55A1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∗</m:t>
                    </m:r>
                  </m:oMath>
                </a14:m>
                <a:r>
                  <a:rPr lang="zh-CN" altLang="en-US" sz="28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”的高三位：</a:t>
                </a:r>
                <a:r>
                  <a:rPr lang="en-US" altLang="zh-CN" sz="28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010</a:t>
                </a:r>
              </a:p>
              <a:p>
                <a:pPr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C55A1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∗</m:t>
                    </m:r>
                  </m:oMath>
                </a14:m>
                <a:r>
                  <a:rPr lang="zh-CN" altLang="en-US" sz="28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”的低四位：</a:t>
                </a:r>
                <a:r>
                  <a:rPr lang="en-US" altLang="zh-CN" sz="28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1010</a:t>
                </a:r>
              </a:p>
              <a:p>
                <a:pPr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C55A1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∗</m:t>
                    </m:r>
                  </m:oMath>
                </a14:m>
                <a:r>
                  <a:rPr lang="zh-CN" altLang="en-US" sz="28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”：</a:t>
                </a:r>
                <a:r>
                  <a:rPr lang="en-US" altLang="zh-CN" sz="28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0101010</a:t>
                </a:r>
              </a:p>
              <a:p>
                <a:pPr>
                  <a:spcAft>
                    <a:spcPts val="600"/>
                  </a:spcAft>
                </a:pPr>
                <a:endParaRPr lang="en-US" altLang="zh-CN" sz="2800" dirty="0">
                  <a:solidFill>
                    <a:srgbClr val="C55A1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altLang="zh-CN" sz="28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( 0101010 )</a:t>
                </a:r>
                <a:r>
                  <a:rPr lang="en-US" altLang="zh-CN" sz="2800" baseline="-250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</a:t>
                </a:r>
                <a:r>
                  <a:rPr lang="en-US" altLang="zh-CN" sz="28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= ( 2A )</a:t>
                </a:r>
                <a:r>
                  <a:rPr lang="en-US" altLang="zh-CN" sz="2800" baseline="-250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2800" dirty="0">
                    <a:solidFill>
                      <a:srgbClr val="C55A1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F722FC9-A107-3D28-1B6B-5B4528D6F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348000"/>
                <a:ext cx="4364984" cy="2554545"/>
              </a:xfrm>
              <a:prstGeom prst="rect">
                <a:avLst/>
              </a:prstGeom>
              <a:blipFill>
                <a:blip r:embed="rId5"/>
                <a:stretch>
                  <a:fillRect l="-2793" t="-2387" b="-57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>
            <a:extLst>
              <a:ext uri="{FF2B5EF4-FFF2-40B4-BE49-F238E27FC236}">
                <a16:creationId xmlns:a16="http://schemas.microsoft.com/office/drawing/2014/main" id="{DDD181C3-88E7-EDEF-10FB-9C57C4BBCE7C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二进制代码 </a:t>
            </a:r>
            <a:r>
              <a:rPr lang="en-US" altLang="zh-CN" sz="3000" dirty="0"/>
              <a:t>—— </a:t>
            </a:r>
            <a:r>
              <a:rPr lang="en-US" altLang="zh-CN" dirty="0">
                <a:solidFill>
                  <a:srgbClr val="FFFF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ASCII </a:t>
            </a:r>
            <a:r>
              <a:rPr lang="zh-CN" altLang="en-US" dirty="0">
                <a:solidFill>
                  <a:srgbClr val="FFFF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码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D56142-9A8E-9F5F-2439-FB510E918B9A}"/>
              </a:ext>
            </a:extLst>
          </p:cNvPr>
          <p:cNvSpPr txBox="1"/>
          <p:nvPr/>
        </p:nvSpPr>
        <p:spPr>
          <a:xfrm>
            <a:off x="360000" y="828000"/>
            <a:ext cx="5160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美国信息交换标准代码</a:t>
            </a:r>
            <a:endParaRPr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834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0CC7EB-C3DD-48C0-DA12-B2894077D43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作业</a:t>
            </a:r>
            <a:endParaRPr lang="en-US" altLang="zh-CN" sz="3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D03A1E-30D7-E465-D463-9645185303D5}"/>
              </a:ext>
            </a:extLst>
          </p:cNvPr>
          <p:cNvSpPr txBox="1"/>
          <p:nvPr/>
        </p:nvSpPr>
        <p:spPr>
          <a:xfrm>
            <a:off x="360000" y="828000"/>
            <a:ext cx="4627292" cy="535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电子技术基础（数字部分）</a:t>
            </a:r>
            <a:endParaRPr lang="en-US" altLang="zh-CN" sz="28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P38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1.2.2 (4)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1.2.3 (3)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1.2.5 (3)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1.2.6 (3)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1.2.8 (3)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1.3.4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1BF7A7-8DF1-1988-0243-56DA3EBF3AD9}"/>
              </a:ext>
            </a:extLst>
          </p:cNvPr>
          <p:cNvSpPr txBox="1"/>
          <p:nvPr/>
        </p:nvSpPr>
        <p:spPr>
          <a:xfrm>
            <a:off x="6120000" y="828000"/>
            <a:ext cx="4627292" cy="4152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endParaRPr lang="en-US" altLang="zh-CN" sz="28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P38 - 39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1.4.1 (3)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1.4.2 (1)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1.4.3 (3)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1.4.4 (4)</a:t>
            </a:r>
          </a:p>
        </p:txBody>
      </p:sp>
    </p:spTree>
    <p:extLst>
      <p:ext uri="{BB962C8B-B14F-4D97-AF65-F5344CB8AC3E}">
        <p14:creationId xmlns:p14="http://schemas.microsoft.com/office/powerpoint/2010/main" val="1561442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6060</TotalTime>
  <Words>4113</Words>
  <Application>Microsoft Office PowerPoint</Application>
  <PresentationFormat>宽屏</PresentationFormat>
  <Paragraphs>763</Paragraphs>
  <Slides>32</Slides>
  <Notes>23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等线</vt:lpstr>
      <vt:lpstr>宋体</vt:lpstr>
      <vt:lpstr>Microsoft YaHei</vt:lpstr>
      <vt:lpstr>Microsoft YaHei</vt:lpstr>
      <vt:lpstr>Arial</vt:lpstr>
      <vt:lpstr>Cambria</vt:lpstr>
      <vt:lpstr>Cambria Math</vt:lpstr>
      <vt:lpstr>Candara</vt:lpstr>
      <vt:lpstr>Times New Roman</vt:lpstr>
      <vt:lpstr>Wingdings</vt:lpstr>
      <vt:lpstr>Office 主题​​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 Liao</dc:creator>
  <cp:lastModifiedBy>QF</cp:lastModifiedBy>
  <cp:revision>602</cp:revision>
  <dcterms:created xsi:type="dcterms:W3CDTF">2024-12-23T04:28:42Z</dcterms:created>
  <dcterms:modified xsi:type="dcterms:W3CDTF">2025-11-04T15:35:29Z</dcterms:modified>
</cp:coreProperties>
</file>