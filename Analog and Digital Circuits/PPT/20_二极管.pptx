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handoutMasterIdLst>
    <p:handoutMasterId r:id="rId35"/>
  </p:handoutMasterIdLst>
  <p:sldIdLst>
    <p:sldId id="1354" r:id="rId2"/>
    <p:sldId id="6935" r:id="rId3"/>
    <p:sldId id="7174" r:id="rId4"/>
    <p:sldId id="7204" r:id="rId5"/>
    <p:sldId id="7177" r:id="rId6"/>
    <p:sldId id="7208" r:id="rId7"/>
    <p:sldId id="7206" r:id="rId8"/>
    <p:sldId id="7209" r:id="rId9"/>
    <p:sldId id="7188" r:id="rId10"/>
    <p:sldId id="7180" r:id="rId11"/>
    <p:sldId id="7183" r:id="rId12"/>
    <p:sldId id="7181" r:id="rId13"/>
    <p:sldId id="7184" r:id="rId14"/>
    <p:sldId id="7185" r:id="rId15"/>
    <p:sldId id="7186" r:id="rId16"/>
    <p:sldId id="7189" r:id="rId17"/>
    <p:sldId id="7190" r:id="rId18"/>
    <p:sldId id="7210" r:id="rId19"/>
    <p:sldId id="7191" r:id="rId20"/>
    <p:sldId id="7214" r:id="rId21"/>
    <p:sldId id="7195" r:id="rId22"/>
    <p:sldId id="7194" r:id="rId23"/>
    <p:sldId id="7199" r:id="rId24"/>
    <p:sldId id="7196" r:id="rId25"/>
    <p:sldId id="7197" r:id="rId26"/>
    <p:sldId id="7211" r:id="rId27"/>
    <p:sldId id="7200" r:id="rId28"/>
    <p:sldId id="7201" r:id="rId29"/>
    <p:sldId id="7202" r:id="rId30"/>
    <p:sldId id="7213" r:id="rId31"/>
    <p:sldId id="7212" r:id="rId32"/>
    <p:sldId id="7007" r:id="rId3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FF00"/>
    <a:srgbClr val="FF00FF"/>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70" autoAdjust="0"/>
    <p:restoredTop sz="68454" autoAdjust="0"/>
  </p:normalViewPr>
  <p:slideViewPr>
    <p:cSldViewPr snapToGrid="0">
      <p:cViewPr varScale="1">
        <p:scale>
          <a:sx n="66" d="100"/>
          <a:sy n="66" d="100"/>
        </p:scale>
        <p:origin x="498" y="57"/>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0" d="100"/>
          <a:sy n="60" d="100"/>
        </p:scale>
        <p:origin x="1230" y="39"/>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3336B957-0C23-1CDE-A2B8-044701C667D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B07E1FBC-070D-8861-8D9C-258144CACE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A72CA61-C7A7-44C1-8225-2F3B25FCEFE9}" type="datetimeFigureOut">
              <a:rPr lang="zh-CN" altLang="en-US" smtClean="0"/>
              <a:t>2025/12/29</a:t>
            </a:fld>
            <a:endParaRPr lang="zh-CN" altLang="en-US"/>
          </a:p>
        </p:txBody>
      </p:sp>
      <p:sp>
        <p:nvSpPr>
          <p:cNvPr id="4" name="页脚占位符 3">
            <a:extLst>
              <a:ext uri="{FF2B5EF4-FFF2-40B4-BE49-F238E27FC236}">
                <a16:creationId xmlns:a16="http://schemas.microsoft.com/office/drawing/2014/main" id="{CE964B15-02A6-96D1-7025-FFA5019E5EA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A1ABE5DA-4AAF-6256-556A-73DB14F76B4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E1A6520-B727-41E0-BB1B-FA4B49A625E8}" type="slidenum">
              <a:rPr lang="zh-CN" altLang="en-US" smtClean="0"/>
              <a:t>‹#›</a:t>
            </a:fld>
            <a:endParaRPr lang="zh-CN" altLang="en-US"/>
          </a:p>
        </p:txBody>
      </p:sp>
    </p:spTree>
    <p:extLst>
      <p:ext uri="{BB962C8B-B14F-4D97-AF65-F5344CB8AC3E}">
        <p14:creationId xmlns:p14="http://schemas.microsoft.com/office/powerpoint/2010/main" val="2731041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6499D7-817A-4BF8-98BA-7E2BFEC27B52}" type="datetimeFigureOut">
              <a:rPr lang="zh-CN" altLang="en-US" smtClean="0"/>
              <a:t>2025/12/29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F8E926-3218-4A05-BE3C-00B734B06F20}" type="slidenum">
              <a:rPr lang="zh-CN" altLang="en-US" smtClean="0"/>
              <a:t>‹#›</a:t>
            </a:fld>
            <a:endParaRPr lang="zh-CN" altLang="en-US"/>
          </a:p>
        </p:txBody>
      </p:sp>
    </p:spTree>
    <p:extLst>
      <p:ext uri="{BB962C8B-B14F-4D97-AF65-F5344CB8AC3E}">
        <p14:creationId xmlns:p14="http://schemas.microsoft.com/office/powerpoint/2010/main" val="1144201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just"/>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5"/>
          </p:nvPr>
        </p:nvSpPr>
        <p:spPr/>
        <p:txBody>
          <a:bodyPr/>
          <a:lstStyle/>
          <a:p>
            <a:fld id="{D049EC6D-DB1F-44A4-BAF7-4CD4248B20AA}" type="slidenum">
              <a:rPr lang="zh-CN" altLang="en-US" smtClean="0"/>
              <a:pPr/>
              <a:t>1</a:t>
            </a:fld>
            <a:endParaRPr lang="zh-CN" altLang="en-US"/>
          </a:p>
        </p:txBody>
      </p:sp>
    </p:spTree>
    <p:extLst>
      <p:ext uri="{BB962C8B-B14F-4D97-AF65-F5344CB8AC3E}">
        <p14:creationId xmlns:p14="http://schemas.microsoft.com/office/powerpoint/2010/main" val="2828306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endParaRPr lang="zh-CN" altLang="en-US" sz="1200"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2</a:t>
            </a:fld>
            <a:endParaRPr lang="zh-CN" altLang="en-US"/>
          </a:p>
        </p:txBody>
      </p:sp>
    </p:spTree>
    <p:extLst>
      <p:ext uri="{BB962C8B-B14F-4D97-AF65-F5344CB8AC3E}">
        <p14:creationId xmlns:p14="http://schemas.microsoft.com/office/powerpoint/2010/main" val="2214834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所谓半导体，顾名思义，就是导电能力介乎导体和绝缘体之间的一类物质</a:t>
            </a:r>
            <a:endParaRPr lang="en-US" altLang="zh-CN" dirty="0"/>
          </a:p>
          <a:p>
            <a:pPr eaLnBrk="1" hangingPunct="1"/>
            <a:r>
              <a:rPr lang="zh-CN" altLang="en-US" dirty="0"/>
              <a:t>用得最多的半导体是锗和硅，都是四价元素</a:t>
            </a:r>
            <a:endParaRPr lang="en-US" altLang="zh-CN" dirty="0"/>
          </a:p>
          <a:p>
            <a:pPr eaLnBrk="1" hangingPunct="1"/>
            <a:r>
              <a:rPr lang="zh-CN" altLang="en-US" dirty="0"/>
              <a:t> </a:t>
            </a:r>
          </a:p>
          <a:p>
            <a:pPr eaLnBrk="1" hangingPunct="1"/>
            <a:r>
              <a:rPr lang="zh-CN" altLang="en-US" dirty="0"/>
              <a:t>半导体的电阻率比导体大许多数量级，例如本征硅的电阻率（</a:t>
            </a:r>
            <a:r>
              <a:rPr lang="en-US" altLang="zh-CN" dirty="0"/>
              <a:t>2300</a:t>
            </a:r>
            <a:r>
              <a:rPr lang="zh-CN" altLang="en-US" dirty="0"/>
              <a:t>）比铜（</a:t>
            </a:r>
            <a:r>
              <a:rPr lang="en-US" altLang="zh-CN" dirty="0"/>
              <a:t>1.68x10e^(-8)</a:t>
            </a:r>
            <a:r>
              <a:rPr lang="zh-CN" altLang="en-US" dirty="0"/>
              <a:t>）大一千亿倍以上</a:t>
            </a:r>
            <a:endParaRPr lang="en-US" altLang="zh-CN" dirty="0"/>
          </a:p>
          <a:p>
            <a:pPr eaLnBrk="1" hangingPunct="1"/>
            <a:r>
              <a:rPr lang="zh-CN" altLang="en-US" dirty="0">
                <a:solidFill>
                  <a:srgbClr val="0000FF"/>
                </a:solidFill>
              </a:rPr>
              <a:t>（电阻率是衡量材料对电流的抵抗程度的物理量，是材料的基本特性）</a:t>
            </a:r>
            <a:endParaRPr lang="en-US" altLang="zh-CN" dirty="0">
              <a:solidFill>
                <a:srgbClr val="0000FF"/>
              </a:solidFill>
            </a:endParaRPr>
          </a:p>
          <a:p>
            <a:pPr eaLnBrk="1" hangingPunct="1"/>
            <a:endParaRPr lang="zh-CN" altLang="en-US" dirty="0">
              <a:solidFill>
                <a:srgbClr val="0000FF"/>
              </a:solidFill>
            </a:endParaRPr>
          </a:p>
          <a:p>
            <a:pPr eaLnBrk="1" hangingPunct="1"/>
            <a:r>
              <a:rPr lang="zh-CN" altLang="en-US" dirty="0"/>
              <a:t>半导体在温度增高、受光照等条件下，导电能力会显著增加，利用这种特性可制造热敏电阻、光敏电阻等器件</a:t>
            </a:r>
            <a:endParaRPr lang="en-US" altLang="zh-CN" dirty="0"/>
          </a:p>
          <a:p>
            <a:pPr eaLnBrk="1" hangingPunct="1"/>
            <a:endParaRPr lang="zh-CN" altLang="en-US" dirty="0"/>
          </a:p>
          <a:p>
            <a:pPr eaLnBrk="1" hangingPunct="1"/>
            <a:r>
              <a:rPr lang="zh-CN" altLang="en-US" dirty="0"/>
              <a:t>更重要的是，在本征半导体中掺入微量杂质后，其导电能力可增强几十万乃至几百万倍，利用这种特性可制造二极管、三极管等半导体器件</a:t>
            </a:r>
            <a:endParaRPr lang="zh-CN" altLang="en-US" dirty="0">
              <a:latin typeface="宋体" panose="02010600030101010101" pitchFamily="2" charset="-122"/>
            </a:endParaRPr>
          </a:p>
          <a:p>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3</a:t>
            </a:fld>
            <a:endParaRPr lang="zh-CN" altLang="en-US"/>
          </a:p>
        </p:txBody>
      </p:sp>
    </p:spTree>
    <p:extLst>
      <p:ext uri="{BB962C8B-B14F-4D97-AF65-F5344CB8AC3E}">
        <p14:creationId xmlns:p14="http://schemas.microsoft.com/office/powerpoint/2010/main" val="2801555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96BD3-8CE7-838F-A02F-2A8A60BFE97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50FE2D3-6BD2-47DB-9EDD-C0D570F97FC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57B57FF-83D2-7071-A864-4639B9D11461}"/>
              </a:ext>
            </a:extLst>
          </p:cNvPr>
          <p:cNvSpPr>
            <a:spLocks noGrp="1"/>
          </p:cNvSpPr>
          <p:nvPr>
            <p:ph type="body" idx="1"/>
          </p:nvPr>
        </p:nvSpPr>
        <p:spPr/>
        <p:txBody>
          <a:bodyPr/>
          <a:lstStyle/>
          <a:p>
            <a:pPr eaLnBrk="1" hangingPunct="1"/>
            <a:r>
              <a:rPr kumimoji="1" lang="zh-CN" altLang="en-US" dirty="0">
                <a:solidFill>
                  <a:srgbClr val="111111"/>
                </a:solidFill>
              </a:rPr>
              <a:t>自由电子产生的同时，在其原来的共价键中就出现了一个空位，称之为</a:t>
            </a:r>
            <a:r>
              <a:rPr kumimoji="1" lang="zh-CN" altLang="en-US" dirty="0">
                <a:solidFill>
                  <a:srgbClr val="FF0000"/>
                </a:solidFill>
              </a:rPr>
              <a:t>空穴</a:t>
            </a:r>
            <a:endParaRPr kumimoji="1" lang="en-US" altLang="zh-CN" dirty="0"/>
          </a:p>
          <a:p>
            <a:pPr eaLnBrk="1" hangingPunct="1"/>
            <a:endParaRPr kumimoji="1" lang="zh-CN" altLang="en-US" dirty="0"/>
          </a:p>
          <a:p>
            <a:pPr eaLnBrk="1" hangingPunct="1"/>
            <a:r>
              <a:rPr kumimoji="1" lang="zh-CN" altLang="en-US" dirty="0"/>
              <a:t>若将空穴看成是一个带电量与电子相等但电极性为正的粒子，就可以用空穴移动产生的电流来代替价电子移动产生的电流</a:t>
            </a:r>
            <a:endParaRPr kumimoji="1" lang="en-US" altLang="zh-CN" dirty="0"/>
          </a:p>
          <a:p>
            <a:pPr eaLnBrk="1" hangingPunct="1"/>
            <a:endParaRPr kumimoji="1" lang="en-US" altLang="zh-CN" dirty="0"/>
          </a:p>
          <a:p>
            <a:pPr eaLnBrk="1" hangingPunct="1"/>
            <a:r>
              <a:rPr kumimoji="1" lang="zh-CN" altLang="en-US" dirty="0"/>
              <a:t>空穴也是一种</a:t>
            </a:r>
            <a:r>
              <a:rPr kumimoji="1" lang="zh-CN" altLang="en-US" b="1" dirty="0"/>
              <a:t>载流子</a:t>
            </a:r>
            <a:endParaRPr kumimoji="1" lang="en-US" altLang="zh-CN" b="1" dirty="0"/>
          </a:p>
          <a:p>
            <a:pPr eaLnBrk="1" hangingPunct="1"/>
            <a:endParaRPr kumimoji="1" lang="zh-CN" altLang="en-US" dirty="0"/>
          </a:p>
          <a:p>
            <a:pPr eaLnBrk="1" hangingPunct="1"/>
            <a:r>
              <a:rPr kumimoji="1" lang="zh-CN" altLang="en-US" dirty="0"/>
              <a:t>载流子就是带有电荷、并可运动而输运电流的粒子</a:t>
            </a:r>
            <a:endParaRPr kumimoji="1" lang="en-US" altLang="zh-CN" dirty="0"/>
          </a:p>
          <a:p>
            <a:pPr eaLnBrk="1" hangingPunct="1"/>
            <a:r>
              <a:rPr kumimoji="1" lang="zh-CN" altLang="en-US" dirty="0"/>
              <a:t>半导体中有两种载流子，即</a:t>
            </a:r>
            <a:r>
              <a:rPr kumimoji="1" lang="zh-CN" altLang="en-US" b="1" dirty="0"/>
              <a:t>带负电的自由电子</a:t>
            </a:r>
            <a:r>
              <a:rPr kumimoji="1" lang="zh-CN" altLang="en-US" dirty="0"/>
              <a:t>和</a:t>
            </a:r>
            <a:r>
              <a:rPr kumimoji="1" lang="zh-CN" altLang="en-US" b="1" dirty="0"/>
              <a:t>带正电的空穴</a:t>
            </a:r>
          </a:p>
          <a:p>
            <a:pPr eaLnBrk="1" hangingPunct="1"/>
            <a:endParaRPr kumimoji="1" lang="en-US" altLang="zh-CN" dirty="0"/>
          </a:p>
          <a:p>
            <a:pPr eaLnBrk="1" hangingPunct="1"/>
            <a:r>
              <a:rPr kumimoji="1" lang="zh-CN" altLang="en-US" dirty="0"/>
              <a:t>一般来说，半导体中的价电子不完全像绝缘体中价电子所受束缚那样强，如果能从外界获得一定的能量</a:t>
            </a:r>
            <a:r>
              <a:rPr kumimoji="1" lang="en-US" altLang="zh-CN" dirty="0"/>
              <a:t>(</a:t>
            </a:r>
            <a:r>
              <a:rPr kumimoji="1" lang="zh-CN" altLang="en-US" dirty="0"/>
              <a:t>如光照、温升、电磁场激发等</a:t>
            </a:r>
            <a:r>
              <a:rPr kumimoji="1" lang="en-US" altLang="zh-CN" dirty="0"/>
              <a:t>)</a:t>
            </a:r>
            <a:r>
              <a:rPr kumimoji="1" lang="zh-CN" altLang="en-US" dirty="0"/>
              <a:t>，一些价电子就可能挣脱共价键的束缚而成为近似自由的电子（同时产生出一个空穴），这就是</a:t>
            </a:r>
            <a:r>
              <a:rPr kumimoji="1" lang="zh-CN" altLang="en-US" b="1" dirty="0"/>
              <a:t>本征激发</a:t>
            </a:r>
            <a:endParaRPr lang="zh-CN" altLang="en-US" b="1" dirty="0">
              <a:latin typeface="宋体" panose="02010600030101010101" pitchFamily="2" charset="-122"/>
            </a:endParaRPr>
          </a:p>
          <a:p>
            <a:endParaRPr lang="en-US" altLang="zh-CN" dirty="0"/>
          </a:p>
          <a:p>
            <a:r>
              <a:rPr lang="zh-CN" altLang="en-US" dirty="0"/>
              <a:t>半导体中载流子的数目越多，导电能力越强</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本征激发的电子浓度很低，约三点五万亿个原子中只有一个价电子挣脱共价键的束缚</a:t>
            </a:r>
            <a:endParaRPr lang="en-US" altLang="zh-CN" dirty="0"/>
          </a:p>
          <a:p>
            <a:endParaRPr lang="zh-CN" altLang="en-US" dirty="0"/>
          </a:p>
        </p:txBody>
      </p:sp>
      <p:sp>
        <p:nvSpPr>
          <p:cNvPr id="4" name="灯片编号占位符 3">
            <a:extLst>
              <a:ext uri="{FF2B5EF4-FFF2-40B4-BE49-F238E27FC236}">
                <a16:creationId xmlns:a16="http://schemas.microsoft.com/office/drawing/2014/main" id="{B01E4803-9A5A-040E-6407-9363B96585BE}"/>
              </a:ext>
            </a:extLst>
          </p:cNvPr>
          <p:cNvSpPr>
            <a:spLocks noGrp="1"/>
          </p:cNvSpPr>
          <p:nvPr>
            <p:ph type="sldNum" sz="quarter" idx="5"/>
          </p:nvPr>
        </p:nvSpPr>
        <p:spPr/>
        <p:txBody>
          <a:bodyPr/>
          <a:lstStyle/>
          <a:p>
            <a:fld id="{6AF8E926-3218-4A05-BE3C-00B734B06F20}" type="slidenum">
              <a:rPr lang="zh-CN" altLang="en-US" smtClean="0"/>
              <a:t>4</a:t>
            </a:fld>
            <a:endParaRPr lang="zh-CN" altLang="en-US"/>
          </a:p>
        </p:txBody>
      </p:sp>
    </p:spTree>
    <p:extLst>
      <p:ext uri="{BB962C8B-B14F-4D97-AF65-F5344CB8AC3E}">
        <p14:creationId xmlns:p14="http://schemas.microsoft.com/office/powerpoint/2010/main" val="33482835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33976-F2D4-EBEE-5F3E-A6313818694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6EAE28F-A6A7-6068-E07F-32BC49B0EB2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F4B97EB-2251-9CED-DF47-BACBE5AB884C}"/>
              </a:ext>
            </a:extLst>
          </p:cNvPr>
          <p:cNvSpPr>
            <a:spLocks noGrp="1"/>
          </p:cNvSpPr>
          <p:nvPr>
            <p:ph type="body" idx="1"/>
          </p:nvPr>
        </p:nvSpPr>
        <p:spPr/>
        <p:txBody>
          <a:bodyPr/>
          <a:lstStyle/>
          <a:p>
            <a:r>
              <a:rPr lang="zh-CN" altLang="en-US" dirty="0"/>
              <a:t>三价杂质元素在硅中能接受电子，所以称之为受主杂质</a:t>
            </a:r>
          </a:p>
        </p:txBody>
      </p:sp>
      <p:sp>
        <p:nvSpPr>
          <p:cNvPr id="4" name="灯片编号占位符 3">
            <a:extLst>
              <a:ext uri="{FF2B5EF4-FFF2-40B4-BE49-F238E27FC236}">
                <a16:creationId xmlns:a16="http://schemas.microsoft.com/office/drawing/2014/main" id="{C9AA1EA3-806B-AC4A-4F7B-B49174F98904}"/>
              </a:ext>
            </a:extLst>
          </p:cNvPr>
          <p:cNvSpPr>
            <a:spLocks noGrp="1"/>
          </p:cNvSpPr>
          <p:nvPr>
            <p:ph type="sldNum" sz="quarter" idx="5"/>
          </p:nvPr>
        </p:nvSpPr>
        <p:spPr/>
        <p:txBody>
          <a:bodyPr/>
          <a:lstStyle/>
          <a:p>
            <a:fld id="{6AF8E926-3218-4A05-BE3C-00B734B06F20}" type="slidenum">
              <a:rPr lang="zh-CN" altLang="en-US" smtClean="0"/>
              <a:t>6</a:t>
            </a:fld>
            <a:endParaRPr lang="zh-CN" altLang="en-US"/>
          </a:p>
        </p:txBody>
      </p:sp>
    </p:spTree>
    <p:extLst>
      <p:ext uri="{BB962C8B-B14F-4D97-AF65-F5344CB8AC3E}">
        <p14:creationId xmlns:p14="http://schemas.microsoft.com/office/powerpoint/2010/main" val="30842196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774FD-4C88-D382-BC4E-AE8C15930AE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D2152D4-A55C-9EDF-A63C-434AF93132E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C438EBD-AC18-2A9C-BA85-236C750E9EB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五价杂质元素在硅中能贡献电子，所以称之为施主杂质</a:t>
            </a:r>
            <a:endParaRPr lang="en-US" altLang="zh-CN" dirty="0"/>
          </a:p>
          <a:p>
            <a:endParaRPr lang="en-US" altLang="zh-CN" dirty="0"/>
          </a:p>
          <a:p>
            <a:pPr eaLnBrk="1" hangingPunct="1"/>
            <a:r>
              <a:rPr kumimoji="1" lang="zh-CN" altLang="en-US" dirty="0">
                <a:solidFill>
                  <a:srgbClr val="111111"/>
                </a:solidFill>
              </a:rPr>
              <a:t>因五价杂质原子中只有四个价电子能与周围四个半导体原子中的价电子形成共价键，而多余的一个价电子因无共价键束缚而很容易形成自由电子</a:t>
            </a:r>
            <a:endParaRPr kumimoji="1" lang="en-US" altLang="zh-CN" dirty="0">
              <a:solidFill>
                <a:srgbClr val="111111"/>
              </a:solidFill>
            </a:endParaRPr>
          </a:p>
          <a:p>
            <a:pPr eaLnBrk="1" hangingPunct="1"/>
            <a:endParaRPr kumimoji="1" lang="en-US" altLang="zh-CN" dirty="0">
              <a:solidFill>
                <a:srgbClr val="111111"/>
              </a:solidFill>
            </a:endParaRPr>
          </a:p>
          <a:p>
            <a:pPr eaLnBrk="1" hangingPunct="1"/>
            <a:r>
              <a:rPr kumimoji="1" lang="zh-CN" altLang="en-US" b="1" dirty="0">
                <a:solidFill>
                  <a:srgbClr val="111111"/>
                </a:solidFill>
              </a:rPr>
              <a:t>在 </a:t>
            </a:r>
            <a:r>
              <a:rPr kumimoji="1" lang="en-US" altLang="zh-CN" b="1" dirty="0">
                <a:solidFill>
                  <a:srgbClr val="111111"/>
                </a:solidFill>
              </a:rPr>
              <a:t>N </a:t>
            </a:r>
            <a:r>
              <a:rPr kumimoji="1" lang="zh-CN" altLang="en-US" b="1" dirty="0">
                <a:solidFill>
                  <a:srgbClr val="111111"/>
                </a:solidFill>
              </a:rPr>
              <a:t>型半导体中自由电子是多数载流子，它主要由杂质原子提供；空穴是少数载流子</a:t>
            </a:r>
            <a:r>
              <a:rPr kumimoji="1" lang="en-US" altLang="zh-CN" b="1" dirty="0">
                <a:solidFill>
                  <a:srgbClr val="111111"/>
                </a:solidFill>
              </a:rPr>
              <a:t>, </a:t>
            </a:r>
            <a:r>
              <a:rPr kumimoji="1" lang="zh-CN" altLang="en-US" b="1" dirty="0">
                <a:solidFill>
                  <a:srgbClr val="111111"/>
                </a:solidFill>
              </a:rPr>
              <a:t>由本征激发形成</a:t>
            </a:r>
            <a:endParaRPr kumimoji="1" lang="en-US" altLang="zh-CN" b="1" dirty="0">
              <a:solidFill>
                <a:srgbClr val="111111"/>
              </a:solidFill>
            </a:endParaRPr>
          </a:p>
          <a:p>
            <a:pPr eaLnBrk="1" hangingPunct="1"/>
            <a:endParaRPr kumimoji="1" lang="zh-CN" altLang="en-US" dirty="0">
              <a:solidFill>
                <a:srgbClr val="111111"/>
              </a:solidFill>
            </a:endParaRPr>
          </a:p>
          <a:p>
            <a:pPr eaLnBrk="1" hangingPunct="1"/>
            <a:r>
              <a:rPr kumimoji="1" lang="zh-CN" altLang="en-US" dirty="0">
                <a:solidFill>
                  <a:srgbClr val="111111"/>
                </a:solidFill>
              </a:rPr>
              <a:t>提供自由电子的五价杂质原子因带正电荷而成为正离子</a:t>
            </a:r>
          </a:p>
        </p:txBody>
      </p:sp>
      <p:sp>
        <p:nvSpPr>
          <p:cNvPr id="4" name="灯片编号占位符 3">
            <a:extLst>
              <a:ext uri="{FF2B5EF4-FFF2-40B4-BE49-F238E27FC236}">
                <a16:creationId xmlns:a16="http://schemas.microsoft.com/office/drawing/2014/main" id="{BF134F32-7459-42CB-DEA2-1C61F2DBAAF2}"/>
              </a:ext>
            </a:extLst>
          </p:cNvPr>
          <p:cNvSpPr>
            <a:spLocks noGrp="1"/>
          </p:cNvSpPr>
          <p:nvPr>
            <p:ph type="sldNum" sz="quarter" idx="5"/>
          </p:nvPr>
        </p:nvSpPr>
        <p:spPr/>
        <p:txBody>
          <a:bodyPr/>
          <a:lstStyle/>
          <a:p>
            <a:fld id="{6AF8E926-3218-4A05-BE3C-00B734B06F20}" type="slidenum">
              <a:rPr lang="zh-CN" altLang="en-US" smtClean="0"/>
              <a:t>7</a:t>
            </a:fld>
            <a:endParaRPr lang="zh-CN" altLang="en-US"/>
          </a:p>
        </p:txBody>
      </p:sp>
    </p:spTree>
    <p:extLst>
      <p:ext uri="{BB962C8B-B14F-4D97-AF65-F5344CB8AC3E}">
        <p14:creationId xmlns:p14="http://schemas.microsoft.com/office/powerpoint/2010/main" val="34867781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B16DF-547A-5BEC-1DED-0AFA18BCBDD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2B03F96-1BA5-88D7-A281-4846A0C23F2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84EC2D5-9449-72A5-A1EF-4BFE20CF2D2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solidFill>
                  <a:srgbClr val="111111"/>
                </a:solidFill>
              </a:rPr>
              <a:t>在一定的温度条件下，半导体中的自由电子 </a:t>
            </a:r>
            <a:r>
              <a:rPr kumimoji="1" lang="en-US" altLang="zh-CN" dirty="0">
                <a:solidFill>
                  <a:srgbClr val="111111"/>
                </a:solidFill>
              </a:rPr>
              <a:t>– </a:t>
            </a:r>
            <a:r>
              <a:rPr kumimoji="1" lang="zh-CN" altLang="en-US" dirty="0">
                <a:solidFill>
                  <a:srgbClr val="111111"/>
                </a:solidFill>
              </a:rPr>
              <a:t>空穴对的本征激发产生和他们的复合始终是平衡的，也称为热平衡，</a:t>
            </a:r>
            <a:r>
              <a:rPr kumimoji="1" lang="zh-CN" altLang="en-US">
                <a:solidFill>
                  <a:srgbClr val="111111"/>
                </a:solidFill>
              </a:rPr>
              <a:t>表现为空穴浓度与自由电子浓度的乘积为一常数</a:t>
            </a:r>
            <a:endParaRPr kumimoji="1" lang="zh-CN" altLang="en-US" dirty="0">
              <a:solidFill>
                <a:srgbClr val="111111"/>
              </a:solidFill>
            </a:endParaRPr>
          </a:p>
        </p:txBody>
      </p:sp>
      <p:sp>
        <p:nvSpPr>
          <p:cNvPr id="4" name="灯片编号占位符 3">
            <a:extLst>
              <a:ext uri="{FF2B5EF4-FFF2-40B4-BE49-F238E27FC236}">
                <a16:creationId xmlns:a16="http://schemas.microsoft.com/office/drawing/2014/main" id="{47D51FFD-AE13-9FE9-7E50-0D2AD9DD1C2D}"/>
              </a:ext>
            </a:extLst>
          </p:cNvPr>
          <p:cNvSpPr>
            <a:spLocks noGrp="1"/>
          </p:cNvSpPr>
          <p:nvPr>
            <p:ph type="sldNum" sz="quarter" idx="5"/>
          </p:nvPr>
        </p:nvSpPr>
        <p:spPr/>
        <p:txBody>
          <a:bodyPr/>
          <a:lstStyle/>
          <a:p>
            <a:fld id="{6AF8E926-3218-4A05-BE3C-00B734B06F20}" type="slidenum">
              <a:rPr lang="zh-CN" altLang="en-US" smtClean="0"/>
              <a:t>9</a:t>
            </a:fld>
            <a:endParaRPr lang="zh-CN" altLang="en-US"/>
          </a:p>
        </p:txBody>
      </p:sp>
    </p:spTree>
    <p:extLst>
      <p:ext uri="{BB962C8B-B14F-4D97-AF65-F5344CB8AC3E}">
        <p14:creationId xmlns:p14="http://schemas.microsoft.com/office/powerpoint/2010/main" val="3694747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A6C4DD-3FC3-A6AA-F9C8-814EA4F293E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0FD86AD-494B-C45A-5F7F-2CC0A32A6C5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F8D0C5D-E47D-67F1-5F34-7BF38A205F70}"/>
              </a:ext>
            </a:extLst>
          </p:cNvPr>
          <p:cNvSpPr>
            <a:spLocks noGrp="1"/>
          </p:cNvSpPr>
          <p:nvPr>
            <p:ph type="body" idx="1"/>
          </p:nvPr>
        </p:nvSpPr>
        <p:spPr/>
        <p:txBody>
          <a:bodyPr/>
          <a:lstStyle/>
          <a:p>
            <a:pPr eaLnBrk="1" hangingPunct="1"/>
            <a:endParaRPr kumimoji="1" lang="en-US" altLang="zh-CN" dirty="0"/>
          </a:p>
          <a:p>
            <a:pPr eaLnBrk="1" hangingPunct="1"/>
            <a:r>
              <a:rPr kumimoji="1" lang="en-US" altLang="zh-CN" dirty="0">
                <a:latin typeface="微软雅黑" panose="020B0503020204020204" pitchFamily="34" charset="-122"/>
                <a:ea typeface="微软雅黑" panose="020B0503020204020204" pitchFamily="34" charset="-122"/>
              </a:rPr>
              <a:t>PN </a:t>
            </a:r>
            <a:r>
              <a:rPr kumimoji="1" lang="zh-CN" altLang="en-US" dirty="0">
                <a:latin typeface="微软雅黑" panose="020B0503020204020204" pitchFamily="34" charset="-122"/>
                <a:ea typeface="微软雅黑" panose="020B0503020204020204" pitchFamily="34" charset="-122"/>
              </a:rPr>
              <a:t>结电阻率高</a:t>
            </a:r>
            <a:endParaRPr kumimoji="1" lang="en-US" altLang="zh-CN" dirty="0">
              <a:latin typeface="微软雅黑" panose="020B0503020204020204" pitchFamily="34" charset="-122"/>
              <a:ea typeface="微软雅黑" panose="020B0503020204020204" pitchFamily="34" charset="-122"/>
            </a:endParaRPr>
          </a:p>
          <a:p>
            <a:pPr eaLnBrk="1" hangingPunct="1"/>
            <a:r>
              <a:rPr kumimoji="1" lang="zh-CN" altLang="en-US" dirty="0">
                <a:latin typeface="微软雅黑" panose="020B0503020204020204" pitchFamily="34" charset="-122"/>
                <a:ea typeface="微软雅黑" panose="020B0503020204020204" pitchFamily="34" charset="-122"/>
              </a:rPr>
              <a:t>形成过程中，扩散越强，空间电荷区越宽</a:t>
            </a:r>
            <a:endParaRPr kumimoji="1" lang="en-US" altLang="zh-CN" dirty="0">
              <a:latin typeface="微软雅黑" panose="020B0503020204020204" pitchFamily="34" charset="-122"/>
              <a:ea typeface="微软雅黑" panose="020B0503020204020204" pitchFamily="34" charset="-122"/>
            </a:endParaRPr>
          </a:p>
          <a:p>
            <a:pPr eaLnBrk="1" hangingPunct="1"/>
            <a:r>
              <a:rPr kumimoji="1" lang="zh-CN" altLang="en-US" dirty="0">
                <a:latin typeface="微软雅黑" panose="020B0503020204020204" pitchFamily="34" charset="-122"/>
                <a:ea typeface="微软雅黑" panose="020B0503020204020204" pitchFamily="34" charset="-122"/>
              </a:rPr>
              <a:t>该区域形成一个内电场，该内电场会导致多子的扩散减弱，但会促进少子的漂移，漂移会使空间电荷区变窄</a:t>
            </a:r>
            <a:endParaRPr kumimoji="1" lang="en-US" altLang="zh-CN" dirty="0">
              <a:latin typeface="微软雅黑" panose="020B0503020204020204" pitchFamily="34" charset="-122"/>
              <a:ea typeface="微软雅黑" panose="020B0503020204020204" pitchFamily="34" charset="-122"/>
            </a:endParaRPr>
          </a:p>
          <a:p>
            <a:pPr eaLnBrk="1" hangingPunct="1"/>
            <a:endParaRPr kumimoji="1" lang="en-US" altLang="zh-CN" dirty="0">
              <a:latin typeface="微软雅黑" panose="020B0503020204020204" pitchFamily="34" charset="-122"/>
              <a:ea typeface="微软雅黑" panose="020B0503020204020204" pitchFamily="34" charset="-122"/>
            </a:endParaRPr>
          </a:p>
          <a:p>
            <a:pPr eaLnBrk="1" hangingPunct="1"/>
            <a:r>
              <a:rPr kumimoji="1" lang="zh-CN" altLang="en-US" dirty="0">
                <a:latin typeface="微软雅黑" panose="020B0503020204020204" pitchFamily="34" charset="-122"/>
                <a:ea typeface="微软雅黑" panose="020B0503020204020204" pitchFamily="34" charset="-122"/>
              </a:rPr>
              <a:t>在一块本征半导体两侧通过扩散不同的杂质，分别形成 </a:t>
            </a:r>
            <a:r>
              <a:rPr kumimoji="1" lang="en-US" altLang="zh-CN" b="1" dirty="0">
                <a:solidFill>
                  <a:srgbClr val="0000FF"/>
                </a:solidFill>
                <a:latin typeface="微软雅黑" panose="020B0503020204020204" pitchFamily="34" charset="-122"/>
                <a:ea typeface="微软雅黑" panose="020B0503020204020204" pitchFamily="34" charset="-122"/>
              </a:rPr>
              <a:t>N </a:t>
            </a:r>
            <a:r>
              <a:rPr kumimoji="1" lang="zh-CN" altLang="en-US" dirty="0">
                <a:latin typeface="微软雅黑" panose="020B0503020204020204" pitchFamily="34" charset="-122"/>
                <a:ea typeface="微软雅黑" panose="020B0503020204020204" pitchFamily="34" charset="-122"/>
              </a:rPr>
              <a:t>型半导体和 </a:t>
            </a:r>
            <a:r>
              <a:rPr kumimoji="1" lang="en-US" altLang="zh-CN" b="1" dirty="0">
                <a:solidFill>
                  <a:srgbClr val="FF0000"/>
                </a:solidFill>
                <a:latin typeface="微软雅黑" panose="020B0503020204020204" pitchFamily="34" charset="-122"/>
                <a:ea typeface="微软雅黑" panose="020B0503020204020204" pitchFamily="34" charset="-122"/>
              </a:rPr>
              <a:t>P </a:t>
            </a:r>
            <a:r>
              <a:rPr kumimoji="1" lang="zh-CN" altLang="en-US" dirty="0">
                <a:latin typeface="微软雅黑" panose="020B0503020204020204" pitchFamily="34" charset="-122"/>
                <a:ea typeface="微软雅黑" panose="020B0503020204020204" pitchFamily="34" charset="-122"/>
              </a:rPr>
              <a:t>型半导体</a:t>
            </a:r>
            <a:endParaRPr kumimoji="1" lang="en-US" altLang="zh-CN" dirty="0">
              <a:latin typeface="微软雅黑" panose="020B0503020204020204" pitchFamily="34" charset="-122"/>
              <a:ea typeface="微软雅黑" panose="020B0503020204020204" pitchFamily="34" charset="-122"/>
            </a:endParaRPr>
          </a:p>
          <a:p>
            <a:pPr eaLnBrk="1" hangingPunct="1"/>
            <a:endParaRPr kumimoji="1" lang="zh-CN" altLang="en-US" dirty="0">
              <a:latin typeface="微软雅黑" panose="020B0503020204020204" pitchFamily="34" charset="-122"/>
              <a:ea typeface="微软雅黑" panose="020B0503020204020204" pitchFamily="34" charset="-122"/>
            </a:endParaRPr>
          </a:p>
          <a:p>
            <a:pPr eaLnBrk="1" hangingPunct="1"/>
            <a:r>
              <a:rPr lang="zh-CN" altLang="en-US" dirty="0">
                <a:solidFill>
                  <a:schemeClr val="bg1"/>
                </a:solidFill>
                <a:latin typeface="微软雅黑" panose="020B0503020204020204" pitchFamily="34" charset="-122"/>
                <a:ea typeface="微软雅黑" panose="020B0503020204020204" pitchFamily="34" charset="-122"/>
              </a:rPr>
              <a:t>杂质半导体的转型：当掺入三价元素的密度大于五价元素的密度时，可将 </a:t>
            </a:r>
            <a:r>
              <a:rPr lang="en-US" altLang="zh-CN" dirty="0">
                <a:solidFill>
                  <a:srgbClr val="FFFF00"/>
                </a:solidFill>
                <a:latin typeface="微软雅黑" panose="020B0503020204020204" pitchFamily="34" charset="-122"/>
                <a:ea typeface="微软雅黑" panose="020B0503020204020204" pitchFamily="34" charset="-122"/>
              </a:rPr>
              <a:t>N </a:t>
            </a:r>
            <a:r>
              <a:rPr lang="zh-CN" altLang="en-US" dirty="0">
                <a:solidFill>
                  <a:schemeClr val="bg1"/>
                </a:solidFill>
                <a:latin typeface="微软雅黑" panose="020B0503020204020204" pitchFamily="34" charset="-122"/>
                <a:ea typeface="微软雅黑" panose="020B0503020204020204" pitchFamily="34" charset="-122"/>
              </a:rPr>
              <a:t>型转为 </a:t>
            </a:r>
            <a:r>
              <a:rPr lang="en-US" altLang="zh-CN" dirty="0">
                <a:solidFill>
                  <a:srgbClr val="FFFF00"/>
                </a:solidFill>
                <a:latin typeface="微软雅黑" panose="020B0503020204020204" pitchFamily="34" charset="-122"/>
                <a:ea typeface="微软雅黑" panose="020B0503020204020204" pitchFamily="34" charset="-122"/>
              </a:rPr>
              <a:t>P </a:t>
            </a:r>
            <a:r>
              <a:rPr lang="zh-CN" altLang="en-US" dirty="0">
                <a:solidFill>
                  <a:schemeClr val="bg1"/>
                </a:solidFill>
                <a:latin typeface="微软雅黑" panose="020B0503020204020204" pitchFamily="34" charset="-122"/>
                <a:ea typeface="微软雅黑" panose="020B0503020204020204" pitchFamily="34" charset="-122"/>
              </a:rPr>
              <a:t>型；当掺入五价元素的密度大于三价元素的密度时，可将 </a:t>
            </a:r>
            <a:r>
              <a:rPr lang="en-US" altLang="zh-CN" dirty="0">
                <a:solidFill>
                  <a:srgbClr val="FFFF00"/>
                </a:solidFill>
                <a:latin typeface="微软雅黑" panose="020B0503020204020204" pitchFamily="34" charset="-122"/>
                <a:ea typeface="微软雅黑" panose="020B0503020204020204" pitchFamily="34" charset="-122"/>
              </a:rPr>
              <a:t>P </a:t>
            </a:r>
            <a:r>
              <a:rPr lang="zh-CN" altLang="en-US" dirty="0">
                <a:solidFill>
                  <a:schemeClr val="bg1"/>
                </a:solidFill>
                <a:latin typeface="微软雅黑" panose="020B0503020204020204" pitchFamily="34" charset="-122"/>
                <a:ea typeface="微软雅黑" panose="020B0503020204020204" pitchFamily="34" charset="-122"/>
              </a:rPr>
              <a:t>型转为 </a:t>
            </a:r>
            <a:r>
              <a:rPr lang="en-US" altLang="zh-CN" dirty="0">
                <a:solidFill>
                  <a:srgbClr val="FFFF00"/>
                </a:solidFill>
                <a:latin typeface="微软雅黑" panose="020B0503020204020204" pitchFamily="34" charset="-122"/>
                <a:ea typeface="微软雅黑" panose="020B0503020204020204" pitchFamily="34" charset="-122"/>
              </a:rPr>
              <a:t>N </a:t>
            </a:r>
            <a:r>
              <a:rPr lang="zh-CN" altLang="en-US" dirty="0">
                <a:solidFill>
                  <a:schemeClr val="bg1"/>
                </a:solidFill>
                <a:latin typeface="微软雅黑" panose="020B0503020204020204" pitchFamily="34" charset="-122"/>
                <a:ea typeface="微软雅黑" panose="020B0503020204020204" pitchFamily="34" charset="-122"/>
              </a:rPr>
              <a:t>型</a:t>
            </a:r>
            <a:endParaRPr lang="en-US" altLang="zh-CN" dirty="0">
              <a:solidFill>
                <a:schemeClr val="bg1"/>
              </a:solidFill>
              <a:latin typeface="微软雅黑" panose="020B0503020204020204" pitchFamily="34" charset="-122"/>
              <a:ea typeface="微软雅黑" panose="020B0503020204020204" pitchFamily="34" charset="-122"/>
            </a:endParaRPr>
          </a:p>
          <a:p>
            <a:pPr eaLnBrk="1" hangingPunct="1"/>
            <a:endParaRPr lang="zh-CN" altLang="en-US" dirty="0">
              <a:solidFill>
                <a:schemeClr val="bg1"/>
              </a:solidFill>
              <a:latin typeface="微软雅黑" panose="020B0503020204020204" pitchFamily="34" charset="-122"/>
              <a:ea typeface="微软雅黑" panose="020B0503020204020204" pitchFamily="34" charset="-122"/>
            </a:endParaRPr>
          </a:p>
          <a:p>
            <a:pPr eaLnBrk="1" hangingPunct="1"/>
            <a:r>
              <a:rPr lang="zh-CN" altLang="en-US" dirty="0">
                <a:latin typeface="微软雅黑" panose="020B0503020204020204" pitchFamily="34" charset="-122"/>
                <a:ea typeface="微软雅黑" panose="020B0503020204020204" pitchFamily="34" charset="-122"/>
              </a:rPr>
              <a:t>以 </a:t>
            </a:r>
            <a:r>
              <a:rPr lang="en-US" altLang="zh-CN" dirty="0">
                <a:latin typeface="微软雅黑" panose="020B0503020204020204" pitchFamily="34" charset="-122"/>
                <a:ea typeface="微软雅黑" panose="020B0503020204020204" pitchFamily="34" charset="-122"/>
              </a:rPr>
              <a:t>N </a:t>
            </a:r>
            <a:r>
              <a:rPr lang="zh-CN" altLang="en-US" dirty="0">
                <a:latin typeface="微软雅黑" panose="020B0503020204020204" pitchFamily="34" charset="-122"/>
                <a:ea typeface="微软雅黑" panose="020B0503020204020204" pitchFamily="34" charset="-122"/>
              </a:rPr>
              <a:t>型半导体为基片，通过扩散工艺使半导体的一边形成 </a:t>
            </a:r>
            <a:r>
              <a:rPr lang="en-US" altLang="zh-CN" dirty="0">
                <a:latin typeface="微软雅黑" panose="020B0503020204020204" pitchFamily="34" charset="-122"/>
                <a:ea typeface="微软雅黑" panose="020B0503020204020204" pitchFamily="34" charset="-122"/>
              </a:rPr>
              <a:t>N </a:t>
            </a:r>
            <a:r>
              <a:rPr lang="zh-CN" altLang="en-US" dirty="0">
                <a:latin typeface="微软雅黑" panose="020B0503020204020204" pitchFamily="34" charset="-122"/>
                <a:ea typeface="微软雅黑" panose="020B0503020204020204" pitchFamily="34" charset="-122"/>
              </a:rPr>
              <a:t>型区，另一边形成 </a:t>
            </a:r>
            <a:r>
              <a:rPr lang="en-US" altLang="zh-CN" dirty="0">
                <a:latin typeface="微软雅黑" panose="020B0503020204020204" pitchFamily="34" charset="-122"/>
                <a:ea typeface="微软雅黑" panose="020B0503020204020204" pitchFamily="34" charset="-122"/>
              </a:rPr>
              <a:t>P </a:t>
            </a:r>
            <a:r>
              <a:rPr lang="zh-CN" altLang="en-US" dirty="0">
                <a:latin typeface="微软雅黑" panose="020B0503020204020204" pitchFamily="34" charset="-122"/>
                <a:ea typeface="微软雅黑" panose="020B0503020204020204" pitchFamily="34" charset="-122"/>
              </a:rPr>
              <a:t>型区</a:t>
            </a:r>
            <a:endParaRPr lang="en-US" altLang="zh-CN" dirty="0">
              <a:latin typeface="微软雅黑" panose="020B0503020204020204" pitchFamily="34" charset="-122"/>
              <a:ea typeface="微软雅黑" panose="020B0503020204020204" pitchFamily="34" charset="-122"/>
            </a:endParaRPr>
          </a:p>
          <a:p>
            <a:pPr eaLnBrk="1" hangingPunct="1"/>
            <a:endParaRPr lang="zh-CN" altLang="en-US" dirty="0">
              <a:latin typeface="微软雅黑" panose="020B0503020204020204" pitchFamily="34" charset="-122"/>
              <a:ea typeface="微软雅黑" panose="020B0503020204020204" pitchFamily="34" charset="-122"/>
            </a:endParaRPr>
          </a:p>
          <a:p>
            <a:pPr eaLnBrk="1" hangingPunct="1"/>
            <a:r>
              <a:rPr kumimoji="1" lang="zh-CN" altLang="en-US" dirty="0">
                <a:solidFill>
                  <a:schemeClr val="bg1"/>
                </a:solidFill>
                <a:latin typeface="微软雅黑" panose="020B0503020204020204" pitchFamily="34" charset="-122"/>
                <a:ea typeface="微软雅黑" panose="020B0503020204020204" pitchFamily="34" charset="-122"/>
              </a:rPr>
              <a:t>在浓度差的作用下，两边多子互相扩散</a:t>
            </a:r>
            <a:endParaRPr kumimoji="1" lang="en-US" altLang="zh-CN" dirty="0">
              <a:solidFill>
                <a:schemeClr val="bg1"/>
              </a:solidFill>
              <a:latin typeface="微软雅黑" panose="020B0503020204020204" pitchFamily="34" charset="-122"/>
              <a:ea typeface="微软雅黑" panose="020B0503020204020204" pitchFamily="34" charset="-122"/>
            </a:endParaRPr>
          </a:p>
          <a:p>
            <a:pPr eaLnBrk="1" hangingPunct="1"/>
            <a:r>
              <a:rPr kumimoji="1" lang="zh-CN" altLang="en-US" dirty="0">
                <a:solidFill>
                  <a:schemeClr val="bg1"/>
                </a:solidFill>
                <a:latin typeface="微软雅黑" panose="020B0503020204020204" pitchFamily="34" charset="-122"/>
                <a:ea typeface="微软雅黑" panose="020B0503020204020204" pitchFamily="34" charset="-122"/>
              </a:rPr>
              <a:t>在 </a:t>
            </a:r>
            <a:r>
              <a:rPr kumimoji="1" lang="en-US" altLang="zh-CN" dirty="0">
                <a:solidFill>
                  <a:schemeClr val="bg1"/>
                </a:solidFill>
                <a:latin typeface="微软雅黑" panose="020B0503020204020204" pitchFamily="34" charset="-122"/>
                <a:ea typeface="微软雅黑" panose="020B0503020204020204" pitchFamily="34" charset="-122"/>
              </a:rPr>
              <a:t>P </a:t>
            </a:r>
            <a:r>
              <a:rPr kumimoji="1" lang="zh-CN" altLang="en-US" dirty="0">
                <a:solidFill>
                  <a:schemeClr val="bg1"/>
                </a:solidFill>
                <a:latin typeface="微软雅黑" panose="020B0503020204020204" pitchFamily="34" charset="-122"/>
                <a:ea typeface="微软雅黑" panose="020B0503020204020204" pitchFamily="34" charset="-122"/>
              </a:rPr>
              <a:t>区和 </a:t>
            </a:r>
            <a:r>
              <a:rPr kumimoji="1" lang="en-US" altLang="zh-CN" dirty="0">
                <a:solidFill>
                  <a:schemeClr val="bg1"/>
                </a:solidFill>
                <a:latin typeface="微软雅黑" panose="020B0503020204020204" pitchFamily="34" charset="-122"/>
                <a:ea typeface="微软雅黑" panose="020B0503020204020204" pitchFamily="34" charset="-122"/>
              </a:rPr>
              <a:t>N </a:t>
            </a:r>
            <a:r>
              <a:rPr kumimoji="1" lang="zh-CN" altLang="en-US" dirty="0">
                <a:solidFill>
                  <a:schemeClr val="bg1"/>
                </a:solidFill>
                <a:latin typeface="微软雅黑" panose="020B0503020204020204" pitchFamily="34" charset="-122"/>
                <a:ea typeface="微软雅黑" panose="020B0503020204020204" pitchFamily="34" charset="-122"/>
              </a:rPr>
              <a:t>区交界面上，形成了一层不能移动的正、负离子，</a:t>
            </a:r>
            <a:r>
              <a:rPr kumimoji="1" lang="zh-CN" altLang="en-US" b="1" dirty="0">
                <a:solidFill>
                  <a:schemeClr val="bg1"/>
                </a:solidFill>
                <a:latin typeface="微软雅黑" panose="020B0503020204020204" pitchFamily="34" charset="-122"/>
                <a:ea typeface="微软雅黑" panose="020B0503020204020204" pitchFamily="34" charset="-122"/>
              </a:rPr>
              <a:t>称为</a:t>
            </a:r>
            <a:r>
              <a:rPr kumimoji="1" lang="zh-CN" altLang="en-US" b="1" dirty="0">
                <a:latin typeface="微软雅黑" panose="020B0503020204020204" pitchFamily="34" charset="-122"/>
                <a:ea typeface="微软雅黑" panose="020B0503020204020204" pitchFamily="34" charset="-122"/>
              </a:rPr>
              <a:t>空间电荷区，也称耗尽区，势垒区</a:t>
            </a:r>
            <a:r>
              <a:rPr kumimoji="1" lang="zh-CN" altLang="en-US" dirty="0">
                <a:latin typeface="微软雅黑" panose="020B0503020204020204" pitchFamily="34" charset="-122"/>
                <a:ea typeface="微软雅黑" panose="020B0503020204020204" pitchFamily="34" charset="-122"/>
              </a:rPr>
              <a:t>，即 </a:t>
            </a:r>
            <a:r>
              <a:rPr kumimoji="1" lang="en-US" altLang="zh-CN" dirty="0">
                <a:latin typeface="微软雅黑" panose="020B0503020204020204" pitchFamily="34" charset="-122"/>
                <a:ea typeface="微软雅黑" panose="020B0503020204020204" pitchFamily="34" charset="-122"/>
              </a:rPr>
              <a:t>PN </a:t>
            </a:r>
            <a:r>
              <a:rPr kumimoji="1" lang="zh-CN" altLang="en-US" dirty="0">
                <a:latin typeface="微软雅黑" panose="020B0503020204020204" pitchFamily="34" charset="-122"/>
                <a:ea typeface="微软雅黑" panose="020B0503020204020204" pitchFamily="34" charset="-122"/>
              </a:rPr>
              <a:t>结</a:t>
            </a:r>
            <a:endParaRPr kumimoji="1" lang="en-US" altLang="zh-CN" dirty="0">
              <a:latin typeface="微软雅黑" panose="020B0503020204020204" pitchFamily="34" charset="-122"/>
              <a:ea typeface="微软雅黑" panose="020B0503020204020204" pitchFamily="34" charset="-122"/>
            </a:endParaRPr>
          </a:p>
          <a:p>
            <a:pPr eaLnBrk="1" hangingPunct="1"/>
            <a:r>
              <a:rPr kumimoji="1" lang="zh-CN" altLang="en-US" dirty="0">
                <a:latin typeface="微软雅黑" panose="020B0503020204020204" pitchFamily="34" charset="-122"/>
                <a:ea typeface="微软雅黑" panose="020B0503020204020204" pitchFamily="34" charset="-122"/>
              </a:rPr>
              <a:t>空间电荷区形成的内电场一方面阻碍多子的扩散，另一方面加速少子的漂移，最终达到动态平衡</a:t>
            </a:r>
            <a:endParaRPr kumimoji="1" lang="en-US" altLang="zh-CN" dirty="0">
              <a:latin typeface="微软雅黑" panose="020B0503020204020204" pitchFamily="34" charset="-122"/>
              <a:ea typeface="微软雅黑" panose="020B0503020204020204" pitchFamily="34" charset="-122"/>
            </a:endParaRPr>
          </a:p>
          <a:p>
            <a:pPr eaLnBrk="1" hangingPunct="1"/>
            <a:endParaRPr kumimoji="1" lang="zh-CN" altLang="en-US" dirty="0">
              <a:latin typeface="微软雅黑" panose="020B0503020204020204" pitchFamily="34" charset="-122"/>
              <a:ea typeface="微软雅黑" panose="020B0503020204020204" pitchFamily="34" charset="-122"/>
            </a:endParaRPr>
          </a:p>
          <a:p>
            <a:pPr eaLnBrk="1" hangingPunct="1"/>
            <a:r>
              <a:rPr kumimoji="1" lang="zh-CN" altLang="en-US" dirty="0">
                <a:latin typeface="微软雅黑" panose="020B0503020204020204" pitchFamily="34" charset="-122"/>
                <a:ea typeface="微软雅黑" panose="020B0503020204020204" pitchFamily="34" charset="-122"/>
              </a:rPr>
              <a:t>扩散的结果是使空间电荷区逐渐加宽，空间电荷区越宽，内电场越强，就使漂移运动越强，而漂移使空间电荷区变薄</a:t>
            </a:r>
            <a:endParaRPr kumimoji="1" lang="en-US" altLang="zh-CN" dirty="0">
              <a:latin typeface="微软雅黑" panose="020B0503020204020204" pitchFamily="34" charset="-122"/>
              <a:ea typeface="微软雅黑" panose="020B0503020204020204" pitchFamily="34" charset="-122"/>
            </a:endParaRPr>
          </a:p>
          <a:p>
            <a:pPr eaLnBrk="1" hangingPunct="1"/>
            <a:r>
              <a:rPr kumimoji="1" lang="zh-CN" altLang="en-US" dirty="0">
                <a:latin typeface="微软雅黑" panose="020B0503020204020204" pitchFamily="34" charset="-122"/>
                <a:ea typeface="微软雅黑" panose="020B0503020204020204" pitchFamily="34" charset="-122"/>
              </a:rPr>
              <a:t>所以扩散和漂移这一对相反的运动最终达到平衡，相当于两个区之间没有电荷运动，空间电荷区的厚度固定不变</a:t>
            </a:r>
            <a:endParaRPr kumimoji="1" lang="en-US" altLang="zh-CN" dirty="0">
              <a:latin typeface="微软雅黑" panose="020B0503020204020204" pitchFamily="34" charset="-122"/>
              <a:ea typeface="微软雅黑" panose="020B0503020204020204" pitchFamily="34" charset="-122"/>
            </a:endParaRPr>
          </a:p>
          <a:p>
            <a:pPr eaLnBrk="1" hangingPunct="1"/>
            <a:endParaRPr kumimoji="1" lang="zh-CN" altLang="en-US" dirty="0">
              <a:latin typeface="微软雅黑" panose="020B0503020204020204" pitchFamily="34" charset="-122"/>
              <a:ea typeface="微软雅黑" panose="020B0503020204020204" pitchFamily="34" charset="-122"/>
            </a:endParaRPr>
          </a:p>
          <a:p>
            <a:pPr eaLnBrk="1" hangingPunct="1"/>
            <a:r>
              <a:rPr kumimoji="1" lang="zh-CN" altLang="en-US" dirty="0">
                <a:latin typeface="微软雅黑" panose="020B0503020204020204" pitchFamily="34" charset="-122"/>
                <a:ea typeface="微软雅黑" panose="020B0503020204020204" pitchFamily="34" charset="-122"/>
              </a:rPr>
              <a:t>漂移运动：在电场作用下引起的载流子的运动</a:t>
            </a:r>
          </a:p>
          <a:p>
            <a:pPr eaLnBrk="1" hangingPunct="1"/>
            <a:r>
              <a:rPr kumimoji="1" lang="zh-CN" altLang="en-US" dirty="0">
                <a:latin typeface="微软雅黑" panose="020B0503020204020204" pitchFamily="34" charset="-122"/>
                <a:ea typeface="微软雅黑" panose="020B0503020204020204" pitchFamily="34" charset="-122"/>
              </a:rPr>
              <a:t>扩散运动：因载流子的浓度差引起的载流子的运动</a:t>
            </a:r>
            <a:endParaRPr kumimoji="1" lang="en-US" altLang="zh-CN" dirty="0">
              <a:latin typeface="微软雅黑" panose="020B0503020204020204" pitchFamily="34" charset="-122"/>
              <a:ea typeface="微软雅黑" panose="020B0503020204020204" pitchFamily="34" charset="-122"/>
            </a:endParaRPr>
          </a:p>
          <a:p>
            <a:pPr eaLnBrk="1" hangingPunct="1"/>
            <a:endParaRPr kumimoji="1" lang="en-US" altLang="zh-CN" dirty="0"/>
          </a:p>
        </p:txBody>
      </p:sp>
      <p:sp>
        <p:nvSpPr>
          <p:cNvPr id="4" name="灯片编号占位符 3">
            <a:extLst>
              <a:ext uri="{FF2B5EF4-FFF2-40B4-BE49-F238E27FC236}">
                <a16:creationId xmlns:a16="http://schemas.microsoft.com/office/drawing/2014/main" id="{A575800C-63A4-C099-7385-BC5168458A8D}"/>
              </a:ext>
            </a:extLst>
          </p:cNvPr>
          <p:cNvSpPr>
            <a:spLocks noGrp="1"/>
          </p:cNvSpPr>
          <p:nvPr>
            <p:ph type="sldNum" sz="quarter" idx="5"/>
          </p:nvPr>
        </p:nvSpPr>
        <p:spPr/>
        <p:txBody>
          <a:bodyPr/>
          <a:lstStyle/>
          <a:p>
            <a:fld id="{6AF8E926-3218-4A05-BE3C-00B734B06F20}" type="slidenum">
              <a:rPr lang="zh-CN" altLang="en-US" smtClean="0"/>
              <a:t>10</a:t>
            </a:fld>
            <a:endParaRPr lang="zh-CN" altLang="en-US"/>
          </a:p>
        </p:txBody>
      </p:sp>
    </p:spTree>
    <p:extLst>
      <p:ext uri="{BB962C8B-B14F-4D97-AF65-F5344CB8AC3E}">
        <p14:creationId xmlns:p14="http://schemas.microsoft.com/office/powerpoint/2010/main" val="28293622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en-US" altLang="zh-CN" dirty="0"/>
              <a:t>PN </a:t>
            </a:r>
            <a:r>
              <a:rPr lang="zh-CN" altLang="en-US" dirty="0"/>
              <a:t>结正向偏置：当外加直流电压使 </a:t>
            </a:r>
            <a:r>
              <a:rPr lang="en-US" altLang="zh-CN" dirty="0"/>
              <a:t>PN </a:t>
            </a:r>
            <a:r>
              <a:rPr lang="zh-CN" altLang="en-US" dirty="0"/>
              <a:t>结 </a:t>
            </a:r>
            <a:r>
              <a:rPr lang="en-US" altLang="zh-CN" dirty="0"/>
              <a:t>P </a:t>
            </a:r>
            <a:r>
              <a:rPr lang="zh-CN" altLang="en-US" dirty="0"/>
              <a:t>型半导体的一端的电位高于 </a:t>
            </a:r>
            <a:r>
              <a:rPr lang="en-US" altLang="zh-CN" dirty="0"/>
              <a:t>N </a:t>
            </a:r>
            <a:r>
              <a:rPr lang="zh-CN" altLang="en-US" dirty="0"/>
              <a:t>型半导体一端的电位时，称 </a:t>
            </a:r>
            <a:r>
              <a:rPr lang="en-US" altLang="zh-CN" dirty="0"/>
              <a:t>PN </a:t>
            </a:r>
            <a:r>
              <a:rPr lang="zh-CN" altLang="en-US" dirty="0"/>
              <a:t>结正向偏置，简称正偏</a:t>
            </a:r>
          </a:p>
          <a:p>
            <a:pPr eaLnBrk="1" hangingPunct="1"/>
            <a:r>
              <a:rPr lang="en-US" altLang="zh-CN" dirty="0"/>
              <a:t>PN </a:t>
            </a:r>
            <a:r>
              <a:rPr lang="zh-CN" altLang="en-US" dirty="0"/>
              <a:t>结反向偏置：当外加直流电压使 </a:t>
            </a:r>
            <a:r>
              <a:rPr lang="en-US" altLang="zh-CN" dirty="0"/>
              <a:t>PN </a:t>
            </a:r>
            <a:r>
              <a:rPr lang="zh-CN" altLang="en-US" dirty="0"/>
              <a:t>结 </a:t>
            </a:r>
            <a:r>
              <a:rPr lang="en-US" altLang="zh-CN" dirty="0"/>
              <a:t>N </a:t>
            </a:r>
            <a:r>
              <a:rPr lang="zh-CN" altLang="en-US" dirty="0"/>
              <a:t>型半导体的一端的电位高于 </a:t>
            </a:r>
            <a:r>
              <a:rPr lang="en-US" altLang="zh-CN" dirty="0"/>
              <a:t>P </a:t>
            </a:r>
            <a:r>
              <a:rPr lang="zh-CN" altLang="en-US" dirty="0"/>
              <a:t>型半导体一端的电位时，称 </a:t>
            </a:r>
            <a:r>
              <a:rPr lang="en-US" altLang="zh-CN" dirty="0"/>
              <a:t>PN </a:t>
            </a:r>
            <a:r>
              <a:rPr lang="zh-CN" altLang="en-US" dirty="0"/>
              <a:t>结反向偏置，简称反偏</a:t>
            </a:r>
            <a:endParaRPr lang="en-US" altLang="zh-CN" dirty="0"/>
          </a:p>
          <a:p>
            <a:pPr eaLnBrk="1" hangingPunct="1"/>
            <a:endParaRPr lang="en-US" altLang="zh-CN" sz="900" dirty="0">
              <a:solidFill>
                <a:srgbClr val="3333FF"/>
              </a:solidFill>
              <a:latin typeface="黑体" panose="02010609060101010101" pitchFamily="49" charset="-122"/>
              <a:ea typeface="黑体" panose="02010609060101010101" pitchFamily="49" charset="-122"/>
            </a:endParaRPr>
          </a:p>
          <a:p>
            <a:pPr eaLnBrk="1" hangingPunct="1"/>
            <a:r>
              <a:rPr lang="en-US" altLang="zh-CN" sz="900" dirty="0">
                <a:solidFill>
                  <a:srgbClr val="3333FF"/>
                </a:solidFill>
                <a:latin typeface="黑体" panose="02010609060101010101" pitchFamily="49" charset="-122"/>
                <a:ea typeface="黑体" panose="02010609060101010101" pitchFamily="49" charset="-122"/>
              </a:rPr>
              <a:t>PN </a:t>
            </a:r>
            <a:r>
              <a:rPr lang="zh-CN" altLang="en-US" sz="900" dirty="0">
                <a:solidFill>
                  <a:srgbClr val="3333FF"/>
                </a:solidFill>
                <a:latin typeface="黑体" panose="02010609060101010101" pitchFamily="49" charset="-122"/>
                <a:ea typeface="黑体" panose="02010609060101010101" pitchFamily="49" charset="-122"/>
              </a:rPr>
              <a:t>结内部有 </a:t>
            </a:r>
            <a:r>
              <a:rPr lang="en-US" altLang="zh-CN" sz="900" dirty="0">
                <a:solidFill>
                  <a:srgbClr val="3333FF"/>
                </a:solidFill>
                <a:latin typeface="黑体" panose="02010609060101010101" pitchFamily="49" charset="-122"/>
                <a:ea typeface="黑体" panose="02010609060101010101" pitchFamily="49" charset="-122"/>
              </a:rPr>
              <a:t>N -&gt; P </a:t>
            </a:r>
            <a:r>
              <a:rPr lang="zh-CN" altLang="en-US" sz="900" dirty="0">
                <a:solidFill>
                  <a:srgbClr val="3333FF"/>
                </a:solidFill>
                <a:latin typeface="黑体" panose="02010609060101010101" pitchFamily="49" charset="-122"/>
                <a:ea typeface="黑体" panose="02010609060101010101" pitchFamily="49" charset="-122"/>
              </a:rPr>
              <a:t>方向的电场</a:t>
            </a:r>
            <a:endParaRPr lang="en-US" altLang="zh-CN" sz="900" dirty="0">
              <a:solidFill>
                <a:srgbClr val="3333FF"/>
              </a:solidFill>
              <a:latin typeface="黑体" panose="02010609060101010101" pitchFamily="49" charset="-122"/>
              <a:ea typeface="黑体" panose="02010609060101010101" pitchFamily="49" charset="-122"/>
            </a:endParaRPr>
          </a:p>
          <a:p>
            <a:pPr eaLnBrk="1" hangingPunct="1"/>
            <a:endParaRPr lang="en-US" altLang="zh-CN" sz="900" dirty="0">
              <a:solidFill>
                <a:srgbClr val="3333FF"/>
              </a:solidFill>
              <a:latin typeface="黑体" panose="02010609060101010101" pitchFamily="49" charset="-122"/>
              <a:ea typeface="黑体" panose="02010609060101010101" pitchFamily="49" charset="-122"/>
            </a:endParaRPr>
          </a:p>
          <a:p>
            <a:pPr eaLnBrk="1" hangingPunct="1"/>
            <a:r>
              <a:rPr lang="zh-CN" altLang="en-US" sz="900" dirty="0">
                <a:solidFill>
                  <a:srgbClr val="3333FF"/>
                </a:solidFill>
                <a:latin typeface="黑体" panose="02010609060101010101" pitchFamily="49" charset="-122"/>
                <a:ea typeface="黑体" panose="02010609060101010101" pitchFamily="49" charset="-122"/>
              </a:rPr>
              <a:t>当正向偏压时，</a:t>
            </a:r>
            <a:r>
              <a:rPr lang="en-US" altLang="zh-CN" sz="900" dirty="0">
                <a:solidFill>
                  <a:srgbClr val="3333FF"/>
                </a:solidFill>
                <a:latin typeface="黑体" panose="02010609060101010101" pitchFamily="49" charset="-122"/>
                <a:ea typeface="黑体" panose="02010609060101010101" pitchFamily="49" charset="-122"/>
              </a:rPr>
              <a:t>P </a:t>
            </a:r>
            <a:r>
              <a:rPr lang="zh-CN" altLang="en-US" sz="900" dirty="0">
                <a:solidFill>
                  <a:srgbClr val="3333FF"/>
                </a:solidFill>
                <a:latin typeface="黑体" panose="02010609060101010101" pitchFamily="49" charset="-122"/>
                <a:ea typeface="黑体" panose="02010609060101010101" pitchFamily="49" charset="-122"/>
              </a:rPr>
              <a:t>边的空穴受电场驱动向 </a:t>
            </a:r>
            <a:r>
              <a:rPr lang="en-US" altLang="zh-CN" sz="900" dirty="0">
                <a:solidFill>
                  <a:srgbClr val="3333FF"/>
                </a:solidFill>
                <a:latin typeface="黑体" panose="02010609060101010101" pitchFamily="49" charset="-122"/>
                <a:ea typeface="黑体" panose="02010609060101010101" pitchFamily="49" charset="-122"/>
              </a:rPr>
              <a:t>PN </a:t>
            </a:r>
            <a:r>
              <a:rPr lang="zh-CN" altLang="en-US" sz="900" dirty="0">
                <a:solidFill>
                  <a:srgbClr val="3333FF"/>
                </a:solidFill>
                <a:latin typeface="黑体" panose="02010609060101010101" pitchFamily="49" charset="-122"/>
                <a:ea typeface="黑体" panose="02010609060101010101" pitchFamily="49" charset="-122"/>
              </a:rPr>
              <a:t>结移动，中和一部分在界面左边的负电量；</a:t>
            </a:r>
            <a:r>
              <a:rPr lang="en-US" altLang="zh-CN" sz="900" dirty="0">
                <a:solidFill>
                  <a:srgbClr val="3333FF"/>
                </a:solidFill>
                <a:latin typeface="黑体" panose="02010609060101010101" pitchFamily="49" charset="-122"/>
                <a:ea typeface="黑体" panose="02010609060101010101" pitchFamily="49" charset="-122"/>
              </a:rPr>
              <a:t>N </a:t>
            </a:r>
            <a:r>
              <a:rPr lang="zh-CN" altLang="en-US" sz="900" dirty="0">
                <a:solidFill>
                  <a:srgbClr val="3333FF"/>
                </a:solidFill>
                <a:latin typeface="黑体" panose="02010609060101010101" pitchFamily="49" charset="-122"/>
                <a:ea typeface="黑体" panose="02010609060101010101" pitchFamily="49" charset="-122"/>
              </a:rPr>
              <a:t>边的电子向 </a:t>
            </a:r>
            <a:r>
              <a:rPr lang="de-DE" altLang="zh-CN" sz="900" dirty="0">
                <a:solidFill>
                  <a:srgbClr val="3333FF"/>
                </a:solidFill>
                <a:latin typeface="黑体" panose="02010609060101010101" pitchFamily="49" charset="-122"/>
                <a:ea typeface="黑体" panose="02010609060101010101" pitchFamily="49" charset="-122"/>
              </a:rPr>
              <a:t>PN </a:t>
            </a:r>
            <a:r>
              <a:rPr lang="zh-CN" altLang="en-US" sz="900" dirty="0">
                <a:solidFill>
                  <a:srgbClr val="3333FF"/>
                </a:solidFill>
                <a:latin typeface="黑体" panose="02010609060101010101" pitchFamily="49" charset="-122"/>
                <a:ea typeface="黑体" panose="02010609060101010101" pitchFamily="49" charset="-122"/>
              </a:rPr>
              <a:t>结移动，中和一部分界面右边的正电量，因此整体的 </a:t>
            </a:r>
            <a:r>
              <a:rPr lang="en-US" altLang="zh-CN" sz="900" dirty="0">
                <a:solidFill>
                  <a:srgbClr val="3333FF"/>
                </a:solidFill>
                <a:latin typeface="黑体" panose="02010609060101010101" pitchFamily="49" charset="-122"/>
                <a:ea typeface="黑体" panose="02010609060101010101" pitchFamily="49" charset="-122"/>
              </a:rPr>
              <a:t>PN </a:t>
            </a:r>
            <a:r>
              <a:rPr lang="zh-CN" altLang="en-US" sz="900" dirty="0">
                <a:solidFill>
                  <a:srgbClr val="3333FF"/>
                </a:solidFill>
                <a:latin typeface="黑体" panose="02010609060101010101" pitchFamily="49" charset="-122"/>
                <a:ea typeface="黑体" panose="02010609060101010101" pitchFamily="49" charset="-122"/>
              </a:rPr>
              <a:t>结宽度减小，更加容易导电，尤其是当电压大到 </a:t>
            </a:r>
            <a:r>
              <a:rPr lang="en-US" altLang="zh-CN" sz="900" dirty="0">
                <a:solidFill>
                  <a:srgbClr val="3333FF"/>
                </a:solidFill>
                <a:latin typeface="黑体" panose="02010609060101010101" pitchFamily="49" charset="-122"/>
                <a:ea typeface="黑体" panose="02010609060101010101" pitchFamily="49" charset="-122"/>
              </a:rPr>
              <a:t>PN </a:t>
            </a:r>
            <a:r>
              <a:rPr lang="zh-CN" altLang="en-US" sz="900" dirty="0">
                <a:solidFill>
                  <a:srgbClr val="3333FF"/>
                </a:solidFill>
                <a:latin typeface="黑体" panose="02010609060101010101" pitchFamily="49" charset="-122"/>
                <a:ea typeface="黑体" panose="02010609060101010101" pitchFamily="49" charset="-122"/>
              </a:rPr>
              <a:t>结几乎消失之后，电阻急剧降低</a:t>
            </a:r>
            <a:endParaRPr lang="en-US" altLang="zh-CN" sz="900" dirty="0">
              <a:solidFill>
                <a:srgbClr val="3333FF"/>
              </a:solidFill>
              <a:latin typeface="黑体" panose="02010609060101010101" pitchFamily="49" charset="-122"/>
              <a:ea typeface="黑体" panose="02010609060101010101" pitchFamily="49" charset="-122"/>
            </a:endParaRPr>
          </a:p>
          <a:p>
            <a:pPr eaLnBrk="1" hangingPunct="1"/>
            <a:r>
              <a:rPr lang="zh-CN" altLang="en-US" sz="900" dirty="0">
                <a:solidFill>
                  <a:srgbClr val="3333FF"/>
                </a:solidFill>
                <a:latin typeface="黑体" panose="02010609060101010101" pitchFamily="49" charset="-122"/>
                <a:ea typeface="黑体" panose="02010609060101010101" pitchFamily="49" charset="-122"/>
              </a:rPr>
              <a:t>反向电压加上后，</a:t>
            </a:r>
            <a:r>
              <a:rPr lang="en-US" altLang="zh-CN" sz="900" dirty="0">
                <a:solidFill>
                  <a:srgbClr val="3333FF"/>
                </a:solidFill>
                <a:latin typeface="黑体" panose="02010609060101010101" pitchFamily="49" charset="-122"/>
                <a:ea typeface="黑体" panose="02010609060101010101" pitchFamily="49" charset="-122"/>
              </a:rPr>
              <a:t>PN </a:t>
            </a:r>
            <a:r>
              <a:rPr lang="zh-CN" altLang="en-US" sz="900" dirty="0">
                <a:solidFill>
                  <a:srgbClr val="3333FF"/>
                </a:solidFill>
                <a:latin typeface="黑体" panose="02010609060101010101" pitchFamily="49" charset="-122"/>
                <a:ea typeface="黑体" panose="02010609060101010101" pitchFamily="49" charset="-122"/>
              </a:rPr>
              <a:t>结变大，电阻变大</a:t>
            </a:r>
            <a:endParaRPr lang="en-US" altLang="zh-CN" sz="900" dirty="0">
              <a:solidFill>
                <a:srgbClr val="3333FF"/>
              </a:solidFill>
              <a:latin typeface="黑体" panose="02010609060101010101" pitchFamily="49" charset="-122"/>
              <a:ea typeface="黑体" panose="02010609060101010101" pitchFamily="49" charset="-122"/>
            </a:endParaRPr>
          </a:p>
          <a:p>
            <a:pPr eaLnBrk="1" hangingPunct="1"/>
            <a:endParaRPr lang="en-US" altLang="zh-CN" sz="900" dirty="0">
              <a:solidFill>
                <a:srgbClr val="3333FF"/>
              </a:solidFill>
              <a:latin typeface="黑体" panose="02010609060101010101" pitchFamily="49" charset="-122"/>
              <a:ea typeface="黑体" panose="02010609060101010101" pitchFamily="49" charset="-122"/>
            </a:endParaRPr>
          </a:p>
          <a:p>
            <a:pPr eaLnBrk="1" hangingPunct="1"/>
            <a:r>
              <a:rPr lang="zh-CN" altLang="en-US" sz="900" dirty="0">
                <a:solidFill>
                  <a:srgbClr val="3333FF"/>
                </a:solidFill>
                <a:latin typeface="黑体" panose="02010609060101010101" pitchFamily="49" charset="-122"/>
                <a:ea typeface="黑体" panose="02010609060101010101" pitchFamily="49" charset="-122"/>
              </a:rPr>
              <a:t>而当反向电压大到一定程度，则可能发生雪崩击穿（和／或齐纳击穿：仅仅在掺杂浓度非常高的情况下），产生大量新的电子空穴对，增加导电能力</a:t>
            </a:r>
            <a:endParaRPr lang="en-US" altLang="zh-CN" sz="900" dirty="0">
              <a:solidFill>
                <a:srgbClr val="3333FF"/>
              </a:solidFill>
              <a:latin typeface="黑体" panose="02010609060101010101" pitchFamily="49" charset="-122"/>
              <a:ea typeface="黑体" panose="02010609060101010101" pitchFamily="49" charset="-122"/>
            </a:endParaRPr>
          </a:p>
          <a:p>
            <a:pPr eaLnBrk="1" hangingPunct="1"/>
            <a:r>
              <a:rPr lang="zh-CN" altLang="en-US" sz="900" dirty="0">
                <a:solidFill>
                  <a:srgbClr val="3333FF"/>
                </a:solidFill>
                <a:latin typeface="黑体" panose="02010609060101010101" pitchFamily="49" charset="-122"/>
                <a:ea typeface="黑体" panose="02010609060101010101" pitchFamily="49" charset="-122"/>
              </a:rPr>
              <a:t>见模电教材 </a:t>
            </a:r>
            <a:r>
              <a:rPr lang="en-US" altLang="zh-CN" sz="900" dirty="0">
                <a:solidFill>
                  <a:srgbClr val="3333FF"/>
                </a:solidFill>
                <a:latin typeface="黑体" panose="02010609060101010101" pitchFamily="49" charset="-122"/>
                <a:ea typeface="黑体" panose="02010609060101010101" pitchFamily="49" charset="-122"/>
              </a:rPr>
              <a:t>P59</a:t>
            </a:r>
          </a:p>
          <a:p>
            <a:pPr eaLnBrk="1" hangingPunct="1"/>
            <a:endParaRPr lang="en-US" altLang="zh-CN" sz="900" dirty="0">
              <a:solidFill>
                <a:srgbClr val="3333FF"/>
              </a:solidFill>
              <a:latin typeface="黑体" panose="02010609060101010101" pitchFamily="49" charset="-122"/>
              <a:ea typeface="黑体" panose="02010609060101010101" pitchFamily="49" charset="-122"/>
            </a:endParaRPr>
          </a:p>
          <a:p>
            <a:pPr eaLnBrk="1" hangingPunct="1"/>
            <a:r>
              <a:rPr lang="en-US" altLang="zh-CN" sz="900" dirty="0">
                <a:solidFill>
                  <a:srgbClr val="3333FF"/>
                </a:solidFill>
                <a:latin typeface="黑体" panose="02010609060101010101" pitchFamily="49" charset="-122"/>
                <a:ea typeface="黑体" panose="02010609060101010101" pitchFamily="49" charset="-122"/>
              </a:rPr>
              <a:t>PN </a:t>
            </a:r>
            <a:r>
              <a:rPr lang="zh-CN" altLang="en-US" sz="900" dirty="0">
                <a:solidFill>
                  <a:srgbClr val="3333FF"/>
                </a:solidFill>
                <a:latin typeface="黑体" panose="02010609060101010101" pitchFamily="49" charset="-122"/>
                <a:ea typeface="黑体" panose="02010609060101010101" pitchFamily="49" charset="-122"/>
              </a:rPr>
              <a:t>结加正向电压时，呈现低电阻，具有较大的正向扩散电流</a:t>
            </a:r>
          </a:p>
          <a:p>
            <a:pPr eaLnBrk="1" hangingPunct="1"/>
            <a:r>
              <a:rPr lang="en-US" altLang="zh-CN" sz="900" dirty="0">
                <a:solidFill>
                  <a:srgbClr val="3333FF"/>
                </a:solidFill>
                <a:latin typeface="黑体" panose="02010609060101010101" pitchFamily="49" charset="-122"/>
                <a:ea typeface="黑体" panose="02010609060101010101" pitchFamily="49" charset="-122"/>
              </a:rPr>
              <a:t>PN </a:t>
            </a:r>
            <a:r>
              <a:rPr lang="zh-CN" altLang="en-US" sz="900" dirty="0">
                <a:solidFill>
                  <a:srgbClr val="3333FF"/>
                </a:solidFill>
                <a:latin typeface="黑体" panose="02010609060101010101" pitchFamily="49" charset="-122"/>
                <a:ea typeface="黑体" panose="02010609060101010101" pitchFamily="49" charset="-122"/>
              </a:rPr>
              <a:t>结加反向电压时，呈现高电阻，具有很小的反向漂移电流</a:t>
            </a:r>
          </a:p>
          <a:p>
            <a:pPr eaLnBrk="1" hangingPunct="1"/>
            <a:r>
              <a:rPr lang="zh-CN" altLang="en-US" sz="900" dirty="0">
                <a:solidFill>
                  <a:srgbClr val="3333FF"/>
                </a:solidFill>
                <a:latin typeface="黑体" panose="02010609060101010101" pitchFamily="49" charset="-122"/>
                <a:ea typeface="黑体" panose="02010609060101010101" pitchFamily="49" charset="-122"/>
              </a:rPr>
              <a:t>由此可以得出结论：</a:t>
            </a:r>
            <a:r>
              <a:rPr lang="en-US" altLang="zh-CN" sz="900" b="1" dirty="0">
                <a:solidFill>
                  <a:srgbClr val="3333FF"/>
                </a:solidFill>
                <a:latin typeface="黑体" panose="02010609060101010101" pitchFamily="49" charset="-122"/>
                <a:ea typeface="黑体" panose="02010609060101010101" pitchFamily="49" charset="-122"/>
              </a:rPr>
              <a:t>PN </a:t>
            </a:r>
            <a:r>
              <a:rPr lang="zh-CN" altLang="en-US" sz="900" b="1" dirty="0">
                <a:solidFill>
                  <a:srgbClr val="3333FF"/>
                </a:solidFill>
                <a:latin typeface="黑体" panose="02010609060101010101" pitchFamily="49" charset="-122"/>
                <a:ea typeface="黑体" panose="02010609060101010101" pitchFamily="49" charset="-122"/>
              </a:rPr>
              <a:t>结具有单向导电性</a:t>
            </a:r>
          </a:p>
          <a:p>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11</a:t>
            </a:fld>
            <a:endParaRPr lang="zh-CN" altLang="en-US"/>
          </a:p>
        </p:txBody>
      </p:sp>
    </p:spTree>
    <p:extLst>
      <p:ext uri="{BB962C8B-B14F-4D97-AF65-F5344CB8AC3E}">
        <p14:creationId xmlns:p14="http://schemas.microsoft.com/office/powerpoint/2010/main" val="32075247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30000"/>
              </a:lnSpc>
            </a:pPr>
            <a:r>
              <a:rPr lang="zh-CN" altLang="en-US" dirty="0">
                <a:solidFill>
                  <a:srgbClr val="3333FF"/>
                </a:solidFill>
                <a:latin typeface="黑体" panose="02010609060101010101" pitchFamily="49" charset="-122"/>
                <a:ea typeface="黑体" panose="02010609060101010101" pitchFamily="49" charset="-122"/>
              </a:rPr>
              <a:t>阳极：</a:t>
            </a:r>
            <a:r>
              <a:rPr lang="en-US" altLang="zh-CN" dirty="0">
                <a:solidFill>
                  <a:srgbClr val="3333FF"/>
                </a:solidFill>
                <a:latin typeface="黑体" panose="02010609060101010101" pitchFamily="49" charset="-122"/>
                <a:ea typeface="黑体" panose="02010609060101010101" pitchFamily="49" charset="-122"/>
              </a:rPr>
              <a:t>anode</a:t>
            </a:r>
          </a:p>
          <a:p>
            <a:pPr eaLnBrk="1" hangingPunct="1">
              <a:lnSpc>
                <a:spcPct val="130000"/>
              </a:lnSpc>
            </a:pPr>
            <a:r>
              <a:rPr lang="zh-CN" altLang="en-US" dirty="0">
                <a:solidFill>
                  <a:srgbClr val="3333FF"/>
                </a:solidFill>
                <a:latin typeface="黑体" panose="02010609060101010101" pitchFamily="49" charset="-122"/>
                <a:ea typeface="黑体" panose="02010609060101010101" pitchFamily="49" charset="-122"/>
              </a:rPr>
              <a:t>阴极：</a:t>
            </a:r>
            <a:r>
              <a:rPr lang="en-US" altLang="zh-CN" dirty="0">
                <a:solidFill>
                  <a:srgbClr val="3333FF"/>
                </a:solidFill>
                <a:latin typeface="黑体" panose="02010609060101010101" pitchFamily="49" charset="-122"/>
                <a:ea typeface="黑体" panose="02010609060101010101" pitchFamily="49" charset="-122"/>
              </a:rPr>
              <a:t>cathode</a:t>
            </a:r>
          </a:p>
          <a:p>
            <a:pPr eaLnBrk="1" hangingPunct="1">
              <a:lnSpc>
                <a:spcPct val="130000"/>
              </a:lnSpc>
            </a:pPr>
            <a:r>
              <a:rPr lang="zh-CN" altLang="en-US" dirty="0">
                <a:solidFill>
                  <a:srgbClr val="3333FF"/>
                </a:solidFill>
                <a:latin typeface="黑体" panose="02010609060101010101" pitchFamily="49" charset="-122"/>
                <a:ea typeface="黑体" panose="02010609060101010101" pitchFamily="49" charset="-122"/>
              </a:rPr>
              <a:t>点接触型：</a:t>
            </a:r>
            <a:r>
              <a:rPr lang="en-US" altLang="zh-CN" dirty="0">
                <a:solidFill>
                  <a:srgbClr val="3333FF"/>
                </a:solidFill>
                <a:latin typeface="黑体" panose="02010609060101010101" pitchFamily="49" charset="-122"/>
                <a:ea typeface="黑体" panose="02010609060101010101" pitchFamily="49" charset="-122"/>
              </a:rPr>
              <a:t>PN </a:t>
            </a:r>
            <a:r>
              <a:rPr lang="zh-CN" altLang="en-US" dirty="0">
                <a:solidFill>
                  <a:srgbClr val="3333FF"/>
                </a:solidFill>
                <a:latin typeface="黑体" panose="02010609060101010101" pitchFamily="49" charset="-122"/>
                <a:ea typeface="黑体" panose="02010609060101010101" pitchFamily="49" charset="-122"/>
              </a:rPr>
              <a:t>结面积小，结电容小，用于检波和变频等高频电路</a:t>
            </a:r>
            <a:endParaRPr lang="en-US" altLang="zh-CN" dirty="0">
              <a:solidFill>
                <a:srgbClr val="3333FF"/>
              </a:solidFill>
              <a:latin typeface="黑体" panose="02010609060101010101" pitchFamily="49" charset="-122"/>
              <a:ea typeface="黑体" panose="02010609060101010101" pitchFamily="49" charset="-122"/>
            </a:endParaRPr>
          </a:p>
          <a:p>
            <a:pPr eaLnBrk="1" hangingPunct="1">
              <a:lnSpc>
                <a:spcPct val="130000"/>
              </a:lnSpc>
            </a:pPr>
            <a:r>
              <a:rPr lang="zh-CN" altLang="en-US" dirty="0">
                <a:solidFill>
                  <a:srgbClr val="3333FF"/>
                </a:solidFill>
                <a:latin typeface="黑体" panose="02010609060101010101" pitchFamily="49" charset="-122"/>
                <a:ea typeface="黑体" panose="02010609060101010101" pitchFamily="49" charset="-122"/>
              </a:rPr>
              <a:t>面接触型：</a:t>
            </a:r>
            <a:r>
              <a:rPr lang="en-US" altLang="zh-CN" dirty="0">
                <a:solidFill>
                  <a:srgbClr val="3333FF"/>
                </a:solidFill>
                <a:latin typeface="黑体" panose="02010609060101010101" pitchFamily="49" charset="-122"/>
                <a:ea typeface="黑体" panose="02010609060101010101" pitchFamily="49" charset="-122"/>
              </a:rPr>
              <a:t>PN </a:t>
            </a:r>
            <a:r>
              <a:rPr lang="zh-CN" altLang="en-US" dirty="0">
                <a:solidFill>
                  <a:srgbClr val="3333FF"/>
                </a:solidFill>
                <a:latin typeface="黑体" panose="02010609060101010101" pitchFamily="49" charset="-122"/>
                <a:ea typeface="黑体" panose="02010609060101010101" pitchFamily="49" charset="-122"/>
              </a:rPr>
              <a:t>结面积大，用于工频大电流整流电路</a:t>
            </a:r>
            <a:endParaRPr lang="en-US" altLang="zh-CN" dirty="0">
              <a:solidFill>
                <a:srgbClr val="3333FF"/>
              </a:solidFill>
              <a:latin typeface="黑体" panose="02010609060101010101" pitchFamily="49" charset="-122"/>
              <a:ea typeface="黑体" panose="02010609060101010101" pitchFamily="49" charset="-122"/>
            </a:endParaRPr>
          </a:p>
          <a:p>
            <a:pPr eaLnBrk="1" hangingPunct="1">
              <a:lnSpc>
                <a:spcPct val="130000"/>
              </a:lnSpc>
            </a:pPr>
            <a:endParaRPr lang="en-US" altLang="zh-CN" dirty="0">
              <a:solidFill>
                <a:srgbClr val="3333FF"/>
              </a:solidFill>
              <a:latin typeface="黑体" panose="02010609060101010101" pitchFamily="49" charset="-122"/>
              <a:ea typeface="黑体" panose="02010609060101010101" pitchFamily="49" charset="-122"/>
            </a:endParaRPr>
          </a:p>
          <a:p>
            <a:pPr eaLnBrk="1" hangingPunct="1">
              <a:lnSpc>
                <a:spcPct val="130000"/>
              </a:lnSpc>
            </a:pPr>
            <a:r>
              <a:rPr lang="zh-CN" altLang="en-US" dirty="0"/>
              <a:t>点接触型二极管是用一根很细的金属丝压在光洁的半导体晶片表面，通以脉冲电流，使触丝一端与晶片牢固地烧结在一起，形成一个“</a:t>
            </a:r>
            <a:r>
              <a:rPr lang="en-US" altLang="zh-CN" dirty="0"/>
              <a:t>PN </a:t>
            </a:r>
            <a:r>
              <a:rPr lang="zh-CN" altLang="en-US" dirty="0"/>
              <a:t>结”</a:t>
            </a:r>
            <a:endParaRPr lang="en-US" altLang="zh-CN" dirty="0"/>
          </a:p>
          <a:p>
            <a:pPr eaLnBrk="1" hangingPunct="1">
              <a:lnSpc>
                <a:spcPct val="130000"/>
              </a:lnSpc>
            </a:pPr>
            <a:r>
              <a:rPr lang="zh-CN" altLang="en-US" dirty="0"/>
              <a:t>由于是点接触，只允许通过较小的电流（不超过几十毫安），适用于高频小电流电路，如收音机的检波等</a:t>
            </a:r>
            <a:endParaRPr lang="en-US" altLang="zh-CN" dirty="0"/>
          </a:p>
          <a:p>
            <a:pPr eaLnBrk="1" hangingPunct="1">
              <a:lnSpc>
                <a:spcPct val="130000"/>
              </a:lnSpc>
            </a:pPr>
            <a:endParaRPr lang="en-US" altLang="zh-CN" dirty="0"/>
          </a:p>
          <a:p>
            <a:pPr eaLnBrk="1" hangingPunct="1">
              <a:lnSpc>
                <a:spcPct val="130000"/>
              </a:lnSpc>
            </a:pPr>
            <a:r>
              <a:rPr lang="zh-CN" altLang="en-US" dirty="0"/>
              <a:t>面接触二极管是利用扩散、多用合金及外延等掺杂方法，实现 </a:t>
            </a:r>
            <a:r>
              <a:rPr lang="en-US" altLang="zh-CN" dirty="0"/>
              <a:t>P </a:t>
            </a:r>
            <a:r>
              <a:rPr lang="zh-CN" altLang="en-US" dirty="0"/>
              <a:t>型半导体和 </a:t>
            </a:r>
            <a:r>
              <a:rPr lang="en-US" altLang="zh-CN" dirty="0"/>
              <a:t>N </a:t>
            </a:r>
            <a:r>
              <a:rPr lang="zh-CN" altLang="en-US" dirty="0"/>
              <a:t>型半导体直接接触而形成 </a:t>
            </a:r>
            <a:r>
              <a:rPr lang="en-US" altLang="zh-CN" dirty="0"/>
              <a:t>PN </a:t>
            </a:r>
            <a:r>
              <a:rPr lang="zh-CN" altLang="en-US" dirty="0"/>
              <a:t>结的</a:t>
            </a:r>
            <a:endParaRPr lang="en-US" altLang="zh-CN" dirty="0"/>
          </a:p>
          <a:p>
            <a:pPr eaLnBrk="1" hangingPunct="1">
              <a:lnSpc>
                <a:spcPct val="130000"/>
              </a:lnSpc>
            </a:pPr>
            <a:endParaRPr lang="en-US" altLang="zh-CN" dirty="0"/>
          </a:p>
          <a:p>
            <a:pPr eaLnBrk="1" hangingPunct="1">
              <a:lnSpc>
                <a:spcPct val="130000"/>
              </a:lnSpc>
            </a:pPr>
            <a:r>
              <a:rPr lang="zh-CN" altLang="en-US" dirty="0"/>
              <a:t>点接触型二极管的特点是 </a:t>
            </a:r>
            <a:r>
              <a:rPr lang="en-US" altLang="zh-CN" dirty="0"/>
              <a:t>PN </a:t>
            </a:r>
            <a:r>
              <a:rPr lang="zh-CN" altLang="en-US" dirty="0"/>
              <a:t>结面积小，不能通过大电流</a:t>
            </a:r>
            <a:endParaRPr lang="en-US" altLang="zh-CN" dirty="0"/>
          </a:p>
          <a:p>
            <a:pPr eaLnBrk="1" hangingPunct="1">
              <a:lnSpc>
                <a:spcPct val="130000"/>
              </a:lnSpc>
            </a:pPr>
            <a:r>
              <a:rPr lang="zh-CN" altLang="en-US" dirty="0"/>
              <a:t>但由于其接触面积小，结电容小，高频性能好，故而常用在检波或脉冲电路中</a:t>
            </a:r>
            <a:endParaRPr lang="en-US" altLang="zh-CN" dirty="0"/>
          </a:p>
          <a:p>
            <a:pPr eaLnBrk="1" hangingPunct="1">
              <a:lnSpc>
                <a:spcPct val="130000"/>
              </a:lnSpc>
            </a:pPr>
            <a:endParaRPr lang="en-US" altLang="zh-CN" dirty="0"/>
          </a:p>
          <a:p>
            <a:pPr eaLnBrk="1" hangingPunct="1">
              <a:lnSpc>
                <a:spcPct val="130000"/>
              </a:lnSpc>
            </a:pPr>
            <a:r>
              <a:rPr lang="zh-CN" altLang="en-US" dirty="0"/>
              <a:t>面接触型二极管的特点是 </a:t>
            </a:r>
            <a:r>
              <a:rPr lang="en-US" altLang="zh-CN" dirty="0"/>
              <a:t>PN </a:t>
            </a:r>
            <a:r>
              <a:rPr lang="zh-CN" altLang="en-US" dirty="0"/>
              <a:t>结面积大，可以通过较大的电流，适合用于大功率的整流电路中</a:t>
            </a:r>
            <a:endParaRPr lang="en-US" altLang="zh-CN" dirty="0"/>
          </a:p>
          <a:p>
            <a:pPr eaLnBrk="1" hangingPunct="1">
              <a:lnSpc>
                <a:spcPct val="130000"/>
              </a:lnSpc>
            </a:pPr>
            <a:endParaRPr lang="en-US" altLang="zh-CN" dirty="0"/>
          </a:p>
          <a:p>
            <a:pPr eaLnBrk="1" hangingPunct="1">
              <a:lnSpc>
                <a:spcPct val="130000"/>
              </a:lnSpc>
            </a:pPr>
            <a:r>
              <a:rPr lang="zh-CN" altLang="en-US" dirty="0"/>
              <a:t>平面型二极管如果结面积较大，则结电容也会大点，会应用在大功率整流中，如果面积较小则适合脉冲数字电路等应用</a:t>
            </a:r>
          </a:p>
          <a:p>
            <a:pPr eaLnBrk="1" hangingPunct="1">
              <a:lnSpc>
                <a:spcPct val="130000"/>
              </a:lnSpc>
            </a:pPr>
            <a:br>
              <a:rPr lang="zh-CN" altLang="en-US" dirty="0"/>
            </a:br>
            <a:r>
              <a:rPr lang="en-US" altLang="zh-CN" dirty="0"/>
              <a:t>1. </a:t>
            </a:r>
            <a:r>
              <a:rPr lang="zh-CN" altLang="en-US" dirty="0"/>
              <a:t>点接触型二极管</a:t>
            </a:r>
            <a:r>
              <a:rPr lang="en-US" altLang="zh-CN" dirty="0"/>
              <a:t>(</a:t>
            </a:r>
            <a:r>
              <a:rPr lang="zh-CN" altLang="en-US" dirty="0"/>
              <a:t>一般为锗管</a:t>
            </a:r>
            <a:r>
              <a:rPr lang="en-US" altLang="zh-CN" dirty="0"/>
              <a:t>)      </a:t>
            </a:r>
          </a:p>
          <a:p>
            <a:pPr eaLnBrk="1" hangingPunct="1">
              <a:lnSpc>
                <a:spcPct val="130000"/>
              </a:lnSpc>
            </a:pPr>
            <a:r>
              <a:rPr lang="zh-CN" altLang="en-US" dirty="0"/>
              <a:t>点接触型二极管 </a:t>
            </a:r>
            <a:r>
              <a:rPr lang="en-US" altLang="zh-CN" dirty="0"/>
              <a:t>PN </a:t>
            </a:r>
            <a:r>
              <a:rPr lang="zh-CN" altLang="en-US" dirty="0"/>
              <a:t>结的结面积很小，不能通过较大电流，但结电容小，高频性能好，一般适用于高频和小功率的工作，也用作数字电路中的开关元件</a:t>
            </a:r>
            <a:endParaRPr lang="en-US" altLang="zh-CN" dirty="0"/>
          </a:p>
          <a:p>
            <a:pPr eaLnBrk="1" hangingPunct="1">
              <a:lnSpc>
                <a:spcPct val="130000"/>
              </a:lnSpc>
            </a:pPr>
            <a:r>
              <a:rPr lang="zh-CN" altLang="en-US" dirty="0"/>
              <a:t>如国产的 </a:t>
            </a:r>
            <a:r>
              <a:rPr lang="en-US" altLang="zh-CN" dirty="0"/>
              <a:t>2AP </a:t>
            </a:r>
            <a:r>
              <a:rPr lang="zh-CN" altLang="en-US" dirty="0"/>
              <a:t>型、</a:t>
            </a:r>
            <a:r>
              <a:rPr lang="en-US" altLang="zh-CN" dirty="0"/>
              <a:t>2AK </a:t>
            </a:r>
            <a:r>
              <a:rPr lang="zh-CN" altLang="en-US" dirty="0"/>
              <a:t>型</a:t>
            </a:r>
          </a:p>
          <a:p>
            <a:pPr eaLnBrk="1" hangingPunct="1">
              <a:lnSpc>
                <a:spcPct val="130000"/>
              </a:lnSpc>
            </a:pPr>
            <a:r>
              <a:rPr lang="zh-CN" altLang="en-US" dirty="0"/>
              <a:t> </a:t>
            </a:r>
          </a:p>
          <a:p>
            <a:pPr eaLnBrk="1" hangingPunct="1">
              <a:lnSpc>
                <a:spcPct val="130000"/>
              </a:lnSpc>
            </a:pPr>
            <a:r>
              <a:rPr lang="en-US" altLang="zh-CN" dirty="0"/>
              <a:t>2. </a:t>
            </a:r>
            <a:r>
              <a:rPr lang="zh-CN" altLang="en-US" dirty="0"/>
              <a:t>面接触型二极管</a:t>
            </a:r>
            <a:r>
              <a:rPr lang="en-US" altLang="zh-CN" dirty="0"/>
              <a:t>(</a:t>
            </a:r>
            <a:r>
              <a:rPr lang="zh-CN" altLang="en-US" dirty="0"/>
              <a:t>一般为硅管</a:t>
            </a:r>
            <a:r>
              <a:rPr lang="en-US" altLang="zh-CN" dirty="0"/>
              <a:t>)      </a:t>
            </a:r>
          </a:p>
          <a:p>
            <a:pPr eaLnBrk="1" hangingPunct="1">
              <a:lnSpc>
                <a:spcPct val="130000"/>
              </a:lnSpc>
            </a:pPr>
            <a:r>
              <a:rPr lang="zh-CN" altLang="en-US" dirty="0"/>
              <a:t>面接触型二极管 </a:t>
            </a:r>
            <a:r>
              <a:rPr lang="en-US" altLang="zh-CN" dirty="0"/>
              <a:t>PN </a:t>
            </a:r>
            <a:r>
              <a:rPr lang="zh-CN" altLang="en-US" dirty="0"/>
              <a:t>结面积大，能允许通过较大的电流，但由于其结电容也大，所以一般用于较低频率的整流电路中</a:t>
            </a:r>
            <a:endParaRPr lang="en-US" altLang="zh-CN" dirty="0"/>
          </a:p>
          <a:p>
            <a:pPr eaLnBrk="1" hangingPunct="1">
              <a:lnSpc>
                <a:spcPct val="130000"/>
              </a:lnSpc>
            </a:pPr>
            <a:r>
              <a:rPr lang="zh-CN" altLang="en-US" dirty="0"/>
              <a:t>如国产的 </a:t>
            </a:r>
            <a:r>
              <a:rPr lang="en-US" altLang="zh-CN" dirty="0"/>
              <a:t>2CZ </a:t>
            </a:r>
            <a:r>
              <a:rPr lang="zh-CN" altLang="en-US" dirty="0"/>
              <a:t>型、</a:t>
            </a:r>
            <a:r>
              <a:rPr lang="en-US" altLang="zh-CN" dirty="0"/>
              <a:t>2CP </a:t>
            </a:r>
            <a:r>
              <a:rPr lang="zh-CN" altLang="en-US" dirty="0"/>
              <a:t>型</a:t>
            </a:r>
            <a:endParaRPr lang="en-US" altLang="zh-CN" dirty="0"/>
          </a:p>
          <a:p>
            <a:pPr eaLnBrk="1" hangingPunct="1">
              <a:lnSpc>
                <a:spcPct val="130000"/>
              </a:lnSpc>
            </a:pPr>
            <a:endParaRPr lang="zh-CN" altLang="en-US" dirty="0">
              <a:solidFill>
                <a:srgbClr val="3333FF"/>
              </a:solidFill>
              <a:latin typeface="黑体" panose="02010609060101010101" pitchFamily="49" charset="-122"/>
              <a:ea typeface="黑体" panose="02010609060101010101" pitchFamily="49" charset="-122"/>
            </a:endParaRPr>
          </a:p>
          <a:p>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13</a:t>
            </a:fld>
            <a:endParaRPr lang="zh-CN" altLang="en-US"/>
          </a:p>
        </p:txBody>
      </p:sp>
    </p:spTree>
    <p:extLst>
      <p:ext uri="{BB962C8B-B14F-4D97-AF65-F5344CB8AC3E}">
        <p14:creationId xmlns:p14="http://schemas.microsoft.com/office/powerpoint/2010/main" val="8372992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E305E-D0A9-2A2B-BCF0-3EA7EEDA946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B95CB9F-E047-903B-136E-86DD478A93B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6E5F187-B7F7-F80D-36BF-D34673542BA9}"/>
              </a:ext>
            </a:extLst>
          </p:cNvPr>
          <p:cNvSpPr>
            <a:spLocks noGrp="1"/>
          </p:cNvSpPr>
          <p:nvPr>
            <p:ph type="body" idx="1"/>
          </p:nvPr>
        </p:nvSpPr>
        <p:spPr/>
        <p:txBody>
          <a:bodyPr/>
          <a:lstStyle/>
          <a:p>
            <a:pPr eaLnBrk="1" hangingPunct="1"/>
            <a:r>
              <a:rPr kumimoji="1" lang="zh-CN" altLang="en-US" i="0" dirty="0"/>
              <a:t>正向特性：近似呈现为指数曲线，有死区（</a:t>
            </a:r>
            <a:r>
              <a:rPr kumimoji="1" lang="en-US" altLang="zh-CN" i="0" dirty="0"/>
              <a:t>i≈0 </a:t>
            </a:r>
            <a:r>
              <a:rPr kumimoji="1" lang="zh-CN" altLang="en-US" i="0" dirty="0"/>
              <a:t>的区域</a:t>
            </a:r>
            <a:r>
              <a:rPr kumimoji="1" lang="en-US" altLang="zh-CN" i="0" dirty="0"/>
              <a:t>)</a:t>
            </a:r>
          </a:p>
          <a:p>
            <a:pPr eaLnBrk="1" hangingPunct="1"/>
            <a:r>
              <a:rPr kumimoji="1" lang="zh-CN" altLang="en-US" i="0" dirty="0"/>
              <a:t>导通后（即 </a:t>
            </a:r>
            <a:r>
              <a:rPr kumimoji="1" lang="en-US" altLang="zh-CN" i="0" dirty="0"/>
              <a:t>u </a:t>
            </a:r>
            <a:r>
              <a:rPr kumimoji="1" lang="zh-CN" altLang="en-US" i="0" dirty="0"/>
              <a:t>大于死区电压后）</a:t>
            </a:r>
            <a:r>
              <a:rPr kumimoji="1" lang="en-US" altLang="zh-CN" i="0" dirty="0"/>
              <a:t>u </a:t>
            </a:r>
            <a:r>
              <a:rPr kumimoji="1" lang="zh-CN" altLang="en-US" i="0" dirty="0"/>
              <a:t>略有升高，</a:t>
            </a:r>
            <a:r>
              <a:rPr kumimoji="1" lang="en-US" altLang="zh-CN" i="0" dirty="0" err="1"/>
              <a:t>i</a:t>
            </a:r>
            <a:r>
              <a:rPr kumimoji="1" lang="en-US" altLang="zh-CN" i="0" dirty="0"/>
              <a:t> </a:t>
            </a:r>
            <a:r>
              <a:rPr kumimoji="1" lang="zh-CN" altLang="en-US" i="0" dirty="0"/>
              <a:t>急剧增大</a:t>
            </a:r>
            <a:endParaRPr kumimoji="1" lang="en-US" altLang="zh-CN" i="0" dirty="0"/>
          </a:p>
          <a:p>
            <a:pPr eaLnBrk="1" hangingPunct="1"/>
            <a:r>
              <a:rPr kumimoji="1" lang="zh-CN" altLang="en-US" i="0" dirty="0"/>
              <a:t>导通压降约为硅管 </a:t>
            </a:r>
            <a:r>
              <a:rPr kumimoji="1" lang="en-US" altLang="zh-CN" i="0" dirty="0"/>
              <a:t>0.6 ~ 0.8 V</a:t>
            </a:r>
            <a:r>
              <a:rPr kumimoji="1" lang="zh-CN" altLang="en-US" i="0" dirty="0"/>
              <a:t>，锗管 </a:t>
            </a:r>
            <a:r>
              <a:rPr kumimoji="1" lang="en-US" altLang="zh-CN" i="0" dirty="0"/>
              <a:t>0.2 ~ 0.3 V</a:t>
            </a:r>
            <a:r>
              <a:rPr kumimoji="1" lang="zh-CN" altLang="en-US" i="0" dirty="0"/>
              <a:t>，通常近似取硅管 </a:t>
            </a:r>
            <a:r>
              <a:rPr kumimoji="1" lang="en-US" altLang="zh-CN" i="0" dirty="0"/>
              <a:t>0.7</a:t>
            </a:r>
            <a:r>
              <a:rPr kumimoji="1" lang="zh-CN" altLang="en-US" i="0" dirty="0"/>
              <a:t>，锗管 </a:t>
            </a:r>
            <a:r>
              <a:rPr kumimoji="1" lang="en-US" altLang="zh-CN" i="0" dirty="0"/>
              <a:t>0.2</a:t>
            </a:r>
          </a:p>
          <a:p>
            <a:pPr eaLnBrk="1" hangingPunct="1"/>
            <a:endParaRPr kumimoji="1" lang="zh-CN" altLang="en-US" i="0" dirty="0"/>
          </a:p>
          <a:p>
            <a:pPr eaLnBrk="1" hangingPunct="1"/>
            <a:r>
              <a:rPr kumimoji="1" lang="zh-CN" altLang="en-US" i="0" dirty="0"/>
              <a:t>正向区分为两段：</a:t>
            </a:r>
          </a:p>
          <a:p>
            <a:pPr lvl="1" eaLnBrk="1" hangingPunct="1"/>
            <a:r>
              <a:rPr kumimoji="1" lang="zh-CN" altLang="en-US" i="0" dirty="0"/>
              <a:t>当 </a:t>
            </a:r>
            <a:r>
              <a:rPr kumimoji="1" lang="en-US" altLang="zh-CN" i="0" dirty="0">
                <a:solidFill>
                  <a:srgbClr val="FF0000"/>
                </a:solidFill>
              </a:rPr>
              <a:t>0</a:t>
            </a:r>
            <a:r>
              <a:rPr kumimoji="1" lang="zh-CN" altLang="en-US" i="0" dirty="0">
                <a:solidFill>
                  <a:srgbClr val="FF0000"/>
                </a:solidFill>
              </a:rPr>
              <a:t>＜</a:t>
            </a:r>
            <a:r>
              <a:rPr kumimoji="1" lang="en-US" altLang="zh-CN" i="0" dirty="0">
                <a:solidFill>
                  <a:srgbClr val="FF0000"/>
                </a:solidFill>
              </a:rPr>
              <a:t>u</a:t>
            </a:r>
            <a:r>
              <a:rPr kumimoji="1" lang="zh-CN" altLang="en-US" i="0" dirty="0">
                <a:solidFill>
                  <a:srgbClr val="FF0000"/>
                </a:solidFill>
              </a:rPr>
              <a:t>＜</a:t>
            </a:r>
            <a:r>
              <a:rPr kumimoji="1" lang="en-US" altLang="zh-CN" i="0" dirty="0">
                <a:solidFill>
                  <a:srgbClr val="FF0000"/>
                </a:solidFill>
              </a:rPr>
              <a:t>V_{</a:t>
            </a:r>
            <a:r>
              <a:rPr kumimoji="1" lang="en-US" altLang="zh-CN" i="0" dirty="0" err="1">
                <a:solidFill>
                  <a:srgbClr val="FF0000"/>
                </a:solidFill>
              </a:rPr>
              <a:t>th</a:t>
            </a:r>
            <a:r>
              <a:rPr kumimoji="1" lang="en-US" altLang="zh-CN" i="0" dirty="0">
                <a:solidFill>
                  <a:srgbClr val="FF0000"/>
                </a:solidFill>
              </a:rPr>
              <a:t>} </a:t>
            </a:r>
            <a:r>
              <a:rPr kumimoji="1" lang="zh-CN" altLang="en-US" i="0" dirty="0"/>
              <a:t>时，正向电流为零，</a:t>
            </a:r>
            <a:r>
              <a:rPr kumimoji="1" lang="en-US" altLang="zh-CN" i="0" dirty="0"/>
              <a:t>V_th </a:t>
            </a:r>
            <a:r>
              <a:rPr kumimoji="1" lang="zh-CN" altLang="en-US" i="0" dirty="0"/>
              <a:t>称死区</a:t>
            </a:r>
            <a:r>
              <a:rPr kumimoji="1" lang="en-US" altLang="zh-CN" i="0" dirty="0"/>
              <a:t>/</a:t>
            </a:r>
            <a:r>
              <a:rPr kumimoji="1" lang="zh-CN" altLang="en-US" i="0" dirty="0"/>
              <a:t>阈值</a:t>
            </a:r>
            <a:r>
              <a:rPr kumimoji="1" lang="en-US" altLang="zh-CN" i="0" dirty="0"/>
              <a:t>/</a:t>
            </a:r>
            <a:r>
              <a:rPr kumimoji="1" lang="zh-CN" altLang="en-US" i="0" dirty="0"/>
              <a:t>开启电压</a:t>
            </a:r>
          </a:p>
          <a:p>
            <a:pPr lvl="1" eaLnBrk="1" hangingPunct="1"/>
            <a:r>
              <a:rPr kumimoji="1" lang="zh-CN" altLang="en-US" i="0" dirty="0"/>
              <a:t>当 </a:t>
            </a:r>
            <a:r>
              <a:rPr kumimoji="1" lang="en-US" altLang="zh-CN" i="0" dirty="0">
                <a:solidFill>
                  <a:srgbClr val="FF0000"/>
                </a:solidFill>
              </a:rPr>
              <a:t>u </a:t>
            </a:r>
            <a:r>
              <a:rPr kumimoji="1" lang="zh-CN" altLang="en-US" i="0" dirty="0">
                <a:solidFill>
                  <a:srgbClr val="FF0000"/>
                </a:solidFill>
              </a:rPr>
              <a:t>＞</a:t>
            </a:r>
            <a:r>
              <a:rPr kumimoji="1" lang="en-US" altLang="zh-CN" i="0" dirty="0">
                <a:solidFill>
                  <a:srgbClr val="FF0000"/>
                </a:solidFill>
              </a:rPr>
              <a:t>V_{</a:t>
            </a:r>
            <a:r>
              <a:rPr kumimoji="1" lang="en-US" altLang="zh-CN" i="0" dirty="0" err="1">
                <a:solidFill>
                  <a:srgbClr val="FF0000"/>
                </a:solidFill>
              </a:rPr>
              <a:t>th</a:t>
            </a:r>
            <a:r>
              <a:rPr kumimoji="1" lang="en-US" altLang="zh-CN" i="0" dirty="0">
                <a:solidFill>
                  <a:srgbClr val="FF0000"/>
                </a:solidFill>
              </a:rPr>
              <a:t>} </a:t>
            </a:r>
            <a:r>
              <a:rPr kumimoji="1" lang="zh-CN" altLang="en-US" i="0" dirty="0"/>
              <a:t>时，开始出现正向电流，并按指数规律增长</a:t>
            </a:r>
            <a:endParaRPr kumimoji="1" lang="en-US" altLang="zh-CN" i="0" dirty="0"/>
          </a:p>
          <a:p>
            <a:pPr lvl="1" eaLnBrk="1" hangingPunct="1"/>
            <a:endParaRPr kumimoji="1" lang="zh-CN" altLang="en-US" i="0" dirty="0"/>
          </a:p>
          <a:p>
            <a:pPr eaLnBrk="1" hangingPunct="1"/>
            <a:r>
              <a:rPr kumimoji="1" lang="zh-CN" altLang="en-US" i="0" dirty="0">
                <a:solidFill>
                  <a:srgbClr val="3333FF"/>
                </a:solidFill>
              </a:rPr>
              <a:t>硅</a:t>
            </a:r>
            <a:r>
              <a:rPr kumimoji="1" lang="zh-CN" altLang="en-US" i="0" dirty="0"/>
              <a:t>二极管的死区电压 </a:t>
            </a:r>
            <a:r>
              <a:rPr kumimoji="1" lang="en-US" altLang="zh-CN" i="0" dirty="0">
                <a:solidFill>
                  <a:srgbClr val="FF0000"/>
                </a:solidFill>
              </a:rPr>
              <a:t>V_{</a:t>
            </a:r>
            <a:r>
              <a:rPr kumimoji="1" lang="en-US" altLang="zh-CN" i="0" dirty="0" err="1">
                <a:solidFill>
                  <a:srgbClr val="FF0000"/>
                </a:solidFill>
              </a:rPr>
              <a:t>th</a:t>
            </a:r>
            <a:r>
              <a:rPr kumimoji="1" lang="en-US" altLang="zh-CN" i="0" dirty="0">
                <a:solidFill>
                  <a:srgbClr val="FF0000"/>
                </a:solidFill>
              </a:rPr>
              <a:t>}=0.5 V </a:t>
            </a:r>
            <a:r>
              <a:rPr kumimoji="1" lang="zh-CN" altLang="en-US" i="0" dirty="0"/>
              <a:t>左右，</a:t>
            </a:r>
            <a:r>
              <a:rPr kumimoji="1" lang="zh-CN" altLang="en-US" i="0" dirty="0">
                <a:solidFill>
                  <a:srgbClr val="FC1D06"/>
                </a:solidFill>
              </a:rPr>
              <a:t>锗</a:t>
            </a:r>
            <a:r>
              <a:rPr kumimoji="1" lang="zh-CN" altLang="en-US" i="0" dirty="0"/>
              <a:t>二极管的死区电压 </a:t>
            </a:r>
            <a:r>
              <a:rPr kumimoji="1" lang="en-US" altLang="zh-CN" i="0" dirty="0">
                <a:solidFill>
                  <a:srgbClr val="FF0000"/>
                </a:solidFill>
              </a:rPr>
              <a:t>V_{</a:t>
            </a:r>
            <a:r>
              <a:rPr kumimoji="1" lang="en-US" altLang="zh-CN" i="0" dirty="0" err="1">
                <a:solidFill>
                  <a:srgbClr val="FF0000"/>
                </a:solidFill>
              </a:rPr>
              <a:t>th</a:t>
            </a:r>
            <a:r>
              <a:rPr kumimoji="1" lang="en-US" altLang="zh-CN" i="0" dirty="0">
                <a:solidFill>
                  <a:srgbClr val="FF0000"/>
                </a:solidFill>
              </a:rPr>
              <a:t>}=0.1 V </a:t>
            </a:r>
            <a:r>
              <a:rPr kumimoji="1" lang="zh-CN" altLang="en-US" i="0" dirty="0"/>
              <a:t>左右</a:t>
            </a:r>
            <a:endParaRPr kumimoji="1" lang="en-US" altLang="zh-CN" i="0" dirty="0"/>
          </a:p>
          <a:p>
            <a:pPr eaLnBrk="1" hangingPunct="1"/>
            <a:endParaRPr kumimoji="1" lang="zh-CN" altLang="en-US" i="0" dirty="0"/>
          </a:p>
          <a:p>
            <a:pPr eaLnBrk="1" hangingPunct="1"/>
            <a:r>
              <a:rPr kumimoji="1" lang="zh-CN" altLang="en-US" i="0" dirty="0"/>
              <a:t>反向区也分两个区域：</a:t>
            </a:r>
          </a:p>
          <a:p>
            <a:pPr eaLnBrk="1" hangingPunct="1"/>
            <a:r>
              <a:rPr kumimoji="1" lang="zh-CN" altLang="en-US" i="0" dirty="0"/>
              <a:t> 当 </a:t>
            </a:r>
            <a:r>
              <a:rPr kumimoji="1" lang="en-US" altLang="zh-CN" i="0" dirty="0"/>
              <a:t>-</a:t>
            </a:r>
            <a:r>
              <a:rPr kumimoji="1" lang="en-US" altLang="zh-CN" i="0" dirty="0">
                <a:solidFill>
                  <a:srgbClr val="FF0000"/>
                </a:solidFill>
              </a:rPr>
              <a:t>V_{BR}</a:t>
            </a:r>
            <a:r>
              <a:rPr kumimoji="1" lang="zh-CN" altLang="en-US" i="0" dirty="0">
                <a:solidFill>
                  <a:srgbClr val="FF0000"/>
                </a:solidFill>
              </a:rPr>
              <a:t>＜</a:t>
            </a:r>
            <a:r>
              <a:rPr kumimoji="1" lang="en-US" altLang="zh-CN" i="0" dirty="0">
                <a:solidFill>
                  <a:srgbClr val="FF0000"/>
                </a:solidFill>
              </a:rPr>
              <a:t>u</a:t>
            </a:r>
            <a:r>
              <a:rPr kumimoji="1" lang="zh-CN" altLang="en-US" i="0" dirty="0">
                <a:solidFill>
                  <a:srgbClr val="FF0000"/>
                </a:solidFill>
              </a:rPr>
              <a:t>＜</a:t>
            </a:r>
            <a:r>
              <a:rPr kumimoji="1" lang="en-US" altLang="zh-CN" i="0" dirty="0">
                <a:solidFill>
                  <a:srgbClr val="FF3300"/>
                </a:solidFill>
              </a:rPr>
              <a:t>0 </a:t>
            </a:r>
            <a:r>
              <a:rPr kumimoji="1" lang="zh-CN" altLang="en-US" i="0" dirty="0"/>
              <a:t>时，反向电流很小，且基本不随反向电压的变化而变化，此时的反向电流也称</a:t>
            </a:r>
            <a:r>
              <a:rPr kumimoji="1" lang="zh-CN" altLang="en-US" i="0" dirty="0">
                <a:solidFill>
                  <a:srgbClr val="FF3300"/>
                </a:solidFill>
              </a:rPr>
              <a:t>反向饱和电流</a:t>
            </a:r>
            <a:endParaRPr kumimoji="1" lang="zh-CN" altLang="en-US" i="0" dirty="0"/>
          </a:p>
          <a:p>
            <a:pPr eaLnBrk="1" hangingPunct="1"/>
            <a:r>
              <a:rPr kumimoji="1" lang="zh-CN" altLang="en-US" i="0" dirty="0"/>
              <a:t>当 </a:t>
            </a:r>
            <a:r>
              <a:rPr kumimoji="1" lang="en-US" altLang="zh-CN" i="0" dirty="0"/>
              <a:t>-</a:t>
            </a:r>
            <a:r>
              <a:rPr kumimoji="1" lang="en-US" altLang="zh-CN" i="0" dirty="0">
                <a:solidFill>
                  <a:srgbClr val="FF0000"/>
                </a:solidFill>
              </a:rPr>
              <a:t>u &lt;= -V_{BR} </a:t>
            </a:r>
            <a:r>
              <a:rPr kumimoji="1" lang="zh-CN" altLang="en-US" i="0" dirty="0"/>
              <a:t>时，反向电流急剧增加，</a:t>
            </a:r>
            <a:r>
              <a:rPr kumimoji="1" lang="en-US" altLang="zh-CN" i="0" dirty="0">
                <a:solidFill>
                  <a:srgbClr val="FF0000"/>
                </a:solidFill>
              </a:rPr>
              <a:t>V_{BR} </a:t>
            </a:r>
            <a:r>
              <a:rPr kumimoji="1" lang="zh-CN" altLang="en-US" i="0" dirty="0"/>
              <a:t>称为</a:t>
            </a:r>
            <a:r>
              <a:rPr kumimoji="1" lang="zh-CN" altLang="en-US" i="0" dirty="0">
                <a:solidFill>
                  <a:srgbClr val="FF3300"/>
                </a:solidFill>
              </a:rPr>
              <a:t>反向击穿电压</a:t>
            </a:r>
            <a:endParaRPr kumimoji="1" lang="en-US" altLang="zh-CN" i="0" dirty="0"/>
          </a:p>
          <a:p>
            <a:pPr eaLnBrk="1" hangingPunct="1"/>
            <a:endParaRPr kumimoji="1" lang="en-US" altLang="zh-CN" i="0" dirty="0"/>
          </a:p>
          <a:p>
            <a:pPr eaLnBrk="1" hangingPunct="1"/>
            <a:r>
              <a:rPr kumimoji="1" lang="zh-CN" altLang="en-US" i="0" dirty="0"/>
              <a:t>在一定的温度条件下，由本征激发决定的少子浓度是一定的，故少子形成的漂移电流是恒定的，基本上与所加反向电压的大小无关，这个电流也称为反向饱和电流</a:t>
            </a:r>
            <a:endParaRPr kumimoji="1" lang="en-US" altLang="zh-CN" i="0" dirty="0"/>
          </a:p>
          <a:p>
            <a:pPr eaLnBrk="1" hangingPunct="1"/>
            <a:endParaRPr kumimoji="1" lang="en-US" altLang="zh-CN" i="0" dirty="0"/>
          </a:p>
          <a:p>
            <a:pPr eaLnBrk="1" hangingPunct="1"/>
            <a:r>
              <a:rPr kumimoji="1" lang="zh-CN" altLang="en-US" i="0" dirty="0"/>
              <a:t>硅管的反向电流比锗管的小很多</a:t>
            </a:r>
            <a:endParaRPr kumimoji="1" lang="en-US" altLang="zh-CN" i="0" dirty="0"/>
          </a:p>
          <a:p>
            <a:pPr eaLnBrk="1" hangingPunct="1"/>
            <a:endParaRPr kumimoji="1" lang="en-US" altLang="zh-CN" i="0" dirty="0"/>
          </a:p>
          <a:p>
            <a:pPr eaLnBrk="1" hangingPunct="1"/>
            <a:r>
              <a:rPr kumimoji="1" lang="zh-CN" altLang="en-US" i="0" dirty="0"/>
              <a:t>当 </a:t>
            </a:r>
            <a:r>
              <a:rPr kumimoji="1" lang="en-US" altLang="zh-CN" i="0" dirty="0"/>
              <a:t>PN </a:t>
            </a:r>
            <a:r>
              <a:rPr kumimoji="1" lang="zh-CN" altLang="en-US" i="0" dirty="0"/>
              <a:t>结的反向电压增加到一定数值时，反向电流突然快速增加，此现象称为</a:t>
            </a:r>
            <a:r>
              <a:rPr kumimoji="1" lang="en-US" altLang="zh-CN" i="0" dirty="0"/>
              <a:t>PN</a:t>
            </a:r>
            <a:r>
              <a:rPr kumimoji="1" lang="zh-CN" altLang="en-US" i="0" dirty="0"/>
              <a:t>结的反向击穿</a:t>
            </a:r>
            <a:endParaRPr kumimoji="1" lang="en-US" altLang="zh-CN" i="0" dirty="0"/>
          </a:p>
          <a:p>
            <a:pPr eaLnBrk="1" hangingPunct="1"/>
            <a:r>
              <a:rPr kumimoji="1" lang="zh-CN" altLang="en-US" i="0" dirty="0"/>
              <a:t>电击穿（雪崩或齐纳）：可逆</a:t>
            </a:r>
            <a:endParaRPr kumimoji="1" lang="en-US" altLang="zh-CN" i="0" dirty="0"/>
          </a:p>
          <a:p>
            <a:pPr eaLnBrk="1" hangingPunct="1"/>
            <a:r>
              <a:rPr kumimoji="1" lang="zh-CN" altLang="en-US" i="0" dirty="0"/>
              <a:t>热击穿：不可逆</a:t>
            </a:r>
            <a:endParaRPr kumimoji="1" lang="en-US" altLang="zh-CN" i="0" dirty="0"/>
          </a:p>
          <a:p>
            <a:pPr eaLnBrk="1" hangingPunct="1"/>
            <a:endParaRPr kumimoji="1" lang="en-US" altLang="zh-CN" i="0" dirty="0"/>
          </a:p>
          <a:p>
            <a:pPr eaLnBrk="1" hangingPunct="1"/>
            <a:r>
              <a:rPr kumimoji="1" lang="zh-CN" altLang="en-US" i="0" dirty="0"/>
              <a:t>齐纳击穿比雪崩击穿更容易控制和加以利用（后面的齐纳二极管</a:t>
            </a:r>
            <a:r>
              <a:rPr kumimoji="1" lang="en-US" altLang="zh-CN" i="0" dirty="0"/>
              <a:t>/</a:t>
            </a:r>
            <a:r>
              <a:rPr kumimoji="1" lang="zh-CN" altLang="en-US" i="0" dirty="0"/>
              <a:t>稳压二极管）</a:t>
            </a:r>
            <a:endParaRPr kumimoji="1" lang="en-US" altLang="zh-CN" i="0" dirty="0"/>
          </a:p>
          <a:p>
            <a:pPr eaLnBrk="1" hangingPunct="1"/>
            <a:endParaRPr kumimoji="1" lang="en-US" altLang="zh-CN" i="0" dirty="0"/>
          </a:p>
          <a:p>
            <a:pPr eaLnBrk="1" hangingPunct="1"/>
            <a:endParaRPr lang="zh-CN" altLang="en-US" i="0" dirty="0"/>
          </a:p>
        </p:txBody>
      </p:sp>
      <p:sp>
        <p:nvSpPr>
          <p:cNvPr id="4" name="灯片编号占位符 3">
            <a:extLst>
              <a:ext uri="{FF2B5EF4-FFF2-40B4-BE49-F238E27FC236}">
                <a16:creationId xmlns:a16="http://schemas.microsoft.com/office/drawing/2014/main" id="{EFE63E0C-2276-5B55-6003-95F179AE33B7}"/>
              </a:ext>
            </a:extLst>
          </p:cNvPr>
          <p:cNvSpPr>
            <a:spLocks noGrp="1"/>
          </p:cNvSpPr>
          <p:nvPr>
            <p:ph type="sldNum" sz="quarter" idx="5"/>
          </p:nvPr>
        </p:nvSpPr>
        <p:spPr/>
        <p:txBody>
          <a:bodyPr/>
          <a:lstStyle/>
          <a:p>
            <a:fld id="{6AF8E926-3218-4A05-BE3C-00B734B06F20}" type="slidenum">
              <a:rPr lang="zh-CN" altLang="en-US" smtClean="0"/>
              <a:t>14</a:t>
            </a:fld>
            <a:endParaRPr lang="zh-CN" altLang="en-US"/>
          </a:p>
        </p:txBody>
      </p:sp>
    </p:spTree>
    <p:extLst>
      <p:ext uri="{BB962C8B-B14F-4D97-AF65-F5344CB8AC3E}">
        <p14:creationId xmlns:p14="http://schemas.microsoft.com/office/powerpoint/2010/main" val="7939672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81DC3-1749-5CB2-24F4-6040356C2FC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5200921-6EE6-96FD-DA6E-A376658C2FB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71AC72B-B18D-8CAE-8598-C10F886F25AD}"/>
              </a:ext>
            </a:extLst>
          </p:cNvPr>
          <p:cNvSpPr>
            <a:spLocks noGrp="1"/>
          </p:cNvSpPr>
          <p:nvPr>
            <p:ph type="body" idx="1"/>
          </p:nvPr>
        </p:nvSpPr>
        <p:spPr/>
        <p:txBody>
          <a:bodyPr/>
          <a:lstStyle/>
          <a:p>
            <a:pPr eaLnBrk="1" hangingPunct="1"/>
            <a:r>
              <a:rPr lang="zh-CN" altLang="en-US" dirty="0">
                <a:solidFill>
                  <a:srgbClr val="3333FF"/>
                </a:solidFill>
                <a:latin typeface="黑体" panose="02010609060101010101" pitchFamily="49" charset="-122"/>
                <a:ea typeface="黑体" panose="02010609060101010101" pitchFamily="49" charset="-122"/>
              </a:rPr>
              <a:t>最高工作频率 </a:t>
            </a:r>
            <a:r>
              <a:rPr lang="en-US" altLang="zh-CN" dirty="0" err="1">
                <a:solidFill>
                  <a:srgbClr val="3333FF"/>
                </a:solidFill>
                <a:latin typeface="黑体" panose="02010609060101010101" pitchFamily="49" charset="-122"/>
                <a:ea typeface="黑体" panose="02010609060101010101" pitchFamily="49" charset="-122"/>
              </a:rPr>
              <a:t>f_M</a:t>
            </a:r>
            <a:r>
              <a:rPr lang="zh-CN" altLang="en-US" dirty="0">
                <a:solidFill>
                  <a:srgbClr val="3333FF"/>
                </a:solidFill>
                <a:ea typeface="黑体" panose="02010609060101010101" pitchFamily="49" charset="-122"/>
              </a:rPr>
              <a:t>：</a:t>
            </a:r>
            <a:r>
              <a:rPr lang="zh-CN" altLang="en-US" dirty="0">
                <a:solidFill>
                  <a:srgbClr val="3333FF"/>
                </a:solidFill>
                <a:latin typeface="黑体" panose="02010609060101010101" pitchFamily="49" charset="-122"/>
                <a:ea typeface="黑体" panose="02010609060101010101" pitchFamily="49" charset="-122"/>
              </a:rPr>
              <a:t>二极管工作在高频时，电流容易从结电容通过，使管子的单向导电性能变差，甚至可能失去单向导电性，为此规定一个最高工作频率，它主要决定于 </a:t>
            </a:r>
            <a:r>
              <a:rPr lang="en-US" altLang="zh-CN" dirty="0">
                <a:solidFill>
                  <a:srgbClr val="3333FF"/>
                </a:solidFill>
                <a:latin typeface="黑体" panose="02010609060101010101" pitchFamily="49" charset="-122"/>
                <a:ea typeface="黑体" panose="02010609060101010101" pitchFamily="49" charset="-122"/>
              </a:rPr>
              <a:t>PN </a:t>
            </a:r>
            <a:r>
              <a:rPr lang="zh-CN" altLang="en-US" dirty="0">
                <a:solidFill>
                  <a:srgbClr val="3333FF"/>
                </a:solidFill>
                <a:latin typeface="黑体" panose="02010609060101010101" pitchFamily="49" charset="-122"/>
                <a:ea typeface="黑体" panose="02010609060101010101" pitchFamily="49" charset="-122"/>
              </a:rPr>
              <a:t>结结电容的大小，结电容愈大，则</a:t>
            </a:r>
            <a:r>
              <a:rPr lang="en-US" altLang="zh-CN" dirty="0">
                <a:solidFill>
                  <a:srgbClr val="3333FF"/>
                </a:solidFill>
                <a:latin typeface="黑体" panose="02010609060101010101" pitchFamily="49" charset="-122"/>
                <a:ea typeface="黑体" panose="02010609060101010101" pitchFamily="49" charset="-122"/>
              </a:rPr>
              <a:t> </a:t>
            </a:r>
            <a:r>
              <a:rPr lang="en-US" altLang="zh-CN" dirty="0" err="1">
                <a:solidFill>
                  <a:srgbClr val="3333FF"/>
                </a:solidFill>
                <a:latin typeface="黑体" panose="02010609060101010101" pitchFamily="49" charset="-122"/>
                <a:ea typeface="黑体" panose="02010609060101010101" pitchFamily="49" charset="-122"/>
              </a:rPr>
              <a:t>f_M</a:t>
            </a:r>
            <a:r>
              <a:rPr lang="en-US" altLang="zh-CN" dirty="0">
                <a:solidFill>
                  <a:srgbClr val="3333FF"/>
                </a:solidFill>
                <a:latin typeface="黑体" panose="02010609060101010101" pitchFamily="49" charset="-122"/>
                <a:ea typeface="黑体" panose="02010609060101010101" pitchFamily="49" charset="-122"/>
              </a:rPr>
              <a:t> </a:t>
            </a:r>
            <a:r>
              <a:rPr lang="zh-CN" altLang="en-US" dirty="0">
                <a:solidFill>
                  <a:srgbClr val="3333FF"/>
                </a:solidFill>
                <a:latin typeface="黑体" panose="02010609060101010101" pitchFamily="49" charset="-122"/>
                <a:ea typeface="黑体" panose="02010609060101010101" pitchFamily="49" charset="-122"/>
              </a:rPr>
              <a:t>愈低</a:t>
            </a:r>
            <a:endParaRPr lang="en-US" altLang="zh-CN" dirty="0">
              <a:solidFill>
                <a:srgbClr val="3333FF"/>
              </a:solidFill>
              <a:latin typeface="黑体" panose="02010609060101010101" pitchFamily="49" charset="-122"/>
              <a:ea typeface="黑体" panose="02010609060101010101" pitchFamily="49" charset="-122"/>
            </a:endParaRPr>
          </a:p>
          <a:p>
            <a:pPr eaLnBrk="1" hangingPunct="1"/>
            <a:endParaRPr lang="zh-CN" altLang="en-US" dirty="0">
              <a:solidFill>
                <a:srgbClr val="3333FF"/>
              </a:solidFill>
              <a:latin typeface="黑体" panose="02010609060101010101" pitchFamily="49" charset="-122"/>
              <a:ea typeface="黑体" panose="02010609060101010101" pitchFamily="49" charset="-122"/>
            </a:endParaRPr>
          </a:p>
          <a:p>
            <a:pPr algn="just" eaLnBrk="1" hangingPunct="1"/>
            <a:r>
              <a:rPr lang="zh-CN" altLang="en-US" dirty="0">
                <a:solidFill>
                  <a:srgbClr val="3333FF"/>
                </a:solidFill>
                <a:latin typeface="黑体" panose="02010609060101010101" pitchFamily="49" charset="-122"/>
                <a:ea typeface="黑体" panose="02010609060101010101" pitchFamily="49" charset="-122"/>
              </a:rPr>
              <a:t>二极管的参数还有结电容及最高结温等</a:t>
            </a:r>
            <a:endParaRPr lang="en-US" altLang="zh-CN" dirty="0">
              <a:solidFill>
                <a:srgbClr val="3333FF"/>
              </a:solidFill>
              <a:latin typeface="黑体" panose="02010609060101010101" pitchFamily="49" charset="-122"/>
              <a:ea typeface="黑体" panose="02010609060101010101" pitchFamily="49" charset="-122"/>
            </a:endParaRPr>
          </a:p>
          <a:p>
            <a:pPr algn="just" eaLnBrk="1" hangingPunct="1"/>
            <a:endParaRPr lang="en-US" altLang="zh-CN" dirty="0">
              <a:solidFill>
                <a:srgbClr val="3333FF"/>
              </a:solidFill>
              <a:latin typeface="黑体" panose="02010609060101010101" pitchFamily="49" charset="-122"/>
              <a:ea typeface="黑体" panose="02010609060101010101" pitchFamily="49" charset="-122"/>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1" lang="zh-CN" altLang="en-US" dirty="0">
                <a:latin typeface="宋体" panose="02010600030101010101" pitchFamily="2" charset="-122"/>
              </a:rPr>
              <a:t>通常认为，硅管的正向压降约为 </a:t>
            </a:r>
            <a:r>
              <a:rPr kumimoji="1" lang="en-US" altLang="zh-CN" dirty="0">
                <a:latin typeface="宋体" panose="02010600030101010101" pitchFamily="2" charset="-122"/>
              </a:rPr>
              <a:t>0.7 V</a:t>
            </a:r>
            <a:r>
              <a:rPr kumimoji="1" lang="zh-CN" altLang="en-US" dirty="0">
                <a:latin typeface="宋体" panose="02010600030101010101" pitchFamily="2" charset="-122"/>
              </a:rPr>
              <a:t>，锗管约为 </a:t>
            </a:r>
            <a:r>
              <a:rPr kumimoji="1" lang="en-US" altLang="zh-CN" dirty="0">
                <a:latin typeface="宋体" panose="02010600030101010101" pitchFamily="2" charset="-122"/>
              </a:rPr>
              <a:t>0.2 V</a:t>
            </a:r>
          </a:p>
          <a:p>
            <a:pPr algn="just" eaLnBrk="1" hangingPunct="1"/>
            <a:endParaRPr lang="en-US" altLang="zh-CN" dirty="0">
              <a:solidFill>
                <a:srgbClr val="3333FF"/>
              </a:solidFill>
              <a:latin typeface="黑体" panose="02010609060101010101" pitchFamily="49" charset="-122"/>
              <a:ea typeface="黑体" panose="02010609060101010101" pitchFamily="49" charset="-122"/>
            </a:endParaRPr>
          </a:p>
          <a:p>
            <a:pPr algn="just" eaLnBrk="1" hangingPunct="1"/>
            <a:r>
              <a:rPr kumimoji="1" lang="zh-CN" altLang="en-US" sz="1000" b="1" dirty="0">
                <a:latin typeface="宋体" panose="02010600030101010101" pitchFamily="2" charset="-122"/>
              </a:rPr>
              <a:t>为安全计，在实际工作时，最大反向工作电压一般只按反向击穿电压 </a:t>
            </a:r>
            <a:r>
              <a:rPr kumimoji="1" lang="en-US" altLang="zh-CN" sz="1000" b="1" dirty="0">
                <a:latin typeface="宋体" panose="02010600030101010101" pitchFamily="2" charset="-122"/>
              </a:rPr>
              <a:t>V_{BR} </a:t>
            </a:r>
            <a:r>
              <a:rPr kumimoji="1" lang="zh-CN" altLang="en-US" sz="1000" b="1" dirty="0">
                <a:latin typeface="宋体" panose="02010600030101010101" pitchFamily="2" charset="-122"/>
              </a:rPr>
              <a:t>的一半计算</a:t>
            </a:r>
          </a:p>
          <a:p>
            <a:pPr eaLnBrk="1" hangingPunct="1"/>
            <a:endParaRPr kumimoji="1" lang="en-US" altLang="zh-CN" dirty="0">
              <a:latin typeface="宋体" panose="02010600030101010101" pitchFamily="2" charset="-122"/>
            </a:endParaRPr>
          </a:p>
          <a:p>
            <a:pPr eaLnBrk="1" hangingPunct="1"/>
            <a:endParaRPr kumimoji="1" lang="zh-CN" altLang="en-US" dirty="0">
              <a:latin typeface="宋体" panose="02010600030101010101" pitchFamily="2" charset="-122"/>
            </a:endParaRPr>
          </a:p>
        </p:txBody>
      </p:sp>
      <p:sp>
        <p:nvSpPr>
          <p:cNvPr id="4" name="灯片编号占位符 3">
            <a:extLst>
              <a:ext uri="{FF2B5EF4-FFF2-40B4-BE49-F238E27FC236}">
                <a16:creationId xmlns:a16="http://schemas.microsoft.com/office/drawing/2014/main" id="{64974E6F-6FC9-70E2-06A8-8FFF6E786077}"/>
              </a:ext>
            </a:extLst>
          </p:cNvPr>
          <p:cNvSpPr>
            <a:spLocks noGrp="1"/>
          </p:cNvSpPr>
          <p:nvPr>
            <p:ph type="sldNum" sz="quarter" idx="5"/>
          </p:nvPr>
        </p:nvSpPr>
        <p:spPr/>
        <p:txBody>
          <a:bodyPr/>
          <a:lstStyle/>
          <a:p>
            <a:fld id="{6AF8E926-3218-4A05-BE3C-00B734B06F20}" type="slidenum">
              <a:rPr lang="zh-CN" altLang="en-US" smtClean="0"/>
              <a:t>15</a:t>
            </a:fld>
            <a:endParaRPr lang="zh-CN" altLang="en-US"/>
          </a:p>
        </p:txBody>
      </p:sp>
    </p:spTree>
    <p:extLst>
      <p:ext uri="{BB962C8B-B14F-4D97-AF65-F5344CB8AC3E}">
        <p14:creationId xmlns:p14="http://schemas.microsoft.com/office/powerpoint/2010/main" val="18178196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471FB-6BA7-ED35-A8E1-24B4CCAD913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3DEC428-C572-404B-A564-F6409DD7959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76A5486-E253-9835-7C5D-57584C86E61F}"/>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796401B-7784-46EE-86B8-A48AB6870D4F}"/>
              </a:ext>
            </a:extLst>
          </p:cNvPr>
          <p:cNvSpPr>
            <a:spLocks noGrp="1"/>
          </p:cNvSpPr>
          <p:nvPr>
            <p:ph type="sldNum" sz="quarter" idx="5"/>
          </p:nvPr>
        </p:nvSpPr>
        <p:spPr/>
        <p:txBody>
          <a:bodyPr/>
          <a:lstStyle/>
          <a:p>
            <a:fld id="{6AF8E926-3218-4A05-BE3C-00B734B06F20}" type="slidenum">
              <a:rPr lang="zh-CN" altLang="en-US" smtClean="0"/>
              <a:t>16</a:t>
            </a:fld>
            <a:endParaRPr lang="zh-CN" altLang="en-US"/>
          </a:p>
        </p:txBody>
      </p:sp>
    </p:spTree>
    <p:extLst>
      <p:ext uri="{BB962C8B-B14F-4D97-AF65-F5344CB8AC3E}">
        <p14:creationId xmlns:p14="http://schemas.microsoft.com/office/powerpoint/2010/main" val="25337015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4EA96-BA16-0BA7-7167-8701FF50441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3303EA1-74F3-27A2-92FD-A6320FF72FD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9C99572-8B58-F3E6-0391-00DBB7F22F5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57436CB-275C-12AC-8895-44E77C1CB458}"/>
              </a:ext>
            </a:extLst>
          </p:cNvPr>
          <p:cNvSpPr>
            <a:spLocks noGrp="1"/>
          </p:cNvSpPr>
          <p:nvPr>
            <p:ph type="sldNum" sz="quarter" idx="5"/>
          </p:nvPr>
        </p:nvSpPr>
        <p:spPr/>
        <p:txBody>
          <a:bodyPr/>
          <a:lstStyle/>
          <a:p>
            <a:fld id="{6AF8E926-3218-4A05-BE3C-00B734B06F20}" type="slidenum">
              <a:rPr lang="zh-CN" altLang="en-US" smtClean="0"/>
              <a:t>17</a:t>
            </a:fld>
            <a:endParaRPr lang="zh-CN" altLang="en-US"/>
          </a:p>
        </p:txBody>
      </p:sp>
    </p:spTree>
    <p:extLst>
      <p:ext uri="{BB962C8B-B14F-4D97-AF65-F5344CB8AC3E}">
        <p14:creationId xmlns:p14="http://schemas.microsoft.com/office/powerpoint/2010/main" val="6830448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6825A-F1CD-9B34-8974-879CC50E328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C7216DD-1B9C-FC19-BE17-F7BBE5B34C0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3230308-9944-2DBA-3940-2B9864A1DFA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0C6829B-3769-36E5-6169-83D213795F8B}"/>
              </a:ext>
            </a:extLst>
          </p:cNvPr>
          <p:cNvSpPr>
            <a:spLocks noGrp="1"/>
          </p:cNvSpPr>
          <p:nvPr>
            <p:ph type="sldNum" sz="quarter" idx="5"/>
          </p:nvPr>
        </p:nvSpPr>
        <p:spPr/>
        <p:txBody>
          <a:bodyPr/>
          <a:lstStyle/>
          <a:p>
            <a:fld id="{6AF8E926-3218-4A05-BE3C-00B734B06F20}" type="slidenum">
              <a:rPr lang="zh-CN" altLang="en-US" smtClean="0"/>
              <a:t>18</a:t>
            </a:fld>
            <a:endParaRPr lang="zh-CN" altLang="en-US"/>
          </a:p>
        </p:txBody>
      </p:sp>
    </p:spTree>
    <p:extLst>
      <p:ext uri="{BB962C8B-B14F-4D97-AF65-F5344CB8AC3E}">
        <p14:creationId xmlns:p14="http://schemas.microsoft.com/office/powerpoint/2010/main" val="1292745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1C15F-EFC0-682A-8911-E3C955C34FD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C9A67ED-D9AA-4BAF-ABDE-380A976E885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1044D51-CD47-087B-5BF6-BCECD528383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9C3879D-A4F8-09AF-0543-F3F2FD4AC710}"/>
              </a:ext>
            </a:extLst>
          </p:cNvPr>
          <p:cNvSpPr>
            <a:spLocks noGrp="1"/>
          </p:cNvSpPr>
          <p:nvPr>
            <p:ph type="sldNum" sz="quarter" idx="5"/>
          </p:nvPr>
        </p:nvSpPr>
        <p:spPr/>
        <p:txBody>
          <a:bodyPr/>
          <a:lstStyle/>
          <a:p>
            <a:fld id="{6AF8E926-3218-4A05-BE3C-00B734B06F20}" type="slidenum">
              <a:rPr lang="zh-CN" altLang="en-US" smtClean="0"/>
              <a:t>19</a:t>
            </a:fld>
            <a:endParaRPr lang="zh-CN" altLang="en-US"/>
          </a:p>
        </p:txBody>
      </p:sp>
    </p:spTree>
    <p:extLst>
      <p:ext uri="{BB962C8B-B14F-4D97-AF65-F5344CB8AC3E}">
        <p14:creationId xmlns:p14="http://schemas.microsoft.com/office/powerpoint/2010/main" val="26491821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2FE0D-E52D-2B4F-2851-70E0123A712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F16006C-A574-DAE8-5E4B-6E0B9480A531}"/>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a:extLst>
                  <a:ext uri="{FF2B5EF4-FFF2-40B4-BE49-F238E27FC236}">
                    <a16:creationId xmlns:a16="http://schemas.microsoft.com/office/drawing/2014/main" id="{187E5FB9-1418-26DD-85A6-DD0B332B2B09}"/>
                  </a:ext>
                </a:extLst>
              </p:cNvPr>
              <p:cNvSpPr>
                <a:spLocks noGrp="1"/>
              </p:cNvSpPr>
              <p:nvPr>
                <p:ph type="body" idx="1"/>
              </p:nvPr>
            </p:nvSpPr>
            <p:spPr/>
            <p:txBody>
              <a:bodyPr/>
              <a:lstStyle/>
              <a:p>
                <a:pPr eaLnBrk="1" hangingPunct="1">
                  <a:lnSpc>
                    <a:spcPct val="130000"/>
                  </a:lnSpc>
                </a:pPr>
                <a:r>
                  <a:rPr lang="zh-CN" altLang="en-US" dirty="0">
                    <a:solidFill>
                      <a:srgbClr val="3333FF"/>
                    </a:solidFill>
                    <a:latin typeface="黑体" panose="02010609060101010101" pitchFamily="49" charset="-122"/>
                    <a:ea typeface="黑体" panose="02010609060101010101" pitchFamily="49" charset="-122"/>
                  </a:rPr>
                  <a:t>二极管小信号模型仅用于分析电路的的变化状态，不能用来分析电路的静态（直流）</a:t>
                </a:r>
                <a:endParaRPr lang="en-US" altLang="zh-CN" dirty="0">
                  <a:solidFill>
                    <a:srgbClr val="3333FF"/>
                  </a:solidFill>
                  <a:latin typeface="黑体" panose="02010609060101010101" pitchFamily="49" charset="-122"/>
                  <a:ea typeface="黑体" panose="02010609060101010101" pitchFamily="49" charset="-122"/>
                </a:endParaRPr>
              </a:p>
              <a:p>
                <a:pPr eaLnBrk="1" hangingPunct="1">
                  <a:lnSpc>
                    <a:spcPct val="130000"/>
                  </a:lnSpc>
                </a:pPr>
                <a:endParaRPr lang="en-US" altLang="zh-CN" dirty="0">
                  <a:solidFill>
                    <a:srgbClr val="3333FF"/>
                  </a:solidFill>
                  <a:latin typeface="黑体" panose="02010609060101010101" pitchFamily="49" charset="-122"/>
                  <a:ea typeface="黑体" panose="02010609060101010101" pitchFamily="49" charset="-122"/>
                </a:endParaRPr>
              </a:p>
              <a:p>
                <a:pPr eaLnBrk="1" hangingPunct="1">
                  <a:lnSpc>
                    <a:spcPct val="130000"/>
                  </a:lnSpc>
                </a:pPr>
                <a:r>
                  <a:rPr lang="zh-CN" altLang="en-US" dirty="0">
                    <a:solidFill>
                      <a:srgbClr val="3333FF"/>
                    </a:solidFill>
                    <a:latin typeface="黑体" panose="02010609060101010101" pitchFamily="49" charset="-122"/>
                    <a:ea typeface="黑体" panose="02010609060101010101" pitchFamily="49" charset="-122"/>
                  </a:rPr>
                  <a:t>该模型主要用于二极管处于正偏，且 </a:t>
                </a:r>
                <a14:m>
                  <m:oMath xmlns:m="http://schemas.openxmlformats.org/officeDocument/2006/math">
                    <m:sSub>
                      <m:sSubPr>
                        <m:ctrlPr>
                          <a:rPr kumimoji="1" lang="en-US" altLang="zh-CN" sz="1200" b="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1200" b="0" i="1">
                            <a:solidFill>
                              <a:schemeClr val="accent5">
                                <a:lumMod val="75000"/>
                              </a:schemeClr>
                            </a:solidFill>
                            <a:latin typeface="Cambria Math" panose="02040503050406030204" pitchFamily="18" charset="0"/>
                            <a:ea typeface="微软雅黑" panose="020B0503020204020204" pitchFamily="34" charset="-122"/>
                          </a:rPr>
                          <m:t>𝑣</m:t>
                        </m:r>
                      </m:e>
                      <m:sub>
                        <m:r>
                          <m:rPr>
                            <m:sty m:val="p"/>
                          </m:rPr>
                          <a:rPr kumimoji="1" lang="en-US" altLang="zh-CN" sz="1200" b="0" i="0" smtClean="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sz="1200" b="0" i="1" smtClean="0">
                        <a:solidFill>
                          <a:schemeClr val="accent5">
                            <a:lumMod val="75000"/>
                          </a:schemeClr>
                        </a:solidFill>
                        <a:latin typeface="Cambria Math" panose="02040503050406030204" pitchFamily="18" charset="0"/>
                        <a:ea typeface="Cambria Math" panose="02040503050406030204" pitchFamily="18" charset="0"/>
                      </a:rPr>
                      <m:t>≫</m:t>
                    </m:r>
                    <m:sSub>
                      <m:sSubPr>
                        <m:ctrlPr>
                          <a:rPr kumimoji="1" lang="en-US" altLang="zh-CN" sz="1200" b="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1200" b="0" i="1" smtClean="0">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1200" b="0" i="0" smtClean="0">
                            <a:solidFill>
                              <a:schemeClr val="accent5">
                                <a:lumMod val="75000"/>
                              </a:schemeClr>
                            </a:solidFill>
                            <a:latin typeface="Cambria Math" panose="02040503050406030204" pitchFamily="18" charset="0"/>
                            <a:ea typeface="微软雅黑" panose="020B0503020204020204" pitchFamily="34" charset="-122"/>
                          </a:rPr>
                          <m:t>th</m:t>
                        </m:r>
                      </m:sub>
                    </m:sSub>
                  </m:oMath>
                </a14:m>
                <a:r>
                  <a:rPr lang="zh-CN" altLang="en-US" dirty="0">
                    <a:solidFill>
                      <a:srgbClr val="3333FF"/>
                    </a:solidFill>
                    <a:latin typeface="黑体" panose="02010609060101010101" pitchFamily="49" charset="-122"/>
                    <a:ea typeface="黑体" panose="02010609060101010101" pitchFamily="49" charset="-122"/>
                  </a:rPr>
                  <a:t> 条件下</a:t>
                </a:r>
              </a:p>
              <a:p>
                <a:endParaRPr lang="zh-CN" altLang="en-US" dirty="0"/>
              </a:p>
            </p:txBody>
          </p:sp>
        </mc:Choice>
        <mc:Fallback xmlns="">
          <p:sp>
            <p:nvSpPr>
              <p:cNvPr id="3" name="备注占位符 2">
                <a:extLst>
                  <a:ext uri="{FF2B5EF4-FFF2-40B4-BE49-F238E27FC236}">
                    <a16:creationId xmlns:a16="http://schemas.microsoft.com/office/drawing/2014/main" id="{621EB205-8E62-3E3E-61C4-668264CFCB06}"/>
                  </a:ext>
                </a:extLst>
              </p:cNvPr>
              <p:cNvSpPr>
                <a:spLocks noGrp="1"/>
              </p:cNvSpPr>
              <p:nvPr>
                <p:ph type="body" idx="1"/>
              </p:nvPr>
            </p:nvSpPr>
            <p:spPr/>
            <p:txBody>
              <a:bodyPr/>
              <a:lstStyle/>
              <a:p>
                <a:pPr eaLnBrk="1" hangingPunct="1">
                  <a:lnSpc>
                    <a:spcPct val="130000"/>
                  </a:lnSpc>
                </a:pPr>
                <a:r>
                  <a:rPr lang="zh-CN" altLang="en-US" dirty="0">
                    <a:solidFill>
                      <a:srgbClr val="3333FF"/>
                    </a:solidFill>
                    <a:latin typeface="黑体" panose="02010609060101010101" pitchFamily="49" charset="-122"/>
                    <a:ea typeface="黑体" panose="02010609060101010101" pitchFamily="49" charset="-122"/>
                  </a:rPr>
                  <a:t>二极管小信号模型仅用于分析电路的的变化状态，不能用来分析电路的静态（直流）</a:t>
                </a:r>
                <a:endParaRPr lang="en-US" altLang="zh-CN" dirty="0">
                  <a:solidFill>
                    <a:srgbClr val="3333FF"/>
                  </a:solidFill>
                  <a:latin typeface="黑体" panose="02010609060101010101" pitchFamily="49" charset="-122"/>
                  <a:ea typeface="黑体" panose="02010609060101010101" pitchFamily="49" charset="-122"/>
                </a:endParaRPr>
              </a:p>
              <a:p>
                <a:pPr eaLnBrk="1" hangingPunct="1">
                  <a:lnSpc>
                    <a:spcPct val="130000"/>
                  </a:lnSpc>
                </a:pPr>
                <a:r>
                  <a:rPr lang="zh-CN" altLang="en-US" dirty="0">
                    <a:solidFill>
                      <a:srgbClr val="3333FF"/>
                    </a:solidFill>
                    <a:latin typeface="黑体" panose="02010609060101010101" pitchFamily="49" charset="-122"/>
                    <a:ea typeface="黑体" panose="02010609060101010101" pitchFamily="49" charset="-122"/>
                  </a:rPr>
                  <a:t>该模型主要用于二极管处于正偏，且 </a:t>
                </a:r>
                <a:r>
                  <a:rPr kumimoji="1" lang="en-US" altLang="zh-CN" sz="1200" b="0" i="0">
                    <a:solidFill>
                      <a:schemeClr val="accent5">
                        <a:lumMod val="75000"/>
                      </a:schemeClr>
                    </a:solidFill>
                    <a:latin typeface="Cambria Math" panose="02040503050406030204" pitchFamily="18" charset="0"/>
                    <a:ea typeface="微软雅黑" panose="020B0503020204020204" pitchFamily="34" charset="-122"/>
                  </a:rPr>
                  <a:t>𝑣_D</a:t>
                </a:r>
                <a:r>
                  <a:rPr kumimoji="1" lang="en-US" altLang="zh-CN" sz="1200" b="0" i="0">
                    <a:solidFill>
                      <a:schemeClr val="accent5">
                        <a:lumMod val="75000"/>
                      </a:schemeClr>
                    </a:solidFill>
                    <a:latin typeface="Cambria Math" panose="02040503050406030204" pitchFamily="18" charset="0"/>
                    <a:ea typeface="Cambria Math" panose="02040503050406030204" pitchFamily="18" charset="0"/>
                  </a:rPr>
                  <a:t>≫</a:t>
                </a:r>
                <a:r>
                  <a:rPr kumimoji="1" lang="en-US" altLang="zh-CN" sz="1200" b="0" i="0">
                    <a:solidFill>
                      <a:schemeClr val="accent5">
                        <a:lumMod val="75000"/>
                      </a:schemeClr>
                    </a:solidFill>
                    <a:latin typeface="Cambria Math" panose="02040503050406030204" pitchFamily="18" charset="0"/>
                    <a:ea typeface="微软雅黑" panose="020B0503020204020204" pitchFamily="34" charset="-122"/>
                  </a:rPr>
                  <a:t>𝑉_T</a:t>
                </a:r>
                <a:r>
                  <a:rPr lang="zh-CN" altLang="en-US" dirty="0">
                    <a:solidFill>
                      <a:srgbClr val="3333FF"/>
                    </a:solidFill>
                    <a:latin typeface="黑体" panose="02010609060101010101" pitchFamily="49" charset="-122"/>
                    <a:ea typeface="黑体" panose="02010609060101010101" pitchFamily="49" charset="-122"/>
                  </a:rPr>
                  <a:t> 条件下</a:t>
                </a:r>
              </a:p>
              <a:p>
                <a:endParaRPr lang="zh-CN" altLang="en-US" dirty="0"/>
              </a:p>
            </p:txBody>
          </p:sp>
        </mc:Fallback>
      </mc:AlternateContent>
      <p:sp>
        <p:nvSpPr>
          <p:cNvPr id="4" name="灯片编号占位符 3">
            <a:extLst>
              <a:ext uri="{FF2B5EF4-FFF2-40B4-BE49-F238E27FC236}">
                <a16:creationId xmlns:a16="http://schemas.microsoft.com/office/drawing/2014/main" id="{71C513BB-778A-CCA1-9C12-C465149FEF3C}"/>
              </a:ext>
            </a:extLst>
          </p:cNvPr>
          <p:cNvSpPr>
            <a:spLocks noGrp="1"/>
          </p:cNvSpPr>
          <p:nvPr>
            <p:ph type="sldNum" sz="quarter" idx="5"/>
          </p:nvPr>
        </p:nvSpPr>
        <p:spPr/>
        <p:txBody>
          <a:bodyPr/>
          <a:lstStyle/>
          <a:p>
            <a:fld id="{6AF8E926-3218-4A05-BE3C-00B734B06F20}" type="slidenum">
              <a:rPr lang="zh-CN" altLang="en-US" smtClean="0"/>
              <a:t>20</a:t>
            </a:fld>
            <a:endParaRPr lang="zh-CN" altLang="en-US"/>
          </a:p>
        </p:txBody>
      </p:sp>
    </p:spTree>
    <p:extLst>
      <p:ext uri="{BB962C8B-B14F-4D97-AF65-F5344CB8AC3E}">
        <p14:creationId xmlns:p14="http://schemas.microsoft.com/office/powerpoint/2010/main" val="31420963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669F6-F8B1-A41F-12CC-0766D31FFCD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EEBD758-891C-0F82-07C3-97B85FC578F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CB94E05-2C44-9B29-B57D-793A90B04812}"/>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9BED82DD-E77D-6BDC-036B-B195D4E1FDB9}"/>
              </a:ext>
            </a:extLst>
          </p:cNvPr>
          <p:cNvSpPr>
            <a:spLocks noGrp="1"/>
          </p:cNvSpPr>
          <p:nvPr>
            <p:ph type="sldNum" sz="quarter" idx="5"/>
          </p:nvPr>
        </p:nvSpPr>
        <p:spPr/>
        <p:txBody>
          <a:bodyPr/>
          <a:lstStyle/>
          <a:p>
            <a:fld id="{6AF8E926-3218-4A05-BE3C-00B734B06F20}" type="slidenum">
              <a:rPr lang="zh-CN" altLang="en-US" smtClean="0"/>
              <a:t>21</a:t>
            </a:fld>
            <a:endParaRPr lang="zh-CN" altLang="en-US"/>
          </a:p>
        </p:txBody>
      </p:sp>
    </p:spTree>
    <p:extLst>
      <p:ext uri="{BB962C8B-B14F-4D97-AF65-F5344CB8AC3E}">
        <p14:creationId xmlns:p14="http://schemas.microsoft.com/office/powerpoint/2010/main" val="5106825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en-US" altLang="zh-CN" dirty="0">
                <a:solidFill>
                  <a:srgbClr val="3333FF"/>
                </a:solidFill>
                <a:latin typeface="黑体" panose="02010609060101010101" pitchFamily="49" charset="-122"/>
                <a:ea typeface="黑体" panose="02010609060101010101" pitchFamily="49" charset="-122"/>
              </a:rPr>
              <a:t>PN </a:t>
            </a:r>
            <a:r>
              <a:rPr lang="zh-CN" altLang="en-US" dirty="0">
                <a:solidFill>
                  <a:srgbClr val="3333FF"/>
                </a:solidFill>
                <a:latin typeface="黑体" panose="02010609060101010101" pitchFamily="49" charset="-122"/>
                <a:ea typeface="黑体" panose="02010609060101010101" pitchFamily="49" charset="-122"/>
              </a:rPr>
              <a:t>结还有发光、感光、感温等特性</a:t>
            </a:r>
            <a:endParaRPr lang="en-US" altLang="zh-CN" dirty="0">
              <a:solidFill>
                <a:srgbClr val="3333FF"/>
              </a:solidFill>
              <a:latin typeface="黑体" panose="02010609060101010101" pitchFamily="49" charset="-122"/>
              <a:ea typeface="黑体" panose="02010609060101010101" pitchFamily="49" charset="-122"/>
            </a:endParaRPr>
          </a:p>
          <a:p>
            <a:pPr eaLnBrk="1" hangingPunct="1"/>
            <a:endParaRPr lang="zh-CN" altLang="en-US" dirty="0">
              <a:solidFill>
                <a:srgbClr val="3333FF"/>
              </a:solidFill>
              <a:latin typeface="黑体" panose="02010609060101010101" pitchFamily="49" charset="-122"/>
              <a:ea typeface="黑体" panose="02010609060101010101" pitchFamily="49" charset="-122"/>
            </a:endParaRPr>
          </a:p>
          <a:p>
            <a:pPr eaLnBrk="1" hangingPunct="1"/>
            <a:r>
              <a:rPr kumimoji="1" lang="zh-CN" altLang="en-US" dirty="0">
                <a:solidFill>
                  <a:srgbClr val="000000"/>
                </a:solidFill>
              </a:rPr>
              <a:t>利用某些特殊的手段，采用砷、镓、磷等材料制成的二极管，由于它在有电流通过时，能发出光来，所以称作发光二极管，常用 </a:t>
            </a:r>
            <a:r>
              <a:rPr kumimoji="1" lang="en-US" altLang="zh-CN" dirty="0">
                <a:solidFill>
                  <a:srgbClr val="000000"/>
                </a:solidFill>
              </a:rPr>
              <a:t>LED </a:t>
            </a:r>
            <a:r>
              <a:rPr kumimoji="1" lang="zh-CN" altLang="en-US" dirty="0">
                <a:solidFill>
                  <a:srgbClr val="000000"/>
                </a:solidFill>
              </a:rPr>
              <a:t>表示</a:t>
            </a:r>
          </a:p>
        </p:txBody>
      </p:sp>
      <p:sp>
        <p:nvSpPr>
          <p:cNvPr id="4" name="灯片编号占位符 3"/>
          <p:cNvSpPr>
            <a:spLocks noGrp="1"/>
          </p:cNvSpPr>
          <p:nvPr>
            <p:ph type="sldNum" sz="quarter" idx="5"/>
          </p:nvPr>
        </p:nvSpPr>
        <p:spPr/>
        <p:txBody>
          <a:bodyPr/>
          <a:lstStyle/>
          <a:p>
            <a:fld id="{6AF8E926-3218-4A05-BE3C-00B734B06F20}" type="slidenum">
              <a:rPr lang="zh-CN" altLang="en-US" smtClean="0"/>
              <a:t>22</a:t>
            </a:fld>
            <a:endParaRPr lang="zh-CN" altLang="en-US"/>
          </a:p>
        </p:txBody>
      </p:sp>
    </p:spTree>
    <p:extLst>
      <p:ext uri="{BB962C8B-B14F-4D97-AF65-F5344CB8AC3E}">
        <p14:creationId xmlns:p14="http://schemas.microsoft.com/office/powerpoint/2010/main" val="14194141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28</a:t>
            </a:fld>
            <a:endParaRPr lang="zh-CN" altLang="en-US"/>
          </a:p>
        </p:txBody>
      </p:sp>
    </p:spTree>
    <p:extLst>
      <p:ext uri="{BB962C8B-B14F-4D97-AF65-F5344CB8AC3E}">
        <p14:creationId xmlns:p14="http://schemas.microsoft.com/office/powerpoint/2010/main" val="30812596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R_O </a:t>
            </a:r>
            <a:r>
              <a:rPr lang="zh-CN" altLang="en-US" dirty="0"/>
              <a:t>是等效电阻（请见戴维南等效电路），是把内部独立电源置零后（即令 </a:t>
            </a:r>
            <a:r>
              <a:rPr lang="en-US" altLang="zh-CN" dirty="0"/>
              <a:t>V_I = 0</a:t>
            </a:r>
            <a:r>
              <a:rPr lang="zh-CN" altLang="en-US" dirty="0"/>
              <a:t>），从输出端往里看的电阻值</a:t>
            </a:r>
            <a:endParaRPr lang="en-US" altLang="zh-CN" dirty="0"/>
          </a:p>
          <a:p>
            <a:endParaRPr lang="en-US" altLang="zh-CN" dirty="0"/>
          </a:p>
          <a:p>
            <a:r>
              <a:rPr lang="zh-CN" altLang="en-US" dirty="0"/>
              <a:t>把 </a:t>
            </a:r>
            <a:r>
              <a:rPr lang="en-US" altLang="zh-CN" dirty="0"/>
              <a:t>V_I </a:t>
            </a:r>
            <a:r>
              <a:rPr lang="zh-CN" altLang="en-US" dirty="0"/>
              <a:t>置零即为把左图中 </a:t>
            </a:r>
            <a:r>
              <a:rPr lang="en-US" altLang="zh-CN" dirty="0"/>
              <a:t>V_I </a:t>
            </a:r>
            <a:r>
              <a:rPr lang="zh-CN" altLang="en-US" dirty="0"/>
              <a:t>端直接接到地</a:t>
            </a:r>
            <a:endParaRPr lang="en-US" altLang="zh-CN" dirty="0"/>
          </a:p>
          <a:p>
            <a:r>
              <a:rPr lang="zh-CN" altLang="en-US" dirty="0"/>
              <a:t>这样，从输出端往里看，</a:t>
            </a:r>
            <a:r>
              <a:rPr lang="en-US" altLang="zh-CN" dirty="0"/>
              <a:t>R </a:t>
            </a:r>
            <a:r>
              <a:rPr lang="zh-CN" altLang="en-US" dirty="0"/>
              <a:t>所在的支路和两个 </a:t>
            </a:r>
            <a:r>
              <a:rPr lang="en-US" altLang="zh-CN" dirty="0" err="1"/>
              <a:t>r_d</a:t>
            </a:r>
            <a:r>
              <a:rPr lang="en-US" altLang="zh-CN" dirty="0"/>
              <a:t> </a:t>
            </a:r>
            <a:r>
              <a:rPr lang="zh-CN" altLang="en-US" dirty="0"/>
              <a:t>所在的支路是并联，表示为：</a:t>
            </a:r>
            <a:r>
              <a:rPr lang="en-US" altLang="zh-CN" dirty="0"/>
              <a:t>R//(2r_d)</a:t>
            </a:r>
          </a:p>
          <a:p>
            <a:endParaRPr lang="en-US" altLang="zh-CN" dirty="0"/>
          </a:p>
          <a:p>
            <a:endParaRPr lang="en-US" altLang="zh-CN" dirty="0"/>
          </a:p>
          <a:p>
            <a:endParaRPr lang="en-US" altLang="zh-CN" dirty="0"/>
          </a:p>
          <a:p>
            <a:r>
              <a:rPr lang="zh-CN" altLang="en-US" dirty="0"/>
              <a:t>可以串联多个二极管来获得更高的稳压值，但随着串联的二极管数量增多，其等效电阻也变大，稳压性能会降低</a:t>
            </a:r>
            <a:endParaRPr lang="en-US" altLang="zh-CN" dirty="0"/>
          </a:p>
          <a:p>
            <a:endParaRPr lang="en-US" altLang="zh-CN" dirty="0"/>
          </a:p>
          <a:p>
            <a:r>
              <a:rPr lang="zh-CN" altLang="en-US" dirty="0"/>
              <a:t>所以这种电路适合于低电压的稳压 </a:t>
            </a:r>
          </a:p>
          <a:p>
            <a:endParaRPr lang="en-US" altLang="zh-CN" dirty="0"/>
          </a:p>
          <a:p>
            <a:r>
              <a:rPr lang="zh-CN" altLang="en-US" dirty="0"/>
              <a:t>小信号模型仅用于分析电路的变化状态，不能用于分析电路的静态（直流）</a:t>
            </a:r>
            <a:endParaRPr lang="en-US" altLang="zh-CN"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29</a:t>
            </a:fld>
            <a:endParaRPr lang="zh-CN" altLang="en-US"/>
          </a:p>
        </p:txBody>
      </p:sp>
    </p:spTree>
    <p:extLst>
      <p:ext uri="{BB962C8B-B14F-4D97-AF65-F5344CB8AC3E}">
        <p14:creationId xmlns:p14="http://schemas.microsoft.com/office/powerpoint/2010/main" val="5948110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73B9F-BCBF-88EB-73A0-5F45CDB3BD2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0316DFA-17D0-9913-D228-A5E2678AC6A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AAFE085-58CF-C56C-DDB9-098BCBD62966}"/>
              </a:ext>
            </a:extLst>
          </p:cNvPr>
          <p:cNvSpPr>
            <a:spLocks noGrp="1"/>
          </p:cNvSpPr>
          <p:nvPr>
            <p:ph type="body" idx="1"/>
          </p:nvPr>
        </p:nvSpPr>
        <p:spPr/>
        <p:txBody>
          <a:bodyPr/>
          <a:lstStyle/>
          <a:p>
            <a:r>
              <a:rPr lang="zh-CN" altLang="en-US" dirty="0"/>
              <a:t>可串联多个二极管来提高电路的稳压值，但会降低稳定性能</a:t>
            </a:r>
            <a:endParaRPr lang="en-US" altLang="zh-CN" dirty="0"/>
          </a:p>
          <a:p>
            <a:endParaRPr lang="en-US" altLang="zh-CN" dirty="0"/>
          </a:p>
          <a:p>
            <a:r>
              <a:rPr lang="zh-CN" altLang="en-US" dirty="0"/>
              <a:t>可使用专门用于稳压的二极管（特殊工艺制成），齐纳二极管，实现较高电压的稳压</a:t>
            </a:r>
            <a:endParaRPr lang="en-US" altLang="zh-CN" dirty="0"/>
          </a:p>
          <a:p>
            <a:endParaRPr lang="en-US" altLang="zh-CN" dirty="0"/>
          </a:p>
          <a:p>
            <a:r>
              <a:rPr lang="en-US" altLang="zh-CN" dirty="0" err="1"/>
              <a:t>r_Z</a:t>
            </a:r>
            <a:r>
              <a:rPr lang="en-US" altLang="zh-CN" dirty="0"/>
              <a:t> </a:t>
            </a:r>
            <a:r>
              <a:rPr lang="zh-CN" altLang="en-US" dirty="0"/>
              <a:t>的值是动态的</a:t>
            </a:r>
            <a:endParaRPr lang="en-US" altLang="zh-CN" dirty="0"/>
          </a:p>
        </p:txBody>
      </p:sp>
      <p:sp>
        <p:nvSpPr>
          <p:cNvPr id="4" name="灯片编号占位符 3">
            <a:extLst>
              <a:ext uri="{FF2B5EF4-FFF2-40B4-BE49-F238E27FC236}">
                <a16:creationId xmlns:a16="http://schemas.microsoft.com/office/drawing/2014/main" id="{B37A48F9-3C8A-AF7E-89E8-FE8C2977FD29}"/>
              </a:ext>
            </a:extLst>
          </p:cNvPr>
          <p:cNvSpPr>
            <a:spLocks noGrp="1"/>
          </p:cNvSpPr>
          <p:nvPr>
            <p:ph type="sldNum" sz="quarter" idx="5"/>
          </p:nvPr>
        </p:nvSpPr>
        <p:spPr/>
        <p:txBody>
          <a:bodyPr/>
          <a:lstStyle/>
          <a:p>
            <a:fld id="{6AF8E926-3218-4A05-BE3C-00B734B06F20}" type="slidenum">
              <a:rPr lang="zh-CN" altLang="en-US" smtClean="0"/>
              <a:t>30</a:t>
            </a:fld>
            <a:endParaRPr lang="zh-CN" altLang="en-US"/>
          </a:p>
        </p:txBody>
      </p:sp>
    </p:spTree>
    <p:extLst>
      <p:ext uri="{BB962C8B-B14F-4D97-AF65-F5344CB8AC3E}">
        <p14:creationId xmlns:p14="http://schemas.microsoft.com/office/powerpoint/2010/main" val="20812145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I_Z </a:t>
            </a:r>
            <a:r>
              <a:rPr lang="zh-CN" altLang="en-US" dirty="0"/>
              <a:t>至少得为 </a:t>
            </a:r>
            <a:r>
              <a:rPr lang="en-US" altLang="zh-CN" dirty="0"/>
              <a:t>I_Z(min) </a:t>
            </a:r>
            <a:r>
              <a:rPr lang="zh-CN" altLang="en-US" dirty="0"/>
              <a:t>才能让 </a:t>
            </a:r>
            <a:r>
              <a:rPr lang="en-US" altLang="zh-CN" dirty="0"/>
              <a:t>D_Z </a:t>
            </a:r>
            <a:r>
              <a:rPr lang="zh-CN" altLang="en-US" dirty="0"/>
              <a:t>正常工作 </a:t>
            </a:r>
          </a:p>
        </p:txBody>
      </p:sp>
      <p:sp>
        <p:nvSpPr>
          <p:cNvPr id="4" name="灯片编号占位符 3"/>
          <p:cNvSpPr>
            <a:spLocks noGrp="1"/>
          </p:cNvSpPr>
          <p:nvPr>
            <p:ph type="sldNum" sz="quarter" idx="5"/>
          </p:nvPr>
        </p:nvSpPr>
        <p:spPr/>
        <p:txBody>
          <a:bodyPr/>
          <a:lstStyle/>
          <a:p>
            <a:fld id="{6AF8E926-3218-4A05-BE3C-00B734B06F20}" type="slidenum">
              <a:rPr lang="zh-CN" altLang="en-US" smtClean="0"/>
              <a:t>31</a:t>
            </a:fld>
            <a:endParaRPr lang="zh-CN" altLang="en-US"/>
          </a:p>
        </p:txBody>
      </p:sp>
    </p:spTree>
    <p:extLst>
      <p:ext uri="{BB962C8B-B14F-4D97-AF65-F5344CB8AC3E}">
        <p14:creationId xmlns:p14="http://schemas.microsoft.com/office/powerpoint/2010/main" val="35678371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AF8E926-3218-4A05-BE3C-00B734B06F20}" type="slidenum">
              <a:rPr lang="zh-CN" altLang="en-US" smtClean="0"/>
              <a:t>32</a:t>
            </a:fld>
            <a:endParaRPr lang="zh-CN" altLang="en-US"/>
          </a:p>
        </p:txBody>
      </p:sp>
    </p:spTree>
    <p:extLst>
      <p:ext uri="{BB962C8B-B14F-4D97-AF65-F5344CB8AC3E}">
        <p14:creationId xmlns:p14="http://schemas.microsoft.com/office/powerpoint/2010/main" val="37776462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pic>
        <p:nvPicPr>
          <p:cNvPr id="8" name="Picture 16" descr="bg3">
            <a:extLst>
              <a:ext uri="{FF2B5EF4-FFF2-40B4-BE49-F238E27FC236}">
                <a16:creationId xmlns:a16="http://schemas.microsoft.com/office/drawing/2014/main" id="{3C12D28E-7FDA-416A-89CF-B41CFE8C112F}"/>
              </a:ext>
            </a:extLst>
          </p:cNvPr>
          <p:cNvPicPr>
            <a:picLocks noChangeAspect="1" noChangeArrowheads="1"/>
          </p:cNvPicPr>
          <p:nvPr/>
        </p:nvPicPr>
        <p:blipFill>
          <a:blip r:embed="rId2" cstate="print"/>
          <a:srcRect t="80031" b="16504"/>
          <a:stretch>
            <a:fillRect/>
          </a:stretch>
        </p:blipFill>
        <p:spPr bwMode="auto">
          <a:xfrm flipV="1">
            <a:off x="0" y="1711615"/>
            <a:ext cx="12192000" cy="43788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9525">
            <a:noFill/>
            <a:miter lim="800000"/>
            <a:headEnd/>
            <a:tailEnd/>
          </a:ln>
        </p:spPr>
      </p:pic>
      <p:pic>
        <p:nvPicPr>
          <p:cNvPr id="9" name="Picture 17" descr="bg3">
            <a:extLst>
              <a:ext uri="{FF2B5EF4-FFF2-40B4-BE49-F238E27FC236}">
                <a16:creationId xmlns:a16="http://schemas.microsoft.com/office/drawing/2014/main" id="{6256C6DD-5C6C-4934-AE0F-6E767F3C2F86}"/>
              </a:ext>
            </a:extLst>
          </p:cNvPr>
          <p:cNvPicPr>
            <a:picLocks noChangeAspect="1" noChangeArrowheads="1"/>
          </p:cNvPicPr>
          <p:nvPr/>
        </p:nvPicPr>
        <p:blipFill>
          <a:blip r:embed="rId2" cstate="print"/>
          <a:srcRect t="48767" b="15891"/>
          <a:stretch>
            <a:fillRect/>
          </a:stretch>
        </p:blipFill>
        <p:spPr bwMode="auto">
          <a:xfrm>
            <a:off x="0" y="1930558"/>
            <a:ext cx="12192000" cy="2777943"/>
          </a:xfrm>
          <a:prstGeom prst="rect">
            <a:avLst/>
          </a:prstGeom>
          <a:noFill/>
          <a:ln w="9525">
            <a:noFill/>
            <a:miter lim="800000"/>
            <a:headEnd/>
            <a:tailEnd/>
          </a:ln>
        </p:spPr>
      </p:pic>
      <p:pic>
        <p:nvPicPr>
          <p:cNvPr id="10" name="Picture 10" descr="2">
            <a:extLst>
              <a:ext uri="{FF2B5EF4-FFF2-40B4-BE49-F238E27FC236}">
                <a16:creationId xmlns:a16="http://schemas.microsoft.com/office/drawing/2014/main" id="{12F893B6-5430-4116-B41C-027E149AB2E4}"/>
              </a:ext>
            </a:extLst>
          </p:cNvPr>
          <p:cNvPicPr>
            <a:picLocks noChangeAspect="1" noChangeArrowheads="1"/>
          </p:cNvPicPr>
          <p:nvPr userDrawn="1"/>
        </p:nvPicPr>
        <p:blipFill rotWithShape="1">
          <a:blip r:embed="rId3" cstate="print">
            <a:clrChange>
              <a:clrFrom>
                <a:srgbClr val="E8E8EA"/>
              </a:clrFrom>
              <a:clrTo>
                <a:srgbClr val="E8E8EA">
                  <a:alpha val="0"/>
                </a:srgbClr>
              </a:clrTo>
            </a:clrChange>
          </a:blip>
          <a:srcRect l="3981" t="5824" r="52233" b="80846"/>
          <a:stretch/>
        </p:blipFill>
        <p:spPr bwMode="auto">
          <a:xfrm>
            <a:off x="0" y="278392"/>
            <a:ext cx="4244196" cy="914401"/>
          </a:xfrm>
          <a:prstGeom prst="rect">
            <a:avLst/>
          </a:prstGeom>
          <a:noFill/>
          <a:ln w="9525">
            <a:noFill/>
            <a:miter lim="800000"/>
            <a:headEnd/>
            <a:tailEnd/>
          </a:ln>
        </p:spPr>
      </p:pic>
    </p:spTree>
    <p:extLst>
      <p:ext uri="{BB962C8B-B14F-4D97-AF65-F5344CB8AC3E}">
        <p14:creationId xmlns:p14="http://schemas.microsoft.com/office/powerpoint/2010/main" val="2258513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7" name="Picture 14" descr="bg2">
            <a:extLst>
              <a:ext uri="{FF2B5EF4-FFF2-40B4-BE49-F238E27FC236}">
                <a16:creationId xmlns:a16="http://schemas.microsoft.com/office/drawing/2014/main" id="{B5E88CDA-D72A-4EE5-A041-54DDE04C08EC}"/>
              </a:ext>
            </a:extLst>
          </p:cNvPr>
          <p:cNvPicPr>
            <a:picLocks noChangeAspect="1" noChangeArrowheads="1"/>
          </p:cNvPicPr>
          <p:nvPr userDrawn="1"/>
        </p:nvPicPr>
        <p:blipFill rotWithShape="1">
          <a:blip r:embed="rId2" cstate="print"/>
          <a:srcRect r="31108" b="84377"/>
          <a:stretch/>
        </p:blipFill>
        <p:spPr bwMode="auto">
          <a:xfrm>
            <a:off x="0" y="1"/>
            <a:ext cx="12192000" cy="575094"/>
          </a:xfrm>
          <a:prstGeom prst="rect">
            <a:avLst/>
          </a:prstGeom>
          <a:noFill/>
          <a:ln w="9525">
            <a:noFill/>
            <a:miter lim="800000"/>
            <a:headEnd/>
            <a:tailEnd/>
          </a:ln>
        </p:spPr>
      </p:pic>
    </p:spTree>
    <p:extLst>
      <p:ext uri="{BB962C8B-B14F-4D97-AF65-F5344CB8AC3E}">
        <p14:creationId xmlns:p14="http://schemas.microsoft.com/office/powerpoint/2010/main" val="283758906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3057589"/>
      </p:ext>
    </p:extLst>
  </p:cSld>
  <p:clrMap bg1="lt1" tx1="dk1" bg2="lt2" tx2="dk2" accent1="accent1" accent2="accent2" accent3="accent3" accent4="accent4" accent5="accent5" accent6="accent6" hlink="hlink" folHlink="folHlink"/>
  <p:sldLayoutIdLst>
    <p:sldLayoutId id="2147483660" r:id="rId1"/>
    <p:sldLayoutId id="2147483661"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3" Type="http://schemas.openxmlformats.org/officeDocument/2006/relationships/image" Target="../media/image90.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image" Target="../media/image31.png"/></Relationships>
</file>

<file path=ppt/slides/_rels/slide15.xml.rels><?xml version="1.0" encoding="UTF-8" standalone="yes"?>
<Relationships xmlns="http://schemas.openxmlformats.org/package/2006/relationships"><Relationship Id="rId13" Type="http://schemas.openxmlformats.org/officeDocument/2006/relationships/image" Target="../media/image29.png"/><Relationship Id="rId3" Type="http://schemas.openxmlformats.org/officeDocument/2006/relationships/image" Target="../media/image32.png"/><Relationship Id="rId12" Type="http://schemas.openxmlformats.org/officeDocument/2006/relationships/image" Target="../media/image28.png"/><Relationship Id="rId17" Type="http://schemas.openxmlformats.org/officeDocument/2006/relationships/image" Target="../media/image36.png"/><Relationship Id="rId2" Type="http://schemas.openxmlformats.org/officeDocument/2006/relationships/notesSlide" Target="../notesSlides/notesSlide12.xml"/><Relationship Id="rId16" Type="http://schemas.openxmlformats.org/officeDocument/2006/relationships/image" Target="../media/image35.png"/><Relationship Id="rId1" Type="http://schemas.openxmlformats.org/officeDocument/2006/relationships/slideLayout" Target="../slideLayouts/slideLayout2.xml"/><Relationship Id="rId11" Type="http://schemas.openxmlformats.org/officeDocument/2006/relationships/image" Target="../media/image27.png"/><Relationship Id="rId15" Type="http://schemas.openxmlformats.org/officeDocument/2006/relationships/image" Target="../media/image34.png"/><Relationship Id="rId10" Type="http://schemas.openxmlformats.org/officeDocument/2006/relationships/image" Target="../media/image26.png"/><Relationship Id="rId14" Type="http://schemas.openxmlformats.org/officeDocument/2006/relationships/image" Target="../media/image33.png"/></Relationships>
</file>

<file path=ppt/slides/_rels/slide16.xml.rels><?xml version="1.0" encoding="UTF-8" standalone="yes"?>
<Relationships xmlns="http://schemas.openxmlformats.org/package/2006/relationships"><Relationship Id="rId13" Type="http://schemas.openxmlformats.org/officeDocument/2006/relationships/image" Target="../media/image26.png"/><Relationship Id="rId18" Type="http://schemas.openxmlformats.org/officeDocument/2006/relationships/image" Target="../media/image48.png"/><Relationship Id="rId26" Type="http://schemas.openxmlformats.org/officeDocument/2006/relationships/image" Target="../media/image56.png"/><Relationship Id="rId3" Type="http://schemas.openxmlformats.org/officeDocument/2006/relationships/image" Target="../media/image39.png"/><Relationship Id="rId21" Type="http://schemas.openxmlformats.org/officeDocument/2006/relationships/image" Target="../media/image51.png"/><Relationship Id="rId12" Type="http://schemas.openxmlformats.org/officeDocument/2006/relationships/image" Target="../media/image43.png"/><Relationship Id="rId17" Type="http://schemas.openxmlformats.org/officeDocument/2006/relationships/image" Target="../media/image47.png"/><Relationship Id="rId25" Type="http://schemas.openxmlformats.org/officeDocument/2006/relationships/image" Target="../media/image55.png"/><Relationship Id="rId2" Type="http://schemas.openxmlformats.org/officeDocument/2006/relationships/notesSlide" Target="../notesSlides/notesSlide13.xml"/><Relationship Id="rId16" Type="http://schemas.openxmlformats.org/officeDocument/2006/relationships/image" Target="../media/image46.png"/><Relationship Id="rId20" Type="http://schemas.openxmlformats.org/officeDocument/2006/relationships/image" Target="../media/image50.png"/><Relationship Id="rId1" Type="http://schemas.openxmlformats.org/officeDocument/2006/relationships/slideLayout" Target="../slideLayouts/slideLayout2.xml"/><Relationship Id="rId11" Type="http://schemas.openxmlformats.org/officeDocument/2006/relationships/image" Target="../media/image42.png"/><Relationship Id="rId24" Type="http://schemas.openxmlformats.org/officeDocument/2006/relationships/image" Target="../media/image54.png"/><Relationship Id="rId15" Type="http://schemas.openxmlformats.org/officeDocument/2006/relationships/image" Target="../media/image44.png"/><Relationship Id="rId23" Type="http://schemas.openxmlformats.org/officeDocument/2006/relationships/image" Target="../media/image53.png"/><Relationship Id="rId10" Type="http://schemas.openxmlformats.org/officeDocument/2006/relationships/image" Target="../media/image41.png"/><Relationship Id="rId19" Type="http://schemas.openxmlformats.org/officeDocument/2006/relationships/image" Target="../media/image49.png"/><Relationship Id="rId4" Type="http://schemas.openxmlformats.org/officeDocument/2006/relationships/image" Target="../media/image40.png"/><Relationship Id="rId9" Type="http://schemas.openxmlformats.org/officeDocument/2006/relationships/image" Target="../media/image45.png"/><Relationship Id="rId14" Type="http://schemas.openxmlformats.org/officeDocument/2006/relationships/image" Target="../media/image27.png"/><Relationship Id="rId22" Type="http://schemas.openxmlformats.org/officeDocument/2006/relationships/image" Target="../media/image52.png"/></Relationships>
</file>

<file path=ppt/slides/_rels/slide17.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png"/><Relationship Id="rId18" Type="http://schemas.openxmlformats.org/officeDocument/2006/relationships/image" Target="../media/image70.png"/><Relationship Id="rId3" Type="http://schemas.openxmlformats.org/officeDocument/2006/relationships/image" Target="../media/image550.png"/><Relationship Id="rId7" Type="http://schemas.openxmlformats.org/officeDocument/2006/relationships/image" Target="../media/image59.png"/><Relationship Id="rId12" Type="http://schemas.openxmlformats.org/officeDocument/2006/relationships/image" Target="../media/image64.png"/><Relationship Id="rId17" Type="http://schemas.openxmlformats.org/officeDocument/2006/relationships/image" Target="../media/image69.png"/><Relationship Id="rId2" Type="http://schemas.openxmlformats.org/officeDocument/2006/relationships/notesSlide" Target="../notesSlides/notesSlide14.xml"/><Relationship Id="rId16" Type="http://schemas.openxmlformats.org/officeDocument/2006/relationships/image" Target="../media/image37.png"/><Relationship Id="rId20" Type="http://schemas.openxmlformats.org/officeDocument/2006/relationships/image" Target="../media/image72.png"/><Relationship Id="rId1" Type="http://schemas.openxmlformats.org/officeDocument/2006/relationships/slideLayout" Target="../slideLayouts/slideLayout2.xml"/><Relationship Id="rId6" Type="http://schemas.openxmlformats.org/officeDocument/2006/relationships/image" Target="../media/image58.png"/><Relationship Id="rId11" Type="http://schemas.openxmlformats.org/officeDocument/2006/relationships/image" Target="../media/image63.png"/><Relationship Id="rId5" Type="http://schemas.openxmlformats.org/officeDocument/2006/relationships/image" Target="../media/image562.png"/><Relationship Id="rId15" Type="http://schemas.openxmlformats.org/officeDocument/2006/relationships/image" Target="../media/image67.png"/><Relationship Id="rId10" Type="http://schemas.openxmlformats.org/officeDocument/2006/relationships/image" Target="../media/image62.png"/><Relationship Id="rId19" Type="http://schemas.openxmlformats.org/officeDocument/2006/relationships/image" Target="../media/image71.png"/><Relationship Id="rId4" Type="http://schemas.openxmlformats.org/officeDocument/2006/relationships/image" Target="../media/image552.png"/><Relationship Id="rId9" Type="http://schemas.openxmlformats.org/officeDocument/2006/relationships/image" Target="../media/image61.png"/><Relationship Id="rId14" Type="http://schemas.openxmlformats.org/officeDocument/2006/relationships/image" Target="../media/image66.png"/></Relationships>
</file>

<file path=ppt/slides/_rels/slide18.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57.png"/><Relationship Id="rId7" Type="http://schemas.openxmlformats.org/officeDocument/2006/relationships/image" Target="../media/image73.png"/><Relationship Id="rId12" Type="http://schemas.openxmlformats.org/officeDocument/2006/relationships/image" Target="../media/image78.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68.png"/><Relationship Id="rId11" Type="http://schemas.openxmlformats.org/officeDocument/2006/relationships/image" Target="../media/image77.png"/><Relationship Id="rId5" Type="http://schemas.openxmlformats.org/officeDocument/2006/relationships/image" Target="../media/image38.png"/><Relationship Id="rId10" Type="http://schemas.openxmlformats.org/officeDocument/2006/relationships/image" Target="../media/image76.png"/><Relationship Id="rId4" Type="http://schemas.openxmlformats.org/officeDocument/2006/relationships/image" Target="../media/image560.png"/><Relationship Id="rId9" Type="http://schemas.openxmlformats.org/officeDocument/2006/relationships/image" Target="../media/image75.png"/></Relationships>
</file>

<file path=ppt/slides/_rels/slide19.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83.png"/><Relationship Id="rId3" Type="http://schemas.openxmlformats.org/officeDocument/2006/relationships/image" Target="../media/image79.png"/><Relationship Id="rId7" Type="http://schemas.openxmlformats.org/officeDocument/2006/relationships/image" Target="../media/image73.png"/><Relationship Id="rId12" Type="http://schemas.openxmlformats.org/officeDocument/2006/relationships/image" Target="../media/image78.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81.png"/><Relationship Id="rId11" Type="http://schemas.openxmlformats.org/officeDocument/2006/relationships/image" Target="../media/image77.png"/><Relationship Id="rId5" Type="http://schemas.openxmlformats.org/officeDocument/2006/relationships/image" Target="../media/image38.png"/><Relationship Id="rId10" Type="http://schemas.openxmlformats.org/officeDocument/2006/relationships/image" Target="../media/image82.png"/><Relationship Id="rId4" Type="http://schemas.openxmlformats.org/officeDocument/2006/relationships/image" Target="../media/image80.png"/><Relationship Id="rId9" Type="http://schemas.openxmlformats.org/officeDocument/2006/relationships/image" Target="../media/image75.png"/><Relationship Id="rId14" Type="http://schemas.openxmlformats.org/officeDocument/2006/relationships/image" Target="../media/image84.png"/></Relationships>
</file>

<file path=ppt/slides/_rels/slide20.xml.rels><?xml version="1.0" encoding="UTF-8" standalone="yes"?>
<Relationships xmlns="http://schemas.openxmlformats.org/package/2006/relationships"><Relationship Id="rId26" Type="http://schemas.openxmlformats.org/officeDocument/2006/relationships/image" Target="../media/image102.png"/><Relationship Id="rId39" Type="http://schemas.openxmlformats.org/officeDocument/2006/relationships/image" Target="../media/image110.png"/><Relationship Id="rId3" Type="http://schemas.openxmlformats.org/officeDocument/2006/relationships/image" Target="../media/image91.png"/><Relationship Id="rId34" Type="http://schemas.openxmlformats.org/officeDocument/2006/relationships/image" Target="../media/image97.png"/><Relationship Id="rId42" Type="http://schemas.openxmlformats.org/officeDocument/2006/relationships/image" Target="../media/image113.png"/><Relationship Id="rId25" Type="http://schemas.openxmlformats.org/officeDocument/2006/relationships/image" Target="../media/image101.png"/><Relationship Id="rId33" Type="http://schemas.openxmlformats.org/officeDocument/2006/relationships/image" Target="../media/image96.png"/><Relationship Id="rId38" Type="http://schemas.openxmlformats.org/officeDocument/2006/relationships/image" Target="../media/image109.png"/><Relationship Id="rId2" Type="http://schemas.openxmlformats.org/officeDocument/2006/relationships/notesSlide" Target="../notesSlides/notesSlide17.xml"/><Relationship Id="rId29" Type="http://schemas.openxmlformats.org/officeDocument/2006/relationships/image" Target="../media/image105.png"/><Relationship Id="rId41" Type="http://schemas.openxmlformats.org/officeDocument/2006/relationships/image" Target="../media/image112.png"/><Relationship Id="rId1" Type="http://schemas.openxmlformats.org/officeDocument/2006/relationships/slideLayout" Target="../slideLayouts/slideLayout2.xml"/><Relationship Id="rId6" Type="http://schemas.openxmlformats.org/officeDocument/2006/relationships/image" Target="../media/image94.png"/><Relationship Id="rId24" Type="http://schemas.openxmlformats.org/officeDocument/2006/relationships/image" Target="../media/image100.png"/><Relationship Id="rId32" Type="http://schemas.openxmlformats.org/officeDocument/2006/relationships/image" Target="../media/image95.png"/><Relationship Id="rId37" Type="http://schemas.openxmlformats.org/officeDocument/2006/relationships/image" Target="../media/image108.png"/><Relationship Id="rId40" Type="http://schemas.openxmlformats.org/officeDocument/2006/relationships/image" Target="../media/image111.png"/><Relationship Id="rId45" Type="http://schemas.openxmlformats.org/officeDocument/2006/relationships/image" Target="../media/image116.png"/><Relationship Id="rId5" Type="http://schemas.openxmlformats.org/officeDocument/2006/relationships/image" Target="../media/image93.png"/><Relationship Id="rId28" Type="http://schemas.openxmlformats.org/officeDocument/2006/relationships/image" Target="../media/image104.png"/><Relationship Id="rId36" Type="http://schemas.openxmlformats.org/officeDocument/2006/relationships/image" Target="../media/image99.png"/><Relationship Id="rId31" Type="http://schemas.openxmlformats.org/officeDocument/2006/relationships/image" Target="../media/image107.png"/><Relationship Id="rId44" Type="http://schemas.openxmlformats.org/officeDocument/2006/relationships/image" Target="../media/image115.png"/><Relationship Id="rId4" Type="http://schemas.openxmlformats.org/officeDocument/2006/relationships/image" Target="../media/image92.png"/><Relationship Id="rId27" Type="http://schemas.openxmlformats.org/officeDocument/2006/relationships/image" Target="../media/image103.png"/><Relationship Id="rId30" Type="http://schemas.openxmlformats.org/officeDocument/2006/relationships/image" Target="../media/image106.png"/><Relationship Id="rId35" Type="http://schemas.openxmlformats.org/officeDocument/2006/relationships/image" Target="../media/image98.png"/><Relationship Id="rId43" Type="http://schemas.openxmlformats.org/officeDocument/2006/relationships/image" Target="../media/image114.png"/></Relationships>
</file>

<file path=ppt/slides/_rels/slide21.xml.rels><?xml version="1.0" encoding="UTF-8" standalone="yes"?>
<Relationships xmlns="http://schemas.openxmlformats.org/package/2006/relationships"><Relationship Id="rId8" Type="http://schemas.openxmlformats.org/officeDocument/2006/relationships/image" Target="../media/image87.png"/><Relationship Id="rId18" Type="http://schemas.openxmlformats.org/officeDocument/2006/relationships/image" Target="../media/image1180.png"/><Relationship Id="rId26" Type="http://schemas.openxmlformats.org/officeDocument/2006/relationships/image" Target="../media/image130.png"/><Relationship Id="rId3" Type="http://schemas.openxmlformats.org/officeDocument/2006/relationships/image" Target="../media/image117.png"/><Relationship Id="rId21" Type="http://schemas.openxmlformats.org/officeDocument/2006/relationships/image" Target="../media/image89.png"/><Relationship Id="rId7" Type="http://schemas.openxmlformats.org/officeDocument/2006/relationships/image" Target="../media/image86.png"/><Relationship Id="rId17" Type="http://schemas.openxmlformats.org/officeDocument/2006/relationships/image" Target="../media/image126.png"/><Relationship Id="rId25" Type="http://schemas.openxmlformats.org/officeDocument/2006/relationships/image" Target="../media/image129.png"/><Relationship Id="rId2" Type="http://schemas.openxmlformats.org/officeDocument/2006/relationships/notesSlide" Target="../notesSlides/notesSlide18.xml"/><Relationship Id="rId16" Type="http://schemas.openxmlformats.org/officeDocument/2006/relationships/image" Target="../media/image1160.png"/><Relationship Id="rId20" Type="http://schemas.openxmlformats.org/officeDocument/2006/relationships/image" Target="../media/image1200.png"/><Relationship Id="rId1" Type="http://schemas.openxmlformats.org/officeDocument/2006/relationships/slideLayout" Target="../slideLayouts/slideLayout2.xml"/><Relationship Id="rId6" Type="http://schemas.openxmlformats.org/officeDocument/2006/relationships/image" Target="../media/image85.png"/><Relationship Id="rId11" Type="http://schemas.openxmlformats.org/officeDocument/2006/relationships/image" Target="../media/image88.png"/><Relationship Id="rId24" Type="http://schemas.openxmlformats.org/officeDocument/2006/relationships/image" Target="../media/image128.png"/><Relationship Id="rId5" Type="http://schemas.openxmlformats.org/officeDocument/2006/relationships/image" Target="../media/image119.png"/><Relationship Id="rId15" Type="http://schemas.openxmlformats.org/officeDocument/2006/relationships/image" Target="../media/image1150.png"/><Relationship Id="rId23" Type="http://schemas.openxmlformats.org/officeDocument/2006/relationships/image" Target="../media/image84.wmf"/><Relationship Id="rId28" Type="http://schemas.openxmlformats.org/officeDocument/2006/relationships/image" Target="../media/image132.png"/><Relationship Id="rId10" Type="http://schemas.openxmlformats.org/officeDocument/2006/relationships/image" Target="../media/image124.png"/><Relationship Id="rId19" Type="http://schemas.openxmlformats.org/officeDocument/2006/relationships/image" Target="../media/image1190.png"/><Relationship Id="rId4" Type="http://schemas.openxmlformats.org/officeDocument/2006/relationships/image" Target="../media/image118.png"/><Relationship Id="rId9" Type="http://schemas.openxmlformats.org/officeDocument/2006/relationships/image" Target="../media/image123.png"/><Relationship Id="rId14" Type="http://schemas.openxmlformats.org/officeDocument/2006/relationships/image" Target="../media/image125.png"/><Relationship Id="rId22" Type="http://schemas.openxmlformats.org/officeDocument/2006/relationships/oleObject" Target="../embeddings/oleObject1.bin"/><Relationship Id="rId27" Type="http://schemas.openxmlformats.org/officeDocument/2006/relationships/image" Target="../media/image13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139.png"/><Relationship Id="rId18" Type="http://schemas.openxmlformats.org/officeDocument/2006/relationships/image" Target="../media/image142.png"/><Relationship Id="rId3" Type="http://schemas.openxmlformats.org/officeDocument/2006/relationships/image" Target="../media/image134.png"/><Relationship Id="rId21" Type="http://schemas.openxmlformats.org/officeDocument/2006/relationships/image" Target="../media/image145.png"/><Relationship Id="rId7" Type="http://schemas.openxmlformats.org/officeDocument/2006/relationships/image" Target="../media/image138.png"/><Relationship Id="rId17" Type="http://schemas.openxmlformats.org/officeDocument/2006/relationships/image" Target="../media/image551.png"/><Relationship Id="rId2" Type="http://schemas.openxmlformats.org/officeDocument/2006/relationships/image" Target="../media/image133.png"/><Relationship Id="rId20" Type="http://schemas.openxmlformats.org/officeDocument/2006/relationships/image" Target="../media/image144.png"/><Relationship Id="rId1" Type="http://schemas.openxmlformats.org/officeDocument/2006/relationships/slideLayout" Target="../slideLayouts/slideLayout2.xml"/><Relationship Id="rId6" Type="http://schemas.openxmlformats.org/officeDocument/2006/relationships/image" Target="../media/image137.png"/><Relationship Id="rId24" Type="http://schemas.openxmlformats.org/officeDocument/2006/relationships/image" Target="../media/image148.png"/><Relationship Id="rId5" Type="http://schemas.openxmlformats.org/officeDocument/2006/relationships/image" Target="../media/image136.png"/><Relationship Id="rId23" Type="http://schemas.openxmlformats.org/officeDocument/2006/relationships/image" Target="../media/image147.png"/><Relationship Id="rId10" Type="http://schemas.openxmlformats.org/officeDocument/2006/relationships/image" Target="../media/image141.png"/><Relationship Id="rId19" Type="http://schemas.openxmlformats.org/officeDocument/2006/relationships/image" Target="../media/image143.png"/><Relationship Id="rId4" Type="http://schemas.openxmlformats.org/officeDocument/2006/relationships/image" Target="../media/image135.png"/><Relationship Id="rId9" Type="http://schemas.openxmlformats.org/officeDocument/2006/relationships/image" Target="../media/image140.png"/><Relationship Id="rId22" Type="http://schemas.openxmlformats.org/officeDocument/2006/relationships/image" Target="../media/image146.png"/></Relationships>
</file>

<file path=ppt/slides/_rels/slide24.xml.rels><?xml version="1.0" encoding="UTF-8" standalone="yes"?>
<Relationships xmlns="http://schemas.openxmlformats.org/package/2006/relationships"><Relationship Id="rId26" Type="http://schemas.openxmlformats.org/officeDocument/2006/relationships/image" Target="../media/image151.png"/><Relationship Id="rId39" Type="http://schemas.openxmlformats.org/officeDocument/2006/relationships/image" Target="../media/image164.png"/><Relationship Id="rId34" Type="http://schemas.openxmlformats.org/officeDocument/2006/relationships/image" Target="../media/image159.png"/><Relationship Id="rId42" Type="http://schemas.openxmlformats.org/officeDocument/2006/relationships/image" Target="../media/image166.png"/><Relationship Id="rId25" Type="http://schemas.openxmlformats.org/officeDocument/2006/relationships/image" Target="../media/image150.png"/><Relationship Id="rId33" Type="http://schemas.openxmlformats.org/officeDocument/2006/relationships/image" Target="../media/image158.png"/><Relationship Id="rId38" Type="http://schemas.openxmlformats.org/officeDocument/2006/relationships/image" Target="../media/image163.png"/><Relationship Id="rId29" Type="http://schemas.openxmlformats.org/officeDocument/2006/relationships/image" Target="../media/image154.png"/><Relationship Id="rId41" Type="http://schemas.openxmlformats.org/officeDocument/2006/relationships/image" Target="../media/image143.png"/><Relationship Id="rId1" Type="http://schemas.openxmlformats.org/officeDocument/2006/relationships/slideLayout" Target="../slideLayouts/slideLayout2.xml"/><Relationship Id="rId24" Type="http://schemas.openxmlformats.org/officeDocument/2006/relationships/image" Target="../media/image149.png"/><Relationship Id="rId32" Type="http://schemas.openxmlformats.org/officeDocument/2006/relationships/image" Target="../media/image157.png"/><Relationship Id="rId37" Type="http://schemas.openxmlformats.org/officeDocument/2006/relationships/image" Target="../media/image162.png"/><Relationship Id="rId40" Type="http://schemas.openxmlformats.org/officeDocument/2006/relationships/image" Target="../media/image165.png"/><Relationship Id="rId45" Type="http://schemas.openxmlformats.org/officeDocument/2006/relationships/image" Target="../media/image169.png"/><Relationship Id="rId23" Type="http://schemas.openxmlformats.org/officeDocument/2006/relationships/image" Target="../media/image1440.png"/><Relationship Id="rId28" Type="http://schemas.openxmlformats.org/officeDocument/2006/relationships/image" Target="../media/image153.png"/><Relationship Id="rId36" Type="http://schemas.openxmlformats.org/officeDocument/2006/relationships/image" Target="../media/image161.png"/><Relationship Id="rId31" Type="http://schemas.openxmlformats.org/officeDocument/2006/relationships/image" Target="../media/image156.png"/><Relationship Id="rId44" Type="http://schemas.openxmlformats.org/officeDocument/2006/relationships/image" Target="../media/image168.png"/><Relationship Id="rId27" Type="http://schemas.openxmlformats.org/officeDocument/2006/relationships/image" Target="../media/image152.png"/><Relationship Id="rId30" Type="http://schemas.openxmlformats.org/officeDocument/2006/relationships/image" Target="../media/image155.png"/><Relationship Id="rId35" Type="http://schemas.openxmlformats.org/officeDocument/2006/relationships/image" Target="../media/image160.png"/><Relationship Id="rId43" Type="http://schemas.openxmlformats.org/officeDocument/2006/relationships/image" Target="../media/image167.png"/></Relationships>
</file>

<file path=ppt/slides/_rels/slide25.xml.rels><?xml version="1.0" encoding="UTF-8" standalone="yes"?>
<Relationships xmlns="http://schemas.openxmlformats.org/package/2006/relationships"><Relationship Id="rId8" Type="http://schemas.openxmlformats.org/officeDocument/2006/relationships/image" Target="../media/image176.png"/><Relationship Id="rId13" Type="http://schemas.openxmlformats.org/officeDocument/2006/relationships/image" Target="../media/image181.png"/><Relationship Id="rId18" Type="http://schemas.openxmlformats.org/officeDocument/2006/relationships/image" Target="../media/image186.png"/><Relationship Id="rId3" Type="http://schemas.openxmlformats.org/officeDocument/2006/relationships/image" Target="../media/image171.png"/><Relationship Id="rId7" Type="http://schemas.openxmlformats.org/officeDocument/2006/relationships/image" Target="../media/image175.png"/><Relationship Id="rId12" Type="http://schemas.openxmlformats.org/officeDocument/2006/relationships/image" Target="../media/image180.png"/><Relationship Id="rId17" Type="http://schemas.openxmlformats.org/officeDocument/2006/relationships/image" Target="../media/image185.png"/><Relationship Id="rId2" Type="http://schemas.openxmlformats.org/officeDocument/2006/relationships/image" Target="../media/image170.png"/><Relationship Id="rId16" Type="http://schemas.openxmlformats.org/officeDocument/2006/relationships/image" Target="../media/image184.png"/><Relationship Id="rId20" Type="http://schemas.openxmlformats.org/officeDocument/2006/relationships/image" Target="../media/image188.png"/><Relationship Id="rId1" Type="http://schemas.openxmlformats.org/officeDocument/2006/relationships/slideLayout" Target="../slideLayouts/slideLayout2.xml"/><Relationship Id="rId6" Type="http://schemas.openxmlformats.org/officeDocument/2006/relationships/image" Target="../media/image174.png"/><Relationship Id="rId11" Type="http://schemas.openxmlformats.org/officeDocument/2006/relationships/image" Target="../media/image179.png"/><Relationship Id="rId5" Type="http://schemas.openxmlformats.org/officeDocument/2006/relationships/image" Target="../media/image173.png"/><Relationship Id="rId15" Type="http://schemas.openxmlformats.org/officeDocument/2006/relationships/image" Target="../media/image183.png"/><Relationship Id="rId10" Type="http://schemas.openxmlformats.org/officeDocument/2006/relationships/image" Target="../media/image178.png"/><Relationship Id="rId19" Type="http://schemas.openxmlformats.org/officeDocument/2006/relationships/image" Target="../media/image187.png"/><Relationship Id="rId4" Type="http://schemas.openxmlformats.org/officeDocument/2006/relationships/image" Target="../media/image172.png"/><Relationship Id="rId9" Type="http://schemas.openxmlformats.org/officeDocument/2006/relationships/image" Target="../media/image177.png"/><Relationship Id="rId14" Type="http://schemas.openxmlformats.org/officeDocument/2006/relationships/image" Target="../media/image182.png"/></Relationships>
</file>

<file path=ppt/slides/_rels/slide26.xml.rels><?xml version="1.0" encoding="UTF-8" standalone="yes"?>
<Relationships xmlns="http://schemas.openxmlformats.org/package/2006/relationships"><Relationship Id="rId8" Type="http://schemas.openxmlformats.org/officeDocument/2006/relationships/image" Target="../media/image1710.png"/><Relationship Id="rId3" Type="http://schemas.openxmlformats.org/officeDocument/2006/relationships/image" Target="../media/image189.png"/><Relationship Id="rId7" Type="http://schemas.openxmlformats.org/officeDocument/2006/relationships/image" Target="../media/image193.png"/><Relationship Id="rId2" Type="http://schemas.openxmlformats.org/officeDocument/2006/relationships/image" Target="../media/image1240.png"/><Relationship Id="rId1" Type="http://schemas.openxmlformats.org/officeDocument/2006/relationships/slideLayout" Target="../slideLayouts/slideLayout2.xml"/><Relationship Id="rId6" Type="http://schemas.openxmlformats.org/officeDocument/2006/relationships/image" Target="../media/image192.png"/><Relationship Id="rId5" Type="http://schemas.openxmlformats.org/officeDocument/2006/relationships/image" Target="../media/image191.png"/><Relationship Id="rId4" Type="http://schemas.openxmlformats.org/officeDocument/2006/relationships/image" Target="../media/image190.png"/></Relationships>
</file>

<file path=ppt/slides/_rels/slide27.xml.rels><?xml version="1.0" encoding="UTF-8" standalone="yes"?>
<Relationships xmlns="http://schemas.openxmlformats.org/package/2006/relationships"><Relationship Id="rId8" Type="http://schemas.openxmlformats.org/officeDocument/2006/relationships/image" Target="../media/image196.png"/><Relationship Id="rId13" Type="http://schemas.openxmlformats.org/officeDocument/2006/relationships/image" Target="../media/image201.png"/><Relationship Id="rId18" Type="http://schemas.openxmlformats.org/officeDocument/2006/relationships/image" Target="../media/image1250.png"/><Relationship Id="rId3" Type="http://schemas.openxmlformats.org/officeDocument/2006/relationships/image" Target="../media/image121.png"/><Relationship Id="rId7" Type="http://schemas.openxmlformats.org/officeDocument/2006/relationships/image" Target="../media/image195.png"/><Relationship Id="rId12" Type="http://schemas.openxmlformats.org/officeDocument/2006/relationships/image" Target="../media/image200.png"/><Relationship Id="rId17" Type="http://schemas.openxmlformats.org/officeDocument/2006/relationships/image" Target="../media/image561.png"/><Relationship Id="rId2" Type="http://schemas.openxmlformats.org/officeDocument/2006/relationships/image" Target="../media/image120.png"/><Relationship Id="rId16" Type="http://schemas.openxmlformats.org/officeDocument/2006/relationships/image" Target="../media/image1580.png"/><Relationship Id="rId1" Type="http://schemas.openxmlformats.org/officeDocument/2006/relationships/slideLayout" Target="../slideLayouts/slideLayout2.xml"/><Relationship Id="rId6" Type="http://schemas.openxmlformats.org/officeDocument/2006/relationships/image" Target="../media/image194.png"/><Relationship Id="rId11" Type="http://schemas.openxmlformats.org/officeDocument/2006/relationships/image" Target="../media/image199.png"/><Relationship Id="rId5" Type="http://schemas.openxmlformats.org/officeDocument/2006/relationships/image" Target="../media/image127.png"/><Relationship Id="rId15" Type="http://schemas.openxmlformats.org/officeDocument/2006/relationships/image" Target="../media/image203.png"/><Relationship Id="rId10" Type="http://schemas.openxmlformats.org/officeDocument/2006/relationships/image" Target="../media/image198.png"/><Relationship Id="rId4" Type="http://schemas.openxmlformats.org/officeDocument/2006/relationships/image" Target="../media/image122.png"/><Relationship Id="rId9" Type="http://schemas.openxmlformats.org/officeDocument/2006/relationships/image" Target="../media/image197.png"/><Relationship Id="rId14" Type="http://schemas.openxmlformats.org/officeDocument/2006/relationships/image" Target="../media/image202.png"/></Relationships>
</file>

<file path=ppt/slides/_rels/slide28.xml.rels><?xml version="1.0" encoding="UTF-8" standalone="yes"?>
<Relationships xmlns="http://schemas.openxmlformats.org/package/2006/relationships"><Relationship Id="rId13" Type="http://schemas.openxmlformats.org/officeDocument/2006/relationships/image" Target="../media/image1430.png"/><Relationship Id="rId18" Type="http://schemas.openxmlformats.org/officeDocument/2006/relationships/image" Target="../media/image209.png"/><Relationship Id="rId3" Type="http://schemas.openxmlformats.org/officeDocument/2006/relationships/image" Target="../media/image204.png"/><Relationship Id="rId21" Type="http://schemas.openxmlformats.org/officeDocument/2006/relationships/image" Target="../media/image212.png"/><Relationship Id="rId12" Type="http://schemas.openxmlformats.org/officeDocument/2006/relationships/image" Target="../media/image1270.png"/><Relationship Id="rId17" Type="http://schemas.openxmlformats.org/officeDocument/2006/relationships/image" Target="../media/image208.png"/><Relationship Id="rId25" Type="http://schemas.openxmlformats.org/officeDocument/2006/relationships/image" Target="../media/image216.png"/><Relationship Id="rId2" Type="http://schemas.openxmlformats.org/officeDocument/2006/relationships/notesSlide" Target="../notesSlides/notesSlide20.xml"/><Relationship Id="rId16" Type="http://schemas.openxmlformats.org/officeDocument/2006/relationships/image" Target="../media/image207.png"/><Relationship Id="rId20" Type="http://schemas.openxmlformats.org/officeDocument/2006/relationships/image" Target="../media/image211.png"/><Relationship Id="rId1" Type="http://schemas.openxmlformats.org/officeDocument/2006/relationships/slideLayout" Target="../slideLayouts/slideLayout2.xml"/><Relationship Id="rId11" Type="http://schemas.openxmlformats.org/officeDocument/2006/relationships/image" Target="../media/image641.png"/><Relationship Id="rId24" Type="http://schemas.openxmlformats.org/officeDocument/2006/relationships/image" Target="../media/image215.png"/><Relationship Id="rId15" Type="http://schemas.openxmlformats.org/officeDocument/2006/relationships/image" Target="../media/image206.png"/><Relationship Id="rId23" Type="http://schemas.openxmlformats.org/officeDocument/2006/relationships/image" Target="../media/image214.png"/><Relationship Id="rId19" Type="http://schemas.openxmlformats.org/officeDocument/2006/relationships/image" Target="../media/image210.png"/><Relationship Id="rId14" Type="http://schemas.openxmlformats.org/officeDocument/2006/relationships/image" Target="../media/image205.png"/><Relationship Id="rId22" Type="http://schemas.openxmlformats.org/officeDocument/2006/relationships/image" Target="../media/image213.png"/></Relationships>
</file>

<file path=ppt/slides/_rels/slide29.xml.rels><?xml version="1.0" encoding="UTF-8" standalone="yes"?>
<Relationships xmlns="http://schemas.openxmlformats.org/package/2006/relationships"><Relationship Id="rId26" Type="http://schemas.openxmlformats.org/officeDocument/2006/relationships/image" Target="../media/image219.png"/><Relationship Id="rId3" Type="http://schemas.openxmlformats.org/officeDocument/2006/relationships/image" Target="../media/image1080.png"/><Relationship Id="rId25" Type="http://schemas.openxmlformats.org/officeDocument/2006/relationships/image" Target="../media/image218.png"/><Relationship Id="rId33" Type="http://schemas.openxmlformats.org/officeDocument/2006/relationships/image" Target="../media/image221.png"/><Relationship Id="rId2" Type="http://schemas.openxmlformats.org/officeDocument/2006/relationships/notesSlide" Target="../notesSlides/notesSlide21.xml"/><Relationship Id="rId29" Type="http://schemas.openxmlformats.org/officeDocument/2006/relationships/image" Target="../media/image208.png"/><Relationship Id="rId1" Type="http://schemas.openxmlformats.org/officeDocument/2006/relationships/slideLayout" Target="../slideLayouts/slideLayout2.xml"/><Relationship Id="rId24" Type="http://schemas.openxmlformats.org/officeDocument/2006/relationships/image" Target="../media/image217.png"/><Relationship Id="rId32" Type="http://schemas.openxmlformats.org/officeDocument/2006/relationships/image" Target="../media/image220.png"/><Relationship Id="rId15" Type="http://schemas.openxmlformats.org/officeDocument/2006/relationships/image" Target="../media/image229.png"/><Relationship Id="rId23" Type="http://schemas.openxmlformats.org/officeDocument/2006/relationships/image" Target="../media/image2130.png"/><Relationship Id="rId28" Type="http://schemas.openxmlformats.org/officeDocument/2006/relationships/image" Target="../media/image207.png"/><Relationship Id="rId10" Type="http://schemas.openxmlformats.org/officeDocument/2006/relationships/image" Target="../media/image224.png"/><Relationship Id="rId31" Type="http://schemas.openxmlformats.org/officeDocument/2006/relationships/image" Target="../media/image210.png"/><Relationship Id="rId27" Type="http://schemas.openxmlformats.org/officeDocument/2006/relationships/image" Target="../media/image206.png"/><Relationship Id="rId30" Type="http://schemas.openxmlformats.org/officeDocument/2006/relationships/image" Target="../media/image209.png"/></Relationships>
</file>

<file path=ppt/slides/_rels/slide30.xml.rels><?xml version="1.0" encoding="UTF-8" standalone="yes"?>
<Relationships xmlns="http://schemas.openxmlformats.org/package/2006/relationships"><Relationship Id="rId8" Type="http://schemas.openxmlformats.org/officeDocument/2006/relationships/image" Target="../media/image225.png"/><Relationship Id="rId7" Type="http://schemas.openxmlformats.org/officeDocument/2006/relationships/image" Target="../media/image223.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200.png"/><Relationship Id="rId5" Type="http://schemas.openxmlformats.org/officeDocument/2006/relationships/image" Target="../media/image222.png"/><Relationship Id="rId10" Type="http://schemas.openxmlformats.org/officeDocument/2006/relationships/image" Target="../media/image226.png"/><Relationship Id="rId4" Type="http://schemas.openxmlformats.org/officeDocument/2006/relationships/image" Target="../media/image1861.png"/><Relationship Id="rId9" Type="http://schemas.openxmlformats.org/officeDocument/2006/relationships/image" Target="../media/image2230.png"/></Relationships>
</file>

<file path=ppt/slides/_rels/slide31.xml.rels><?xml version="1.0" encoding="UTF-8" standalone="yes"?>
<Relationships xmlns="http://schemas.openxmlformats.org/package/2006/relationships"><Relationship Id="rId8" Type="http://schemas.openxmlformats.org/officeDocument/2006/relationships/image" Target="../media/image231.png"/><Relationship Id="rId13" Type="http://schemas.openxmlformats.org/officeDocument/2006/relationships/image" Target="../media/image236.png"/><Relationship Id="rId3" Type="http://schemas.openxmlformats.org/officeDocument/2006/relationships/image" Target="../media/image226.png"/><Relationship Id="rId7" Type="http://schemas.openxmlformats.org/officeDocument/2006/relationships/image" Target="../media/image230.png"/><Relationship Id="rId12" Type="http://schemas.openxmlformats.org/officeDocument/2006/relationships/image" Target="../media/image235.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28.png"/><Relationship Id="rId11" Type="http://schemas.openxmlformats.org/officeDocument/2006/relationships/image" Target="../media/image234.png"/><Relationship Id="rId5" Type="http://schemas.openxmlformats.org/officeDocument/2006/relationships/image" Target="../media/image227.png"/><Relationship Id="rId10" Type="http://schemas.openxmlformats.org/officeDocument/2006/relationships/image" Target="../media/image233.png"/><Relationship Id="rId4" Type="http://schemas.openxmlformats.org/officeDocument/2006/relationships/image" Target="../media/image2171.png"/><Relationship Id="rId9" Type="http://schemas.openxmlformats.org/officeDocument/2006/relationships/image" Target="../media/image232.png"/><Relationship Id="rId14" Type="http://schemas.openxmlformats.org/officeDocument/2006/relationships/image" Target="../media/image23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a:extLst>
              <a:ext uri="{FF2B5EF4-FFF2-40B4-BE49-F238E27FC236}">
                <a16:creationId xmlns:a16="http://schemas.microsoft.com/office/drawing/2014/main" id="{89073248-787E-5D40-AE5E-610E41D0A30C}"/>
              </a:ext>
            </a:extLst>
          </p:cNvPr>
          <p:cNvSpPr txBox="1">
            <a:spLocks/>
          </p:cNvSpPr>
          <p:nvPr/>
        </p:nvSpPr>
        <p:spPr>
          <a:xfrm>
            <a:off x="0" y="2817091"/>
            <a:ext cx="12191999" cy="1226516"/>
          </a:xfrm>
          <a:prstGeom prst="rect">
            <a:avLst/>
          </a:prstGeom>
        </p:spPr>
        <p:txBody>
          <a:bodyPr lIns="0" tIns="0" rIns="0" bIns="0"/>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20000"/>
              </a:lnSpc>
            </a:pPr>
            <a:r>
              <a:rPr lang="zh-CN" altLang="en-US" sz="5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charset="-122"/>
              </a:rPr>
              <a:t>二极管</a:t>
            </a:r>
            <a:endParaRPr lang="en-US" altLang="zh-CN" sz="5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微软雅黑" panose="020B0503020204020204" charset="-122"/>
            </a:endParaRPr>
          </a:p>
        </p:txBody>
      </p:sp>
      <p:sp>
        <p:nvSpPr>
          <p:cNvPr id="6" name="矩形 5">
            <a:extLst>
              <a:ext uri="{FF2B5EF4-FFF2-40B4-BE49-F238E27FC236}">
                <a16:creationId xmlns:a16="http://schemas.microsoft.com/office/drawing/2014/main" id="{9D42438B-9455-BCBC-7490-250107AE8BAC}"/>
              </a:ext>
            </a:extLst>
          </p:cNvPr>
          <p:cNvSpPr/>
          <p:nvPr/>
        </p:nvSpPr>
        <p:spPr>
          <a:xfrm>
            <a:off x="0" y="252787"/>
            <a:ext cx="4271375"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1C03BB9C-92C3-DE18-5792-0E22FDDAA0A4}"/>
              </a:ext>
            </a:extLst>
          </p:cNvPr>
          <p:cNvSpPr/>
          <p:nvPr/>
        </p:nvSpPr>
        <p:spPr>
          <a:xfrm>
            <a:off x="4115280" y="5040000"/>
            <a:ext cx="3961438" cy="523220"/>
          </a:xfrm>
          <a:prstGeom prst="rect">
            <a:avLst/>
          </a:prstGeom>
        </p:spPr>
        <p:txBody>
          <a:bodyPr wrap="square">
            <a:spAutoFit/>
          </a:bodyPr>
          <a:lstStyle/>
          <a:p>
            <a:pPr algn="ctr">
              <a:spcAft>
                <a:spcPts val="1200"/>
              </a:spcAft>
            </a:pPr>
            <a:r>
              <a:rPr lang="zh-CN" altLang="en-US" sz="2800" dirty="0">
                <a:solidFill>
                  <a:prstClr val="black"/>
                </a:solidFill>
                <a:latin typeface="微软雅黑" panose="020B0503020204020204" pitchFamily="34" charset="-122"/>
                <a:ea typeface="微软雅黑" panose="020B0503020204020204" pitchFamily="34" charset="-122"/>
              </a:rPr>
              <a:t>模电 </a:t>
            </a:r>
            <a:r>
              <a:rPr lang="en-US" altLang="zh-CN" sz="2800" dirty="0">
                <a:solidFill>
                  <a:prstClr val="black"/>
                </a:solidFill>
                <a:latin typeface="微软雅黑" panose="020B0503020204020204" pitchFamily="34" charset="-122"/>
                <a:ea typeface="微软雅黑" panose="020B0503020204020204" pitchFamily="34" charset="-122"/>
              </a:rPr>
              <a:t>P51 – 84</a:t>
            </a:r>
          </a:p>
        </p:txBody>
      </p:sp>
      <p:pic>
        <p:nvPicPr>
          <p:cNvPr id="12" name="图片 11" descr="图片包含 图形用户界面&#10;&#10;描述已自动生成">
            <a:extLst>
              <a:ext uri="{FF2B5EF4-FFF2-40B4-BE49-F238E27FC236}">
                <a16:creationId xmlns:a16="http://schemas.microsoft.com/office/drawing/2014/main" id="{36B95622-439B-2F01-3763-4744D210F1DF}"/>
              </a:ext>
            </a:extLst>
          </p:cNvPr>
          <p:cNvPicPr>
            <a:picLocks noChangeAspect="1"/>
          </p:cNvPicPr>
          <p:nvPr/>
        </p:nvPicPr>
        <p:blipFill>
          <a:blip r:embed="rId3">
            <a:extLst>
              <a:ext uri="{28A0092B-C50C-407E-A947-70E740481C1C}">
                <a14:useLocalDpi xmlns:a14="http://schemas.microsoft.com/office/drawing/2010/main" val="0"/>
              </a:ext>
            </a:extLst>
          </a:blip>
          <a:srcRect l="12638" t="27915" r="8682" b="26692"/>
          <a:stretch/>
        </p:blipFill>
        <p:spPr>
          <a:xfrm>
            <a:off x="0" y="0"/>
            <a:ext cx="4405745" cy="998424"/>
          </a:xfrm>
          <a:prstGeom prst="rect">
            <a:avLst/>
          </a:prstGeom>
        </p:spPr>
      </p:pic>
      <p:sp>
        <p:nvSpPr>
          <p:cNvPr id="3" name="文本框 2">
            <a:extLst>
              <a:ext uri="{FF2B5EF4-FFF2-40B4-BE49-F238E27FC236}">
                <a16:creationId xmlns:a16="http://schemas.microsoft.com/office/drawing/2014/main" id="{93570352-420A-0C13-044B-FD4A338CD6AA}"/>
              </a:ext>
            </a:extLst>
          </p:cNvPr>
          <p:cNvSpPr txBox="1"/>
          <p:nvPr/>
        </p:nvSpPr>
        <p:spPr>
          <a:xfrm>
            <a:off x="0" y="1931813"/>
            <a:ext cx="9531927" cy="584775"/>
          </a:xfrm>
          <a:prstGeom prst="rect">
            <a:avLst/>
          </a:prstGeom>
          <a:noFill/>
        </p:spPr>
        <p:txBody>
          <a:bodyPr wrap="square">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rPr>
              <a:t>模拟与数字电路 </a:t>
            </a:r>
            <a:r>
              <a:rPr lang="en-US" altLang="zh-CN" sz="3200" b="1" dirty="0">
                <a:solidFill>
                  <a:schemeClr val="bg1"/>
                </a:solidFill>
                <a:latin typeface="微软雅黑" panose="020B0503020204020204" pitchFamily="34" charset="-122"/>
                <a:ea typeface="微软雅黑" panose="020B0503020204020204" pitchFamily="34" charset="-122"/>
              </a:rPr>
              <a:t>(Analog and Digital Circuits)</a:t>
            </a:r>
            <a:endParaRPr lang="zh-CN" altLang="en-US" sz="3200" b="1" dirty="0">
              <a:solidFill>
                <a:schemeClr val="bg1"/>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37EF3C51-ACC3-CEB4-0CD3-FB5FA64AEC1C}"/>
              </a:ext>
            </a:extLst>
          </p:cNvPr>
          <p:cNvSpPr/>
          <p:nvPr/>
        </p:nvSpPr>
        <p:spPr>
          <a:xfrm>
            <a:off x="0" y="6352426"/>
            <a:ext cx="12192000" cy="5055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b="1" dirty="0">
                <a:latin typeface="微软雅黑" panose="020B0503020204020204" pitchFamily="34" charset="-122"/>
                <a:ea typeface="微软雅黑" panose="020B0503020204020204" pitchFamily="34" charset="-122"/>
              </a:rPr>
              <a:t>计算机科学与技术学院本科课程</a:t>
            </a:r>
          </a:p>
        </p:txBody>
      </p:sp>
    </p:spTree>
    <p:extLst>
      <p:ext uri="{BB962C8B-B14F-4D97-AF65-F5344CB8AC3E}">
        <p14:creationId xmlns:p14="http://schemas.microsoft.com/office/powerpoint/2010/main" val="2533195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F45B4BAD-F1AF-DA8F-D325-2AEA13223897}"/>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84CADB5B-DD68-FB6B-CE4A-4D568A53302E}"/>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D9CA2CB5-31A5-2271-2D0D-B793AF350D1F}"/>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015BBDD1-4572-5612-26B6-27B8BA888977}"/>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98A25324-8856-1585-AC55-264ACE01D509}"/>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a:t>
              </a:fld>
              <a:endParaRPr lang="zh-CN" altLang="en-US" sz="3200" dirty="0">
                <a:solidFill>
                  <a:schemeClr val="bg1"/>
                </a:solidFill>
                <a:latin typeface="Candara"/>
                <a:ea typeface="微软雅黑"/>
              </a:endParaRPr>
            </a:p>
          </p:txBody>
        </p:sp>
      </p:grpSp>
      <p:sp>
        <p:nvSpPr>
          <p:cNvPr id="2" name="文本框 1">
            <a:extLst>
              <a:ext uri="{FF2B5EF4-FFF2-40B4-BE49-F238E27FC236}">
                <a16:creationId xmlns:a16="http://schemas.microsoft.com/office/drawing/2014/main" id="{D0517502-F637-4D3B-E637-8F99D0AD8757}"/>
              </a:ext>
            </a:extLst>
          </p:cNvPr>
          <p:cNvSpPr txBox="1"/>
          <p:nvPr/>
        </p:nvSpPr>
        <p:spPr>
          <a:xfrm>
            <a:off x="1296000" y="1296000"/>
            <a:ext cx="6615331" cy="1519455"/>
          </a:xfrm>
          <a:prstGeom prst="rect">
            <a:avLst/>
          </a:prstGeom>
          <a:noFill/>
        </p:spPr>
        <p:txBody>
          <a:bodyPr wrap="square">
            <a:spAutoFit/>
          </a:bodyPr>
          <a:lstStyle/>
          <a:p>
            <a:pPr marL="571500" indent="-571500">
              <a:lnSpc>
                <a:spcPct val="120000"/>
              </a:lnSpc>
              <a:spcBef>
                <a:spcPts val="600"/>
              </a:spcBef>
              <a:spcAft>
                <a:spcPts val="600"/>
              </a:spcAft>
              <a:buFont typeface="Arial" panose="020B0604020202020204" pitchFamily="34" charset="0"/>
              <a:buChar char="•"/>
            </a:pPr>
            <a:r>
              <a:rPr lang="zh-CN" altLang="en-US" sz="3600" dirty="0">
                <a:solidFill>
                  <a:srgbClr val="002060"/>
                </a:solidFill>
                <a:latin typeface="微软雅黑" panose="020B0503020204020204" pitchFamily="34" charset="-122"/>
                <a:ea typeface="微软雅黑" panose="020B0503020204020204" pitchFamily="34" charset="-122"/>
              </a:rPr>
              <a:t>半导体的基本知识</a:t>
            </a:r>
            <a:endParaRPr lang="en-US" altLang="zh-CN" sz="3600" dirty="0">
              <a:solidFill>
                <a:srgbClr val="002060"/>
              </a:solidFill>
              <a:latin typeface="微软雅黑" panose="020B0503020204020204" pitchFamily="34" charset="-122"/>
              <a:ea typeface="微软雅黑" panose="020B0503020204020204" pitchFamily="34" charset="-122"/>
            </a:endParaRPr>
          </a:p>
          <a:p>
            <a:pPr marL="571500" indent="-571500">
              <a:lnSpc>
                <a:spcPct val="120000"/>
              </a:lnSpc>
              <a:spcBef>
                <a:spcPts val="600"/>
              </a:spcBef>
              <a:spcAft>
                <a:spcPts val="600"/>
              </a:spcAft>
              <a:buFont typeface="Arial" panose="020B0604020202020204" pitchFamily="34" charset="0"/>
              <a:buChar char="•"/>
            </a:pPr>
            <a:r>
              <a:rPr lang="zh-CN" altLang="en-US" sz="3600" dirty="0">
                <a:solidFill>
                  <a:srgbClr val="002060"/>
                </a:solidFill>
                <a:latin typeface="微软雅黑" panose="020B0503020204020204" pitchFamily="34" charset="-122"/>
                <a:ea typeface="微软雅黑" panose="020B0503020204020204" pitchFamily="34" charset="-122"/>
              </a:rPr>
              <a:t>二极管及其应用</a:t>
            </a:r>
            <a:endParaRPr lang="en-US" altLang="zh-CN" sz="3600" dirty="0">
              <a:solidFill>
                <a:srgbClr val="002060"/>
              </a:solidFill>
              <a:latin typeface="微软雅黑" panose="020B0503020204020204" pitchFamily="34" charset="-122"/>
              <a:ea typeface="微软雅黑" panose="020B0503020204020204" pitchFamily="34" charset="-122"/>
            </a:endParaRPr>
          </a:p>
        </p:txBody>
      </p:sp>
      <p:sp>
        <p:nvSpPr>
          <p:cNvPr id="9" name="标题 1">
            <a:extLst>
              <a:ext uri="{FF2B5EF4-FFF2-40B4-BE49-F238E27FC236}">
                <a16:creationId xmlns:a16="http://schemas.microsoft.com/office/drawing/2014/main" id="{10B4AF81-25E8-9B39-21D8-80AAFE8E116B}"/>
              </a:ext>
            </a:extLst>
          </p:cNvPr>
          <p:cNvSpPr txBox="1">
            <a:spLocks/>
          </p:cNvSpPr>
          <p:nvPr/>
        </p:nvSpPr>
        <p:spPr>
          <a:xfrm>
            <a:off x="360000" y="0"/>
            <a:ext cx="11826000" cy="548639"/>
          </a:xfrm>
          <a:prstGeom prst="rect">
            <a:avLst/>
          </a:prstGeom>
        </p:spPr>
        <p:txBody>
          <a:bodyPr anchor="b">
            <a:normAutofit/>
          </a:bodyPr>
          <a:lstStyle>
            <a:defPPr>
              <a:defRPr lang="zh-CN"/>
            </a:defPPr>
            <a:lvl1pPr marL="0" algn="l" defTabSz="914400" rtl="0" eaLnBrk="1" latinLnBrk="0" hangingPunct="1">
              <a:lnSpc>
                <a:spcPct val="90000"/>
              </a:lnSpc>
              <a:spcBef>
                <a:spcPct val="0"/>
              </a:spcBef>
              <a:buNone/>
              <a:defRPr sz="3200" b="1" kern="1200">
                <a:solidFill>
                  <a:schemeClr val="bg1"/>
                </a:solidFill>
                <a:latin typeface="微软雅黑" panose="020B0503020204020204" pitchFamily="34" charset="-122"/>
                <a:ea typeface="微软雅黑" panose="020B0503020204020204" pitchFamily="34" charset="-122"/>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000" dirty="0"/>
              <a:t>内容提纲</a:t>
            </a:r>
          </a:p>
        </p:txBody>
      </p:sp>
    </p:spTree>
    <p:extLst>
      <p:ext uri="{BB962C8B-B14F-4D97-AF65-F5344CB8AC3E}">
        <p14:creationId xmlns:p14="http://schemas.microsoft.com/office/powerpoint/2010/main" val="4167439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09E84CE-2EF2-E42A-A40E-3DB8B14E0BC2}"/>
              </a:ext>
            </a:extLst>
          </p:cNvPr>
          <p:cNvSpPr txBox="1"/>
          <p:nvPr/>
        </p:nvSpPr>
        <p:spPr>
          <a:xfrm>
            <a:off x="360000" y="828000"/>
            <a:ext cx="10786211" cy="2723181"/>
          </a:xfrm>
          <a:prstGeom prst="rect">
            <a:avLst/>
          </a:prstGeom>
          <a:noFill/>
        </p:spPr>
        <p:txBody>
          <a:bodyPr wrap="square">
            <a:spAutoFit/>
          </a:bodyPr>
          <a:lstStyle/>
          <a:p>
            <a:pPr>
              <a:lnSpc>
                <a:spcPct val="120000"/>
              </a:lnSpc>
              <a:spcAft>
                <a:spcPts val="600"/>
              </a:spcAft>
            </a:pPr>
            <a:r>
              <a:rPr kumimoji="1" lang="zh-CN" altLang="en-US" sz="2800" b="1" dirty="0">
                <a:solidFill>
                  <a:srgbClr val="002060"/>
                </a:solidFill>
                <a:latin typeface="微软雅黑" panose="020B0503020204020204" pitchFamily="34" charset="-122"/>
                <a:ea typeface="微软雅黑" panose="020B0503020204020204" pitchFamily="34" charset="-122"/>
              </a:rPr>
              <a:t>半导体</a:t>
            </a:r>
            <a:r>
              <a:rPr kumimoji="1" lang="zh-CN" altLang="en-US" sz="2800" dirty="0">
                <a:solidFill>
                  <a:srgbClr val="002060"/>
                </a:solidFill>
                <a:latin typeface="微软雅黑" panose="020B0503020204020204" pitchFamily="34" charset="-122"/>
                <a:ea typeface="微软雅黑" panose="020B0503020204020204" pitchFamily="34" charset="-122"/>
              </a:rPr>
              <a:t>：常温下导电性能介于导体和绝缘体之间的材料，用于制造现代电子器件，常用的包括硅（</a:t>
            </a:r>
            <a:r>
              <a:rPr kumimoji="1" lang="en-US" altLang="zh-CN" sz="2800" dirty="0">
                <a:solidFill>
                  <a:srgbClr val="002060"/>
                </a:solidFill>
                <a:latin typeface="微软雅黑" panose="020B0503020204020204" pitchFamily="34" charset="-122"/>
                <a:ea typeface="微软雅黑" panose="020B0503020204020204" pitchFamily="34" charset="-122"/>
              </a:rPr>
              <a:t>Si</a:t>
            </a:r>
            <a:r>
              <a:rPr kumimoji="1" lang="zh-CN" altLang="en-US" sz="2800" dirty="0">
                <a:solidFill>
                  <a:srgbClr val="002060"/>
                </a:solidFill>
                <a:latin typeface="微软雅黑" panose="020B0503020204020204" pitchFamily="34" charset="-122"/>
                <a:ea typeface="微软雅黑" panose="020B0503020204020204" pitchFamily="34" charset="-122"/>
              </a:rPr>
              <a:t>）、锗（</a:t>
            </a:r>
            <a:r>
              <a:rPr kumimoji="1" lang="en-US" altLang="zh-CN" sz="2800" dirty="0">
                <a:solidFill>
                  <a:srgbClr val="002060"/>
                </a:solidFill>
                <a:latin typeface="微软雅黑" panose="020B0503020204020204" pitchFamily="34" charset="-122"/>
                <a:ea typeface="微软雅黑" panose="020B0503020204020204" pitchFamily="34" charset="-122"/>
              </a:rPr>
              <a:t>Ge</a:t>
            </a:r>
            <a:r>
              <a:rPr kumimoji="1" lang="zh-CN" altLang="en-US" sz="2800" dirty="0">
                <a:solidFill>
                  <a:srgbClr val="002060"/>
                </a:solidFill>
                <a:latin typeface="微软雅黑" panose="020B0503020204020204" pitchFamily="34" charset="-122"/>
                <a:ea typeface="微软雅黑" panose="020B0503020204020204" pitchFamily="34" charset="-122"/>
              </a:rPr>
              <a:t>）、砷化镓（</a:t>
            </a:r>
            <a:r>
              <a:rPr kumimoji="1" lang="en-US" altLang="zh-CN" sz="2800" dirty="0">
                <a:solidFill>
                  <a:srgbClr val="002060"/>
                </a:solidFill>
                <a:latin typeface="微软雅黑" panose="020B0503020204020204" pitchFamily="34" charset="-122"/>
                <a:ea typeface="微软雅黑" panose="020B0503020204020204" pitchFamily="34" charset="-122"/>
              </a:rPr>
              <a:t>GaAs</a:t>
            </a:r>
            <a:r>
              <a:rPr kumimoji="1" lang="zh-CN" altLang="en-US" sz="2800" dirty="0">
                <a:solidFill>
                  <a:srgbClr val="002060"/>
                </a:solidFill>
                <a:latin typeface="微软雅黑" panose="020B0503020204020204" pitchFamily="34" charset="-122"/>
                <a:ea typeface="微软雅黑" panose="020B0503020204020204" pitchFamily="34" charset="-122"/>
              </a:rPr>
              <a:t>）</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半导体特性：</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受热或光照，导电能力发生显著变化</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纯净半导体中加入微量杂质后，导电能力发生显著变化</a:t>
            </a:r>
          </a:p>
        </p:txBody>
      </p:sp>
      <p:grpSp>
        <p:nvGrpSpPr>
          <p:cNvPr id="4" name="组合 3">
            <a:extLst>
              <a:ext uri="{FF2B5EF4-FFF2-40B4-BE49-F238E27FC236}">
                <a16:creationId xmlns:a16="http://schemas.microsoft.com/office/drawing/2014/main" id="{36DD4D54-301A-1D9C-205E-7C1A5A06E2FA}"/>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2AB34872-72FF-82FC-368C-7797662E36AF}"/>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2D5F5EA4-C572-D8E3-5ADE-85B3AEDEB3C3}"/>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B1410301-984B-86B2-BFB6-B338A57DF1C7}"/>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E841CF6D-CC3E-8640-EC9D-39653CA2047B}"/>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3</a:t>
              </a:fld>
              <a:endParaRPr lang="zh-CN" altLang="en-US" sz="3200" dirty="0">
                <a:solidFill>
                  <a:schemeClr val="bg1"/>
                </a:solidFill>
                <a:latin typeface="Candara"/>
                <a:ea typeface="微软雅黑"/>
              </a:endParaRPr>
            </a:p>
          </p:txBody>
        </p:sp>
      </p:grpSp>
      <p:sp>
        <p:nvSpPr>
          <p:cNvPr id="10" name="文本框 9">
            <a:extLst>
              <a:ext uri="{FF2B5EF4-FFF2-40B4-BE49-F238E27FC236}">
                <a16:creationId xmlns:a16="http://schemas.microsoft.com/office/drawing/2014/main" id="{E6188E1C-9E07-9DED-23F4-E8465F2F2A14}"/>
              </a:ext>
            </a:extLst>
          </p:cNvPr>
          <p:cNvSpPr txBox="1"/>
          <p:nvPr/>
        </p:nvSpPr>
        <p:spPr>
          <a:xfrm>
            <a:off x="0" y="4894320"/>
            <a:ext cx="12186347" cy="520700"/>
          </a:xfrm>
          <a:prstGeom prst="rect">
            <a:avLst/>
          </a:prstGeom>
          <a:noFill/>
        </p:spPr>
        <p:txBody>
          <a:bodyPr wrap="square">
            <a:spAutoFit/>
          </a:bodyPr>
          <a:lstStyle/>
          <a:p>
            <a:pPr lvl="1"/>
            <a:r>
              <a:rPr lang="zh-CN" altLang="en-US" sz="2800" dirty="0">
                <a:solidFill>
                  <a:srgbClr val="0000FF"/>
                </a:solidFill>
                <a:latin typeface="微软雅黑" panose="020B0503020204020204" pitchFamily="34" charset="-122"/>
                <a:ea typeface="微软雅黑" panose="020B0503020204020204" pitchFamily="34" charset="-122"/>
              </a:rPr>
              <a:t>这些特性可用于制造热敏电阻、光敏电阻、二极管、三极管等器件</a:t>
            </a:r>
          </a:p>
        </p:txBody>
      </p:sp>
      <p:sp>
        <p:nvSpPr>
          <p:cNvPr id="11" name="箭头: 下 10">
            <a:extLst>
              <a:ext uri="{FF2B5EF4-FFF2-40B4-BE49-F238E27FC236}">
                <a16:creationId xmlns:a16="http://schemas.microsoft.com/office/drawing/2014/main" id="{1F479FF9-0753-B11C-312A-4BBA3BF0CF8F}"/>
              </a:ext>
            </a:extLst>
          </p:cNvPr>
          <p:cNvSpPr/>
          <p:nvPr/>
        </p:nvSpPr>
        <p:spPr>
          <a:xfrm>
            <a:off x="5760000" y="3960000"/>
            <a:ext cx="540000" cy="540000"/>
          </a:xfrm>
          <a:prstGeom prst="downArrow">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标题 1">
            <a:extLst>
              <a:ext uri="{FF2B5EF4-FFF2-40B4-BE49-F238E27FC236}">
                <a16:creationId xmlns:a16="http://schemas.microsoft.com/office/drawing/2014/main" id="{1C415425-E2DD-C48C-26E6-B15526A0D45F}"/>
              </a:ext>
            </a:extLst>
          </p:cNvPr>
          <p:cNvSpPr txBox="1">
            <a:spLocks/>
          </p:cNvSpPr>
          <p:nvPr/>
        </p:nvSpPr>
        <p:spPr>
          <a:xfrm>
            <a:off x="360000" y="0"/>
            <a:ext cx="11826000" cy="548639"/>
          </a:xfrm>
          <a:prstGeom prst="rect">
            <a:avLst/>
          </a:prstGeom>
        </p:spPr>
        <p:txBody>
          <a:bodyPr anchor="b">
            <a:normAutofit/>
          </a:bodyPr>
          <a:lstStyle>
            <a:defPPr>
              <a:defRPr lang="zh-CN"/>
            </a:defPPr>
            <a:lvl1pPr marL="0" algn="l" defTabSz="914400" rtl="0" eaLnBrk="1" latinLnBrk="0" hangingPunct="1">
              <a:lnSpc>
                <a:spcPct val="90000"/>
              </a:lnSpc>
              <a:spcBef>
                <a:spcPct val="0"/>
              </a:spcBef>
              <a:buNone/>
              <a:defRPr sz="3200" b="1" kern="1200">
                <a:solidFill>
                  <a:schemeClr val="bg1"/>
                </a:solidFill>
                <a:latin typeface="微软雅黑" panose="020B0503020204020204" pitchFamily="34" charset="-122"/>
                <a:ea typeface="微软雅黑" panose="020B0503020204020204" pitchFamily="34" charset="-122"/>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000" dirty="0"/>
              <a:t>半导体的基本知识</a:t>
            </a:r>
            <a:endParaRPr lang="en-US" altLang="zh-CN" sz="3000" dirty="0"/>
          </a:p>
        </p:txBody>
      </p:sp>
    </p:spTree>
    <p:extLst>
      <p:ext uri="{BB962C8B-B14F-4D97-AF65-F5344CB8AC3E}">
        <p14:creationId xmlns:p14="http://schemas.microsoft.com/office/powerpoint/2010/main" val="2888472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16DD4-0893-5EDE-D491-62AFCA946A89}"/>
            </a:ext>
          </a:extLst>
        </p:cNvPr>
        <p:cNvGrpSpPr/>
        <p:nvPr/>
      </p:nvGrpSpPr>
      <p:grpSpPr>
        <a:xfrm>
          <a:off x="0" y="0"/>
          <a:ext cx="0" cy="0"/>
          <a:chOff x="0" y="0"/>
          <a:chExt cx="0" cy="0"/>
        </a:xfrm>
      </p:grpSpPr>
      <p:grpSp>
        <p:nvGrpSpPr>
          <p:cNvPr id="870" name="组合 869">
            <a:extLst>
              <a:ext uri="{FF2B5EF4-FFF2-40B4-BE49-F238E27FC236}">
                <a16:creationId xmlns:a16="http://schemas.microsoft.com/office/drawing/2014/main" id="{72C8DB0A-F70A-C09F-4983-80324680D8DA}"/>
              </a:ext>
            </a:extLst>
          </p:cNvPr>
          <p:cNvGrpSpPr/>
          <p:nvPr/>
        </p:nvGrpSpPr>
        <p:grpSpPr>
          <a:xfrm>
            <a:off x="6660000" y="2700000"/>
            <a:ext cx="4104000" cy="4104000"/>
            <a:chOff x="7452000" y="2484000"/>
            <a:chExt cx="4104000" cy="4104000"/>
          </a:xfrm>
        </p:grpSpPr>
        <p:sp>
          <p:nvSpPr>
            <p:cNvPr id="871" name="椭圆 870">
              <a:extLst>
                <a:ext uri="{FF2B5EF4-FFF2-40B4-BE49-F238E27FC236}">
                  <a16:creationId xmlns:a16="http://schemas.microsoft.com/office/drawing/2014/main" id="{315E83F0-820B-752E-68A3-48BBEF2BACB3}"/>
                </a:ext>
              </a:extLst>
            </p:cNvPr>
            <p:cNvSpPr/>
            <p:nvPr/>
          </p:nvSpPr>
          <p:spPr>
            <a:xfrm>
              <a:off x="7488000" y="3348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872" name="椭圆 871">
              <a:extLst>
                <a:ext uri="{FF2B5EF4-FFF2-40B4-BE49-F238E27FC236}">
                  <a16:creationId xmlns:a16="http://schemas.microsoft.com/office/drawing/2014/main" id="{4FD36F0F-0925-CAFD-2E68-50DADDBB7EBC}"/>
                </a:ext>
              </a:extLst>
            </p:cNvPr>
            <p:cNvSpPr/>
            <p:nvPr/>
          </p:nvSpPr>
          <p:spPr>
            <a:xfrm>
              <a:off x="7488000" y="4356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873" name="椭圆 872">
              <a:extLst>
                <a:ext uri="{FF2B5EF4-FFF2-40B4-BE49-F238E27FC236}">
                  <a16:creationId xmlns:a16="http://schemas.microsoft.com/office/drawing/2014/main" id="{AE6E4F0F-3C7B-D8EA-11D7-138208A3680A}"/>
                </a:ext>
              </a:extLst>
            </p:cNvPr>
            <p:cNvSpPr/>
            <p:nvPr/>
          </p:nvSpPr>
          <p:spPr>
            <a:xfrm>
              <a:off x="7488000" y="5364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874" name="椭圆 873">
              <a:extLst>
                <a:ext uri="{FF2B5EF4-FFF2-40B4-BE49-F238E27FC236}">
                  <a16:creationId xmlns:a16="http://schemas.microsoft.com/office/drawing/2014/main" id="{9FD52774-A9A5-061B-B555-312296BE74EE}"/>
                </a:ext>
              </a:extLst>
            </p:cNvPr>
            <p:cNvSpPr/>
            <p:nvPr/>
          </p:nvSpPr>
          <p:spPr>
            <a:xfrm>
              <a:off x="8316000" y="3528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875" name="椭圆 874">
              <a:extLst>
                <a:ext uri="{FF2B5EF4-FFF2-40B4-BE49-F238E27FC236}">
                  <a16:creationId xmlns:a16="http://schemas.microsoft.com/office/drawing/2014/main" id="{930743B7-6D64-0526-2EC1-2EAF69363D4F}"/>
                </a:ext>
              </a:extLst>
            </p:cNvPr>
            <p:cNvSpPr/>
            <p:nvPr/>
          </p:nvSpPr>
          <p:spPr>
            <a:xfrm>
              <a:off x="8316000" y="2520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876" name="椭圆 875">
              <a:extLst>
                <a:ext uri="{FF2B5EF4-FFF2-40B4-BE49-F238E27FC236}">
                  <a16:creationId xmlns:a16="http://schemas.microsoft.com/office/drawing/2014/main" id="{57D1209E-50D2-2296-92F7-CA18952EDDA3}"/>
                </a:ext>
              </a:extLst>
            </p:cNvPr>
            <p:cNvSpPr/>
            <p:nvPr/>
          </p:nvSpPr>
          <p:spPr>
            <a:xfrm>
              <a:off x="8496000" y="3348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877" name="椭圆 876">
              <a:extLst>
                <a:ext uri="{FF2B5EF4-FFF2-40B4-BE49-F238E27FC236}">
                  <a16:creationId xmlns:a16="http://schemas.microsoft.com/office/drawing/2014/main" id="{E1C2DB8D-664E-F74B-8347-BDA64A1E14A7}"/>
                </a:ext>
              </a:extLst>
            </p:cNvPr>
            <p:cNvSpPr/>
            <p:nvPr/>
          </p:nvSpPr>
          <p:spPr>
            <a:xfrm>
              <a:off x="8172000" y="347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78" name="椭圆 877">
              <a:extLst>
                <a:ext uri="{FF2B5EF4-FFF2-40B4-BE49-F238E27FC236}">
                  <a16:creationId xmlns:a16="http://schemas.microsoft.com/office/drawing/2014/main" id="{A489030D-62E7-F27E-0AF9-9ABEF92BB47F}"/>
                </a:ext>
              </a:extLst>
            </p:cNvPr>
            <p:cNvSpPr/>
            <p:nvPr/>
          </p:nvSpPr>
          <p:spPr>
            <a:xfrm>
              <a:off x="8316000" y="3348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879" name="文本框 878">
              <a:extLst>
                <a:ext uri="{FF2B5EF4-FFF2-40B4-BE49-F238E27FC236}">
                  <a16:creationId xmlns:a16="http://schemas.microsoft.com/office/drawing/2014/main" id="{C956C6CC-1115-C934-FA55-489652B37701}"/>
                </a:ext>
              </a:extLst>
            </p:cNvPr>
            <p:cNvSpPr txBox="1"/>
            <p:nvPr/>
          </p:nvSpPr>
          <p:spPr>
            <a:xfrm>
              <a:off x="8244000" y="3366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880" name="椭圆 879">
              <a:extLst>
                <a:ext uri="{FF2B5EF4-FFF2-40B4-BE49-F238E27FC236}">
                  <a16:creationId xmlns:a16="http://schemas.microsoft.com/office/drawing/2014/main" id="{E682B50A-92CC-3691-FA65-F9A67D265F97}"/>
                </a:ext>
              </a:extLst>
            </p:cNvPr>
            <p:cNvSpPr/>
            <p:nvPr/>
          </p:nvSpPr>
          <p:spPr>
            <a:xfrm>
              <a:off x="8712000" y="347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81" name="椭圆 880">
              <a:extLst>
                <a:ext uri="{FF2B5EF4-FFF2-40B4-BE49-F238E27FC236}">
                  <a16:creationId xmlns:a16="http://schemas.microsoft.com/office/drawing/2014/main" id="{FD3EDC5B-D842-4D24-5978-BCC11030D364}"/>
                </a:ext>
              </a:extLst>
            </p:cNvPr>
            <p:cNvSpPr/>
            <p:nvPr/>
          </p:nvSpPr>
          <p:spPr>
            <a:xfrm>
              <a:off x="8442000" y="374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82" name="椭圆 881">
              <a:extLst>
                <a:ext uri="{FF2B5EF4-FFF2-40B4-BE49-F238E27FC236}">
                  <a16:creationId xmlns:a16="http://schemas.microsoft.com/office/drawing/2014/main" id="{47566651-C71E-13D3-2FB3-F86B16E72FAD}"/>
                </a:ext>
              </a:extLst>
            </p:cNvPr>
            <p:cNvSpPr/>
            <p:nvPr/>
          </p:nvSpPr>
          <p:spPr>
            <a:xfrm>
              <a:off x="8442000" y="320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83" name="椭圆 882">
              <a:extLst>
                <a:ext uri="{FF2B5EF4-FFF2-40B4-BE49-F238E27FC236}">
                  <a16:creationId xmlns:a16="http://schemas.microsoft.com/office/drawing/2014/main" id="{CA6B0F46-C085-4774-AC3F-5B8311237B1D}"/>
                </a:ext>
              </a:extLst>
            </p:cNvPr>
            <p:cNvSpPr/>
            <p:nvPr/>
          </p:nvSpPr>
          <p:spPr>
            <a:xfrm>
              <a:off x="8316000" y="4536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884" name="椭圆 883">
              <a:extLst>
                <a:ext uri="{FF2B5EF4-FFF2-40B4-BE49-F238E27FC236}">
                  <a16:creationId xmlns:a16="http://schemas.microsoft.com/office/drawing/2014/main" id="{2D017418-E1B4-5EDB-E46E-E3A50FE9DD6E}"/>
                </a:ext>
              </a:extLst>
            </p:cNvPr>
            <p:cNvSpPr/>
            <p:nvPr/>
          </p:nvSpPr>
          <p:spPr>
            <a:xfrm>
              <a:off x="8496000" y="4356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885" name="椭圆 884">
              <a:extLst>
                <a:ext uri="{FF2B5EF4-FFF2-40B4-BE49-F238E27FC236}">
                  <a16:creationId xmlns:a16="http://schemas.microsoft.com/office/drawing/2014/main" id="{CD993C9C-ABA8-097F-BDA7-60391381E50A}"/>
                </a:ext>
              </a:extLst>
            </p:cNvPr>
            <p:cNvSpPr/>
            <p:nvPr/>
          </p:nvSpPr>
          <p:spPr>
            <a:xfrm>
              <a:off x="8172000" y="448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86" name="椭圆 885">
              <a:extLst>
                <a:ext uri="{FF2B5EF4-FFF2-40B4-BE49-F238E27FC236}">
                  <a16:creationId xmlns:a16="http://schemas.microsoft.com/office/drawing/2014/main" id="{C3A58E12-FC62-E168-4EEC-376D50CFEE0F}"/>
                </a:ext>
              </a:extLst>
            </p:cNvPr>
            <p:cNvSpPr/>
            <p:nvPr/>
          </p:nvSpPr>
          <p:spPr>
            <a:xfrm>
              <a:off x="8316000" y="4356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887" name="文本框 886">
              <a:extLst>
                <a:ext uri="{FF2B5EF4-FFF2-40B4-BE49-F238E27FC236}">
                  <a16:creationId xmlns:a16="http://schemas.microsoft.com/office/drawing/2014/main" id="{2584E7C1-FEFB-47AD-335C-ABD4349C7E36}"/>
                </a:ext>
              </a:extLst>
            </p:cNvPr>
            <p:cNvSpPr txBox="1"/>
            <p:nvPr/>
          </p:nvSpPr>
          <p:spPr>
            <a:xfrm>
              <a:off x="8244000" y="4374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888" name="椭圆 887">
              <a:extLst>
                <a:ext uri="{FF2B5EF4-FFF2-40B4-BE49-F238E27FC236}">
                  <a16:creationId xmlns:a16="http://schemas.microsoft.com/office/drawing/2014/main" id="{73F717BC-B6FF-4993-A8E4-EAD03CEE1DC2}"/>
                </a:ext>
              </a:extLst>
            </p:cNvPr>
            <p:cNvSpPr/>
            <p:nvPr/>
          </p:nvSpPr>
          <p:spPr>
            <a:xfrm>
              <a:off x="8712000" y="448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89" name="椭圆 888">
              <a:extLst>
                <a:ext uri="{FF2B5EF4-FFF2-40B4-BE49-F238E27FC236}">
                  <a16:creationId xmlns:a16="http://schemas.microsoft.com/office/drawing/2014/main" id="{91465542-630E-F220-10B3-E38D6B1139BB}"/>
                </a:ext>
              </a:extLst>
            </p:cNvPr>
            <p:cNvSpPr/>
            <p:nvPr/>
          </p:nvSpPr>
          <p:spPr>
            <a:xfrm>
              <a:off x="8442000" y="475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90" name="椭圆 889">
              <a:extLst>
                <a:ext uri="{FF2B5EF4-FFF2-40B4-BE49-F238E27FC236}">
                  <a16:creationId xmlns:a16="http://schemas.microsoft.com/office/drawing/2014/main" id="{429F5168-31BC-B8B5-B886-8754FC46AB5D}"/>
                </a:ext>
              </a:extLst>
            </p:cNvPr>
            <p:cNvSpPr/>
            <p:nvPr/>
          </p:nvSpPr>
          <p:spPr>
            <a:xfrm>
              <a:off x="8442000" y="421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91" name="椭圆 890">
              <a:extLst>
                <a:ext uri="{FF2B5EF4-FFF2-40B4-BE49-F238E27FC236}">
                  <a16:creationId xmlns:a16="http://schemas.microsoft.com/office/drawing/2014/main" id="{87C88AE5-6FF4-6B47-B86F-E658A127DD2C}"/>
                </a:ext>
              </a:extLst>
            </p:cNvPr>
            <p:cNvSpPr/>
            <p:nvPr/>
          </p:nvSpPr>
          <p:spPr>
            <a:xfrm>
              <a:off x="8316000" y="5544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892" name="椭圆 891">
              <a:extLst>
                <a:ext uri="{FF2B5EF4-FFF2-40B4-BE49-F238E27FC236}">
                  <a16:creationId xmlns:a16="http://schemas.microsoft.com/office/drawing/2014/main" id="{127AD8F6-BCA8-BC38-C94A-9AC8879F2E33}"/>
                </a:ext>
              </a:extLst>
            </p:cNvPr>
            <p:cNvSpPr/>
            <p:nvPr/>
          </p:nvSpPr>
          <p:spPr>
            <a:xfrm>
              <a:off x="8496000" y="5364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893" name="椭圆 892">
              <a:extLst>
                <a:ext uri="{FF2B5EF4-FFF2-40B4-BE49-F238E27FC236}">
                  <a16:creationId xmlns:a16="http://schemas.microsoft.com/office/drawing/2014/main" id="{076FA772-95D8-2D2D-EB01-67AEEFEAD74D}"/>
                </a:ext>
              </a:extLst>
            </p:cNvPr>
            <p:cNvSpPr/>
            <p:nvPr/>
          </p:nvSpPr>
          <p:spPr>
            <a:xfrm>
              <a:off x="8172000" y="549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94" name="椭圆 893">
              <a:extLst>
                <a:ext uri="{FF2B5EF4-FFF2-40B4-BE49-F238E27FC236}">
                  <a16:creationId xmlns:a16="http://schemas.microsoft.com/office/drawing/2014/main" id="{BD736E0C-2BD0-FF65-FC5B-6702E05C92CB}"/>
                </a:ext>
              </a:extLst>
            </p:cNvPr>
            <p:cNvSpPr/>
            <p:nvPr/>
          </p:nvSpPr>
          <p:spPr>
            <a:xfrm>
              <a:off x="8316000" y="5364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895" name="文本框 894">
              <a:extLst>
                <a:ext uri="{FF2B5EF4-FFF2-40B4-BE49-F238E27FC236}">
                  <a16:creationId xmlns:a16="http://schemas.microsoft.com/office/drawing/2014/main" id="{ACBC08BA-4B6E-D414-A071-B20D35CFAB1A}"/>
                </a:ext>
              </a:extLst>
            </p:cNvPr>
            <p:cNvSpPr txBox="1"/>
            <p:nvPr/>
          </p:nvSpPr>
          <p:spPr>
            <a:xfrm>
              <a:off x="8244000" y="5382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960" name="椭圆 959">
              <a:extLst>
                <a:ext uri="{FF2B5EF4-FFF2-40B4-BE49-F238E27FC236}">
                  <a16:creationId xmlns:a16="http://schemas.microsoft.com/office/drawing/2014/main" id="{CBD0F30D-B423-7AA8-CF58-2D6B6B395AAD}"/>
                </a:ext>
              </a:extLst>
            </p:cNvPr>
            <p:cNvSpPr/>
            <p:nvPr/>
          </p:nvSpPr>
          <p:spPr>
            <a:xfrm>
              <a:off x="8712000" y="549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961" name="椭圆 960">
              <a:extLst>
                <a:ext uri="{FF2B5EF4-FFF2-40B4-BE49-F238E27FC236}">
                  <a16:creationId xmlns:a16="http://schemas.microsoft.com/office/drawing/2014/main" id="{0F2855B6-465E-0786-DEED-3E97E395A420}"/>
                </a:ext>
              </a:extLst>
            </p:cNvPr>
            <p:cNvSpPr/>
            <p:nvPr/>
          </p:nvSpPr>
          <p:spPr>
            <a:xfrm>
              <a:off x="8442000" y="576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962" name="椭圆 961">
              <a:extLst>
                <a:ext uri="{FF2B5EF4-FFF2-40B4-BE49-F238E27FC236}">
                  <a16:creationId xmlns:a16="http://schemas.microsoft.com/office/drawing/2014/main" id="{43D1EC64-AFB9-59A9-E938-C085368D6177}"/>
                </a:ext>
              </a:extLst>
            </p:cNvPr>
            <p:cNvSpPr/>
            <p:nvPr/>
          </p:nvSpPr>
          <p:spPr>
            <a:xfrm>
              <a:off x="8442000" y="522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963" name="椭圆 962">
              <a:extLst>
                <a:ext uri="{FF2B5EF4-FFF2-40B4-BE49-F238E27FC236}">
                  <a16:creationId xmlns:a16="http://schemas.microsoft.com/office/drawing/2014/main" id="{8F2206C8-D496-4863-89B3-5222229B380B}"/>
                </a:ext>
              </a:extLst>
            </p:cNvPr>
            <p:cNvSpPr/>
            <p:nvPr/>
          </p:nvSpPr>
          <p:spPr>
            <a:xfrm>
              <a:off x="9324000" y="3528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964" name="椭圆 963">
              <a:extLst>
                <a:ext uri="{FF2B5EF4-FFF2-40B4-BE49-F238E27FC236}">
                  <a16:creationId xmlns:a16="http://schemas.microsoft.com/office/drawing/2014/main" id="{E1B30F53-B944-AB2E-835A-8B34B7E60E5A}"/>
                </a:ext>
              </a:extLst>
            </p:cNvPr>
            <p:cNvSpPr/>
            <p:nvPr/>
          </p:nvSpPr>
          <p:spPr>
            <a:xfrm>
              <a:off x="9324000" y="2520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965" name="椭圆 964">
              <a:extLst>
                <a:ext uri="{FF2B5EF4-FFF2-40B4-BE49-F238E27FC236}">
                  <a16:creationId xmlns:a16="http://schemas.microsoft.com/office/drawing/2014/main" id="{995929E2-FEAC-F74D-50B5-09E843FF469B}"/>
                </a:ext>
              </a:extLst>
            </p:cNvPr>
            <p:cNvSpPr/>
            <p:nvPr/>
          </p:nvSpPr>
          <p:spPr>
            <a:xfrm>
              <a:off x="9504000" y="3348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966" name="椭圆 965">
              <a:extLst>
                <a:ext uri="{FF2B5EF4-FFF2-40B4-BE49-F238E27FC236}">
                  <a16:creationId xmlns:a16="http://schemas.microsoft.com/office/drawing/2014/main" id="{FC3C3073-4A48-0D5F-3588-338127F375A9}"/>
                </a:ext>
              </a:extLst>
            </p:cNvPr>
            <p:cNvSpPr/>
            <p:nvPr/>
          </p:nvSpPr>
          <p:spPr>
            <a:xfrm>
              <a:off x="9180000" y="347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967" name="椭圆 966">
              <a:extLst>
                <a:ext uri="{FF2B5EF4-FFF2-40B4-BE49-F238E27FC236}">
                  <a16:creationId xmlns:a16="http://schemas.microsoft.com/office/drawing/2014/main" id="{204EBE7B-2643-1CBD-123B-F37C6E7C4579}"/>
                </a:ext>
              </a:extLst>
            </p:cNvPr>
            <p:cNvSpPr/>
            <p:nvPr/>
          </p:nvSpPr>
          <p:spPr>
            <a:xfrm>
              <a:off x="9324000" y="3348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968" name="文本框 967">
              <a:extLst>
                <a:ext uri="{FF2B5EF4-FFF2-40B4-BE49-F238E27FC236}">
                  <a16:creationId xmlns:a16="http://schemas.microsoft.com/office/drawing/2014/main" id="{4390CA7E-6931-F846-835B-113A2A8A5498}"/>
                </a:ext>
              </a:extLst>
            </p:cNvPr>
            <p:cNvSpPr txBox="1"/>
            <p:nvPr/>
          </p:nvSpPr>
          <p:spPr>
            <a:xfrm>
              <a:off x="9252000" y="3366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969" name="椭圆 968">
              <a:extLst>
                <a:ext uri="{FF2B5EF4-FFF2-40B4-BE49-F238E27FC236}">
                  <a16:creationId xmlns:a16="http://schemas.microsoft.com/office/drawing/2014/main" id="{8F0325D5-A8A0-3692-3D76-04A1E0DB9FEF}"/>
                </a:ext>
              </a:extLst>
            </p:cNvPr>
            <p:cNvSpPr/>
            <p:nvPr/>
          </p:nvSpPr>
          <p:spPr>
            <a:xfrm>
              <a:off x="9720000" y="347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970" name="椭圆 969">
              <a:extLst>
                <a:ext uri="{FF2B5EF4-FFF2-40B4-BE49-F238E27FC236}">
                  <a16:creationId xmlns:a16="http://schemas.microsoft.com/office/drawing/2014/main" id="{73F989A3-C653-09DE-16C4-A3700C38A484}"/>
                </a:ext>
              </a:extLst>
            </p:cNvPr>
            <p:cNvSpPr/>
            <p:nvPr/>
          </p:nvSpPr>
          <p:spPr>
            <a:xfrm>
              <a:off x="9450000" y="374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971" name="椭圆 970">
              <a:extLst>
                <a:ext uri="{FF2B5EF4-FFF2-40B4-BE49-F238E27FC236}">
                  <a16:creationId xmlns:a16="http://schemas.microsoft.com/office/drawing/2014/main" id="{0DEBE131-D3BE-0B88-B8F1-C192BD56C3D2}"/>
                </a:ext>
              </a:extLst>
            </p:cNvPr>
            <p:cNvSpPr/>
            <p:nvPr/>
          </p:nvSpPr>
          <p:spPr>
            <a:xfrm>
              <a:off x="9450000" y="320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972" name="椭圆 971">
              <a:extLst>
                <a:ext uri="{FF2B5EF4-FFF2-40B4-BE49-F238E27FC236}">
                  <a16:creationId xmlns:a16="http://schemas.microsoft.com/office/drawing/2014/main" id="{20F3D21D-999C-4486-92A2-0FA18D51DD3D}"/>
                </a:ext>
              </a:extLst>
            </p:cNvPr>
            <p:cNvSpPr/>
            <p:nvPr/>
          </p:nvSpPr>
          <p:spPr>
            <a:xfrm>
              <a:off x="9324000" y="4536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973" name="椭圆 972">
              <a:extLst>
                <a:ext uri="{FF2B5EF4-FFF2-40B4-BE49-F238E27FC236}">
                  <a16:creationId xmlns:a16="http://schemas.microsoft.com/office/drawing/2014/main" id="{BBF62AB5-CFE0-C72E-884C-44D668B18D16}"/>
                </a:ext>
              </a:extLst>
            </p:cNvPr>
            <p:cNvSpPr/>
            <p:nvPr/>
          </p:nvSpPr>
          <p:spPr>
            <a:xfrm>
              <a:off x="9504000" y="4356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974" name="椭圆 973">
              <a:extLst>
                <a:ext uri="{FF2B5EF4-FFF2-40B4-BE49-F238E27FC236}">
                  <a16:creationId xmlns:a16="http://schemas.microsoft.com/office/drawing/2014/main" id="{F74CA428-FD43-E458-D900-C6FC6CB0ECE9}"/>
                </a:ext>
              </a:extLst>
            </p:cNvPr>
            <p:cNvSpPr/>
            <p:nvPr/>
          </p:nvSpPr>
          <p:spPr>
            <a:xfrm>
              <a:off x="9180000" y="448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975" name="椭圆 974">
              <a:extLst>
                <a:ext uri="{FF2B5EF4-FFF2-40B4-BE49-F238E27FC236}">
                  <a16:creationId xmlns:a16="http://schemas.microsoft.com/office/drawing/2014/main" id="{059545B6-86D7-E955-C0D9-39AC196CF1E2}"/>
                </a:ext>
              </a:extLst>
            </p:cNvPr>
            <p:cNvSpPr/>
            <p:nvPr/>
          </p:nvSpPr>
          <p:spPr>
            <a:xfrm>
              <a:off x="9324000" y="4356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976" name="文本框 975">
              <a:extLst>
                <a:ext uri="{FF2B5EF4-FFF2-40B4-BE49-F238E27FC236}">
                  <a16:creationId xmlns:a16="http://schemas.microsoft.com/office/drawing/2014/main" id="{696A0904-9614-8D6D-C916-759B52A43FAC}"/>
                </a:ext>
              </a:extLst>
            </p:cNvPr>
            <p:cNvSpPr txBox="1"/>
            <p:nvPr/>
          </p:nvSpPr>
          <p:spPr>
            <a:xfrm>
              <a:off x="9252000" y="4374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977" name="椭圆 976">
              <a:extLst>
                <a:ext uri="{FF2B5EF4-FFF2-40B4-BE49-F238E27FC236}">
                  <a16:creationId xmlns:a16="http://schemas.microsoft.com/office/drawing/2014/main" id="{7ED1A338-5892-DD1F-148D-C06524D7537A}"/>
                </a:ext>
              </a:extLst>
            </p:cNvPr>
            <p:cNvSpPr/>
            <p:nvPr/>
          </p:nvSpPr>
          <p:spPr>
            <a:xfrm>
              <a:off x="9720000" y="448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978" name="椭圆 977">
              <a:extLst>
                <a:ext uri="{FF2B5EF4-FFF2-40B4-BE49-F238E27FC236}">
                  <a16:creationId xmlns:a16="http://schemas.microsoft.com/office/drawing/2014/main" id="{A70BAD1C-2294-1437-2B8D-62DF69CE0380}"/>
                </a:ext>
              </a:extLst>
            </p:cNvPr>
            <p:cNvSpPr/>
            <p:nvPr/>
          </p:nvSpPr>
          <p:spPr>
            <a:xfrm>
              <a:off x="9450000" y="475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979" name="椭圆 978">
              <a:extLst>
                <a:ext uri="{FF2B5EF4-FFF2-40B4-BE49-F238E27FC236}">
                  <a16:creationId xmlns:a16="http://schemas.microsoft.com/office/drawing/2014/main" id="{7C2D165C-9F90-42B4-D22A-5B86446A1135}"/>
                </a:ext>
              </a:extLst>
            </p:cNvPr>
            <p:cNvSpPr/>
            <p:nvPr/>
          </p:nvSpPr>
          <p:spPr>
            <a:xfrm>
              <a:off x="9450000" y="421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980" name="椭圆 979">
              <a:extLst>
                <a:ext uri="{FF2B5EF4-FFF2-40B4-BE49-F238E27FC236}">
                  <a16:creationId xmlns:a16="http://schemas.microsoft.com/office/drawing/2014/main" id="{7E9898A0-5188-A01C-C04E-225258DBF81E}"/>
                </a:ext>
              </a:extLst>
            </p:cNvPr>
            <p:cNvSpPr/>
            <p:nvPr/>
          </p:nvSpPr>
          <p:spPr>
            <a:xfrm>
              <a:off x="9324000" y="5544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981" name="椭圆 980">
              <a:extLst>
                <a:ext uri="{FF2B5EF4-FFF2-40B4-BE49-F238E27FC236}">
                  <a16:creationId xmlns:a16="http://schemas.microsoft.com/office/drawing/2014/main" id="{20B56C1C-8C7D-6CEF-81CC-FB66999DDD9D}"/>
                </a:ext>
              </a:extLst>
            </p:cNvPr>
            <p:cNvSpPr/>
            <p:nvPr/>
          </p:nvSpPr>
          <p:spPr>
            <a:xfrm>
              <a:off x="9504000" y="5364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982" name="椭圆 981">
              <a:extLst>
                <a:ext uri="{FF2B5EF4-FFF2-40B4-BE49-F238E27FC236}">
                  <a16:creationId xmlns:a16="http://schemas.microsoft.com/office/drawing/2014/main" id="{4B9055DB-4DB0-F4A0-CF95-3DF5748EC5CC}"/>
                </a:ext>
              </a:extLst>
            </p:cNvPr>
            <p:cNvSpPr/>
            <p:nvPr/>
          </p:nvSpPr>
          <p:spPr>
            <a:xfrm>
              <a:off x="9180000" y="549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983" name="椭圆 982">
              <a:extLst>
                <a:ext uri="{FF2B5EF4-FFF2-40B4-BE49-F238E27FC236}">
                  <a16:creationId xmlns:a16="http://schemas.microsoft.com/office/drawing/2014/main" id="{EFE4EF55-F437-E432-1174-699C66C55C12}"/>
                </a:ext>
              </a:extLst>
            </p:cNvPr>
            <p:cNvSpPr/>
            <p:nvPr/>
          </p:nvSpPr>
          <p:spPr>
            <a:xfrm>
              <a:off x="9324000" y="5364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984" name="文本框 983">
              <a:extLst>
                <a:ext uri="{FF2B5EF4-FFF2-40B4-BE49-F238E27FC236}">
                  <a16:creationId xmlns:a16="http://schemas.microsoft.com/office/drawing/2014/main" id="{A7BB9D4A-6B4A-3CA8-B6A2-6A1DE46868AC}"/>
                </a:ext>
              </a:extLst>
            </p:cNvPr>
            <p:cNvSpPr txBox="1"/>
            <p:nvPr/>
          </p:nvSpPr>
          <p:spPr>
            <a:xfrm>
              <a:off x="9252000" y="5382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985" name="椭圆 984">
              <a:extLst>
                <a:ext uri="{FF2B5EF4-FFF2-40B4-BE49-F238E27FC236}">
                  <a16:creationId xmlns:a16="http://schemas.microsoft.com/office/drawing/2014/main" id="{CDBE0845-A6AC-0229-BED7-A0CFB92DA181}"/>
                </a:ext>
              </a:extLst>
            </p:cNvPr>
            <p:cNvSpPr/>
            <p:nvPr/>
          </p:nvSpPr>
          <p:spPr>
            <a:xfrm>
              <a:off x="9720000" y="549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986" name="椭圆 985">
              <a:extLst>
                <a:ext uri="{FF2B5EF4-FFF2-40B4-BE49-F238E27FC236}">
                  <a16:creationId xmlns:a16="http://schemas.microsoft.com/office/drawing/2014/main" id="{DEAF6FED-F81A-3D36-5AE5-7E7EC5139475}"/>
                </a:ext>
              </a:extLst>
            </p:cNvPr>
            <p:cNvSpPr/>
            <p:nvPr/>
          </p:nvSpPr>
          <p:spPr>
            <a:xfrm>
              <a:off x="9450000" y="576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987" name="椭圆 986">
              <a:extLst>
                <a:ext uri="{FF2B5EF4-FFF2-40B4-BE49-F238E27FC236}">
                  <a16:creationId xmlns:a16="http://schemas.microsoft.com/office/drawing/2014/main" id="{C1D262A9-CD8D-A564-60EA-19553C5779C8}"/>
                </a:ext>
              </a:extLst>
            </p:cNvPr>
            <p:cNvSpPr/>
            <p:nvPr/>
          </p:nvSpPr>
          <p:spPr>
            <a:xfrm>
              <a:off x="9450000" y="522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988" name="椭圆 987">
              <a:extLst>
                <a:ext uri="{FF2B5EF4-FFF2-40B4-BE49-F238E27FC236}">
                  <a16:creationId xmlns:a16="http://schemas.microsoft.com/office/drawing/2014/main" id="{23112AA8-8C0C-5780-7C61-8500A3948577}"/>
                </a:ext>
              </a:extLst>
            </p:cNvPr>
            <p:cNvSpPr/>
            <p:nvPr/>
          </p:nvSpPr>
          <p:spPr>
            <a:xfrm>
              <a:off x="10332000" y="3528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989" name="椭圆 988">
              <a:extLst>
                <a:ext uri="{FF2B5EF4-FFF2-40B4-BE49-F238E27FC236}">
                  <a16:creationId xmlns:a16="http://schemas.microsoft.com/office/drawing/2014/main" id="{6A4B2D82-48BD-DDFE-1FCF-623B9DC3DA4B}"/>
                </a:ext>
              </a:extLst>
            </p:cNvPr>
            <p:cNvSpPr/>
            <p:nvPr/>
          </p:nvSpPr>
          <p:spPr>
            <a:xfrm>
              <a:off x="10332000" y="2520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990" name="椭圆 989">
              <a:extLst>
                <a:ext uri="{FF2B5EF4-FFF2-40B4-BE49-F238E27FC236}">
                  <a16:creationId xmlns:a16="http://schemas.microsoft.com/office/drawing/2014/main" id="{75726451-5627-8B59-B190-80AD3CE3C44E}"/>
                </a:ext>
              </a:extLst>
            </p:cNvPr>
            <p:cNvSpPr/>
            <p:nvPr/>
          </p:nvSpPr>
          <p:spPr>
            <a:xfrm>
              <a:off x="10512000" y="3348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991" name="椭圆 990">
              <a:extLst>
                <a:ext uri="{FF2B5EF4-FFF2-40B4-BE49-F238E27FC236}">
                  <a16:creationId xmlns:a16="http://schemas.microsoft.com/office/drawing/2014/main" id="{6FAEA59B-4F1F-DC10-998E-832699670676}"/>
                </a:ext>
              </a:extLst>
            </p:cNvPr>
            <p:cNvSpPr/>
            <p:nvPr/>
          </p:nvSpPr>
          <p:spPr>
            <a:xfrm>
              <a:off x="10188000" y="347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992" name="椭圆 991">
              <a:extLst>
                <a:ext uri="{FF2B5EF4-FFF2-40B4-BE49-F238E27FC236}">
                  <a16:creationId xmlns:a16="http://schemas.microsoft.com/office/drawing/2014/main" id="{C81CA685-DF5B-FE44-8034-AD5C6706DB6B}"/>
                </a:ext>
              </a:extLst>
            </p:cNvPr>
            <p:cNvSpPr/>
            <p:nvPr/>
          </p:nvSpPr>
          <p:spPr>
            <a:xfrm>
              <a:off x="10332000" y="3348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993" name="文本框 992">
              <a:extLst>
                <a:ext uri="{FF2B5EF4-FFF2-40B4-BE49-F238E27FC236}">
                  <a16:creationId xmlns:a16="http://schemas.microsoft.com/office/drawing/2014/main" id="{4CBF4AAE-4E13-33D6-A502-7C1A51E07125}"/>
                </a:ext>
              </a:extLst>
            </p:cNvPr>
            <p:cNvSpPr txBox="1"/>
            <p:nvPr/>
          </p:nvSpPr>
          <p:spPr>
            <a:xfrm>
              <a:off x="10260000" y="3366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994" name="椭圆 993">
              <a:extLst>
                <a:ext uri="{FF2B5EF4-FFF2-40B4-BE49-F238E27FC236}">
                  <a16:creationId xmlns:a16="http://schemas.microsoft.com/office/drawing/2014/main" id="{89702EA2-9AE0-AC98-634F-881FBCCB8E49}"/>
                </a:ext>
              </a:extLst>
            </p:cNvPr>
            <p:cNvSpPr/>
            <p:nvPr/>
          </p:nvSpPr>
          <p:spPr>
            <a:xfrm>
              <a:off x="10728000" y="347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995" name="椭圆 994">
              <a:extLst>
                <a:ext uri="{FF2B5EF4-FFF2-40B4-BE49-F238E27FC236}">
                  <a16:creationId xmlns:a16="http://schemas.microsoft.com/office/drawing/2014/main" id="{8DA9E264-1FC3-043A-BC7D-30E83ADDA88B}"/>
                </a:ext>
              </a:extLst>
            </p:cNvPr>
            <p:cNvSpPr/>
            <p:nvPr/>
          </p:nvSpPr>
          <p:spPr>
            <a:xfrm>
              <a:off x="10458000" y="374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996" name="椭圆 995">
              <a:extLst>
                <a:ext uri="{FF2B5EF4-FFF2-40B4-BE49-F238E27FC236}">
                  <a16:creationId xmlns:a16="http://schemas.microsoft.com/office/drawing/2014/main" id="{509392D4-3610-2C1F-3CCD-EA170D311761}"/>
                </a:ext>
              </a:extLst>
            </p:cNvPr>
            <p:cNvSpPr/>
            <p:nvPr/>
          </p:nvSpPr>
          <p:spPr>
            <a:xfrm>
              <a:off x="10458000" y="320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997" name="椭圆 996">
              <a:extLst>
                <a:ext uri="{FF2B5EF4-FFF2-40B4-BE49-F238E27FC236}">
                  <a16:creationId xmlns:a16="http://schemas.microsoft.com/office/drawing/2014/main" id="{94E9463A-E464-C26B-9F33-1EA6BA47EBC6}"/>
                </a:ext>
              </a:extLst>
            </p:cNvPr>
            <p:cNvSpPr/>
            <p:nvPr/>
          </p:nvSpPr>
          <p:spPr>
            <a:xfrm>
              <a:off x="10332000" y="4536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998" name="椭圆 997">
              <a:extLst>
                <a:ext uri="{FF2B5EF4-FFF2-40B4-BE49-F238E27FC236}">
                  <a16:creationId xmlns:a16="http://schemas.microsoft.com/office/drawing/2014/main" id="{51CF04D1-6ED8-AA36-5E82-795EF8538DF5}"/>
                </a:ext>
              </a:extLst>
            </p:cNvPr>
            <p:cNvSpPr/>
            <p:nvPr/>
          </p:nvSpPr>
          <p:spPr>
            <a:xfrm>
              <a:off x="10512000" y="4356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999" name="椭圆 998">
              <a:extLst>
                <a:ext uri="{FF2B5EF4-FFF2-40B4-BE49-F238E27FC236}">
                  <a16:creationId xmlns:a16="http://schemas.microsoft.com/office/drawing/2014/main" id="{9437075A-8227-C05C-2BC8-A36DC513CE12}"/>
                </a:ext>
              </a:extLst>
            </p:cNvPr>
            <p:cNvSpPr/>
            <p:nvPr/>
          </p:nvSpPr>
          <p:spPr>
            <a:xfrm>
              <a:off x="10188000" y="4482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000" name="椭圆 999">
              <a:extLst>
                <a:ext uri="{FF2B5EF4-FFF2-40B4-BE49-F238E27FC236}">
                  <a16:creationId xmlns:a16="http://schemas.microsoft.com/office/drawing/2014/main" id="{FC8CA3AA-B551-46B4-4C1A-4598C2AC059B}"/>
                </a:ext>
              </a:extLst>
            </p:cNvPr>
            <p:cNvSpPr/>
            <p:nvPr/>
          </p:nvSpPr>
          <p:spPr>
            <a:xfrm>
              <a:off x="10332000" y="4356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1001" name="文本框 1000">
              <a:extLst>
                <a:ext uri="{FF2B5EF4-FFF2-40B4-BE49-F238E27FC236}">
                  <a16:creationId xmlns:a16="http://schemas.microsoft.com/office/drawing/2014/main" id="{F5FB610A-6F50-D422-02AD-6B5586C26AA4}"/>
                </a:ext>
              </a:extLst>
            </p:cNvPr>
            <p:cNvSpPr txBox="1"/>
            <p:nvPr/>
          </p:nvSpPr>
          <p:spPr>
            <a:xfrm>
              <a:off x="10260000" y="4374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1002" name="椭圆 1001">
              <a:extLst>
                <a:ext uri="{FF2B5EF4-FFF2-40B4-BE49-F238E27FC236}">
                  <a16:creationId xmlns:a16="http://schemas.microsoft.com/office/drawing/2014/main" id="{B3835A9B-BD18-7FD4-1AD9-96F26D46D057}"/>
                </a:ext>
              </a:extLst>
            </p:cNvPr>
            <p:cNvSpPr/>
            <p:nvPr/>
          </p:nvSpPr>
          <p:spPr>
            <a:xfrm>
              <a:off x="10728000" y="448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003" name="椭圆 1002">
              <a:extLst>
                <a:ext uri="{FF2B5EF4-FFF2-40B4-BE49-F238E27FC236}">
                  <a16:creationId xmlns:a16="http://schemas.microsoft.com/office/drawing/2014/main" id="{1EF019FD-B243-D4BF-1660-B651624DBCDB}"/>
                </a:ext>
              </a:extLst>
            </p:cNvPr>
            <p:cNvSpPr/>
            <p:nvPr/>
          </p:nvSpPr>
          <p:spPr>
            <a:xfrm>
              <a:off x="10458000" y="475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004" name="椭圆 1003">
              <a:extLst>
                <a:ext uri="{FF2B5EF4-FFF2-40B4-BE49-F238E27FC236}">
                  <a16:creationId xmlns:a16="http://schemas.microsoft.com/office/drawing/2014/main" id="{7B46FA58-626C-B44B-E313-9CF6F71D9694}"/>
                </a:ext>
              </a:extLst>
            </p:cNvPr>
            <p:cNvSpPr/>
            <p:nvPr/>
          </p:nvSpPr>
          <p:spPr>
            <a:xfrm>
              <a:off x="10458000" y="421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005" name="椭圆 1004">
              <a:extLst>
                <a:ext uri="{FF2B5EF4-FFF2-40B4-BE49-F238E27FC236}">
                  <a16:creationId xmlns:a16="http://schemas.microsoft.com/office/drawing/2014/main" id="{2922D82E-836E-8F7E-91F5-9B9E27AB2411}"/>
                </a:ext>
              </a:extLst>
            </p:cNvPr>
            <p:cNvSpPr/>
            <p:nvPr/>
          </p:nvSpPr>
          <p:spPr>
            <a:xfrm>
              <a:off x="10332000" y="5544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1006" name="椭圆 1005">
              <a:extLst>
                <a:ext uri="{FF2B5EF4-FFF2-40B4-BE49-F238E27FC236}">
                  <a16:creationId xmlns:a16="http://schemas.microsoft.com/office/drawing/2014/main" id="{3A483887-0069-8E1B-C6C1-F43841B49A5D}"/>
                </a:ext>
              </a:extLst>
            </p:cNvPr>
            <p:cNvSpPr/>
            <p:nvPr/>
          </p:nvSpPr>
          <p:spPr>
            <a:xfrm>
              <a:off x="10512000" y="5364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1007" name="椭圆 1006">
              <a:extLst>
                <a:ext uri="{FF2B5EF4-FFF2-40B4-BE49-F238E27FC236}">
                  <a16:creationId xmlns:a16="http://schemas.microsoft.com/office/drawing/2014/main" id="{A7EE1A1C-A19B-EB9A-52DF-2FB638FC78F1}"/>
                </a:ext>
              </a:extLst>
            </p:cNvPr>
            <p:cNvSpPr/>
            <p:nvPr/>
          </p:nvSpPr>
          <p:spPr>
            <a:xfrm>
              <a:off x="10188000" y="549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008" name="椭圆 1007">
              <a:extLst>
                <a:ext uri="{FF2B5EF4-FFF2-40B4-BE49-F238E27FC236}">
                  <a16:creationId xmlns:a16="http://schemas.microsoft.com/office/drawing/2014/main" id="{A57A3AB5-287C-C084-2A13-AE7428821A8E}"/>
                </a:ext>
              </a:extLst>
            </p:cNvPr>
            <p:cNvSpPr/>
            <p:nvPr/>
          </p:nvSpPr>
          <p:spPr>
            <a:xfrm>
              <a:off x="10332000" y="5364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1009" name="文本框 1008">
              <a:extLst>
                <a:ext uri="{FF2B5EF4-FFF2-40B4-BE49-F238E27FC236}">
                  <a16:creationId xmlns:a16="http://schemas.microsoft.com/office/drawing/2014/main" id="{9E4A6630-3173-0827-AAB6-332B397185CC}"/>
                </a:ext>
              </a:extLst>
            </p:cNvPr>
            <p:cNvSpPr txBox="1"/>
            <p:nvPr/>
          </p:nvSpPr>
          <p:spPr>
            <a:xfrm>
              <a:off x="10260000" y="5382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1010" name="椭圆 1009">
              <a:extLst>
                <a:ext uri="{FF2B5EF4-FFF2-40B4-BE49-F238E27FC236}">
                  <a16:creationId xmlns:a16="http://schemas.microsoft.com/office/drawing/2014/main" id="{CBE811D0-45E2-8411-70AB-5C4202D6D57F}"/>
                </a:ext>
              </a:extLst>
            </p:cNvPr>
            <p:cNvSpPr/>
            <p:nvPr/>
          </p:nvSpPr>
          <p:spPr>
            <a:xfrm>
              <a:off x="10728000" y="549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011" name="椭圆 1010">
              <a:extLst>
                <a:ext uri="{FF2B5EF4-FFF2-40B4-BE49-F238E27FC236}">
                  <a16:creationId xmlns:a16="http://schemas.microsoft.com/office/drawing/2014/main" id="{29DCA582-7531-FF29-50DD-DDBBF6891749}"/>
                </a:ext>
              </a:extLst>
            </p:cNvPr>
            <p:cNvSpPr/>
            <p:nvPr/>
          </p:nvSpPr>
          <p:spPr>
            <a:xfrm>
              <a:off x="10458000" y="576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012" name="椭圆 1011">
              <a:extLst>
                <a:ext uri="{FF2B5EF4-FFF2-40B4-BE49-F238E27FC236}">
                  <a16:creationId xmlns:a16="http://schemas.microsoft.com/office/drawing/2014/main" id="{939FA219-36EB-CF20-F523-21AF2C875B7A}"/>
                </a:ext>
              </a:extLst>
            </p:cNvPr>
            <p:cNvSpPr/>
            <p:nvPr/>
          </p:nvSpPr>
          <p:spPr>
            <a:xfrm>
              <a:off x="10458000" y="522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013" name="矩形 1012">
              <a:extLst>
                <a:ext uri="{FF2B5EF4-FFF2-40B4-BE49-F238E27FC236}">
                  <a16:creationId xmlns:a16="http://schemas.microsoft.com/office/drawing/2014/main" id="{5B55EC60-7E6E-7BE8-5C38-4D4D47D6DC35}"/>
                </a:ext>
              </a:extLst>
            </p:cNvPr>
            <p:cNvSpPr/>
            <p:nvPr/>
          </p:nvSpPr>
          <p:spPr>
            <a:xfrm>
              <a:off x="7452000" y="3240000"/>
              <a:ext cx="540000" cy="259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014" name="矩形 1013">
              <a:extLst>
                <a:ext uri="{FF2B5EF4-FFF2-40B4-BE49-F238E27FC236}">
                  <a16:creationId xmlns:a16="http://schemas.microsoft.com/office/drawing/2014/main" id="{97427669-C9FA-BD93-81F8-698C2E158749}"/>
                </a:ext>
              </a:extLst>
            </p:cNvPr>
            <p:cNvSpPr/>
            <p:nvPr/>
          </p:nvSpPr>
          <p:spPr>
            <a:xfrm>
              <a:off x="11016000" y="3240000"/>
              <a:ext cx="540000" cy="259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015" name="矩形 1014">
              <a:extLst>
                <a:ext uri="{FF2B5EF4-FFF2-40B4-BE49-F238E27FC236}">
                  <a16:creationId xmlns:a16="http://schemas.microsoft.com/office/drawing/2014/main" id="{069FE321-CF84-A2F2-7245-259FC26DB5B3}"/>
                </a:ext>
              </a:extLst>
            </p:cNvPr>
            <p:cNvSpPr/>
            <p:nvPr/>
          </p:nvSpPr>
          <p:spPr>
            <a:xfrm>
              <a:off x="8208000" y="2484000"/>
              <a:ext cx="2592000" cy="54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016" name="矩形 1015">
              <a:extLst>
                <a:ext uri="{FF2B5EF4-FFF2-40B4-BE49-F238E27FC236}">
                  <a16:creationId xmlns:a16="http://schemas.microsoft.com/office/drawing/2014/main" id="{3D6A318E-F06B-A876-6425-FFB06A6994FA}"/>
                </a:ext>
              </a:extLst>
            </p:cNvPr>
            <p:cNvSpPr/>
            <p:nvPr/>
          </p:nvSpPr>
          <p:spPr>
            <a:xfrm>
              <a:off x="8208000" y="6048000"/>
              <a:ext cx="2592000" cy="54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grpSp>
      <p:grpSp>
        <p:nvGrpSpPr>
          <p:cNvPr id="561" name="组合 560">
            <a:extLst>
              <a:ext uri="{FF2B5EF4-FFF2-40B4-BE49-F238E27FC236}">
                <a16:creationId xmlns:a16="http://schemas.microsoft.com/office/drawing/2014/main" id="{51C3F476-E11A-E498-18AB-8DDA4A34C6AE}"/>
              </a:ext>
            </a:extLst>
          </p:cNvPr>
          <p:cNvGrpSpPr/>
          <p:nvPr/>
        </p:nvGrpSpPr>
        <p:grpSpPr>
          <a:xfrm>
            <a:off x="2520000" y="2700000"/>
            <a:ext cx="4104000" cy="4104000"/>
            <a:chOff x="7452000" y="2484000"/>
            <a:chExt cx="4104000" cy="4104000"/>
          </a:xfrm>
        </p:grpSpPr>
        <p:sp>
          <p:nvSpPr>
            <p:cNvPr id="562" name="椭圆 561">
              <a:extLst>
                <a:ext uri="{FF2B5EF4-FFF2-40B4-BE49-F238E27FC236}">
                  <a16:creationId xmlns:a16="http://schemas.microsoft.com/office/drawing/2014/main" id="{BDDB91CC-5D73-97C4-09AB-E2760E664E9E}"/>
                </a:ext>
              </a:extLst>
            </p:cNvPr>
            <p:cNvSpPr/>
            <p:nvPr/>
          </p:nvSpPr>
          <p:spPr>
            <a:xfrm>
              <a:off x="7488000" y="3348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63" name="椭圆 562">
              <a:extLst>
                <a:ext uri="{FF2B5EF4-FFF2-40B4-BE49-F238E27FC236}">
                  <a16:creationId xmlns:a16="http://schemas.microsoft.com/office/drawing/2014/main" id="{051774A9-9FE7-59B8-6FDF-1A36A290EC2A}"/>
                </a:ext>
              </a:extLst>
            </p:cNvPr>
            <p:cNvSpPr/>
            <p:nvPr/>
          </p:nvSpPr>
          <p:spPr>
            <a:xfrm>
              <a:off x="7488000" y="4356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64" name="椭圆 563">
              <a:extLst>
                <a:ext uri="{FF2B5EF4-FFF2-40B4-BE49-F238E27FC236}">
                  <a16:creationId xmlns:a16="http://schemas.microsoft.com/office/drawing/2014/main" id="{E6408A21-CA2F-0D8A-A015-969934C6E1FF}"/>
                </a:ext>
              </a:extLst>
            </p:cNvPr>
            <p:cNvSpPr/>
            <p:nvPr/>
          </p:nvSpPr>
          <p:spPr>
            <a:xfrm>
              <a:off x="7488000" y="5364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65" name="椭圆 564">
              <a:extLst>
                <a:ext uri="{FF2B5EF4-FFF2-40B4-BE49-F238E27FC236}">
                  <a16:creationId xmlns:a16="http://schemas.microsoft.com/office/drawing/2014/main" id="{DA667247-EEA2-C838-1531-33A9438451EF}"/>
                </a:ext>
              </a:extLst>
            </p:cNvPr>
            <p:cNvSpPr/>
            <p:nvPr/>
          </p:nvSpPr>
          <p:spPr>
            <a:xfrm>
              <a:off x="8316000" y="3528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66" name="椭圆 565">
              <a:extLst>
                <a:ext uri="{FF2B5EF4-FFF2-40B4-BE49-F238E27FC236}">
                  <a16:creationId xmlns:a16="http://schemas.microsoft.com/office/drawing/2014/main" id="{8137EA3F-B032-199E-6FB1-0855DDAC23AD}"/>
                </a:ext>
              </a:extLst>
            </p:cNvPr>
            <p:cNvSpPr/>
            <p:nvPr/>
          </p:nvSpPr>
          <p:spPr>
            <a:xfrm>
              <a:off x="8316000" y="2520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67" name="椭圆 566">
              <a:extLst>
                <a:ext uri="{FF2B5EF4-FFF2-40B4-BE49-F238E27FC236}">
                  <a16:creationId xmlns:a16="http://schemas.microsoft.com/office/drawing/2014/main" id="{07FE307D-42B5-01B1-BBE5-31B32D23D063}"/>
                </a:ext>
              </a:extLst>
            </p:cNvPr>
            <p:cNvSpPr/>
            <p:nvPr/>
          </p:nvSpPr>
          <p:spPr>
            <a:xfrm>
              <a:off x="8496000" y="3348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68" name="椭圆 567">
              <a:extLst>
                <a:ext uri="{FF2B5EF4-FFF2-40B4-BE49-F238E27FC236}">
                  <a16:creationId xmlns:a16="http://schemas.microsoft.com/office/drawing/2014/main" id="{1DEC5169-DC6B-5909-B63E-51C1F2431AC1}"/>
                </a:ext>
              </a:extLst>
            </p:cNvPr>
            <p:cNvSpPr/>
            <p:nvPr/>
          </p:nvSpPr>
          <p:spPr>
            <a:xfrm>
              <a:off x="8172000" y="347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69" name="椭圆 568">
              <a:extLst>
                <a:ext uri="{FF2B5EF4-FFF2-40B4-BE49-F238E27FC236}">
                  <a16:creationId xmlns:a16="http://schemas.microsoft.com/office/drawing/2014/main" id="{4DA0D02E-A6F7-8EF7-33D6-D088CA693E66}"/>
                </a:ext>
              </a:extLst>
            </p:cNvPr>
            <p:cNvSpPr/>
            <p:nvPr/>
          </p:nvSpPr>
          <p:spPr>
            <a:xfrm>
              <a:off x="8316000" y="3348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570" name="文本框 569">
              <a:extLst>
                <a:ext uri="{FF2B5EF4-FFF2-40B4-BE49-F238E27FC236}">
                  <a16:creationId xmlns:a16="http://schemas.microsoft.com/office/drawing/2014/main" id="{C491418D-93CD-B08C-B1F4-EAE3A29D0FB6}"/>
                </a:ext>
              </a:extLst>
            </p:cNvPr>
            <p:cNvSpPr txBox="1"/>
            <p:nvPr/>
          </p:nvSpPr>
          <p:spPr>
            <a:xfrm>
              <a:off x="8244000" y="3366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571" name="椭圆 570">
              <a:extLst>
                <a:ext uri="{FF2B5EF4-FFF2-40B4-BE49-F238E27FC236}">
                  <a16:creationId xmlns:a16="http://schemas.microsoft.com/office/drawing/2014/main" id="{E376E0A6-53A8-6154-5B56-A78DDFAE2C3A}"/>
                </a:ext>
              </a:extLst>
            </p:cNvPr>
            <p:cNvSpPr/>
            <p:nvPr/>
          </p:nvSpPr>
          <p:spPr>
            <a:xfrm>
              <a:off x="8712000" y="347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72" name="椭圆 571">
              <a:extLst>
                <a:ext uri="{FF2B5EF4-FFF2-40B4-BE49-F238E27FC236}">
                  <a16:creationId xmlns:a16="http://schemas.microsoft.com/office/drawing/2014/main" id="{9CE11F72-1CCF-B4CC-D5D3-50300606080C}"/>
                </a:ext>
              </a:extLst>
            </p:cNvPr>
            <p:cNvSpPr/>
            <p:nvPr/>
          </p:nvSpPr>
          <p:spPr>
            <a:xfrm>
              <a:off x="8442000" y="374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73" name="椭圆 572">
              <a:extLst>
                <a:ext uri="{FF2B5EF4-FFF2-40B4-BE49-F238E27FC236}">
                  <a16:creationId xmlns:a16="http://schemas.microsoft.com/office/drawing/2014/main" id="{2BF4B137-FC31-9B3B-CE41-B1EED5D72693}"/>
                </a:ext>
              </a:extLst>
            </p:cNvPr>
            <p:cNvSpPr/>
            <p:nvPr/>
          </p:nvSpPr>
          <p:spPr>
            <a:xfrm>
              <a:off x="8442000" y="320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74" name="椭圆 573">
              <a:extLst>
                <a:ext uri="{FF2B5EF4-FFF2-40B4-BE49-F238E27FC236}">
                  <a16:creationId xmlns:a16="http://schemas.microsoft.com/office/drawing/2014/main" id="{F52DE852-B668-E239-FFA4-45971F913342}"/>
                </a:ext>
              </a:extLst>
            </p:cNvPr>
            <p:cNvSpPr/>
            <p:nvPr/>
          </p:nvSpPr>
          <p:spPr>
            <a:xfrm>
              <a:off x="8316000" y="4536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75" name="椭圆 574">
              <a:extLst>
                <a:ext uri="{FF2B5EF4-FFF2-40B4-BE49-F238E27FC236}">
                  <a16:creationId xmlns:a16="http://schemas.microsoft.com/office/drawing/2014/main" id="{B751F276-D472-22D7-48DB-9676C5053C7D}"/>
                </a:ext>
              </a:extLst>
            </p:cNvPr>
            <p:cNvSpPr/>
            <p:nvPr/>
          </p:nvSpPr>
          <p:spPr>
            <a:xfrm>
              <a:off x="8496000" y="4356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76" name="椭圆 575">
              <a:extLst>
                <a:ext uri="{FF2B5EF4-FFF2-40B4-BE49-F238E27FC236}">
                  <a16:creationId xmlns:a16="http://schemas.microsoft.com/office/drawing/2014/main" id="{3259B43A-49B1-3090-57D1-EC80F6ABE509}"/>
                </a:ext>
              </a:extLst>
            </p:cNvPr>
            <p:cNvSpPr/>
            <p:nvPr/>
          </p:nvSpPr>
          <p:spPr>
            <a:xfrm>
              <a:off x="8172000" y="448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77" name="椭圆 576">
              <a:extLst>
                <a:ext uri="{FF2B5EF4-FFF2-40B4-BE49-F238E27FC236}">
                  <a16:creationId xmlns:a16="http://schemas.microsoft.com/office/drawing/2014/main" id="{CA6865AB-4BC3-A493-C06F-4E118EEC85DD}"/>
                </a:ext>
              </a:extLst>
            </p:cNvPr>
            <p:cNvSpPr/>
            <p:nvPr/>
          </p:nvSpPr>
          <p:spPr>
            <a:xfrm>
              <a:off x="8316000" y="4356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578" name="文本框 577">
              <a:extLst>
                <a:ext uri="{FF2B5EF4-FFF2-40B4-BE49-F238E27FC236}">
                  <a16:creationId xmlns:a16="http://schemas.microsoft.com/office/drawing/2014/main" id="{6E80C7A2-CE0E-C920-3DC7-99088C6AFDFD}"/>
                </a:ext>
              </a:extLst>
            </p:cNvPr>
            <p:cNvSpPr txBox="1"/>
            <p:nvPr/>
          </p:nvSpPr>
          <p:spPr>
            <a:xfrm>
              <a:off x="8244000" y="4374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579" name="椭圆 578">
              <a:extLst>
                <a:ext uri="{FF2B5EF4-FFF2-40B4-BE49-F238E27FC236}">
                  <a16:creationId xmlns:a16="http://schemas.microsoft.com/office/drawing/2014/main" id="{613FA8A4-F36D-D70E-AD22-03248588723C}"/>
                </a:ext>
              </a:extLst>
            </p:cNvPr>
            <p:cNvSpPr/>
            <p:nvPr/>
          </p:nvSpPr>
          <p:spPr>
            <a:xfrm>
              <a:off x="8712000" y="448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80" name="椭圆 579">
              <a:extLst>
                <a:ext uri="{FF2B5EF4-FFF2-40B4-BE49-F238E27FC236}">
                  <a16:creationId xmlns:a16="http://schemas.microsoft.com/office/drawing/2014/main" id="{6CF6851B-5C98-0817-574C-17BEBB48C537}"/>
                </a:ext>
              </a:extLst>
            </p:cNvPr>
            <p:cNvSpPr/>
            <p:nvPr/>
          </p:nvSpPr>
          <p:spPr>
            <a:xfrm>
              <a:off x="8442000" y="475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81" name="椭圆 580">
              <a:extLst>
                <a:ext uri="{FF2B5EF4-FFF2-40B4-BE49-F238E27FC236}">
                  <a16:creationId xmlns:a16="http://schemas.microsoft.com/office/drawing/2014/main" id="{4E97EB90-C10D-919A-3196-796CBB270489}"/>
                </a:ext>
              </a:extLst>
            </p:cNvPr>
            <p:cNvSpPr/>
            <p:nvPr/>
          </p:nvSpPr>
          <p:spPr>
            <a:xfrm>
              <a:off x="8442000" y="421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82" name="椭圆 581">
              <a:extLst>
                <a:ext uri="{FF2B5EF4-FFF2-40B4-BE49-F238E27FC236}">
                  <a16:creationId xmlns:a16="http://schemas.microsoft.com/office/drawing/2014/main" id="{5A56D74F-4A51-B199-BE38-FAC7F8F6A6A0}"/>
                </a:ext>
              </a:extLst>
            </p:cNvPr>
            <p:cNvSpPr/>
            <p:nvPr/>
          </p:nvSpPr>
          <p:spPr>
            <a:xfrm>
              <a:off x="8316000" y="5544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83" name="椭圆 582">
              <a:extLst>
                <a:ext uri="{FF2B5EF4-FFF2-40B4-BE49-F238E27FC236}">
                  <a16:creationId xmlns:a16="http://schemas.microsoft.com/office/drawing/2014/main" id="{3D06040F-8F35-A719-C76C-8B0A01EDE083}"/>
                </a:ext>
              </a:extLst>
            </p:cNvPr>
            <p:cNvSpPr/>
            <p:nvPr/>
          </p:nvSpPr>
          <p:spPr>
            <a:xfrm>
              <a:off x="8496000" y="5364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84" name="椭圆 583">
              <a:extLst>
                <a:ext uri="{FF2B5EF4-FFF2-40B4-BE49-F238E27FC236}">
                  <a16:creationId xmlns:a16="http://schemas.microsoft.com/office/drawing/2014/main" id="{25E1CDD2-2254-4D2E-0A1F-F30667FA8719}"/>
                </a:ext>
              </a:extLst>
            </p:cNvPr>
            <p:cNvSpPr/>
            <p:nvPr/>
          </p:nvSpPr>
          <p:spPr>
            <a:xfrm>
              <a:off x="8172000" y="549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85" name="椭圆 584">
              <a:extLst>
                <a:ext uri="{FF2B5EF4-FFF2-40B4-BE49-F238E27FC236}">
                  <a16:creationId xmlns:a16="http://schemas.microsoft.com/office/drawing/2014/main" id="{9DD0B987-CC16-8A0D-D06E-2ED7199602FD}"/>
                </a:ext>
              </a:extLst>
            </p:cNvPr>
            <p:cNvSpPr/>
            <p:nvPr/>
          </p:nvSpPr>
          <p:spPr>
            <a:xfrm>
              <a:off x="8316000" y="5364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586" name="文本框 585">
              <a:extLst>
                <a:ext uri="{FF2B5EF4-FFF2-40B4-BE49-F238E27FC236}">
                  <a16:creationId xmlns:a16="http://schemas.microsoft.com/office/drawing/2014/main" id="{C6C58EC8-BCE0-B38B-F34E-D72BCFFDB0F6}"/>
                </a:ext>
              </a:extLst>
            </p:cNvPr>
            <p:cNvSpPr txBox="1"/>
            <p:nvPr/>
          </p:nvSpPr>
          <p:spPr>
            <a:xfrm>
              <a:off x="8244000" y="5382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587" name="椭圆 586">
              <a:extLst>
                <a:ext uri="{FF2B5EF4-FFF2-40B4-BE49-F238E27FC236}">
                  <a16:creationId xmlns:a16="http://schemas.microsoft.com/office/drawing/2014/main" id="{2D8E76BD-9E5E-CFF0-7BF6-4DFDE3C0CFCB}"/>
                </a:ext>
              </a:extLst>
            </p:cNvPr>
            <p:cNvSpPr/>
            <p:nvPr/>
          </p:nvSpPr>
          <p:spPr>
            <a:xfrm>
              <a:off x="8712000" y="549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88" name="椭圆 587">
              <a:extLst>
                <a:ext uri="{FF2B5EF4-FFF2-40B4-BE49-F238E27FC236}">
                  <a16:creationId xmlns:a16="http://schemas.microsoft.com/office/drawing/2014/main" id="{F6A5EFEC-64F2-AB08-CAD0-4013C1B3C907}"/>
                </a:ext>
              </a:extLst>
            </p:cNvPr>
            <p:cNvSpPr/>
            <p:nvPr/>
          </p:nvSpPr>
          <p:spPr>
            <a:xfrm>
              <a:off x="8442000" y="576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89" name="椭圆 588">
              <a:extLst>
                <a:ext uri="{FF2B5EF4-FFF2-40B4-BE49-F238E27FC236}">
                  <a16:creationId xmlns:a16="http://schemas.microsoft.com/office/drawing/2014/main" id="{8FEA6B18-92C1-BA4E-9245-981ECD5FDA4F}"/>
                </a:ext>
              </a:extLst>
            </p:cNvPr>
            <p:cNvSpPr/>
            <p:nvPr/>
          </p:nvSpPr>
          <p:spPr>
            <a:xfrm>
              <a:off x="8442000" y="522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90" name="椭圆 589">
              <a:extLst>
                <a:ext uri="{FF2B5EF4-FFF2-40B4-BE49-F238E27FC236}">
                  <a16:creationId xmlns:a16="http://schemas.microsoft.com/office/drawing/2014/main" id="{10D696C1-1CDC-1296-6336-116D800AC241}"/>
                </a:ext>
              </a:extLst>
            </p:cNvPr>
            <p:cNvSpPr/>
            <p:nvPr/>
          </p:nvSpPr>
          <p:spPr>
            <a:xfrm>
              <a:off x="9324000" y="3528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91" name="椭圆 590">
              <a:extLst>
                <a:ext uri="{FF2B5EF4-FFF2-40B4-BE49-F238E27FC236}">
                  <a16:creationId xmlns:a16="http://schemas.microsoft.com/office/drawing/2014/main" id="{3E3931C4-1110-2792-118F-30406208E024}"/>
                </a:ext>
              </a:extLst>
            </p:cNvPr>
            <p:cNvSpPr/>
            <p:nvPr/>
          </p:nvSpPr>
          <p:spPr>
            <a:xfrm>
              <a:off x="9324000" y="2520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92" name="椭圆 591">
              <a:extLst>
                <a:ext uri="{FF2B5EF4-FFF2-40B4-BE49-F238E27FC236}">
                  <a16:creationId xmlns:a16="http://schemas.microsoft.com/office/drawing/2014/main" id="{4BB758C4-A7A0-3A5D-B089-66AD882DC984}"/>
                </a:ext>
              </a:extLst>
            </p:cNvPr>
            <p:cNvSpPr/>
            <p:nvPr/>
          </p:nvSpPr>
          <p:spPr>
            <a:xfrm>
              <a:off x="9504000" y="3348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93" name="椭圆 592">
              <a:extLst>
                <a:ext uri="{FF2B5EF4-FFF2-40B4-BE49-F238E27FC236}">
                  <a16:creationId xmlns:a16="http://schemas.microsoft.com/office/drawing/2014/main" id="{6F1E7936-B311-E2E8-9590-C97C563C556D}"/>
                </a:ext>
              </a:extLst>
            </p:cNvPr>
            <p:cNvSpPr/>
            <p:nvPr/>
          </p:nvSpPr>
          <p:spPr>
            <a:xfrm>
              <a:off x="9180000" y="347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94" name="椭圆 593">
              <a:extLst>
                <a:ext uri="{FF2B5EF4-FFF2-40B4-BE49-F238E27FC236}">
                  <a16:creationId xmlns:a16="http://schemas.microsoft.com/office/drawing/2014/main" id="{82DD6885-CA1D-C1E9-BA45-6096F4CCE92E}"/>
                </a:ext>
              </a:extLst>
            </p:cNvPr>
            <p:cNvSpPr/>
            <p:nvPr/>
          </p:nvSpPr>
          <p:spPr>
            <a:xfrm>
              <a:off x="9324000" y="3348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595" name="文本框 594">
              <a:extLst>
                <a:ext uri="{FF2B5EF4-FFF2-40B4-BE49-F238E27FC236}">
                  <a16:creationId xmlns:a16="http://schemas.microsoft.com/office/drawing/2014/main" id="{BCA27CD8-E178-F2E2-08BD-1EA3025FFB42}"/>
                </a:ext>
              </a:extLst>
            </p:cNvPr>
            <p:cNvSpPr txBox="1"/>
            <p:nvPr/>
          </p:nvSpPr>
          <p:spPr>
            <a:xfrm>
              <a:off x="9252000" y="3366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596" name="椭圆 595">
              <a:extLst>
                <a:ext uri="{FF2B5EF4-FFF2-40B4-BE49-F238E27FC236}">
                  <a16:creationId xmlns:a16="http://schemas.microsoft.com/office/drawing/2014/main" id="{01A48B6A-E661-9FE5-3F20-9C7811DABDA9}"/>
                </a:ext>
              </a:extLst>
            </p:cNvPr>
            <p:cNvSpPr/>
            <p:nvPr/>
          </p:nvSpPr>
          <p:spPr>
            <a:xfrm>
              <a:off x="9720000" y="347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97" name="椭圆 596">
              <a:extLst>
                <a:ext uri="{FF2B5EF4-FFF2-40B4-BE49-F238E27FC236}">
                  <a16:creationId xmlns:a16="http://schemas.microsoft.com/office/drawing/2014/main" id="{F70EFD1B-D640-2CB5-690D-BEB80CF6AA9E}"/>
                </a:ext>
              </a:extLst>
            </p:cNvPr>
            <p:cNvSpPr/>
            <p:nvPr/>
          </p:nvSpPr>
          <p:spPr>
            <a:xfrm>
              <a:off x="9450000" y="374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98" name="椭圆 597">
              <a:extLst>
                <a:ext uri="{FF2B5EF4-FFF2-40B4-BE49-F238E27FC236}">
                  <a16:creationId xmlns:a16="http://schemas.microsoft.com/office/drawing/2014/main" id="{C889BF80-721E-2328-A3A3-E9F5F81411E7}"/>
                </a:ext>
              </a:extLst>
            </p:cNvPr>
            <p:cNvSpPr/>
            <p:nvPr/>
          </p:nvSpPr>
          <p:spPr>
            <a:xfrm>
              <a:off x="9450000" y="320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99" name="椭圆 598">
              <a:extLst>
                <a:ext uri="{FF2B5EF4-FFF2-40B4-BE49-F238E27FC236}">
                  <a16:creationId xmlns:a16="http://schemas.microsoft.com/office/drawing/2014/main" id="{624DE77A-7D81-F518-190E-6634580B0A3E}"/>
                </a:ext>
              </a:extLst>
            </p:cNvPr>
            <p:cNvSpPr/>
            <p:nvPr/>
          </p:nvSpPr>
          <p:spPr>
            <a:xfrm>
              <a:off x="9324000" y="4536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600" name="椭圆 599">
              <a:extLst>
                <a:ext uri="{FF2B5EF4-FFF2-40B4-BE49-F238E27FC236}">
                  <a16:creationId xmlns:a16="http://schemas.microsoft.com/office/drawing/2014/main" id="{0DE96F6D-B83F-E111-5A38-FE65C20936E1}"/>
                </a:ext>
              </a:extLst>
            </p:cNvPr>
            <p:cNvSpPr/>
            <p:nvPr/>
          </p:nvSpPr>
          <p:spPr>
            <a:xfrm>
              <a:off x="9504000" y="4356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601" name="椭圆 600">
              <a:extLst>
                <a:ext uri="{FF2B5EF4-FFF2-40B4-BE49-F238E27FC236}">
                  <a16:creationId xmlns:a16="http://schemas.microsoft.com/office/drawing/2014/main" id="{33B879E8-4118-421C-0F2A-5D44E572F1D7}"/>
                </a:ext>
              </a:extLst>
            </p:cNvPr>
            <p:cNvSpPr/>
            <p:nvPr/>
          </p:nvSpPr>
          <p:spPr>
            <a:xfrm>
              <a:off x="9180000" y="448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602" name="椭圆 601">
              <a:extLst>
                <a:ext uri="{FF2B5EF4-FFF2-40B4-BE49-F238E27FC236}">
                  <a16:creationId xmlns:a16="http://schemas.microsoft.com/office/drawing/2014/main" id="{73B6CAA3-B8FF-A781-F4C9-0DB257FA80B6}"/>
                </a:ext>
              </a:extLst>
            </p:cNvPr>
            <p:cNvSpPr/>
            <p:nvPr/>
          </p:nvSpPr>
          <p:spPr>
            <a:xfrm>
              <a:off x="9324000" y="4356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603" name="文本框 602">
              <a:extLst>
                <a:ext uri="{FF2B5EF4-FFF2-40B4-BE49-F238E27FC236}">
                  <a16:creationId xmlns:a16="http://schemas.microsoft.com/office/drawing/2014/main" id="{0DB76B5A-B5ED-EB46-693A-643C343CE894}"/>
                </a:ext>
              </a:extLst>
            </p:cNvPr>
            <p:cNvSpPr txBox="1"/>
            <p:nvPr/>
          </p:nvSpPr>
          <p:spPr>
            <a:xfrm>
              <a:off x="9252000" y="4374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604" name="椭圆 603">
              <a:extLst>
                <a:ext uri="{FF2B5EF4-FFF2-40B4-BE49-F238E27FC236}">
                  <a16:creationId xmlns:a16="http://schemas.microsoft.com/office/drawing/2014/main" id="{F7BC64A9-FDE1-CAED-0AD4-51DF6D65E1C6}"/>
                </a:ext>
              </a:extLst>
            </p:cNvPr>
            <p:cNvSpPr/>
            <p:nvPr/>
          </p:nvSpPr>
          <p:spPr>
            <a:xfrm>
              <a:off x="9720000" y="448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605" name="椭圆 604">
              <a:extLst>
                <a:ext uri="{FF2B5EF4-FFF2-40B4-BE49-F238E27FC236}">
                  <a16:creationId xmlns:a16="http://schemas.microsoft.com/office/drawing/2014/main" id="{AFF93A61-C67E-40EE-8973-70FBD7A084C2}"/>
                </a:ext>
              </a:extLst>
            </p:cNvPr>
            <p:cNvSpPr/>
            <p:nvPr/>
          </p:nvSpPr>
          <p:spPr>
            <a:xfrm>
              <a:off x="9450000" y="475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606" name="椭圆 605">
              <a:extLst>
                <a:ext uri="{FF2B5EF4-FFF2-40B4-BE49-F238E27FC236}">
                  <a16:creationId xmlns:a16="http://schemas.microsoft.com/office/drawing/2014/main" id="{8EEF09FC-D6A0-1BD3-BBB4-0F4B5E7B48E9}"/>
                </a:ext>
              </a:extLst>
            </p:cNvPr>
            <p:cNvSpPr/>
            <p:nvPr/>
          </p:nvSpPr>
          <p:spPr>
            <a:xfrm>
              <a:off x="9450000" y="421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607" name="椭圆 606">
              <a:extLst>
                <a:ext uri="{FF2B5EF4-FFF2-40B4-BE49-F238E27FC236}">
                  <a16:creationId xmlns:a16="http://schemas.microsoft.com/office/drawing/2014/main" id="{CD2E9260-65D3-1723-7AF3-9F42C0E7571E}"/>
                </a:ext>
              </a:extLst>
            </p:cNvPr>
            <p:cNvSpPr/>
            <p:nvPr/>
          </p:nvSpPr>
          <p:spPr>
            <a:xfrm>
              <a:off x="9324000" y="5544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608" name="椭圆 607">
              <a:extLst>
                <a:ext uri="{FF2B5EF4-FFF2-40B4-BE49-F238E27FC236}">
                  <a16:creationId xmlns:a16="http://schemas.microsoft.com/office/drawing/2014/main" id="{22770C4E-489C-C1E1-F42A-FA1AFC13DF5A}"/>
                </a:ext>
              </a:extLst>
            </p:cNvPr>
            <p:cNvSpPr/>
            <p:nvPr/>
          </p:nvSpPr>
          <p:spPr>
            <a:xfrm>
              <a:off x="9504000" y="5364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609" name="椭圆 608">
              <a:extLst>
                <a:ext uri="{FF2B5EF4-FFF2-40B4-BE49-F238E27FC236}">
                  <a16:creationId xmlns:a16="http://schemas.microsoft.com/office/drawing/2014/main" id="{1C166ECC-65FF-3607-5834-059AD0F7B4D6}"/>
                </a:ext>
              </a:extLst>
            </p:cNvPr>
            <p:cNvSpPr/>
            <p:nvPr/>
          </p:nvSpPr>
          <p:spPr>
            <a:xfrm>
              <a:off x="9180000" y="549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610" name="椭圆 609">
              <a:extLst>
                <a:ext uri="{FF2B5EF4-FFF2-40B4-BE49-F238E27FC236}">
                  <a16:creationId xmlns:a16="http://schemas.microsoft.com/office/drawing/2014/main" id="{EBDAB9A6-835A-67CB-CDC7-89906FF293F0}"/>
                </a:ext>
              </a:extLst>
            </p:cNvPr>
            <p:cNvSpPr/>
            <p:nvPr/>
          </p:nvSpPr>
          <p:spPr>
            <a:xfrm>
              <a:off x="9324000" y="5364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611" name="文本框 610">
              <a:extLst>
                <a:ext uri="{FF2B5EF4-FFF2-40B4-BE49-F238E27FC236}">
                  <a16:creationId xmlns:a16="http://schemas.microsoft.com/office/drawing/2014/main" id="{AB9E7525-FD3B-D84D-B732-4B64ACF6136E}"/>
                </a:ext>
              </a:extLst>
            </p:cNvPr>
            <p:cNvSpPr txBox="1"/>
            <p:nvPr/>
          </p:nvSpPr>
          <p:spPr>
            <a:xfrm>
              <a:off x="9252000" y="5382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612" name="椭圆 611">
              <a:extLst>
                <a:ext uri="{FF2B5EF4-FFF2-40B4-BE49-F238E27FC236}">
                  <a16:creationId xmlns:a16="http://schemas.microsoft.com/office/drawing/2014/main" id="{C7D3FE34-EBF9-2ED4-62EB-2F0503F10B19}"/>
                </a:ext>
              </a:extLst>
            </p:cNvPr>
            <p:cNvSpPr/>
            <p:nvPr/>
          </p:nvSpPr>
          <p:spPr>
            <a:xfrm>
              <a:off x="9720000" y="549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39" name="椭圆 838">
              <a:extLst>
                <a:ext uri="{FF2B5EF4-FFF2-40B4-BE49-F238E27FC236}">
                  <a16:creationId xmlns:a16="http://schemas.microsoft.com/office/drawing/2014/main" id="{86D890F6-F9FA-BB51-8767-66BD6D66C3B6}"/>
                </a:ext>
              </a:extLst>
            </p:cNvPr>
            <p:cNvSpPr/>
            <p:nvPr/>
          </p:nvSpPr>
          <p:spPr>
            <a:xfrm>
              <a:off x="9450000" y="576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40" name="椭圆 839">
              <a:extLst>
                <a:ext uri="{FF2B5EF4-FFF2-40B4-BE49-F238E27FC236}">
                  <a16:creationId xmlns:a16="http://schemas.microsoft.com/office/drawing/2014/main" id="{D84114A6-BFA3-7BDF-0134-B91631B52376}"/>
                </a:ext>
              </a:extLst>
            </p:cNvPr>
            <p:cNvSpPr/>
            <p:nvPr/>
          </p:nvSpPr>
          <p:spPr>
            <a:xfrm>
              <a:off x="9450000" y="522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41" name="椭圆 840">
              <a:extLst>
                <a:ext uri="{FF2B5EF4-FFF2-40B4-BE49-F238E27FC236}">
                  <a16:creationId xmlns:a16="http://schemas.microsoft.com/office/drawing/2014/main" id="{53F9E689-5AF0-5357-944C-53315DEA2958}"/>
                </a:ext>
              </a:extLst>
            </p:cNvPr>
            <p:cNvSpPr/>
            <p:nvPr/>
          </p:nvSpPr>
          <p:spPr>
            <a:xfrm>
              <a:off x="10332000" y="3528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842" name="椭圆 841">
              <a:extLst>
                <a:ext uri="{FF2B5EF4-FFF2-40B4-BE49-F238E27FC236}">
                  <a16:creationId xmlns:a16="http://schemas.microsoft.com/office/drawing/2014/main" id="{1C83F51D-5717-8C9B-BE5E-1BB6AB0ABED0}"/>
                </a:ext>
              </a:extLst>
            </p:cNvPr>
            <p:cNvSpPr/>
            <p:nvPr/>
          </p:nvSpPr>
          <p:spPr>
            <a:xfrm>
              <a:off x="10332000" y="2520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843" name="椭圆 842">
              <a:extLst>
                <a:ext uri="{FF2B5EF4-FFF2-40B4-BE49-F238E27FC236}">
                  <a16:creationId xmlns:a16="http://schemas.microsoft.com/office/drawing/2014/main" id="{D618B2BC-2784-C2A2-7D00-B22BBB512E17}"/>
                </a:ext>
              </a:extLst>
            </p:cNvPr>
            <p:cNvSpPr/>
            <p:nvPr/>
          </p:nvSpPr>
          <p:spPr>
            <a:xfrm>
              <a:off x="10512000" y="3348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844" name="椭圆 843">
              <a:extLst>
                <a:ext uri="{FF2B5EF4-FFF2-40B4-BE49-F238E27FC236}">
                  <a16:creationId xmlns:a16="http://schemas.microsoft.com/office/drawing/2014/main" id="{4022A720-587D-AB81-7E62-446061383662}"/>
                </a:ext>
              </a:extLst>
            </p:cNvPr>
            <p:cNvSpPr/>
            <p:nvPr/>
          </p:nvSpPr>
          <p:spPr>
            <a:xfrm>
              <a:off x="10188000" y="347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45" name="椭圆 844">
              <a:extLst>
                <a:ext uri="{FF2B5EF4-FFF2-40B4-BE49-F238E27FC236}">
                  <a16:creationId xmlns:a16="http://schemas.microsoft.com/office/drawing/2014/main" id="{5A1289E3-FB06-3C8F-6A6D-8722F6936344}"/>
                </a:ext>
              </a:extLst>
            </p:cNvPr>
            <p:cNvSpPr/>
            <p:nvPr/>
          </p:nvSpPr>
          <p:spPr>
            <a:xfrm>
              <a:off x="10332000" y="3348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846" name="文本框 845">
              <a:extLst>
                <a:ext uri="{FF2B5EF4-FFF2-40B4-BE49-F238E27FC236}">
                  <a16:creationId xmlns:a16="http://schemas.microsoft.com/office/drawing/2014/main" id="{EC2A5801-66C8-E7EF-9916-8FBEA9F86471}"/>
                </a:ext>
              </a:extLst>
            </p:cNvPr>
            <p:cNvSpPr txBox="1"/>
            <p:nvPr/>
          </p:nvSpPr>
          <p:spPr>
            <a:xfrm>
              <a:off x="10260000" y="3366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847" name="椭圆 846">
              <a:extLst>
                <a:ext uri="{FF2B5EF4-FFF2-40B4-BE49-F238E27FC236}">
                  <a16:creationId xmlns:a16="http://schemas.microsoft.com/office/drawing/2014/main" id="{4A9F2B6A-446C-E8BE-0B64-FB52885075AB}"/>
                </a:ext>
              </a:extLst>
            </p:cNvPr>
            <p:cNvSpPr/>
            <p:nvPr/>
          </p:nvSpPr>
          <p:spPr>
            <a:xfrm>
              <a:off x="10728000" y="347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48" name="椭圆 847">
              <a:extLst>
                <a:ext uri="{FF2B5EF4-FFF2-40B4-BE49-F238E27FC236}">
                  <a16:creationId xmlns:a16="http://schemas.microsoft.com/office/drawing/2014/main" id="{E3E5C0E8-EE0D-CF8E-9B68-9C615465A0EE}"/>
                </a:ext>
              </a:extLst>
            </p:cNvPr>
            <p:cNvSpPr/>
            <p:nvPr/>
          </p:nvSpPr>
          <p:spPr>
            <a:xfrm>
              <a:off x="10458000" y="374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49" name="椭圆 848">
              <a:extLst>
                <a:ext uri="{FF2B5EF4-FFF2-40B4-BE49-F238E27FC236}">
                  <a16:creationId xmlns:a16="http://schemas.microsoft.com/office/drawing/2014/main" id="{B1ABF6E7-60CB-E933-B469-CE05B10A63CF}"/>
                </a:ext>
              </a:extLst>
            </p:cNvPr>
            <p:cNvSpPr/>
            <p:nvPr/>
          </p:nvSpPr>
          <p:spPr>
            <a:xfrm>
              <a:off x="10458000" y="320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50" name="椭圆 849">
              <a:extLst>
                <a:ext uri="{FF2B5EF4-FFF2-40B4-BE49-F238E27FC236}">
                  <a16:creationId xmlns:a16="http://schemas.microsoft.com/office/drawing/2014/main" id="{1D751E88-6719-11D1-9C12-BF1408DA016F}"/>
                </a:ext>
              </a:extLst>
            </p:cNvPr>
            <p:cNvSpPr/>
            <p:nvPr/>
          </p:nvSpPr>
          <p:spPr>
            <a:xfrm>
              <a:off x="10332000" y="4536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851" name="椭圆 850">
              <a:extLst>
                <a:ext uri="{FF2B5EF4-FFF2-40B4-BE49-F238E27FC236}">
                  <a16:creationId xmlns:a16="http://schemas.microsoft.com/office/drawing/2014/main" id="{5999A479-C62C-72FB-FF05-BCD9E2E43C6E}"/>
                </a:ext>
              </a:extLst>
            </p:cNvPr>
            <p:cNvSpPr/>
            <p:nvPr/>
          </p:nvSpPr>
          <p:spPr>
            <a:xfrm>
              <a:off x="10512000" y="4356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852" name="椭圆 851">
              <a:extLst>
                <a:ext uri="{FF2B5EF4-FFF2-40B4-BE49-F238E27FC236}">
                  <a16:creationId xmlns:a16="http://schemas.microsoft.com/office/drawing/2014/main" id="{103CE14D-3140-3A2D-B61D-6793F321C1AF}"/>
                </a:ext>
              </a:extLst>
            </p:cNvPr>
            <p:cNvSpPr/>
            <p:nvPr/>
          </p:nvSpPr>
          <p:spPr>
            <a:xfrm>
              <a:off x="10188000" y="448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53" name="椭圆 852">
              <a:extLst>
                <a:ext uri="{FF2B5EF4-FFF2-40B4-BE49-F238E27FC236}">
                  <a16:creationId xmlns:a16="http://schemas.microsoft.com/office/drawing/2014/main" id="{31E9EC9F-97A8-A58D-BA78-A4AC46835158}"/>
                </a:ext>
              </a:extLst>
            </p:cNvPr>
            <p:cNvSpPr/>
            <p:nvPr/>
          </p:nvSpPr>
          <p:spPr>
            <a:xfrm>
              <a:off x="10332000" y="4356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854" name="文本框 853">
              <a:extLst>
                <a:ext uri="{FF2B5EF4-FFF2-40B4-BE49-F238E27FC236}">
                  <a16:creationId xmlns:a16="http://schemas.microsoft.com/office/drawing/2014/main" id="{684AB208-613F-9FA6-E5C9-10DBED672080}"/>
                </a:ext>
              </a:extLst>
            </p:cNvPr>
            <p:cNvSpPr txBox="1"/>
            <p:nvPr/>
          </p:nvSpPr>
          <p:spPr>
            <a:xfrm>
              <a:off x="10260000" y="4374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855" name="椭圆 854">
              <a:extLst>
                <a:ext uri="{FF2B5EF4-FFF2-40B4-BE49-F238E27FC236}">
                  <a16:creationId xmlns:a16="http://schemas.microsoft.com/office/drawing/2014/main" id="{368E729C-A7EB-B113-F1CB-655530A0CD81}"/>
                </a:ext>
              </a:extLst>
            </p:cNvPr>
            <p:cNvSpPr/>
            <p:nvPr/>
          </p:nvSpPr>
          <p:spPr>
            <a:xfrm>
              <a:off x="10728000" y="448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56" name="椭圆 855">
              <a:extLst>
                <a:ext uri="{FF2B5EF4-FFF2-40B4-BE49-F238E27FC236}">
                  <a16:creationId xmlns:a16="http://schemas.microsoft.com/office/drawing/2014/main" id="{E4052D94-FBD3-D938-7C8E-BED75AD4EBFF}"/>
                </a:ext>
              </a:extLst>
            </p:cNvPr>
            <p:cNvSpPr/>
            <p:nvPr/>
          </p:nvSpPr>
          <p:spPr>
            <a:xfrm>
              <a:off x="10458000" y="475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57" name="椭圆 856">
              <a:extLst>
                <a:ext uri="{FF2B5EF4-FFF2-40B4-BE49-F238E27FC236}">
                  <a16:creationId xmlns:a16="http://schemas.microsoft.com/office/drawing/2014/main" id="{3AB98B3F-16E0-2D0C-B041-0CD29668B7EF}"/>
                </a:ext>
              </a:extLst>
            </p:cNvPr>
            <p:cNvSpPr/>
            <p:nvPr/>
          </p:nvSpPr>
          <p:spPr>
            <a:xfrm>
              <a:off x="10458000" y="421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58" name="椭圆 857">
              <a:extLst>
                <a:ext uri="{FF2B5EF4-FFF2-40B4-BE49-F238E27FC236}">
                  <a16:creationId xmlns:a16="http://schemas.microsoft.com/office/drawing/2014/main" id="{CF19F88D-9EDB-26B9-411F-27AAF36CFC32}"/>
                </a:ext>
              </a:extLst>
            </p:cNvPr>
            <p:cNvSpPr/>
            <p:nvPr/>
          </p:nvSpPr>
          <p:spPr>
            <a:xfrm>
              <a:off x="10332000" y="5544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859" name="椭圆 858">
              <a:extLst>
                <a:ext uri="{FF2B5EF4-FFF2-40B4-BE49-F238E27FC236}">
                  <a16:creationId xmlns:a16="http://schemas.microsoft.com/office/drawing/2014/main" id="{A25B62A3-F78E-2BB7-90D9-33FFD41D6B71}"/>
                </a:ext>
              </a:extLst>
            </p:cNvPr>
            <p:cNvSpPr/>
            <p:nvPr/>
          </p:nvSpPr>
          <p:spPr>
            <a:xfrm>
              <a:off x="10512000" y="5364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860" name="椭圆 859">
              <a:extLst>
                <a:ext uri="{FF2B5EF4-FFF2-40B4-BE49-F238E27FC236}">
                  <a16:creationId xmlns:a16="http://schemas.microsoft.com/office/drawing/2014/main" id="{E911D426-E921-243F-162D-9F61589C6914}"/>
                </a:ext>
              </a:extLst>
            </p:cNvPr>
            <p:cNvSpPr/>
            <p:nvPr/>
          </p:nvSpPr>
          <p:spPr>
            <a:xfrm>
              <a:off x="10188000" y="549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61" name="椭圆 860">
              <a:extLst>
                <a:ext uri="{FF2B5EF4-FFF2-40B4-BE49-F238E27FC236}">
                  <a16:creationId xmlns:a16="http://schemas.microsoft.com/office/drawing/2014/main" id="{276EC6A4-84DE-92A9-207B-41D2E5AB9E23}"/>
                </a:ext>
              </a:extLst>
            </p:cNvPr>
            <p:cNvSpPr/>
            <p:nvPr/>
          </p:nvSpPr>
          <p:spPr>
            <a:xfrm>
              <a:off x="10332000" y="5364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862" name="文本框 861">
              <a:extLst>
                <a:ext uri="{FF2B5EF4-FFF2-40B4-BE49-F238E27FC236}">
                  <a16:creationId xmlns:a16="http://schemas.microsoft.com/office/drawing/2014/main" id="{FBB198DF-5542-F928-3001-566C6E64AA09}"/>
                </a:ext>
              </a:extLst>
            </p:cNvPr>
            <p:cNvSpPr txBox="1"/>
            <p:nvPr/>
          </p:nvSpPr>
          <p:spPr>
            <a:xfrm>
              <a:off x="10260000" y="5382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863" name="椭圆 862">
              <a:extLst>
                <a:ext uri="{FF2B5EF4-FFF2-40B4-BE49-F238E27FC236}">
                  <a16:creationId xmlns:a16="http://schemas.microsoft.com/office/drawing/2014/main" id="{1CE620AF-0B96-F681-4B0B-EB9181758C47}"/>
                </a:ext>
              </a:extLst>
            </p:cNvPr>
            <p:cNvSpPr/>
            <p:nvPr/>
          </p:nvSpPr>
          <p:spPr>
            <a:xfrm>
              <a:off x="10728000" y="549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64" name="椭圆 863">
              <a:extLst>
                <a:ext uri="{FF2B5EF4-FFF2-40B4-BE49-F238E27FC236}">
                  <a16:creationId xmlns:a16="http://schemas.microsoft.com/office/drawing/2014/main" id="{A0B87B6D-3D62-7EDF-EA53-408CFD004C61}"/>
                </a:ext>
              </a:extLst>
            </p:cNvPr>
            <p:cNvSpPr/>
            <p:nvPr/>
          </p:nvSpPr>
          <p:spPr>
            <a:xfrm>
              <a:off x="10458000" y="576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65" name="椭圆 864">
              <a:extLst>
                <a:ext uri="{FF2B5EF4-FFF2-40B4-BE49-F238E27FC236}">
                  <a16:creationId xmlns:a16="http://schemas.microsoft.com/office/drawing/2014/main" id="{83AAD6D7-C705-D2C8-09EF-4684D7490420}"/>
                </a:ext>
              </a:extLst>
            </p:cNvPr>
            <p:cNvSpPr/>
            <p:nvPr/>
          </p:nvSpPr>
          <p:spPr>
            <a:xfrm>
              <a:off x="10458000" y="522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66" name="矩形 865">
              <a:extLst>
                <a:ext uri="{FF2B5EF4-FFF2-40B4-BE49-F238E27FC236}">
                  <a16:creationId xmlns:a16="http://schemas.microsoft.com/office/drawing/2014/main" id="{F29DC2B8-EFCF-DC06-099F-C96F36D4A7A3}"/>
                </a:ext>
              </a:extLst>
            </p:cNvPr>
            <p:cNvSpPr/>
            <p:nvPr/>
          </p:nvSpPr>
          <p:spPr>
            <a:xfrm>
              <a:off x="7452000" y="3240000"/>
              <a:ext cx="540000" cy="259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67" name="矩形 866">
              <a:extLst>
                <a:ext uri="{FF2B5EF4-FFF2-40B4-BE49-F238E27FC236}">
                  <a16:creationId xmlns:a16="http://schemas.microsoft.com/office/drawing/2014/main" id="{E6825ABF-ACA7-DE82-45B9-86F6D56B7356}"/>
                </a:ext>
              </a:extLst>
            </p:cNvPr>
            <p:cNvSpPr/>
            <p:nvPr/>
          </p:nvSpPr>
          <p:spPr>
            <a:xfrm>
              <a:off x="11016000" y="3240000"/>
              <a:ext cx="540000" cy="259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68" name="矩形 867">
              <a:extLst>
                <a:ext uri="{FF2B5EF4-FFF2-40B4-BE49-F238E27FC236}">
                  <a16:creationId xmlns:a16="http://schemas.microsoft.com/office/drawing/2014/main" id="{53FA885B-D68F-F90D-DA14-A8218469832F}"/>
                </a:ext>
              </a:extLst>
            </p:cNvPr>
            <p:cNvSpPr/>
            <p:nvPr/>
          </p:nvSpPr>
          <p:spPr>
            <a:xfrm>
              <a:off x="8208000" y="2484000"/>
              <a:ext cx="2592000" cy="54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69" name="矩形 868">
              <a:extLst>
                <a:ext uri="{FF2B5EF4-FFF2-40B4-BE49-F238E27FC236}">
                  <a16:creationId xmlns:a16="http://schemas.microsoft.com/office/drawing/2014/main" id="{C6C2F0FE-FAEC-A633-E784-373CF1FE6B99}"/>
                </a:ext>
              </a:extLst>
            </p:cNvPr>
            <p:cNvSpPr/>
            <p:nvPr/>
          </p:nvSpPr>
          <p:spPr>
            <a:xfrm>
              <a:off x="8208000" y="6048000"/>
              <a:ext cx="2592000" cy="54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grpSp>
      <p:sp>
        <p:nvSpPr>
          <p:cNvPr id="3" name="文本框 2">
            <a:extLst>
              <a:ext uri="{FF2B5EF4-FFF2-40B4-BE49-F238E27FC236}">
                <a16:creationId xmlns:a16="http://schemas.microsoft.com/office/drawing/2014/main" id="{9E47F4A3-FDDE-0E26-D232-D4CF9252C7ED}"/>
              </a:ext>
            </a:extLst>
          </p:cNvPr>
          <p:cNvSpPr txBox="1"/>
          <p:nvPr/>
        </p:nvSpPr>
        <p:spPr>
          <a:xfrm>
            <a:off x="360000" y="828000"/>
            <a:ext cx="10888571" cy="2270686"/>
          </a:xfrm>
          <a:prstGeom prst="rect">
            <a:avLst/>
          </a:prstGeom>
          <a:noFill/>
        </p:spPr>
        <p:txBody>
          <a:bodyPr wrap="square">
            <a:spAutoFit/>
          </a:bodyPr>
          <a:lstStyle/>
          <a:p>
            <a:pPr>
              <a:lnSpc>
                <a:spcPct val="120000"/>
              </a:lnSpc>
              <a:spcAft>
                <a:spcPts val="600"/>
              </a:spcAft>
            </a:pPr>
            <a:r>
              <a:rPr kumimoji="1" lang="zh-CN" altLang="en-US" sz="2800" b="1" dirty="0">
                <a:solidFill>
                  <a:srgbClr val="002060"/>
                </a:solidFill>
                <a:latin typeface="微软雅黑" panose="020B0503020204020204" pitchFamily="34" charset="-122"/>
                <a:ea typeface="微软雅黑" panose="020B0503020204020204" pitchFamily="34" charset="-122"/>
              </a:rPr>
              <a:t>本征半导体</a:t>
            </a:r>
            <a:r>
              <a:rPr kumimoji="1" lang="zh-CN" altLang="en-US" sz="2800" dirty="0">
                <a:solidFill>
                  <a:srgbClr val="002060"/>
                </a:solidFill>
                <a:latin typeface="微软雅黑" panose="020B0503020204020204" pitchFamily="34" charset="-122"/>
                <a:ea typeface="微软雅黑" panose="020B0503020204020204" pitchFamily="34" charset="-122"/>
              </a:rPr>
              <a:t>：完全纯净的、结构完整的半导体晶体</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本征激发：本征半导体受外部激发（如受热或光照）产生空穴和自由电子的现象</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载流子：起导电作用的带电粒子（</a:t>
            </a:r>
            <a:r>
              <a:rPr kumimoji="1" lang="zh-CN" altLang="en-US" sz="2800" dirty="0">
                <a:solidFill>
                  <a:schemeClr val="accent5">
                    <a:lumMod val="75000"/>
                  </a:schemeClr>
                </a:solidFill>
                <a:latin typeface="微软雅黑" panose="020B0503020204020204" pitchFamily="34" charset="-122"/>
                <a:ea typeface="微软雅黑" panose="020B0503020204020204" pitchFamily="34" charset="-122"/>
              </a:rPr>
              <a:t>空穴和自由电子</a:t>
            </a:r>
            <a:r>
              <a:rPr kumimoji="1" lang="zh-CN" altLang="en-US" sz="2800" dirty="0">
                <a:solidFill>
                  <a:srgbClr val="002060"/>
                </a:solidFill>
                <a:latin typeface="微软雅黑" panose="020B0503020204020204" pitchFamily="34" charset="-122"/>
                <a:ea typeface="微软雅黑" panose="020B0503020204020204" pitchFamily="34" charset="-122"/>
              </a:rPr>
              <a:t>）</a:t>
            </a:r>
            <a:endParaRPr kumimoji="1" lang="en-US" altLang="zh-CN" sz="2800" dirty="0">
              <a:solidFill>
                <a:srgbClr val="002060"/>
              </a:solidFill>
              <a:latin typeface="微软雅黑" panose="020B0503020204020204" pitchFamily="34" charset="-122"/>
              <a:ea typeface="微软雅黑" panose="020B0503020204020204" pitchFamily="34" charset="-122"/>
            </a:endParaRPr>
          </a:p>
        </p:txBody>
      </p:sp>
      <p:grpSp>
        <p:nvGrpSpPr>
          <p:cNvPr id="4" name="组合 3">
            <a:extLst>
              <a:ext uri="{FF2B5EF4-FFF2-40B4-BE49-F238E27FC236}">
                <a16:creationId xmlns:a16="http://schemas.microsoft.com/office/drawing/2014/main" id="{F356A503-0038-E947-E672-B30A48F80C37}"/>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C89ECD6C-FCCF-06A2-6E6D-D06ECCBD9979}"/>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51FBD10C-3D65-86E2-00EA-88C77D4C79F9}"/>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3901D6AB-9CA8-7E8E-F0BD-F00A19C85D33}"/>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DDF30536-D86C-DEB2-990D-5389525B4F1B}"/>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4</a:t>
              </a:fld>
              <a:endParaRPr lang="zh-CN" altLang="en-US" sz="3200" dirty="0">
                <a:solidFill>
                  <a:schemeClr val="bg1"/>
                </a:solidFill>
                <a:latin typeface="Candara"/>
                <a:ea typeface="微软雅黑"/>
              </a:endParaRPr>
            </a:p>
          </p:txBody>
        </p:sp>
      </p:grpSp>
      <p:sp>
        <p:nvSpPr>
          <p:cNvPr id="12" name="Text Box 9">
            <a:extLst>
              <a:ext uri="{FF2B5EF4-FFF2-40B4-BE49-F238E27FC236}">
                <a16:creationId xmlns:a16="http://schemas.microsoft.com/office/drawing/2014/main" id="{B2350F86-63A6-5324-6224-A799FC36AF6C}"/>
              </a:ext>
            </a:extLst>
          </p:cNvPr>
          <p:cNvSpPr txBox="1">
            <a:spLocks noChangeArrowheads="1"/>
          </p:cNvSpPr>
          <p:nvPr/>
        </p:nvSpPr>
        <p:spPr bwMode="auto">
          <a:xfrm>
            <a:off x="537604" y="5990400"/>
            <a:ext cx="1467068" cy="707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sz="2000" b="0" dirty="0">
                <a:solidFill>
                  <a:schemeClr val="accent5">
                    <a:lumMod val="75000"/>
                  </a:schemeClr>
                </a:solidFill>
                <a:latin typeface="Microsoft YaHei" panose="020B0503020204020204" pitchFamily="34" charset="-122"/>
                <a:ea typeface="Microsoft YaHei" panose="020B0503020204020204" pitchFamily="34" charset="-122"/>
              </a:rPr>
              <a:t>硅原子结构</a:t>
            </a:r>
          </a:p>
          <a:p>
            <a:pPr algn="ctr" eaLnBrk="1" hangingPunct="1">
              <a:spcAft>
                <a:spcPct val="0"/>
              </a:spcAft>
              <a:buFontTx/>
              <a:buNone/>
            </a:pPr>
            <a:r>
              <a:rPr kumimoji="1" lang="zh-CN" altLang="en-US" sz="2000" b="0" dirty="0">
                <a:solidFill>
                  <a:schemeClr val="accent5">
                    <a:lumMod val="75000"/>
                  </a:schemeClr>
                </a:solidFill>
                <a:latin typeface="Microsoft YaHei" panose="020B0503020204020204" pitchFamily="34" charset="-122"/>
                <a:ea typeface="Microsoft YaHei" panose="020B0503020204020204" pitchFamily="34" charset="-122"/>
              </a:rPr>
              <a:t>简化模型</a:t>
            </a:r>
          </a:p>
        </p:txBody>
      </p:sp>
      <p:sp>
        <p:nvSpPr>
          <p:cNvPr id="241" name="Text Box 9">
            <a:extLst>
              <a:ext uri="{FF2B5EF4-FFF2-40B4-BE49-F238E27FC236}">
                <a16:creationId xmlns:a16="http://schemas.microsoft.com/office/drawing/2014/main" id="{72D0463E-7764-71E6-363D-038C2D0A6A7C}"/>
              </a:ext>
            </a:extLst>
          </p:cNvPr>
          <p:cNvSpPr txBox="1">
            <a:spLocks noChangeArrowheads="1"/>
          </p:cNvSpPr>
          <p:nvPr/>
        </p:nvSpPr>
        <p:spPr bwMode="auto">
          <a:xfrm>
            <a:off x="6660000" y="6336000"/>
            <a:ext cx="4104000" cy="396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sz="2000" b="0" dirty="0">
                <a:solidFill>
                  <a:schemeClr val="accent5">
                    <a:lumMod val="75000"/>
                  </a:schemeClr>
                </a:solidFill>
                <a:latin typeface="Microsoft YaHei" panose="020B0503020204020204" pitchFamily="34" charset="-122"/>
                <a:ea typeface="Microsoft YaHei" panose="020B0503020204020204" pitchFamily="34" charset="-122"/>
              </a:rPr>
              <a:t>共价键打破而产生的空穴</a:t>
            </a:r>
            <a:r>
              <a:rPr kumimoji="1" lang="en-US" altLang="zh-CN" sz="2000" b="0" dirty="0">
                <a:solidFill>
                  <a:schemeClr val="accent5">
                    <a:lumMod val="75000"/>
                  </a:schemeClr>
                </a:solidFill>
                <a:latin typeface="Microsoft YaHei" panose="020B0503020204020204" pitchFamily="34" charset="-122"/>
                <a:ea typeface="Microsoft YaHei" panose="020B0503020204020204" pitchFamily="34" charset="-122"/>
              </a:rPr>
              <a:t>-</a:t>
            </a:r>
            <a:r>
              <a:rPr kumimoji="1" lang="zh-CN" altLang="en-US" sz="2000" b="0" dirty="0">
                <a:solidFill>
                  <a:schemeClr val="accent5">
                    <a:lumMod val="75000"/>
                  </a:schemeClr>
                </a:solidFill>
                <a:latin typeface="Microsoft YaHei" panose="020B0503020204020204" pitchFamily="34" charset="-122"/>
                <a:ea typeface="Microsoft YaHei" panose="020B0503020204020204" pitchFamily="34" charset="-122"/>
              </a:rPr>
              <a:t>电子对</a:t>
            </a:r>
          </a:p>
        </p:txBody>
      </p:sp>
      <p:sp>
        <p:nvSpPr>
          <p:cNvPr id="9" name="标题 1">
            <a:extLst>
              <a:ext uri="{FF2B5EF4-FFF2-40B4-BE49-F238E27FC236}">
                <a16:creationId xmlns:a16="http://schemas.microsoft.com/office/drawing/2014/main" id="{8E4B65BD-5BD3-4336-264F-439AF050D2CF}"/>
              </a:ext>
            </a:extLst>
          </p:cNvPr>
          <p:cNvSpPr txBox="1">
            <a:spLocks/>
          </p:cNvSpPr>
          <p:nvPr/>
        </p:nvSpPr>
        <p:spPr>
          <a:xfrm>
            <a:off x="360000" y="0"/>
            <a:ext cx="11826000" cy="548639"/>
          </a:xfrm>
          <a:prstGeom prst="rect">
            <a:avLst/>
          </a:prstGeom>
        </p:spPr>
        <p:txBody>
          <a:bodyPr anchor="b">
            <a:normAutofit/>
          </a:bodyPr>
          <a:lstStyle>
            <a:defPPr>
              <a:defRPr lang="zh-CN"/>
            </a:defPPr>
            <a:lvl1pPr marL="0" algn="l" defTabSz="914400" rtl="0" eaLnBrk="1" latinLnBrk="0" hangingPunct="1">
              <a:lnSpc>
                <a:spcPct val="90000"/>
              </a:lnSpc>
              <a:spcBef>
                <a:spcPct val="0"/>
              </a:spcBef>
              <a:buNone/>
              <a:defRPr sz="3200" b="1" kern="1200">
                <a:solidFill>
                  <a:schemeClr val="bg1"/>
                </a:solidFill>
                <a:latin typeface="微软雅黑" panose="020B0503020204020204" pitchFamily="34" charset="-122"/>
                <a:ea typeface="微软雅黑" panose="020B0503020204020204" pitchFamily="34" charset="-122"/>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000" dirty="0"/>
              <a:t>半导体的基本知识 </a:t>
            </a:r>
            <a:r>
              <a:rPr lang="en-US" altLang="zh-CN" sz="3000" dirty="0"/>
              <a:t>—— </a:t>
            </a:r>
            <a:r>
              <a:rPr lang="zh-CN" altLang="en-US" sz="3000" dirty="0">
                <a:solidFill>
                  <a:srgbClr val="FFFF00"/>
                </a:solidFill>
              </a:rPr>
              <a:t>本征半导体</a:t>
            </a:r>
            <a:endParaRPr lang="en-US" altLang="zh-CN" sz="3000" dirty="0"/>
          </a:p>
        </p:txBody>
      </p:sp>
      <p:grpSp>
        <p:nvGrpSpPr>
          <p:cNvPr id="2" name="组合 1">
            <a:extLst>
              <a:ext uri="{FF2B5EF4-FFF2-40B4-BE49-F238E27FC236}">
                <a16:creationId xmlns:a16="http://schemas.microsoft.com/office/drawing/2014/main" id="{2CCE00CF-52DB-AF02-70AE-4DB2D714A5ED}"/>
              </a:ext>
            </a:extLst>
          </p:cNvPr>
          <p:cNvGrpSpPr/>
          <p:nvPr/>
        </p:nvGrpSpPr>
        <p:grpSpPr>
          <a:xfrm>
            <a:off x="612000" y="4212000"/>
            <a:ext cx="1512000" cy="1512000"/>
            <a:chOff x="612000" y="4212000"/>
            <a:chExt cx="1512000" cy="1512000"/>
          </a:xfrm>
        </p:grpSpPr>
        <p:sp>
          <p:nvSpPr>
            <p:cNvPr id="10" name="椭圆 9">
              <a:extLst>
                <a:ext uri="{FF2B5EF4-FFF2-40B4-BE49-F238E27FC236}">
                  <a16:creationId xmlns:a16="http://schemas.microsoft.com/office/drawing/2014/main" id="{DAF38014-240A-EE66-3B87-4E45C8CE5A1D}"/>
                </a:ext>
              </a:extLst>
            </p:cNvPr>
            <p:cNvSpPr/>
            <p:nvPr/>
          </p:nvSpPr>
          <p:spPr>
            <a:xfrm>
              <a:off x="720000" y="4320000"/>
              <a:ext cx="1296000" cy="1296000"/>
            </a:xfrm>
            <a:prstGeom prst="ellipse">
              <a:avLst/>
            </a:prstGeom>
            <a:no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1" name="椭圆 10">
              <a:extLst>
                <a:ext uri="{FF2B5EF4-FFF2-40B4-BE49-F238E27FC236}">
                  <a16:creationId xmlns:a16="http://schemas.microsoft.com/office/drawing/2014/main" id="{2E2E1D8D-462D-D73F-4DB2-84DDBE7626BF}"/>
                </a:ext>
              </a:extLst>
            </p:cNvPr>
            <p:cNvSpPr/>
            <p:nvPr/>
          </p:nvSpPr>
          <p:spPr>
            <a:xfrm>
              <a:off x="1044000" y="4644000"/>
              <a:ext cx="648000" cy="648000"/>
            </a:xfrm>
            <a:prstGeom prst="ellipse">
              <a:avLst/>
            </a:prstGeom>
            <a:solidFill>
              <a:schemeClr val="accent5">
                <a:lumMod val="20000"/>
                <a:lumOff val="80000"/>
              </a:schemeClr>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2000" dirty="0">
                <a:latin typeface="微软雅黑" panose="020B0503020204020204" pitchFamily="34" charset="-122"/>
                <a:ea typeface="微软雅黑" panose="020B0503020204020204" pitchFamily="34" charset="-122"/>
              </a:endParaRPr>
            </a:p>
          </p:txBody>
        </p:sp>
        <p:sp>
          <p:nvSpPr>
            <p:cNvPr id="13" name="椭圆 12">
              <a:extLst>
                <a:ext uri="{FF2B5EF4-FFF2-40B4-BE49-F238E27FC236}">
                  <a16:creationId xmlns:a16="http://schemas.microsoft.com/office/drawing/2014/main" id="{D2ED3426-2C93-B6E8-631E-4C84B9C5F40E}"/>
                </a:ext>
              </a:extLst>
            </p:cNvPr>
            <p:cNvSpPr/>
            <p:nvPr/>
          </p:nvSpPr>
          <p:spPr>
            <a:xfrm>
              <a:off x="1260000" y="4212000"/>
              <a:ext cx="216000" cy="216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A510A50E-514B-FCDD-10A9-1E6038C7BEBF}"/>
                </a:ext>
              </a:extLst>
            </p:cNvPr>
            <p:cNvSpPr/>
            <p:nvPr/>
          </p:nvSpPr>
          <p:spPr>
            <a:xfrm>
              <a:off x="612000" y="4860000"/>
              <a:ext cx="216000" cy="216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55011F27-F35B-1BC8-93CA-E48E87716E0B}"/>
                </a:ext>
              </a:extLst>
            </p:cNvPr>
            <p:cNvSpPr/>
            <p:nvPr/>
          </p:nvSpPr>
          <p:spPr>
            <a:xfrm>
              <a:off x="1908000" y="4860000"/>
              <a:ext cx="216000" cy="216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a:extLst>
                <a:ext uri="{FF2B5EF4-FFF2-40B4-BE49-F238E27FC236}">
                  <a16:creationId xmlns:a16="http://schemas.microsoft.com/office/drawing/2014/main" id="{77A9F179-445D-D1F4-51C3-5250B6F1B335}"/>
                </a:ext>
              </a:extLst>
            </p:cNvPr>
            <p:cNvSpPr/>
            <p:nvPr/>
          </p:nvSpPr>
          <p:spPr>
            <a:xfrm>
              <a:off x="1260000" y="5508000"/>
              <a:ext cx="216000" cy="216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9805D003-77AF-FC52-CD7E-6C5E42D2A220}"/>
                </a:ext>
              </a:extLst>
            </p:cNvPr>
            <p:cNvSpPr txBox="1"/>
            <p:nvPr/>
          </p:nvSpPr>
          <p:spPr>
            <a:xfrm>
              <a:off x="972000" y="4716000"/>
              <a:ext cx="720000" cy="522000"/>
            </a:xfrm>
            <a:prstGeom prst="rect">
              <a:avLst/>
            </a:prstGeom>
            <a:noFill/>
          </p:spPr>
          <p:txBody>
            <a:bodyPr wrap="square">
              <a:spAutoFit/>
            </a:bodyPr>
            <a:lstStyle/>
            <a:p>
              <a:pPr algn="ctr"/>
              <a:r>
                <a:rPr lang="en-US" altLang="zh-CN" sz="2800" b="1" dirty="0">
                  <a:latin typeface="微软雅黑" panose="020B0503020204020204" pitchFamily="34" charset="-122"/>
                  <a:ea typeface="微软雅黑" panose="020B0503020204020204" pitchFamily="34" charset="-122"/>
                </a:rPr>
                <a:t>+4</a:t>
              </a:r>
              <a:endParaRPr lang="zh-CN" altLang="en-US" sz="2800" b="1" dirty="0"/>
            </a:p>
          </p:txBody>
        </p:sp>
      </p:grpSp>
      <p:sp>
        <p:nvSpPr>
          <p:cNvPr id="27" name="Text Box 9">
            <a:extLst>
              <a:ext uri="{FF2B5EF4-FFF2-40B4-BE49-F238E27FC236}">
                <a16:creationId xmlns:a16="http://schemas.microsoft.com/office/drawing/2014/main" id="{84E4C69D-9C9A-DFF6-11F9-E372150FB93F}"/>
              </a:ext>
            </a:extLst>
          </p:cNvPr>
          <p:cNvSpPr txBox="1">
            <a:spLocks noChangeArrowheads="1"/>
          </p:cNvSpPr>
          <p:nvPr/>
        </p:nvSpPr>
        <p:spPr bwMode="auto">
          <a:xfrm>
            <a:off x="2520000" y="6336000"/>
            <a:ext cx="4104000" cy="396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sz="2000" b="0" dirty="0">
                <a:solidFill>
                  <a:schemeClr val="accent5">
                    <a:lumMod val="75000"/>
                  </a:schemeClr>
                </a:solidFill>
                <a:latin typeface="Microsoft YaHei" panose="020B0503020204020204" pitchFamily="34" charset="-122"/>
                <a:ea typeface="Microsoft YaHei" panose="020B0503020204020204" pitchFamily="34" charset="-122"/>
              </a:rPr>
              <a:t>硅的二维晶格结构平面示意图</a:t>
            </a:r>
          </a:p>
        </p:txBody>
      </p:sp>
      <p:cxnSp>
        <p:nvCxnSpPr>
          <p:cNvPr id="626" name="直接箭头连接符 625">
            <a:extLst>
              <a:ext uri="{FF2B5EF4-FFF2-40B4-BE49-F238E27FC236}">
                <a16:creationId xmlns:a16="http://schemas.microsoft.com/office/drawing/2014/main" id="{73935136-3A54-688C-ABF0-6ADA0991E7AD}"/>
              </a:ext>
            </a:extLst>
          </p:cNvPr>
          <p:cNvCxnSpPr>
            <a:cxnSpLocks/>
          </p:cNvCxnSpPr>
          <p:nvPr/>
        </p:nvCxnSpPr>
        <p:spPr>
          <a:xfrm>
            <a:off x="9180000" y="4212000"/>
            <a:ext cx="234000" cy="468000"/>
          </a:xfrm>
          <a:prstGeom prst="straightConnector1">
            <a:avLst/>
          </a:prstGeom>
          <a:ln w="25400">
            <a:solidFill>
              <a:srgbClr val="FF0000"/>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sp>
        <p:nvSpPr>
          <p:cNvPr id="633" name="弧形 632">
            <a:extLst>
              <a:ext uri="{FF2B5EF4-FFF2-40B4-BE49-F238E27FC236}">
                <a16:creationId xmlns:a16="http://schemas.microsoft.com/office/drawing/2014/main" id="{3A73888A-1E84-2E64-A528-62F7637FF32A}"/>
              </a:ext>
            </a:extLst>
          </p:cNvPr>
          <p:cNvSpPr/>
          <p:nvPr/>
        </p:nvSpPr>
        <p:spPr>
          <a:xfrm rot="1710532">
            <a:off x="9396000" y="4644000"/>
            <a:ext cx="1656000" cy="792000"/>
          </a:xfrm>
          <a:prstGeom prst="arc">
            <a:avLst>
              <a:gd name="adj1" fmla="val 1821430"/>
              <a:gd name="adj2" fmla="val 10003787"/>
            </a:avLst>
          </a:prstGeom>
          <a:ln w="19050">
            <a:solidFill>
              <a:srgbClr val="0000FF"/>
            </a:solidFill>
            <a:headEnd type="none"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34" name="Text Box 9">
            <a:extLst>
              <a:ext uri="{FF2B5EF4-FFF2-40B4-BE49-F238E27FC236}">
                <a16:creationId xmlns:a16="http://schemas.microsoft.com/office/drawing/2014/main" id="{737CA312-F074-C16E-9C84-2B55D69E6BB9}"/>
              </a:ext>
            </a:extLst>
          </p:cNvPr>
          <p:cNvSpPr txBox="1">
            <a:spLocks noChangeArrowheads="1"/>
          </p:cNvSpPr>
          <p:nvPr/>
        </p:nvSpPr>
        <p:spPr bwMode="auto">
          <a:xfrm>
            <a:off x="10548000" y="5220000"/>
            <a:ext cx="1620000"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zh-CN" altLang="en-US" sz="1800" b="0" dirty="0">
                <a:solidFill>
                  <a:srgbClr val="0000FF"/>
                </a:solidFill>
                <a:latin typeface="Microsoft YaHei" panose="020B0503020204020204" pitchFamily="34" charset="-122"/>
                <a:ea typeface="Microsoft YaHei" panose="020B0503020204020204" pitchFamily="34" charset="-122"/>
              </a:rPr>
              <a:t>价电子移开后留下的空穴</a:t>
            </a:r>
          </a:p>
        </p:txBody>
      </p:sp>
      <p:cxnSp>
        <p:nvCxnSpPr>
          <p:cNvPr id="635" name="直接箭头连接符 634">
            <a:extLst>
              <a:ext uri="{FF2B5EF4-FFF2-40B4-BE49-F238E27FC236}">
                <a16:creationId xmlns:a16="http://schemas.microsoft.com/office/drawing/2014/main" id="{747FAE6B-A7DE-3B69-F76D-0E7A4AAB133F}"/>
              </a:ext>
            </a:extLst>
          </p:cNvPr>
          <p:cNvCxnSpPr>
            <a:cxnSpLocks/>
          </p:cNvCxnSpPr>
          <p:nvPr/>
        </p:nvCxnSpPr>
        <p:spPr>
          <a:xfrm flipH="1" flipV="1">
            <a:off x="9216000" y="4176000"/>
            <a:ext cx="1332000" cy="180000"/>
          </a:xfrm>
          <a:prstGeom prst="straightConnector1">
            <a:avLst/>
          </a:prstGeom>
          <a:ln w="19050">
            <a:solidFill>
              <a:srgbClr val="0000FF"/>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sp>
        <p:nvSpPr>
          <p:cNvPr id="243" name="Text Box 9">
            <a:extLst>
              <a:ext uri="{FF2B5EF4-FFF2-40B4-BE49-F238E27FC236}">
                <a16:creationId xmlns:a16="http://schemas.microsoft.com/office/drawing/2014/main" id="{BCB338E3-1B16-CC00-41B1-CFBA5BC8A343}"/>
              </a:ext>
            </a:extLst>
          </p:cNvPr>
          <p:cNvSpPr txBox="1">
            <a:spLocks noChangeArrowheads="1"/>
          </p:cNvSpPr>
          <p:nvPr/>
        </p:nvSpPr>
        <p:spPr bwMode="auto">
          <a:xfrm>
            <a:off x="10548000" y="4032000"/>
            <a:ext cx="1620000"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zh-CN" altLang="en-US" sz="1800" b="0" dirty="0">
                <a:solidFill>
                  <a:srgbClr val="0000FF"/>
                </a:solidFill>
                <a:latin typeface="Microsoft YaHei" panose="020B0503020204020204" pitchFamily="34" charset="-122"/>
                <a:ea typeface="Microsoft YaHei" panose="020B0503020204020204" pitchFamily="34" charset="-122"/>
              </a:rPr>
              <a:t>外部激发产生的自由电子</a:t>
            </a:r>
          </a:p>
        </p:txBody>
      </p:sp>
      <p:sp>
        <p:nvSpPr>
          <p:cNvPr id="1017" name="椭圆 1016">
            <a:extLst>
              <a:ext uri="{FF2B5EF4-FFF2-40B4-BE49-F238E27FC236}">
                <a16:creationId xmlns:a16="http://schemas.microsoft.com/office/drawing/2014/main" id="{969409A0-FFE1-3345-BF22-93D70BEBDE3F}"/>
              </a:ext>
            </a:extLst>
          </p:cNvPr>
          <p:cNvSpPr/>
          <p:nvPr/>
        </p:nvSpPr>
        <p:spPr>
          <a:xfrm>
            <a:off x="9090000" y="410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Tree>
    <p:extLst>
      <p:ext uri="{BB962C8B-B14F-4D97-AF65-F5344CB8AC3E}">
        <p14:creationId xmlns:p14="http://schemas.microsoft.com/office/powerpoint/2010/main" val="9946712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FC30D68-EAC0-7096-3296-4BC7E0DF53C7}"/>
              </a:ext>
            </a:extLst>
          </p:cNvPr>
          <p:cNvSpPr txBox="1"/>
          <p:nvPr/>
        </p:nvSpPr>
        <p:spPr>
          <a:xfrm>
            <a:off x="360000" y="828000"/>
            <a:ext cx="10786211" cy="2279983"/>
          </a:xfrm>
          <a:prstGeom prst="rect">
            <a:avLst/>
          </a:prstGeom>
          <a:noFill/>
        </p:spPr>
        <p:txBody>
          <a:bodyPr wrap="square">
            <a:spAutoFit/>
          </a:bodyPr>
          <a:lstStyle/>
          <a:p>
            <a:pPr>
              <a:lnSpc>
                <a:spcPct val="120000"/>
              </a:lnSpc>
              <a:spcAft>
                <a:spcPts val="600"/>
              </a:spcAft>
            </a:pPr>
            <a:r>
              <a:rPr kumimoji="1" lang="zh-CN" altLang="en-US" sz="2800" b="1" dirty="0">
                <a:solidFill>
                  <a:srgbClr val="002060"/>
                </a:solidFill>
                <a:latin typeface="微软雅黑" panose="020B0503020204020204" pitchFamily="34" charset="-122"/>
                <a:ea typeface="微软雅黑" panose="020B0503020204020204" pitchFamily="34" charset="-122"/>
              </a:rPr>
              <a:t>杂质半导体</a:t>
            </a:r>
            <a:r>
              <a:rPr kumimoji="1" lang="zh-CN" altLang="en-US" sz="2800" dirty="0">
                <a:solidFill>
                  <a:srgbClr val="002060"/>
                </a:solidFill>
                <a:latin typeface="微软雅黑" panose="020B0503020204020204" pitchFamily="34" charset="-122"/>
                <a:ea typeface="微软雅黑" panose="020B0503020204020204" pitchFamily="34" charset="-122"/>
              </a:rPr>
              <a:t>：本征半导体中掺入微量的杂质元素后所形成的半导体</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根据掺入的杂质不同，杂质半导体分为：</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P </a:t>
            </a:r>
            <a:r>
              <a:rPr kumimoji="1" lang="en-US" altLang="zh-CN" sz="1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型半导体：掺入三价元素杂质，如硼、铝、铟等</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N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型半导体：掺入五价杂质元素，如磷、砷、锑等</a:t>
            </a:r>
          </a:p>
        </p:txBody>
      </p:sp>
      <p:grpSp>
        <p:nvGrpSpPr>
          <p:cNvPr id="5" name="组合 4">
            <a:extLst>
              <a:ext uri="{FF2B5EF4-FFF2-40B4-BE49-F238E27FC236}">
                <a16:creationId xmlns:a16="http://schemas.microsoft.com/office/drawing/2014/main" id="{97E0C8E5-0081-58FD-AEC6-3C6038CE9991}"/>
              </a:ext>
            </a:extLst>
          </p:cNvPr>
          <p:cNvGrpSpPr/>
          <p:nvPr/>
        </p:nvGrpSpPr>
        <p:grpSpPr>
          <a:xfrm>
            <a:off x="11449269" y="6198682"/>
            <a:ext cx="786273" cy="548639"/>
            <a:chOff x="11454918" y="5839511"/>
            <a:chExt cx="786273" cy="548639"/>
          </a:xfrm>
        </p:grpSpPr>
        <p:grpSp>
          <p:nvGrpSpPr>
            <p:cNvPr id="6" name="组合 5">
              <a:extLst>
                <a:ext uri="{FF2B5EF4-FFF2-40B4-BE49-F238E27FC236}">
                  <a16:creationId xmlns:a16="http://schemas.microsoft.com/office/drawing/2014/main" id="{8527BD4D-F8D5-47EB-346D-0424035E8251}"/>
                </a:ext>
              </a:extLst>
            </p:cNvPr>
            <p:cNvGrpSpPr/>
            <p:nvPr/>
          </p:nvGrpSpPr>
          <p:grpSpPr>
            <a:xfrm>
              <a:off x="11454918" y="5867450"/>
              <a:ext cx="737081" cy="520700"/>
              <a:chOff x="11454918" y="5867450"/>
              <a:chExt cx="737081" cy="520700"/>
            </a:xfrm>
          </p:grpSpPr>
          <p:sp>
            <p:nvSpPr>
              <p:cNvPr id="8" name="箭头: 五边形 7">
                <a:extLst>
                  <a:ext uri="{FF2B5EF4-FFF2-40B4-BE49-F238E27FC236}">
                    <a16:creationId xmlns:a16="http://schemas.microsoft.com/office/drawing/2014/main" id="{8F87C58D-05A5-92D9-5268-DA01C09F424D}"/>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箭头: V 形 8">
                <a:extLst>
                  <a:ext uri="{FF2B5EF4-FFF2-40B4-BE49-F238E27FC236}">
                    <a16:creationId xmlns:a16="http://schemas.microsoft.com/office/drawing/2014/main" id="{8728E029-36CF-2B69-4E2A-A52D0F431AA0}"/>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7" name="灯片编号占位符 3">
              <a:extLst>
                <a:ext uri="{FF2B5EF4-FFF2-40B4-BE49-F238E27FC236}">
                  <a16:creationId xmlns:a16="http://schemas.microsoft.com/office/drawing/2014/main" id="{D4B6F1F1-D92A-6B32-5CAC-1127E780D8BD}"/>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5</a:t>
              </a:fld>
              <a:endParaRPr lang="zh-CN" altLang="en-US" sz="3200" dirty="0">
                <a:solidFill>
                  <a:schemeClr val="bg1"/>
                </a:solidFill>
                <a:latin typeface="Candara"/>
                <a:ea typeface="微软雅黑"/>
              </a:endParaRPr>
            </a:p>
          </p:txBody>
        </p:sp>
      </p:grpSp>
      <p:sp>
        <p:nvSpPr>
          <p:cNvPr id="2" name="标题 1">
            <a:extLst>
              <a:ext uri="{FF2B5EF4-FFF2-40B4-BE49-F238E27FC236}">
                <a16:creationId xmlns:a16="http://schemas.microsoft.com/office/drawing/2014/main" id="{6BC8051B-0AF5-243E-83EF-B038D0EA3E33}"/>
              </a:ext>
            </a:extLst>
          </p:cNvPr>
          <p:cNvSpPr txBox="1">
            <a:spLocks/>
          </p:cNvSpPr>
          <p:nvPr/>
        </p:nvSpPr>
        <p:spPr>
          <a:xfrm>
            <a:off x="360000" y="0"/>
            <a:ext cx="11826000" cy="548639"/>
          </a:xfrm>
          <a:prstGeom prst="rect">
            <a:avLst/>
          </a:prstGeom>
        </p:spPr>
        <p:txBody>
          <a:bodyPr anchor="b">
            <a:normAutofit/>
          </a:bodyPr>
          <a:lstStyle>
            <a:defPPr>
              <a:defRPr lang="zh-CN"/>
            </a:defPPr>
            <a:lvl1pPr marL="0" algn="l" defTabSz="914400" rtl="0" eaLnBrk="1" latinLnBrk="0" hangingPunct="1">
              <a:lnSpc>
                <a:spcPct val="90000"/>
              </a:lnSpc>
              <a:spcBef>
                <a:spcPct val="0"/>
              </a:spcBef>
              <a:buNone/>
              <a:defRPr sz="3200" b="1" kern="1200">
                <a:solidFill>
                  <a:schemeClr val="bg1"/>
                </a:solidFill>
                <a:latin typeface="微软雅黑" panose="020B0503020204020204" pitchFamily="34" charset="-122"/>
                <a:ea typeface="微软雅黑" panose="020B0503020204020204" pitchFamily="34" charset="-122"/>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000" dirty="0"/>
              <a:t>半导体的基本知识 </a:t>
            </a:r>
            <a:r>
              <a:rPr lang="en-US" altLang="zh-CN" sz="3000" dirty="0"/>
              <a:t>—— </a:t>
            </a:r>
            <a:r>
              <a:rPr lang="zh-CN" altLang="en-US" sz="3000" dirty="0">
                <a:solidFill>
                  <a:srgbClr val="FFFF00"/>
                </a:solidFill>
              </a:rPr>
              <a:t>杂质半导体</a:t>
            </a:r>
            <a:endParaRPr lang="en-US" altLang="zh-CN" sz="3000" dirty="0"/>
          </a:p>
        </p:txBody>
      </p:sp>
    </p:spTree>
    <p:extLst>
      <p:ext uri="{BB962C8B-B14F-4D97-AF65-F5344CB8AC3E}">
        <p14:creationId xmlns:p14="http://schemas.microsoft.com/office/powerpoint/2010/main" val="1215822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4E7CA-9BAB-1557-C39C-DBCE2C0DF545}"/>
            </a:ext>
          </a:extLst>
        </p:cNvPr>
        <p:cNvGrpSpPr/>
        <p:nvPr/>
      </p:nvGrpSpPr>
      <p:grpSpPr>
        <a:xfrm>
          <a:off x="0" y="0"/>
          <a:ext cx="0" cy="0"/>
          <a:chOff x="0" y="0"/>
          <a:chExt cx="0" cy="0"/>
        </a:xfrm>
      </p:grpSpPr>
      <p:grpSp>
        <p:nvGrpSpPr>
          <p:cNvPr id="776" name="组合 775">
            <a:extLst>
              <a:ext uri="{FF2B5EF4-FFF2-40B4-BE49-F238E27FC236}">
                <a16:creationId xmlns:a16="http://schemas.microsoft.com/office/drawing/2014/main" id="{31CD8EFC-A73C-B579-0A71-91E21E1211EC}"/>
              </a:ext>
            </a:extLst>
          </p:cNvPr>
          <p:cNvGrpSpPr/>
          <p:nvPr/>
        </p:nvGrpSpPr>
        <p:grpSpPr>
          <a:xfrm>
            <a:off x="5868000" y="2520000"/>
            <a:ext cx="4104000" cy="4104000"/>
            <a:chOff x="7452000" y="2484000"/>
            <a:chExt cx="4104000" cy="4104000"/>
          </a:xfrm>
        </p:grpSpPr>
        <p:sp>
          <p:nvSpPr>
            <p:cNvPr id="777" name="椭圆 776">
              <a:extLst>
                <a:ext uri="{FF2B5EF4-FFF2-40B4-BE49-F238E27FC236}">
                  <a16:creationId xmlns:a16="http://schemas.microsoft.com/office/drawing/2014/main" id="{95E63773-63DF-87A4-93FE-502C55D15876}"/>
                </a:ext>
              </a:extLst>
            </p:cNvPr>
            <p:cNvSpPr/>
            <p:nvPr/>
          </p:nvSpPr>
          <p:spPr>
            <a:xfrm>
              <a:off x="7488000" y="3348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778" name="椭圆 777">
              <a:extLst>
                <a:ext uri="{FF2B5EF4-FFF2-40B4-BE49-F238E27FC236}">
                  <a16:creationId xmlns:a16="http://schemas.microsoft.com/office/drawing/2014/main" id="{706BB429-286A-849A-397A-D1B1D06C8E68}"/>
                </a:ext>
              </a:extLst>
            </p:cNvPr>
            <p:cNvSpPr/>
            <p:nvPr/>
          </p:nvSpPr>
          <p:spPr>
            <a:xfrm>
              <a:off x="7488000" y="4356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779" name="椭圆 778">
              <a:extLst>
                <a:ext uri="{FF2B5EF4-FFF2-40B4-BE49-F238E27FC236}">
                  <a16:creationId xmlns:a16="http://schemas.microsoft.com/office/drawing/2014/main" id="{B247A27B-F1ED-86D2-F975-4600A976CBCA}"/>
                </a:ext>
              </a:extLst>
            </p:cNvPr>
            <p:cNvSpPr/>
            <p:nvPr/>
          </p:nvSpPr>
          <p:spPr>
            <a:xfrm>
              <a:off x="7488000" y="5364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780" name="椭圆 779">
              <a:extLst>
                <a:ext uri="{FF2B5EF4-FFF2-40B4-BE49-F238E27FC236}">
                  <a16:creationId xmlns:a16="http://schemas.microsoft.com/office/drawing/2014/main" id="{96B8FEA3-A462-8B00-DAF5-735725BB3455}"/>
                </a:ext>
              </a:extLst>
            </p:cNvPr>
            <p:cNvSpPr/>
            <p:nvPr/>
          </p:nvSpPr>
          <p:spPr>
            <a:xfrm>
              <a:off x="8316000" y="3528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781" name="椭圆 780">
              <a:extLst>
                <a:ext uri="{FF2B5EF4-FFF2-40B4-BE49-F238E27FC236}">
                  <a16:creationId xmlns:a16="http://schemas.microsoft.com/office/drawing/2014/main" id="{7E105382-1E4C-C060-3061-96BF07B42EA1}"/>
                </a:ext>
              </a:extLst>
            </p:cNvPr>
            <p:cNvSpPr/>
            <p:nvPr/>
          </p:nvSpPr>
          <p:spPr>
            <a:xfrm>
              <a:off x="8316000" y="2520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782" name="椭圆 781">
              <a:extLst>
                <a:ext uri="{FF2B5EF4-FFF2-40B4-BE49-F238E27FC236}">
                  <a16:creationId xmlns:a16="http://schemas.microsoft.com/office/drawing/2014/main" id="{C0F2C784-D26A-B689-AEA3-9E93606365A4}"/>
                </a:ext>
              </a:extLst>
            </p:cNvPr>
            <p:cNvSpPr/>
            <p:nvPr/>
          </p:nvSpPr>
          <p:spPr>
            <a:xfrm>
              <a:off x="8496000" y="3348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783" name="椭圆 782">
              <a:extLst>
                <a:ext uri="{FF2B5EF4-FFF2-40B4-BE49-F238E27FC236}">
                  <a16:creationId xmlns:a16="http://schemas.microsoft.com/office/drawing/2014/main" id="{72CEA3B3-4E61-A7F9-7A06-798C4E3FCF77}"/>
                </a:ext>
              </a:extLst>
            </p:cNvPr>
            <p:cNvSpPr/>
            <p:nvPr/>
          </p:nvSpPr>
          <p:spPr>
            <a:xfrm>
              <a:off x="8172000" y="347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784" name="椭圆 783">
              <a:extLst>
                <a:ext uri="{FF2B5EF4-FFF2-40B4-BE49-F238E27FC236}">
                  <a16:creationId xmlns:a16="http://schemas.microsoft.com/office/drawing/2014/main" id="{1B315423-B3EE-C1F7-97D6-AC1B10D5A54D}"/>
                </a:ext>
              </a:extLst>
            </p:cNvPr>
            <p:cNvSpPr/>
            <p:nvPr/>
          </p:nvSpPr>
          <p:spPr>
            <a:xfrm>
              <a:off x="8316000" y="3348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785" name="文本框 784">
              <a:extLst>
                <a:ext uri="{FF2B5EF4-FFF2-40B4-BE49-F238E27FC236}">
                  <a16:creationId xmlns:a16="http://schemas.microsoft.com/office/drawing/2014/main" id="{1011E787-4363-4D62-40D1-3C3CFA5789A3}"/>
                </a:ext>
              </a:extLst>
            </p:cNvPr>
            <p:cNvSpPr txBox="1"/>
            <p:nvPr/>
          </p:nvSpPr>
          <p:spPr>
            <a:xfrm>
              <a:off x="8244000" y="3366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786" name="椭圆 785">
              <a:extLst>
                <a:ext uri="{FF2B5EF4-FFF2-40B4-BE49-F238E27FC236}">
                  <a16:creationId xmlns:a16="http://schemas.microsoft.com/office/drawing/2014/main" id="{4654C343-7B96-5632-F63B-1CDD430290CE}"/>
                </a:ext>
              </a:extLst>
            </p:cNvPr>
            <p:cNvSpPr/>
            <p:nvPr/>
          </p:nvSpPr>
          <p:spPr>
            <a:xfrm>
              <a:off x="8712000" y="347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787" name="椭圆 786">
              <a:extLst>
                <a:ext uri="{FF2B5EF4-FFF2-40B4-BE49-F238E27FC236}">
                  <a16:creationId xmlns:a16="http://schemas.microsoft.com/office/drawing/2014/main" id="{B447FF56-C833-CEFF-9A44-DA90E0BB7122}"/>
                </a:ext>
              </a:extLst>
            </p:cNvPr>
            <p:cNvSpPr/>
            <p:nvPr/>
          </p:nvSpPr>
          <p:spPr>
            <a:xfrm>
              <a:off x="8442000" y="374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788" name="椭圆 787">
              <a:extLst>
                <a:ext uri="{FF2B5EF4-FFF2-40B4-BE49-F238E27FC236}">
                  <a16:creationId xmlns:a16="http://schemas.microsoft.com/office/drawing/2014/main" id="{D842C280-F687-3961-C51A-435BFBC510C1}"/>
                </a:ext>
              </a:extLst>
            </p:cNvPr>
            <p:cNvSpPr/>
            <p:nvPr/>
          </p:nvSpPr>
          <p:spPr>
            <a:xfrm>
              <a:off x="8442000" y="320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789" name="椭圆 788">
              <a:extLst>
                <a:ext uri="{FF2B5EF4-FFF2-40B4-BE49-F238E27FC236}">
                  <a16:creationId xmlns:a16="http://schemas.microsoft.com/office/drawing/2014/main" id="{1F6DA1C6-30DB-F042-2B6A-8155103CEC7E}"/>
                </a:ext>
              </a:extLst>
            </p:cNvPr>
            <p:cNvSpPr/>
            <p:nvPr/>
          </p:nvSpPr>
          <p:spPr>
            <a:xfrm>
              <a:off x="8316000" y="4536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790" name="椭圆 789">
              <a:extLst>
                <a:ext uri="{FF2B5EF4-FFF2-40B4-BE49-F238E27FC236}">
                  <a16:creationId xmlns:a16="http://schemas.microsoft.com/office/drawing/2014/main" id="{1A4D4892-D45D-C226-0161-4D47B1300002}"/>
                </a:ext>
              </a:extLst>
            </p:cNvPr>
            <p:cNvSpPr/>
            <p:nvPr/>
          </p:nvSpPr>
          <p:spPr>
            <a:xfrm>
              <a:off x="8496000" y="4356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791" name="椭圆 790">
              <a:extLst>
                <a:ext uri="{FF2B5EF4-FFF2-40B4-BE49-F238E27FC236}">
                  <a16:creationId xmlns:a16="http://schemas.microsoft.com/office/drawing/2014/main" id="{7327D662-355B-4F21-75F5-569FFFA9F4F5}"/>
                </a:ext>
              </a:extLst>
            </p:cNvPr>
            <p:cNvSpPr/>
            <p:nvPr/>
          </p:nvSpPr>
          <p:spPr>
            <a:xfrm>
              <a:off x="8172000" y="448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792" name="椭圆 791">
              <a:extLst>
                <a:ext uri="{FF2B5EF4-FFF2-40B4-BE49-F238E27FC236}">
                  <a16:creationId xmlns:a16="http://schemas.microsoft.com/office/drawing/2014/main" id="{D7F33CC5-9922-EA94-E21A-FD5ABF9C81B5}"/>
                </a:ext>
              </a:extLst>
            </p:cNvPr>
            <p:cNvSpPr/>
            <p:nvPr/>
          </p:nvSpPr>
          <p:spPr>
            <a:xfrm>
              <a:off x="8316000" y="4356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793" name="文本框 792">
              <a:extLst>
                <a:ext uri="{FF2B5EF4-FFF2-40B4-BE49-F238E27FC236}">
                  <a16:creationId xmlns:a16="http://schemas.microsoft.com/office/drawing/2014/main" id="{B4745DFE-3DBD-F6F8-603B-5E0DCF751B4B}"/>
                </a:ext>
              </a:extLst>
            </p:cNvPr>
            <p:cNvSpPr txBox="1"/>
            <p:nvPr/>
          </p:nvSpPr>
          <p:spPr>
            <a:xfrm>
              <a:off x="8244000" y="4374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794" name="椭圆 793">
              <a:extLst>
                <a:ext uri="{FF2B5EF4-FFF2-40B4-BE49-F238E27FC236}">
                  <a16:creationId xmlns:a16="http://schemas.microsoft.com/office/drawing/2014/main" id="{450CB00A-B794-55FF-21A4-91984C89ED52}"/>
                </a:ext>
              </a:extLst>
            </p:cNvPr>
            <p:cNvSpPr/>
            <p:nvPr/>
          </p:nvSpPr>
          <p:spPr>
            <a:xfrm>
              <a:off x="8712000" y="448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795" name="椭圆 794">
              <a:extLst>
                <a:ext uri="{FF2B5EF4-FFF2-40B4-BE49-F238E27FC236}">
                  <a16:creationId xmlns:a16="http://schemas.microsoft.com/office/drawing/2014/main" id="{81628313-EB34-02C8-A2FA-2DC5E9069A7A}"/>
                </a:ext>
              </a:extLst>
            </p:cNvPr>
            <p:cNvSpPr/>
            <p:nvPr/>
          </p:nvSpPr>
          <p:spPr>
            <a:xfrm>
              <a:off x="8442000" y="475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796" name="椭圆 795">
              <a:extLst>
                <a:ext uri="{FF2B5EF4-FFF2-40B4-BE49-F238E27FC236}">
                  <a16:creationId xmlns:a16="http://schemas.microsoft.com/office/drawing/2014/main" id="{6874227F-DDE7-1016-BA9A-B95A470D897C}"/>
                </a:ext>
              </a:extLst>
            </p:cNvPr>
            <p:cNvSpPr/>
            <p:nvPr/>
          </p:nvSpPr>
          <p:spPr>
            <a:xfrm>
              <a:off x="8442000" y="421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797" name="椭圆 796">
              <a:extLst>
                <a:ext uri="{FF2B5EF4-FFF2-40B4-BE49-F238E27FC236}">
                  <a16:creationId xmlns:a16="http://schemas.microsoft.com/office/drawing/2014/main" id="{115D57A7-BDFE-F76D-7972-A7B4EF6CE87B}"/>
                </a:ext>
              </a:extLst>
            </p:cNvPr>
            <p:cNvSpPr/>
            <p:nvPr/>
          </p:nvSpPr>
          <p:spPr>
            <a:xfrm>
              <a:off x="8316000" y="5544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798" name="椭圆 797">
              <a:extLst>
                <a:ext uri="{FF2B5EF4-FFF2-40B4-BE49-F238E27FC236}">
                  <a16:creationId xmlns:a16="http://schemas.microsoft.com/office/drawing/2014/main" id="{77E99E78-D891-9FD8-0C33-86E5DD64FB7E}"/>
                </a:ext>
              </a:extLst>
            </p:cNvPr>
            <p:cNvSpPr/>
            <p:nvPr/>
          </p:nvSpPr>
          <p:spPr>
            <a:xfrm>
              <a:off x="8496000" y="5364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799" name="椭圆 798">
              <a:extLst>
                <a:ext uri="{FF2B5EF4-FFF2-40B4-BE49-F238E27FC236}">
                  <a16:creationId xmlns:a16="http://schemas.microsoft.com/office/drawing/2014/main" id="{CEDF85A5-1151-BE0D-DD29-1E07008CF3A9}"/>
                </a:ext>
              </a:extLst>
            </p:cNvPr>
            <p:cNvSpPr/>
            <p:nvPr/>
          </p:nvSpPr>
          <p:spPr>
            <a:xfrm>
              <a:off x="8172000" y="549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00" name="椭圆 799">
              <a:extLst>
                <a:ext uri="{FF2B5EF4-FFF2-40B4-BE49-F238E27FC236}">
                  <a16:creationId xmlns:a16="http://schemas.microsoft.com/office/drawing/2014/main" id="{F79462A7-87EA-5FEC-4D86-5EF2A5231979}"/>
                </a:ext>
              </a:extLst>
            </p:cNvPr>
            <p:cNvSpPr/>
            <p:nvPr/>
          </p:nvSpPr>
          <p:spPr>
            <a:xfrm>
              <a:off x="8316000" y="5364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801" name="文本框 800">
              <a:extLst>
                <a:ext uri="{FF2B5EF4-FFF2-40B4-BE49-F238E27FC236}">
                  <a16:creationId xmlns:a16="http://schemas.microsoft.com/office/drawing/2014/main" id="{0EA9EEE7-92BA-5168-79F3-1CCAA0B1F525}"/>
                </a:ext>
              </a:extLst>
            </p:cNvPr>
            <p:cNvSpPr txBox="1"/>
            <p:nvPr/>
          </p:nvSpPr>
          <p:spPr>
            <a:xfrm>
              <a:off x="8244000" y="5382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802" name="椭圆 801">
              <a:extLst>
                <a:ext uri="{FF2B5EF4-FFF2-40B4-BE49-F238E27FC236}">
                  <a16:creationId xmlns:a16="http://schemas.microsoft.com/office/drawing/2014/main" id="{1490790B-50E5-6B93-B902-656250260E9B}"/>
                </a:ext>
              </a:extLst>
            </p:cNvPr>
            <p:cNvSpPr/>
            <p:nvPr/>
          </p:nvSpPr>
          <p:spPr>
            <a:xfrm>
              <a:off x="8712000" y="549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03" name="椭圆 802">
              <a:extLst>
                <a:ext uri="{FF2B5EF4-FFF2-40B4-BE49-F238E27FC236}">
                  <a16:creationId xmlns:a16="http://schemas.microsoft.com/office/drawing/2014/main" id="{9CA8ACA3-1AC4-97F2-851E-D0FA3F99FF68}"/>
                </a:ext>
              </a:extLst>
            </p:cNvPr>
            <p:cNvSpPr/>
            <p:nvPr/>
          </p:nvSpPr>
          <p:spPr>
            <a:xfrm>
              <a:off x="8442000" y="576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04" name="椭圆 803">
              <a:extLst>
                <a:ext uri="{FF2B5EF4-FFF2-40B4-BE49-F238E27FC236}">
                  <a16:creationId xmlns:a16="http://schemas.microsoft.com/office/drawing/2014/main" id="{B7A48454-53B4-4E77-4171-C70D22D922A4}"/>
                </a:ext>
              </a:extLst>
            </p:cNvPr>
            <p:cNvSpPr/>
            <p:nvPr/>
          </p:nvSpPr>
          <p:spPr>
            <a:xfrm>
              <a:off x="8442000" y="522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05" name="椭圆 804">
              <a:extLst>
                <a:ext uri="{FF2B5EF4-FFF2-40B4-BE49-F238E27FC236}">
                  <a16:creationId xmlns:a16="http://schemas.microsoft.com/office/drawing/2014/main" id="{24B2E4F4-5C47-11F7-5A3A-A4326A291B82}"/>
                </a:ext>
              </a:extLst>
            </p:cNvPr>
            <p:cNvSpPr/>
            <p:nvPr/>
          </p:nvSpPr>
          <p:spPr>
            <a:xfrm>
              <a:off x="9324000" y="3528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806" name="椭圆 805">
              <a:extLst>
                <a:ext uri="{FF2B5EF4-FFF2-40B4-BE49-F238E27FC236}">
                  <a16:creationId xmlns:a16="http://schemas.microsoft.com/office/drawing/2014/main" id="{4751FA7A-09FD-B8E9-B90E-54FB76E9C81F}"/>
                </a:ext>
              </a:extLst>
            </p:cNvPr>
            <p:cNvSpPr/>
            <p:nvPr/>
          </p:nvSpPr>
          <p:spPr>
            <a:xfrm>
              <a:off x="9324000" y="2520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807" name="椭圆 806">
              <a:extLst>
                <a:ext uri="{FF2B5EF4-FFF2-40B4-BE49-F238E27FC236}">
                  <a16:creationId xmlns:a16="http://schemas.microsoft.com/office/drawing/2014/main" id="{765A57BE-6BB0-6C07-E977-687F9EC1122D}"/>
                </a:ext>
              </a:extLst>
            </p:cNvPr>
            <p:cNvSpPr/>
            <p:nvPr/>
          </p:nvSpPr>
          <p:spPr>
            <a:xfrm>
              <a:off x="9504000" y="3348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808" name="椭圆 807">
              <a:extLst>
                <a:ext uri="{FF2B5EF4-FFF2-40B4-BE49-F238E27FC236}">
                  <a16:creationId xmlns:a16="http://schemas.microsoft.com/office/drawing/2014/main" id="{7DA35BF0-9D81-B845-6A5E-3E0084C7ABBA}"/>
                </a:ext>
              </a:extLst>
            </p:cNvPr>
            <p:cNvSpPr/>
            <p:nvPr/>
          </p:nvSpPr>
          <p:spPr>
            <a:xfrm>
              <a:off x="9180000" y="347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09" name="椭圆 808">
              <a:extLst>
                <a:ext uri="{FF2B5EF4-FFF2-40B4-BE49-F238E27FC236}">
                  <a16:creationId xmlns:a16="http://schemas.microsoft.com/office/drawing/2014/main" id="{AD25EBE0-F07D-B7FE-F50B-9B45E317AE8A}"/>
                </a:ext>
              </a:extLst>
            </p:cNvPr>
            <p:cNvSpPr/>
            <p:nvPr/>
          </p:nvSpPr>
          <p:spPr>
            <a:xfrm>
              <a:off x="9324000" y="3348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810" name="文本框 809">
              <a:extLst>
                <a:ext uri="{FF2B5EF4-FFF2-40B4-BE49-F238E27FC236}">
                  <a16:creationId xmlns:a16="http://schemas.microsoft.com/office/drawing/2014/main" id="{E8CE5ED6-2368-FAFF-D6DE-DE92CD4C6D3E}"/>
                </a:ext>
              </a:extLst>
            </p:cNvPr>
            <p:cNvSpPr txBox="1"/>
            <p:nvPr/>
          </p:nvSpPr>
          <p:spPr>
            <a:xfrm>
              <a:off x="9252000" y="3366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811" name="椭圆 810">
              <a:extLst>
                <a:ext uri="{FF2B5EF4-FFF2-40B4-BE49-F238E27FC236}">
                  <a16:creationId xmlns:a16="http://schemas.microsoft.com/office/drawing/2014/main" id="{77F40007-2292-430F-7160-733B4E28A61A}"/>
                </a:ext>
              </a:extLst>
            </p:cNvPr>
            <p:cNvSpPr/>
            <p:nvPr/>
          </p:nvSpPr>
          <p:spPr>
            <a:xfrm>
              <a:off x="9720000" y="347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12" name="椭圆 811">
              <a:extLst>
                <a:ext uri="{FF2B5EF4-FFF2-40B4-BE49-F238E27FC236}">
                  <a16:creationId xmlns:a16="http://schemas.microsoft.com/office/drawing/2014/main" id="{26BD9572-5D42-6E41-B891-E5123A695759}"/>
                </a:ext>
              </a:extLst>
            </p:cNvPr>
            <p:cNvSpPr/>
            <p:nvPr/>
          </p:nvSpPr>
          <p:spPr>
            <a:xfrm>
              <a:off x="9450000" y="374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13" name="椭圆 812">
              <a:extLst>
                <a:ext uri="{FF2B5EF4-FFF2-40B4-BE49-F238E27FC236}">
                  <a16:creationId xmlns:a16="http://schemas.microsoft.com/office/drawing/2014/main" id="{A0D82AF1-4970-59F9-706F-5576B29248A5}"/>
                </a:ext>
              </a:extLst>
            </p:cNvPr>
            <p:cNvSpPr/>
            <p:nvPr/>
          </p:nvSpPr>
          <p:spPr>
            <a:xfrm>
              <a:off x="9450000" y="320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14" name="椭圆 813">
              <a:extLst>
                <a:ext uri="{FF2B5EF4-FFF2-40B4-BE49-F238E27FC236}">
                  <a16:creationId xmlns:a16="http://schemas.microsoft.com/office/drawing/2014/main" id="{59C3EF9A-6784-EF60-CED1-8445E5A14959}"/>
                </a:ext>
              </a:extLst>
            </p:cNvPr>
            <p:cNvSpPr/>
            <p:nvPr/>
          </p:nvSpPr>
          <p:spPr>
            <a:xfrm>
              <a:off x="9324000" y="4536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815" name="椭圆 814">
              <a:extLst>
                <a:ext uri="{FF2B5EF4-FFF2-40B4-BE49-F238E27FC236}">
                  <a16:creationId xmlns:a16="http://schemas.microsoft.com/office/drawing/2014/main" id="{A8985280-5B2E-B8BF-FB60-A9BC967859BE}"/>
                </a:ext>
              </a:extLst>
            </p:cNvPr>
            <p:cNvSpPr/>
            <p:nvPr/>
          </p:nvSpPr>
          <p:spPr>
            <a:xfrm>
              <a:off x="9504000" y="4356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816" name="椭圆 815">
              <a:extLst>
                <a:ext uri="{FF2B5EF4-FFF2-40B4-BE49-F238E27FC236}">
                  <a16:creationId xmlns:a16="http://schemas.microsoft.com/office/drawing/2014/main" id="{8FA26CD4-3C76-C8EC-45BC-2B2254CF9AFF}"/>
                </a:ext>
              </a:extLst>
            </p:cNvPr>
            <p:cNvSpPr/>
            <p:nvPr/>
          </p:nvSpPr>
          <p:spPr>
            <a:xfrm>
              <a:off x="9180000" y="4482000"/>
              <a:ext cx="108000" cy="108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17" name="椭圆 816">
              <a:extLst>
                <a:ext uri="{FF2B5EF4-FFF2-40B4-BE49-F238E27FC236}">
                  <a16:creationId xmlns:a16="http://schemas.microsoft.com/office/drawing/2014/main" id="{BDAD9078-CB59-6E35-262F-51F27F62520F}"/>
                </a:ext>
              </a:extLst>
            </p:cNvPr>
            <p:cNvSpPr/>
            <p:nvPr/>
          </p:nvSpPr>
          <p:spPr>
            <a:xfrm>
              <a:off x="9324000" y="4356000"/>
              <a:ext cx="360000" cy="360000"/>
            </a:xfrm>
            <a:prstGeom prst="ellipse">
              <a:avLst/>
            </a:prstGeom>
            <a:solidFill>
              <a:srgbClr val="92D050"/>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818" name="文本框 817">
              <a:extLst>
                <a:ext uri="{FF2B5EF4-FFF2-40B4-BE49-F238E27FC236}">
                  <a16:creationId xmlns:a16="http://schemas.microsoft.com/office/drawing/2014/main" id="{19273FD0-95EB-31A1-AF95-5FA0D73A796C}"/>
                </a:ext>
              </a:extLst>
            </p:cNvPr>
            <p:cNvSpPr txBox="1"/>
            <p:nvPr/>
          </p:nvSpPr>
          <p:spPr>
            <a:xfrm>
              <a:off x="9252000" y="4373999"/>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+3</a:t>
              </a:r>
              <a:endParaRPr lang="zh-CN" altLang="en-US" sz="1500" b="1" dirty="0">
                <a:latin typeface="微软雅黑" panose="020B0503020204020204" pitchFamily="34" charset="-122"/>
                <a:ea typeface="微软雅黑" panose="020B0503020204020204" pitchFamily="34" charset="-122"/>
              </a:endParaRPr>
            </a:p>
          </p:txBody>
        </p:sp>
        <p:sp>
          <p:nvSpPr>
            <p:cNvPr id="819" name="椭圆 818">
              <a:extLst>
                <a:ext uri="{FF2B5EF4-FFF2-40B4-BE49-F238E27FC236}">
                  <a16:creationId xmlns:a16="http://schemas.microsoft.com/office/drawing/2014/main" id="{4E39E4BA-0EDC-DAE7-21AA-315E95CC93A6}"/>
                </a:ext>
              </a:extLst>
            </p:cNvPr>
            <p:cNvSpPr/>
            <p:nvPr/>
          </p:nvSpPr>
          <p:spPr>
            <a:xfrm>
              <a:off x="9720000" y="4482000"/>
              <a:ext cx="108000" cy="108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20" name="椭圆 819">
              <a:extLst>
                <a:ext uri="{FF2B5EF4-FFF2-40B4-BE49-F238E27FC236}">
                  <a16:creationId xmlns:a16="http://schemas.microsoft.com/office/drawing/2014/main" id="{E0FF7376-4463-1DA5-3820-16CD1FD6226D}"/>
                </a:ext>
              </a:extLst>
            </p:cNvPr>
            <p:cNvSpPr/>
            <p:nvPr/>
          </p:nvSpPr>
          <p:spPr>
            <a:xfrm>
              <a:off x="9450000" y="4752000"/>
              <a:ext cx="108000" cy="108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21" name="椭圆 820">
              <a:extLst>
                <a:ext uri="{FF2B5EF4-FFF2-40B4-BE49-F238E27FC236}">
                  <a16:creationId xmlns:a16="http://schemas.microsoft.com/office/drawing/2014/main" id="{89F327FC-8312-D91B-4019-692B8A65B0F5}"/>
                </a:ext>
              </a:extLst>
            </p:cNvPr>
            <p:cNvSpPr/>
            <p:nvPr/>
          </p:nvSpPr>
          <p:spPr>
            <a:xfrm>
              <a:off x="9450000" y="4212000"/>
              <a:ext cx="108000" cy="108000"/>
            </a:xfrm>
            <a:prstGeom prst="ellipse">
              <a:avLst/>
            </a:prstGeom>
            <a:solidFill>
              <a:schemeClr val="tx1"/>
            </a:solid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22" name="椭圆 821">
              <a:extLst>
                <a:ext uri="{FF2B5EF4-FFF2-40B4-BE49-F238E27FC236}">
                  <a16:creationId xmlns:a16="http://schemas.microsoft.com/office/drawing/2014/main" id="{DB09C086-1F43-4509-1F08-B2AAA04971C0}"/>
                </a:ext>
              </a:extLst>
            </p:cNvPr>
            <p:cNvSpPr/>
            <p:nvPr/>
          </p:nvSpPr>
          <p:spPr>
            <a:xfrm>
              <a:off x="9324000" y="5544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823" name="椭圆 822">
              <a:extLst>
                <a:ext uri="{FF2B5EF4-FFF2-40B4-BE49-F238E27FC236}">
                  <a16:creationId xmlns:a16="http://schemas.microsoft.com/office/drawing/2014/main" id="{94ADE91D-7177-22D5-77A0-1003B8A2CFA4}"/>
                </a:ext>
              </a:extLst>
            </p:cNvPr>
            <p:cNvSpPr/>
            <p:nvPr/>
          </p:nvSpPr>
          <p:spPr>
            <a:xfrm>
              <a:off x="9504000" y="5364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824" name="椭圆 823">
              <a:extLst>
                <a:ext uri="{FF2B5EF4-FFF2-40B4-BE49-F238E27FC236}">
                  <a16:creationId xmlns:a16="http://schemas.microsoft.com/office/drawing/2014/main" id="{528EF6C7-5CBA-3AEC-4487-0494A507161E}"/>
                </a:ext>
              </a:extLst>
            </p:cNvPr>
            <p:cNvSpPr/>
            <p:nvPr/>
          </p:nvSpPr>
          <p:spPr>
            <a:xfrm>
              <a:off x="9180000" y="549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25" name="椭圆 824">
              <a:extLst>
                <a:ext uri="{FF2B5EF4-FFF2-40B4-BE49-F238E27FC236}">
                  <a16:creationId xmlns:a16="http://schemas.microsoft.com/office/drawing/2014/main" id="{951B44B2-1C2C-CA4E-1752-F57DD49A1959}"/>
                </a:ext>
              </a:extLst>
            </p:cNvPr>
            <p:cNvSpPr/>
            <p:nvPr/>
          </p:nvSpPr>
          <p:spPr>
            <a:xfrm>
              <a:off x="9324000" y="5364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826" name="文本框 825">
              <a:extLst>
                <a:ext uri="{FF2B5EF4-FFF2-40B4-BE49-F238E27FC236}">
                  <a16:creationId xmlns:a16="http://schemas.microsoft.com/office/drawing/2014/main" id="{5094CC5A-2E94-A30A-D633-384F784EA8D5}"/>
                </a:ext>
              </a:extLst>
            </p:cNvPr>
            <p:cNvSpPr txBox="1"/>
            <p:nvPr/>
          </p:nvSpPr>
          <p:spPr>
            <a:xfrm>
              <a:off x="9252000" y="5382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827" name="椭圆 826">
              <a:extLst>
                <a:ext uri="{FF2B5EF4-FFF2-40B4-BE49-F238E27FC236}">
                  <a16:creationId xmlns:a16="http://schemas.microsoft.com/office/drawing/2014/main" id="{9E8E8886-832C-DC66-570D-159DB6BED992}"/>
                </a:ext>
              </a:extLst>
            </p:cNvPr>
            <p:cNvSpPr/>
            <p:nvPr/>
          </p:nvSpPr>
          <p:spPr>
            <a:xfrm>
              <a:off x="9720000" y="549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28" name="椭圆 827">
              <a:extLst>
                <a:ext uri="{FF2B5EF4-FFF2-40B4-BE49-F238E27FC236}">
                  <a16:creationId xmlns:a16="http://schemas.microsoft.com/office/drawing/2014/main" id="{42FE8F17-B965-674A-E2BA-51A1195C7882}"/>
                </a:ext>
              </a:extLst>
            </p:cNvPr>
            <p:cNvSpPr/>
            <p:nvPr/>
          </p:nvSpPr>
          <p:spPr>
            <a:xfrm>
              <a:off x="9450000" y="576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29" name="椭圆 828">
              <a:extLst>
                <a:ext uri="{FF2B5EF4-FFF2-40B4-BE49-F238E27FC236}">
                  <a16:creationId xmlns:a16="http://schemas.microsoft.com/office/drawing/2014/main" id="{8A59AEB0-92D3-957D-0EFA-440850C94CAC}"/>
                </a:ext>
              </a:extLst>
            </p:cNvPr>
            <p:cNvSpPr/>
            <p:nvPr/>
          </p:nvSpPr>
          <p:spPr>
            <a:xfrm>
              <a:off x="9450000" y="522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30" name="椭圆 829">
              <a:extLst>
                <a:ext uri="{FF2B5EF4-FFF2-40B4-BE49-F238E27FC236}">
                  <a16:creationId xmlns:a16="http://schemas.microsoft.com/office/drawing/2014/main" id="{85ADEFA2-A659-9CD3-1530-CE89FB7C28B7}"/>
                </a:ext>
              </a:extLst>
            </p:cNvPr>
            <p:cNvSpPr/>
            <p:nvPr/>
          </p:nvSpPr>
          <p:spPr>
            <a:xfrm>
              <a:off x="10332000" y="3528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831" name="椭圆 830">
              <a:extLst>
                <a:ext uri="{FF2B5EF4-FFF2-40B4-BE49-F238E27FC236}">
                  <a16:creationId xmlns:a16="http://schemas.microsoft.com/office/drawing/2014/main" id="{59E5FD90-87B1-8EFC-8E78-E5D5058A5916}"/>
                </a:ext>
              </a:extLst>
            </p:cNvPr>
            <p:cNvSpPr/>
            <p:nvPr/>
          </p:nvSpPr>
          <p:spPr>
            <a:xfrm>
              <a:off x="10332000" y="2520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832" name="椭圆 831">
              <a:extLst>
                <a:ext uri="{FF2B5EF4-FFF2-40B4-BE49-F238E27FC236}">
                  <a16:creationId xmlns:a16="http://schemas.microsoft.com/office/drawing/2014/main" id="{F7C28667-C589-92F2-7CAB-F324020046F8}"/>
                </a:ext>
              </a:extLst>
            </p:cNvPr>
            <p:cNvSpPr/>
            <p:nvPr/>
          </p:nvSpPr>
          <p:spPr>
            <a:xfrm>
              <a:off x="10512000" y="3348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833" name="椭圆 832">
              <a:extLst>
                <a:ext uri="{FF2B5EF4-FFF2-40B4-BE49-F238E27FC236}">
                  <a16:creationId xmlns:a16="http://schemas.microsoft.com/office/drawing/2014/main" id="{466033EE-060E-7DDB-25A9-331391F292F5}"/>
                </a:ext>
              </a:extLst>
            </p:cNvPr>
            <p:cNvSpPr/>
            <p:nvPr/>
          </p:nvSpPr>
          <p:spPr>
            <a:xfrm>
              <a:off x="10188000" y="347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34" name="椭圆 833">
              <a:extLst>
                <a:ext uri="{FF2B5EF4-FFF2-40B4-BE49-F238E27FC236}">
                  <a16:creationId xmlns:a16="http://schemas.microsoft.com/office/drawing/2014/main" id="{AF5165C0-7B34-BC85-0CF9-872278FDC55B}"/>
                </a:ext>
              </a:extLst>
            </p:cNvPr>
            <p:cNvSpPr/>
            <p:nvPr/>
          </p:nvSpPr>
          <p:spPr>
            <a:xfrm>
              <a:off x="10332000" y="3348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835" name="文本框 834">
              <a:extLst>
                <a:ext uri="{FF2B5EF4-FFF2-40B4-BE49-F238E27FC236}">
                  <a16:creationId xmlns:a16="http://schemas.microsoft.com/office/drawing/2014/main" id="{DADE196A-C703-56A5-5B8B-F3E93CD6918E}"/>
                </a:ext>
              </a:extLst>
            </p:cNvPr>
            <p:cNvSpPr txBox="1"/>
            <p:nvPr/>
          </p:nvSpPr>
          <p:spPr>
            <a:xfrm>
              <a:off x="10260000" y="3366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836" name="椭圆 835">
              <a:extLst>
                <a:ext uri="{FF2B5EF4-FFF2-40B4-BE49-F238E27FC236}">
                  <a16:creationId xmlns:a16="http://schemas.microsoft.com/office/drawing/2014/main" id="{7D6ADA89-3112-D775-D1BD-1C0FD549AA43}"/>
                </a:ext>
              </a:extLst>
            </p:cNvPr>
            <p:cNvSpPr/>
            <p:nvPr/>
          </p:nvSpPr>
          <p:spPr>
            <a:xfrm>
              <a:off x="10728000" y="347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37" name="椭圆 836">
              <a:extLst>
                <a:ext uri="{FF2B5EF4-FFF2-40B4-BE49-F238E27FC236}">
                  <a16:creationId xmlns:a16="http://schemas.microsoft.com/office/drawing/2014/main" id="{37D13DE4-56DC-8D8D-4151-9D17736E4EF0}"/>
                </a:ext>
              </a:extLst>
            </p:cNvPr>
            <p:cNvSpPr/>
            <p:nvPr/>
          </p:nvSpPr>
          <p:spPr>
            <a:xfrm>
              <a:off x="10458000" y="374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38" name="椭圆 837">
              <a:extLst>
                <a:ext uri="{FF2B5EF4-FFF2-40B4-BE49-F238E27FC236}">
                  <a16:creationId xmlns:a16="http://schemas.microsoft.com/office/drawing/2014/main" id="{5665D35B-C9B5-EBBC-7B44-5245ACEBD328}"/>
                </a:ext>
              </a:extLst>
            </p:cNvPr>
            <p:cNvSpPr/>
            <p:nvPr/>
          </p:nvSpPr>
          <p:spPr>
            <a:xfrm>
              <a:off x="10458000" y="320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39" name="椭圆 838">
              <a:extLst>
                <a:ext uri="{FF2B5EF4-FFF2-40B4-BE49-F238E27FC236}">
                  <a16:creationId xmlns:a16="http://schemas.microsoft.com/office/drawing/2014/main" id="{6C0C76B1-0986-2E10-7DBD-0162EC29D608}"/>
                </a:ext>
              </a:extLst>
            </p:cNvPr>
            <p:cNvSpPr/>
            <p:nvPr/>
          </p:nvSpPr>
          <p:spPr>
            <a:xfrm>
              <a:off x="10332000" y="4536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840" name="椭圆 839">
              <a:extLst>
                <a:ext uri="{FF2B5EF4-FFF2-40B4-BE49-F238E27FC236}">
                  <a16:creationId xmlns:a16="http://schemas.microsoft.com/office/drawing/2014/main" id="{6CFB81B2-7547-B29F-9B8E-13408253F8BB}"/>
                </a:ext>
              </a:extLst>
            </p:cNvPr>
            <p:cNvSpPr/>
            <p:nvPr/>
          </p:nvSpPr>
          <p:spPr>
            <a:xfrm>
              <a:off x="10512000" y="4356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841" name="椭圆 840">
              <a:extLst>
                <a:ext uri="{FF2B5EF4-FFF2-40B4-BE49-F238E27FC236}">
                  <a16:creationId xmlns:a16="http://schemas.microsoft.com/office/drawing/2014/main" id="{55260BC0-8401-0B94-6A26-39AF8FDE9589}"/>
                </a:ext>
              </a:extLst>
            </p:cNvPr>
            <p:cNvSpPr/>
            <p:nvPr/>
          </p:nvSpPr>
          <p:spPr>
            <a:xfrm>
              <a:off x="10188000" y="4482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42" name="椭圆 841">
              <a:extLst>
                <a:ext uri="{FF2B5EF4-FFF2-40B4-BE49-F238E27FC236}">
                  <a16:creationId xmlns:a16="http://schemas.microsoft.com/office/drawing/2014/main" id="{4EC2D5FD-F9BA-9D0C-3051-26E51A554939}"/>
                </a:ext>
              </a:extLst>
            </p:cNvPr>
            <p:cNvSpPr/>
            <p:nvPr/>
          </p:nvSpPr>
          <p:spPr>
            <a:xfrm>
              <a:off x="10332000" y="4356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843" name="文本框 842">
              <a:extLst>
                <a:ext uri="{FF2B5EF4-FFF2-40B4-BE49-F238E27FC236}">
                  <a16:creationId xmlns:a16="http://schemas.microsoft.com/office/drawing/2014/main" id="{7ABBFCD4-692F-3866-732E-A59BD1F9066B}"/>
                </a:ext>
              </a:extLst>
            </p:cNvPr>
            <p:cNvSpPr txBox="1"/>
            <p:nvPr/>
          </p:nvSpPr>
          <p:spPr>
            <a:xfrm>
              <a:off x="10260000" y="4374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844" name="椭圆 843">
              <a:extLst>
                <a:ext uri="{FF2B5EF4-FFF2-40B4-BE49-F238E27FC236}">
                  <a16:creationId xmlns:a16="http://schemas.microsoft.com/office/drawing/2014/main" id="{0EF673B5-8209-3558-BF81-17120929FAF9}"/>
                </a:ext>
              </a:extLst>
            </p:cNvPr>
            <p:cNvSpPr/>
            <p:nvPr/>
          </p:nvSpPr>
          <p:spPr>
            <a:xfrm>
              <a:off x="10728000" y="448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45" name="椭圆 844">
              <a:extLst>
                <a:ext uri="{FF2B5EF4-FFF2-40B4-BE49-F238E27FC236}">
                  <a16:creationId xmlns:a16="http://schemas.microsoft.com/office/drawing/2014/main" id="{D7F52FF0-D3CB-A88D-99F8-E6ABAC3CB932}"/>
                </a:ext>
              </a:extLst>
            </p:cNvPr>
            <p:cNvSpPr/>
            <p:nvPr/>
          </p:nvSpPr>
          <p:spPr>
            <a:xfrm>
              <a:off x="10458000" y="475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46" name="椭圆 845">
              <a:extLst>
                <a:ext uri="{FF2B5EF4-FFF2-40B4-BE49-F238E27FC236}">
                  <a16:creationId xmlns:a16="http://schemas.microsoft.com/office/drawing/2014/main" id="{5485BC0A-5A2B-8C1E-70FE-056966B94D21}"/>
                </a:ext>
              </a:extLst>
            </p:cNvPr>
            <p:cNvSpPr/>
            <p:nvPr/>
          </p:nvSpPr>
          <p:spPr>
            <a:xfrm>
              <a:off x="10458000" y="421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47" name="椭圆 846">
              <a:extLst>
                <a:ext uri="{FF2B5EF4-FFF2-40B4-BE49-F238E27FC236}">
                  <a16:creationId xmlns:a16="http://schemas.microsoft.com/office/drawing/2014/main" id="{F0E28C77-B8F3-79C0-989D-C389AFAB7DE6}"/>
                </a:ext>
              </a:extLst>
            </p:cNvPr>
            <p:cNvSpPr/>
            <p:nvPr/>
          </p:nvSpPr>
          <p:spPr>
            <a:xfrm>
              <a:off x="10332000" y="5544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848" name="椭圆 847">
              <a:extLst>
                <a:ext uri="{FF2B5EF4-FFF2-40B4-BE49-F238E27FC236}">
                  <a16:creationId xmlns:a16="http://schemas.microsoft.com/office/drawing/2014/main" id="{FBDDEC0E-EA74-2699-8A22-A425237F47CF}"/>
                </a:ext>
              </a:extLst>
            </p:cNvPr>
            <p:cNvSpPr/>
            <p:nvPr/>
          </p:nvSpPr>
          <p:spPr>
            <a:xfrm>
              <a:off x="10512000" y="5364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849" name="椭圆 848">
              <a:extLst>
                <a:ext uri="{FF2B5EF4-FFF2-40B4-BE49-F238E27FC236}">
                  <a16:creationId xmlns:a16="http://schemas.microsoft.com/office/drawing/2014/main" id="{7FB17421-909F-3B28-5A96-78C42C999D67}"/>
                </a:ext>
              </a:extLst>
            </p:cNvPr>
            <p:cNvSpPr/>
            <p:nvPr/>
          </p:nvSpPr>
          <p:spPr>
            <a:xfrm>
              <a:off x="10188000" y="549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50" name="椭圆 849">
              <a:extLst>
                <a:ext uri="{FF2B5EF4-FFF2-40B4-BE49-F238E27FC236}">
                  <a16:creationId xmlns:a16="http://schemas.microsoft.com/office/drawing/2014/main" id="{FB16857A-0AD5-F7A9-7759-033B3BEC59A5}"/>
                </a:ext>
              </a:extLst>
            </p:cNvPr>
            <p:cNvSpPr/>
            <p:nvPr/>
          </p:nvSpPr>
          <p:spPr>
            <a:xfrm>
              <a:off x="10332000" y="5364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851" name="文本框 850">
              <a:extLst>
                <a:ext uri="{FF2B5EF4-FFF2-40B4-BE49-F238E27FC236}">
                  <a16:creationId xmlns:a16="http://schemas.microsoft.com/office/drawing/2014/main" id="{ED9EAE5D-32C4-5160-3D17-63C18FECAFA4}"/>
                </a:ext>
              </a:extLst>
            </p:cNvPr>
            <p:cNvSpPr txBox="1"/>
            <p:nvPr/>
          </p:nvSpPr>
          <p:spPr>
            <a:xfrm>
              <a:off x="10260000" y="5382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852" name="椭圆 851">
              <a:extLst>
                <a:ext uri="{FF2B5EF4-FFF2-40B4-BE49-F238E27FC236}">
                  <a16:creationId xmlns:a16="http://schemas.microsoft.com/office/drawing/2014/main" id="{69072CAA-CA7C-ED57-16E1-A6F87B91954F}"/>
                </a:ext>
              </a:extLst>
            </p:cNvPr>
            <p:cNvSpPr/>
            <p:nvPr/>
          </p:nvSpPr>
          <p:spPr>
            <a:xfrm>
              <a:off x="10728000" y="549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53" name="椭圆 852">
              <a:extLst>
                <a:ext uri="{FF2B5EF4-FFF2-40B4-BE49-F238E27FC236}">
                  <a16:creationId xmlns:a16="http://schemas.microsoft.com/office/drawing/2014/main" id="{6DB5CC43-00BC-8642-F28D-E994C7B1E7FF}"/>
                </a:ext>
              </a:extLst>
            </p:cNvPr>
            <p:cNvSpPr/>
            <p:nvPr/>
          </p:nvSpPr>
          <p:spPr>
            <a:xfrm>
              <a:off x="10458000" y="576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54" name="椭圆 853">
              <a:extLst>
                <a:ext uri="{FF2B5EF4-FFF2-40B4-BE49-F238E27FC236}">
                  <a16:creationId xmlns:a16="http://schemas.microsoft.com/office/drawing/2014/main" id="{68824439-47B6-B693-E543-4AA369744B78}"/>
                </a:ext>
              </a:extLst>
            </p:cNvPr>
            <p:cNvSpPr/>
            <p:nvPr/>
          </p:nvSpPr>
          <p:spPr>
            <a:xfrm>
              <a:off x="10458000" y="522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55" name="矩形 854">
              <a:extLst>
                <a:ext uri="{FF2B5EF4-FFF2-40B4-BE49-F238E27FC236}">
                  <a16:creationId xmlns:a16="http://schemas.microsoft.com/office/drawing/2014/main" id="{C33E385E-E42C-AE15-08E9-A3062DA74416}"/>
                </a:ext>
              </a:extLst>
            </p:cNvPr>
            <p:cNvSpPr/>
            <p:nvPr/>
          </p:nvSpPr>
          <p:spPr>
            <a:xfrm>
              <a:off x="7452000" y="3240000"/>
              <a:ext cx="540000" cy="259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56" name="矩形 855">
              <a:extLst>
                <a:ext uri="{FF2B5EF4-FFF2-40B4-BE49-F238E27FC236}">
                  <a16:creationId xmlns:a16="http://schemas.microsoft.com/office/drawing/2014/main" id="{1A808B53-F05F-4DA0-F22D-D3E7BF345DA2}"/>
                </a:ext>
              </a:extLst>
            </p:cNvPr>
            <p:cNvSpPr/>
            <p:nvPr/>
          </p:nvSpPr>
          <p:spPr>
            <a:xfrm>
              <a:off x="11016000" y="3240000"/>
              <a:ext cx="540000" cy="259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57" name="矩形 856">
              <a:extLst>
                <a:ext uri="{FF2B5EF4-FFF2-40B4-BE49-F238E27FC236}">
                  <a16:creationId xmlns:a16="http://schemas.microsoft.com/office/drawing/2014/main" id="{2830B930-C519-F7B6-A00D-FECE46D4036C}"/>
                </a:ext>
              </a:extLst>
            </p:cNvPr>
            <p:cNvSpPr/>
            <p:nvPr/>
          </p:nvSpPr>
          <p:spPr>
            <a:xfrm>
              <a:off x="8208000" y="2484000"/>
              <a:ext cx="2592000" cy="54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858" name="矩形 857">
              <a:extLst>
                <a:ext uri="{FF2B5EF4-FFF2-40B4-BE49-F238E27FC236}">
                  <a16:creationId xmlns:a16="http://schemas.microsoft.com/office/drawing/2014/main" id="{7AFA89C8-69CD-53FF-A1C1-77F6191379D9}"/>
                </a:ext>
              </a:extLst>
            </p:cNvPr>
            <p:cNvSpPr/>
            <p:nvPr/>
          </p:nvSpPr>
          <p:spPr>
            <a:xfrm>
              <a:off x="8208000" y="6048000"/>
              <a:ext cx="2592000" cy="54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grpSp>
      <p:grpSp>
        <p:nvGrpSpPr>
          <p:cNvPr id="540" name="组合 539">
            <a:extLst>
              <a:ext uri="{FF2B5EF4-FFF2-40B4-BE49-F238E27FC236}">
                <a16:creationId xmlns:a16="http://schemas.microsoft.com/office/drawing/2014/main" id="{4104ED4D-E319-89FF-316F-EC21EE7E7D88}"/>
              </a:ext>
            </a:extLst>
          </p:cNvPr>
          <p:cNvGrpSpPr/>
          <p:nvPr/>
        </p:nvGrpSpPr>
        <p:grpSpPr>
          <a:xfrm>
            <a:off x="720000" y="2520000"/>
            <a:ext cx="4104000" cy="4104000"/>
            <a:chOff x="7452000" y="2484000"/>
            <a:chExt cx="4104000" cy="4104000"/>
          </a:xfrm>
        </p:grpSpPr>
        <p:sp>
          <p:nvSpPr>
            <p:cNvPr id="541" name="椭圆 540">
              <a:extLst>
                <a:ext uri="{FF2B5EF4-FFF2-40B4-BE49-F238E27FC236}">
                  <a16:creationId xmlns:a16="http://schemas.microsoft.com/office/drawing/2014/main" id="{83AAC4E1-E5DB-1F96-E669-A502B716CCBD}"/>
                </a:ext>
              </a:extLst>
            </p:cNvPr>
            <p:cNvSpPr/>
            <p:nvPr/>
          </p:nvSpPr>
          <p:spPr>
            <a:xfrm>
              <a:off x="7488000" y="3348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42" name="椭圆 541">
              <a:extLst>
                <a:ext uri="{FF2B5EF4-FFF2-40B4-BE49-F238E27FC236}">
                  <a16:creationId xmlns:a16="http://schemas.microsoft.com/office/drawing/2014/main" id="{2449A70D-D2C3-93AA-0AA1-BBC6EAD97325}"/>
                </a:ext>
              </a:extLst>
            </p:cNvPr>
            <p:cNvSpPr/>
            <p:nvPr/>
          </p:nvSpPr>
          <p:spPr>
            <a:xfrm>
              <a:off x="7488000" y="4356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43" name="椭圆 542">
              <a:extLst>
                <a:ext uri="{FF2B5EF4-FFF2-40B4-BE49-F238E27FC236}">
                  <a16:creationId xmlns:a16="http://schemas.microsoft.com/office/drawing/2014/main" id="{D4664EF7-69D0-2FCD-E997-241C062BA597}"/>
                </a:ext>
              </a:extLst>
            </p:cNvPr>
            <p:cNvSpPr/>
            <p:nvPr/>
          </p:nvSpPr>
          <p:spPr>
            <a:xfrm>
              <a:off x="7488000" y="5364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44" name="椭圆 543">
              <a:extLst>
                <a:ext uri="{FF2B5EF4-FFF2-40B4-BE49-F238E27FC236}">
                  <a16:creationId xmlns:a16="http://schemas.microsoft.com/office/drawing/2014/main" id="{BD6C92BC-B0D5-C8BA-1E6E-F4D5D7A133A7}"/>
                </a:ext>
              </a:extLst>
            </p:cNvPr>
            <p:cNvSpPr/>
            <p:nvPr/>
          </p:nvSpPr>
          <p:spPr>
            <a:xfrm>
              <a:off x="8316000" y="3528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45" name="椭圆 544">
              <a:extLst>
                <a:ext uri="{FF2B5EF4-FFF2-40B4-BE49-F238E27FC236}">
                  <a16:creationId xmlns:a16="http://schemas.microsoft.com/office/drawing/2014/main" id="{5058260F-38C7-61F4-090F-F20E0B447FFA}"/>
                </a:ext>
              </a:extLst>
            </p:cNvPr>
            <p:cNvSpPr/>
            <p:nvPr/>
          </p:nvSpPr>
          <p:spPr>
            <a:xfrm>
              <a:off x="8316000" y="2520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46" name="椭圆 545">
              <a:extLst>
                <a:ext uri="{FF2B5EF4-FFF2-40B4-BE49-F238E27FC236}">
                  <a16:creationId xmlns:a16="http://schemas.microsoft.com/office/drawing/2014/main" id="{6E295AA5-84C5-0AD1-3ACB-E9A7CE8C8DB2}"/>
                </a:ext>
              </a:extLst>
            </p:cNvPr>
            <p:cNvSpPr/>
            <p:nvPr/>
          </p:nvSpPr>
          <p:spPr>
            <a:xfrm>
              <a:off x="8496000" y="3348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47" name="椭圆 546">
              <a:extLst>
                <a:ext uri="{FF2B5EF4-FFF2-40B4-BE49-F238E27FC236}">
                  <a16:creationId xmlns:a16="http://schemas.microsoft.com/office/drawing/2014/main" id="{FE703FB4-5CDD-DEC1-75AE-6121162393C7}"/>
                </a:ext>
              </a:extLst>
            </p:cNvPr>
            <p:cNvSpPr/>
            <p:nvPr/>
          </p:nvSpPr>
          <p:spPr>
            <a:xfrm>
              <a:off x="8172000" y="347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48" name="椭圆 547">
              <a:extLst>
                <a:ext uri="{FF2B5EF4-FFF2-40B4-BE49-F238E27FC236}">
                  <a16:creationId xmlns:a16="http://schemas.microsoft.com/office/drawing/2014/main" id="{49ACDAEC-B7BE-5486-8321-EDD4546E222F}"/>
                </a:ext>
              </a:extLst>
            </p:cNvPr>
            <p:cNvSpPr/>
            <p:nvPr/>
          </p:nvSpPr>
          <p:spPr>
            <a:xfrm>
              <a:off x="8316000" y="3348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549" name="文本框 548">
              <a:extLst>
                <a:ext uri="{FF2B5EF4-FFF2-40B4-BE49-F238E27FC236}">
                  <a16:creationId xmlns:a16="http://schemas.microsoft.com/office/drawing/2014/main" id="{CC41EB0C-C033-7ADC-68B7-D7FFB1CB9590}"/>
                </a:ext>
              </a:extLst>
            </p:cNvPr>
            <p:cNvSpPr txBox="1"/>
            <p:nvPr/>
          </p:nvSpPr>
          <p:spPr>
            <a:xfrm>
              <a:off x="8244000" y="3366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550" name="椭圆 549">
              <a:extLst>
                <a:ext uri="{FF2B5EF4-FFF2-40B4-BE49-F238E27FC236}">
                  <a16:creationId xmlns:a16="http://schemas.microsoft.com/office/drawing/2014/main" id="{9EE2E0B5-14F9-1B8F-5C24-CED843C9966D}"/>
                </a:ext>
              </a:extLst>
            </p:cNvPr>
            <p:cNvSpPr/>
            <p:nvPr/>
          </p:nvSpPr>
          <p:spPr>
            <a:xfrm>
              <a:off x="8712000" y="347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51" name="椭圆 550">
              <a:extLst>
                <a:ext uri="{FF2B5EF4-FFF2-40B4-BE49-F238E27FC236}">
                  <a16:creationId xmlns:a16="http://schemas.microsoft.com/office/drawing/2014/main" id="{26D93AA4-B178-045E-5635-5CBA7404F1FD}"/>
                </a:ext>
              </a:extLst>
            </p:cNvPr>
            <p:cNvSpPr/>
            <p:nvPr/>
          </p:nvSpPr>
          <p:spPr>
            <a:xfrm>
              <a:off x="8442000" y="374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52" name="椭圆 551">
              <a:extLst>
                <a:ext uri="{FF2B5EF4-FFF2-40B4-BE49-F238E27FC236}">
                  <a16:creationId xmlns:a16="http://schemas.microsoft.com/office/drawing/2014/main" id="{1489382A-053B-8729-1DEB-DEEC9473504C}"/>
                </a:ext>
              </a:extLst>
            </p:cNvPr>
            <p:cNvSpPr/>
            <p:nvPr/>
          </p:nvSpPr>
          <p:spPr>
            <a:xfrm>
              <a:off x="8442000" y="320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53" name="椭圆 552">
              <a:extLst>
                <a:ext uri="{FF2B5EF4-FFF2-40B4-BE49-F238E27FC236}">
                  <a16:creationId xmlns:a16="http://schemas.microsoft.com/office/drawing/2014/main" id="{0F21D1A1-6A8C-2426-C417-23B911117579}"/>
                </a:ext>
              </a:extLst>
            </p:cNvPr>
            <p:cNvSpPr/>
            <p:nvPr/>
          </p:nvSpPr>
          <p:spPr>
            <a:xfrm>
              <a:off x="8316000" y="4536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54" name="椭圆 553">
              <a:extLst>
                <a:ext uri="{FF2B5EF4-FFF2-40B4-BE49-F238E27FC236}">
                  <a16:creationId xmlns:a16="http://schemas.microsoft.com/office/drawing/2014/main" id="{898AC88C-EA42-841D-DCD3-DFC313FFE3B2}"/>
                </a:ext>
              </a:extLst>
            </p:cNvPr>
            <p:cNvSpPr/>
            <p:nvPr/>
          </p:nvSpPr>
          <p:spPr>
            <a:xfrm>
              <a:off x="8496000" y="4356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55" name="椭圆 554">
              <a:extLst>
                <a:ext uri="{FF2B5EF4-FFF2-40B4-BE49-F238E27FC236}">
                  <a16:creationId xmlns:a16="http://schemas.microsoft.com/office/drawing/2014/main" id="{26F6E093-9FFA-10C8-6195-CFCB0F6DDB6B}"/>
                </a:ext>
              </a:extLst>
            </p:cNvPr>
            <p:cNvSpPr/>
            <p:nvPr/>
          </p:nvSpPr>
          <p:spPr>
            <a:xfrm>
              <a:off x="8172000" y="448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56" name="椭圆 555">
              <a:extLst>
                <a:ext uri="{FF2B5EF4-FFF2-40B4-BE49-F238E27FC236}">
                  <a16:creationId xmlns:a16="http://schemas.microsoft.com/office/drawing/2014/main" id="{D2B42DEF-ADBE-1A04-94AA-FFD71E9DEB64}"/>
                </a:ext>
              </a:extLst>
            </p:cNvPr>
            <p:cNvSpPr/>
            <p:nvPr/>
          </p:nvSpPr>
          <p:spPr>
            <a:xfrm>
              <a:off x="8316000" y="4356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557" name="文本框 556">
              <a:extLst>
                <a:ext uri="{FF2B5EF4-FFF2-40B4-BE49-F238E27FC236}">
                  <a16:creationId xmlns:a16="http://schemas.microsoft.com/office/drawing/2014/main" id="{89CF3A59-3639-8E85-B578-BB0FDA968F49}"/>
                </a:ext>
              </a:extLst>
            </p:cNvPr>
            <p:cNvSpPr txBox="1"/>
            <p:nvPr/>
          </p:nvSpPr>
          <p:spPr>
            <a:xfrm>
              <a:off x="8244000" y="4374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558" name="椭圆 557">
              <a:extLst>
                <a:ext uri="{FF2B5EF4-FFF2-40B4-BE49-F238E27FC236}">
                  <a16:creationId xmlns:a16="http://schemas.microsoft.com/office/drawing/2014/main" id="{152CBC7C-44A0-8353-B136-BA86F36DD746}"/>
                </a:ext>
              </a:extLst>
            </p:cNvPr>
            <p:cNvSpPr/>
            <p:nvPr/>
          </p:nvSpPr>
          <p:spPr>
            <a:xfrm>
              <a:off x="8712000" y="448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59" name="椭圆 558">
              <a:extLst>
                <a:ext uri="{FF2B5EF4-FFF2-40B4-BE49-F238E27FC236}">
                  <a16:creationId xmlns:a16="http://schemas.microsoft.com/office/drawing/2014/main" id="{DF8A3A36-46ED-8439-42CD-C988702A34B4}"/>
                </a:ext>
              </a:extLst>
            </p:cNvPr>
            <p:cNvSpPr/>
            <p:nvPr/>
          </p:nvSpPr>
          <p:spPr>
            <a:xfrm>
              <a:off x="8442000" y="475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60" name="椭圆 559">
              <a:extLst>
                <a:ext uri="{FF2B5EF4-FFF2-40B4-BE49-F238E27FC236}">
                  <a16:creationId xmlns:a16="http://schemas.microsoft.com/office/drawing/2014/main" id="{55F2E9BD-C778-3B21-1CAF-30F866565489}"/>
                </a:ext>
              </a:extLst>
            </p:cNvPr>
            <p:cNvSpPr/>
            <p:nvPr/>
          </p:nvSpPr>
          <p:spPr>
            <a:xfrm>
              <a:off x="8442000" y="421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61" name="椭圆 560">
              <a:extLst>
                <a:ext uri="{FF2B5EF4-FFF2-40B4-BE49-F238E27FC236}">
                  <a16:creationId xmlns:a16="http://schemas.microsoft.com/office/drawing/2014/main" id="{064EC7B3-B876-C966-5EE1-EE037C3E0390}"/>
                </a:ext>
              </a:extLst>
            </p:cNvPr>
            <p:cNvSpPr/>
            <p:nvPr/>
          </p:nvSpPr>
          <p:spPr>
            <a:xfrm>
              <a:off x="8316000" y="5544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62" name="椭圆 561">
              <a:extLst>
                <a:ext uri="{FF2B5EF4-FFF2-40B4-BE49-F238E27FC236}">
                  <a16:creationId xmlns:a16="http://schemas.microsoft.com/office/drawing/2014/main" id="{40F7E36C-1C63-E127-A682-7BB5DC220112}"/>
                </a:ext>
              </a:extLst>
            </p:cNvPr>
            <p:cNvSpPr/>
            <p:nvPr/>
          </p:nvSpPr>
          <p:spPr>
            <a:xfrm>
              <a:off x="8496000" y="5364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63" name="椭圆 562">
              <a:extLst>
                <a:ext uri="{FF2B5EF4-FFF2-40B4-BE49-F238E27FC236}">
                  <a16:creationId xmlns:a16="http://schemas.microsoft.com/office/drawing/2014/main" id="{11E4A7E9-352D-8A1D-4BA5-B77CA3E5865F}"/>
                </a:ext>
              </a:extLst>
            </p:cNvPr>
            <p:cNvSpPr/>
            <p:nvPr/>
          </p:nvSpPr>
          <p:spPr>
            <a:xfrm>
              <a:off x="8172000" y="549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64" name="椭圆 563">
              <a:extLst>
                <a:ext uri="{FF2B5EF4-FFF2-40B4-BE49-F238E27FC236}">
                  <a16:creationId xmlns:a16="http://schemas.microsoft.com/office/drawing/2014/main" id="{408665F7-FDB0-A393-1B5C-329B0C769F2C}"/>
                </a:ext>
              </a:extLst>
            </p:cNvPr>
            <p:cNvSpPr/>
            <p:nvPr/>
          </p:nvSpPr>
          <p:spPr>
            <a:xfrm>
              <a:off x="8316000" y="5364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565" name="文本框 564">
              <a:extLst>
                <a:ext uri="{FF2B5EF4-FFF2-40B4-BE49-F238E27FC236}">
                  <a16:creationId xmlns:a16="http://schemas.microsoft.com/office/drawing/2014/main" id="{D0638468-5847-AA0F-A2FE-EF7D4BFA4858}"/>
                </a:ext>
              </a:extLst>
            </p:cNvPr>
            <p:cNvSpPr txBox="1"/>
            <p:nvPr/>
          </p:nvSpPr>
          <p:spPr>
            <a:xfrm>
              <a:off x="8244000" y="5382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566" name="椭圆 565">
              <a:extLst>
                <a:ext uri="{FF2B5EF4-FFF2-40B4-BE49-F238E27FC236}">
                  <a16:creationId xmlns:a16="http://schemas.microsoft.com/office/drawing/2014/main" id="{0F04E242-0DAA-CBD0-D168-914239842A92}"/>
                </a:ext>
              </a:extLst>
            </p:cNvPr>
            <p:cNvSpPr/>
            <p:nvPr/>
          </p:nvSpPr>
          <p:spPr>
            <a:xfrm>
              <a:off x="8712000" y="549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67" name="椭圆 566">
              <a:extLst>
                <a:ext uri="{FF2B5EF4-FFF2-40B4-BE49-F238E27FC236}">
                  <a16:creationId xmlns:a16="http://schemas.microsoft.com/office/drawing/2014/main" id="{05C27E46-B9E0-6BFF-0695-F4D6A4369C09}"/>
                </a:ext>
              </a:extLst>
            </p:cNvPr>
            <p:cNvSpPr/>
            <p:nvPr/>
          </p:nvSpPr>
          <p:spPr>
            <a:xfrm>
              <a:off x="8442000" y="576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68" name="椭圆 567">
              <a:extLst>
                <a:ext uri="{FF2B5EF4-FFF2-40B4-BE49-F238E27FC236}">
                  <a16:creationId xmlns:a16="http://schemas.microsoft.com/office/drawing/2014/main" id="{1F192BD0-DA55-A652-54C7-8F4C9BEB3671}"/>
                </a:ext>
              </a:extLst>
            </p:cNvPr>
            <p:cNvSpPr/>
            <p:nvPr/>
          </p:nvSpPr>
          <p:spPr>
            <a:xfrm>
              <a:off x="8442000" y="522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69" name="椭圆 568">
              <a:extLst>
                <a:ext uri="{FF2B5EF4-FFF2-40B4-BE49-F238E27FC236}">
                  <a16:creationId xmlns:a16="http://schemas.microsoft.com/office/drawing/2014/main" id="{6D1E0B67-1162-2A18-7D85-7FD250B3C13E}"/>
                </a:ext>
              </a:extLst>
            </p:cNvPr>
            <p:cNvSpPr/>
            <p:nvPr/>
          </p:nvSpPr>
          <p:spPr>
            <a:xfrm>
              <a:off x="9324000" y="3528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70" name="椭圆 569">
              <a:extLst>
                <a:ext uri="{FF2B5EF4-FFF2-40B4-BE49-F238E27FC236}">
                  <a16:creationId xmlns:a16="http://schemas.microsoft.com/office/drawing/2014/main" id="{C030262B-5921-09B9-FCDC-10E06041C0E9}"/>
                </a:ext>
              </a:extLst>
            </p:cNvPr>
            <p:cNvSpPr/>
            <p:nvPr/>
          </p:nvSpPr>
          <p:spPr>
            <a:xfrm>
              <a:off x="9324000" y="2520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71" name="椭圆 570">
              <a:extLst>
                <a:ext uri="{FF2B5EF4-FFF2-40B4-BE49-F238E27FC236}">
                  <a16:creationId xmlns:a16="http://schemas.microsoft.com/office/drawing/2014/main" id="{C7BC985F-057B-DC03-6E5F-E0C68C485C68}"/>
                </a:ext>
              </a:extLst>
            </p:cNvPr>
            <p:cNvSpPr/>
            <p:nvPr/>
          </p:nvSpPr>
          <p:spPr>
            <a:xfrm>
              <a:off x="9504000" y="3348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72" name="椭圆 571">
              <a:extLst>
                <a:ext uri="{FF2B5EF4-FFF2-40B4-BE49-F238E27FC236}">
                  <a16:creationId xmlns:a16="http://schemas.microsoft.com/office/drawing/2014/main" id="{0FAAB14C-CD92-1005-5D07-7C80D9CABB40}"/>
                </a:ext>
              </a:extLst>
            </p:cNvPr>
            <p:cNvSpPr/>
            <p:nvPr/>
          </p:nvSpPr>
          <p:spPr>
            <a:xfrm>
              <a:off x="9180000" y="347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73" name="椭圆 572">
              <a:extLst>
                <a:ext uri="{FF2B5EF4-FFF2-40B4-BE49-F238E27FC236}">
                  <a16:creationId xmlns:a16="http://schemas.microsoft.com/office/drawing/2014/main" id="{FF253641-B003-0809-EE67-F961E5664449}"/>
                </a:ext>
              </a:extLst>
            </p:cNvPr>
            <p:cNvSpPr/>
            <p:nvPr/>
          </p:nvSpPr>
          <p:spPr>
            <a:xfrm>
              <a:off x="9324000" y="3348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574" name="文本框 573">
              <a:extLst>
                <a:ext uri="{FF2B5EF4-FFF2-40B4-BE49-F238E27FC236}">
                  <a16:creationId xmlns:a16="http://schemas.microsoft.com/office/drawing/2014/main" id="{0BEC0DD7-C26B-4306-CE32-3BFC7323066D}"/>
                </a:ext>
              </a:extLst>
            </p:cNvPr>
            <p:cNvSpPr txBox="1"/>
            <p:nvPr/>
          </p:nvSpPr>
          <p:spPr>
            <a:xfrm>
              <a:off x="9252000" y="3366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575" name="椭圆 574">
              <a:extLst>
                <a:ext uri="{FF2B5EF4-FFF2-40B4-BE49-F238E27FC236}">
                  <a16:creationId xmlns:a16="http://schemas.microsoft.com/office/drawing/2014/main" id="{F1FC6977-ED69-D74B-3770-09EDA90BC817}"/>
                </a:ext>
              </a:extLst>
            </p:cNvPr>
            <p:cNvSpPr/>
            <p:nvPr/>
          </p:nvSpPr>
          <p:spPr>
            <a:xfrm>
              <a:off x="9720000" y="347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92" name="椭圆 191">
              <a:extLst>
                <a:ext uri="{FF2B5EF4-FFF2-40B4-BE49-F238E27FC236}">
                  <a16:creationId xmlns:a16="http://schemas.microsoft.com/office/drawing/2014/main" id="{270017DA-8E91-3B71-8557-C1D643BE7A75}"/>
                </a:ext>
              </a:extLst>
            </p:cNvPr>
            <p:cNvSpPr/>
            <p:nvPr/>
          </p:nvSpPr>
          <p:spPr>
            <a:xfrm>
              <a:off x="9450000" y="374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93" name="椭圆 192">
              <a:extLst>
                <a:ext uri="{FF2B5EF4-FFF2-40B4-BE49-F238E27FC236}">
                  <a16:creationId xmlns:a16="http://schemas.microsoft.com/office/drawing/2014/main" id="{422C59C7-7B1C-AF0F-7331-F60261E2EE35}"/>
                </a:ext>
              </a:extLst>
            </p:cNvPr>
            <p:cNvSpPr/>
            <p:nvPr/>
          </p:nvSpPr>
          <p:spPr>
            <a:xfrm>
              <a:off x="9450000" y="320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731" name="椭圆 730">
              <a:extLst>
                <a:ext uri="{FF2B5EF4-FFF2-40B4-BE49-F238E27FC236}">
                  <a16:creationId xmlns:a16="http://schemas.microsoft.com/office/drawing/2014/main" id="{09285E0C-6D8D-4AB3-35D2-0B803B65B563}"/>
                </a:ext>
              </a:extLst>
            </p:cNvPr>
            <p:cNvSpPr/>
            <p:nvPr/>
          </p:nvSpPr>
          <p:spPr>
            <a:xfrm>
              <a:off x="9324000" y="4536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732" name="椭圆 731">
              <a:extLst>
                <a:ext uri="{FF2B5EF4-FFF2-40B4-BE49-F238E27FC236}">
                  <a16:creationId xmlns:a16="http://schemas.microsoft.com/office/drawing/2014/main" id="{CC8051C0-0919-EACF-A4FB-77974225B396}"/>
                </a:ext>
              </a:extLst>
            </p:cNvPr>
            <p:cNvSpPr/>
            <p:nvPr/>
          </p:nvSpPr>
          <p:spPr>
            <a:xfrm>
              <a:off x="9504000" y="4356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733" name="椭圆 732">
              <a:extLst>
                <a:ext uri="{FF2B5EF4-FFF2-40B4-BE49-F238E27FC236}">
                  <a16:creationId xmlns:a16="http://schemas.microsoft.com/office/drawing/2014/main" id="{892AC1B6-9ED7-E353-780B-1793575154E3}"/>
                </a:ext>
              </a:extLst>
            </p:cNvPr>
            <p:cNvSpPr/>
            <p:nvPr/>
          </p:nvSpPr>
          <p:spPr>
            <a:xfrm>
              <a:off x="9180000" y="4482000"/>
              <a:ext cx="108000" cy="108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734" name="椭圆 733">
              <a:extLst>
                <a:ext uri="{FF2B5EF4-FFF2-40B4-BE49-F238E27FC236}">
                  <a16:creationId xmlns:a16="http://schemas.microsoft.com/office/drawing/2014/main" id="{9F9A3FC0-094F-FA9D-25E8-FC449C833DB3}"/>
                </a:ext>
              </a:extLst>
            </p:cNvPr>
            <p:cNvSpPr/>
            <p:nvPr/>
          </p:nvSpPr>
          <p:spPr>
            <a:xfrm>
              <a:off x="9324000" y="4356000"/>
              <a:ext cx="360000" cy="360000"/>
            </a:xfrm>
            <a:prstGeom prst="ellipse">
              <a:avLst/>
            </a:prstGeom>
            <a:solidFill>
              <a:srgbClr val="92D050"/>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735" name="文本框 734">
              <a:extLst>
                <a:ext uri="{FF2B5EF4-FFF2-40B4-BE49-F238E27FC236}">
                  <a16:creationId xmlns:a16="http://schemas.microsoft.com/office/drawing/2014/main" id="{10606B11-8295-E949-DBF3-533EA5DEC5BE}"/>
                </a:ext>
              </a:extLst>
            </p:cNvPr>
            <p:cNvSpPr txBox="1"/>
            <p:nvPr/>
          </p:nvSpPr>
          <p:spPr>
            <a:xfrm>
              <a:off x="9252000" y="4373999"/>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+3</a:t>
              </a:r>
              <a:endParaRPr lang="zh-CN" altLang="en-US" sz="1500" b="1" dirty="0">
                <a:latin typeface="微软雅黑" panose="020B0503020204020204" pitchFamily="34" charset="-122"/>
                <a:ea typeface="微软雅黑" panose="020B0503020204020204" pitchFamily="34" charset="-122"/>
              </a:endParaRPr>
            </a:p>
          </p:txBody>
        </p:sp>
        <p:sp>
          <p:nvSpPr>
            <p:cNvPr id="736" name="椭圆 735">
              <a:extLst>
                <a:ext uri="{FF2B5EF4-FFF2-40B4-BE49-F238E27FC236}">
                  <a16:creationId xmlns:a16="http://schemas.microsoft.com/office/drawing/2014/main" id="{49B223EC-B2DD-64E8-127A-2AC0E15ABB52}"/>
                </a:ext>
              </a:extLst>
            </p:cNvPr>
            <p:cNvSpPr/>
            <p:nvPr/>
          </p:nvSpPr>
          <p:spPr>
            <a:xfrm>
              <a:off x="9720000" y="4482000"/>
              <a:ext cx="108000" cy="108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737" name="椭圆 736">
              <a:extLst>
                <a:ext uri="{FF2B5EF4-FFF2-40B4-BE49-F238E27FC236}">
                  <a16:creationId xmlns:a16="http://schemas.microsoft.com/office/drawing/2014/main" id="{41F21272-958F-2032-2B34-6DAB7281BAFC}"/>
                </a:ext>
              </a:extLst>
            </p:cNvPr>
            <p:cNvSpPr/>
            <p:nvPr/>
          </p:nvSpPr>
          <p:spPr>
            <a:xfrm>
              <a:off x="9450000" y="4752000"/>
              <a:ext cx="108000" cy="108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738" name="椭圆 737">
              <a:extLst>
                <a:ext uri="{FF2B5EF4-FFF2-40B4-BE49-F238E27FC236}">
                  <a16:creationId xmlns:a16="http://schemas.microsoft.com/office/drawing/2014/main" id="{38332525-D299-EA80-4D65-F9B5BEB0DE03}"/>
                </a:ext>
              </a:extLst>
            </p:cNvPr>
            <p:cNvSpPr/>
            <p:nvPr/>
          </p:nvSpPr>
          <p:spPr>
            <a:xfrm>
              <a:off x="9450000" y="4212000"/>
              <a:ext cx="108000" cy="108000"/>
            </a:xfrm>
            <a:prstGeom prst="ellipse">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739" name="椭圆 738">
              <a:extLst>
                <a:ext uri="{FF2B5EF4-FFF2-40B4-BE49-F238E27FC236}">
                  <a16:creationId xmlns:a16="http://schemas.microsoft.com/office/drawing/2014/main" id="{220C9C4E-7177-2C44-A3AC-CFA1E33B93BE}"/>
                </a:ext>
              </a:extLst>
            </p:cNvPr>
            <p:cNvSpPr/>
            <p:nvPr/>
          </p:nvSpPr>
          <p:spPr>
            <a:xfrm>
              <a:off x="9324000" y="5544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740" name="椭圆 739">
              <a:extLst>
                <a:ext uri="{FF2B5EF4-FFF2-40B4-BE49-F238E27FC236}">
                  <a16:creationId xmlns:a16="http://schemas.microsoft.com/office/drawing/2014/main" id="{0BA9C68E-370A-26F4-7661-D4B8E4F3D62C}"/>
                </a:ext>
              </a:extLst>
            </p:cNvPr>
            <p:cNvSpPr/>
            <p:nvPr/>
          </p:nvSpPr>
          <p:spPr>
            <a:xfrm>
              <a:off x="9504000" y="5364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741" name="椭圆 740">
              <a:extLst>
                <a:ext uri="{FF2B5EF4-FFF2-40B4-BE49-F238E27FC236}">
                  <a16:creationId xmlns:a16="http://schemas.microsoft.com/office/drawing/2014/main" id="{85FD8325-5C54-ACA9-1034-7F61524A4084}"/>
                </a:ext>
              </a:extLst>
            </p:cNvPr>
            <p:cNvSpPr/>
            <p:nvPr/>
          </p:nvSpPr>
          <p:spPr>
            <a:xfrm>
              <a:off x="9180000" y="549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742" name="椭圆 741">
              <a:extLst>
                <a:ext uri="{FF2B5EF4-FFF2-40B4-BE49-F238E27FC236}">
                  <a16:creationId xmlns:a16="http://schemas.microsoft.com/office/drawing/2014/main" id="{23F0E3C8-3F8D-D39C-1755-DAEE29DA13FB}"/>
                </a:ext>
              </a:extLst>
            </p:cNvPr>
            <p:cNvSpPr/>
            <p:nvPr/>
          </p:nvSpPr>
          <p:spPr>
            <a:xfrm>
              <a:off x="9324000" y="5364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743" name="文本框 742">
              <a:extLst>
                <a:ext uri="{FF2B5EF4-FFF2-40B4-BE49-F238E27FC236}">
                  <a16:creationId xmlns:a16="http://schemas.microsoft.com/office/drawing/2014/main" id="{F735DB0D-3499-3531-BD07-27DCB29E2734}"/>
                </a:ext>
              </a:extLst>
            </p:cNvPr>
            <p:cNvSpPr txBox="1"/>
            <p:nvPr/>
          </p:nvSpPr>
          <p:spPr>
            <a:xfrm>
              <a:off x="9252000" y="5382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744" name="椭圆 743">
              <a:extLst>
                <a:ext uri="{FF2B5EF4-FFF2-40B4-BE49-F238E27FC236}">
                  <a16:creationId xmlns:a16="http://schemas.microsoft.com/office/drawing/2014/main" id="{18D1CC9F-E7E5-32AC-BF61-C8E569C7A999}"/>
                </a:ext>
              </a:extLst>
            </p:cNvPr>
            <p:cNvSpPr/>
            <p:nvPr/>
          </p:nvSpPr>
          <p:spPr>
            <a:xfrm>
              <a:off x="9720000" y="549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745" name="椭圆 744">
              <a:extLst>
                <a:ext uri="{FF2B5EF4-FFF2-40B4-BE49-F238E27FC236}">
                  <a16:creationId xmlns:a16="http://schemas.microsoft.com/office/drawing/2014/main" id="{EC0A77C4-C6E5-765E-9E3C-57E4C5B020A0}"/>
                </a:ext>
              </a:extLst>
            </p:cNvPr>
            <p:cNvSpPr/>
            <p:nvPr/>
          </p:nvSpPr>
          <p:spPr>
            <a:xfrm>
              <a:off x="9450000" y="576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746" name="椭圆 745">
              <a:extLst>
                <a:ext uri="{FF2B5EF4-FFF2-40B4-BE49-F238E27FC236}">
                  <a16:creationId xmlns:a16="http://schemas.microsoft.com/office/drawing/2014/main" id="{442EBD06-4FFA-F068-6351-44CB106BD160}"/>
                </a:ext>
              </a:extLst>
            </p:cNvPr>
            <p:cNvSpPr/>
            <p:nvPr/>
          </p:nvSpPr>
          <p:spPr>
            <a:xfrm>
              <a:off x="9450000" y="522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747" name="椭圆 746">
              <a:extLst>
                <a:ext uri="{FF2B5EF4-FFF2-40B4-BE49-F238E27FC236}">
                  <a16:creationId xmlns:a16="http://schemas.microsoft.com/office/drawing/2014/main" id="{504C2A4C-F00C-5792-F8F5-A817BDB51B19}"/>
                </a:ext>
              </a:extLst>
            </p:cNvPr>
            <p:cNvSpPr/>
            <p:nvPr/>
          </p:nvSpPr>
          <p:spPr>
            <a:xfrm>
              <a:off x="10332000" y="3528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748" name="椭圆 747">
              <a:extLst>
                <a:ext uri="{FF2B5EF4-FFF2-40B4-BE49-F238E27FC236}">
                  <a16:creationId xmlns:a16="http://schemas.microsoft.com/office/drawing/2014/main" id="{1E99B576-F9DE-4E89-52F6-C6A7CE6CE013}"/>
                </a:ext>
              </a:extLst>
            </p:cNvPr>
            <p:cNvSpPr/>
            <p:nvPr/>
          </p:nvSpPr>
          <p:spPr>
            <a:xfrm>
              <a:off x="10332000" y="2520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749" name="椭圆 748">
              <a:extLst>
                <a:ext uri="{FF2B5EF4-FFF2-40B4-BE49-F238E27FC236}">
                  <a16:creationId xmlns:a16="http://schemas.microsoft.com/office/drawing/2014/main" id="{46C9D3FC-FDD6-E296-A620-5581C8884A0E}"/>
                </a:ext>
              </a:extLst>
            </p:cNvPr>
            <p:cNvSpPr/>
            <p:nvPr/>
          </p:nvSpPr>
          <p:spPr>
            <a:xfrm>
              <a:off x="10512000" y="3348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750" name="椭圆 749">
              <a:extLst>
                <a:ext uri="{FF2B5EF4-FFF2-40B4-BE49-F238E27FC236}">
                  <a16:creationId xmlns:a16="http://schemas.microsoft.com/office/drawing/2014/main" id="{F4B38090-CD75-55BC-D141-1996F62D0148}"/>
                </a:ext>
              </a:extLst>
            </p:cNvPr>
            <p:cNvSpPr/>
            <p:nvPr/>
          </p:nvSpPr>
          <p:spPr>
            <a:xfrm>
              <a:off x="10188000" y="347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751" name="椭圆 750">
              <a:extLst>
                <a:ext uri="{FF2B5EF4-FFF2-40B4-BE49-F238E27FC236}">
                  <a16:creationId xmlns:a16="http://schemas.microsoft.com/office/drawing/2014/main" id="{0E267925-55D5-2C01-F3A6-85FEFDDB73CD}"/>
                </a:ext>
              </a:extLst>
            </p:cNvPr>
            <p:cNvSpPr/>
            <p:nvPr/>
          </p:nvSpPr>
          <p:spPr>
            <a:xfrm>
              <a:off x="10332000" y="3348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752" name="文本框 751">
              <a:extLst>
                <a:ext uri="{FF2B5EF4-FFF2-40B4-BE49-F238E27FC236}">
                  <a16:creationId xmlns:a16="http://schemas.microsoft.com/office/drawing/2014/main" id="{9BEF0C71-51BB-7EB7-92C6-BA30398B4243}"/>
                </a:ext>
              </a:extLst>
            </p:cNvPr>
            <p:cNvSpPr txBox="1"/>
            <p:nvPr/>
          </p:nvSpPr>
          <p:spPr>
            <a:xfrm>
              <a:off x="10260000" y="3366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753" name="椭圆 752">
              <a:extLst>
                <a:ext uri="{FF2B5EF4-FFF2-40B4-BE49-F238E27FC236}">
                  <a16:creationId xmlns:a16="http://schemas.microsoft.com/office/drawing/2014/main" id="{91A30150-10FC-B257-6247-AB1FB8403695}"/>
                </a:ext>
              </a:extLst>
            </p:cNvPr>
            <p:cNvSpPr/>
            <p:nvPr/>
          </p:nvSpPr>
          <p:spPr>
            <a:xfrm>
              <a:off x="10728000" y="347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754" name="椭圆 753">
              <a:extLst>
                <a:ext uri="{FF2B5EF4-FFF2-40B4-BE49-F238E27FC236}">
                  <a16:creationId xmlns:a16="http://schemas.microsoft.com/office/drawing/2014/main" id="{1EA0C2E8-E0C5-A2EC-73DD-6F9A6871D22B}"/>
                </a:ext>
              </a:extLst>
            </p:cNvPr>
            <p:cNvSpPr/>
            <p:nvPr/>
          </p:nvSpPr>
          <p:spPr>
            <a:xfrm>
              <a:off x="10458000" y="374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755" name="椭圆 754">
              <a:extLst>
                <a:ext uri="{FF2B5EF4-FFF2-40B4-BE49-F238E27FC236}">
                  <a16:creationId xmlns:a16="http://schemas.microsoft.com/office/drawing/2014/main" id="{8A9BF523-ABC4-5C75-2907-12F7C9BFD273}"/>
                </a:ext>
              </a:extLst>
            </p:cNvPr>
            <p:cNvSpPr/>
            <p:nvPr/>
          </p:nvSpPr>
          <p:spPr>
            <a:xfrm>
              <a:off x="10458000" y="320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756" name="椭圆 755">
              <a:extLst>
                <a:ext uri="{FF2B5EF4-FFF2-40B4-BE49-F238E27FC236}">
                  <a16:creationId xmlns:a16="http://schemas.microsoft.com/office/drawing/2014/main" id="{F2B94087-C51B-CDA8-AABE-20C33A38EE47}"/>
                </a:ext>
              </a:extLst>
            </p:cNvPr>
            <p:cNvSpPr/>
            <p:nvPr/>
          </p:nvSpPr>
          <p:spPr>
            <a:xfrm>
              <a:off x="10332000" y="4536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757" name="椭圆 756">
              <a:extLst>
                <a:ext uri="{FF2B5EF4-FFF2-40B4-BE49-F238E27FC236}">
                  <a16:creationId xmlns:a16="http://schemas.microsoft.com/office/drawing/2014/main" id="{250B65A0-1EE9-B8B5-DC59-1AA21B96763A}"/>
                </a:ext>
              </a:extLst>
            </p:cNvPr>
            <p:cNvSpPr/>
            <p:nvPr/>
          </p:nvSpPr>
          <p:spPr>
            <a:xfrm>
              <a:off x="10512000" y="4356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758" name="椭圆 757">
              <a:extLst>
                <a:ext uri="{FF2B5EF4-FFF2-40B4-BE49-F238E27FC236}">
                  <a16:creationId xmlns:a16="http://schemas.microsoft.com/office/drawing/2014/main" id="{91B1EBFE-F7A7-6DAE-C5F7-4CE7F306B8EC}"/>
                </a:ext>
              </a:extLst>
            </p:cNvPr>
            <p:cNvSpPr/>
            <p:nvPr/>
          </p:nvSpPr>
          <p:spPr>
            <a:xfrm>
              <a:off x="10188000" y="448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759" name="椭圆 758">
              <a:extLst>
                <a:ext uri="{FF2B5EF4-FFF2-40B4-BE49-F238E27FC236}">
                  <a16:creationId xmlns:a16="http://schemas.microsoft.com/office/drawing/2014/main" id="{5CA4F4E7-A6A0-4C4F-21F1-188D28650A10}"/>
                </a:ext>
              </a:extLst>
            </p:cNvPr>
            <p:cNvSpPr/>
            <p:nvPr/>
          </p:nvSpPr>
          <p:spPr>
            <a:xfrm>
              <a:off x="10332000" y="4356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760" name="文本框 759">
              <a:extLst>
                <a:ext uri="{FF2B5EF4-FFF2-40B4-BE49-F238E27FC236}">
                  <a16:creationId xmlns:a16="http://schemas.microsoft.com/office/drawing/2014/main" id="{9CB6C560-BCAB-5857-84AD-2C62F4C5EF43}"/>
                </a:ext>
              </a:extLst>
            </p:cNvPr>
            <p:cNvSpPr txBox="1"/>
            <p:nvPr/>
          </p:nvSpPr>
          <p:spPr>
            <a:xfrm>
              <a:off x="10260000" y="4374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761" name="椭圆 760">
              <a:extLst>
                <a:ext uri="{FF2B5EF4-FFF2-40B4-BE49-F238E27FC236}">
                  <a16:creationId xmlns:a16="http://schemas.microsoft.com/office/drawing/2014/main" id="{C84B091D-B68B-F9B4-A56F-8EE47CBD8E84}"/>
                </a:ext>
              </a:extLst>
            </p:cNvPr>
            <p:cNvSpPr/>
            <p:nvPr/>
          </p:nvSpPr>
          <p:spPr>
            <a:xfrm>
              <a:off x="10728000" y="448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762" name="椭圆 761">
              <a:extLst>
                <a:ext uri="{FF2B5EF4-FFF2-40B4-BE49-F238E27FC236}">
                  <a16:creationId xmlns:a16="http://schemas.microsoft.com/office/drawing/2014/main" id="{337DD1D8-E79F-B0A8-F5E3-065B569359E7}"/>
                </a:ext>
              </a:extLst>
            </p:cNvPr>
            <p:cNvSpPr/>
            <p:nvPr/>
          </p:nvSpPr>
          <p:spPr>
            <a:xfrm>
              <a:off x="10458000" y="475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763" name="椭圆 762">
              <a:extLst>
                <a:ext uri="{FF2B5EF4-FFF2-40B4-BE49-F238E27FC236}">
                  <a16:creationId xmlns:a16="http://schemas.microsoft.com/office/drawing/2014/main" id="{B009C949-B361-0778-9151-85D616040104}"/>
                </a:ext>
              </a:extLst>
            </p:cNvPr>
            <p:cNvSpPr/>
            <p:nvPr/>
          </p:nvSpPr>
          <p:spPr>
            <a:xfrm>
              <a:off x="10458000" y="421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764" name="椭圆 763">
              <a:extLst>
                <a:ext uri="{FF2B5EF4-FFF2-40B4-BE49-F238E27FC236}">
                  <a16:creationId xmlns:a16="http://schemas.microsoft.com/office/drawing/2014/main" id="{209270DF-6CD2-7D4A-0887-AFBCD70F28BB}"/>
                </a:ext>
              </a:extLst>
            </p:cNvPr>
            <p:cNvSpPr/>
            <p:nvPr/>
          </p:nvSpPr>
          <p:spPr>
            <a:xfrm>
              <a:off x="10332000" y="5544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765" name="椭圆 764">
              <a:extLst>
                <a:ext uri="{FF2B5EF4-FFF2-40B4-BE49-F238E27FC236}">
                  <a16:creationId xmlns:a16="http://schemas.microsoft.com/office/drawing/2014/main" id="{96CA97B2-E8EA-028B-3604-BBD3C926E664}"/>
                </a:ext>
              </a:extLst>
            </p:cNvPr>
            <p:cNvSpPr/>
            <p:nvPr/>
          </p:nvSpPr>
          <p:spPr>
            <a:xfrm>
              <a:off x="10512000" y="5364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766" name="椭圆 765">
              <a:extLst>
                <a:ext uri="{FF2B5EF4-FFF2-40B4-BE49-F238E27FC236}">
                  <a16:creationId xmlns:a16="http://schemas.microsoft.com/office/drawing/2014/main" id="{E676E006-D15F-7795-F3DB-191381CD6C83}"/>
                </a:ext>
              </a:extLst>
            </p:cNvPr>
            <p:cNvSpPr/>
            <p:nvPr/>
          </p:nvSpPr>
          <p:spPr>
            <a:xfrm>
              <a:off x="10188000" y="549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767" name="椭圆 766">
              <a:extLst>
                <a:ext uri="{FF2B5EF4-FFF2-40B4-BE49-F238E27FC236}">
                  <a16:creationId xmlns:a16="http://schemas.microsoft.com/office/drawing/2014/main" id="{6DB706DE-0C80-957A-7847-2F7B7F61C627}"/>
                </a:ext>
              </a:extLst>
            </p:cNvPr>
            <p:cNvSpPr/>
            <p:nvPr/>
          </p:nvSpPr>
          <p:spPr>
            <a:xfrm>
              <a:off x="10332000" y="5364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768" name="文本框 767">
              <a:extLst>
                <a:ext uri="{FF2B5EF4-FFF2-40B4-BE49-F238E27FC236}">
                  <a16:creationId xmlns:a16="http://schemas.microsoft.com/office/drawing/2014/main" id="{89F06C4C-6BF8-01C2-94D4-02AC035F8DD1}"/>
                </a:ext>
              </a:extLst>
            </p:cNvPr>
            <p:cNvSpPr txBox="1"/>
            <p:nvPr/>
          </p:nvSpPr>
          <p:spPr>
            <a:xfrm>
              <a:off x="10260000" y="5382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769" name="椭圆 768">
              <a:extLst>
                <a:ext uri="{FF2B5EF4-FFF2-40B4-BE49-F238E27FC236}">
                  <a16:creationId xmlns:a16="http://schemas.microsoft.com/office/drawing/2014/main" id="{CB3562E7-E584-DBE0-12BE-8674FAC5038E}"/>
                </a:ext>
              </a:extLst>
            </p:cNvPr>
            <p:cNvSpPr/>
            <p:nvPr/>
          </p:nvSpPr>
          <p:spPr>
            <a:xfrm>
              <a:off x="10728000" y="549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770" name="椭圆 769">
              <a:extLst>
                <a:ext uri="{FF2B5EF4-FFF2-40B4-BE49-F238E27FC236}">
                  <a16:creationId xmlns:a16="http://schemas.microsoft.com/office/drawing/2014/main" id="{473B234C-36F9-35BB-5050-908C7C768224}"/>
                </a:ext>
              </a:extLst>
            </p:cNvPr>
            <p:cNvSpPr/>
            <p:nvPr/>
          </p:nvSpPr>
          <p:spPr>
            <a:xfrm>
              <a:off x="10458000" y="576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771" name="椭圆 770">
              <a:extLst>
                <a:ext uri="{FF2B5EF4-FFF2-40B4-BE49-F238E27FC236}">
                  <a16:creationId xmlns:a16="http://schemas.microsoft.com/office/drawing/2014/main" id="{5E992964-ACF8-11F2-F987-57A7F14A4786}"/>
                </a:ext>
              </a:extLst>
            </p:cNvPr>
            <p:cNvSpPr/>
            <p:nvPr/>
          </p:nvSpPr>
          <p:spPr>
            <a:xfrm>
              <a:off x="10458000" y="522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772" name="矩形 771">
              <a:extLst>
                <a:ext uri="{FF2B5EF4-FFF2-40B4-BE49-F238E27FC236}">
                  <a16:creationId xmlns:a16="http://schemas.microsoft.com/office/drawing/2014/main" id="{AE8D4573-D3D6-27AF-19EB-1D4DC02468F9}"/>
                </a:ext>
              </a:extLst>
            </p:cNvPr>
            <p:cNvSpPr/>
            <p:nvPr/>
          </p:nvSpPr>
          <p:spPr>
            <a:xfrm>
              <a:off x="7452000" y="3240000"/>
              <a:ext cx="540000" cy="259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773" name="矩形 772">
              <a:extLst>
                <a:ext uri="{FF2B5EF4-FFF2-40B4-BE49-F238E27FC236}">
                  <a16:creationId xmlns:a16="http://schemas.microsoft.com/office/drawing/2014/main" id="{CDE040DB-B45E-28F9-A073-A99EF372131A}"/>
                </a:ext>
              </a:extLst>
            </p:cNvPr>
            <p:cNvSpPr/>
            <p:nvPr/>
          </p:nvSpPr>
          <p:spPr>
            <a:xfrm>
              <a:off x="11016000" y="3240000"/>
              <a:ext cx="540000" cy="259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774" name="矩形 773">
              <a:extLst>
                <a:ext uri="{FF2B5EF4-FFF2-40B4-BE49-F238E27FC236}">
                  <a16:creationId xmlns:a16="http://schemas.microsoft.com/office/drawing/2014/main" id="{B0231F40-72EA-3EE6-44AC-24552F365B81}"/>
                </a:ext>
              </a:extLst>
            </p:cNvPr>
            <p:cNvSpPr/>
            <p:nvPr/>
          </p:nvSpPr>
          <p:spPr>
            <a:xfrm>
              <a:off x="8208000" y="2484000"/>
              <a:ext cx="2592000" cy="54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775" name="矩形 774">
              <a:extLst>
                <a:ext uri="{FF2B5EF4-FFF2-40B4-BE49-F238E27FC236}">
                  <a16:creationId xmlns:a16="http://schemas.microsoft.com/office/drawing/2014/main" id="{4435D233-A002-9758-A259-44A8C2E76C0F}"/>
                </a:ext>
              </a:extLst>
            </p:cNvPr>
            <p:cNvSpPr/>
            <p:nvPr/>
          </p:nvSpPr>
          <p:spPr>
            <a:xfrm>
              <a:off x="8208000" y="6048000"/>
              <a:ext cx="2592000" cy="54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grpSp>
      <p:sp>
        <p:nvSpPr>
          <p:cNvPr id="4" name="文本框 3">
            <a:extLst>
              <a:ext uri="{FF2B5EF4-FFF2-40B4-BE49-F238E27FC236}">
                <a16:creationId xmlns:a16="http://schemas.microsoft.com/office/drawing/2014/main" id="{7767A347-7131-0219-615F-58E61586A3FA}"/>
              </a:ext>
            </a:extLst>
          </p:cNvPr>
          <p:cNvSpPr txBox="1"/>
          <p:nvPr/>
        </p:nvSpPr>
        <p:spPr>
          <a:xfrm>
            <a:off x="360000" y="828000"/>
            <a:ext cx="10191852" cy="2055306"/>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en-US" altLang="zh-CN" sz="2800" dirty="0">
                <a:solidFill>
                  <a:srgbClr val="002060"/>
                </a:solidFill>
                <a:latin typeface="微软雅黑" panose="020B0503020204020204" pitchFamily="34" charset="-122"/>
                <a:ea typeface="微软雅黑" panose="020B0503020204020204" pitchFamily="34" charset="-122"/>
              </a:rPr>
              <a:t>P </a:t>
            </a:r>
            <a:r>
              <a:rPr kumimoji="1" lang="zh-CN" altLang="en-US" sz="2800" dirty="0">
                <a:solidFill>
                  <a:srgbClr val="002060"/>
                </a:solidFill>
                <a:latin typeface="微软雅黑" panose="020B0503020204020204" pitchFamily="34" charset="-122"/>
                <a:ea typeface="微软雅黑" panose="020B0503020204020204" pitchFamily="34" charset="-122"/>
              </a:rPr>
              <a:t>型半导体：掺入三价杂质元素（受主杂质）</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空穴是多数载流子（多子）：每个杂质元素的原子产生一个空穴，浓度较掺杂前高很多</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自由电子是少数载流子（少子）：本征激发的自由电子远少于空穴</a:t>
            </a:r>
          </a:p>
        </p:txBody>
      </p:sp>
      <p:grpSp>
        <p:nvGrpSpPr>
          <p:cNvPr id="5" name="组合 4">
            <a:extLst>
              <a:ext uri="{FF2B5EF4-FFF2-40B4-BE49-F238E27FC236}">
                <a16:creationId xmlns:a16="http://schemas.microsoft.com/office/drawing/2014/main" id="{6E6288D0-6571-F4BB-7FCC-D3EF64C573D5}"/>
              </a:ext>
            </a:extLst>
          </p:cNvPr>
          <p:cNvGrpSpPr/>
          <p:nvPr/>
        </p:nvGrpSpPr>
        <p:grpSpPr>
          <a:xfrm>
            <a:off x="11449269" y="6198682"/>
            <a:ext cx="786273" cy="548639"/>
            <a:chOff x="11454918" y="5839511"/>
            <a:chExt cx="786273" cy="548639"/>
          </a:xfrm>
        </p:grpSpPr>
        <p:grpSp>
          <p:nvGrpSpPr>
            <p:cNvPr id="6" name="组合 5">
              <a:extLst>
                <a:ext uri="{FF2B5EF4-FFF2-40B4-BE49-F238E27FC236}">
                  <a16:creationId xmlns:a16="http://schemas.microsoft.com/office/drawing/2014/main" id="{397A2868-79BA-1242-EF29-6A1FDF4119A2}"/>
                </a:ext>
              </a:extLst>
            </p:cNvPr>
            <p:cNvGrpSpPr/>
            <p:nvPr/>
          </p:nvGrpSpPr>
          <p:grpSpPr>
            <a:xfrm>
              <a:off x="11454918" y="5867450"/>
              <a:ext cx="737081" cy="520700"/>
              <a:chOff x="11454918" y="5867450"/>
              <a:chExt cx="737081" cy="520700"/>
            </a:xfrm>
          </p:grpSpPr>
          <p:sp>
            <p:nvSpPr>
              <p:cNvPr id="8" name="箭头: 五边形 7">
                <a:extLst>
                  <a:ext uri="{FF2B5EF4-FFF2-40B4-BE49-F238E27FC236}">
                    <a16:creationId xmlns:a16="http://schemas.microsoft.com/office/drawing/2014/main" id="{28882A0B-CE3F-8BA1-4D7D-BEAB08EB123B}"/>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箭头: V 形 8">
                <a:extLst>
                  <a:ext uri="{FF2B5EF4-FFF2-40B4-BE49-F238E27FC236}">
                    <a16:creationId xmlns:a16="http://schemas.microsoft.com/office/drawing/2014/main" id="{0D0F8341-FE73-17D1-323C-EBBE649F951F}"/>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7" name="灯片编号占位符 3">
              <a:extLst>
                <a:ext uri="{FF2B5EF4-FFF2-40B4-BE49-F238E27FC236}">
                  <a16:creationId xmlns:a16="http://schemas.microsoft.com/office/drawing/2014/main" id="{EA67E14C-E4A8-2D02-803C-D109B3F75ECA}"/>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6</a:t>
              </a:fld>
              <a:endParaRPr lang="zh-CN" altLang="en-US" sz="3200" dirty="0">
                <a:solidFill>
                  <a:schemeClr val="bg1"/>
                </a:solidFill>
                <a:latin typeface="Candara"/>
                <a:ea typeface="微软雅黑"/>
              </a:endParaRPr>
            </a:p>
          </p:txBody>
        </p:sp>
      </p:grpSp>
      <p:sp>
        <p:nvSpPr>
          <p:cNvPr id="233" name="文本框 232">
            <a:extLst>
              <a:ext uri="{FF2B5EF4-FFF2-40B4-BE49-F238E27FC236}">
                <a16:creationId xmlns:a16="http://schemas.microsoft.com/office/drawing/2014/main" id="{EF19E64B-BC73-F2AC-E54F-6321158E4307}"/>
              </a:ext>
            </a:extLst>
          </p:cNvPr>
          <p:cNvSpPr txBox="1"/>
          <p:nvPr/>
        </p:nvSpPr>
        <p:spPr>
          <a:xfrm>
            <a:off x="2688557" y="6228000"/>
            <a:ext cx="6814886" cy="497957"/>
          </a:xfrm>
          <a:prstGeom prst="rect">
            <a:avLst/>
          </a:prstGeom>
          <a:noFill/>
        </p:spPr>
        <p:txBody>
          <a:bodyPr wrap="square">
            <a:spAutoFit/>
          </a:bodyPr>
          <a:lstStyle/>
          <a:p>
            <a:pPr>
              <a:lnSpc>
                <a:spcPct val="120000"/>
              </a:lnSpc>
              <a:spcAft>
                <a:spcPts val="600"/>
              </a:spcAft>
            </a:pPr>
            <a:r>
              <a:rPr kumimoji="1" lang="zh-CN" altLang="en-US" sz="2400" dirty="0">
                <a:solidFill>
                  <a:srgbClr val="C00000"/>
                </a:solidFill>
                <a:latin typeface="微软雅黑" panose="020B0503020204020204" pitchFamily="34" charset="-122"/>
                <a:ea typeface="微软雅黑" panose="020B0503020204020204" pitchFamily="34" charset="-122"/>
              </a:rPr>
              <a:t>多子带正电（</a:t>
            </a:r>
            <a:r>
              <a:rPr kumimoji="1" lang="en-US" altLang="zh-CN" sz="2400" dirty="0">
                <a:solidFill>
                  <a:srgbClr val="C00000"/>
                </a:solidFill>
                <a:latin typeface="微软雅黑" panose="020B0503020204020204" pitchFamily="34" charset="-122"/>
                <a:ea typeface="微软雅黑" panose="020B0503020204020204" pitchFamily="34" charset="-122"/>
              </a:rPr>
              <a:t>Positive</a:t>
            </a:r>
            <a:r>
              <a:rPr kumimoji="1" lang="zh-CN" altLang="en-US" sz="2400" dirty="0">
                <a:solidFill>
                  <a:srgbClr val="C00000"/>
                </a:solidFill>
                <a:latin typeface="微软雅黑" panose="020B0503020204020204" pitchFamily="34" charset="-122"/>
                <a:ea typeface="微软雅黑" panose="020B0503020204020204" pitchFamily="34" charset="-122"/>
              </a:rPr>
              <a:t>），故称为 </a:t>
            </a:r>
            <a:r>
              <a:rPr kumimoji="1" lang="en-US" altLang="zh-CN" sz="2400" dirty="0">
                <a:solidFill>
                  <a:srgbClr val="C00000"/>
                </a:solidFill>
                <a:latin typeface="微软雅黑" panose="020B0503020204020204" pitchFamily="34" charset="-122"/>
                <a:ea typeface="微软雅黑" panose="020B0503020204020204" pitchFamily="34" charset="-122"/>
              </a:rPr>
              <a:t>P </a:t>
            </a:r>
            <a:r>
              <a:rPr kumimoji="1" lang="zh-CN" altLang="en-US" sz="2400" dirty="0">
                <a:solidFill>
                  <a:srgbClr val="C00000"/>
                </a:solidFill>
                <a:latin typeface="微软雅黑" panose="020B0503020204020204" pitchFamily="34" charset="-122"/>
                <a:ea typeface="微软雅黑" panose="020B0503020204020204" pitchFamily="34" charset="-122"/>
              </a:rPr>
              <a:t>型半导体</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2" name="标题 1">
            <a:extLst>
              <a:ext uri="{FF2B5EF4-FFF2-40B4-BE49-F238E27FC236}">
                <a16:creationId xmlns:a16="http://schemas.microsoft.com/office/drawing/2014/main" id="{45B54902-31A9-A30E-6C26-F7DECDB82FD7}"/>
              </a:ext>
            </a:extLst>
          </p:cNvPr>
          <p:cNvSpPr txBox="1">
            <a:spLocks/>
          </p:cNvSpPr>
          <p:nvPr/>
        </p:nvSpPr>
        <p:spPr>
          <a:xfrm>
            <a:off x="360000" y="0"/>
            <a:ext cx="11826000" cy="548639"/>
          </a:xfrm>
          <a:prstGeom prst="rect">
            <a:avLst/>
          </a:prstGeom>
        </p:spPr>
        <p:txBody>
          <a:bodyPr anchor="b">
            <a:normAutofit/>
          </a:bodyPr>
          <a:lstStyle>
            <a:defPPr>
              <a:defRPr lang="zh-CN"/>
            </a:defPPr>
            <a:lvl1pPr marL="0" algn="l" defTabSz="914400" rtl="0" eaLnBrk="1" latinLnBrk="0" hangingPunct="1">
              <a:lnSpc>
                <a:spcPct val="90000"/>
              </a:lnSpc>
              <a:spcBef>
                <a:spcPct val="0"/>
              </a:spcBef>
              <a:buNone/>
              <a:defRPr sz="3200" b="1" kern="1200">
                <a:solidFill>
                  <a:schemeClr val="bg1"/>
                </a:solidFill>
                <a:latin typeface="微软雅黑" panose="020B0503020204020204" pitchFamily="34" charset="-122"/>
                <a:ea typeface="微软雅黑" panose="020B0503020204020204" pitchFamily="34" charset="-122"/>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000" dirty="0"/>
              <a:t>半导体的基本知识 </a:t>
            </a:r>
            <a:r>
              <a:rPr lang="en-US" altLang="zh-CN" sz="3000" dirty="0"/>
              <a:t>—— </a:t>
            </a:r>
            <a:r>
              <a:rPr lang="zh-CN" altLang="en-US" sz="3000" dirty="0">
                <a:solidFill>
                  <a:srgbClr val="FFFF00"/>
                </a:solidFill>
              </a:rPr>
              <a:t>杂质半导体</a:t>
            </a:r>
            <a:endParaRPr lang="en-US" altLang="zh-CN" sz="3000" dirty="0"/>
          </a:p>
        </p:txBody>
      </p:sp>
      <p:cxnSp>
        <p:nvCxnSpPr>
          <p:cNvPr id="719" name="直接箭头连接符 718">
            <a:extLst>
              <a:ext uri="{FF2B5EF4-FFF2-40B4-BE49-F238E27FC236}">
                <a16:creationId xmlns:a16="http://schemas.microsoft.com/office/drawing/2014/main" id="{A0B50699-F3A9-A19C-D9A6-2763A7A04504}"/>
              </a:ext>
            </a:extLst>
          </p:cNvPr>
          <p:cNvCxnSpPr>
            <a:cxnSpLocks/>
          </p:cNvCxnSpPr>
          <p:nvPr/>
        </p:nvCxnSpPr>
        <p:spPr>
          <a:xfrm>
            <a:off x="7992000" y="4318331"/>
            <a:ext cx="576000" cy="216000"/>
          </a:xfrm>
          <a:prstGeom prst="straightConnector1">
            <a:avLst/>
          </a:prstGeom>
          <a:ln w="25400">
            <a:solidFill>
              <a:srgbClr val="FF0000"/>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sp>
        <p:nvSpPr>
          <p:cNvPr id="722" name="弧形 721">
            <a:extLst>
              <a:ext uri="{FF2B5EF4-FFF2-40B4-BE49-F238E27FC236}">
                <a16:creationId xmlns:a16="http://schemas.microsoft.com/office/drawing/2014/main" id="{F203CB62-6C5A-BB8B-24DE-71B6F9850120}"/>
              </a:ext>
            </a:extLst>
          </p:cNvPr>
          <p:cNvSpPr/>
          <p:nvPr/>
        </p:nvSpPr>
        <p:spPr>
          <a:xfrm rot="21000000">
            <a:off x="7560000" y="4032000"/>
            <a:ext cx="2700000" cy="648000"/>
          </a:xfrm>
          <a:prstGeom prst="arc">
            <a:avLst>
              <a:gd name="adj1" fmla="val 11727400"/>
              <a:gd name="adj2" fmla="val 20811251"/>
            </a:avLst>
          </a:prstGeom>
          <a:ln w="19050">
            <a:solidFill>
              <a:srgbClr val="0000FF"/>
            </a:solidFill>
            <a:headEnd type="none"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23" name="Text Box 9">
            <a:extLst>
              <a:ext uri="{FF2B5EF4-FFF2-40B4-BE49-F238E27FC236}">
                <a16:creationId xmlns:a16="http://schemas.microsoft.com/office/drawing/2014/main" id="{DA0C6DE0-E44A-D81E-8C92-4B0BA2C6AE58}"/>
              </a:ext>
            </a:extLst>
          </p:cNvPr>
          <p:cNvSpPr txBox="1">
            <a:spLocks noChangeArrowheads="1"/>
          </p:cNvSpPr>
          <p:nvPr/>
        </p:nvSpPr>
        <p:spPr bwMode="auto">
          <a:xfrm>
            <a:off x="9863999" y="3672000"/>
            <a:ext cx="2088000"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zh-CN" altLang="en-US" sz="1800" b="0" dirty="0">
                <a:solidFill>
                  <a:srgbClr val="0000FF"/>
                </a:solidFill>
                <a:latin typeface="Microsoft YaHei" panose="020B0503020204020204" pitchFamily="34" charset="-122"/>
                <a:ea typeface="Microsoft YaHei" panose="020B0503020204020204" pitchFamily="34" charset="-122"/>
              </a:rPr>
              <a:t>受主获得一个电子而形成一个负离子</a:t>
            </a:r>
          </a:p>
        </p:txBody>
      </p:sp>
      <p:sp>
        <p:nvSpPr>
          <p:cNvPr id="724" name="弧形 723">
            <a:extLst>
              <a:ext uri="{FF2B5EF4-FFF2-40B4-BE49-F238E27FC236}">
                <a16:creationId xmlns:a16="http://schemas.microsoft.com/office/drawing/2014/main" id="{CA797391-27B5-0161-4CB7-32304EB0D844}"/>
              </a:ext>
            </a:extLst>
          </p:cNvPr>
          <p:cNvSpPr/>
          <p:nvPr/>
        </p:nvSpPr>
        <p:spPr>
          <a:xfrm rot="1624303">
            <a:off x="8604000" y="4536000"/>
            <a:ext cx="1620000" cy="720000"/>
          </a:xfrm>
          <a:prstGeom prst="arc">
            <a:avLst>
              <a:gd name="adj1" fmla="val 1447547"/>
              <a:gd name="adj2" fmla="val 10256415"/>
            </a:avLst>
          </a:prstGeom>
          <a:ln w="19050">
            <a:solidFill>
              <a:srgbClr val="0000FF"/>
            </a:solidFill>
            <a:headEnd type="none"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25" name="Text Box 9">
            <a:extLst>
              <a:ext uri="{FF2B5EF4-FFF2-40B4-BE49-F238E27FC236}">
                <a16:creationId xmlns:a16="http://schemas.microsoft.com/office/drawing/2014/main" id="{B371D457-76FE-6065-25AC-B90906077C4F}"/>
              </a:ext>
            </a:extLst>
          </p:cNvPr>
          <p:cNvSpPr txBox="1">
            <a:spLocks noChangeArrowheads="1"/>
          </p:cNvSpPr>
          <p:nvPr/>
        </p:nvSpPr>
        <p:spPr bwMode="auto">
          <a:xfrm>
            <a:off x="9863999" y="4896000"/>
            <a:ext cx="2088000" cy="936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zh-CN" altLang="en-US" sz="1800" b="0" dirty="0">
                <a:solidFill>
                  <a:srgbClr val="0000FF"/>
                </a:solidFill>
                <a:latin typeface="Microsoft YaHei" panose="020B0503020204020204" pitchFamily="34" charset="-122"/>
                <a:ea typeface="Microsoft YaHei" panose="020B0503020204020204" pitchFamily="34" charset="-122"/>
              </a:rPr>
              <a:t>邻近共价键的电子落入受主的空穴，等于空穴移动了</a:t>
            </a:r>
          </a:p>
        </p:txBody>
      </p:sp>
    </p:spTree>
    <p:extLst>
      <p:ext uri="{BB962C8B-B14F-4D97-AF65-F5344CB8AC3E}">
        <p14:creationId xmlns:p14="http://schemas.microsoft.com/office/powerpoint/2010/main" val="4197330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6ABAC6-2A2A-799B-0890-F5AE82418517}"/>
            </a:ext>
          </a:extLst>
        </p:cNvPr>
        <p:cNvGrpSpPr/>
        <p:nvPr/>
      </p:nvGrpSpPr>
      <p:grpSpPr>
        <a:xfrm>
          <a:off x="0" y="0"/>
          <a:ext cx="0" cy="0"/>
          <a:chOff x="0" y="0"/>
          <a:chExt cx="0" cy="0"/>
        </a:xfrm>
      </p:grpSpPr>
      <p:grpSp>
        <p:nvGrpSpPr>
          <p:cNvPr id="551" name="组合 550">
            <a:extLst>
              <a:ext uri="{FF2B5EF4-FFF2-40B4-BE49-F238E27FC236}">
                <a16:creationId xmlns:a16="http://schemas.microsoft.com/office/drawing/2014/main" id="{723BF7E7-5457-525E-A9AA-F37E503AE759}"/>
              </a:ext>
            </a:extLst>
          </p:cNvPr>
          <p:cNvGrpSpPr/>
          <p:nvPr/>
        </p:nvGrpSpPr>
        <p:grpSpPr>
          <a:xfrm>
            <a:off x="5868000" y="2520000"/>
            <a:ext cx="4104000" cy="4104000"/>
            <a:chOff x="720000" y="2520000"/>
            <a:chExt cx="4104000" cy="4104000"/>
          </a:xfrm>
        </p:grpSpPr>
        <p:sp>
          <p:nvSpPr>
            <p:cNvPr id="552" name="椭圆 551">
              <a:extLst>
                <a:ext uri="{FF2B5EF4-FFF2-40B4-BE49-F238E27FC236}">
                  <a16:creationId xmlns:a16="http://schemas.microsoft.com/office/drawing/2014/main" id="{582A6CCE-6084-2DAE-5714-4C54E454824B}"/>
                </a:ext>
              </a:extLst>
            </p:cNvPr>
            <p:cNvSpPr/>
            <p:nvPr/>
          </p:nvSpPr>
          <p:spPr>
            <a:xfrm>
              <a:off x="756000" y="3384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54" name="椭圆 553">
              <a:extLst>
                <a:ext uri="{FF2B5EF4-FFF2-40B4-BE49-F238E27FC236}">
                  <a16:creationId xmlns:a16="http://schemas.microsoft.com/office/drawing/2014/main" id="{34023856-90EC-F4B8-05E4-77992D15785F}"/>
                </a:ext>
              </a:extLst>
            </p:cNvPr>
            <p:cNvSpPr/>
            <p:nvPr/>
          </p:nvSpPr>
          <p:spPr>
            <a:xfrm>
              <a:off x="756000" y="4392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55" name="椭圆 554">
              <a:extLst>
                <a:ext uri="{FF2B5EF4-FFF2-40B4-BE49-F238E27FC236}">
                  <a16:creationId xmlns:a16="http://schemas.microsoft.com/office/drawing/2014/main" id="{4D85911D-A515-6417-F88F-E15195CC160C}"/>
                </a:ext>
              </a:extLst>
            </p:cNvPr>
            <p:cNvSpPr/>
            <p:nvPr/>
          </p:nvSpPr>
          <p:spPr>
            <a:xfrm>
              <a:off x="756000" y="5400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56" name="椭圆 555">
              <a:extLst>
                <a:ext uri="{FF2B5EF4-FFF2-40B4-BE49-F238E27FC236}">
                  <a16:creationId xmlns:a16="http://schemas.microsoft.com/office/drawing/2014/main" id="{AD793648-B3DD-ADB0-5085-4E473E1C7645}"/>
                </a:ext>
              </a:extLst>
            </p:cNvPr>
            <p:cNvSpPr/>
            <p:nvPr/>
          </p:nvSpPr>
          <p:spPr>
            <a:xfrm>
              <a:off x="1584000" y="3564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57" name="椭圆 556">
              <a:extLst>
                <a:ext uri="{FF2B5EF4-FFF2-40B4-BE49-F238E27FC236}">
                  <a16:creationId xmlns:a16="http://schemas.microsoft.com/office/drawing/2014/main" id="{338E858F-54BF-3DB5-3E34-5669E357F1F7}"/>
                </a:ext>
              </a:extLst>
            </p:cNvPr>
            <p:cNvSpPr/>
            <p:nvPr/>
          </p:nvSpPr>
          <p:spPr>
            <a:xfrm>
              <a:off x="1584000" y="2556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58" name="椭圆 557">
              <a:extLst>
                <a:ext uri="{FF2B5EF4-FFF2-40B4-BE49-F238E27FC236}">
                  <a16:creationId xmlns:a16="http://schemas.microsoft.com/office/drawing/2014/main" id="{7CABE3BE-9A10-223E-CDD1-644A1E623DE2}"/>
                </a:ext>
              </a:extLst>
            </p:cNvPr>
            <p:cNvSpPr/>
            <p:nvPr/>
          </p:nvSpPr>
          <p:spPr>
            <a:xfrm>
              <a:off x="1764000" y="3384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59" name="椭圆 558">
              <a:extLst>
                <a:ext uri="{FF2B5EF4-FFF2-40B4-BE49-F238E27FC236}">
                  <a16:creationId xmlns:a16="http://schemas.microsoft.com/office/drawing/2014/main" id="{F9891966-B1B9-EE21-C6A2-016F296938DC}"/>
                </a:ext>
              </a:extLst>
            </p:cNvPr>
            <p:cNvSpPr/>
            <p:nvPr/>
          </p:nvSpPr>
          <p:spPr>
            <a:xfrm>
              <a:off x="1440000" y="351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60" name="椭圆 559">
              <a:extLst>
                <a:ext uri="{FF2B5EF4-FFF2-40B4-BE49-F238E27FC236}">
                  <a16:creationId xmlns:a16="http://schemas.microsoft.com/office/drawing/2014/main" id="{A49F03A0-30AE-1705-3D3A-0C9D8F15723D}"/>
                </a:ext>
              </a:extLst>
            </p:cNvPr>
            <p:cNvSpPr/>
            <p:nvPr/>
          </p:nvSpPr>
          <p:spPr>
            <a:xfrm>
              <a:off x="1584000" y="3384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561" name="文本框 560">
              <a:extLst>
                <a:ext uri="{FF2B5EF4-FFF2-40B4-BE49-F238E27FC236}">
                  <a16:creationId xmlns:a16="http://schemas.microsoft.com/office/drawing/2014/main" id="{F364CF37-DA54-520B-687C-B74B3D6AB3C7}"/>
                </a:ext>
              </a:extLst>
            </p:cNvPr>
            <p:cNvSpPr txBox="1"/>
            <p:nvPr/>
          </p:nvSpPr>
          <p:spPr>
            <a:xfrm>
              <a:off x="1512000" y="3402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562" name="椭圆 561">
              <a:extLst>
                <a:ext uri="{FF2B5EF4-FFF2-40B4-BE49-F238E27FC236}">
                  <a16:creationId xmlns:a16="http://schemas.microsoft.com/office/drawing/2014/main" id="{82CAF1DA-2672-C747-C36C-8926BC184C88}"/>
                </a:ext>
              </a:extLst>
            </p:cNvPr>
            <p:cNvSpPr/>
            <p:nvPr/>
          </p:nvSpPr>
          <p:spPr>
            <a:xfrm>
              <a:off x="1980000" y="351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63" name="椭圆 562">
              <a:extLst>
                <a:ext uri="{FF2B5EF4-FFF2-40B4-BE49-F238E27FC236}">
                  <a16:creationId xmlns:a16="http://schemas.microsoft.com/office/drawing/2014/main" id="{52A2B021-5D1D-857C-82A9-F447D944B387}"/>
                </a:ext>
              </a:extLst>
            </p:cNvPr>
            <p:cNvSpPr/>
            <p:nvPr/>
          </p:nvSpPr>
          <p:spPr>
            <a:xfrm>
              <a:off x="1710000" y="378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64" name="椭圆 563">
              <a:extLst>
                <a:ext uri="{FF2B5EF4-FFF2-40B4-BE49-F238E27FC236}">
                  <a16:creationId xmlns:a16="http://schemas.microsoft.com/office/drawing/2014/main" id="{BCFD6218-4D36-6812-D999-190941824F5F}"/>
                </a:ext>
              </a:extLst>
            </p:cNvPr>
            <p:cNvSpPr/>
            <p:nvPr/>
          </p:nvSpPr>
          <p:spPr>
            <a:xfrm>
              <a:off x="1710000" y="324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65" name="椭圆 564">
              <a:extLst>
                <a:ext uri="{FF2B5EF4-FFF2-40B4-BE49-F238E27FC236}">
                  <a16:creationId xmlns:a16="http://schemas.microsoft.com/office/drawing/2014/main" id="{3FEE2498-969E-4519-0354-A5DB3B7294EE}"/>
                </a:ext>
              </a:extLst>
            </p:cNvPr>
            <p:cNvSpPr/>
            <p:nvPr/>
          </p:nvSpPr>
          <p:spPr>
            <a:xfrm>
              <a:off x="1584000" y="4572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66" name="椭圆 565">
              <a:extLst>
                <a:ext uri="{FF2B5EF4-FFF2-40B4-BE49-F238E27FC236}">
                  <a16:creationId xmlns:a16="http://schemas.microsoft.com/office/drawing/2014/main" id="{C51679C4-DFE5-DD9A-5878-F1908A3B5645}"/>
                </a:ext>
              </a:extLst>
            </p:cNvPr>
            <p:cNvSpPr/>
            <p:nvPr/>
          </p:nvSpPr>
          <p:spPr>
            <a:xfrm>
              <a:off x="1764000" y="4392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67" name="椭圆 566">
              <a:extLst>
                <a:ext uri="{FF2B5EF4-FFF2-40B4-BE49-F238E27FC236}">
                  <a16:creationId xmlns:a16="http://schemas.microsoft.com/office/drawing/2014/main" id="{42B4D115-B2E6-D30A-3C9A-8B668D99E24F}"/>
                </a:ext>
              </a:extLst>
            </p:cNvPr>
            <p:cNvSpPr/>
            <p:nvPr/>
          </p:nvSpPr>
          <p:spPr>
            <a:xfrm>
              <a:off x="1440000" y="4518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68" name="椭圆 567">
              <a:extLst>
                <a:ext uri="{FF2B5EF4-FFF2-40B4-BE49-F238E27FC236}">
                  <a16:creationId xmlns:a16="http://schemas.microsoft.com/office/drawing/2014/main" id="{F56A3B90-266A-3D0F-97B8-F17763962744}"/>
                </a:ext>
              </a:extLst>
            </p:cNvPr>
            <p:cNvSpPr/>
            <p:nvPr/>
          </p:nvSpPr>
          <p:spPr>
            <a:xfrm>
              <a:off x="1584000" y="4392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569" name="文本框 568">
              <a:extLst>
                <a:ext uri="{FF2B5EF4-FFF2-40B4-BE49-F238E27FC236}">
                  <a16:creationId xmlns:a16="http://schemas.microsoft.com/office/drawing/2014/main" id="{B6507AD3-82A8-B637-8455-080830D2A00F}"/>
                </a:ext>
              </a:extLst>
            </p:cNvPr>
            <p:cNvSpPr txBox="1"/>
            <p:nvPr/>
          </p:nvSpPr>
          <p:spPr>
            <a:xfrm>
              <a:off x="1512000" y="4410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570" name="椭圆 569">
              <a:extLst>
                <a:ext uri="{FF2B5EF4-FFF2-40B4-BE49-F238E27FC236}">
                  <a16:creationId xmlns:a16="http://schemas.microsoft.com/office/drawing/2014/main" id="{EBE91608-0898-91AF-7DF6-46E09D019561}"/>
                </a:ext>
              </a:extLst>
            </p:cNvPr>
            <p:cNvSpPr/>
            <p:nvPr/>
          </p:nvSpPr>
          <p:spPr>
            <a:xfrm>
              <a:off x="1980000" y="4518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71" name="椭圆 570">
              <a:extLst>
                <a:ext uri="{FF2B5EF4-FFF2-40B4-BE49-F238E27FC236}">
                  <a16:creationId xmlns:a16="http://schemas.microsoft.com/office/drawing/2014/main" id="{6E0B803A-93D4-8A1A-8310-EBBF8A1F0635}"/>
                </a:ext>
              </a:extLst>
            </p:cNvPr>
            <p:cNvSpPr/>
            <p:nvPr/>
          </p:nvSpPr>
          <p:spPr>
            <a:xfrm>
              <a:off x="1710000" y="4788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72" name="椭圆 571">
              <a:extLst>
                <a:ext uri="{FF2B5EF4-FFF2-40B4-BE49-F238E27FC236}">
                  <a16:creationId xmlns:a16="http://schemas.microsoft.com/office/drawing/2014/main" id="{5D85161A-DD3D-E4DE-74C6-CABA28A66640}"/>
                </a:ext>
              </a:extLst>
            </p:cNvPr>
            <p:cNvSpPr/>
            <p:nvPr/>
          </p:nvSpPr>
          <p:spPr>
            <a:xfrm>
              <a:off x="1710000" y="4248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73" name="椭圆 572">
              <a:extLst>
                <a:ext uri="{FF2B5EF4-FFF2-40B4-BE49-F238E27FC236}">
                  <a16:creationId xmlns:a16="http://schemas.microsoft.com/office/drawing/2014/main" id="{CA44118E-2DFC-5B75-BD83-CF39A5DAC17E}"/>
                </a:ext>
              </a:extLst>
            </p:cNvPr>
            <p:cNvSpPr/>
            <p:nvPr/>
          </p:nvSpPr>
          <p:spPr>
            <a:xfrm>
              <a:off x="1584000" y="5580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74" name="椭圆 573">
              <a:extLst>
                <a:ext uri="{FF2B5EF4-FFF2-40B4-BE49-F238E27FC236}">
                  <a16:creationId xmlns:a16="http://schemas.microsoft.com/office/drawing/2014/main" id="{DBA7C2B9-C7BD-6526-113B-94F162CE8C5B}"/>
                </a:ext>
              </a:extLst>
            </p:cNvPr>
            <p:cNvSpPr/>
            <p:nvPr/>
          </p:nvSpPr>
          <p:spPr>
            <a:xfrm>
              <a:off x="1764000" y="5400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75" name="椭圆 574">
              <a:extLst>
                <a:ext uri="{FF2B5EF4-FFF2-40B4-BE49-F238E27FC236}">
                  <a16:creationId xmlns:a16="http://schemas.microsoft.com/office/drawing/2014/main" id="{309DB7E2-A844-6457-FFB6-EABB3FD38A31}"/>
                </a:ext>
              </a:extLst>
            </p:cNvPr>
            <p:cNvSpPr/>
            <p:nvPr/>
          </p:nvSpPr>
          <p:spPr>
            <a:xfrm>
              <a:off x="1440000" y="552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76" name="椭圆 575">
              <a:extLst>
                <a:ext uri="{FF2B5EF4-FFF2-40B4-BE49-F238E27FC236}">
                  <a16:creationId xmlns:a16="http://schemas.microsoft.com/office/drawing/2014/main" id="{7A59208C-B7F8-02A3-601A-70C5136B120E}"/>
                </a:ext>
              </a:extLst>
            </p:cNvPr>
            <p:cNvSpPr/>
            <p:nvPr/>
          </p:nvSpPr>
          <p:spPr>
            <a:xfrm>
              <a:off x="1584000" y="5400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577" name="文本框 576">
              <a:extLst>
                <a:ext uri="{FF2B5EF4-FFF2-40B4-BE49-F238E27FC236}">
                  <a16:creationId xmlns:a16="http://schemas.microsoft.com/office/drawing/2014/main" id="{9A5376B5-14A6-18D8-89D0-58C40ECFC963}"/>
                </a:ext>
              </a:extLst>
            </p:cNvPr>
            <p:cNvSpPr txBox="1"/>
            <p:nvPr/>
          </p:nvSpPr>
          <p:spPr>
            <a:xfrm>
              <a:off x="1512000" y="5418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578" name="椭圆 577">
              <a:extLst>
                <a:ext uri="{FF2B5EF4-FFF2-40B4-BE49-F238E27FC236}">
                  <a16:creationId xmlns:a16="http://schemas.microsoft.com/office/drawing/2014/main" id="{FD2C840D-9EFB-3CBF-86FB-7A8447119FA7}"/>
                </a:ext>
              </a:extLst>
            </p:cNvPr>
            <p:cNvSpPr/>
            <p:nvPr/>
          </p:nvSpPr>
          <p:spPr>
            <a:xfrm>
              <a:off x="1980000" y="552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79" name="椭圆 578">
              <a:extLst>
                <a:ext uri="{FF2B5EF4-FFF2-40B4-BE49-F238E27FC236}">
                  <a16:creationId xmlns:a16="http://schemas.microsoft.com/office/drawing/2014/main" id="{76A829F0-0D1D-D613-F780-7DEBA223349E}"/>
                </a:ext>
              </a:extLst>
            </p:cNvPr>
            <p:cNvSpPr/>
            <p:nvPr/>
          </p:nvSpPr>
          <p:spPr>
            <a:xfrm>
              <a:off x="1710000" y="579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80" name="椭圆 579">
              <a:extLst>
                <a:ext uri="{FF2B5EF4-FFF2-40B4-BE49-F238E27FC236}">
                  <a16:creationId xmlns:a16="http://schemas.microsoft.com/office/drawing/2014/main" id="{BE1AB0EB-A91D-C509-2DD0-E8C79EFB8C1D}"/>
                </a:ext>
              </a:extLst>
            </p:cNvPr>
            <p:cNvSpPr/>
            <p:nvPr/>
          </p:nvSpPr>
          <p:spPr>
            <a:xfrm>
              <a:off x="1710000" y="525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81" name="椭圆 580">
              <a:extLst>
                <a:ext uri="{FF2B5EF4-FFF2-40B4-BE49-F238E27FC236}">
                  <a16:creationId xmlns:a16="http://schemas.microsoft.com/office/drawing/2014/main" id="{00325440-AF36-E44C-1C92-56F9BD8F9F1B}"/>
                </a:ext>
              </a:extLst>
            </p:cNvPr>
            <p:cNvSpPr/>
            <p:nvPr/>
          </p:nvSpPr>
          <p:spPr>
            <a:xfrm>
              <a:off x="2592000" y="3564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82" name="椭圆 581">
              <a:extLst>
                <a:ext uri="{FF2B5EF4-FFF2-40B4-BE49-F238E27FC236}">
                  <a16:creationId xmlns:a16="http://schemas.microsoft.com/office/drawing/2014/main" id="{99625D1E-130E-F7D9-2434-DC80B4B215CC}"/>
                </a:ext>
              </a:extLst>
            </p:cNvPr>
            <p:cNvSpPr/>
            <p:nvPr/>
          </p:nvSpPr>
          <p:spPr>
            <a:xfrm>
              <a:off x="2592000" y="2556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83" name="椭圆 582">
              <a:extLst>
                <a:ext uri="{FF2B5EF4-FFF2-40B4-BE49-F238E27FC236}">
                  <a16:creationId xmlns:a16="http://schemas.microsoft.com/office/drawing/2014/main" id="{CEBFA1B8-284B-824E-4B43-B06EBB81A2F1}"/>
                </a:ext>
              </a:extLst>
            </p:cNvPr>
            <p:cNvSpPr/>
            <p:nvPr/>
          </p:nvSpPr>
          <p:spPr>
            <a:xfrm>
              <a:off x="2772000" y="3384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84" name="椭圆 583">
              <a:extLst>
                <a:ext uri="{FF2B5EF4-FFF2-40B4-BE49-F238E27FC236}">
                  <a16:creationId xmlns:a16="http://schemas.microsoft.com/office/drawing/2014/main" id="{55D87B73-1E82-9FEB-C3C7-47A068C13BF5}"/>
                </a:ext>
              </a:extLst>
            </p:cNvPr>
            <p:cNvSpPr/>
            <p:nvPr/>
          </p:nvSpPr>
          <p:spPr>
            <a:xfrm>
              <a:off x="2448000" y="351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85" name="椭圆 584">
              <a:extLst>
                <a:ext uri="{FF2B5EF4-FFF2-40B4-BE49-F238E27FC236}">
                  <a16:creationId xmlns:a16="http://schemas.microsoft.com/office/drawing/2014/main" id="{105EDB03-5EE5-D168-5E7A-729C2E00AC2F}"/>
                </a:ext>
              </a:extLst>
            </p:cNvPr>
            <p:cNvSpPr/>
            <p:nvPr/>
          </p:nvSpPr>
          <p:spPr>
            <a:xfrm>
              <a:off x="2592000" y="3384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586" name="文本框 585">
              <a:extLst>
                <a:ext uri="{FF2B5EF4-FFF2-40B4-BE49-F238E27FC236}">
                  <a16:creationId xmlns:a16="http://schemas.microsoft.com/office/drawing/2014/main" id="{398021F3-A307-FAF5-3652-DA52CD5B468E}"/>
                </a:ext>
              </a:extLst>
            </p:cNvPr>
            <p:cNvSpPr txBox="1"/>
            <p:nvPr/>
          </p:nvSpPr>
          <p:spPr>
            <a:xfrm>
              <a:off x="2520000" y="3402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587" name="椭圆 586">
              <a:extLst>
                <a:ext uri="{FF2B5EF4-FFF2-40B4-BE49-F238E27FC236}">
                  <a16:creationId xmlns:a16="http://schemas.microsoft.com/office/drawing/2014/main" id="{6289E529-494E-1C09-0B1A-39123BE52A07}"/>
                </a:ext>
              </a:extLst>
            </p:cNvPr>
            <p:cNvSpPr/>
            <p:nvPr/>
          </p:nvSpPr>
          <p:spPr>
            <a:xfrm>
              <a:off x="2988000" y="351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88" name="椭圆 587">
              <a:extLst>
                <a:ext uri="{FF2B5EF4-FFF2-40B4-BE49-F238E27FC236}">
                  <a16:creationId xmlns:a16="http://schemas.microsoft.com/office/drawing/2014/main" id="{2AE87D52-8C94-FE55-84EB-7F5DE85F91A4}"/>
                </a:ext>
              </a:extLst>
            </p:cNvPr>
            <p:cNvSpPr/>
            <p:nvPr/>
          </p:nvSpPr>
          <p:spPr>
            <a:xfrm>
              <a:off x="2718000" y="378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89" name="椭圆 588">
              <a:extLst>
                <a:ext uri="{FF2B5EF4-FFF2-40B4-BE49-F238E27FC236}">
                  <a16:creationId xmlns:a16="http://schemas.microsoft.com/office/drawing/2014/main" id="{B1419A1F-4DF9-75B0-436E-02754D122A7C}"/>
                </a:ext>
              </a:extLst>
            </p:cNvPr>
            <p:cNvSpPr/>
            <p:nvPr/>
          </p:nvSpPr>
          <p:spPr>
            <a:xfrm>
              <a:off x="2718000" y="324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90" name="椭圆 589">
              <a:extLst>
                <a:ext uri="{FF2B5EF4-FFF2-40B4-BE49-F238E27FC236}">
                  <a16:creationId xmlns:a16="http://schemas.microsoft.com/office/drawing/2014/main" id="{2D5C5E05-B24E-B102-6D73-45AF5CE2C99A}"/>
                </a:ext>
              </a:extLst>
            </p:cNvPr>
            <p:cNvSpPr/>
            <p:nvPr/>
          </p:nvSpPr>
          <p:spPr>
            <a:xfrm>
              <a:off x="2592000" y="4572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91" name="椭圆 590">
              <a:extLst>
                <a:ext uri="{FF2B5EF4-FFF2-40B4-BE49-F238E27FC236}">
                  <a16:creationId xmlns:a16="http://schemas.microsoft.com/office/drawing/2014/main" id="{6B80CC8F-687C-D0AF-2E7B-A4CF12B344D6}"/>
                </a:ext>
              </a:extLst>
            </p:cNvPr>
            <p:cNvSpPr/>
            <p:nvPr/>
          </p:nvSpPr>
          <p:spPr>
            <a:xfrm>
              <a:off x="2772000" y="4392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92" name="椭圆 591">
              <a:extLst>
                <a:ext uri="{FF2B5EF4-FFF2-40B4-BE49-F238E27FC236}">
                  <a16:creationId xmlns:a16="http://schemas.microsoft.com/office/drawing/2014/main" id="{392D6444-3AE0-6A6B-AC95-AAC039EE0FF5}"/>
                </a:ext>
              </a:extLst>
            </p:cNvPr>
            <p:cNvSpPr/>
            <p:nvPr/>
          </p:nvSpPr>
          <p:spPr>
            <a:xfrm>
              <a:off x="2448000" y="4518000"/>
              <a:ext cx="108000" cy="108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93" name="椭圆 592">
              <a:extLst>
                <a:ext uri="{FF2B5EF4-FFF2-40B4-BE49-F238E27FC236}">
                  <a16:creationId xmlns:a16="http://schemas.microsoft.com/office/drawing/2014/main" id="{A013BEA7-6142-BE33-4388-CDBD74775221}"/>
                </a:ext>
              </a:extLst>
            </p:cNvPr>
            <p:cNvSpPr/>
            <p:nvPr/>
          </p:nvSpPr>
          <p:spPr>
            <a:xfrm>
              <a:off x="2592000" y="4392000"/>
              <a:ext cx="360000" cy="360000"/>
            </a:xfrm>
            <a:prstGeom prst="ellipse">
              <a:avLst/>
            </a:prstGeom>
            <a:solidFill>
              <a:schemeClr val="accent4"/>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594" name="文本框 593">
              <a:extLst>
                <a:ext uri="{FF2B5EF4-FFF2-40B4-BE49-F238E27FC236}">
                  <a16:creationId xmlns:a16="http://schemas.microsoft.com/office/drawing/2014/main" id="{26B39F31-67F2-DCAE-0926-E1CCC0A0860F}"/>
                </a:ext>
              </a:extLst>
            </p:cNvPr>
            <p:cNvSpPr txBox="1"/>
            <p:nvPr/>
          </p:nvSpPr>
          <p:spPr>
            <a:xfrm>
              <a:off x="2520000" y="4409998"/>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+5</a:t>
              </a:r>
              <a:endParaRPr lang="zh-CN" altLang="en-US" sz="1500" b="1" dirty="0">
                <a:latin typeface="微软雅黑" panose="020B0503020204020204" pitchFamily="34" charset="-122"/>
                <a:ea typeface="微软雅黑" panose="020B0503020204020204" pitchFamily="34" charset="-122"/>
              </a:endParaRPr>
            </a:p>
          </p:txBody>
        </p:sp>
        <p:sp>
          <p:nvSpPr>
            <p:cNvPr id="595" name="椭圆 594">
              <a:extLst>
                <a:ext uri="{FF2B5EF4-FFF2-40B4-BE49-F238E27FC236}">
                  <a16:creationId xmlns:a16="http://schemas.microsoft.com/office/drawing/2014/main" id="{324B9CEE-DFBB-02B2-B5D3-258C4C76253D}"/>
                </a:ext>
              </a:extLst>
            </p:cNvPr>
            <p:cNvSpPr/>
            <p:nvPr/>
          </p:nvSpPr>
          <p:spPr>
            <a:xfrm>
              <a:off x="2988000" y="4518000"/>
              <a:ext cx="108000" cy="108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96" name="椭圆 595">
              <a:extLst>
                <a:ext uri="{FF2B5EF4-FFF2-40B4-BE49-F238E27FC236}">
                  <a16:creationId xmlns:a16="http://schemas.microsoft.com/office/drawing/2014/main" id="{F5B13F37-C74E-F6CA-91DD-492F488FE5FC}"/>
                </a:ext>
              </a:extLst>
            </p:cNvPr>
            <p:cNvSpPr/>
            <p:nvPr/>
          </p:nvSpPr>
          <p:spPr>
            <a:xfrm>
              <a:off x="2718000" y="4788000"/>
              <a:ext cx="108000" cy="108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97" name="椭圆 596">
              <a:extLst>
                <a:ext uri="{FF2B5EF4-FFF2-40B4-BE49-F238E27FC236}">
                  <a16:creationId xmlns:a16="http://schemas.microsoft.com/office/drawing/2014/main" id="{857051DE-7DF1-2812-8298-572EFD68B5B3}"/>
                </a:ext>
              </a:extLst>
            </p:cNvPr>
            <p:cNvSpPr/>
            <p:nvPr/>
          </p:nvSpPr>
          <p:spPr>
            <a:xfrm>
              <a:off x="2718000" y="4248000"/>
              <a:ext cx="108000" cy="108000"/>
            </a:xfrm>
            <a:prstGeom prst="ellipse">
              <a:avLst/>
            </a:prstGeom>
            <a:solidFill>
              <a:srgbClr val="FF0000"/>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98" name="椭圆 597">
              <a:extLst>
                <a:ext uri="{FF2B5EF4-FFF2-40B4-BE49-F238E27FC236}">
                  <a16:creationId xmlns:a16="http://schemas.microsoft.com/office/drawing/2014/main" id="{F5E60790-E541-DCE2-7D1D-1EF7FD8E0AC8}"/>
                </a:ext>
              </a:extLst>
            </p:cNvPr>
            <p:cNvSpPr/>
            <p:nvPr/>
          </p:nvSpPr>
          <p:spPr>
            <a:xfrm>
              <a:off x="2592000" y="5580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99" name="椭圆 598">
              <a:extLst>
                <a:ext uri="{FF2B5EF4-FFF2-40B4-BE49-F238E27FC236}">
                  <a16:creationId xmlns:a16="http://schemas.microsoft.com/office/drawing/2014/main" id="{8FE7CFAD-3712-169B-654E-1E70C6B1A21B}"/>
                </a:ext>
              </a:extLst>
            </p:cNvPr>
            <p:cNvSpPr/>
            <p:nvPr/>
          </p:nvSpPr>
          <p:spPr>
            <a:xfrm>
              <a:off x="2772000" y="5400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600" name="椭圆 599">
              <a:extLst>
                <a:ext uri="{FF2B5EF4-FFF2-40B4-BE49-F238E27FC236}">
                  <a16:creationId xmlns:a16="http://schemas.microsoft.com/office/drawing/2014/main" id="{B371C5CD-9BAF-D6FF-EF80-CD49A97A1795}"/>
                </a:ext>
              </a:extLst>
            </p:cNvPr>
            <p:cNvSpPr/>
            <p:nvPr/>
          </p:nvSpPr>
          <p:spPr>
            <a:xfrm>
              <a:off x="2448000" y="552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601" name="椭圆 600">
              <a:extLst>
                <a:ext uri="{FF2B5EF4-FFF2-40B4-BE49-F238E27FC236}">
                  <a16:creationId xmlns:a16="http://schemas.microsoft.com/office/drawing/2014/main" id="{44C60730-A7CA-1CAD-6D5F-5004BE5842E1}"/>
                </a:ext>
              </a:extLst>
            </p:cNvPr>
            <p:cNvSpPr/>
            <p:nvPr/>
          </p:nvSpPr>
          <p:spPr>
            <a:xfrm>
              <a:off x="2592000" y="5400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602" name="文本框 601">
              <a:extLst>
                <a:ext uri="{FF2B5EF4-FFF2-40B4-BE49-F238E27FC236}">
                  <a16:creationId xmlns:a16="http://schemas.microsoft.com/office/drawing/2014/main" id="{CEB6B9ED-27EA-9077-9A07-E7174323B64C}"/>
                </a:ext>
              </a:extLst>
            </p:cNvPr>
            <p:cNvSpPr txBox="1"/>
            <p:nvPr/>
          </p:nvSpPr>
          <p:spPr>
            <a:xfrm>
              <a:off x="2520000" y="5418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603" name="椭圆 602">
              <a:extLst>
                <a:ext uri="{FF2B5EF4-FFF2-40B4-BE49-F238E27FC236}">
                  <a16:creationId xmlns:a16="http://schemas.microsoft.com/office/drawing/2014/main" id="{FB53188D-BD38-125D-0602-FFE297D9A16F}"/>
                </a:ext>
              </a:extLst>
            </p:cNvPr>
            <p:cNvSpPr/>
            <p:nvPr/>
          </p:nvSpPr>
          <p:spPr>
            <a:xfrm>
              <a:off x="2988000" y="552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604" name="椭圆 603">
              <a:extLst>
                <a:ext uri="{FF2B5EF4-FFF2-40B4-BE49-F238E27FC236}">
                  <a16:creationId xmlns:a16="http://schemas.microsoft.com/office/drawing/2014/main" id="{49C55737-2468-1538-B84F-F82D5507DC19}"/>
                </a:ext>
              </a:extLst>
            </p:cNvPr>
            <p:cNvSpPr/>
            <p:nvPr/>
          </p:nvSpPr>
          <p:spPr>
            <a:xfrm>
              <a:off x="2718000" y="579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605" name="椭圆 604">
              <a:extLst>
                <a:ext uri="{FF2B5EF4-FFF2-40B4-BE49-F238E27FC236}">
                  <a16:creationId xmlns:a16="http://schemas.microsoft.com/office/drawing/2014/main" id="{BBA9C2A6-AE1B-7F90-5359-6BA3D8537297}"/>
                </a:ext>
              </a:extLst>
            </p:cNvPr>
            <p:cNvSpPr/>
            <p:nvPr/>
          </p:nvSpPr>
          <p:spPr>
            <a:xfrm>
              <a:off x="2718000" y="525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606" name="椭圆 605">
              <a:extLst>
                <a:ext uri="{FF2B5EF4-FFF2-40B4-BE49-F238E27FC236}">
                  <a16:creationId xmlns:a16="http://schemas.microsoft.com/office/drawing/2014/main" id="{2DA96E6C-F288-E74E-2201-4AD4F38E5730}"/>
                </a:ext>
              </a:extLst>
            </p:cNvPr>
            <p:cNvSpPr/>
            <p:nvPr/>
          </p:nvSpPr>
          <p:spPr>
            <a:xfrm>
              <a:off x="3600000" y="3564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607" name="椭圆 606">
              <a:extLst>
                <a:ext uri="{FF2B5EF4-FFF2-40B4-BE49-F238E27FC236}">
                  <a16:creationId xmlns:a16="http://schemas.microsoft.com/office/drawing/2014/main" id="{11443C99-338D-25E2-3295-938E7B40DE6F}"/>
                </a:ext>
              </a:extLst>
            </p:cNvPr>
            <p:cNvSpPr/>
            <p:nvPr/>
          </p:nvSpPr>
          <p:spPr>
            <a:xfrm>
              <a:off x="3600000" y="2556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608" name="椭圆 607">
              <a:extLst>
                <a:ext uri="{FF2B5EF4-FFF2-40B4-BE49-F238E27FC236}">
                  <a16:creationId xmlns:a16="http://schemas.microsoft.com/office/drawing/2014/main" id="{AE848B68-08FF-B18D-E0DF-5BD8FFD4B38F}"/>
                </a:ext>
              </a:extLst>
            </p:cNvPr>
            <p:cNvSpPr/>
            <p:nvPr/>
          </p:nvSpPr>
          <p:spPr>
            <a:xfrm>
              <a:off x="3780000" y="3384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609" name="椭圆 608">
              <a:extLst>
                <a:ext uri="{FF2B5EF4-FFF2-40B4-BE49-F238E27FC236}">
                  <a16:creationId xmlns:a16="http://schemas.microsoft.com/office/drawing/2014/main" id="{256A605F-199D-4267-6D68-53798708F8B5}"/>
                </a:ext>
              </a:extLst>
            </p:cNvPr>
            <p:cNvSpPr/>
            <p:nvPr/>
          </p:nvSpPr>
          <p:spPr>
            <a:xfrm>
              <a:off x="3456000" y="351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610" name="椭圆 609">
              <a:extLst>
                <a:ext uri="{FF2B5EF4-FFF2-40B4-BE49-F238E27FC236}">
                  <a16:creationId xmlns:a16="http://schemas.microsoft.com/office/drawing/2014/main" id="{7CA16DF8-5B70-26AE-6078-E5476B8F1C9E}"/>
                </a:ext>
              </a:extLst>
            </p:cNvPr>
            <p:cNvSpPr/>
            <p:nvPr/>
          </p:nvSpPr>
          <p:spPr>
            <a:xfrm>
              <a:off x="3600000" y="3384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611" name="文本框 610">
              <a:extLst>
                <a:ext uri="{FF2B5EF4-FFF2-40B4-BE49-F238E27FC236}">
                  <a16:creationId xmlns:a16="http://schemas.microsoft.com/office/drawing/2014/main" id="{3165D63D-10B6-3A28-89A5-E213039A8EE7}"/>
                </a:ext>
              </a:extLst>
            </p:cNvPr>
            <p:cNvSpPr txBox="1"/>
            <p:nvPr/>
          </p:nvSpPr>
          <p:spPr>
            <a:xfrm>
              <a:off x="3528000" y="3402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612" name="椭圆 611">
              <a:extLst>
                <a:ext uri="{FF2B5EF4-FFF2-40B4-BE49-F238E27FC236}">
                  <a16:creationId xmlns:a16="http://schemas.microsoft.com/office/drawing/2014/main" id="{761D1AD4-AC60-9B5F-0B97-318EB808360A}"/>
                </a:ext>
              </a:extLst>
            </p:cNvPr>
            <p:cNvSpPr/>
            <p:nvPr/>
          </p:nvSpPr>
          <p:spPr>
            <a:xfrm>
              <a:off x="3996000" y="351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613" name="椭圆 612">
              <a:extLst>
                <a:ext uri="{FF2B5EF4-FFF2-40B4-BE49-F238E27FC236}">
                  <a16:creationId xmlns:a16="http://schemas.microsoft.com/office/drawing/2014/main" id="{BC9EF1E3-4C66-9331-B30A-D147EC73261E}"/>
                </a:ext>
              </a:extLst>
            </p:cNvPr>
            <p:cNvSpPr/>
            <p:nvPr/>
          </p:nvSpPr>
          <p:spPr>
            <a:xfrm>
              <a:off x="3726000" y="378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614" name="椭圆 613">
              <a:extLst>
                <a:ext uri="{FF2B5EF4-FFF2-40B4-BE49-F238E27FC236}">
                  <a16:creationId xmlns:a16="http://schemas.microsoft.com/office/drawing/2014/main" id="{998FDE9F-69F6-1294-575B-5591AE064C01}"/>
                </a:ext>
              </a:extLst>
            </p:cNvPr>
            <p:cNvSpPr/>
            <p:nvPr/>
          </p:nvSpPr>
          <p:spPr>
            <a:xfrm>
              <a:off x="3726000" y="324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615" name="椭圆 614">
              <a:extLst>
                <a:ext uri="{FF2B5EF4-FFF2-40B4-BE49-F238E27FC236}">
                  <a16:creationId xmlns:a16="http://schemas.microsoft.com/office/drawing/2014/main" id="{EB5DEA4C-5A85-6A8F-2530-BFB12E4976E3}"/>
                </a:ext>
              </a:extLst>
            </p:cNvPr>
            <p:cNvSpPr/>
            <p:nvPr/>
          </p:nvSpPr>
          <p:spPr>
            <a:xfrm>
              <a:off x="3600000" y="4572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616" name="椭圆 615">
              <a:extLst>
                <a:ext uri="{FF2B5EF4-FFF2-40B4-BE49-F238E27FC236}">
                  <a16:creationId xmlns:a16="http://schemas.microsoft.com/office/drawing/2014/main" id="{A61C5049-A68A-0858-8ED7-A0C97B5F7F51}"/>
                </a:ext>
              </a:extLst>
            </p:cNvPr>
            <p:cNvSpPr/>
            <p:nvPr/>
          </p:nvSpPr>
          <p:spPr>
            <a:xfrm>
              <a:off x="3780000" y="4392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617" name="椭圆 616">
              <a:extLst>
                <a:ext uri="{FF2B5EF4-FFF2-40B4-BE49-F238E27FC236}">
                  <a16:creationId xmlns:a16="http://schemas.microsoft.com/office/drawing/2014/main" id="{5E685420-B406-2D73-9460-E132703E9705}"/>
                </a:ext>
              </a:extLst>
            </p:cNvPr>
            <p:cNvSpPr/>
            <p:nvPr/>
          </p:nvSpPr>
          <p:spPr>
            <a:xfrm>
              <a:off x="3456000" y="4518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618" name="椭圆 617">
              <a:extLst>
                <a:ext uri="{FF2B5EF4-FFF2-40B4-BE49-F238E27FC236}">
                  <a16:creationId xmlns:a16="http://schemas.microsoft.com/office/drawing/2014/main" id="{8358C1AB-F9FE-61F8-32CD-10D8AE5C1A0E}"/>
                </a:ext>
              </a:extLst>
            </p:cNvPr>
            <p:cNvSpPr/>
            <p:nvPr/>
          </p:nvSpPr>
          <p:spPr>
            <a:xfrm>
              <a:off x="3600000" y="4392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619" name="文本框 618">
              <a:extLst>
                <a:ext uri="{FF2B5EF4-FFF2-40B4-BE49-F238E27FC236}">
                  <a16:creationId xmlns:a16="http://schemas.microsoft.com/office/drawing/2014/main" id="{6E1153FC-11BB-B8C7-9936-00EDA9152577}"/>
                </a:ext>
              </a:extLst>
            </p:cNvPr>
            <p:cNvSpPr txBox="1"/>
            <p:nvPr/>
          </p:nvSpPr>
          <p:spPr>
            <a:xfrm>
              <a:off x="3528000" y="4410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620" name="椭圆 619">
              <a:extLst>
                <a:ext uri="{FF2B5EF4-FFF2-40B4-BE49-F238E27FC236}">
                  <a16:creationId xmlns:a16="http://schemas.microsoft.com/office/drawing/2014/main" id="{07C38337-2DF5-A5BB-66B5-3AE1A9D27F24}"/>
                </a:ext>
              </a:extLst>
            </p:cNvPr>
            <p:cNvSpPr/>
            <p:nvPr/>
          </p:nvSpPr>
          <p:spPr>
            <a:xfrm>
              <a:off x="3996000" y="4518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621" name="椭圆 620">
              <a:extLst>
                <a:ext uri="{FF2B5EF4-FFF2-40B4-BE49-F238E27FC236}">
                  <a16:creationId xmlns:a16="http://schemas.microsoft.com/office/drawing/2014/main" id="{8C798EE1-5C02-BF04-D3CD-019AAE032072}"/>
                </a:ext>
              </a:extLst>
            </p:cNvPr>
            <p:cNvSpPr/>
            <p:nvPr/>
          </p:nvSpPr>
          <p:spPr>
            <a:xfrm>
              <a:off x="3726000" y="4788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622" name="椭圆 621">
              <a:extLst>
                <a:ext uri="{FF2B5EF4-FFF2-40B4-BE49-F238E27FC236}">
                  <a16:creationId xmlns:a16="http://schemas.microsoft.com/office/drawing/2014/main" id="{3448A77B-EC70-4321-3FCB-6D9A562FD585}"/>
                </a:ext>
              </a:extLst>
            </p:cNvPr>
            <p:cNvSpPr/>
            <p:nvPr/>
          </p:nvSpPr>
          <p:spPr>
            <a:xfrm>
              <a:off x="3726000" y="4248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623" name="椭圆 622">
              <a:extLst>
                <a:ext uri="{FF2B5EF4-FFF2-40B4-BE49-F238E27FC236}">
                  <a16:creationId xmlns:a16="http://schemas.microsoft.com/office/drawing/2014/main" id="{36008533-E538-199D-6D9A-35E82FCFA58D}"/>
                </a:ext>
              </a:extLst>
            </p:cNvPr>
            <p:cNvSpPr/>
            <p:nvPr/>
          </p:nvSpPr>
          <p:spPr>
            <a:xfrm>
              <a:off x="3600000" y="5580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624" name="椭圆 623">
              <a:extLst>
                <a:ext uri="{FF2B5EF4-FFF2-40B4-BE49-F238E27FC236}">
                  <a16:creationId xmlns:a16="http://schemas.microsoft.com/office/drawing/2014/main" id="{1052B803-12BC-0721-3DBC-BFA4346503EF}"/>
                </a:ext>
              </a:extLst>
            </p:cNvPr>
            <p:cNvSpPr/>
            <p:nvPr/>
          </p:nvSpPr>
          <p:spPr>
            <a:xfrm>
              <a:off x="3780000" y="5400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625" name="椭圆 624">
              <a:extLst>
                <a:ext uri="{FF2B5EF4-FFF2-40B4-BE49-F238E27FC236}">
                  <a16:creationId xmlns:a16="http://schemas.microsoft.com/office/drawing/2014/main" id="{5858923B-065E-934F-DDFE-B193DCFBC0D0}"/>
                </a:ext>
              </a:extLst>
            </p:cNvPr>
            <p:cNvSpPr/>
            <p:nvPr/>
          </p:nvSpPr>
          <p:spPr>
            <a:xfrm>
              <a:off x="3456000" y="552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626" name="椭圆 625">
              <a:extLst>
                <a:ext uri="{FF2B5EF4-FFF2-40B4-BE49-F238E27FC236}">
                  <a16:creationId xmlns:a16="http://schemas.microsoft.com/office/drawing/2014/main" id="{FD62C3C6-A7CF-5B2B-646C-3684402DAC7F}"/>
                </a:ext>
              </a:extLst>
            </p:cNvPr>
            <p:cNvSpPr/>
            <p:nvPr/>
          </p:nvSpPr>
          <p:spPr>
            <a:xfrm>
              <a:off x="3600000" y="5400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627" name="文本框 626">
              <a:extLst>
                <a:ext uri="{FF2B5EF4-FFF2-40B4-BE49-F238E27FC236}">
                  <a16:creationId xmlns:a16="http://schemas.microsoft.com/office/drawing/2014/main" id="{60B00500-6E21-E9E0-D097-65BEE68B8901}"/>
                </a:ext>
              </a:extLst>
            </p:cNvPr>
            <p:cNvSpPr txBox="1"/>
            <p:nvPr/>
          </p:nvSpPr>
          <p:spPr>
            <a:xfrm>
              <a:off x="3528000" y="5418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628" name="椭圆 627">
              <a:extLst>
                <a:ext uri="{FF2B5EF4-FFF2-40B4-BE49-F238E27FC236}">
                  <a16:creationId xmlns:a16="http://schemas.microsoft.com/office/drawing/2014/main" id="{C79EFED5-7B9B-2272-C6EE-AA569D1F5608}"/>
                </a:ext>
              </a:extLst>
            </p:cNvPr>
            <p:cNvSpPr/>
            <p:nvPr/>
          </p:nvSpPr>
          <p:spPr>
            <a:xfrm>
              <a:off x="3996000" y="552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629" name="椭圆 628">
              <a:extLst>
                <a:ext uri="{FF2B5EF4-FFF2-40B4-BE49-F238E27FC236}">
                  <a16:creationId xmlns:a16="http://schemas.microsoft.com/office/drawing/2014/main" id="{E06043BB-C98A-EB1B-63F4-84B322706DBF}"/>
                </a:ext>
              </a:extLst>
            </p:cNvPr>
            <p:cNvSpPr/>
            <p:nvPr/>
          </p:nvSpPr>
          <p:spPr>
            <a:xfrm>
              <a:off x="3726000" y="579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630" name="椭圆 629">
              <a:extLst>
                <a:ext uri="{FF2B5EF4-FFF2-40B4-BE49-F238E27FC236}">
                  <a16:creationId xmlns:a16="http://schemas.microsoft.com/office/drawing/2014/main" id="{B7D8F498-C5B6-82BA-CC05-A921353CCC9D}"/>
                </a:ext>
              </a:extLst>
            </p:cNvPr>
            <p:cNvSpPr/>
            <p:nvPr/>
          </p:nvSpPr>
          <p:spPr>
            <a:xfrm>
              <a:off x="3726000" y="525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631" name="矩形 630">
              <a:extLst>
                <a:ext uri="{FF2B5EF4-FFF2-40B4-BE49-F238E27FC236}">
                  <a16:creationId xmlns:a16="http://schemas.microsoft.com/office/drawing/2014/main" id="{015E4330-E459-4CE7-2680-61DDF2170512}"/>
                </a:ext>
              </a:extLst>
            </p:cNvPr>
            <p:cNvSpPr/>
            <p:nvPr/>
          </p:nvSpPr>
          <p:spPr>
            <a:xfrm>
              <a:off x="720000" y="3276000"/>
              <a:ext cx="540000" cy="259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632" name="矩形 631">
              <a:extLst>
                <a:ext uri="{FF2B5EF4-FFF2-40B4-BE49-F238E27FC236}">
                  <a16:creationId xmlns:a16="http://schemas.microsoft.com/office/drawing/2014/main" id="{65C10022-CD13-894F-4E76-29B51950450D}"/>
                </a:ext>
              </a:extLst>
            </p:cNvPr>
            <p:cNvSpPr/>
            <p:nvPr/>
          </p:nvSpPr>
          <p:spPr>
            <a:xfrm>
              <a:off x="4284000" y="3276000"/>
              <a:ext cx="540000" cy="259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633" name="矩形 632">
              <a:extLst>
                <a:ext uri="{FF2B5EF4-FFF2-40B4-BE49-F238E27FC236}">
                  <a16:creationId xmlns:a16="http://schemas.microsoft.com/office/drawing/2014/main" id="{8391D17C-14D6-85D0-F7A3-D1E66B63F458}"/>
                </a:ext>
              </a:extLst>
            </p:cNvPr>
            <p:cNvSpPr/>
            <p:nvPr/>
          </p:nvSpPr>
          <p:spPr>
            <a:xfrm>
              <a:off x="1476000" y="2520000"/>
              <a:ext cx="2592000" cy="54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634" name="矩形 633">
              <a:extLst>
                <a:ext uri="{FF2B5EF4-FFF2-40B4-BE49-F238E27FC236}">
                  <a16:creationId xmlns:a16="http://schemas.microsoft.com/office/drawing/2014/main" id="{0BBDCD22-EB4D-99B2-A059-293283133C54}"/>
                </a:ext>
              </a:extLst>
            </p:cNvPr>
            <p:cNvSpPr/>
            <p:nvPr/>
          </p:nvSpPr>
          <p:spPr>
            <a:xfrm>
              <a:off x="1476000" y="6084000"/>
              <a:ext cx="2592000" cy="54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635" name="椭圆 634">
              <a:extLst>
                <a:ext uri="{FF2B5EF4-FFF2-40B4-BE49-F238E27FC236}">
                  <a16:creationId xmlns:a16="http://schemas.microsoft.com/office/drawing/2014/main" id="{51924911-49E0-5C36-639A-F08CFB150667}"/>
                </a:ext>
              </a:extLst>
            </p:cNvPr>
            <p:cNvSpPr/>
            <p:nvPr/>
          </p:nvSpPr>
          <p:spPr>
            <a:xfrm>
              <a:off x="3312000" y="3816000"/>
              <a:ext cx="108000" cy="108000"/>
            </a:xfrm>
            <a:prstGeom prst="ellipse">
              <a:avLst/>
            </a:prstGeom>
            <a:solidFill>
              <a:srgbClr val="FF0000"/>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grpSp>
      <p:grpSp>
        <p:nvGrpSpPr>
          <p:cNvPr id="550" name="组合 549">
            <a:extLst>
              <a:ext uri="{FF2B5EF4-FFF2-40B4-BE49-F238E27FC236}">
                <a16:creationId xmlns:a16="http://schemas.microsoft.com/office/drawing/2014/main" id="{0A45050F-C549-FD5F-5AFF-FE87F106D220}"/>
              </a:ext>
            </a:extLst>
          </p:cNvPr>
          <p:cNvGrpSpPr/>
          <p:nvPr/>
        </p:nvGrpSpPr>
        <p:grpSpPr>
          <a:xfrm>
            <a:off x="720000" y="2520000"/>
            <a:ext cx="4104000" cy="4104000"/>
            <a:chOff x="720000" y="2520000"/>
            <a:chExt cx="4104000" cy="4104000"/>
          </a:xfrm>
        </p:grpSpPr>
        <p:sp>
          <p:nvSpPr>
            <p:cNvPr id="10" name="椭圆 9">
              <a:extLst>
                <a:ext uri="{FF2B5EF4-FFF2-40B4-BE49-F238E27FC236}">
                  <a16:creationId xmlns:a16="http://schemas.microsoft.com/office/drawing/2014/main" id="{3CC637A2-F233-B880-A5E8-3564C02577D4}"/>
                </a:ext>
              </a:extLst>
            </p:cNvPr>
            <p:cNvSpPr/>
            <p:nvPr/>
          </p:nvSpPr>
          <p:spPr>
            <a:xfrm>
              <a:off x="756000" y="3384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11" name="椭圆 10">
              <a:extLst>
                <a:ext uri="{FF2B5EF4-FFF2-40B4-BE49-F238E27FC236}">
                  <a16:creationId xmlns:a16="http://schemas.microsoft.com/office/drawing/2014/main" id="{748A997C-A4DB-A878-40C9-4FD65563E2F9}"/>
                </a:ext>
              </a:extLst>
            </p:cNvPr>
            <p:cNvSpPr/>
            <p:nvPr/>
          </p:nvSpPr>
          <p:spPr>
            <a:xfrm>
              <a:off x="756000" y="4392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12" name="椭圆 11">
              <a:extLst>
                <a:ext uri="{FF2B5EF4-FFF2-40B4-BE49-F238E27FC236}">
                  <a16:creationId xmlns:a16="http://schemas.microsoft.com/office/drawing/2014/main" id="{6C18F96E-9AD9-CDB9-189A-19E4DFBA9E25}"/>
                </a:ext>
              </a:extLst>
            </p:cNvPr>
            <p:cNvSpPr/>
            <p:nvPr/>
          </p:nvSpPr>
          <p:spPr>
            <a:xfrm>
              <a:off x="756000" y="5400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13" name="椭圆 12">
              <a:extLst>
                <a:ext uri="{FF2B5EF4-FFF2-40B4-BE49-F238E27FC236}">
                  <a16:creationId xmlns:a16="http://schemas.microsoft.com/office/drawing/2014/main" id="{28DD83B8-8DFD-24F0-868F-86B43BFBAADA}"/>
                </a:ext>
              </a:extLst>
            </p:cNvPr>
            <p:cNvSpPr/>
            <p:nvPr/>
          </p:nvSpPr>
          <p:spPr>
            <a:xfrm>
              <a:off x="1584000" y="3564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471" name="椭圆 470">
              <a:extLst>
                <a:ext uri="{FF2B5EF4-FFF2-40B4-BE49-F238E27FC236}">
                  <a16:creationId xmlns:a16="http://schemas.microsoft.com/office/drawing/2014/main" id="{72F5FA05-D4F3-16DF-5F40-4B6989E7E80E}"/>
                </a:ext>
              </a:extLst>
            </p:cNvPr>
            <p:cNvSpPr/>
            <p:nvPr/>
          </p:nvSpPr>
          <p:spPr>
            <a:xfrm>
              <a:off x="1584000" y="2556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472" name="椭圆 471">
              <a:extLst>
                <a:ext uri="{FF2B5EF4-FFF2-40B4-BE49-F238E27FC236}">
                  <a16:creationId xmlns:a16="http://schemas.microsoft.com/office/drawing/2014/main" id="{DA0E3DF2-6AD9-8288-685E-57BF37605E0E}"/>
                </a:ext>
              </a:extLst>
            </p:cNvPr>
            <p:cNvSpPr/>
            <p:nvPr/>
          </p:nvSpPr>
          <p:spPr>
            <a:xfrm>
              <a:off x="1764000" y="3384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473" name="椭圆 472">
              <a:extLst>
                <a:ext uri="{FF2B5EF4-FFF2-40B4-BE49-F238E27FC236}">
                  <a16:creationId xmlns:a16="http://schemas.microsoft.com/office/drawing/2014/main" id="{850E1D66-BBC7-F352-5727-EA4DD9D40D0E}"/>
                </a:ext>
              </a:extLst>
            </p:cNvPr>
            <p:cNvSpPr/>
            <p:nvPr/>
          </p:nvSpPr>
          <p:spPr>
            <a:xfrm>
              <a:off x="1440000" y="351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474" name="椭圆 473">
              <a:extLst>
                <a:ext uri="{FF2B5EF4-FFF2-40B4-BE49-F238E27FC236}">
                  <a16:creationId xmlns:a16="http://schemas.microsoft.com/office/drawing/2014/main" id="{F07E968C-D85B-AF28-0329-1B3C4D2948FC}"/>
                </a:ext>
              </a:extLst>
            </p:cNvPr>
            <p:cNvSpPr/>
            <p:nvPr/>
          </p:nvSpPr>
          <p:spPr>
            <a:xfrm>
              <a:off x="1584000" y="3384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475" name="文本框 474">
              <a:extLst>
                <a:ext uri="{FF2B5EF4-FFF2-40B4-BE49-F238E27FC236}">
                  <a16:creationId xmlns:a16="http://schemas.microsoft.com/office/drawing/2014/main" id="{7A9D4D2E-80AE-5D31-1081-51A4FDFD9D27}"/>
                </a:ext>
              </a:extLst>
            </p:cNvPr>
            <p:cNvSpPr txBox="1"/>
            <p:nvPr/>
          </p:nvSpPr>
          <p:spPr>
            <a:xfrm>
              <a:off x="1512000" y="3402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476" name="椭圆 475">
              <a:extLst>
                <a:ext uri="{FF2B5EF4-FFF2-40B4-BE49-F238E27FC236}">
                  <a16:creationId xmlns:a16="http://schemas.microsoft.com/office/drawing/2014/main" id="{9F1D2461-6783-90EE-8409-11E810EDEB49}"/>
                </a:ext>
              </a:extLst>
            </p:cNvPr>
            <p:cNvSpPr/>
            <p:nvPr/>
          </p:nvSpPr>
          <p:spPr>
            <a:xfrm>
              <a:off x="1980000" y="351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477" name="椭圆 476">
              <a:extLst>
                <a:ext uri="{FF2B5EF4-FFF2-40B4-BE49-F238E27FC236}">
                  <a16:creationId xmlns:a16="http://schemas.microsoft.com/office/drawing/2014/main" id="{557F8127-7CD0-D5DD-7105-6F2FCAED3BB5}"/>
                </a:ext>
              </a:extLst>
            </p:cNvPr>
            <p:cNvSpPr/>
            <p:nvPr/>
          </p:nvSpPr>
          <p:spPr>
            <a:xfrm>
              <a:off x="1710000" y="378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478" name="椭圆 477">
              <a:extLst>
                <a:ext uri="{FF2B5EF4-FFF2-40B4-BE49-F238E27FC236}">
                  <a16:creationId xmlns:a16="http://schemas.microsoft.com/office/drawing/2014/main" id="{A643F386-4514-0D34-4645-540CB9CD8DA1}"/>
                </a:ext>
              </a:extLst>
            </p:cNvPr>
            <p:cNvSpPr/>
            <p:nvPr/>
          </p:nvSpPr>
          <p:spPr>
            <a:xfrm>
              <a:off x="1710000" y="324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479" name="椭圆 478">
              <a:extLst>
                <a:ext uri="{FF2B5EF4-FFF2-40B4-BE49-F238E27FC236}">
                  <a16:creationId xmlns:a16="http://schemas.microsoft.com/office/drawing/2014/main" id="{776B0B2F-7BB4-65EF-080E-49AE3E29175E}"/>
                </a:ext>
              </a:extLst>
            </p:cNvPr>
            <p:cNvSpPr/>
            <p:nvPr/>
          </p:nvSpPr>
          <p:spPr>
            <a:xfrm>
              <a:off x="1584000" y="4572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480" name="椭圆 479">
              <a:extLst>
                <a:ext uri="{FF2B5EF4-FFF2-40B4-BE49-F238E27FC236}">
                  <a16:creationId xmlns:a16="http://schemas.microsoft.com/office/drawing/2014/main" id="{6B678864-1A91-C1A5-F36F-41BBBE7B36F0}"/>
                </a:ext>
              </a:extLst>
            </p:cNvPr>
            <p:cNvSpPr/>
            <p:nvPr/>
          </p:nvSpPr>
          <p:spPr>
            <a:xfrm>
              <a:off x="1764000" y="4392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481" name="椭圆 480">
              <a:extLst>
                <a:ext uri="{FF2B5EF4-FFF2-40B4-BE49-F238E27FC236}">
                  <a16:creationId xmlns:a16="http://schemas.microsoft.com/office/drawing/2014/main" id="{F72C8646-7564-40E7-722A-C2CE8C44F32E}"/>
                </a:ext>
              </a:extLst>
            </p:cNvPr>
            <p:cNvSpPr/>
            <p:nvPr/>
          </p:nvSpPr>
          <p:spPr>
            <a:xfrm>
              <a:off x="1440000" y="4518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482" name="椭圆 481">
              <a:extLst>
                <a:ext uri="{FF2B5EF4-FFF2-40B4-BE49-F238E27FC236}">
                  <a16:creationId xmlns:a16="http://schemas.microsoft.com/office/drawing/2014/main" id="{57581290-97FC-E830-3012-27029D086492}"/>
                </a:ext>
              </a:extLst>
            </p:cNvPr>
            <p:cNvSpPr/>
            <p:nvPr/>
          </p:nvSpPr>
          <p:spPr>
            <a:xfrm>
              <a:off x="1584000" y="4392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483" name="文本框 482">
              <a:extLst>
                <a:ext uri="{FF2B5EF4-FFF2-40B4-BE49-F238E27FC236}">
                  <a16:creationId xmlns:a16="http://schemas.microsoft.com/office/drawing/2014/main" id="{0746A874-A87E-C91B-7379-9989569E8CB6}"/>
                </a:ext>
              </a:extLst>
            </p:cNvPr>
            <p:cNvSpPr txBox="1"/>
            <p:nvPr/>
          </p:nvSpPr>
          <p:spPr>
            <a:xfrm>
              <a:off x="1512000" y="4410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484" name="椭圆 483">
              <a:extLst>
                <a:ext uri="{FF2B5EF4-FFF2-40B4-BE49-F238E27FC236}">
                  <a16:creationId xmlns:a16="http://schemas.microsoft.com/office/drawing/2014/main" id="{0079C249-A11B-555D-DA20-E5E3AA52AFD5}"/>
                </a:ext>
              </a:extLst>
            </p:cNvPr>
            <p:cNvSpPr/>
            <p:nvPr/>
          </p:nvSpPr>
          <p:spPr>
            <a:xfrm>
              <a:off x="1980000" y="4518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485" name="椭圆 484">
              <a:extLst>
                <a:ext uri="{FF2B5EF4-FFF2-40B4-BE49-F238E27FC236}">
                  <a16:creationId xmlns:a16="http://schemas.microsoft.com/office/drawing/2014/main" id="{8D1A09A2-B116-429E-CA63-3CE03F6D7CF0}"/>
                </a:ext>
              </a:extLst>
            </p:cNvPr>
            <p:cNvSpPr/>
            <p:nvPr/>
          </p:nvSpPr>
          <p:spPr>
            <a:xfrm>
              <a:off x="1710000" y="4788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486" name="椭圆 485">
              <a:extLst>
                <a:ext uri="{FF2B5EF4-FFF2-40B4-BE49-F238E27FC236}">
                  <a16:creationId xmlns:a16="http://schemas.microsoft.com/office/drawing/2014/main" id="{18B9D39C-AEC6-0129-113C-84BB4DD9FB39}"/>
                </a:ext>
              </a:extLst>
            </p:cNvPr>
            <p:cNvSpPr/>
            <p:nvPr/>
          </p:nvSpPr>
          <p:spPr>
            <a:xfrm>
              <a:off x="1710000" y="4248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487" name="椭圆 486">
              <a:extLst>
                <a:ext uri="{FF2B5EF4-FFF2-40B4-BE49-F238E27FC236}">
                  <a16:creationId xmlns:a16="http://schemas.microsoft.com/office/drawing/2014/main" id="{2671116A-78A2-228A-1720-82C04D23F3F3}"/>
                </a:ext>
              </a:extLst>
            </p:cNvPr>
            <p:cNvSpPr/>
            <p:nvPr/>
          </p:nvSpPr>
          <p:spPr>
            <a:xfrm>
              <a:off x="1584000" y="5580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488" name="椭圆 487">
              <a:extLst>
                <a:ext uri="{FF2B5EF4-FFF2-40B4-BE49-F238E27FC236}">
                  <a16:creationId xmlns:a16="http://schemas.microsoft.com/office/drawing/2014/main" id="{49F7F0F7-0E74-BBEA-52D6-CC365C925D2D}"/>
                </a:ext>
              </a:extLst>
            </p:cNvPr>
            <p:cNvSpPr/>
            <p:nvPr/>
          </p:nvSpPr>
          <p:spPr>
            <a:xfrm>
              <a:off x="1764000" y="5400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489" name="椭圆 488">
              <a:extLst>
                <a:ext uri="{FF2B5EF4-FFF2-40B4-BE49-F238E27FC236}">
                  <a16:creationId xmlns:a16="http://schemas.microsoft.com/office/drawing/2014/main" id="{D125AEF8-A590-A81D-1F03-43B0F0723053}"/>
                </a:ext>
              </a:extLst>
            </p:cNvPr>
            <p:cNvSpPr/>
            <p:nvPr/>
          </p:nvSpPr>
          <p:spPr>
            <a:xfrm>
              <a:off x="1440000" y="552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490" name="椭圆 489">
              <a:extLst>
                <a:ext uri="{FF2B5EF4-FFF2-40B4-BE49-F238E27FC236}">
                  <a16:creationId xmlns:a16="http://schemas.microsoft.com/office/drawing/2014/main" id="{49762ABD-4408-D698-0568-BC2A23338DC2}"/>
                </a:ext>
              </a:extLst>
            </p:cNvPr>
            <p:cNvSpPr/>
            <p:nvPr/>
          </p:nvSpPr>
          <p:spPr>
            <a:xfrm>
              <a:off x="1584000" y="5400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491" name="文本框 490">
              <a:extLst>
                <a:ext uri="{FF2B5EF4-FFF2-40B4-BE49-F238E27FC236}">
                  <a16:creationId xmlns:a16="http://schemas.microsoft.com/office/drawing/2014/main" id="{F6BB0A4D-87DD-9D78-93E4-7377572A86BC}"/>
                </a:ext>
              </a:extLst>
            </p:cNvPr>
            <p:cNvSpPr txBox="1"/>
            <p:nvPr/>
          </p:nvSpPr>
          <p:spPr>
            <a:xfrm>
              <a:off x="1512000" y="5418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492" name="椭圆 491">
              <a:extLst>
                <a:ext uri="{FF2B5EF4-FFF2-40B4-BE49-F238E27FC236}">
                  <a16:creationId xmlns:a16="http://schemas.microsoft.com/office/drawing/2014/main" id="{1735DB45-3AF1-99B8-F278-9154863D13DF}"/>
                </a:ext>
              </a:extLst>
            </p:cNvPr>
            <p:cNvSpPr/>
            <p:nvPr/>
          </p:nvSpPr>
          <p:spPr>
            <a:xfrm>
              <a:off x="1980000" y="552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493" name="椭圆 492">
              <a:extLst>
                <a:ext uri="{FF2B5EF4-FFF2-40B4-BE49-F238E27FC236}">
                  <a16:creationId xmlns:a16="http://schemas.microsoft.com/office/drawing/2014/main" id="{B504B16E-DD06-B569-2B6F-91A2BEFD810C}"/>
                </a:ext>
              </a:extLst>
            </p:cNvPr>
            <p:cNvSpPr/>
            <p:nvPr/>
          </p:nvSpPr>
          <p:spPr>
            <a:xfrm>
              <a:off x="1710000" y="579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494" name="椭圆 493">
              <a:extLst>
                <a:ext uri="{FF2B5EF4-FFF2-40B4-BE49-F238E27FC236}">
                  <a16:creationId xmlns:a16="http://schemas.microsoft.com/office/drawing/2014/main" id="{91F4E4CE-5E88-0EDA-ED0C-24F28ACCB23B}"/>
                </a:ext>
              </a:extLst>
            </p:cNvPr>
            <p:cNvSpPr/>
            <p:nvPr/>
          </p:nvSpPr>
          <p:spPr>
            <a:xfrm>
              <a:off x="1710000" y="525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495" name="椭圆 494">
              <a:extLst>
                <a:ext uri="{FF2B5EF4-FFF2-40B4-BE49-F238E27FC236}">
                  <a16:creationId xmlns:a16="http://schemas.microsoft.com/office/drawing/2014/main" id="{46E3C1DC-9C01-CCEE-C474-5084A45FE7D6}"/>
                </a:ext>
              </a:extLst>
            </p:cNvPr>
            <p:cNvSpPr/>
            <p:nvPr/>
          </p:nvSpPr>
          <p:spPr>
            <a:xfrm>
              <a:off x="2592000" y="3564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496" name="椭圆 495">
              <a:extLst>
                <a:ext uri="{FF2B5EF4-FFF2-40B4-BE49-F238E27FC236}">
                  <a16:creationId xmlns:a16="http://schemas.microsoft.com/office/drawing/2014/main" id="{83858315-74FC-AB44-64D2-EC75222D0A23}"/>
                </a:ext>
              </a:extLst>
            </p:cNvPr>
            <p:cNvSpPr/>
            <p:nvPr/>
          </p:nvSpPr>
          <p:spPr>
            <a:xfrm>
              <a:off x="2592000" y="2556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497" name="椭圆 496">
              <a:extLst>
                <a:ext uri="{FF2B5EF4-FFF2-40B4-BE49-F238E27FC236}">
                  <a16:creationId xmlns:a16="http://schemas.microsoft.com/office/drawing/2014/main" id="{1060B876-42AD-EA6C-4DDF-B4416A73F4FB}"/>
                </a:ext>
              </a:extLst>
            </p:cNvPr>
            <p:cNvSpPr/>
            <p:nvPr/>
          </p:nvSpPr>
          <p:spPr>
            <a:xfrm>
              <a:off x="2772000" y="3384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498" name="椭圆 497">
              <a:extLst>
                <a:ext uri="{FF2B5EF4-FFF2-40B4-BE49-F238E27FC236}">
                  <a16:creationId xmlns:a16="http://schemas.microsoft.com/office/drawing/2014/main" id="{068E0867-D6B5-A454-47E2-541F57AC3F03}"/>
                </a:ext>
              </a:extLst>
            </p:cNvPr>
            <p:cNvSpPr/>
            <p:nvPr/>
          </p:nvSpPr>
          <p:spPr>
            <a:xfrm>
              <a:off x="2448000" y="351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499" name="椭圆 498">
              <a:extLst>
                <a:ext uri="{FF2B5EF4-FFF2-40B4-BE49-F238E27FC236}">
                  <a16:creationId xmlns:a16="http://schemas.microsoft.com/office/drawing/2014/main" id="{1C6D47E2-6A2B-EEC0-15AB-51A36129043D}"/>
                </a:ext>
              </a:extLst>
            </p:cNvPr>
            <p:cNvSpPr/>
            <p:nvPr/>
          </p:nvSpPr>
          <p:spPr>
            <a:xfrm>
              <a:off x="2592000" y="3384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500" name="文本框 499">
              <a:extLst>
                <a:ext uri="{FF2B5EF4-FFF2-40B4-BE49-F238E27FC236}">
                  <a16:creationId xmlns:a16="http://schemas.microsoft.com/office/drawing/2014/main" id="{92780E9F-93CE-53FE-CE1E-8E07AFC61225}"/>
                </a:ext>
              </a:extLst>
            </p:cNvPr>
            <p:cNvSpPr txBox="1"/>
            <p:nvPr/>
          </p:nvSpPr>
          <p:spPr>
            <a:xfrm>
              <a:off x="2520000" y="3402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501" name="椭圆 500">
              <a:extLst>
                <a:ext uri="{FF2B5EF4-FFF2-40B4-BE49-F238E27FC236}">
                  <a16:creationId xmlns:a16="http://schemas.microsoft.com/office/drawing/2014/main" id="{FA2CAA75-2943-0B72-392E-BE8A0A5B2C82}"/>
                </a:ext>
              </a:extLst>
            </p:cNvPr>
            <p:cNvSpPr/>
            <p:nvPr/>
          </p:nvSpPr>
          <p:spPr>
            <a:xfrm>
              <a:off x="2988000" y="351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02" name="椭圆 501">
              <a:extLst>
                <a:ext uri="{FF2B5EF4-FFF2-40B4-BE49-F238E27FC236}">
                  <a16:creationId xmlns:a16="http://schemas.microsoft.com/office/drawing/2014/main" id="{7AE79E8F-ABB0-C7EF-2FF6-09D87DA03DDD}"/>
                </a:ext>
              </a:extLst>
            </p:cNvPr>
            <p:cNvSpPr/>
            <p:nvPr/>
          </p:nvSpPr>
          <p:spPr>
            <a:xfrm>
              <a:off x="2718000" y="378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03" name="椭圆 502">
              <a:extLst>
                <a:ext uri="{FF2B5EF4-FFF2-40B4-BE49-F238E27FC236}">
                  <a16:creationId xmlns:a16="http://schemas.microsoft.com/office/drawing/2014/main" id="{F984D608-C683-5C6C-EBFB-EE4478275884}"/>
                </a:ext>
              </a:extLst>
            </p:cNvPr>
            <p:cNvSpPr/>
            <p:nvPr/>
          </p:nvSpPr>
          <p:spPr>
            <a:xfrm>
              <a:off x="2718000" y="324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04" name="椭圆 503">
              <a:extLst>
                <a:ext uri="{FF2B5EF4-FFF2-40B4-BE49-F238E27FC236}">
                  <a16:creationId xmlns:a16="http://schemas.microsoft.com/office/drawing/2014/main" id="{331946D3-5AAC-1253-AD22-127E242856B0}"/>
                </a:ext>
              </a:extLst>
            </p:cNvPr>
            <p:cNvSpPr/>
            <p:nvPr/>
          </p:nvSpPr>
          <p:spPr>
            <a:xfrm>
              <a:off x="2592000" y="4572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05" name="椭圆 504">
              <a:extLst>
                <a:ext uri="{FF2B5EF4-FFF2-40B4-BE49-F238E27FC236}">
                  <a16:creationId xmlns:a16="http://schemas.microsoft.com/office/drawing/2014/main" id="{10120F52-43A9-0136-B367-4F7A4C2E34C8}"/>
                </a:ext>
              </a:extLst>
            </p:cNvPr>
            <p:cNvSpPr/>
            <p:nvPr/>
          </p:nvSpPr>
          <p:spPr>
            <a:xfrm>
              <a:off x="2772000" y="4392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06" name="椭圆 505">
              <a:extLst>
                <a:ext uri="{FF2B5EF4-FFF2-40B4-BE49-F238E27FC236}">
                  <a16:creationId xmlns:a16="http://schemas.microsoft.com/office/drawing/2014/main" id="{2FFF5575-0130-7027-F30C-198DCE67D518}"/>
                </a:ext>
              </a:extLst>
            </p:cNvPr>
            <p:cNvSpPr/>
            <p:nvPr/>
          </p:nvSpPr>
          <p:spPr>
            <a:xfrm>
              <a:off x="2448000" y="4518000"/>
              <a:ext cx="108000" cy="108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07" name="椭圆 506">
              <a:extLst>
                <a:ext uri="{FF2B5EF4-FFF2-40B4-BE49-F238E27FC236}">
                  <a16:creationId xmlns:a16="http://schemas.microsoft.com/office/drawing/2014/main" id="{7BE8B459-D95E-E771-E33C-90F42DA87A89}"/>
                </a:ext>
              </a:extLst>
            </p:cNvPr>
            <p:cNvSpPr/>
            <p:nvPr/>
          </p:nvSpPr>
          <p:spPr>
            <a:xfrm>
              <a:off x="2592000" y="4392000"/>
              <a:ext cx="360000" cy="360000"/>
            </a:xfrm>
            <a:prstGeom prst="ellipse">
              <a:avLst/>
            </a:prstGeom>
            <a:solidFill>
              <a:schemeClr val="accent4"/>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508" name="文本框 507">
              <a:extLst>
                <a:ext uri="{FF2B5EF4-FFF2-40B4-BE49-F238E27FC236}">
                  <a16:creationId xmlns:a16="http://schemas.microsoft.com/office/drawing/2014/main" id="{00F2DF15-B8AC-E899-BB9E-977FB1EA91F7}"/>
                </a:ext>
              </a:extLst>
            </p:cNvPr>
            <p:cNvSpPr txBox="1"/>
            <p:nvPr/>
          </p:nvSpPr>
          <p:spPr>
            <a:xfrm>
              <a:off x="2520000" y="4409998"/>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+5</a:t>
              </a:r>
              <a:endParaRPr lang="zh-CN" altLang="en-US" sz="1500" b="1" dirty="0">
                <a:latin typeface="微软雅黑" panose="020B0503020204020204" pitchFamily="34" charset="-122"/>
                <a:ea typeface="微软雅黑" panose="020B0503020204020204" pitchFamily="34" charset="-122"/>
              </a:endParaRPr>
            </a:p>
          </p:txBody>
        </p:sp>
        <p:sp>
          <p:nvSpPr>
            <p:cNvPr id="509" name="椭圆 508">
              <a:extLst>
                <a:ext uri="{FF2B5EF4-FFF2-40B4-BE49-F238E27FC236}">
                  <a16:creationId xmlns:a16="http://schemas.microsoft.com/office/drawing/2014/main" id="{623720B5-FFB5-4D10-14A8-9688CA28E949}"/>
                </a:ext>
              </a:extLst>
            </p:cNvPr>
            <p:cNvSpPr/>
            <p:nvPr/>
          </p:nvSpPr>
          <p:spPr>
            <a:xfrm>
              <a:off x="2988000" y="4518000"/>
              <a:ext cx="108000" cy="108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10" name="椭圆 509">
              <a:extLst>
                <a:ext uri="{FF2B5EF4-FFF2-40B4-BE49-F238E27FC236}">
                  <a16:creationId xmlns:a16="http://schemas.microsoft.com/office/drawing/2014/main" id="{1FA62FF3-1DD1-5608-CD8F-CDB8AF9792FC}"/>
                </a:ext>
              </a:extLst>
            </p:cNvPr>
            <p:cNvSpPr/>
            <p:nvPr/>
          </p:nvSpPr>
          <p:spPr>
            <a:xfrm>
              <a:off x="2718000" y="4788000"/>
              <a:ext cx="108000" cy="108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11" name="椭圆 510">
              <a:extLst>
                <a:ext uri="{FF2B5EF4-FFF2-40B4-BE49-F238E27FC236}">
                  <a16:creationId xmlns:a16="http://schemas.microsoft.com/office/drawing/2014/main" id="{AF4DF401-8F96-ABB4-6875-DA09C207E158}"/>
                </a:ext>
              </a:extLst>
            </p:cNvPr>
            <p:cNvSpPr/>
            <p:nvPr/>
          </p:nvSpPr>
          <p:spPr>
            <a:xfrm>
              <a:off x="2718000" y="4248000"/>
              <a:ext cx="108000" cy="108000"/>
            </a:xfrm>
            <a:prstGeom prst="ellipse">
              <a:avLst/>
            </a:prstGeom>
            <a:solidFill>
              <a:srgbClr val="FF0000"/>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12" name="椭圆 511">
              <a:extLst>
                <a:ext uri="{FF2B5EF4-FFF2-40B4-BE49-F238E27FC236}">
                  <a16:creationId xmlns:a16="http://schemas.microsoft.com/office/drawing/2014/main" id="{BA158BAC-0EC1-B39E-C2A1-B5D420739C5F}"/>
                </a:ext>
              </a:extLst>
            </p:cNvPr>
            <p:cNvSpPr/>
            <p:nvPr/>
          </p:nvSpPr>
          <p:spPr>
            <a:xfrm>
              <a:off x="2592000" y="5580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13" name="椭圆 512">
              <a:extLst>
                <a:ext uri="{FF2B5EF4-FFF2-40B4-BE49-F238E27FC236}">
                  <a16:creationId xmlns:a16="http://schemas.microsoft.com/office/drawing/2014/main" id="{89A6E48B-9C48-C513-BDF4-8B76C0D738A3}"/>
                </a:ext>
              </a:extLst>
            </p:cNvPr>
            <p:cNvSpPr/>
            <p:nvPr/>
          </p:nvSpPr>
          <p:spPr>
            <a:xfrm>
              <a:off x="2772000" y="5400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14" name="椭圆 513">
              <a:extLst>
                <a:ext uri="{FF2B5EF4-FFF2-40B4-BE49-F238E27FC236}">
                  <a16:creationId xmlns:a16="http://schemas.microsoft.com/office/drawing/2014/main" id="{8C9CED2C-E48C-B195-651F-A40427C815F0}"/>
                </a:ext>
              </a:extLst>
            </p:cNvPr>
            <p:cNvSpPr/>
            <p:nvPr/>
          </p:nvSpPr>
          <p:spPr>
            <a:xfrm>
              <a:off x="2448000" y="552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15" name="椭圆 514">
              <a:extLst>
                <a:ext uri="{FF2B5EF4-FFF2-40B4-BE49-F238E27FC236}">
                  <a16:creationId xmlns:a16="http://schemas.microsoft.com/office/drawing/2014/main" id="{861522D0-1CEC-50A0-6F81-825BFCCAFE77}"/>
                </a:ext>
              </a:extLst>
            </p:cNvPr>
            <p:cNvSpPr/>
            <p:nvPr/>
          </p:nvSpPr>
          <p:spPr>
            <a:xfrm>
              <a:off x="2592000" y="5400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516" name="文本框 515">
              <a:extLst>
                <a:ext uri="{FF2B5EF4-FFF2-40B4-BE49-F238E27FC236}">
                  <a16:creationId xmlns:a16="http://schemas.microsoft.com/office/drawing/2014/main" id="{DD8EC8E9-5604-C4AC-A449-AD49B0D90FB6}"/>
                </a:ext>
              </a:extLst>
            </p:cNvPr>
            <p:cNvSpPr txBox="1"/>
            <p:nvPr/>
          </p:nvSpPr>
          <p:spPr>
            <a:xfrm>
              <a:off x="2520000" y="5418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517" name="椭圆 516">
              <a:extLst>
                <a:ext uri="{FF2B5EF4-FFF2-40B4-BE49-F238E27FC236}">
                  <a16:creationId xmlns:a16="http://schemas.microsoft.com/office/drawing/2014/main" id="{FBC69BFF-DE23-208F-9F0C-CE8DBE46DB51}"/>
                </a:ext>
              </a:extLst>
            </p:cNvPr>
            <p:cNvSpPr/>
            <p:nvPr/>
          </p:nvSpPr>
          <p:spPr>
            <a:xfrm>
              <a:off x="2988000" y="552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18" name="椭圆 517">
              <a:extLst>
                <a:ext uri="{FF2B5EF4-FFF2-40B4-BE49-F238E27FC236}">
                  <a16:creationId xmlns:a16="http://schemas.microsoft.com/office/drawing/2014/main" id="{6DA62A53-43CB-85DE-4863-DE6BAD51372E}"/>
                </a:ext>
              </a:extLst>
            </p:cNvPr>
            <p:cNvSpPr/>
            <p:nvPr/>
          </p:nvSpPr>
          <p:spPr>
            <a:xfrm>
              <a:off x="2718000" y="579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19" name="椭圆 518">
              <a:extLst>
                <a:ext uri="{FF2B5EF4-FFF2-40B4-BE49-F238E27FC236}">
                  <a16:creationId xmlns:a16="http://schemas.microsoft.com/office/drawing/2014/main" id="{5BE2464C-81FA-8B34-794E-FDBED15CFE38}"/>
                </a:ext>
              </a:extLst>
            </p:cNvPr>
            <p:cNvSpPr/>
            <p:nvPr/>
          </p:nvSpPr>
          <p:spPr>
            <a:xfrm>
              <a:off x="2718000" y="525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20" name="椭圆 519">
              <a:extLst>
                <a:ext uri="{FF2B5EF4-FFF2-40B4-BE49-F238E27FC236}">
                  <a16:creationId xmlns:a16="http://schemas.microsoft.com/office/drawing/2014/main" id="{D61AA320-6654-16B6-CDDB-25C08F50EB40}"/>
                </a:ext>
              </a:extLst>
            </p:cNvPr>
            <p:cNvSpPr/>
            <p:nvPr/>
          </p:nvSpPr>
          <p:spPr>
            <a:xfrm>
              <a:off x="3600000" y="3564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21" name="椭圆 520">
              <a:extLst>
                <a:ext uri="{FF2B5EF4-FFF2-40B4-BE49-F238E27FC236}">
                  <a16:creationId xmlns:a16="http://schemas.microsoft.com/office/drawing/2014/main" id="{B9D7FB95-68E6-AE35-7B92-2FB5060FDCD4}"/>
                </a:ext>
              </a:extLst>
            </p:cNvPr>
            <p:cNvSpPr/>
            <p:nvPr/>
          </p:nvSpPr>
          <p:spPr>
            <a:xfrm>
              <a:off x="3600000" y="2556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22" name="椭圆 521">
              <a:extLst>
                <a:ext uri="{FF2B5EF4-FFF2-40B4-BE49-F238E27FC236}">
                  <a16:creationId xmlns:a16="http://schemas.microsoft.com/office/drawing/2014/main" id="{2696858C-9A8B-6B8B-F1AA-208BD9612667}"/>
                </a:ext>
              </a:extLst>
            </p:cNvPr>
            <p:cNvSpPr/>
            <p:nvPr/>
          </p:nvSpPr>
          <p:spPr>
            <a:xfrm>
              <a:off x="3780000" y="3384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23" name="椭圆 522">
              <a:extLst>
                <a:ext uri="{FF2B5EF4-FFF2-40B4-BE49-F238E27FC236}">
                  <a16:creationId xmlns:a16="http://schemas.microsoft.com/office/drawing/2014/main" id="{77CA737E-1289-CCD1-17EF-29D5347F2E89}"/>
                </a:ext>
              </a:extLst>
            </p:cNvPr>
            <p:cNvSpPr/>
            <p:nvPr/>
          </p:nvSpPr>
          <p:spPr>
            <a:xfrm>
              <a:off x="3456000" y="351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24" name="椭圆 523">
              <a:extLst>
                <a:ext uri="{FF2B5EF4-FFF2-40B4-BE49-F238E27FC236}">
                  <a16:creationId xmlns:a16="http://schemas.microsoft.com/office/drawing/2014/main" id="{380EF325-0650-CE2A-60A6-49F312C79DFC}"/>
                </a:ext>
              </a:extLst>
            </p:cNvPr>
            <p:cNvSpPr/>
            <p:nvPr/>
          </p:nvSpPr>
          <p:spPr>
            <a:xfrm>
              <a:off x="3600000" y="3384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525" name="文本框 524">
              <a:extLst>
                <a:ext uri="{FF2B5EF4-FFF2-40B4-BE49-F238E27FC236}">
                  <a16:creationId xmlns:a16="http://schemas.microsoft.com/office/drawing/2014/main" id="{B06FC369-B993-AFC9-CB58-EB7A36B0EE0D}"/>
                </a:ext>
              </a:extLst>
            </p:cNvPr>
            <p:cNvSpPr txBox="1"/>
            <p:nvPr/>
          </p:nvSpPr>
          <p:spPr>
            <a:xfrm>
              <a:off x="3528000" y="3402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526" name="椭圆 525">
              <a:extLst>
                <a:ext uri="{FF2B5EF4-FFF2-40B4-BE49-F238E27FC236}">
                  <a16:creationId xmlns:a16="http://schemas.microsoft.com/office/drawing/2014/main" id="{38B1BEF2-F3E0-46CE-B850-2C374BDC62B3}"/>
                </a:ext>
              </a:extLst>
            </p:cNvPr>
            <p:cNvSpPr/>
            <p:nvPr/>
          </p:nvSpPr>
          <p:spPr>
            <a:xfrm>
              <a:off x="3996000" y="351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27" name="椭圆 526">
              <a:extLst>
                <a:ext uri="{FF2B5EF4-FFF2-40B4-BE49-F238E27FC236}">
                  <a16:creationId xmlns:a16="http://schemas.microsoft.com/office/drawing/2014/main" id="{67867911-8B35-232F-E11E-69D3981255ED}"/>
                </a:ext>
              </a:extLst>
            </p:cNvPr>
            <p:cNvSpPr/>
            <p:nvPr/>
          </p:nvSpPr>
          <p:spPr>
            <a:xfrm>
              <a:off x="3726000" y="378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28" name="椭圆 527">
              <a:extLst>
                <a:ext uri="{FF2B5EF4-FFF2-40B4-BE49-F238E27FC236}">
                  <a16:creationId xmlns:a16="http://schemas.microsoft.com/office/drawing/2014/main" id="{E668ABE6-0D9C-1665-D5ED-A17FF6D0C7D1}"/>
                </a:ext>
              </a:extLst>
            </p:cNvPr>
            <p:cNvSpPr/>
            <p:nvPr/>
          </p:nvSpPr>
          <p:spPr>
            <a:xfrm>
              <a:off x="3726000" y="324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29" name="椭圆 528">
              <a:extLst>
                <a:ext uri="{FF2B5EF4-FFF2-40B4-BE49-F238E27FC236}">
                  <a16:creationId xmlns:a16="http://schemas.microsoft.com/office/drawing/2014/main" id="{F58EDCFA-7E4B-3642-793B-7984FA5828B9}"/>
                </a:ext>
              </a:extLst>
            </p:cNvPr>
            <p:cNvSpPr/>
            <p:nvPr/>
          </p:nvSpPr>
          <p:spPr>
            <a:xfrm>
              <a:off x="3600000" y="4572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30" name="椭圆 529">
              <a:extLst>
                <a:ext uri="{FF2B5EF4-FFF2-40B4-BE49-F238E27FC236}">
                  <a16:creationId xmlns:a16="http://schemas.microsoft.com/office/drawing/2014/main" id="{0B0C81D0-B241-0EB7-CD4D-67C5439CF162}"/>
                </a:ext>
              </a:extLst>
            </p:cNvPr>
            <p:cNvSpPr/>
            <p:nvPr/>
          </p:nvSpPr>
          <p:spPr>
            <a:xfrm>
              <a:off x="3780000" y="4392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31" name="椭圆 530">
              <a:extLst>
                <a:ext uri="{FF2B5EF4-FFF2-40B4-BE49-F238E27FC236}">
                  <a16:creationId xmlns:a16="http://schemas.microsoft.com/office/drawing/2014/main" id="{50D8AFFB-581E-3661-862D-0B4B2E21A4D7}"/>
                </a:ext>
              </a:extLst>
            </p:cNvPr>
            <p:cNvSpPr/>
            <p:nvPr/>
          </p:nvSpPr>
          <p:spPr>
            <a:xfrm>
              <a:off x="3456000" y="4518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32" name="椭圆 531">
              <a:extLst>
                <a:ext uri="{FF2B5EF4-FFF2-40B4-BE49-F238E27FC236}">
                  <a16:creationId xmlns:a16="http://schemas.microsoft.com/office/drawing/2014/main" id="{266FC9E2-028A-12DD-E953-15392837C6D2}"/>
                </a:ext>
              </a:extLst>
            </p:cNvPr>
            <p:cNvSpPr/>
            <p:nvPr/>
          </p:nvSpPr>
          <p:spPr>
            <a:xfrm>
              <a:off x="3600000" y="4392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533" name="文本框 532">
              <a:extLst>
                <a:ext uri="{FF2B5EF4-FFF2-40B4-BE49-F238E27FC236}">
                  <a16:creationId xmlns:a16="http://schemas.microsoft.com/office/drawing/2014/main" id="{BE77D90B-453A-1962-F368-6AB8FA1743B9}"/>
                </a:ext>
              </a:extLst>
            </p:cNvPr>
            <p:cNvSpPr txBox="1"/>
            <p:nvPr/>
          </p:nvSpPr>
          <p:spPr>
            <a:xfrm>
              <a:off x="3528000" y="4410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534" name="椭圆 533">
              <a:extLst>
                <a:ext uri="{FF2B5EF4-FFF2-40B4-BE49-F238E27FC236}">
                  <a16:creationId xmlns:a16="http://schemas.microsoft.com/office/drawing/2014/main" id="{3E54B637-513E-DA6D-20E5-CD8D42BEE5DA}"/>
                </a:ext>
              </a:extLst>
            </p:cNvPr>
            <p:cNvSpPr/>
            <p:nvPr/>
          </p:nvSpPr>
          <p:spPr>
            <a:xfrm>
              <a:off x="3996000" y="4518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35" name="椭圆 534">
              <a:extLst>
                <a:ext uri="{FF2B5EF4-FFF2-40B4-BE49-F238E27FC236}">
                  <a16:creationId xmlns:a16="http://schemas.microsoft.com/office/drawing/2014/main" id="{F8E7CFFC-AD13-FC80-5248-A4105588CA64}"/>
                </a:ext>
              </a:extLst>
            </p:cNvPr>
            <p:cNvSpPr/>
            <p:nvPr/>
          </p:nvSpPr>
          <p:spPr>
            <a:xfrm>
              <a:off x="3726000" y="4788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36" name="椭圆 535">
              <a:extLst>
                <a:ext uri="{FF2B5EF4-FFF2-40B4-BE49-F238E27FC236}">
                  <a16:creationId xmlns:a16="http://schemas.microsoft.com/office/drawing/2014/main" id="{6D55A55D-35DA-2400-8CE7-B71546E223E2}"/>
                </a:ext>
              </a:extLst>
            </p:cNvPr>
            <p:cNvSpPr/>
            <p:nvPr/>
          </p:nvSpPr>
          <p:spPr>
            <a:xfrm>
              <a:off x="3726000" y="4248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37" name="椭圆 536">
              <a:extLst>
                <a:ext uri="{FF2B5EF4-FFF2-40B4-BE49-F238E27FC236}">
                  <a16:creationId xmlns:a16="http://schemas.microsoft.com/office/drawing/2014/main" id="{AF8ED5BF-D550-D511-8806-F023EA3FBC0A}"/>
                </a:ext>
              </a:extLst>
            </p:cNvPr>
            <p:cNvSpPr/>
            <p:nvPr/>
          </p:nvSpPr>
          <p:spPr>
            <a:xfrm>
              <a:off x="3600000" y="5580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38" name="椭圆 537">
              <a:extLst>
                <a:ext uri="{FF2B5EF4-FFF2-40B4-BE49-F238E27FC236}">
                  <a16:creationId xmlns:a16="http://schemas.microsoft.com/office/drawing/2014/main" id="{44A37534-FD0E-975C-D79E-6E28A752AF73}"/>
                </a:ext>
              </a:extLst>
            </p:cNvPr>
            <p:cNvSpPr/>
            <p:nvPr/>
          </p:nvSpPr>
          <p:spPr>
            <a:xfrm>
              <a:off x="3780000" y="5400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539" name="椭圆 538">
              <a:extLst>
                <a:ext uri="{FF2B5EF4-FFF2-40B4-BE49-F238E27FC236}">
                  <a16:creationId xmlns:a16="http://schemas.microsoft.com/office/drawing/2014/main" id="{FD0F25B4-F57F-AA3A-7709-7D728A49B6DD}"/>
                </a:ext>
              </a:extLst>
            </p:cNvPr>
            <p:cNvSpPr/>
            <p:nvPr/>
          </p:nvSpPr>
          <p:spPr>
            <a:xfrm>
              <a:off x="3456000" y="552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40" name="椭圆 539">
              <a:extLst>
                <a:ext uri="{FF2B5EF4-FFF2-40B4-BE49-F238E27FC236}">
                  <a16:creationId xmlns:a16="http://schemas.microsoft.com/office/drawing/2014/main" id="{A8C07DF8-67B7-B6E1-5D56-498C3B5F849C}"/>
                </a:ext>
              </a:extLst>
            </p:cNvPr>
            <p:cNvSpPr/>
            <p:nvPr/>
          </p:nvSpPr>
          <p:spPr>
            <a:xfrm>
              <a:off x="3600000" y="5400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541" name="文本框 540">
              <a:extLst>
                <a:ext uri="{FF2B5EF4-FFF2-40B4-BE49-F238E27FC236}">
                  <a16:creationId xmlns:a16="http://schemas.microsoft.com/office/drawing/2014/main" id="{DE9E1A9F-8DFE-87E1-8ED0-8A49E5ED804E}"/>
                </a:ext>
              </a:extLst>
            </p:cNvPr>
            <p:cNvSpPr txBox="1"/>
            <p:nvPr/>
          </p:nvSpPr>
          <p:spPr>
            <a:xfrm>
              <a:off x="3528000" y="5418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542" name="椭圆 541">
              <a:extLst>
                <a:ext uri="{FF2B5EF4-FFF2-40B4-BE49-F238E27FC236}">
                  <a16:creationId xmlns:a16="http://schemas.microsoft.com/office/drawing/2014/main" id="{6A5BDA58-A2AA-7FCF-0AD1-D45B32BA6B2A}"/>
                </a:ext>
              </a:extLst>
            </p:cNvPr>
            <p:cNvSpPr/>
            <p:nvPr/>
          </p:nvSpPr>
          <p:spPr>
            <a:xfrm>
              <a:off x="3996000" y="552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43" name="椭圆 542">
              <a:extLst>
                <a:ext uri="{FF2B5EF4-FFF2-40B4-BE49-F238E27FC236}">
                  <a16:creationId xmlns:a16="http://schemas.microsoft.com/office/drawing/2014/main" id="{A8B8857E-DC83-0191-8281-C1AB3E74A3BB}"/>
                </a:ext>
              </a:extLst>
            </p:cNvPr>
            <p:cNvSpPr/>
            <p:nvPr/>
          </p:nvSpPr>
          <p:spPr>
            <a:xfrm>
              <a:off x="3726000" y="579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44" name="椭圆 543">
              <a:extLst>
                <a:ext uri="{FF2B5EF4-FFF2-40B4-BE49-F238E27FC236}">
                  <a16:creationId xmlns:a16="http://schemas.microsoft.com/office/drawing/2014/main" id="{CF481EC3-250B-77D7-65AD-123B3838CB07}"/>
                </a:ext>
              </a:extLst>
            </p:cNvPr>
            <p:cNvSpPr/>
            <p:nvPr/>
          </p:nvSpPr>
          <p:spPr>
            <a:xfrm>
              <a:off x="3726000" y="525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45" name="矩形 544">
              <a:extLst>
                <a:ext uri="{FF2B5EF4-FFF2-40B4-BE49-F238E27FC236}">
                  <a16:creationId xmlns:a16="http://schemas.microsoft.com/office/drawing/2014/main" id="{D5C19208-37C5-7491-47B5-973A7CB9CFDB}"/>
                </a:ext>
              </a:extLst>
            </p:cNvPr>
            <p:cNvSpPr/>
            <p:nvPr/>
          </p:nvSpPr>
          <p:spPr>
            <a:xfrm>
              <a:off x="720000" y="3276000"/>
              <a:ext cx="540000" cy="259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46" name="矩形 545">
              <a:extLst>
                <a:ext uri="{FF2B5EF4-FFF2-40B4-BE49-F238E27FC236}">
                  <a16:creationId xmlns:a16="http://schemas.microsoft.com/office/drawing/2014/main" id="{CCF439C7-3A6D-A13D-B604-97C2AF068E9C}"/>
                </a:ext>
              </a:extLst>
            </p:cNvPr>
            <p:cNvSpPr/>
            <p:nvPr/>
          </p:nvSpPr>
          <p:spPr>
            <a:xfrm>
              <a:off x="4284000" y="3276000"/>
              <a:ext cx="540000" cy="259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47" name="矩形 546">
              <a:extLst>
                <a:ext uri="{FF2B5EF4-FFF2-40B4-BE49-F238E27FC236}">
                  <a16:creationId xmlns:a16="http://schemas.microsoft.com/office/drawing/2014/main" id="{FDE5FA97-B1CC-D3A0-E793-578458646BAD}"/>
                </a:ext>
              </a:extLst>
            </p:cNvPr>
            <p:cNvSpPr/>
            <p:nvPr/>
          </p:nvSpPr>
          <p:spPr>
            <a:xfrm>
              <a:off x="1476000" y="2520000"/>
              <a:ext cx="2592000" cy="54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48" name="矩形 547">
              <a:extLst>
                <a:ext uri="{FF2B5EF4-FFF2-40B4-BE49-F238E27FC236}">
                  <a16:creationId xmlns:a16="http://schemas.microsoft.com/office/drawing/2014/main" id="{BEF7B679-76D4-3FFB-93A3-930F35E78D1B}"/>
                </a:ext>
              </a:extLst>
            </p:cNvPr>
            <p:cNvSpPr/>
            <p:nvPr/>
          </p:nvSpPr>
          <p:spPr>
            <a:xfrm>
              <a:off x="1476000" y="6084000"/>
              <a:ext cx="2592000" cy="54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549" name="椭圆 548">
              <a:extLst>
                <a:ext uri="{FF2B5EF4-FFF2-40B4-BE49-F238E27FC236}">
                  <a16:creationId xmlns:a16="http://schemas.microsoft.com/office/drawing/2014/main" id="{50C91EFA-2750-095E-65C9-C489A394C273}"/>
                </a:ext>
              </a:extLst>
            </p:cNvPr>
            <p:cNvSpPr/>
            <p:nvPr/>
          </p:nvSpPr>
          <p:spPr>
            <a:xfrm>
              <a:off x="2988000" y="4248000"/>
              <a:ext cx="108000" cy="108000"/>
            </a:xfrm>
            <a:prstGeom prst="ellipse">
              <a:avLst/>
            </a:prstGeom>
            <a:solidFill>
              <a:srgbClr val="FF0000"/>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grpSp>
      <p:sp>
        <p:nvSpPr>
          <p:cNvPr id="4" name="文本框 3">
            <a:extLst>
              <a:ext uri="{FF2B5EF4-FFF2-40B4-BE49-F238E27FC236}">
                <a16:creationId xmlns:a16="http://schemas.microsoft.com/office/drawing/2014/main" id="{5A99D235-F551-7F2F-EABD-68BE4DA3A2BE}"/>
              </a:ext>
            </a:extLst>
          </p:cNvPr>
          <p:cNvSpPr txBox="1"/>
          <p:nvPr/>
        </p:nvSpPr>
        <p:spPr>
          <a:xfrm>
            <a:off x="359999" y="828000"/>
            <a:ext cx="11169391" cy="2055306"/>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en-US" altLang="zh-CN" sz="2800" dirty="0">
                <a:solidFill>
                  <a:srgbClr val="002060"/>
                </a:solidFill>
                <a:latin typeface="微软雅黑" panose="020B0503020204020204" pitchFamily="34" charset="-122"/>
                <a:ea typeface="微软雅黑" panose="020B0503020204020204" pitchFamily="34" charset="-122"/>
              </a:rPr>
              <a:t>N </a:t>
            </a:r>
            <a:r>
              <a:rPr kumimoji="1" lang="zh-CN" altLang="en-US" sz="2800" dirty="0">
                <a:solidFill>
                  <a:srgbClr val="002060"/>
                </a:solidFill>
                <a:latin typeface="微软雅黑" panose="020B0503020204020204" pitchFamily="34" charset="-122"/>
                <a:ea typeface="微软雅黑" panose="020B0503020204020204" pitchFamily="34" charset="-122"/>
              </a:rPr>
              <a:t>型半导体：掺入五价杂质元素（施主杂质）</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自由电子是多数载流子（多子）：每个杂质元素的原子产生一个自由电子，浓度较掺杂前高很多</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空穴是少数载流子（少子）：本征激发的空穴远少于自由电子</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5" name="组合 4">
            <a:extLst>
              <a:ext uri="{FF2B5EF4-FFF2-40B4-BE49-F238E27FC236}">
                <a16:creationId xmlns:a16="http://schemas.microsoft.com/office/drawing/2014/main" id="{5E70EE92-B3E7-A77D-ABA2-E0BB119FB9CD}"/>
              </a:ext>
            </a:extLst>
          </p:cNvPr>
          <p:cNvGrpSpPr/>
          <p:nvPr/>
        </p:nvGrpSpPr>
        <p:grpSpPr>
          <a:xfrm>
            <a:off x="11449269" y="6198682"/>
            <a:ext cx="786273" cy="548639"/>
            <a:chOff x="11454918" y="5839511"/>
            <a:chExt cx="786273" cy="548639"/>
          </a:xfrm>
        </p:grpSpPr>
        <p:grpSp>
          <p:nvGrpSpPr>
            <p:cNvPr id="6" name="组合 5">
              <a:extLst>
                <a:ext uri="{FF2B5EF4-FFF2-40B4-BE49-F238E27FC236}">
                  <a16:creationId xmlns:a16="http://schemas.microsoft.com/office/drawing/2014/main" id="{E254CA57-7828-DD43-B61F-479D1F97575A}"/>
                </a:ext>
              </a:extLst>
            </p:cNvPr>
            <p:cNvGrpSpPr/>
            <p:nvPr/>
          </p:nvGrpSpPr>
          <p:grpSpPr>
            <a:xfrm>
              <a:off x="11454918" y="5867450"/>
              <a:ext cx="737081" cy="520700"/>
              <a:chOff x="11454918" y="5867450"/>
              <a:chExt cx="737081" cy="520700"/>
            </a:xfrm>
          </p:grpSpPr>
          <p:sp>
            <p:nvSpPr>
              <p:cNvPr id="8" name="箭头: 五边形 7">
                <a:extLst>
                  <a:ext uri="{FF2B5EF4-FFF2-40B4-BE49-F238E27FC236}">
                    <a16:creationId xmlns:a16="http://schemas.microsoft.com/office/drawing/2014/main" id="{E516F421-7B75-52FB-913F-E80826345567}"/>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箭头: V 形 8">
                <a:extLst>
                  <a:ext uri="{FF2B5EF4-FFF2-40B4-BE49-F238E27FC236}">
                    <a16:creationId xmlns:a16="http://schemas.microsoft.com/office/drawing/2014/main" id="{06688736-09CE-8438-4475-9846D3FB557A}"/>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7" name="灯片编号占位符 3">
              <a:extLst>
                <a:ext uri="{FF2B5EF4-FFF2-40B4-BE49-F238E27FC236}">
                  <a16:creationId xmlns:a16="http://schemas.microsoft.com/office/drawing/2014/main" id="{4EDCD498-BA01-97D4-C737-EC5231111173}"/>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7</a:t>
              </a:fld>
              <a:endParaRPr lang="zh-CN" altLang="en-US" sz="3200" dirty="0">
                <a:solidFill>
                  <a:schemeClr val="bg1"/>
                </a:solidFill>
                <a:latin typeface="Candara"/>
                <a:ea typeface="微软雅黑"/>
              </a:endParaRPr>
            </a:p>
          </p:txBody>
        </p:sp>
      </p:grpSp>
      <p:sp>
        <p:nvSpPr>
          <p:cNvPr id="2" name="标题 1">
            <a:extLst>
              <a:ext uri="{FF2B5EF4-FFF2-40B4-BE49-F238E27FC236}">
                <a16:creationId xmlns:a16="http://schemas.microsoft.com/office/drawing/2014/main" id="{A4E24621-D6AD-206C-9D5D-33B513B0C92A}"/>
              </a:ext>
            </a:extLst>
          </p:cNvPr>
          <p:cNvSpPr txBox="1">
            <a:spLocks/>
          </p:cNvSpPr>
          <p:nvPr/>
        </p:nvSpPr>
        <p:spPr>
          <a:xfrm>
            <a:off x="360000" y="0"/>
            <a:ext cx="11826000" cy="548639"/>
          </a:xfrm>
          <a:prstGeom prst="rect">
            <a:avLst/>
          </a:prstGeom>
        </p:spPr>
        <p:txBody>
          <a:bodyPr anchor="b">
            <a:normAutofit/>
          </a:bodyPr>
          <a:lstStyle>
            <a:defPPr>
              <a:defRPr lang="zh-CN"/>
            </a:defPPr>
            <a:lvl1pPr marL="0" algn="l" defTabSz="914400" rtl="0" eaLnBrk="1" latinLnBrk="0" hangingPunct="1">
              <a:lnSpc>
                <a:spcPct val="90000"/>
              </a:lnSpc>
              <a:spcBef>
                <a:spcPct val="0"/>
              </a:spcBef>
              <a:buNone/>
              <a:defRPr sz="3200" b="1" kern="1200">
                <a:solidFill>
                  <a:schemeClr val="bg1"/>
                </a:solidFill>
                <a:latin typeface="微软雅黑" panose="020B0503020204020204" pitchFamily="34" charset="-122"/>
                <a:ea typeface="微软雅黑" panose="020B0503020204020204" pitchFamily="34" charset="-122"/>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000" dirty="0"/>
              <a:t>半导体的基本知识 </a:t>
            </a:r>
            <a:r>
              <a:rPr lang="en-US" altLang="zh-CN" sz="3000" dirty="0"/>
              <a:t>—— </a:t>
            </a:r>
            <a:r>
              <a:rPr lang="zh-CN" altLang="en-US" sz="3000" dirty="0">
                <a:solidFill>
                  <a:srgbClr val="FFFF00"/>
                </a:solidFill>
              </a:rPr>
              <a:t>杂质半导体</a:t>
            </a:r>
            <a:endParaRPr lang="en-US" altLang="zh-CN" sz="3000" dirty="0"/>
          </a:p>
        </p:txBody>
      </p:sp>
      <p:sp>
        <p:nvSpPr>
          <p:cNvPr id="722" name="弧形 721">
            <a:extLst>
              <a:ext uri="{FF2B5EF4-FFF2-40B4-BE49-F238E27FC236}">
                <a16:creationId xmlns:a16="http://schemas.microsoft.com/office/drawing/2014/main" id="{34874DBD-0EAC-EA2D-5B90-30757B8A836A}"/>
              </a:ext>
            </a:extLst>
          </p:cNvPr>
          <p:cNvSpPr/>
          <p:nvPr/>
        </p:nvSpPr>
        <p:spPr>
          <a:xfrm>
            <a:off x="8316000" y="3420000"/>
            <a:ext cx="2376000" cy="576000"/>
          </a:xfrm>
          <a:prstGeom prst="arc">
            <a:avLst>
              <a:gd name="adj1" fmla="val 2891902"/>
              <a:gd name="adj2" fmla="val 10128070"/>
            </a:avLst>
          </a:prstGeom>
          <a:ln w="19050">
            <a:solidFill>
              <a:srgbClr val="0000FF"/>
            </a:solidFill>
            <a:headEnd type="none"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23" name="Text Box 9">
            <a:extLst>
              <a:ext uri="{FF2B5EF4-FFF2-40B4-BE49-F238E27FC236}">
                <a16:creationId xmlns:a16="http://schemas.microsoft.com/office/drawing/2014/main" id="{C7BFFF3E-5808-8DB2-D48C-300ED3ADA680}"/>
              </a:ext>
            </a:extLst>
          </p:cNvPr>
          <p:cNvSpPr txBox="1">
            <a:spLocks noChangeArrowheads="1"/>
          </p:cNvSpPr>
          <p:nvPr/>
        </p:nvSpPr>
        <p:spPr bwMode="auto">
          <a:xfrm>
            <a:off x="9863999" y="3672000"/>
            <a:ext cx="2340000"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r>
              <a:rPr kumimoji="1" lang="zh-CN" altLang="en-US" sz="1800" b="0" dirty="0">
                <a:solidFill>
                  <a:srgbClr val="0000FF"/>
                </a:solidFill>
                <a:latin typeface="Microsoft YaHei" panose="020B0503020204020204" pitchFamily="34" charset="-122"/>
                <a:ea typeface="Microsoft YaHei" panose="020B0503020204020204" pitchFamily="34" charset="-122"/>
              </a:rPr>
              <a:t>施主原子提供的多余的自由电子</a:t>
            </a:r>
          </a:p>
        </p:txBody>
      </p:sp>
      <p:sp>
        <p:nvSpPr>
          <p:cNvPr id="724" name="弧形 723">
            <a:extLst>
              <a:ext uri="{FF2B5EF4-FFF2-40B4-BE49-F238E27FC236}">
                <a16:creationId xmlns:a16="http://schemas.microsoft.com/office/drawing/2014/main" id="{4E206F4D-1D4F-6DE2-FC26-EC680498CD37}"/>
              </a:ext>
            </a:extLst>
          </p:cNvPr>
          <p:cNvSpPr/>
          <p:nvPr/>
        </p:nvSpPr>
        <p:spPr>
          <a:xfrm rot="1164449">
            <a:off x="7806019" y="4498977"/>
            <a:ext cx="2520000" cy="720000"/>
          </a:xfrm>
          <a:prstGeom prst="arc">
            <a:avLst>
              <a:gd name="adj1" fmla="val 1018893"/>
              <a:gd name="adj2" fmla="val 10032370"/>
            </a:avLst>
          </a:prstGeom>
          <a:ln w="19050">
            <a:solidFill>
              <a:srgbClr val="0000FF"/>
            </a:solidFill>
            <a:headEnd type="none"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25" name="Text Box 9">
            <a:extLst>
              <a:ext uri="{FF2B5EF4-FFF2-40B4-BE49-F238E27FC236}">
                <a16:creationId xmlns:a16="http://schemas.microsoft.com/office/drawing/2014/main" id="{FA0FB733-E53E-F7FA-9F55-C90BF9B0672D}"/>
              </a:ext>
            </a:extLst>
          </p:cNvPr>
          <p:cNvSpPr txBox="1">
            <a:spLocks noChangeArrowheads="1"/>
          </p:cNvSpPr>
          <p:nvPr/>
        </p:nvSpPr>
        <p:spPr bwMode="auto">
          <a:xfrm>
            <a:off x="9864000" y="5040000"/>
            <a:ext cx="2340000"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None/>
            </a:pPr>
            <a:r>
              <a:rPr kumimoji="1" lang="zh-CN" altLang="en-US" sz="1800" b="0" dirty="0">
                <a:solidFill>
                  <a:srgbClr val="0000FF"/>
                </a:solidFill>
                <a:latin typeface="Microsoft YaHei" panose="020B0503020204020204" pitchFamily="34" charset="-122"/>
                <a:ea typeface="Microsoft YaHei" panose="020B0503020204020204" pitchFamily="34" charset="-122"/>
              </a:rPr>
              <a:t>电子移开后施主原子形成一个正离子</a:t>
            </a:r>
          </a:p>
        </p:txBody>
      </p:sp>
      <p:sp>
        <p:nvSpPr>
          <p:cNvPr id="233" name="文本框 232">
            <a:extLst>
              <a:ext uri="{FF2B5EF4-FFF2-40B4-BE49-F238E27FC236}">
                <a16:creationId xmlns:a16="http://schemas.microsoft.com/office/drawing/2014/main" id="{8F87B4F5-5476-13D2-8962-4BD93CD2B464}"/>
              </a:ext>
            </a:extLst>
          </p:cNvPr>
          <p:cNvSpPr txBox="1"/>
          <p:nvPr/>
        </p:nvSpPr>
        <p:spPr>
          <a:xfrm>
            <a:off x="2688557" y="6228000"/>
            <a:ext cx="6814886" cy="497957"/>
          </a:xfrm>
          <a:prstGeom prst="rect">
            <a:avLst/>
          </a:prstGeom>
          <a:noFill/>
        </p:spPr>
        <p:txBody>
          <a:bodyPr wrap="square">
            <a:spAutoFit/>
          </a:bodyPr>
          <a:lstStyle/>
          <a:p>
            <a:pPr>
              <a:lnSpc>
                <a:spcPct val="120000"/>
              </a:lnSpc>
              <a:spcAft>
                <a:spcPts val="600"/>
              </a:spcAft>
            </a:pPr>
            <a:r>
              <a:rPr kumimoji="1" lang="zh-CN" altLang="en-US" sz="2400" dirty="0">
                <a:solidFill>
                  <a:srgbClr val="C00000"/>
                </a:solidFill>
                <a:latin typeface="微软雅黑" panose="020B0503020204020204" pitchFamily="34" charset="-122"/>
                <a:ea typeface="微软雅黑" panose="020B0503020204020204" pitchFamily="34" charset="-122"/>
              </a:rPr>
              <a:t>多子带负电（</a:t>
            </a:r>
            <a:r>
              <a:rPr kumimoji="1" lang="en-US" altLang="zh-CN" sz="2400" dirty="0">
                <a:solidFill>
                  <a:srgbClr val="C00000"/>
                </a:solidFill>
                <a:latin typeface="微软雅黑" panose="020B0503020204020204" pitchFamily="34" charset="-122"/>
                <a:ea typeface="微软雅黑" panose="020B0503020204020204" pitchFamily="34" charset="-122"/>
              </a:rPr>
              <a:t>Negative</a:t>
            </a:r>
            <a:r>
              <a:rPr kumimoji="1" lang="zh-CN" altLang="en-US" sz="2400" dirty="0">
                <a:solidFill>
                  <a:srgbClr val="C00000"/>
                </a:solidFill>
                <a:latin typeface="微软雅黑" panose="020B0503020204020204" pitchFamily="34" charset="-122"/>
                <a:ea typeface="微软雅黑" panose="020B0503020204020204" pitchFamily="34" charset="-122"/>
              </a:rPr>
              <a:t>），故称为 </a:t>
            </a:r>
            <a:r>
              <a:rPr kumimoji="1" lang="en-US" altLang="zh-CN" sz="2400" dirty="0">
                <a:solidFill>
                  <a:srgbClr val="C00000"/>
                </a:solidFill>
                <a:latin typeface="微软雅黑" panose="020B0503020204020204" pitchFamily="34" charset="-122"/>
                <a:ea typeface="微软雅黑" panose="020B0503020204020204" pitchFamily="34" charset="-122"/>
              </a:rPr>
              <a:t>N </a:t>
            </a:r>
            <a:r>
              <a:rPr kumimoji="1" lang="zh-CN" altLang="en-US" sz="2400" dirty="0">
                <a:solidFill>
                  <a:srgbClr val="C00000"/>
                </a:solidFill>
                <a:latin typeface="微软雅黑" panose="020B0503020204020204" pitchFamily="34" charset="-122"/>
                <a:ea typeface="微软雅黑" panose="020B0503020204020204" pitchFamily="34" charset="-122"/>
              </a:rPr>
              <a:t>型半导体</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84023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6" name="组合 175">
            <a:extLst>
              <a:ext uri="{FF2B5EF4-FFF2-40B4-BE49-F238E27FC236}">
                <a16:creationId xmlns:a16="http://schemas.microsoft.com/office/drawing/2014/main" id="{E5AC6A85-1E93-C2F2-5C5B-ECC3FA1D8B49}"/>
              </a:ext>
            </a:extLst>
          </p:cNvPr>
          <p:cNvGrpSpPr/>
          <p:nvPr/>
        </p:nvGrpSpPr>
        <p:grpSpPr>
          <a:xfrm>
            <a:off x="360000" y="1080000"/>
            <a:ext cx="4104000" cy="4104000"/>
            <a:chOff x="7452000" y="2484000"/>
            <a:chExt cx="4104000" cy="4104000"/>
          </a:xfrm>
        </p:grpSpPr>
        <p:sp>
          <p:nvSpPr>
            <p:cNvPr id="179" name="椭圆 178">
              <a:extLst>
                <a:ext uri="{FF2B5EF4-FFF2-40B4-BE49-F238E27FC236}">
                  <a16:creationId xmlns:a16="http://schemas.microsoft.com/office/drawing/2014/main" id="{6428C8A5-C683-708B-84D0-2E6B132AC206}"/>
                </a:ext>
              </a:extLst>
            </p:cNvPr>
            <p:cNvSpPr/>
            <p:nvPr/>
          </p:nvSpPr>
          <p:spPr>
            <a:xfrm>
              <a:off x="7488000" y="3348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180" name="椭圆 179">
              <a:extLst>
                <a:ext uri="{FF2B5EF4-FFF2-40B4-BE49-F238E27FC236}">
                  <a16:creationId xmlns:a16="http://schemas.microsoft.com/office/drawing/2014/main" id="{96DB3697-BD4B-C7FB-846B-79CAF5231C32}"/>
                </a:ext>
              </a:extLst>
            </p:cNvPr>
            <p:cNvSpPr/>
            <p:nvPr/>
          </p:nvSpPr>
          <p:spPr>
            <a:xfrm>
              <a:off x="7488000" y="4356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181" name="椭圆 180">
              <a:extLst>
                <a:ext uri="{FF2B5EF4-FFF2-40B4-BE49-F238E27FC236}">
                  <a16:creationId xmlns:a16="http://schemas.microsoft.com/office/drawing/2014/main" id="{2B4E9587-2066-BE06-80F7-BAC0DD9FC4D9}"/>
                </a:ext>
              </a:extLst>
            </p:cNvPr>
            <p:cNvSpPr/>
            <p:nvPr/>
          </p:nvSpPr>
          <p:spPr>
            <a:xfrm>
              <a:off x="7488000" y="5364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182" name="椭圆 181">
              <a:extLst>
                <a:ext uri="{FF2B5EF4-FFF2-40B4-BE49-F238E27FC236}">
                  <a16:creationId xmlns:a16="http://schemas.microsoft.com/office/drawing/2014/main" id="{658A19E2-B10A-58D0-EDAE-23EDEE362EEE}"/>
                </a:ext>
              </a:extLst>
            </p:cNvPr>
            <p:cNvSpPr/>
            <p:nvPr/>
          </p:nvSpPr>
          <p:spPr>
            <a:xfrm>
              <a:off x="8316000" y="3528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183" name="椭圆 182">
              <a:extLst>
                <a:ext uri="{FF2B5EF4-FFF2-40B4-BE49-F238E27FC236}">
                  <a16:creationId xmlns:a16="http://schemas.microsoft.com/office/drawing/2014/main" id="{72FA1AF3-9EEB-348B-B29E-878FB927B17A}"/>
                </a:ext>
              </a:extLst>
            </p:cNvPr>
            <p:cNvSpPr/>
            <p:nvPr/>
          </p:nvSpPr>
          <p:spPr>
            <a:xfrm>
              <a:off x="8316000" y="2520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184" name="椭圆 183">
              <a:extLst>
                <a:ext uri="{FF2B5EF4-FFF2-40B4-BE49-F238E27FC236}">
                  <a16:creationId xmlns:a16="http://schemas.microsoft.com/office/drawing/2014/main" id="{85592F4A-27ED-5A6B-A568-4498F02F7ABB}"/>
                </a:ext>
              </a:extLst>
            </p:cNvPr>
            <p:cNvSpPr/>
            <p:nvPr/>
          </p:nvSpPr>
          <p:spPr>
            <a:xfrm>
              <a:off x="8496000" y="3348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185" name="椭圆 184">
              <a:extLst>
                <a:ext uri="{FF2B5EF4-FFF2-40B4-BE49-F238E27FC236}">
                  <a16:creationId xmlns:a16="http://schemas.microsoft.com/office/drawing/2014/main" id="{F88F4957-9844-0853-F693-E982F86BCB15}"/>
                </a:ext>
              </a:extLst>
            </p:cNvPr>
            <p:cNvSpPr/>
            <p:nvPr/>
          </p:nvSpPr>
          <p:spPr>
            <a:xfrm>
              <a:off x="8172000" y="347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86" name="椭圆 185">
              <a:extLst>
                <a:ext uri="{FF2B5EF4-FFF2-40B4-BE49-F238E27FC236}">
                  <a16:creationId xmlns:a16="http://schemas.microsoft.com/office/drawing/2014/main" id="{72B3C4A0-3CA4-C148-7435-AE2AADC52D4D}"/>
                </a:ext>
              </a:extLst>
            </p:cNvPr>
            <p:cNvSpPr/>
            <p:nvPr/>
          </p:nvSpPr>
          <p:spPr>
            <a:xfrm>
              <a:off x="8316000" y="3348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187" name="文本框 186">
              <a:extLst>
                <a:ext uri="{FF2B5EF4-FFF2-40B4-BE49-F238E27FC236}">
                  <a16:creationId xmlns:a16="http://schemas.microsoft.com/office/drawing/2014/main" id="{5CEE56A1-15AF-6D40-0199-BCCA1B475174}"/>
                </a:ext>
              </a:extLst>
            </p:cNvPr>
            <p:cNvSpPr txBox="1"/>
            <p:nvPr/>
          </p:nvSpPr>
          <p:spPr>
            <a:xfrm>
              <a:off x="8244000" y="3366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188" name="椭圆 187">
              <a:extLst>
                <a:ext uri="{FF2B5EF4-FFF2-40B4-BE49-F238E27FC236}">
                  <a16:creationId xmlns:a16="http://schemas.microsoft.com/office/drawing/2014/main" id="{93D0F8E3-F28B-7F2C-FA6E-76E84B0A31F2}"/>
                </a:ext>
              </a:extLst>
            </p:cNvPr>
            <p:cNvSpPr/>
            <p:nvPr/>
          </p:nvSpPr>
          <p:spPr>
            <a:xfrm>
              <a:off x="8712000" y="347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89" name="椭圆 188">
              <a:extLst>
                <a:ext uri="{FF2B5EF4-FFF2-40B4-BE49-F238E27FC236}">
                  <a16:creationId xmlns:a16="http://schemas.microsoft.com/office/drawing/2014/main" id="{40AEC297-F20E-CFDA-700C-CAE37261016F}"/>
                </a:ext>
              </a:extLst>
            </p:cNvPr>
            <p:cNvSpPr/>
            <p:nvPr/>
          </p:nvSpPr>
          <p:spPr>
            <a:xfrm>
              <a:off x="8442000" y="374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90" name="椭圆 189">
              <a:extLst>
                <a:ext uri="{FF2B5EF4-FFF2-40B4-BE49-F238E27FC236}">
                  <a16:creationId xmlns:a16="http://schemas.microsoft.com/office/drawing/2014/main" id="{9CFEBD63-C42A-DE0B-94D1-CB907866F26C}"/>
                </a:ext>
              </a:extLst>
            </p:cNvPr>
            <p:cNvSpPr/>
            <p:nvPr/>
          </p:nvSpPr>
          <p:spPr>
            <a:xfrm>
              <a:off x="8442000" y="320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91" name="椭圆 190">
              <a:extLst>
                <a:ext uri="{FF2B5EF4-FFF2-40B4-BE49-F238E27FC236}">
                  <a16:creationId xmlns:a16="http://schemas.microsoft.com/office/drawing/2014/main" id="{03D9EC8C-999E-89CA-7914-0FE14445C61C}"/>
                </a:ext>
              </a:extLst>
            </p:cNvPr>
            <p:cNvSpPr/>
            <p:nvPr/>
          </p:nvSpPr>
          <p:spPr>
            <a:xfrm>
              <a:off x="8316000" y="4536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192" name="椭圆 191">
              <a:extLst>
                <a:ext uri="{FF2B5EF4-FFF2-40B4-BE49-F238E27FC236}">
                  <a16:creationId xmlns:a16="http://schemas.microsoft.com/office/drawing/2014/main" id="{61797764-730B-0538-CA8C-DB986AC19CA6}"/>
                </a:ext>
              </a:extLst>
            </p:cNvPr>
            <p:cNvSpPr/>
            <p:nvPr/>
          </p:nvSpPr>
          <p:spPr>
            <a:xfrm>
              <a:off x="8496000" y="4356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193" name="椭圆 192">
              <a:extLst>
                <a:ext uri="{FF2B5EF4-FFF2-40B4-BE49-F238E27FC236}">
                  <a16:creationId xmlns:a16="http://schemas.microsoft.com/office/drawing/2014/main" id="{AF5AEBF2-9F4B-A3B4-911D-E82427482DB7}"/>
                </a:ext>
              </a:extLst>
            </p:cNvPr>
            <p:cNvSpPr/>
            <p:nvPr/>
          </p:nvSpPr>
          <p:spPr>
            <a:xfrm>
              <a:off x="8172000" y="448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94" name="椭圆 193">
              <a:extLst>
                <a:ext uri="{FF2B5EF4-FFF2-40B4-BE49-F238E27FC236}">
                  <a16:creationId xmlns:a16="http://schemas.microsoft.com/office/drawing/2014/main" id="{843B6A96-31ED-AF5E-9255-E1286B6795EC}"/>
                </a:ext>
              </a:extLst>
            </p:cNvPr>
            <p:cNvSpPr/>
            <p:nvPr/>
          </p:nvSpPr>
          <p:spPr>
            <a:xfrm>
              <a:off x="8316000" y="4356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195" name="文本框 194">
              <a:extLst>
                <a:ext uri="{FF2B5EF4-FFF2-40B4-BE49-F238E27FC236}">
                  <a16:creationId xmlns:a16="http://schemas.microsoft.com/office/drawing/2014/main" id="{D3428BF3-D6B9-2129-5CC1-489CBD976EB7}"/>
                </a:ext>
              </a:extLst>
            </p:cNvPr>
            <p:cNvSpPr txBox="1"/>
            <p:nvPr/>
          </p:nvSpPr>
          <p:spPr>
            <a:xfrm>
              <a:off x="8244000" y="4374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196" name="椭圆 195">
              <a:extLst>
                <a:ext uri="{FF2B5EF4-FFF2-40B4-BE49-F238E27FC236}">
                  <a16:creationId xmlns:a16="http://schemas.microsoft.com/office/drawing/2014/main" id="{A9DDCB83-495C-D198-7189-F0D45D789227}"/>
                </a:ext>
              </a:extLst>
            </p:cNvPr>
            <p:cNvSpPr/>
            <p:nvPr/>
          </p:nvSpPr>
          <p:spPr>
            <a:xfrm>
              <a:off x="8712000" y="448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97" name="椭圆 196">
              <a:extLst>
                <a:ext uri="{FF2B5EF4-FFF2-40B4-BE49-F238E27FC236}">
                  <a16:creationId xmlns:a16="http://schemas.microsoft.com/office/drawing/2014/main" id="{0969799D-3AB4-89EC-C208-E8D6CCF666A1}"/>
                </a:ext>
              </a:extLst>
            </p:cNvPr>
            <p:cNvSpPr/>
            <p:nvPr/>
          </p:nvSpPr>
          <p:spPr>
            <a:xfrm>
              <a:off x="8442000" y="475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98" name="椭圆 197">
              <a:extLst>
                <a:ext uri="{FF2B5EF4-FFF2-40B4-BE49-F238E27FC236}">
                  <a16:creationId xmlns:a16="http://schemas.microsoft.com/office/drawing/2014/main" id="{D7949063-5B38-9632-23FF-D195C1CDAB18}"/>
                </a:ext>
              </a:extLst>
            </p:cNvPr>
            <p:cNvSpPr/>
            <p:nvPr/>
          </p:nvSpPr>
          <p:spPr>
            <a:xfrm>
              <a:off x="8442000" y="421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99" name="椭圆 198">
              <a:extLst>
                <a:ext uri="{FF2B5EF4-FFF2-40B4-BE49-F238E27FC236}">
                  <a16:creationId xmlns:a16="http://schemas.microsoft.com/office/drawing/2014/main" id="{FEDE17D1-3F55-C712-AC37-D81C2E171B63}"/>
                </a:ext>
              </a:extLst>
            </p:cNvPr>
            <p:cNvSpPr/>
            <p:nvPr/>
          </p:nvSpPr>
          <p:spPr>
            <a:xfrm>
              <a:off x="8316000" y="5544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200" name="椭圆 199">
              <a:extLst>
                <a:ext uri="{FF2B5EF4-FFF2-40B4-BE49-F238E27FC236}">
                  <a16:creationId xmlns:a16="http://schemas.microsoft.com/office/drawing/2014/main" id="{C64DD9C4-EA65-EF82-C0F0-9E3D11884730}"/>
                </a:ext>
              </a:extLst>
            </p:cNvPr>
            <p:cNvSpPr/>
            <p:nvPr/>
          </p:nvSpPr>
          <p:spPr>
            <a:xfrm>
              <a:off x="8496000" y="5364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201" name="椭圆 200">
              <a:extLst>
                <a:ext uri="{FF2B5EF4-FFF2-40B4-BE49-F238E27FC236}">
                  <a16:creationId xmlns:a16="http://schemas.microsoft.com/office/drawing/2014/main" id="{20C4CD99-D076-A9DE-7055-BCCE2BDFBA0D}"/>
                </a:ext>
              </a:extLst>
            </p:cNvPr>
            <p:cNvSpPr/>
            <p:nvPr/>
          </p:nvSpPr>
          <p:spPr>
            <a:xfrm>
              <a:off x="8172000" y="549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02" name="椭圆 201">
              <a:extLst>
                <a:ext uri="{FF2B5EF4-FFF2-40B4-BE49-F238E27FC236}">
                  <a16:creationId xmlns:a16="http://schemas.microsoft.com/office/drawing/2014/main" id="{B1E85810-3396-3E8F-6DE9-ED9FA9FDDE34}"/>
                </a:ext>
              </a:extLst>
            </p:cNvPr>
            <p:cNvSpPr/>
            <p:nvPr/>
          </p:nvSpPr>
          <p:spPr>
            <a:xfrm>
              <a:off x="8316000" y="5364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203" name="文本框 202">
              <a:extLst>
                <a:ext uri="{FF2B5EF4-FFF2-40B4-BE49-F238E27FC236}">
                  <a16:creationId xmlns:a16="http://schemas.microsoft.com/office/drawing/2014/main" id="{329C3199-D3C0-03D2-6FDF-CABC972F8596}"/>
                </a:ext>
              </a:extLst>
            </p:cNvPr>
            <p:cNvSpPr txBox="1"/>
            <p:nvPr/>
          </p:nvSpPr>
          <p:spPr>
            <a:xfrm>
              <a:off x="8244000" y="5382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204" name="椭圆 203">
              <a:extLst>
                <a:ext uri="{FF2B5EF4-FFF2-40B4-BE49-F238E27FC236}">
                  <a16:creationId xmlns:a16="http://schemas.microsoft.com/office/drawing/2014/main" id="{93B0812C-7DFF-836E-918C-7669C601D4AE}"/>
                </a:ext>
              </a:extLst>
            </p:cNvPr>
            <p:cNvSpPr/>
            <p:nvPr/>
          </p:nvSpPr>
          <p:spPr>
            <a:xfrm>
              <a:off x="8712000" y="549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05" name="椭圆 204">
              <a:extLst>
                <a:ext uri="{FF2B5EF4-FFF2-40B4-BE49-F238E27FC236}">
                  <a16:creationId xmlns:a16="http://schemas.microsoft.com/office/drawing/2014/main" id="{227DF684-D52B-EC63-E74C-E8C43B356BDE}"/>
                </a:ext>
              </a:extLst>
            </p:cNvPr>
            <p:cNvSpPr/>
            <p:nvPr/>
          </p:nvSpPr>
          <p:spPr>
            <a:xfrm>
              <a:off x="8442000" y="576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06" name="椭圆 205">
              <a:extLst>
                <a:ext uri="{FF2B5EF4-FFF2-40B4-BE49-F238E27FC236}">
                  <a16:creationId xmlns:a16="http://schemas.microsoft.com/office/drawing/2014/main" id="{287F650A-ADF8-6369-BAC5-15FF8FF4EF21}"/>
                </a:ext>
              </a:extLst>
            </p:cNvPr>
            <p:cNvSpPr/>
            <p:nvPr/>
          </p:nvSpPr>
          <p:spPr>
            <a:xfrm>
              <a:off x="8442000" y="522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07" name="椭圆 206">
              <a:extLst>
                <a:ext uri="{FF2B5EF4-FFF2-40B4-BE49-F238E27FC236}">
                  <a16:creationId xmlns:a16="http://schemas.microsoft.com/office/drawing/2014/main" id="{BE2EACC5-9041-BB72-FC5D-0AA30A127426}"/>
                </a:ext>
              </a:extLst>
            </p:cNvPr>
            <p:cNvSpPr/>
            <p:nvPr/>
          </p:nvSpPr>
          <p:spPr>
            <a:xfrm>
              <a:off x="9324000" y="3528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208" name="椭圆 207">
              <a:extLst>
                <a:ext uri="{FF2B5EF4-FFF2-40B4-BE49-F238E27FC236}">
                  <a16:creationId xmlns:a16="http://schemas.microsoft.com/office/drawing/2014/main" id="{56944BFB-704F-B1C4-EB56-16EF9F4A922F}"/>
                </a:ext>
              </a:extLst>
            </p:cNvPr>
            <p:cNvSpPr/>
            <p:nvPr/>
          </p:nvSpPr>
          <p:spPr>
            <a:xfrm>
              <a:off x="9324000" y="2520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209" name="椭圆 208">
              <a:extLst>
                <a:ext uri="{FF2B5EF4-FFF2-40B4-BE49-F238E27FC236}">
                  <a16:creationId xmlns:a16="http://schemas.microsoft.com/office/drawing/2014/main" id="{91CF3934-A5AD-1AFC-F8B9-6A620184EED2}"/>
                </a:ext>
              </a:extLst>
            </p:cNvPr>
            <p:cNvSpPr/>
            <p:nvPr/>
          </p:nvSpPr>
          <p:spPr>
            <a:xfrm>
              <a:off x="9504000" y="3348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210" name="椭圆 209">
              <a:extLst>
                <a:ext uri="{FF2B5EF4-FFF2-40B4-BE49-F238E27FC236}">
                  <a16:creationId xmlns:a16="http://schemas.microsoft.com/office/drawing/2014/main" id="{342FA416-1236-3AF0-D3BF-A25953C82E53}"/>
                </a:ext>
              </a:extLst>
            </p:cNvPr>
            <p:cNvSpPr/>
            <p:nvPr/>
          </p:nvSpPr>
          <p:spPr>
            <a:xfrm>
              <a:off x="9180000" y="347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11" name="椭圆 210">
              <a:extLst>
                <a:ext uri="{FF2B5EF4-FFF2-40B4-BE49-F238E27FC236}">
                  <a16:creationId xmlns:a16="http://schemas.microsoft.com/office/drawing/2014/main" id="{4365BC9F-8516-4A5F-8C52-DCFB994E0068}"/>
                </a:ext>
              </a:extLst>
            </p:cNvPr>
            <p:cNvSpPr/>
            <p:nvPr/>
          </p:nvSpPr>
          <p:spPr>
            <a:xfrm>
              <a:off x="9324000" y="3348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212" name="文本框 211">
              <a:extLst>
                <a:ext uri="{FF2B5EF4-FFF2-40B4-BE49-F238E27FC236}">
                  <a16:creationId xmlns:a16="http://schemas.microsoft.com/office/drawing/2014/main" id="{15618F2C-DE36-95D3-7D75-BA5496789673}"/>
                </a:ext>
              </a:extLst>
            </p:cNvPr>
            <p:cNvSpPr txBox="1"/>
            <p:nvPr/>
          </p:nvSpPr>
          <p:spPr>
            <a:xfrm>
              <a:off x="9252000" y="3366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213" name="椭圆 212">
              <a:extLst>
                <a:ext uri="{FF2B5EF4-FFF2-40B4-BE49-F238E27FC236}">
                  <a16:creationId xmlns:a16="http://schemas.microsoft.com/office/drawing/2014/main" id="{9E89C027-537C-0EC9-E89C-16C6C260DD01}"/>
                </a:ext>
              </a:extLst>
            </p:cNvPr>
            <p:cNvSpPr/>
            <p:nvPr/>
          </p:nvSpPr>
          <p:spPr>
            <a:xfrm>
              <a:off x="9720000" y="347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14" name="椭圆 213">
              <a:extLst>
                <a:ext uri="{FF2B5EF4-FFF2-40B4-BE49-F238E27FC236}">
                  <a16:creationId xmlns:a16="http://schemas.microsoft.com/office/drawing/2014/main" id="{05E38F96-40D1-958D-8B43-C7B5C3C500E0}"/>
                </a:ext>
              </a:extLst>
            </p:cNvPr>
            <p:cNvSpPr/>
            <p:nvPr/>
          </p:nvSpPr>
          <p:spPr>
            <a:xfrm>
              <a:off x="9450000" y="374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15" name="椭圆 214">
              <a:extLst>
                <a:ext uri="{FF2B5EF4-FFF2-40B4-BE49-F238E27FC236}">
                  <a16:creationId xmlns:a16="http://schemas.microsoft.com/office/drawing/2014/main" id="{0CBABCB9-2C61-98B7-7A90-253F13D9550D}"/>
                </a:ext>
              </a:extLst>
            </p:cNvPr>
            <p:cNvSpPr/>
            <p:nvPr/>
          </p:nvSpPr>
          <p:spPr>
            <a:xfrm>
              <a:off x="9450000" y="320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16" name="椭圆 215">
              <a:extLst>
                <a:ext uri="{FF2B5EF4-FFF2-40B4-BE49-F238E27FC236}">
                  <a16:creationId xmlns:a16="http://schemas.microsoft.com/office/drawing/2014/main" id="{834E5D6D-000E-A805-506D-A84DC6C340E8}"/>
                </a:ext>
              </a:extLst>
            </p:cNvPr>
            <p:cNvSpPr/>
            <p:nvPr/>
          </p:nvSpPr>
          <p:spPr>
            <a:xfrm>
              <a:off x="9324000" y="4536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217" name="椭圆 216">
              <a:extLst>
                <a:ext uri="{FF2B5EF4-FFF2-40B4-BE49-F238E27FC236}">
                  <a16:creationId xmlns:a16="http://schemas.microsoft.com/office/drawing/2014/main" id="{CBA207A0-9BEC-9D8E-C7A6-1BA0C8E36C10}"/>
                </a:ext>
              </a:extLst>
            </p:cNvPr>
            <p:cNvSpPr/>
            <p:nvPr/>
          </p:nvSpPr>
          <p:spPr>
            <a:xfrm>
              <a:off x="9504000" y="4356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218" name="椭圆 217">
              <a:extLst>
                <a:ext uri="{FF2B5EF4-FFF2-40B4-BE49-F238E27FC236}">
                  <a16:creationId xmlns:a16="http://schemas.microsoft.com/office/drawing/2014/main" id="{BCF358BE-8953-8DAE-397B-03A801F2D803}"/>
                </a:ext>
              </a:extLst>
            </p:cNvPr>
            <p:cNvSpPr/>
            <p:nvPr/>
          </p:nvSpPr>
          <p:spPr>
            <a:xfrm>
              <a:off x="9180000" y="4482000"/>
              <a:ext cx="108000" cy="108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19" name="椭圆 218">
              <a:extLst>
                <a:ext uri="{FF2B5EF4-FFF2-40B4-BE49-F238E27FC236}">
                  <a16:creationId xmlns:a16="http://schemas.microsoft.com/office/drawing/2014/main" id="{5941A1A6-836A-4A86-853E-7A64D08C0ED7}"/>
                </a:ext>
              </a:extLst>
            </p:cNvPr>
            <p:cNvSpPr/>
            <p:nvPr/>
          </p:nvSpPr>
          <p:spPr>
            <a:xfrm>
              <a:off x="9324000" y="4356000"/>
              <a:ext cx="360000" cy="360000"/>
            </a:xfrm>
            <a:prstGeom prst="ellipse">
              <a:avLst/>
            </a:prstGeom>
            <a:solidFill>
              <a:srgbClr val="92D050"/>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220" name="文本框 219">
              <a:extLst>
                <a:ext uri="{FF2B5EF4-FFF2-40B4-BE49-F238E27FC236}">
                  <a16:creationId xmlns:a16="http://schemas.microsoft.com/office/drawing/2014/main" id="{3B8F21DE-D9B5-C181-48F2-773F9F77111F}"/>
                </a:ext>
              </a:extLst>
            </p:cNvPr>
            <p:cNvSpPr txBox="1"/>
            <p:nvPr/>
          </p:nvSpPr>
          <p:spPr>
            <a:xfrm>
              <a:off x="9252000" y="4373999"/>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+3</a:t>
              </a:r>
              <a:endParaRPr lang="zh-CN" altLang="en-US" sz="1500" b="1" dirty="0">
                <a:latin typeface="微软雅黑" panose="020B0503020204020204" pitchFamily="34" charset="-122"/>
                <a:ea typeface="微软雅黑" panose="020B0503020204020204" pitchFamily="34" charset="-122"/>
              </a:endParaRPr>
            </a:p>
          </p:txBody>
        </p:sp>
        <p:sp>
          <p:nvSpPr>
            <p:cNvPr id="221" name="椭圆 220">
              <a:extLst>
                <a:ext uri="{FF2B5EF4-FFF2-40B4-BE49-F238E27FC236}">
                  <a16:creationId xmlns:a16="http://schemas.microsoft.com/office/drawing/2014/main" id="{088792F8-BE03-A2A7-DAC0-26A3B091DA71}"/>
                </a:ext>
              </a:extLst>
            </p:cNvPr>
            <p:cNvSpPr/>
            <p:nvPr/>
          </p:nvSpPr>
          <p:spPr>
            <a:xfrm>
              <a:off x="9720000" y="4482000"/>
              <a:ext cx="108000" cy="108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22" name="椭圆 221">
              <a:extLst>
                <a:ext uri="{FF2B5EF4-FFF2-40B4-BE49-F238E27FC236}">
                  <a16:creationId xmlns:a16="http://schemas.microsoft.com/office/drawing/2014/main" id="{41741785-EAC4-1E22-8221-8B5C92C32DC9}"/>
                </a:ext>
              </a:extLst>
            </p:cNvPr>
            <p:cNvSpPr/>
            <p:nvPr/>
          </p:nvSpPr>
          <p:spPr>
            <a:xfrm>
              <a:off x="9450000" y="4752000"/>
              <a:ext cx="108000" cy="108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23" name="椭圆 222">
              <a:extLst>
                <a:ext uri="{FF2B5EF4-FFF2-40B4-BE49-F238E27FC236}">
                  <a16:creationId xmlns:a16="http://schemas.microsoft.com/office/drawing/2014/main" id="{B85AFC09-4E4D-B51F-5576-020125ED97FE}"/>
                </a:ext>
              </a:extLst>
            </p:cNvPr>
            <p:cNvSpPr/>
            <p:nvPr/>
          </p:nvSpPr>
          <p:spPr>
            <a:xfrm>
              <a:off x="9450000" y="4212000"/>
              <a:ext cx="108000" cy="108000"/>
            </a:xfrm>
            <a:prstGeom prst="ellipse">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24" name="椭圆 223">
              <a:extLst>
                <a:ext uri="{FF2B5EF4-FFF2-40B4-BE49-F238E27FC236}">
                  <a16:creationId xmlns:a16="http://schemas.microsoft.com/office/drawing/2014/main" id="{9654BAA2-4ADF-F2EB-07F6-0A524128D0A0}"/>
                </a:ext>
              </a:extLst>
            </p:cNvPr>
            <p:cNvSpPr/>
            <p:nvPr/>
          </p:nvSpPr>
          <p:spPr>
            <a:xfrm>
              <a:off x="9324000" y="5544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225" name="椭圆 224">
              <a:extLst>
                <a:ext uri="{FF2B5EF4-FFF2-40B4-BE49-F238E27FC236}">
                  <a16:creationId xmlns:a16="http://schemas.microsoft.com/office/drawing/2014/main" id="{D94EDA9A-D31D-DA5B-6AB4-96C263D94BFF}"/>
                </a:ext>
              </a:extLst>
            </p:cNvPr>
            <p:cNvSpPr/>
            <p:nvPr/>
          </p:nvSpPr>
          <p:spPr>
            <a:xfrm>
              <a:off x="9504000" y="5364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226" name="椭圆 225">
              <a:extLst>
                <a:ext uri="{FF2B5EF4-FFF2-40B4-BE49-F238E27FC236}">
                  <a16:creationId xmlns:a16="http://schemas.microsoft.com/office/drawing/2014/main" id="{7144F5E6-52AF-0109-FC92-ECC3C3BEE1D1}"/>
                </a:ext>
              </a:extLst>
            </p:cNvPr>
            <p:cNvSpPr/>
            <p:nvPr/>
          </p:nvSpPr>
          <p:spPr>
            <a:xfrm>
              <a:off x="9180000" y="549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27" name="椭圆 226">
              <a:extLst>
                <a:ext uri="{FF2B5EF4-FFF2-40B4-BE49-F238E27FC236}">
                  <a16:creationId xmlns:a16="http://schemas.microsoft.com/office/drawing/2014/main" id="{BD9FF710-B790-4D37-EE39-CC719933AFF9}"/>
                </a:ext>
              </a:extLst>
            </p:cNvPr>
            <p:cNvSpPr/>
            <p:nvPr/>
          </p:nvSpPr>
          <p:spPr>
            <a:xfrm>
              <a:off x="9324000" y="5364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228" name="文本框 227">
              <a:extLst>
                <a:ext uri="{FF2B5EF4-FFF2-40B4-BE49-F238E27FC236}">
                  <a16:creationId xmlns:a16="http://schemas.microsoft.com/office/drawing/2014/main" id="{10DD7D0E-910B-B0BD-F502-F1B92B7DE884}"/>
                </a:ext>
              </a:extLst>
            </p:cNvPr>
            <p:cNvSpPr txBox="1"/>
            <p:nvPr/>
          </p:nvSpPr>
          <p:spPr>
            <a:xfrm>
              <a:off x="9252000" y="5382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229" name="椭圆 228">
              <a:extLst>
                <a:ext uri="{FF2B5EF4-FFF2-40B4-BE49-F238E27FC236}">
                  <a16:creationId xmlns:a16="http://schemas.microsoft.com/office/drawing/2014/main" id="{F051E506-4415-8CF2-4E03-EDECBCFE561A}"/>
                </a:ext>
              </a:extLst>
            </p:cNvPr>
            <p:cNvSpPr/>
            <p:nvPr/>
          </p:nvSpPr>
          <p:spPr>
            <a:xfrm>
              <a:off x="9720000" y="549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30" name="椭圆 229">
              <a:extLst>
                <a:ext uri="{FF2B5EF4-FFF2-40B4-BE49-F238E27FC236}">
                  <a16:creationId xmlns:a16="http://schemas.microsoft.com/office/drawing/2014/main" id="{61EB3BCB-D281-9E36-5ABA-79DDFB63F9A2}"/>
                </a:ext>
              </a:extLst>
            </p:cNvPr>
            <p:cNvSpPr/>
            <p:nvPr/>
          </p:nvSpPr>
          <p:spPr>
            <a:xfrm>
              <a:off x="9450000" y="576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31" name="椭圆 230">
              <a:extLst>
                <a:ext uri="{FF2B5EF4-FFF2-40B4-BE49-F238E27FC236}">
                  <a16:creationId xmlns:a16="http://schemas.microsoft.com/office/drawing/2014/main" id="{1DCE1FC7-455C-6946-2C44-8EBB42415267}"/>
                </a:ext>
              </a:extLst>
            </p:cNvPr>
            <p:cNvSpPr/>
            <p:nvPr/>
          </p:nvSpPr>
          <p:spPr>
            <a:xfrm>
              <a:off x="9450000" y="522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32" name="椭圆 231">
              <a:extLst>
                <a:ext uri="{FF2B5EF4-FFF2-40B4-BE49-F238E27FC236}">
                  <a16:creationId xmlns:a16="http://schemas.microsoft.com/office/drawing/2014/main" id="{016B37C8-BC80-2FCD-9A9C-192BB6ACB664}"/>
                </a:ext>
              </a:extLst>
            </p:cNvPr>
            <p:cNvSpPr/>
            <p:nvPr/>
          </p:nvSpPr>
          <p:spPr>
            <a:xfrm>
              <a:off x="10332000" y="3528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233" name="椭圆 232">
              <a:extLst>
                <a:ext uri="{FF2B5EF4-FFF2-40B4-BE49-F238E27FC236}">
                  <a16:creationId xmlns:a16="http://schemas.microsoft.com/office/drawing/2014/main" id="{B18D1C6E-1743-B1A3-38A1-46BC8C5FFDB9}"/>
                </a:ext>
              </a:extLst>
            </p:cNvPr>
            <p:cNvSpPr/>
            <p:nvPr/>
          </p:nvSpPr>
          <p:spPr>
            <a:xfrm>
              <a:off x="10332000" y="2520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234" name="椭圆 233">
              <a:extLst>
                <a:ext uri="{FF2B5EF4-FFF2-40B4-BE49-F238E27FC236}">
                  <a16:creationId xmlns:a16="http://schemas.microsoft.com/office/drawing/2014/main" id="{ABE03EAE-AF37-E86F-4537-28A09E055FC4}"/>
                </a:ext>
              </a:extLst>
            </p:cNvPr>
            <p:cNvSpPr/>
            <p:nvPr/>
          </p:nvSpPr>
          <p:spPr>
            <a:xfrm>
              <a:off x="10512000" y="3348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235" name="椭圆 234">
              <a:extLst>
                <a:ext uri="{FF2B5EF4-FFF2-40B4-BE49-F238E27FC236}">
                  <a16:creationId xmlns:a16="http://schemas.microsoft.com/office/drawing/2014/main" id="{7A3462E4-1C71-6C4B-58D6-15467B1798B4}"/>
                </a:ext>
              </a:extLst>
            </p:cNvPr>
            <p:cNvSpPr/>
            <p:nvPr/>
          </p:nvSpPr>
          <p:spPr>
            <a:xfrm>
              <a:off x="10188000" y="347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36" name="椭圆 235">
              <a:extLst>
                <a:ext uri="{FF2B5EF4-FFF2-40B4-BE49-F238E27FC236}">
                  <a16:creationId xmlns:a16="http://schemas.microsoft.com/office/drawing/2014/main" id="{89E2556C-3B80-CEDD-0309-2EA9B8572607}"/>
                </a:ext>
              </a:extLst>
            </p:cNvPr>
            <p:cNvSpPr/>
            <p:nvPr/>
          </p:nvSpPr>
          <p:spPr>
            <a:xfrm>
              <a:off x="10332000" y="3348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237" name="文本框 236">
              <a:extLst>
                <a:ext uri="{FF2B5EF4-FFF2-40B4-BE49-F238E27FC236}">
                  <a16:creationId xmlns:a16="http://schemas.microsoft.com/office/drawing/2014/main" id="{1F4B33C3-6BC0-2128-1B9A-6195C55A735C}"/>
                </a:ext>
              </a:extLst>
            </p:cNvPr>
            <p:cNvSpPr txBox="1"/>
            <p:nvPr/>
          </p:nvSpPr>
          <p:spPr>
            <a:xfrm>
              <a:off x="10260000" y="3366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238" name="椭圆 237">
              <a:extLst>
                <a:ext uri="{FF2B5EF4-FFF2-40B4-BE49-F238E27FC236}">
                  <a16:creationId xmlns:a16="http://schemas.microsoft.com/office/drawing/2014/main" id="{77802860-E1F2-853A-A0DA-F35E27C6D4B0}"/>
                </a:ext>
              </a:extLst>
            </p:cNvPr>
            <p:cNvSpPr/>
            <p:nvPr/>
          </p:nvSpPr>
          <p:spPr>
            <a:xfrm>
              <a:off x="10728000" y="347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39" name="椭圆 238">
              <a:extLst>
                <a:ext uri="{FF2B5EF4-FFF2-40B4-BE49-F238E27FC236}">
                  <a16:creationId xmlns:a16="http://schemas.microsoft.com/office/drawing/2014/main" id="{FDE1F213-CFBC-4A4C-8EC9-521B6BFE309B}"/>
                </a:ext>
              </a:extLst>
            </p:cNvPr>
            <p:cNvSpPr/>
            <p:nvPr/>
          </p:nvSpPr>
          <p:spPr>
            <a:xfrm>
              <a:off x="10458000" y="374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40" name="椭圆 239">
              <a:extLst>
                <a:ext uri="{FF2B5EF4-FFF2-40B4-BE49-F238E27FC236}">
                  <a16:creationId xmlns:a16="http://schemas.microsoft.com/office/drawing/2014/main" id="{91BA87D5-476A-728E-53A2-83EA80765037}"/>
                </a:ext>
              </a:extLst>
            </p:cNvPr>
            <p:cNvSpPr/>
            <p:nvPr/>
          </p:nvSpPr>
          <p:spPr>
            <a:xfrm>
              <a:off x="10458000" y="3204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41" name="椭圆 240">
              <a:extLst>
                <a:ext uri="{FF2B5EF4-FFF2-40B4-BE49-F238E27FC236}">
                  <a16:creationId xmlns:a16="http://schemas.microsoft.com/office/drawing/2014/main" id="{CF59E7BB-12DB-4603-4B88-5FFCA468D233}"/>
                </a:ext>
              </a:extLst>
            </p:cNvPr>
            <p:cNvSpPr/>
            <p:nvPr/>
          </p:nvSpPr>
          <p:spPr>
            <a:xfrm>
              <a:off x="10332000" y="4536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242" name="椭圆 241">
              <a:extLst>
                <a:ext uri="{FF2B5EF4-FFF2-40B4-BE49-F238E27FC236}">
                  <a16:creationId xmlns:a16="http://schemas.microsoft.com/office/drawing/2014/main" id="{444D1BE1-5B55-05FC-3179-56098E078C56}"/>
                </a:ext>
              </a:extLst>
            </p:cNvPr>
            <p:cNvSpPr/>
            <p:nvPr/>
          </p:nvSpPr>
          <p:spPr>
            <a:xfrm>
              <a:off x="10512000" y="4356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243" name="椭圆 242">
              <a:extLst>
                <a:ext uri="{FF2B5EF4-FFF2-40B4-BE49-F238E27FC236}">
                  <a16:creationId xmlns:a16="http://schemas.microsoft.com/office/drawing/2014/main" id="{569F029C-D1B2-5356-A7B2-459165CD8C57}"/>
                </a:ext>
              </a:extLst>
            </p:cNvPr>
            <p:cNvSpPr/>
            <p:nvPr/>
          </p:nvSpPr>
          <p:spPr>
            <a:xfrm>
              <a:off x="10188000" y="448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44" name="椭圆 243">
              <a:extLst>
                <a:ext uri="{FF2B5EF4-FFF2-40B4-BE49-F238E27FC236}">
                  <a16:creationId xmlns:a16="http://schemas.microsoft.com/office/drawing/2014/main" id="{E1775B73-7209-C0E1-29DA-7F10FCD2D9B4}"/>
                </a:ext>
              </a:extLst>
            </p:cNvPr>
            <p:cNvSpPr/>
            <p:nvPr/>
          </p:nvSpPr>
          <p:spPr>
            <a:xfrm>
              <a:off x="10332000" y="4356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245" name="文本框 244">
              <a:extLst>
                <a:ext uri="{FF2B5EF4-FFF2-40B4-BE49-F238E27FC236}">
                  <a16:creationId xmlns:a16="http://schemas.microsoft.com/office/drawing/2014/main" id="{4B82403C-FB04-B52D-C782-1C0AA3382E02}"/>
                </a:ext>
              </a:extLst>
            </p:cNvPr>
            <p:cNvSpPr txBox="1"/>
            <p:nvPr/>
          </p:nvSpPr>
          <p:spPr>
            <a:xfrm>
              <a:off x="10260000" y="4374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246" name="椭圆 245">
              <a:extLst>
                <a:ext uri="{FF2B5EF4-FFF2-40B4-BE49-F238E27FC236}">
                  <a16:creationId xmlns:a16="http://schemas.microsoft.com/office/drawing/2014/main" id="{5AF98EB3-62BF-7ED3-13BE-C33629949C3C}"/>
                </a:ext>
              </a:extLst>
            </p:cNvPr>
            <p:cNvSpPr/>
            <p:nvPr/>
          </p:nvSpPr>
          <p:spPr>
            <a:xfrm>
              <a:off x="10728000" y="448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47" name="椭圆 246">
              <a:extLst>
                <a:ext uri="{FF2B5EF4-FFF2-40B4-BE49-F238E27FC236}">
                  <a16:creationId xmlns:a16="http://schemas.microsoft.com/office/drawing/2014/main" id="{31F43838-6479-F274-2286-2A56B0D08230}"/>
                </a:ext>
              </a:extLst>
            </p:cNvPr>
            <p:cNvSpPr/>
            <p:nvPr/>
          </p:nvSpPr>
          <p:spPr>
            <a:xfrm>
              <a:off x="10458000" y="475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48" name="椭圆 247">
              <a:extLst>
                <a:ext uri="{FF2B5EF4-FFF2-40B4-BE49-F238E27FC236}">
                  <a16:creationId xmlns:a16="http://schemas.microsoft.com/office/drawing/2014/main" id="{7C08A349-AE84-1AC4-0EE5-14C9E6F2F12B}"/>
                </a:ext>
              </a:extLst>
            </p:cNvPr>
            <p:cNvSpPr/>
            <p:nvPr/>
          </p:nvSpPr>
          <p:spPr>
            <a:xfrm>
              <a:off x="10458000" y="4212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49" name="椭圆 248">
              <a:extLst>
                <a:ext uri="{FF2B5EF4-FFF2-40B4-BE49-F238E27FC236}">
                  <a16:creationId xmlns:a16="http://schemas.microsoft.com/office/drawing/2014/main" id="{2B897FA7-EA91-03D3-4792-078C6B4318ED}"/>
                </a:ext>
              </a:extLst>
            </p:cNvPr>
            <p:cNvSpPr/>
            <p:nvPr/>
          </p:nvSpPr>
          <p:spPr>
            <a:xfrm>
              <a:off x="10332000" y="5544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250" name="椭圆 249">
              <a:extLst>
                <a:ext uri="{FF2B5EF4-FFF2-40B4-BE49-F238E27FC236}">
                  <a16:creationId xmlns:a16="http://schemas.microsoft.com/office/drawing/2014/main" id="{A6CFAA33-E03A-8017-0771-57D3F56BD494}"/>
                </a:ext>
              </a:extLst>
            </p:cNvPr>
            <p:cNvSpPr/>
            <p:nvPr/>
          </p:nvSpPr>
          <p:spPr>
            <a:xfrm>
              <a:off x="10512000" y="5364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251" name="椭圆 250">
              <a:extLst>
                <a:ext uri="{FF2B5EF4-FFF2-40B4-BE49-F238E27FC236}">
                  <a16:creationId xmlns:a16="http://schemas.microsoft.com/office/drawing/2014/main" id="{E120A0AC-5195-0052-AC3D-DBD046134AB1}"/>
                </a:ext>
              </a:extLst>
            </p:cNvPr>
            <p:cNvSpPr/>
            <p:nvPr/>
          </p:nvSpPr>
          <p:spPr>
            <a:xfrm>
              <a:off x="10188000" y="549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52" name="椭圆 251">
              <a:extLst>
                <a:ext uri="{FF2B5EF4-FFF2-40B4-BE49-F238E27FC236}">
                  <a16:creationId xmlns:a16="http://schemas.microsoft.com/office/drawing/2014/main" id="{AC12C7ED-FFB5-3C70-21F8-FB9EF4B9633B}"/>
                </a:ext>
              </a:extLst>
            </p:cNvPr>
            <p:cNvSpPr/>
            <p:nvPr/>
          </p:nvSpPr>
          <p:spPr>
            <a:xfrm>
              <a:off x="10332000" y="5364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253" name="文本框 252">
              <a:extLst>
                <a:ext uri="{FF2B5EF4-FFF2-40B4-BE49-F238E27FC236}">
                  <a16:creationId xmlns:a16="http://schemas.microsoft.com/office/drawing/2014/main" id="{18F2D540-4035-0AD8-2132-9CC459843D04}"/>
                </a:ext>
              </a:extLst>
            </p:cNvPr>
            <p:cNvSpPr txBox="1"/>
            <p:nvPr/>
          </p:nvSpPr>
          <p:spPr>
            <a:xfrm>
              <a:off x="10260000" y="5382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254" name="椭圆 253">
              <a:extLst>
                <a:ext uri="{FF2B5EF4-FFF2-40B4-BE49-F238E27FC236}">
                  <a16:creationId xmlns:a16="http://schemas.microsoft.com/office/drawing/2014/main" id="{E585828E-C6BA-DC85-DDEF-EEE40732A85B}"/>
                </a:ext>
              </a:extLst>
            </p:cNvPr>
            <p:cNvSpPr/>
            <p:nvPr/>
          </p:nvSpPr>
          <p:spPr>
            <a:xfrm>
              <a:off x="10728000" y="549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55" name="椭圆 254">
              <a:extLst>
                <a:ext uri="{FF2B5EF4-FFF2-40B4-BE49-F238E27FC236}">
                  <a16:creationId xmlns:a16="http://schemas.microsoft.com/office/drawing/2014/main" id="{84BE1398-238C-E379-7BDB-64089A7FD6D7}"/>
                </a:ext>
              </a:extLst>
            </p:cNvPr>
            <p:cNvSpPr/>
            <p:nvPr/>
          </p:nvSpPr>
          <p:spPr>
            <a:xfrm>
              <a:off x="10458000" y="576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56" name="椭圆 255">
              <a:extLst>
                <a:ext uri="{FF2B5EF4-FFF2-40B4-BE49-F238E27FC236}">
                  <a16:creationId xmlns:a16="http://schemas.microsoft.com/office/drawing/2014/main" id="{E58350CA-F49E-1DD1-B4F9-BA4646D403D8}"/>
                </a:ext>
              </a:extLst>
            </p:cNvPr>
            <p:cNvSpPr/>
            <p:nvPr/>
          </p:nvSpPr>
          <p:spPr>
            <a:xfrm>
              <a:off x="10458000" y="522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57" name="矩形 256">
              <a:extLst>
                <a:ext uri="{FF2B5EF4-FFF2-40B4-BE49-F238E27FC236}">
                  <a16:creationId xmlns:a16="http://schemas.microsoft.com/office/drawing/2014/main" id="{EAAE9503-FF81-B4A5-761A-AD43A89689B6}"/>
                </a:ext>
              </a:extLst>
            </p:cNvPr>
            <p:cNvSpPr/>
            <p:nvPr/>
          </p:nvSpPr>
          <p:spPr>
            <a:xfrm>
              <a:off x="7452000" y="3240000"/>
              <a:ext cx="540000" cy="259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58" name="矩形 257">
              <a:extLst>
                <a:ext uri="{FF2B5EF4-FFF2-40B4-BE49-F238E27FC236}">
                  <a16:creationId xmlns:a16="http://schemas.microsoft.com/office/drawing/2014/main" id="{32D5D379-DDEE-6D1A-8DB8-BD5985AB4DC0}"/>
                </a:ext>
              </a:extLst>
            </p:cNvPr>
            <p:cNvSpPr/>
            <p:nvPr/>
          </p:nvSpPr>
          <p:spPr>
            <a:xfrm>
              <a:off x="11016000" y="3240000"/>
              <a:ext cx="540000" cy="259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59" name="矩形 258">
              <a:extLst>
                <a:ext uri="{FF2B5EF4-FFF2-40B4-BE49-F238E27FC236}">
                  <a16:creationId xmlns:a16="http://schemas.microsoft.com/office/drawing/2014/main" id="{0B7ED8CE-9CD6-5C87-8F08-4AE0A0DABB20}"/>
                </a:ext>
              </a:extLst>
            </p:cNvPr>
            <p:cNvSpPr/>
            <p:nvPr/>
          </p:nvSpPr>
          <p:spPr>
            <a:xfrm>
              <a:off x="8208000" y="2484000"/>
              <a:ext cx="2592000" cy="54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60" name="矩形 259">
              <a:extLst>
                <a:ext uri="{FF2B5EF4-FFF2-40B4-BE49-F238E27FC236}">
                  <a16:creationId xmlns:a16="http://schemas.microsoft.com/office/drawing/2014/main" id="{74DD0F3D-58D0-AFA4-61FF-F55921F37198}"/>
                </a:ext>
              </a:extLst>
            </p:cNvPr>
            <p:cNvSpPr/>
            <p:nvPr/>
          </p:nvSpPr>
          <p:spPr>
            <a:xfrm>
              <a:off x="8208000" y="6048000"/>
              <a:ext cx="2592000" cy="54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grpSp>
      <p:sp>
        <p:nvSpPr>
          <p:cNvPr id="2" name="标题 1">
            <a:extLst>
              <a:ext uri="{FF2B5EF4-FFF2-40B4-BE49-F238E27FC236}">
                <a16:creationId xmlns:a16="http://schemas.microsoft.com/office/drawing/2014/main" id="{4CF70B30-63F3-4239-E888-71A09A7AA167}"/>
              </a:ext>
            </a:extLst>
          </p:cNvPr>
          <p:cNvSpPr txBox="1">
            <a:spLocks/>
          </p:cNvSpPr>
          <p:nvPr/>
        </p:nvSpPr>
        <p:spPr>
          <a:xfrm>
            <a:off x="360000" y="0"/>
            <a:ext cx="11826000" cy="548639"/>
          </a:xfrm>
          <a:prstGeom prst="rect">
            <a:avLst/>
          </a:prstGeom>
        </p:spPr>
        <p:txBody>
          <a:bodyPr anchor="b">
            <a:normAutofit/>
          </a:bodyPr>
          <a:lstStyle>
            <a:defPPr>
              <a:defRPr lang="zh-CN"/>
            </a:defPPr>
            <a:lvl1pPr marL="0" algn="l" defTabSz="914400" rtl="0" eaLnBrk="1" latinLnBrk="0" hangingPunct="1">
              <a:lnSpc>
                <a:spcPct val="90000"/>
              </a:lnSpc>
              <a:spcBef>
                <a:spcPct val="0"/>
              </a:spcBef>
              <a:buNone/>
              <a:defRPr sz="3200" b="1" kern="1200">
                <a:solidFill>
                  <a:schemeClr val="bg1"/>
                </a:solidFill>
                <a:latin typeface="微软雅黑" panose="020B0503020204020204" pitchFamily="34" charset="-122"/>
                <a:ea typeface="微软雅黑" panose="020B0503020204020204" pitchFamily="34" charset="-122"/>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000" dirty="0"/>
              <a:t>半导体的基本知识 </a:t>
            </a:r>
            <a:r>
              <a:rPr lang="en-US" altLang="zh-CN" sz="3000" dirty="0"/>
              <a:t>—— </a:t>
            </a:r>
            <a:r>
              <a:rPr lang="zh-CN" altLang="en-US" sz="3000" dirty="0">
                <a:solidFill>
                  <a:srgbClr val="FFFF00"/>
                </a:solidFill>
              </a:rPr>
              <a:t>杂质半导体</a:t>
            </a:r>
            <a:endParaRPr lang="en-US" altLang="zh-CN" sz="3000" dirty="0"/>
          </a:p>
        </p:txBody>
      </p:sp>
      <p:grpSp>
        <p:nvGrpSpPr>
          <p:cNvPr id="3" name="组合 2">
            <a:extLst>
              <a:ext uri="{FF2B5EF4-FFF2-40B4-BE49-F238E27FC236}">
                <a16:creationId xmlns:a16="http://schemas.microsoft.com/office/drawing/2014/main" id="{F6129CA4-57D2-ECB0-F424-63FA9E8D8D57}"/>
              </a:ext>
            </a:extLst>
          </p:cNvPr>
          <p:cNvGrpSpPr/>
          <p:nvPr/>
        </p:nvGrpSpPr>
        <p:grpSpPr>
          <a:xfrm>
            <a:off x="11449269" y="6198682"/>
            <a:ext cx="786273" cy="548639"/>
            <a:chOff x="11454918" y="5839511"/>
            <a:chExt cx="786273" cy="548639"/>
          </a:xfrm>
        </p:grpSpPr>
        <p:grpSp>
          <p:nvGrpSpPr>
            <p:cNvPr id="4" name="组合 3">
              <a:extLst>
                <a:ext uri="{FF2B5EF4-FFF2-40B4-BE49-F238E27FC236}">
                  <a16:creationId xmlns:a16="http://schemas.microsoft.com/office/drawing/2014/main" id="{DF3E7CBE-0F13-BDAE-045C-6D082D387EA2}"/>
                </a:ext>
              </a:extLst>
            </p:cNvPr>
            <p:cNvGrpSpPr/>
            <p:nvPr/>
          </p:nvGrpSpPr>
          <p:grpSpPr>
            <a:xfrm>
              <a:off x="11454918" y="5867450"/>
              <a:ext cx="737081" cy="520700"/>
              <a:chOff x="11454918" y="5867450"/>
              <a:chExt cx="737081" cy="520700"/>
            </a:xfrm>
          </p:grpSpPr>
          <p:sp>
            <p:nvSpPr>
              <p:cNvPr id="6" name="箭头: 五边形 5">
                <a:extLst>
                  <a:ext uri="{FF2B5EF4-FFF2-40B4-BE49-F238E27FC236}">
                    <a16:creationId xmlns:a16="http://schemas.microsoft.com/office/drawing/2014/main" id="{4E670B25-EE76-BD5C-C377-9052016168B4}"/>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箭头: V 形 6">
                <a:extLst>
                  <a:ext uri="{FF2B5EF4-FFF2-40B4-BE49-F238E27FC236}">
                    <a16:creationId xmlns:a16="http://schemas.microsoft.com/office/drawing/2014/main" id="{2ED62065-1A59-BDF7-EAC3-1FABF2606011}"/>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5" name="灯片编号占位符 3">
              <a:extLst>
                <a:ext uri="{FF2B5EF4-FFF2-40B4-BE49-F238E27FC236}">
                  <a16:creationId xmlns:a16="http://schemas.microsoft.com/office/drawing/2014/main" id="{F39238DA-A11F-0A33-E0A6-9E56B5D8BCF5}"/>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8</a:t>
              </a:fld>
              <a:endParaRPr lang="zh-CN" altLang="en-US" sz="3200" dirty="0">
                <a:solidFill>
                  <a:schemeClr val="bg1"/>
                </a:solidFill>
                <a:latin typeface="Candara"/>
                <a:ea typeface="微软雅黑"/>
              </a:endParaRPr>
            </a:p>
          </p:txBody>
        </p:sp>
      </p:grpSp>
      <p:sp>
        <p:nvSpPr>
          <p:cNvPr id="8" name="文本框 7">
            <a:extLst>
              <a:ext uri="{FF2B5EF4-FFF2-40B4-BE49-F238E27FC236}">
                <a16:creationId xmlns:a16="http://schemas.microsoft.com/office/drawing/2014/main" id="{26F6C957-E65B-D442-1BAB-7F253A709567}"/>
              </a:ext>
            </a:extLst>
          </p:cNvPr>
          <p:cNvSpPr txBox="1"/>
          <p:nvPr/>
        </p:nvSpPr>
        <p:spPr>
          <a:xfrm>
            <a:off x="359999" y="828000"/>
            <a:ext cx="11169391" cy="565604"/>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en-US" altLang="zh-CN" sz="2800" dirty="0">
                <a:solidFill>
                  <a:srgbClr val="002060"/>
                </a:solidFill>
                <a:latin typeface="微软雅黑" panose="020B0503020204020204" pitchFamily="34" charset="-122"/>
                <a:ea typeface="微软雅黑" panose="020B0503020204020204" pitchFamily="34" charset="-122"/>
              </a:rPr>
              <a:t>P </a:t>
            </a:r>
            <a:r>
              <a:rPr kumimoji="1" lang="zh-CN" altLang="en-US" sz="2800" dirty="0">
                <a:solidFill>
                  <a:srgbClr val="002060"/>
                </a:solidFill>
                <a:latin typeface="微软雅黑" panose="020B0503020204020204" pitchFamily="34" charset="-122"/>
                <a:ea typeface="微软雅黑" panose="020B0503020204020204" pitchFamily="34" charset="-122"/>
              </a:rPr>
              <a:t>型和 </a:t>
            </a:r>
            <a:r>
              <a:rPr kumimoji="1" lang="en-US" altLang="zh-CN" sz="2800" dirty="0">
                <a:solidFill>
                  <a:srgbClr val="002060"/>
                </a:solidFill>
                <a:latin typeface="微软雅黑" panose="020B0503020204020204" pitchFamily="34" charset="-122"/>
                <a:ea typeface="微软雅黑" panose="020B0503020204020204" pitchFamily="34" charset="-122"/>
              </a:rPr>
              <a:t>N </a:t>
            </a:r>
            <a:r>
              <a:rPr kumimoji="1" lang="zh-CN" altLang="en-US" sz="2800" dirty="0">
                <a:solidFill>
                  <a:srgbClr val="002060"/>
                </a:solidFill>
                <a:latin typeface="微软雅黑" panose="020B0503020204020204" pitchFamily="34" charset="-122"/>
                <a:ea typeface="微软雅黑" panose="020B0503020204020204" pitchFamily="34" charset="-122"/>
              </a:rPr>
              <a:t>型半导体对比</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177" name="文本框 176">
            <a:extLst>
              <a:ext uri="{FF2B5EF4-FFF2-40B4-BE49-F238E27FC236}">
                <a16:creationId xmlns:a16="http://schemas.microsoft.com/office/drawing/2014/main" id="{01C81F54-9B36-86FB-CAB4-5112387AA810}"/>
              </a:ext>
            </a:extLst>
          </p:cNvPr>
          <p:cNvSpPr txBox="1"/>
          <p:nvPr/>
        </p:nvSpPr>
        <p:spPr>
          <a:xfrm>
            <a:off x="360000" y="5147999"/>
            <a:ext cx="4320000" cy="1260000"/>
          </a:xfrm>
          <a:prstGeom prst="rect">
            <a:avLst/>
          </a:prstGeom>
          <a:noFill/>
        </p:spPr>
        <p:txBody>
          <a:bodyPr wrap="square">
            <a:spAutoFit/>
          </a:bodyPr>
          <a:lstStyle/>
          <a:p>
            <a:pPr lvl="1"/>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P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型：</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lvl="1"/>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掺杂三价元素；受主杂质；</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lvl="1"/>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多子是空穴；多子带正电</a:t>
            </a:r>
            <a:endParaRPr lang="zh-CN" altLang="en-US" sz="2400" dirty="0">
              <a:solidFill>
                <a:schemeClr val="accent5">
                  <a:lumMod val="75000"/>
                </a:schemeClr>
              </a:solidFill>
            </a:endParaRPr>
          </a:p>
        </p:txBody>
      </p:sp>
      <p:sp>
        <p:nvSpPr>
          <p:cNvPr id="178" name="文本框 177">
            <a:extLst>
              <a:ext uri="{FF2B5EF4-FFF2-40B4-BE49-F238E27FC236}">
                <a16:creationId xmlns:a16="http://schemas.microsoft.com/office/drawing/2014/main" id="{F02B58E3-BEF3-D734-A104-0E29DD8CACB0}"/>
              </a:ext>
            </a:extLst>
          </p:cNvPr>
          <p:cNvSpPr txBox="1"/>
          <p:nvPr/>
        </p:nvSpPr>
        <p:spPr>
          <a:xfrm>
            <a:off x="5760000" y="5147999"/>
            <a:ext cx="5472000" cy="1260000"/>
          </a:xfrm>
          <a:prstGeom prst="rect">
            <a:avLst/>
          </a:prstGeom>
          <a:noFill/>
        </p:spPr>
        <p:txBody>
          <a:bodyPr wrap="square">
            <a:spAutoFit/>
          </a:bodyPr>
          <a:lstStyle/>
          <a:p>
            <a:pPr lvl="1"/>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N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型：</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lvl="1"/>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掺杂五价元素；施主杂质；</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lvl="1"/>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多子是自由电子；多子带负电</a:t>
            </a:r>
            <a:endParaRPr lang="zh-CN" altLang="en-US" sz="2400" dirty="0">
              <a:solidFill>
                <a:schemeClr val="accent5">
                  <a:lumMod val="75000"/>
                </a:schemeClr>
              </a:solidFill>
            </a:endParaRPr>
          </a:p>
        </p:txBody>
      </p:sp>
      <p:grpSp>
        <p:nvGrpSpPr>
          <p:cNvPr id="261" name="组合 260">
            <a:extLst>
              <a:ext uri="{FF2B5EF4-FFF2-40B4-BE49-F238E27FC236}">
                <a16:creationId xmlns:a16="http://schemas.microsoft.com/office/drawing/2014/main" id="{BC8EFC96-71B5-A620-3C6A-9A018092A2B4}"/>
              </a:ext>
            </a:extLst>
          </p:cNvPr>
          <p:cNvGrpSpPr/>
          <p:nvPr/>
        </p:nvGrpSpPr>
        <p:grpSpPr>
          <a:xfrm>
            <a:off x="5760000" y="1080000"/>
            <a:ext cx="4104000" cy="4104000"/>
            <a:chOff x="720000" y="2520000"/>
            <a:chExt cx="4104000" cy="4104000"/>
          </a:xfrm>
        </p:grpSpPr>
        <p:sp>
          <p:nvSpPr>
            <p:cNvPr id="262" name="椭圆 261">
              <a:extLst>
                <a:ext uri="{FF2B5EF4-FFF2-40B4-BE49-F238E27FC236}">
                  <a16:creationId xmlns:a16="http://schemas.microsoft.com/office/drawing/2014/main" id="{103293AE-7ACF-0768-4947-4FB3FE351E97}"/>
                </a:ext>
              </a:extLst>
            </p:cNvPr>
            <p:cNvSpPr/>
            <p:nvPr/>
          </p:nvSpPr>
          <p:spPr>
            <a:xfrm>
              <a:off x="756000" y="3384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263" name="椭圆 262">
              <a:extLst>
                <a:ext uri="{FF2B5EF4-FFF2-40B4-BE49-F238E27FC236}">
                  <a16:creationId xmlns:a16="http://schemas.microsoft.com/office/drawing/2014/main" id="{DC3A0F35-AF37-ECEC-289A-F47991281EE1}"/>
                </a:ext>
              </a:extLst>
            </p:cNvPr>
            <p:cNvSpPr/>
            <p:nvPr/>
          </p:nvSpPr>
          <p:spPr>
            <a:xfrm>
              <a:off x="756000" y="4392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264" name="椭圆 263">
              <a:extLst>
                <a:ext uri="{FF2B5EF4-FFF2-40B4-BE49-F238E27FC236}">
                  <a16:creationId xmlns:a16="http://schemas.microsoft.com/office/drawing/2014/main" id="{42073D3C-7734-290B-B9FC-A8F33CC5191B}"/>
                </a:ext>
              </a:extLst>
            </p:cNvPr>
            <p:cNvSpPr/>
            <p:nvPr/>
          </p:nvSpPr>
          <p:spPr>
            <a:xfrm>
              <a:off x="756000" y="5400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265" name="椭圆 264">
              <a:extLst>
                <a:ext uri="{FF2B5EF4-FFF2-40B4-BE49-F238E27FC236}">
                  <a16:creationId xmlns:a16="http://schemas.microsoft.com/office/drawing/2014/main" id="{379630DC-EDD6-868B-27CB-3FCFE5F4EAD8}"/>
                </a:ext>
              </a:extLst>
            </p:cNvPr>
            <p:cNvSpPr/>
            <p:nvPr/>
          </p:nvSpPr>
          <p:spPr>
            <a:xfrm>
              <a:off x="1584000" y="3564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266" name="椭圆 265">
              <a:extLst>
                <a:ext uri="{FF2B5EF4-FFF2-40B4-BE49-F238E27FC236}">
                  <a16:creationId xmlns:a16="http://schemas.microsoft.com/office/drawing/2014/main" id="{F3C1C029-9A5B-2CA4-2E1F-E21C3EFDA7F5}"/>
                </a:ext>
              </a:extLst>
            </p:cNvPr>
            <p:cNvSpPr/>
            <p:nvPr/>
          </p:nvSpPr>
          <p:spPr>
            <a:xfrm>
              <a:off x="1584000" y="2556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267" name="椭圆 266">
              <a:extLst>
                <a:ext uri="{FF2B5EF4-FFF2-40B4-BE49-F238E27FC236}">
                  <a16:creationId xmlns:a16="http://schemas.microsoft.com/office/drawing/2014/main" id="{852509D7-5FC4-A6A7-A28E-0CC15F65B0D9}"/>
                </a:ext>
              </a:extLst>
            </p:cNvPr>
            <p:cNvSpPr/>
            <p:nvPr/>
          </p:nvSpPr>
          <p:spPr>
            <a:xfrm>
              <a:off x="1764000" y="3384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268" name="椭圆 267">
              <a:extLst>
                <a:ext uri="{FF2B5EF4-FFF2-40B4-BE49-F238E27FC236}">
                  <a16:creationId xmlns:a16="http://schemas.microsoft.com/office/drawing/2014/main" id="{6FA31D89-7B28-AEDC-3E95-D28C807B0F4A}"/>
                </a:ext>
              </a:extLst>
            </p:cNvPr>
            <p:cNvSpPr/>
            <p:nvPr/>
          </p:nvSpPr>
          <p:spPr>
            <a:xfrm>
              <a:off x="1440000" y="351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69" name="椭圆 268">
              <a:extLst>
                <a:ext uri="{FF2B5EF4-FFF2-40B4-BE49-F238E27FC236}">
                  <a16:creationId xmlns:a16="http://schemas.microsoft.com/office/drawing/2014/main" id="{488F1535-B700-BFAE-E8FF-E1DAA949F345}"/>
                </a:ext>
              </a:extLst>
            </p:cNvPr>
            <p:cNvSpPr/>
            <p:nvPr/>
          </p:nvSpPr>
          <p:spPr>
            <a:xfrm>
              <a:off x="1584000" y="3384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270" name="文本框 269">
              <a:extLst>
                <a:ext uri="{FF2B5EF4-FFF2-40B4-BE49-F238E27FC236}">
                  <a16:creationId xmlns:a16="http://schemas.microsoft.com/office/drawing/2014/main" id="{018585F6-BFCA-ECEF-5E07-097DC56F27C0}"/>
                </a:ext>
              </a:extLst>
            </p:cNvPr>
            <p:cNvSpPr txBox="1"/>
            <p:nvPr/>
          </p:nvSpPr>
          <p:spPr>
            <a:xfrm>
              <a:off x="1512000" y="3402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271" name="椭圆 270">
              <a:extLst>
                <a:ext uri="{FF2B5EF4-FFF2-40B4-BE49-F238E27FC236}">
                  <a16:creationId xmlns:a16="http://schemas.microsoft.com/office/drawing/2014/main" id="{FDD60DF3-90C1-37F3-7F25-E2E1E9432A12}"/>
                </a:ext>
              </a:extLst>
            </p:cNvPr>
            <p:cNvSpPr/>
            <p:nvPr/>
          </p:nvSpPr>
          <p:spPr>
            <a:xfrm>
              <a:off x="1980000" y="351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72" name="椭圆 271">
              <a:extLst>
                <a:ext uri="{FF2B5EF4-FFF2-40B4-BE49-F238E27FC236}">
                  <a16:creationId xmlns:a16="http://schemas.microsoft.com/office/drawing/2014/main" id="{39CF3A9E-0EA4-BD1C-256F-357D23EBDA05}"/>
                </a:ext>
              </a:extLst>
            </p:cNvPr>
            <p:cNvSpPr/>
            <p:nvPr/>
          </p:nvSpPr>
          <p:spPr>
            <a:xfrm>
              <a:off x="1710000" y="378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73" name="椭圆 272">
              <a:extLst>
                <a:ext uri="{FF2B5EF4-FFF2-40B4-BE49-F238E27FC236}">
                  <a16:creationId xmlns:a16="http://schemas.microsoft.com/office/drawing/2014/main" id="{55846A94-F0EB-3B21-C505-E973DFDA093D}"/>
                </a:ext>
              </a:extLst>
            </p:cNvPr>
            <p:cNvSpPr/>
            <p:nvPr/>
          </p:nvSpPr>
          <p:spPr>
            <a:xfrm>
              <a:off x="1710000" y="324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74" name="椭圆 273">
              <a:extLst>
                <a:ext uri="{FF2B5EF4-FFF2-40B4-BE49-F238E27FC236}">
                  <a16:creationId xmlns:a16="http://schemas.microsoft.com/office/drawing/2014/main" id="{DDD70264-629A-8FB0-9F0E-FD8132F8786D}"/>
                </a:ext>
              </a:extLst>
            </p:cNvPr>
            <p:cNvSpPr/>
            <p:nvPr/>
          </p:nvSpPr>
          <p:spPr>
            <a:xfrm>
              <a:off x="1584000" y="4572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275" name="椭圆 274">
              <a:extLst>
                <a:ext uri="{FF2B5EF4-FFF2-40B4-BE49-F238E27FC236}">
                  <a16:creationId xmlns:a16="http://schemas.microsoft.com/office/drawing/2014/main" id="{3BAA47FE-E291-CBF2-FD6A-D7F910D31F2E}"/>
                </a:ext>
              </a:extLst>
            </p:cNvPr>
            <p:cNvSpPr/>
            <p:nvPr/>
          </p:nvSpPr>
          <p:spPr>
            <a:xfrm>
              <a:off x="1764000" y="4392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276" name="椭圆 275">
              <a:extLst>
                <a:ext uri="{FF2B5EF4-FFF2-40B4-BE49-F238E27FC236}">
                  <a16:creationId xmlns:a16="http://schemas.microsoft.com/office/drawing/2014/main" id="{FA4BC54E-79C8-5213-63CA-3E5F46B24BB3}"/>
                </a:ext>
              </a:extLst>
            </p:cNvPr>
            <p:cNvSpPr/>
            <p:nvPr/>
          </p:nvSpPr>
          <p:spPr>
            <a:xfrm>
              <a:off x="1440000" y="4518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77" name="椭圆 276">
              <a:extLst>
                <a:ext uri="{FF2B5EF4-FFF2-40B4-BE49-F238E27FC236}">
                  <a16:creationId xmlns:a16="http://schemas.microsoft.com/office/drawing/2014/main" id="{F41BE787-7FFB-2743-2B6E-1187F6AF1A19}"/>
                </a:ext>
              </a:extLst>
            </p:cNvPr>
            <p:cNvSpPr/>
            <p:nvPr/>
          </p:nvSpPr>
          <p:spPr>
            <a:xfrm>
              <a:off x="1584000" y="4392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278" name="文本框 277">
              <a:extLst>
                <a:ext uri="{FF2B5EF4-FFF2-40B4-BE49-F238E27FC236}">
                  <a16:creationId xmlns:a16="http://schemas.microsoft.com/office/drawing/2014/main" id="{0AFA7B8D-597A-C9A5-0335-31E5FCE0F6B1}"/>
                </a:ext>
              </a:extLst>
            </p:cNvPr>
            <p:cNvSpPr txBox="1"/>
            <p:nvPr/>
          </p:nvSpPr>
          <p:spPr>
            <a:xfrm>
              <a:off x="1512000" y="4410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279" name="椭圆 278">
              <a:extLst>
                <a:ext uri="{FF2B5EF4-FFF2-40B4-BE49-F238E27FC236}">
                  <a16:creationId xmlns:a16="http://schemas.microsoft.com/office/drawing/2014/main" id="{C30F0815-7F4E-D340-1DA7-B7300506B71F}"/>
                </a:ext>
              </a:extLst>
            </p:cNvPr>
            <p:cNvSpPr/>
            <p:nvPr/>
          </p:nvSpPr>
          <p:spPr>
            <a:xfrm>
              <a:off x="1980000" y="4518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80" name="椭圆 279">
              <a:extLst>
                <a:ext uri="{FF2B5EF4-FFF2-40B4-BE49-F238E27FC236}">
                  <a16:creationId xmlns:a16="http://schemas.microsoft.com/office/drawing/2014/main" id="{88256EA8-BD08-A334-49F8-0248FBBA9457}"/>
                </a:ext>
              </a:extLst>
            </p:cNvPr>
            <p:cNvSpPr/>
            <p:nvPr/>
          </p:nvSpPr>
          <p:spPr>
            <a:xfrm>
              <a:off x="1710000" y="4788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81" name="椭圆 280">
              <a:extLst>
                <a:ext uri="{FF2B5EF4-FFF2-40B4-BE49-F238E27FC236}">
                  <a16:creationId xmlns:a16="http://schemas.microsoft.com/office/drawing/2014/main" id="{922BFA4F-CDF1-878C-66F8-24B635DB60E0}"/>
                </a:ext>
              </a:extLst>
            </p:cNvPr>
            <p:cNvSpPr/>
            <p:nvPr/>
          </p:nvSpPr>
          <p:spPr>
            <a:xfrm>
              <a:off x="1710000" y="4248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82" name="椭圆 281">
              <a:extLst>
                <a:ext uri="{FF2B5EF4-FFF2-40B4-BE49-F238E27FC236}">
                  <a16:creationId xmlns:a16="http://schemas.microsoft.com/office/drawing/2014/main" id="{53436E55-A774-FD3C-964F-52049E1C6539}"/>
                </a:ext>
              </a:extLst>
            </p:cNvPr>
            <p:cNvSpPr/>
            <p:nvPr/>
          </p:nvSpPr>
          <p:spPr>
            <a:xfrm>
              <a:off x="1584000" y="5580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283" name="椭圆 282">
              <a:extLst>
                <a:ext uri="{FF2B5EF4-FFF2-40B4-BE49-F238E27FC236}">
                  <a16:creationId xmlns:a16="http://schemas.microsoft.com/office/drawing/2014/main" id="{EBD30C1E-113A-2E96-A73F-C0C514938711}"/>
                </a:ext>
              </a:extLst>
            </p:cNvPr>
            <p:cNvSpPr/>
            <p:nvPr/>
          </p:nvSpPr>
          <p:spPr>
            <a:xfrm>
              <a:off x="1764000" y="5400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284" name="椭圆 283">
              <a:extLst>
                <a:ext uri="{FF2B5EF4-FFF2-40B4-BE49-F238E27FC236}">
                  <a16:creationId xmlns:a16="http://schemas.microsoft.com/office/drawing/2014/main" id="{401C0A00-3BA7-95B2-0466-E9A2BEC2B3F7}"/>
                </a:ext>
              </a:extLst>
            </p:cNvPr>
            <p:cNvSpPr/>
            <p:nvPr/>
          </p:nvSpPr>
          <p:spPr>
            <a:xfrm>
              <a:off x="1440000" y="552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85" name="椭圆 284">
              <a:extLst>
                <a:ext uri="{FF2B5EF4-FFF2-40B4-BE49-F238E27FC236}">
                  <a16:creationId xmlns:a16="http://schemas.microsoft.com/office/drawing/2014/main" id="{57088D38-87B6-0549-C1AF-ADF7634620F1}"/>
                </a:ext>
              </a:extLst>
            </p:cNvPr>
            <p:cNvSpPr/>
            <p:nvPr/>
          </p:nvSpPr>
          <p:spPr>
            <a:xfrm>
              <a:off x="1584000" y="5400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286" name="文本框 285">
              <a:extLst>
                <a:ext uri="{FF2B5EF4-FFF2-40B4-BE49-F238E27FC236}">
                  <a16:creationId xmlns:a16="http://schemas.microsoft.com/office/drawing/2014/main" id="{1543758F-4254-D881-654C-C13EADC5986C}"/>
                </a:ext>
              </a:extLst>
            </p:cNvPr>
            <p:cNvSpPr txBox="1"/>
            <p:nvPr/>
          </p:nvSpPr>
          <p:spPr>
            <a:xfrm>
              <a:off x="1512000" y="5418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287" name="椭圆 286">
              <a:extLst>
                <a:ext uri="{FF2B5EF4-FFF2-40B4-BE49-F238E27FC236}">
                  <a16:creationId xmlns:a16="http://schemas.microsoft.com/office/drawing/2014/main" id="{888D23BE-8A51-0152-F583-2D28086930C0}"/>
                </a:ext>
              </a:extLst>
            </p:cNvPr>
            <p:cNvSpPr/>
            <p:nvPr/>
          </p:nvSpPr>
          <p:spPr>
            <a:xfrm>
              <a:off x="1980000" y="552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88" name="椭圆 287">
              <a:extLst>
                <a:ext uri="{FF2B5EF4-FFF2-40B4-BE49-F238E27FC236}">
                  <a16:creationId xmlns:a16="http://schemas.microsoft.com/office/drawing/2014/main" id="{D628BE7C-21F4-AEA3-C7DE-01D482D5B85B}"/>
                </a:ext>
              </a:extLst>
            </p:cNvPr>
            <p:cNvSpPr/>
            <p:nvPr/>
          </p:nvSpPr>
          <p:spPr>
            <a:xfrm>
              <a:off x="1710000" y="579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89" name="椭圆 288">
              <a:extLst>
                <a:ext uri="{FF2B5EF4-FFF2-40B4-BE49-F238E27FC236}">
                  <a16:creationId xmlns:a16="http://schemas.microsoft.com/office/drawing/2014/main" id="{C44ADF6B-94E8-E25A-D103-B300F96C6750}"/>
                </a:ext>
              </a:extLst>
            </p:cNvPr>
            <p:cNvSpPr/>
            <p:nvPr/>
          </p:nvSpPr>
          <p:spPr>
            <a:xfrm>
              <a:off x="1710000" y="525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90" name="椭圆 289">
              <a:extLst>
                <a:ext uri="{FF2B5EF4-FFF2-40B4-BE49-F238E27FC236}">
                  <a16:creationId xmlns:a16="http://schemas.microsoft.com/office/drawing/2014/main" id="{8D74A4B6-7A05-1DDC-DF80-44FD0585F03C}"/>
                </a:ext>
              </a:extLst>
            </p:cNvPr>
            <p:cNvSpPr/>
            <p:nvPr/>
          </p:nvSpPr>
          <p:spPr>
            <a:xfrm>
              <a:off x="2592000" y="3564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291" name="椭圆 290">
              <a:extLst>
                <a:ext uri="{FF2B5EF4-FFF2-40B4-BE49-F238E27FC236}">
                  <a16:creationId xmlns:a16="http://schemas.microsoft.com/office/drawing/2014/main" id="{C48D5F9A-C980-89F5-3918-221231FBD523}"/>
                </a:ext>
              </a:extLst>
            </p:cNvPr>
            <p:cNvSpPr/>
            <p:nvPr/>
          </p:nvSpPr>
          <p:spPr>
            <a:xfrm>
              <a:off x="2592000" y="2556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292" name="椭圆 291">
              <a:extLst>
                <a:ext uri="{FF2B5EF4-FFF2-40B4-BE49-F238E27FC236}">
                  <a16:creationId xmlns:a16="http://schemas.microsoft.com/office/drawing/2014/main" id="{0F303D5B-CF24-4D28-14E8-734A7E4BDAE9}"/>
                </a:ext>
              </a:extLst>
            </p:cNvPr>
            <p:cNvSpPr/>
            <p:nvPr/>
          </p:nvSpPr>
          <p:spPr>
            <a:xfrm>
              <a:off x="2772000" y="3384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293" name="椭圆 292">
              <a:extLst>
                <a:ext uri="{FF2B5EF4-FFF2-40B4-BE49-F238E27FC236}">
                  <a16:creationId xmlns:a16="http://schemas.microsoft.com/office/drawing/2014/main" id="{51B0B899-8139-25D2-90C4-764200E9F0F0}"/>
                </a:ext>
              </a:extLst>
            </p:cNvPr>
            <p:cNvSpPr/>
            <p:nvPr/>
          </p:nvSpPr>
          <p:spPr>
            <a:xfrm>
              <a:off x="2448000" y="351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94" name="椭圆 293">
              <a:extLst>
                <a:ext uri="{FF2B5EF4-FFF2-40B4-BE49-F238E27FC236}">
                  <a16:creationId xmlns:a16="http://schemas.microsoft.com/office/drawing/2014/main" id="{8217AF6A-04B1-DA20-B746-13261908FBDB}"/>
                </a:ext>
              </a:extLst>
            </p:cNvPr>
            <p:cNvSpPr/>
            <p:nvPr/>
          </p:nvSpPr>
          <p:spPr>
            <a:xfrm>
              <a:off x="2592000" y="3384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295" name="文本框 294">
              <a:extLst>
                <a:ext uri="{FF2B5EF4-FFF2-40B4-BE49-F238E27FC236}">
                  <a16:creationId xmlns:a16="http://schemas.microsoft.com/office/drawing/2014/main" id="{01BE571D-2893-D951-701A-47870C43FA9F}"/>
                </a:ext>
              </a:extLst>
            </p:cNvPr>
            <p:cNvSpPr txBox="1"/>
            <p:nvPr/>
          </p:nvSpPr>
          <p:spPr>
            <a:xfrm>
              <a:off x="2520000" y="3402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296" name="椭圆 295">
              <a:extLst>
                <a:ext uri="{FF2B5EF4-FFF2-40B4-BE49-F238E27FC236}">
                  <a16:creationId xmlns:a16="http://schemas.microsoft.com/office/drawing/2014/main" id="{5C637399-530C-3C92-8810-54C741BF6F63}"/>
                </a:ext>
              </a:extLst>
            </p:cNvPr>
            <p:cNvSpPr/>
            <p:nvPr/>
          </p:nvSpPr>
          <p:spPr>
            <a:xfrm>
              <a:off x="2988000" y="351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97" name="椭圆 296">
              <a:extLst>
                <a:ext uri="{FF2B5EF4-FFF2-40B4-BE49-F238E27FC236}">
                  <a16:creationId xmlns:a16="http://schemas.microsoft.com/office/drawing/2014/main" id="{C0FB0BA6-1B82-ADA8-64B1-0B08F40D0A5B}"/>
                </a:ext>
              </a:extLst>
            </p:cNvPr>
            <p:cNvSpPr/>
            <p:nvPr/>
          </p:nvSpPr>
          <p:spPr>
            <a:xfrm>
              <a:off x="2718000" y="378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98" name="椭圆 297">
              <a:extLst>
                <a:ext uri="{FF2B5EF4-FFF2-40B4-BE49-F238E27FC236}">
                  <a16:creationId xmlns:a16="http://schemas.microsoft.com/office/drawing/2014/main" id="{186BD2B3-5511-0058-B1AA-843EBA8BA750}"/>
                </a:ext>
              </a:extLst>
            </p:cNvPr>
            <p:cNvSpPr/>
            <p:nvPr/>
          </p:nvSpPr>
          <p:spPr>
            <a:xfrm>
              <a:off x="2718000" y="324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99" name="椭圆 298">
              <a:extLst>
                <a:ext uri="{FF2B5EF4-FFF2-40B4-BE49-F238E27FC236}">
                  <a16:creationId xmlns:a16="http://schemas.microsoft.com/office/drawing/2014/main" id="{3E340C6F-EF9F-AD0E-29DC-3B70DC8AD826}"/>
                </a:ext>
              </a:extLst>
            </p:cNvPr>
            <p:cNvSpPr/>
            <p:nvPr/>
          </p:nvSpPr>
          <p:spPr>
            <a:xfrm>
              <a:off x="2592000" y="4572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300" name="椭圆 299">
              <a:extLst>
                <a:ext uri="{FF2B5EF4-FFF2-40B4-BE49-F238E27FC236}">
                  <a16:creationId xmlns:a16="http://schemas.microsoft.com/office/drawing/2014/main" id="{CF8ADF78-01F8-CFE6-92B9-40C6577649FB}"/>
                </a:ext>
              </a:extLst>
            </p:cNvPr>
            <p:cNvSpPr/>
            <p:nvPr/>
          </p:nvSpPr>
          <p:spPr>
            <a:xfrm>
              <a:off x="2772000" y="4392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301" name="椭圆 300">
              <a:extLst>
                <a:ext uri="{FF2B5EF4-FFF2-40B4-BE49-F238E27FC236}">
                  <a16:creationId xmlns:a16="http://schemas.microsoft.com/office/drawing/2014/main" id="{88439CCD-0EE7-AB76-E98B-35C626D026F6}"/>
                </a:ext>
              </a:extLst>
            </p:cNvPr>
            <p:cNvSpPr/>
            <p:nvPr/>
          </p:nvSpPr>
          <p:spPr>
            <a:xfrm>
              <a:off x="2448000" y="4518000"/>
              <a:ext cx="108000" cy="108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02" name="椭圆 301">
              <a:extLst>
                <a:ext uri="{FF2B5EF4-FFF2-40B4-BE49-F238E27FC236}">
                  <a16:creationId xmlns:a16="http://schemas.microsoft.com/office/drawing/2014/main" id="{E0DCA64D-9596-6CF0-A6B9-70B7F302D7B8}"/>
                </a:ext>
              </a:extLst>
            </p:cNvPr>
            <p:cNvSpPr/>
            <p:nvPr/>
          </p:nvSpPr>
          <p:spPr>
            <a:xfrm>
              <a:off x="2592000" y="4392000"/>
              <a:ext cx="360000" cy="360000"/>
            </a:xfrm>
            <a:prstGeom prst="ellipse">
              <a:avLst/>
            </a:prstGeom>
            <a:solidFill>
              <a:schemeClr val="accent4"/>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303" name="文本框 302">
              <a:extLst>
                <a:ext uri="{FF2B5EF4-FFF2-40B4-BE49-F238E27FC236}">
                  <a16:creationId xmlns:a16="http://schemas.microsoft.com/office/drawing/2014/main" id="{E34C1E80-1C11-7143-C273-BEA1E65EF826}"/>
                </a:ext>
              </a:extLst>
            </p:cNvPr>
            <p:cNvSpPr txBox="1"/>
            <p:nvPr/>
          </p:nvSpPr>
          <p:spPr>
            <a:xfrm>
              <a:off x="2520000" y="4409998"/>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+5</a:t>
              </a:r>
              <a:endParaRPr lang="zh-CN" altLang="en-US" sz="1500" b="1" dirty="0">
                <a:latin typeface="微软雅黑" panose="020B0503020204020204" pitchFamily="34" charset="-122"/>
                <a:ea typeface="微软雅黑" panose="020B0503020204020204" pitchFamily="34" charset="-122"/>
              </a:endParaRPr>
            </a:p>
          </p:txBody>
        </p:sp>
        <p:sp>
          <p:nvSpPr>
            <p:cNvPr id="304" name="椭圆 303">
              <a:extLst>
                <a:ext uri="{FF2B5EF4-FFF2-40B4-BE49-F238E27FC236}">
                  <a16:creationId xmlns:a16="http://schemas.microsoft.com/office/drawing/2014/main" id="{3641EBC2-E995-308E-09D6-1D6A9737657C}"/>
                </a:ext>
              </a:extLst>
            </p:cNvPr>
            <p:cNvSpPr/>
            <p:nvPr/>
          </p:nvSpPr>
          <p:spPr>
            <a:xfrm>
              <a:off x="2988000" y="4518000"/>
              <a:ext cx="108000" cy="108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05" name="椭圆 304">
              <a:extLst>
                <a:ext uri="{FF2B5EF4-FFF2-40B4-BE49-F238E27FC236}">
                  <a16:creationId xmlns:a16="http://schemas.microsoft.com/office/drawing/2014/main" id="{C05139B2-C704-61A6-F75E-B6CBC62A08C1}"/>
                </a:ext>
              </a:extLst>
            </p:cNvPr>
            <p:cNvSpPr/>
            <p:nvPr/>
          </p:nvSpPr>
          <p:spPr>
            <a:xfrm>
              <a:off x="2718000" y="4788000"/>
              <a:ext cx="108000" cy="108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06" name="椭圆 305">
              <a:extLst>
                <a:ext uri="{FF2B5EF4-FFF2-40B4-BE49-F238E27FC236}">
                  <a16:creationId xmlns:a16="http://schemas.microsoft.com/office/drawing/2014/main" id="{8B75F9BA-AA05-0CA5-3B0A-EE1B998877CB}"/>
                </a:ext>
              </a:extLst>
            </p:cNvPr>
            <p:cNvSpPr/>
            <p:nvPr/>
          </p:nvSpPr>
          <p:spPr>
            <a:xfrm>
              <a:off x="2718000" y="4248000"/>
              <a:ext cx="108000" cy="108000"/>
            </a:xfrm>
            <a:prstGeom prst="ellipse">
              <a:avLst/>
            </a:prstGeom>
            <a:solidFill>
              <a:srgbClr val="FF0000"/>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07" name="椭圆 306">
              <a:extLst>
                <a:ext uri="{FF2B5EF4-FFF2-40B4-BE49-F238E27FC236}">
                  <a16:creationId xmlns:a16="http://schemas.microsoft.com/office/drawing/2014/main" id="{E693BDFD-EC80-5F04-9C16-48E92F67C0F3}"/>
                </a:ext>
              </a:extLst>
            </p:cNvPr>
            <p:cNvSpPr/>
            <p:nvPr/>
          </p:nvSpPr>
          <p:spPr>
            <a:xfrm>
              <a:off x="2592000" y="5580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308" name="椭圆 307">
              <a:extLst>
                <a:ext uri="{FF2B5EF4-FFF2-40B4-BE49-F238E27FC236}">
                  <a16:creationId xmlns:a16="http://schemas.microsoft.com/office/drawing/2014/main" id="{03039A54-6F59-54EF-0FE4-4EC6CFD9F5E4}"/>
                </a:ext>
              </a:extLst>
            </p:cNvPr>
            <p:cNvSpPr/>
            <p:nvPr/>
          </p:nvSpPr>
          <p:spPr>
            <a:xfrm>
              <a:off x="2772000" y="5400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309" name="椭圆 308">
              <a:extLst>
                <a:ext uri="{FF2B5EF4-FFF2-40B4-BE49-F238E27FC236}">
                  <a16:creationId xmlns:a16="http://schemas.microsoft.com/office/drawing/2014/main" id="{415305B9-70CF-D5EC-104C-900E2FF2200E}"/>
                </a:ext>
              </a:extLst>
            </p:cNvPr>
            <p:cNvSpPr/>
            <p:nvPr/>
          </p:nvSpPr>
          <p:spPr>
            <a:xfrm>
              <a:off x="2448000" y="552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10" name="椭圆 309">
              <a:extLst>
                <a:ext uri="{FF2B5EF4-FFF2-40B4-BE49-F238E27FC236}">
                  <a16:creationId xmlns:a16="http://schemas.microsoft.com/office/drawing/2014/main" id="{9D6ED4AF-7DC0-A6FE-8079-5184263A3784}"/>
                </a:ext>
              </a:extLst>
            </p:cNvPr>
            <p:cNvSpPr/>
            <p:nvPr/>
          </p:nvSpPr>
          <p:spPr>
            <a:xfrm>
              <a:off x="2592000" y="5400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311" name="文本框 310">
              <a:extLst>
                <a:ext uri="{FF2B5EF4-FFF2-40B4-BE49-F238E27FC236}">
                  <a16:creationId xmlns:a16="http://schemas.microsoft.com/office/drawing/2014/main" id="{9C468318-D1C2-A67D-344C-78E687FFC30C}"/>
                </a:ext>
              </a:extLst>
            </p:cNvPr>
            <p:cNvSpPr txBox="1"/>
            <p:nvPr/>
          </p:nvSpPr>
          <p:spPr>
            <a:xfrm>
              <a:off x="2520000" y="5418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312" name="椭圆 311">
              <a:extLst>
                <a:ext uri="{FF2B5EF4-FFF2-40B4-BE49-F238E27FC236}">
                  <a16:creationId xmlns:a16="http://schemas.microsoft.com/office/drawing/2014/main" id="{29384285-B292-701A-AD0A-987727B02454}"/>
                </a:ext>
              </a:extLst>
            </p:cNvPr>
            <p:cNvSpPr/>
            <p:nvPr/>
          </p:nvSpPr>
          <p:spPr>
            <a:xfrm>
              <a:off x="2988000" y="552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13" name="椭圆 312">
              <a:extLst>
                <a:ext uri="{FF2B5EF4-FFF2-40B4-BE49-F238E27FC236}">
                  <a16:creationId xmlns:a16="http://schemas.microsoft.com/office/drawing/2014/main" id="{EB4BEC03-5E59-C682-5757-F20EA3DE60A7}"/>
                </a:ext>
              </a:extLst>
            </p:cNvPr>
            <p:cNvSpPr/>
            <p:nvPr/>
          </p:nvSpPr>
          <p:spPr>
            <a:xfrm>
              <a:off x="2718000" y="579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14" name="椭圆 313">
              <a:extLst>
                <a:ext uri="{FF2B5EF4-FFF2-40B4-BE49-F238E27FC236}">
                  <a16:creationId xmlns:a16="http://schemas.microsoft.com/office/drawing/2014/main" id="{08A2E13B-6DF7-438A-7002-B41C3C48425E}"/>
                </a:ext>
              </a:extLst>
            </p:cNvPr>
            <p:cNvSpPr/>
            <p:nvPr/>
          </p:nvSpPr>
          <p:spPr>
            <a:xfrm>
              <a:off x="2718000" y="525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15" name="椭圆 314">
              <a:extLst>
                <a:ext uri="{FF2B5EF4-FFF2-40B4-BE49-F238E27FC236}">
                  <a16:creationId xmlns:a16="http://schemas.microsoft.com/office/drawing/2014/main" id="{679D6987-DDAF-2756-BFB5-9CA6C1B284CF}"/>
                </a:ext>
              </a:extLst>
            </p:cNvPr>
            <p:cNvSpPr/>
            <p:nvPr/>
          </p:nvSpPr>
          <p:spPr>
            <a:xfrm>
              <a:off x="3600000" y="3564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316" name="椭圆 315">
              <a:extLst>
                <a:ext uri="{FF2B5EF4-FFF2-40B4-BE49-F238E27FC236}">
                  <a16:creationId xmlns:a16="http://schemas.microsoft.com/office/drawing/2014/main" id="{923EC21F-AA3B-5ED8-BB7A-FE3DEE5A8367}"/>
                </a:ext>
              </a:extLst>
            </p:cNvPr>
            <p:cNvSpPr/>
            <p:nvPr/>
          </p:nvSpPr>
          <p:spPr>
            <a:xfrm>
              <a:off x="3600000" y="2556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317" name="椭圆 316">
              <a:extLst>
                <a:ext uri="{FF2B5EF4-FFF2-40B4-BE49-F238E27FC236}">
                  <a16:creationId xmlns:a16="http://schemas.microsoft.com/office/drawing/2014/main" id="{3A521321-9EAF-FCDD-513C-16868C52CB42}"/>
                </a:ext>
              </a:extLst>
            </p:cNvPr>
            <p:cNvSpPr/>
            <p:nvPr/>
          </p:nvSpPr>
          <p:spPr>
            <a:xfrm>
              <a:off x="3780000" y="3384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318" name="椭圆 317">
              <a:extLst>
                <a:ext uri="{FF2B5EF4-FFF2-40B4-BE49-F238E27FC236}">
                  <a16:creationId xmlns:a16="http://schemas.microsoft.com/office/drawing/2014/main" id="{EB38D376-B573-400D-2DF9-6280DFB91B95}"/>
                </a:ext>
              </a:extLst>
            </p:cNvPr>
            <p:cNvSpPr/>
            <p:nvPr/>
          </p:nvSpPr>
          <p:spPr>
            <a:xfrm>
              <a:off x="3456000" y="351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19" name="椭圆 318">
              <a:extLst>
                <a:ext uri="{FF2B5EF4-FFF2-40B4-BE49-F238E27FC236}">
                  <a16:creationId xmlns:a16="http://schemas.microsoft.com/office/drawing/2014/main" id="{C6D36ACE-364A-4671-543C-16985F77E65F}"/>
                </a:ext>
              </a:extLst>
            </p:cNvPr>
            <p:cNvSpPr/>
            <p:nvPr/>
          </p:nvSpPr>
          <p:spPr>
            <a:xfrm>
              <a:off x="3600000" y="3384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320" name="文本框 319">
              <a:extLst>
                <a:ext uri="{FF2B5EF4-FFF2-40B4-BE49-F238E27FC236}">
                  <a16:creationId xmlns:a16="http://schemas.microsoft.com/office/drawing/2014/main" id="{674BEDFB-D45F-2E7E-96FF-601520C0CDE7}"/>
                </a:ext>
              </a:extLst>
            </p:cNvPr>
            <p:cNvSpPr txBox="1"/>
            <p:nvPr/>
          </p:nvSpPr>
          <p:spPr>
            <a:xfrm>
              <a:off x="3528000" y="3402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321" name="椭圆 320">
              <a:extLst>
                <a:ext uri="{FF2B5EF4-FFF2-40B4-BE49-F238E27FC236}">
                  <a16:creationId xmlns:a16="http://schemas.microsoft.com/office/drawing/2014/main" id="{0D10E3F5-6E41-92C4-D596-F41721D628AF}"/>
                </a:ext>
              </a:extLst>
            </p:cNvPr>
            <p:cNvSpPr/>
            <p:nvPr/>
          </p:nvSpPr>
          <p:spPr>
            <a:xfrm>
              <a:off x="3996000" y="351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22" name="椭圆 321">
              <a:extLst>
                <a:ext uri="{FF2B5EF4-FFF2-40B4-BE49-F238E27FC236}">
                  <a16:creationId xmlns:a16="http://schemas.microsoft.com/office/drawing/2014/main" id="{6D8ABC80-5493-AED4-21A4-7C153F473CAE}"/>
                </a:ext>
              </a:extLst>
            </p:cNvPr>
            <p:cNvSpPr/>
            <p:nvPr/>
          </p:nvSpPr>
          <p:spPr>
            <a:xfrm>
              <a:off x="3726000" y="378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23" name="椭圆 322">
              <a:extLst>
                <a:ext uri="{FF2B5EF4-FFF2-40B4-BE49-F238E27FC236}">
                  <a16:creationId xmlns:a16="http://schemas.microsoft.com/office/drawing/2014/main" id="{A90135D3-593D-BBB4-B5EF-DF7BC15C7DA9}"/>
                </a:ext>
              </a:extLst>
            </p:cNvPr>
            <p:cNvSpPr/>
            <p:nvPr/>
          </p:nvSpPr>
          <p:spPr>
            <a:xfrm>
              <a:off x="3726000" y="3240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24" name="椭圆 323">
              <a:extLst>
                <a:ext uri="{FF2B5EF4-FFF2-40B4-BE49-F238E27FC236}">
                  <a16:creationId xmlns:a16="http://schemas.microsoft.com/office/drawing/2014/main" id="{925E988C-D233-E16B-2277-CA441AF8E4DA}"/>
                </a:ext>
              </a:extLst>
            </p:cNvPr>
            <p:cNvSpPr/>
            <p:nvPr/>
          </p:nvSpPr>
          <p:spPr>
            <a:xfrm>
              <a:off x="3600000" y="4572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325" name="椭圆 324">
              <a:extLst>
                <a:ext uri="{FF2B5EF4-FFF2-40B4-BE49-F238E27FC236}">
                  <a16:creationId xmlns:a16="http://schemas.microsoft.com/office/drawing/2014/main" id="{AC6EE1DF-9D81-77A5-F9A2-F8DF901C094C}"/>
                </a:ext>
              </a:extLst>
            </p:cNvPr>
            <p:cNvSpPr/>
            <p:nvPr/>
          </p:nvSpPr>
          <p:spPr>
            <a:xfrm>
              <a:off x="3780000" y="4392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326" name="椭圆 325">
              <a:extLst>
                <a:ext uri="{FF2B5EF4-FFF2-40B4-BE49-F238E27FC236}">
                  <a16:creationId xmlns:a16="http://schemas.microsoft.com/office/drawing/2014/main" id="{458BC525-8594-61B7-AAC8-4589425263C8}"/>
                </a:ext>
              </a:extLst>
            </p:cNvPr>
            <p:cNvSpPr/>
            <p:nvPr/>
          </p:nvSpPr>
          <p:spPr>
            <a:xfrm>
              <a:off x="3456000" y="4518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27" name="椭圆 326">
              <a:extLst>
                <a:ext uri="{FF2B5EF4-FFF2-40B4-BE49-F238E27FC236}">
                  <a16:creationId xmlns:a16="http://schemas.microsoft.com/office/drawing/2014/main" id="{D7C780B7-66D7-CB49-C58A-7508A6EA633D}"/>
                </a:ext>
              </a:extLst>
            </p:cNvPr>
            <p:cNvSpPr/>
            <p:nvPr/>
          </p:nvSpPr>
          <p:spPr>
            <a:xfrm>
              <a:off x="3600000" y="4392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328" name="文本框 327">
              <a:extLst>
                <a:ext uri="{FF2B5EF4-FFF2-40B4-BE49-F238E27FC236}">
                  <a16:creationId xmlns:a16="http://schemas.microsoft.com/office/drawing/2014/main" id="{7E079E61-4B73-64D1-47E9-6D33E737B828}"/>
                </a:ext>
              </a:extLst>
            </p:cNvPr>
            <p:cNvSpPr txBox="1"/>
            <p:nvPr/>
          </p:nvSpPr>
          <p:spPr>
            <a:xfrm>
              <a:off x="3528000" y="4410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329" name="椭圆 328">
              <a:extLst>
                <a:ext uri="{FF2B5EF4-FFF2-40B4-BE49-F238E27FC236}">
                  <a16:creationId xmlns:a16="http://schemas.microsoft.com/office/drawing/2014/main" id="{61722700-6AFD-319A-9BA3-D06831D56502}"/>
                </a:ext>
              </a:extLst>
            </p:cNvPr>
            <p:cNvSpPr/>
            <p:nvPr/>
          </p:nvSpPr>
          <p:spPr>
            <a:xfrm>
              <a:off x="3996000" y="4518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30" name="椭圆 329">
              <a:extLst>
                <a:ext uri="{FF2B5EF4-FFF2-40B4-BE49-F238E27FC236}">
                  <a16:creationId xmlns:a16="http://schemas.microsoft.com/office/drawing/2014/main" id="{5752AD6B-F27F-2FEF-DC98-05B1418301E6}"/>
                </a:ext>
              </a:extLst>
            </p:cNvPr>
            <p:cNvSpPr/>
            <p:nvPr/>
          </p:nvSpPr>
          <p:spPr>
            <a:xfrm>
              <a:off x="3726000" y="4788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31" name="椭圆 330">
              <a:extLst>
                <a:ext uri="{FF2B5EF4-FFF2-40B4-BE49-F238E27FC236}">
                  <a16:creationId xmlns:a16="http://schemas.microsoft.com/office/drawing/2014/main" id="{6BED4FE3-1522-DCAC-8ACC-D13647624695}"/>
                </a:ext>
              </a:extLst>
            </p:cNvPr>
            <p:cNvSpPr/>
            <p:nvPr/>
          </p:nvSpPr>
          <p:spPr>
            <a:xfrm>
              <a:off x="3726000" y="4248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32" name="椭圆 331">
              <a:extLst>
                <a:ext uri="{FF2B5EF4-FFF2-40B4-BE49-F238E27FC236}">
                  <a16:creationId xmlns:a16="http://schemas.microsoft.com/office/drawing/2014/main" id="{B6C69A27-61EE-50AD-7CD6-4DB55EF9FC7A}"/>
                </a:ext>
              </a:extLst>
            </p:cNvPr>
            <p:cNvSpPr/>
            <p:nvPr/>
          </p:nvSpPr>
          <p:spPr>
            <a:xfrm>
              <a:off x="3600000" y="5580000"/>
              <a:ext cx="360000" cy="10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333" name="椭圆 332">
              <a:extLst>
                <a:ext uri="{FF2B5EF4-FFF2-40B4-BE49-F238E27FC236}">
                  <a16:creationId xmlns:a16="http://schemas.microsoft.com/office/drawing/2014/main" id="{D657C9BB-0B0F-811F-41F1-F3CAAD4DA7B8}"/>
                </a:ext>
              </a:extLst>
            </p:cNvPr>
            <p:cNvSpPr/>
            <p:nvPr/>
          </p:nvSpPr>
          <p:spPr>
            <a:xfrm>
              <a:off x="3780000" y="5400000"/>
              <a:ext cx="1008000" cy="360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dirty="0"/>
            </a:p>
          </p:txBody>
        </p:sp>
        <p:sp>
          <p:nvSpPr>
            <p:cNvPr id="334" name="椭圆 333">
              <a:extLst>
                <a:ext uri="{FF2B5EF4-FFF2-40B4-BE49-F238E27FC236}">
                  <a16:creationId xmlns:a16="http://schemas.microsoft.com/office/drawing/2014/main" id="{076CF980-5461-CC1F-DAB2-42A0BCDAEC69}"/>
                </a:ext>
              </a:extLst>
            </p:cNvPr>
            <p:cNvSpPr/>
            <p:nvPr/>
          </p:nvSpPr>
          <p:spPr>
            <a:xfrm>
              <a:off x="3456000" y="552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35" name="椭圆 334">
              <a:extLst>
                <a:ext uri="{FF2B5EF4-FFF2-40B4-BE49-F238E27FC236}">
                  <a16:creationId xmlns:a16="http://schemas.microsoft.com/office/drawing/2014/main" id="{AF34EE6A-5111-1FDE-246A-CF4C40C6B37D}"/>
                </a:ext>
              </a:extLst>
            </p:cNvPr>
            <p:cNvSpPr/>
            <p:nvPr/>
          </p:nvSpPr>
          <p:spPr>
            <a:xfrm>
              <a:off x="3600000" y="5400000"/>
              <a:ext cx="360000" cy="360000"/>
            </a:xfrm>
            <a:prstGeom prst="ellipse">
              <a:avLst/>
            </a:prstGeom>
            <a:solidFill>
              <a:schemeClr val="accent5">
                <a:lumMod val="20000"/>
                <a:lumOff val="80000"/>
              </a:schemeClr>
            </a:solid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sz="1500" dirty="0">
                <a:latin typeface="微软雅黑" panose="020B0503020204020204" pitchFamily="34" charset="-122"/>
                <a:ea typeface="微软雅黑" panose="020B0503020204020204" pitchFamily="34" charset="-122"/>
              </a:endParaRPr>
            </a:p>
          </p:txBody>
        </p:sp>
        <p:sp>
          <p:nvSpPr>
            <p:cNvPr id="336" name="文本框 335">
              <a:extLst>
                <a:ext uri="{FF2B5EF4-FFF2-40B4-BE49-F238E27FC236}">
                  <a16:creationId xmlns:a16="http://schemas.microsoft.com/office/drawing/2014/main" id="{A3067968-D838-09E1-2EF7-E3780AED5A73}"/>
                </a:ext>
              </a:extLst>
            </p:cNvPr>
            <p:cNvSpPr txBox="1"/>
            <p:nvPr/>
          </p:nvSpPr>
          <p:spPr>
            <a:xfrm>
              <a:off x="3528000" y="5418000"/>
              <a:ext cx="468000" cy="360000"/>
            </a:xfrm>
            <a:prstGeom prst="rect">
              <a:avLst/>
            </a:prstGeom>
            <a:noFill/>
          </p:spPr>
          <p:txBody>
            <a:bodyPr wrap="square">
              <a:spAutoFit/>
            </a:bodyPr>
            <a:lstStyle/>
            <a:p>
              <a:pPr algn="ctr"/>
              <a:r>
                <a:rPr lang="en-US" altLang="zh-CN" sz="1500" b="1" dirty="0">
                  <a:latin typeface="微软雅黑" panose="020B0503020204020204" pitchFamily="34" charset="-122"/>
                  <a:ea typeface="微软雅黑" panose="020B0503020204020204" pitchFamily="34" charset="-122"/>
                </a:rPr>
                <a:t>+4</a:t>
              </a:r>
              <a:endParaRPr lang="zh-CN" altLang="en-US" sz="1500" b="1" dirty="0">
                <a:latin typeface="微软雅黑" panose="020B0503020204020204" pitchFamily="34" charset="-122"/>
                <a:ea typeface="微软雅黑" panose="020B0503020204020204" pitchFamily="34" charset="-122"/>
              </a:endParaRPr>
            </a:p>
          </p:txBody>
        </p:sp>
        <p:sp>
          <p:nvSpPr>
            <p:cNvPr id="337" name="椭圆 336">
              <a:extLst>
                <a:ext uri="{FF2B5EF4-FFF2-40B4-BE49-F238E27FC236}">
                  <a16:creationId xmlns:a16="http://schemas.microsoft.com/office/drawing/2014/main" id="{3C09D594-4AA6-A71B-E880-745DD54D526A}"/>
                </a:ext>
              </a:extLst>
            </p:cNvPr>
            <p:cNvSpPr/>
            <p:nvPr/>
          </p:nvSpPr>
          <p:spPr>
            <a:xfrm>
              <a:off x="3996000" y="552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38" name="椭圆 337">
              <a:extLst>
                <a:ext uri="{FF2B5EF4-FFF2-40B4-BE49-F238E27FC236}">
                  <a16:creationId xmlns:a16="http://schemas.microsoft.com/office/drawing/2014/main" id="{3CE43E5A-97BF-F1BE-936D-DD65C80AEE2D}"/>
                </a:ext>
              </a:extLst>
            </p:cNvPr>
            <p:cNvSpPr/>
            <p:nvPr/>
          </p:nvSpPr>
          <p:spPr>
            <a:xfrm>
              <a:off x="3726000" y="579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39" name="椭圆 338">
              <a:extLst>
                <a:ext uri="{FF2B5EF4-FFF2-40B4-BE49-F238E27FC236}">
                  <a16:creationId xmlns:a16="http://schemas.microsoft.com/office/drawing/2014/main" id="{DE2791D3-6A7F-8A77-BAB6-B28CE611B7F3}"/>
                </a:ext>
              </a:extLst>
            </p:cNvPr>
            <p:cNvSpPr/>
            <p:nvPr/>
          </p:nvSpPr>
          <p:spPr>
            <a:xfrm>
              <a:off x="3726000" y="5256000"/>
              <a:ext cx="108000" cy="108000"/>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40" name="矩形 339">
              <a:extLst>
                <a:ext uri="{FF2B5EF4-FFF2-40B4-BE49-F238E27FC236}">
                  <a16:creationId xmlns:a16="http://schemas.microsoft.com/office/drawing/2014/main" id="{50169280-25CF-B9FD-AE2E-AC4ECC7F6A11}"/>
                </a:ext>
              </a:extLst>
            </p:cNvPr>
            <p:cNvSpPr/>
            <p:nvPr/>
          </p:nvSpPr>
          <p:spPr>
            <a:xfrm>
              <a:off x="720000" y="3276000"/>
              <a:ext cx="540000" cy="259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41" name="矩形 340">
              <a:extLst>
                <a:ext uri="{FF2B5EF4-FFF2-40B4-BE49-F238E27FC236}">
                  <a16:creationId xmlns:a16="http://schemas.microsoft.com/office/drawing/2014/main" id="{0D7C9D32-8F1A-305C-99F9-8018519AC18A}"/>
                </a:ext>
              </a:extLst>
            </p:cNvPr>
            <p:cNvSpPr/>
            <p:nvPr/>
          </p:nvSpPr>
          <p:spPr>
            <a:xfrm>
              <a:off x="4284000" y="3276000"/>
              <a:ext cx="540000" cy="2592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42" name="矩形 341">
              <a:extLst>
                <a:ext uri="{FF2B5EF4-FFF2-40B4-BE49-F238E27FC236}">
                  <a16:creationId xmlns:a16="http://schemas.microsoft.com/office/drawing/2014/main" id="{0F8D4B9E-2269-FEED-4F30-096B90167F29}"/>
                </a:ext>
              </a:extLst>
            </p:cNvPr>
            <p:cNvSpPr/>
            <p:nvPr/>
          </p:nvSpPr>
          <p:spPr>
            <a:xfrm>
              <a:off x="1476000" y="2520000"/>
              <a:ext cx="2592000" cy="54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43" name="矩形 342">
              <a:extLst>
                <a:ext uri="{FF2B5EF4-FFF2-40B4-BE49-F238E27FC236}">
                  <a16:creationId xmlns:a16="http://schemas.microsoft.com/office/drawing/2014/main" id="{0756013E-CBCD-EB88-A316-C519B1A83BC9}"/>
                </a:ext>
              </a:extLst>
            </p:cNvPr>
            <p:cNvSpPr/>
            <p:nvPr/>
          </p:nvSpPr>
          <p:spPr>
            <a:xfrm>
              <a:off x="1476000" y="6084000"/>
              <a:ext cx="2592000" cy="540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344" name="椭圆 343">
              <a:extLst>
                <a:ext uri="{FF2B5EF4-FFF2-40B4-BE49-F238E27FC236}">
                  <a16:creationId xmlns:a16="http://schemas.microsoft.com/office/drawing/2014/main" id="{92CF448E-DBFD-BB77-E59F-C948DB7CACEC}"/>
                </a:ext>
              </a:extLst>
            </p:cNvPr>
            <p:cNvSpPr/>
            <p:nvPr/>
          </p:nvSpPr>
          <p:spPr>
            <a:xfrm>
              <a:off x="2988000" y="4248000"/>
              <a:ext cx="108000" cy="108000"/>
            </a:xfrm>
            <a:prstGeom prst="ellipse">
              <a:avLst/>
            </a:prstGeom>
            <a:solidFill>
              <a:srgbClr val="FF0000"/>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grpSp>
    </p:spTree>
    <p:extLst>
      <p:ext uri="{BB962C8B-B14F-4D97-AF65-F5344CB8AC3E}">
        <p14:creationId xmlns:p14="http://schemas.microsoft.com/office/powerpoint/2010/main" val="1412308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89D97-88BB-D89F-EAF2-B75F871A6C1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594B1FC1-ED61-56B0-D4E9-2439458314CE}"/>
                  </a:ext>
                </a:extLst>
              </p:cNvPr>
              <p:cNvSpPr txBox="1"/>
              <p:nvPr/>
            </p:nvSpPr>
            <p:spPr>
              <a:xfrm>
                <a:off x="360001" y="828000"/>
                <a:ext cx="10663600" cy="4051815"/>
              </a:xfrm>
              <a:prstGeom prst="rect">
                <a:avLst/>
              </a:prstGeom>
              <a:noFill/>
            </p:spPr>
            <p:txBody>
              <a:bodyPr wrap="square">
                <a:spAutoFit/>
              </a:bodyPr>
              <a:lstStyle/>
              <a:p>
                <a:pPr>
                  <a:lnSpc>
                    <a:spcPct val="120000"/>
                  </a:lnSpc>
                  <a:spcAft>
                    <a:spcPts val="600"/>
                  </a:spcAft>
                </a:pPr>
                <a:r>
                  <a:rPr kumimoji="1" lang="zh-CN" altLang="en-US" sz="2800" dirty="0">
                    <a:solidFill>
                      <a:srgbClr val="002060"/>
                    </a:solidFill>
                    <a:latin typeface="微软雅黑" panose="020B0503020204020204" pitchFamily="34" charset="-122"/>
                    <a:ea typeface="微软雅黑" panose="020B0503020204020204" pitchFamily="34" charset="-122"/>
                  </a:rPr>
                  <a:t>掺杂对导电性能的影响</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硅晶体的原子浓度为  </a:t>
                </a:r>
                <a14:m>
                  <m:oMath xmlns:m="http://schemas.openxmlformats.org/officeDocument/2006/math">
                    <m:r>
                      <a:rPr kumimoji="1" lang="en-US" altLang="zh-CN" sz="2800" i="1">
                        <a:solidFill>
                          <a:srgbClr val="0000FF"/>
                        </a:solidFill>
                        <a:latin typeface="Cambria Math" panose="02040503050406030204" pitchFamily="18" charset="0"/>
                        <a:ea typeface="微软雅黑" panose="020B0503020204020204" pitchFamily="34" charset="-122"/>
                      </a:rPr>
                      <m:t>4</m:t>
                    </m:r>
                    <m:r>
                      <a:rPr kumimoji="1" lang="en-US" altLang="zh-CN" sz="2800" b="0" i="1" smtClean="0">
                        <a:solidFill>
                          <a:srgbClr val="0000FF"/>
                        </a:solidFill>
                        <a:latin typeface="Cambria Math" panose="02040503050406030204" pitchFamily="18" charset="0"/>
                        <a:ea typeface="微软雅黑" panose="020B0503020204020204" pitchFamily="34" charset="-122"/>
                      </a:rPr>
                      <m:t>.</m:t>
                    </m:r>
                    <m:r>
                      <a:rPr kumimoji="1" lang="en-US" altLang="zh-CN" sz="2800" i="1">
                        <a:solidFill>
                          <a:srgbClr val="0000FF"/>
                        </a:solidFill>
                        <a:latin typeface="Cambria Math" panose="02040503050406030204" pitchFamily="18" charset="0"/>
                        <a:ea typeface="微软雅黑" panose="020B0503020204020204" pitchFamily="34" charset="-122"/>
                      </a:rPr>
                      <m:t>9</m:t>
                    </m:r>
                    <m:r>
                      <a:rPr kumimoji="1" lang="en-US" altLang="zh-CN" sz="2800" i="1" smtClean="0">
                        <a:solidFill>
                          <a:srgbClr val="0000FF"/>
                        </a:solidFill>
                        <a:latin typeface="Cambria Math" panose="02040503050406030204" pitchFamily="18" charset="0"/>
                        <a:ea typeface="微软雅黑" panose="020B0503020204020204" pitchFamily="34" charset="-122"/>
                      </a:rPr>
                      <m:t>6</m:t>
                    </m:r>
                    <m:r>
                      <a:rPr kumimoji="1" lang="en-US" altLang="zh-CN" sz="2800" i="1">
                        <a:solidFill>
                          <a:srgbClr val="0000FF"/>
                        </a:solidFill>
                        <a:latin typeface="Cambria Math" panose="02040503050406030204" pitchFamily="18" charset="0"/>
                        <a:ea typeface="微软雅黑" panose="020B0503020204020204" pitchFamily="34" charset="-122"/>
                      </a:rPr>
                      <m:t>×</m:t>
                    </m:r>
                    <m:sSup>
                      <m:sSupPr>
                        <m:ctrlPr>
                          <a:rPr kumimoji="1" lang="en-US" altLang="zh-CN" sz="2800" i="1">
                            <a:solidFill>
                              <a:srgbClr val="0000FF"/>
                            </a:solidFill>
                            <a:latin typeface="Cambria Math" panose="02040503050406030204" pitchFamily="18" charset="0"/>
                            <a:ea typeface="Cambria Math" panose="02040503050406030204" pitchFamily="18" charset="0"/>
                          </a:rPr>
                        </m:ctrlPr>
                      </m:sSupPr>
                      <m:e>
                        <m:r>
                          <a:rPr kumimoji="1" lang="en-US" altLang="zh-CN" sz="2800" i="1">
                            <a:solidFill>
                              <a:srgbClr val="0000FF"/>
                            </a:solidFill>
                            <a:latin typeface="Cambria Math" panose="02040503050406030204" pitchFamily="18" charset="0"/>
                            <a:ea typeface="Cambria Math" panose="02040503050406030204" pitchFamily="18" charset="0"/>
                          </a:rPr>
                          <m:t>10</m:t>
                        </m:r>
                      </m:e>
                      <m:sup>
                        <m:r>
                          <a:rPr kumimoji="1" lang="en-US" altLang="zh-CN" sz="2800" b="0" i="1" smtClean="0">
                            <a:solidFill>
                              <a:srgbClr val="0000FF"/>
                            </a:solidFill>
                            <a:latin typeface="Cambria Math" panose="02040503050406030204" pitchFamily="18" charset="0"/>
                            <a:ea typeface="Cambria Math" panose="02040503050406030204" pitchFamily="18" charset="0"/>
                          </a:rPr>
                          <m:t>22</m:t>
                        </m:r>
                      </m:sup>
                    </m:sSup>
                    <m:r>
                      <a:rPr kumimoji="1" lang="en-US" altLang="zh-CN" sz="2800" i="1">
                        <a:solidFill>
                          <a:srgbClr val="0000FF"/>
                        </a:solidFill>
                        <a:latin typeface="Cambria Math" panose="02040503050406030204" pitchFamily="18" charset="0"/>
                        <a:ea typeface="Cambria Math" panose="02040503050406030204" pitchFamily="18" charset="0"/>
                      </a:rPr>
                      <m:t>/</m:t>
                    </m:r>
                    <m:sSup>
                      <m:sSupPr>
                        <m:ctrlPr>
                          <a:rPr kumimoji="1" lang="en-US" altLang="zh-CN" sz="2800" i="1">
                            <a:solidFill>
                              <a:srgbClr val="0000FF"/>
                            </a:solidFill>
                            <a:latin typeface="Cambria Math" panose="02040503050406030204" pitchFamily="18" charset="0"/>
                            <a:ea typeface="Cambria Math" panose="02040503050406030204" pitchFamily="18" charset="0"/>
                          </a:rPr>
                        </m:ctrlPr>
                      </m:sSupPr>
                      <m:e>
                        <m:r>
                          <m:rPr>
                            <m:sty m:val="p"/>
                          </m:rPr>
                          <a:rPr kumimoji="1" lang="en-US" altLang="zh-CN" sz="2800">
                            <a:solidFill>
                              <a:srgbClr val="0000FF"/>
                            </a:solidFill>
                            <a:latin typeface="Cambria Math" panose="02040503050406030204" pitchFamily="18" charset="0"/>
                            <a:ea typeface="Cambria Math" panose="02040503050406030204" pitchFamily="18" charset="0"/>
                          </a:rPr>
                          <m:t>cm</m:t>
                        </m:r>
                      </m:e>
                      <m:sup>
                        <m:r>
                          <a:rPr kumimoji="1" lang="en-US" altLang="zh-CN" sz="2800" i="1">
                            <a:solidFill>
                              <a:srgbClr val="0000FF"/>
                            </a:solidFill>
                            <a:latin typeface="Cambria Math" panose="02040503050406030204" pitchFamily="18" charset="0"/>
                            <a:ea typeface="Cambria Math" panose="02040503050406030204" pitchFamily="18" charset="0"/>
                          </a:rPr>
                          <m:t>3</m:t>
                        </m:r>
                      </m:sup>
                    </m:sSup>
                  </m:oMath>
                </a14:m>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室温下（</a:t>
                </a:r>
                <a:r>
                  <a:rPr kumimoji="1" lang="en-US" altLang="zh-CN" sz="2800" dirty="0">
                    <a:solidFill>
                      <a:srgbClr val="002060"/>
                    </a:solidFill>
                    <a:latin typeface="微软雅黑" panose="020B0503020204020204" pitchFamily="34" charset="-122"/>
                    <a:ea typeface="微软雅黑" panose="020B0503020204020204" pitchFamily="34" charset="-122"/>
                  </a:rPr>
                  <a:t>300 K</a:t>
                </a:r>
                <a:r>
                  <a:rPr kumimoji="1" lang="zh-CN" altLang="en-US" sz="2800" dirty="0">
                    <a:solidFill>
                      <a:srgbClr val="002060"/>
                    </a:solidFill>
                    <a:latin typeface="微软雅黑" panose="020B0503020204020204" pitchFamily="34" charset="-122"/>
                    <a:ea typeface="微软雅黑" panose="020B0503020204020204" pitchFamily="34" charset="-122"/>
                  </a:rPr>
                  <a:t>），硅晶体本征激发的空穴和自由电子浓度约为</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lvl="1">
                  <a:lnSpc>
                    <a:spcPct val="120000"/>
                  </a:lnSpc>
                  <a:spcAft>
                    <a:spcPts val="600"/>
                  </a:spcAft>
                </a:pPr>
                <a:r>
                  <a:rPr kumimoji="1" lang="en-US" altLang="zh-CN" sz="2800" b="0" dirty="0">
                    <a:solidFill>
                      <a:srgbClr val="0000FF"/>
                    </a:solidFill>
                    <a:ea typeface="微软雅黑" panose="020B0503020204020204" pitchFamily="34" charset="-122"/>
                  </a:rPr>
                  <a:t>				</a:t>
                </a:r>
                <a14:m>
                  <m:oMath xmlns:m="http://schemas.openxmlformats.org/officeDocument/2006/math">
                    <m:r>
                      <a:rPr kumimoji="1" lang="en-US" altLang="zh-CN" sz="2800" b="0" i="1" smtClean="0">
                        <a:solidFill>
                          <a:srgbClr val="0000FF"/>
                        </a:solidFill>
                        <a:latin typeface="Cambria Math" panose="02040503050406030204" pitchFamily="18" charset="0"/>
                        <a:ea typeface="微软雅黑" panose="020B0503020204020204" pitchFamily="34" charset="-122"/>
                      </a:rPr>
                      <m:t>𝑝</m:t>
                    </m:r>
                    <m:r>
                      <a:rPr kumimoji="1" lang="en-US" altLang="zh-CN" sz="2800" b="0" i="1" smtClean="0">
                        <a:solidFill>
                          <a:srgbClr val="0000FF"/>
                        </a:solidFill>
                        <a:latin typeface="Cambria Math" panose="02040503050406030204" pitchFamily="18" charset="0"/>
                        <a:ea typeface="微软雅黑" panose="020B0503020204020204" pitchFamily="34" charset="-122"/>
                      </a:rPr>
                      <m:t>=</m:t>
                    </m:r>
                    <m:r>
                      <a:rPr kumimoji="1" lang="en-US" altLang="zh-CN" sz="2800" b="0" i="1" smtClean="0">
                        <a:solidFill>
                          <a:srgbClr val="0000FF"/>
                        </a:solidFill>
                        <a:latin typeface="Cambria Math" panose="02040503050406030204" pitchFamily="18" charset="0"/>
                        <a:ea typeface="微软雅黑" panose="020B0503020204020204" pitchFamily="34" charset="-122"/>
                      </a:rPr>
                      <m:t>𝑛</m:t>
                    </m:r>
                    <m:r>
                      <a:rPr kumimoji="1" lang="en-US" altLang="zh-CN" sz="2800" b="0" i="1" smtClean="0">
                        <a:solidFill>
                          <a:srgbClr val="0000FF"/>
                        </a:solidFill>
                        <a:latin typeface="Cambria Math" panose="02040503050406030204" pitchFamily="18" charset="0"/>
                        <a:ea typeface="微软雅黑" panose="020B0503020204020204" pitchFamily="34" charset="-122"/>
                      </a:rPr>
                      <m:t>=1.45×</m:t>
                    </m:r>
                    <m:sSup>
                      <m:sSupPr>
                        <m:ctrlPr>
                          <a:rPr kumimoji="1" lang="en-US" altLang="zh-CN" sz="2800" b="0" i="1" smtClean="0">
                            <a:solidFill>
                              <a:srgbClr val="0000FF"/>
                            </a:solidFill>
                            <a:latin typeface="Cambria Math" panose="02040503050406030204" pitchFamily="18" charset="0"/>
                            <a:ea typeface="Cambria Math" panose="02040503050406030204" pitchFamily="18" charset="0"/>
                          </a:rPr>
                        </m:ctrlPr>
                      </m:sSupPr>
                      <m:e>
                        <m:r>
                          <a:rPr kumimoji="1" lang="en-US" altLang="zh-CN" sz="2800" i="1">
                            <a:solidFill>
                              <a:srgbClr val="0000FF"/>
                            </a:solidFill>
                            <a:latin typeface="Cambria Math" panose="02040503050406030204" pitchFamily="18" charset="0"/>
                            <a:ea typeface="Cambria Math" panose="02040503050406030204" pitchFamily="18" charset="0"/>
                          </a:rPr>
                          <m:t>10</m:t>
                        </m:r>
                      </m:e>
                      <m:sup>
                        <m:r>
                          <a:rPr kumimoji="1" lang="en-US" altLang="zh-CN" sz="2800" b="0" i="1" smtClean="0">
                            <a:solidFill>
                              <a:srgbClr val="0000FF"/>
                            </a:solidFill>
                            <a:latin typeface="Cambria Math" panose="02040503050406030204" pitchFamily="18" charset="0"/>
                            <a:ea typeface="Cambria Math" panose="02040503050406030204" pitchFamily="18" charset="0"/>
                          </a:rPr>
                          <m:t>10</m:t>
                        </m:r>
                      </m:sup>
                    </m:sSup>
                    <m:r>
                      <a:rPr kumimoji="1" lang="en-US" altLang="zh-CN" sz="2800" b="0" i="1" smtClean="0">
                        <a:solidFill>
                          <a:srgbClr val="0000FF"/>
                        </a:solidFill>
                        <a:latin typeface="Cambria Math" panose="02040503050406030204" pitchFamily="18" charset="0"/>
                        <a:ea typeface="Cambria Math" panose="02040503050406030204" pitchFamily="18" charset="0"/>
                      </a:rPr>
                      <m:t>/</m:t>
                    </m:r>
                    <m:sSup>
                      <m:sSupPr>
                        <m:ctrlPr>
                          <a:rPr kumimoji="1" lang="en-US" altLang="zh-CN" sz="2800" b="0" i="1" smtClean="0">
                            <a:solidFill>
                              <a:srgbClr val="0000FF"/>
                            </a:solidFill>
                            <a:latin typeface="Cambria Math" panose="02040503050406030204" pitchFamily="18" charset="0"/>
                            <a:ea typeface="Cambria Math" panose="02040503050406030204" pitchFamily="18" charset="0"/>
                          </a:rPr>
                        </m:ctrlPr>
                      </m:sSupPr>
                      <m:e>
                        <m:r>
                          <m:rPr>
                            <m:sty m:val="p"/>
                          </m:rPr>
                          <a:rPr kumimoji="1" lang="en-US" altLang="zh-CN" sz="2800">
                            <a:solidFill>
                              <a:srgbClr val="0000FF"/>
                            </a:solidFill>
                            <a:latin typeface="Cambria Math" panose="02040503050406030204" pitchFamily="18" charset="0"/>
                            <a:ea typeface="Cambria Math" panose="02040503050406030204" pitchFamily="18" charset="0"/>
                          </a:rPr>
                          <m:t>cm</m:t>
                        </m:r>
                      </m:e>
                      <m:sup>
                        <m:r>
                          <a:rPr kumimoji="1" lang="en-US" altLang="zh-CN" sz="2800" b="0" i="1" smtClean="0">
                            <a:solidFill>
                              <a:srgbClr val="0000FF"/>
                            </a:solidFill>
                            <a:latin typeface="Cambria Math" panose="02040503050406030204" pitchFamily="18" charset="0"/>
                            <a:ea typeface="Cambria Math" panose="02040503050406030204" pitchFamily="18" charset="0"/>
                          </a:rPr>
                          <m:t>3</m:t>
                        </m:r>
                      </m:sup>
                    </m:sSup>
                  </m:oMath>
                </a14:m>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掺杂后 </a:t>
                </a:r>
                <a:r>
                  <a:rPr kumimoji="1" lang="en-US" altLang="zh-CN" sz="2800" dirty="0">
                    <a:solidFill>
                      <a:srgbClr val="002060"/>
                    </a:solidFill>
                    <a:latin typeface="微软雅黑" panose="020B0503020204020204" pitchFamily="34" charset="-122"/>
                    <a:ea typeface="微软雅黑" panose="020B0503020204020204" pitchFamily="34" charset="-122"/>
                  </a:rPr>
                  <a:t>N </a:t>
                </a:r>
                <a:r>
                  <a:rPr kumimoji="1" lang="zh-CN" altLang="en-US" sz="2800" dirty="0">
                    <a:solidFill>
                      <a:srgbClr val="002060"/>
                    </a:solidFill>
                    <a:latin typeface="微软雅黑" panose="020B0503020204020204" pitchFamily="34" charset="-122"/>
                    <a:ea typeface="微软雅黑" panose="020B0503020204020204" pitchFamily="34" charset="-122"/>
                  </a:rPr>
                  <a:t>型半导体中自由电子浓度提高至 </a:t>
                </a:r>
                <a:r>
                  <a:rPr kumimoji="1" lang="en-US" altLang="zh-CN" sz="2800" dirty="0">
                    <a:solidFill>
                      <a:srgbClr val="002060"/>
                    </a:solidFill>
                    <a:latin typeface="微软雅黑" panose="020B0503020204020204" pitchFamily="34" charset="-122"/>
                    <a:ea typeface="微软雅黑" panose="020B0503020204020204" pitchFamily="34" charset="-122"/>
                  </a:rPr>
                  <a:t> </a:t>
                </a:r>
                <a14:m>
                  <m:oMath xmlns:m="http://schemas.openxmlformats.org/officeDocument/2006/math">
                    <m:r>
                      <a:rPr kumimoji="1" lang="en-US" altLang="zh-CN" sz="2800" i="1">
                        <a:solidFill>
                          <a:srgbClr val="0000FF"/>
                        </a:solidFill>
                        <a:latin typeface="Cambria Math" panose="02040503050406030204" pitchFamily="18" charset="0"/>
                        <a:ea typeface="微软雅黑" panose="020B0503020204020204" pitchFamily="34" charset="-122"/>
                      </a:rPr>
                      <m:t>𝑛</m:t>
                    </m:r>
                    <m:r>
                      <a:rPr kumimoji="1" lang="en-US" altLang="zh-CN" sz="2800" i="1">
                        <a:solidFill>
                          <a:srgbClr val="0000FF"/>
                        </a:solidFill>
                        <a:latin typeface="Cambria Math" panose="02040503050406030204" pitchFamily="18" charset="0"/>
                        <a:ea typeface="微软雅黑" panose="020B0503020204020204" pitchFamily="34" charset="-122"/>
                      </a:rPr>
                      <m:t>=5×</m:t>
                    </m:r>
                    <m:sSup>
                      <m:sSupPr>
                        <m:ctrlPr>
                          <a:rPr kumimoji="1" lang="en-US" altLang="zh-CN" sz="2800" i="1">
                            <a:solidFill>
                              <a:srgbClr val="0000FF"/>
                            </a:solidFill>
                            <a:latin typeface="Cambria Math" panose="02040503050406030204" pitchFamily="18" charset="0"/>
                            <a:ea typeface="Cambria Math" panose="02040503050406030204" pitchFamily="18" charset="0"/>
                          </a:rPr>
                        </m:ctrlPr>
                      </m:sSupPr>
                      <m:e>
                        <m:r>
                          <a:rPr kumimoji="1" lang="en-US" altLang="zh-CN" sz="2800" i="1">
                            <a:solidFill>
                              <a:srgbClr val="0000FF"/>
                            </a:solidFill>
                            <a:latin typeface="Cambria Math" panose="02040503050406030204" pitchFamily="18" charset="0"/>
                            <a:ea typeface="Cambria Math" panose="02040503050406030204" pitchFamily="18" charset="0"/>
                          </a:rPr>
                          <m:t>10</m:t>
                        </m:r>
                      </m:e>
                      <m:sup>
                        <m:r>
                          <a:rPr kumimoji="1" lang="en-US" altLang="zh-CN" sz="2800" i="1">
                            <a:solidFill>
                              <a:srgbClr val="0000FF"/>
                            </a:solidFill>
                            <a:latin typeface="Cambria Math" panose="02040503050406030204" pitchFamily="18" charset="0"/>
                            <a:ea typeface="Cambria Math" panose="02040503050406030204" pitchFamily="18" charset="0"/>
                          </a:rPr>
                          <m:t>16</m:t>
                        </m:r>
                      </m:sup>
                    </m:sSup>
                    <m:r>
                      <a:rPr kumimoji="1" lang="en-US" altLang="zh-CN" sz="2800" i="1">
                        <a:solidFill>
                          <a:srgbClr val="0000FF"/>
                        </a:solidFill>
                        <a:latin typeface="Cambria Math" panose="02040503050406030204" pitchFamily="18" charset="0"/>
                        <a:ea typeface="Cambria Math" panose="02040503050406030204" pitchFamily="18" charset="0"/>
                      </a:rPr>
                      <m:t>/</m:t>
                    </m:r>
                    <m:sSup>
                      <m:sSupPr>
                        <m:ctrlPr>
                          <a:rPr kumimoji="1" lang="en-US" altLang="zh-CN" sz="2800" i="1">
                            <a:solidFill>
                              <a:srgbClr val="0000FF"/>
                            </a:solidFill>
                            <a:latin typeface="Cambria Math" panose="02040503050406030204" pitchFamily="18" charset="0"/>
                            <a:ea typeface="Cambria Math" panose="02040503050406030204" pitchFamily="18" charset="0"/>
                          </a:rPr>
                        </m:ctrlPr>
                      </m:sSupPr>
                      <m:e>
                        <m:r>
                          <m:rPr>
                            <m:sty m:val="p"/>
                          </m:rPr>
                          <a:rPr kumimoji="1" lang="en-US" altLang="zh-CN" sz="2800">
                            <a:solidFill>
                              <a:srgbClr val="0000FF"/>
                            </a:solidFill>
                            <a:latin typeface="Cambria Math" panose="02040503050406030204" pitchFamily="18" charset="0"/>
                            <a:ea typeface="Cambria Math" panose="02040503050406030204" pitchFamily="18" charset="0"/>
                          </a:rPr>
                          <m:t>cm</m:t>
                        </m:r>
                      </m:e>
                      <m:sup>
                        <m:r>
                          <a:rPr kumimoji="1" lang="en-US" altLang="zh-CN" sz="2800" i="1">
                            <a:solidFill>
                              <a:srgbClr val="0000FF"/>
                            </a:solidFill>
                            <a:latin typeface="Cambria Math" panose="02040503050406030204" pitchFamily="18" charset="0"/>
                            <a:ea typeface="Cambria Math" panose="02040503050406030204" pitchFamily="18" charset="0"/>
                          </a:rPr>
                          <m:t>3</m:t>
                        </m:r>
                      </m:sup>
                    </m:sSup>
                  </m:oMath>
                </a14:m>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由于热平衡（在一定温度条件下，</a:t>
                </a:r>
                <a14:m>
                  <m:oMath xmlns:m="http://schemas.openxmlformats.org/officeDocument/2006/math">
                    <m:r>
                      <a:rPr kumimoji="1" lang="en-US" altLang="zh-CN" sz="2800" i="1">
                        <a:solidFill>
                          <a:srgbClr val="0000FF"/>
                        </a:solidFill>
                        <a:latin typeface="Cambria Math" panose="02040503050406030204" pitchFamily="18" charset="0"/>
                        <a:ea typeface="微软雅黑" panose="020B0503020204020204" pitchFamily="34" charset="-122"/>
                      </a:rPr>
                      <m:t>𝑝𝑛</m:t>
                    </m:r>
                  </m:oMath>
                </a14:m>
                <a:r>
                  <a:rPr kumimoji="1" lang="zh-CN" altLang="en-US" sz="2800" dirty="0">
                    <a:solidFill>
                      <a:srgbClr val="002060"/>
                    </a:solidFill>
                    <a:latin typeface="微软雅黑" panose="020B0503020204020204" pitchFamily="34" charset="-122"/>
                    <a:ea typeface="微软雅黑" panose="020B0503020204020204" pitchFamily="34" charset="-122"/>
                  </a:rPr>
                  <a:t> 为常数），空穴的浓度会降低至  </a:t>
                </a:r>
                <a14:m>
                  <m:oMath xmlns:m="http://schemas.openxmlformats.org/officeDocument/2006/math">
                    <m:r>
                      <a:rPr kumimoji="1" lang="en-US" altLang="zh-CN" sz="2800" b="0" i="1" smtClean="0">
                        <a:solidFill>
                          <a:srgbClr val="0000FF"/>
                        </a:solidFill>
                        <a:latin typeface="Cambria Math" panose="02040503050406030204" pitchFamily="18" charset="0"/>
                        <a:ea typeface="微软雅黑" panose="020B0503020204020204" pitchFamily="34" charset="-122"/>
                      </a:rPr>
                      <m:t>𝑝</m:t>
                    </m:r>
                    <m:r>
                      <a:rPr kumimoji="1" lang="en-US" altLang="zh-CN" sz="2800" i="1">
                        <a:solidFill>
                          <a:srgbClr val="0000FF"/>
                        </a:solidFill>
                        <a:latin typeface="Cambria Math" panose="02040503050406030204" pitchFamily="18" charset="0"/>
                        <a:ea typeface="微软雅黑" panose="020B0503020204020204" pitchFamily="34" charset="-122"/>
                      </a:rPr>
                      <m:t>=</m:t>
                    </m:r>
                    <m:r>
                      <a:rPr kumimoji="1" lang="en-US" altLang="zh-CN" sz="2800" i="1" smtClean="0">
                        <a:solidFill>
                          <a:srgbClr val="0000FF"/>
                        </a:solidFill>
                        <a:latin typeface="Cambria Math" panose="02040503050406030204" pitchFamily="18" charset="0"/>
                        <a:ea typeface="微软雅黑" panose="020B0503020204020204" pitchFamily="34" charset="-122"/>
                      </a:rPr>
                      <m:t>4</m:t>
                    </m:r>
                    <m:r>
                      <a:rPr kumimoji="1" lang="en-US" altLang="zh-CN" sz="2800" i="1">
                        <a:solidFill>
                          <a:srgbClr val="0000FF"/>
                        </a:solidFill>
                        <a:latin typeface="Cambria Math" panose="02040503050406030204" pitchFamily="18" charset="0"/>
                        <a:ea typeface="微软雅黑" panose="020B0503020204020204" pitchFamily="34" charset="-122"/>
                      </a:rPr>
                      <m:t>.</m:t>
                    </m:r>
                    <m:r>
                      <a:rPr kumimoji="1" lang="en-US" altLang="zh-CN" sz="2800" i="1" smtClean="0">
                        <a:solidFill>
                          <a:srgbClr val="0000FF"/>
                        </a:solidFill>
                        <a:latin typeface="Cambria Math" panose="02040503050406030204" pitchFamily="18" charset="0"/>
                        <a:ea typeface="微软雅黑" panose="020B0503020204020204" pitchFamily="34" charset="-122"/>
                      </a:rPr>
                      <m:t>2</m:t>
                    </m:r>
                    <m:r>
                      <a:rPr kumimoji="1" lang="en-US" altLang="zh-CN" sz="2800" i="1">
                        <a:solidFill>
                          <a:srgbClr val="0000FF"/>
                        </a:solidFill>
                        <a:latin typeface="Cambria Math" panose="02040503050406030204" pitchFamily="18" charset="0"/>
                        <a:ea typeface="微软雅黑" panose="020B0503020204020204" pitchFamily="34" charset="-122"/>
                      </a:rPr>
                      <m:t>×</m:t>
                    </m:r>
                    <m:sSup>
                      <m:sSupPr>
                        <m:ctrlPr>
                          <a:rPr kumimoji="1" lang="en-US" altLang="zh-CN" sz="2800" i="1">
                            <a:solidFill>
                              <a:srgbClr val="0000FF"/>
                            </a:solidFill>
                            <a:latin typeface="Cambria Math" panose="02040503050406030204" pitchFamily="18" charset="0"/>
                            <a:ea typeface="Cambria Math" panose="02040503050406030204" pitchFamily="18" charset="0"/>
                          </a:rPr>
                        </m:ctrlPr>
                      </m:sSupPr>
                      <m:e>
                        <m:r>
                          <a:rPr kumimoji="1" lang="en-US" altLang="zh-CN" sz="2800" i="1">
                            <a:solidFill>
                              <a:srgbClr val="0000FF"/>
                            </a:solidFill>
                            <a:latin typeface="Cambria Math" panose="02040503050406030204" pitchFamily="18" charset="0"/>
                            <a:ea typeface="Cambria Math" panose="02040503050406030204" pitchFamily="18" charset="0"/>
                          </a:rPr>
                          <m:t>10</m:t>
                        </m:r>
                      </m:e>
                      <m:sup>
                        <m:r>
                          <a:rPr kumimoji="1" lang="en-US" altLang="zh-CN" sz="2800" i="1">
                            <a:solidFill>
                              <a:srgbClr val="0000FF"/>
                            </a:solidFill>
                            <a:latin typeface="Cambria Math" panose="02040503050406030204" pitchFamily="18" charset="0"/>
                            <a:ea typeface="Cambria Math" panose="02040503050406030204" pitchFamily="18" charset="0"/>
                          </a:rPr>
                          <m:t>3</m:t>
                        </m:r>
                      </m:sup>
                    </m:sSup>
                    <m:r>
                      <a:rPr kumimoji="1" lang="en-US" altLang="zh-CN" sz="2800" i="1">
                        <a:solidFill>
                          <a:srgbClr val="0000FF"/>
                        </a:solidFill>
                        <a:latin typeface="Cambria Math" panose="02040503050406030204" pitchFamily="18" charset="0"/>
                        <a:ea typeface="Cambria Math" panose="02040503050406030204" pitchFamily="18" charset="0"/>
                      </a:rPr>
                      <m:t>/</m:t>
                    </m:r>
                    <m:sSup>
                      <m:sSupPr>
                        <m:ctrlPr>
                          <a:rPr kumimoji="1" lang="en-US" altLang="zh-CN" sz="2800" i="1">
                            <a:solidFill>
                              <a:srgbClr val="0000FF"/>
                            </a:solidFill>
                            <a:latin typeface="Cambria Math" panose="02040503050406030204" pitchFamily="18" charset="0"/>
                            <a:ea typeface="Cambria Math" panose="02040503050406030204" pitchFamily="18" charset="0"/>
                          </a:rPr>
                        </m:ctrlPr>
                      </m:sSupPr>
                      <m:e>
                        <m:r>
                          <m:rPr>
                            <m:sty m:val="p"/>
                          </m:rPr>
                          <a:rPr kumimoji="1" lang="en-US" altLang="zh-CN" sz="2800">
                            <a:solidFill>
                              <a:srgbClr val="0000FF"/>
                            </a:solidFill>
                            <a:latin typeface="Cambria Math" panose="02040503050406030204" pitchFamily="18" charset="0"/>
                            <a:ea typeface="Cambria Math" panose="02040503050406030204" pitchFamily="18" charset="0"/>
                          </a:rPr>
                          <m:t>cm</m:t>
                        </m:r>
                      </m:e>
                      <m:sup>
                        <m:r>
                          <a:rPr kumimoji="1" lang="en-US" altLang="zh-CN" sz="2800" i="1">
                            <a:solidFill>
                              <a:srgbClr val="0000FF"/>
                            </a:solidFill>
                            <a:latin typeface="Cambria Math" panose="02040503050406030204" pitchFamily="18" charset="0"/>
                            <a:ea typeface="Cambria Math" panose="02040503050406030204" pitchFamily="18" charset="0"/>
                          </a:rPr>
                          <m:t>3</m:t>
                        </m:r>
                      </m:sup>
                    </m:sSup>
                  </m:oMath>
                </a14:m>
                <a:endParaRPr kumimoji="1" lang="en-US" altLang="zh-CN" sz="2800" dirty="0">
                  <a:solidFill>
                    <a:srgbClr val="002060"/>
                  </a:solidFill>
                  <a:latin typeface="微软雅黑" panose="020B0503020204020204" pitchFamily="34" charset="-122"/>
                  <a:ea typeface="微软雅黑" panose="020B0503020204020204" pitchFamily="34" charset="-122"/>
                </a:endParaRPr>
              </a:p>
            </p:txBody>
          </p:sp>
        </mc:Choice>
        <mc:Fallback xmlns="">
          <p:sp>
            <p:nvSpPr>
              <p:cNvPr id="4" name="文本框 3">
                <a:extLst>
                  <a:ext uri="{FF2B5EF4-FFF2-40B4-BE49-F238E27FC236}">
                    <a16:creationId xmlns:a16="http://schemas.microsoft.com/office/drawing/2014/main" id="{594B1FC1-ED61-56B0-D4E9-2439458314CE}"/>
                  </a:ext>
                </a:extLst>
              </p:cNvPr>
              <p:cNvSpPr txBox="1">
                <a:spLocks noRot="1" noChangeAspect="1" noMove="1" noResize="1" noEditPoints="1" noAdjustHandles="1" noChangeArrowheads="1" noChangeShapeType="1" noTextEdit="1"/>
              </p:cNvSpPr>
              <p:nvPr/>
            </p:nvSpPr>
            <p:spPr>
              <a:xfrm>
                <a:off x="360001" y="828000"/>
                <a:ext cx="10663600" cy="4051815"/>
              </a:xfrm>
              <a:prstGeom prst="rect">
                <a:avLst/>
              </a:prstGeom>
              <a:blipFill>
                <a:blip r:embed="rId3"/>
                <a:stretch>
                  <a:fillRect l="-1144" t="-602" b="-3464"/>
                </a:stretch>
              </a:blipFill>
            </p:spPr>
            <p:txBody>
              <a:bodyPr/>
              <a:lstStyle/>
              <a:p>
                <a:r>
                  <a:rPr lang="zh-CN" altLang="en-US">
                    <a:noFill/>
                  </a:rPr>
                  <a:t> </a:t>
                </a:r>
              </a:p>
            </p:txBody>
          </p:sp>
        </mc:Fallback>
      </mc:AlternateContent>
      <p:grpSp>
        <p:nvGrpSpPr>
          <p:cNvPr id="5" name="组合 4">
            <a:extLst>
              <a:ext uri="{FF2B5EF4-FFF2-40B4-BE49-F238E27FC236}">
                <a16:creationId xmlns:a16="http://schemas.microsoft.com/office/drawing/2014/main" id="{24844A70-A801-7C36-48A3-D0952A39C9B3}"/>
              </a:ext>
            </a:extLst>
          </p:cNvPr>
          <p:cNvGrpSpPr/>
          <p:nvPr/>
        </p:nvGrpSpPr>
        <p:grpSpPr>
          <a:xfrm>
            <a:off x="11449269" y="6198682"/>
            <a:ext cx="786273" cy="548639"/>
            <a:chOff x="11454918" y="5839511"/>
            <a:chExt cx="786273" cy="548639"/>
          </a:xfrm>
        </p:grpSpPr>
        <p:grpSp>
          <p:nvGrpSpPr>
            <p:cNvPr id="6" name="组合 5">
              <a:extLst>
                <a:ext uri="{FF2B5EF4-FFF2-40B4-BE49-F238E27FC236}">
                  <a16:creationId xmlns:a16="http://schemas.microsoft.com/office/drawing/2014/main" id="{1B540945-0351-F6B4-7FE1-D804561CB5F1}"/>
                </a:ext>
              </a:extLst>
            </p:cNvPr>
            <p:cNvGrpSpPr/>
            <p:nvPr/>
          </p:nvGrpSpPr>
          <p:grpSpPr>
            <a:xfrm>
              <a:off x="11454918" y="5867450"/>
              <a:ext cx="737081" cy="520700"/>
              <a:chOff x="11454918" y="5867450"/>
              <a:chExt cx="737081" cy="520700"/>
            </a:xfrm>
          </p:grpSpPr>
          <p:sp>
            <p:nvSpPr>
              <p:cNvPr id="8" name="箭头: 五边形 7">
                <a:extLst>
                  <a:ext uri="{FF2B5EF4-FFF2-40B4-BE49-F238E27FC236}">
                    <a16:creationId xmlns:a16="http://schemas.microsoft.com/office/drawing/2014/main" id="{C94A14E9-2A53-E538-FA9B-20F526CC1009}"/>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箭头: V 形 8">
                <a:extLst>
                  <a:ext uri="{FF2B5EF4-FFF2-40B4-BE49-F238E27FC236}">
                    <a16:creationId xmlns:a16="http://schemas.microsoft.com/office/drawing/2014/main" id="{D1BD8447-C9B6-5D83-AA97-6ED53762DB55}"/>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7" name="灯片编号占位符 3">
              <a:extLst>
                <a:ext uri="{FF2B5EF4-FFF2-40B4-BE49-F238E27FC236}">
                  <a16:creationId xmlns:a16="http://schemas.microsoft.com/office/drawing/2014/main" id="{D370B84B-5DF4-E2A5-6A97-95245E887549}"/>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9</a:t>
              </a:fld>
              <a:endParaRPr lang="zh-CN" altLang="en-US" sz="3200" dirty="0">
                <a:solidFill>
                  <a:schemeClr val="bg1"/>
                </a:solidFill>
                <a:latin typeface="Candara"/>
                <a:ea typeface="微软雅黑"/>
              </a:endParaRPr>
            </a:p>
          </p:txBody>
        </p:sp>
      </p:grpSp>
      <p:sp>
        <p:nvSpPr>
          <p:cNvPr id="513" name="文本框 512">
            <a:extLst>
              <a:ext uri="{FF2B5EF4-FFF2-40B4-BE49-F238E27FC236}">
                <a16:creationId xmlns:a16="http://schemas.microsoft.com/office/drawing/2014/main" id="{C0B20411-0E5A-BE13-EEDF-7A29B62E74F8}"/>
              </a:ext>
            </a:extLst>
          </p:cNvPr>
          <p:cNvSpPr txBox="1"/>
          <p:nvPr/>
        </p:nvSpPr>
        <p:spPr>
          <a:xfrm>
            <a:off x="2676000" y="5148000"/>
            <a:ext cx="6840000" cy="1200329"/>
          </a:xfrm>
          <a:prstGeom prst="rect">
            <a:avLst/>
          </a:prstGeom>
          <a:noFill/>
        </p:spPr>
        <p:txBody>
          <a:bodyPr wrap="square">
            <a:spAutoFit/>
          </a:bodyPr>
          <a:lstStyle/>
          <a:p>
            <a:pPr algn="ctr"/>
            <a:r>
              <a:rPr kumimoji="1" lang="zh-CN" altLang="en-US" sz="2400" dirty="0">
                <a:solidFill>
                  <a:srgbClr val="0000FF"/>
                </a:solidFill>
                <a:latin typeface="微软雅黑" panose="020B0503020204020204" pitchFamily="34" charset="-122"/>
                <a:ea typeface="微软雅黑" panose="020B0503020204020204" pitchFamily="34" charset="-122"/>
              </a:rPr>
              <a:t>掺入百万分之一的杂质，导电能力提高百万倍</a:t>
            </a:r>
            <a:endParaRPr kumimoji="1" lang="en-US" altLang="zh-CN" sz="2400" dirty="0">
              <a:solidFill>
                <a:srgbClr val="0000FF"/>
              </a:solidFill>
              <a:latin typeface="微软雅黑" panose="020B0503020204020204" pitchFamily="34" charset="-122"/>
              <a:ea typeface="微软雅黑" panose="020B0503020204020204" pitchFamily="34" charset="-122"/>
            </a:endParaRPr>
          </a:p>
          <a:p>
            <a:pPr algn="ctr"/>
            <a:r>
              <a:rPr kumimoji="1" lang="zh-CN" altLang="en-US" sz="2400" dirty="0">
                <a:solidFill>
                  <a:srgbClr val="0000FF"/>
                </a:solidFill>
                <a:latin typeface="微软雅黑" panose="020B0503020204020204" pitchFamily="34" charset="-122"/>
                <a:ea typeface="微软雅黑" panose="020B0503020204020204" pitchFamily="34" charset="-122"/>
              </a:rPr>
              <a:t>还能导致少子浓度远低于本征激发的浓度</a:t>
            </a:r>
            <a:endParaRPr kumimoji="1" lang="en-US" altLang="zh-CN" sz="2400" dirty="0">
              <a:solidFill>
                <a:srgbClr val="0000FF"/>
              </a:solidFill>
              <a:latin typeface="微软雅黑" panose="020B0503020204020204" pitchFamily="34" charset="-122"/>
              <a:ea typeface="微软雅黑" panose="020B0503020204020204" pitchFamily="34" charset="-122"/>
            </a:endParaRPr>
          </a:p>
          <a:p>
            <a:pPr algn="ctr"/>
            <a:r>
              <a:rPr kumimoji="1" lang="zh-CN" altLang="en-US" sz="2400" dirty="0">
                <a:solidFill>
                  <a:srgbClr val="0000FF"/>
                </a:solidFill>
                <a:latin typeface="微软雅黑" panose="020B0503020204020204" pitchFamily="34" charset="-122"/>
                <a:ea typeface="微软雅黑" panose="020B0503020204020204" pitchFamily="34" charset="-122"/>
              </a:rPr>
              <a:t>杂质半导体的导电性与少子几乎无关</a:t>
            </a:r>
          </a:p>
        </p:txBody>
      </p:sp>
      <p:sp>
        <p:nvSpPr>
          <p:cNvPr id="2" name="标题 1">
            <a:extLst>
              <a:ext uri="{FF2B5EF4-FFF2-40B4-BE49-F238E27FC236}">
                <a16:creationId xmlns:a16="http://schemas.microsoft.com/office/drawing/2014/main" id="{CCFA0DA2-F590-6A75-4D05-DD83D98CE35E}"/>
              </a:ext>
            </a:extLst>
          </p:cNvPr>
          <p:cNvSpPr txBox="1">
            <a:spLocks/>
          </p:cNvSpPr>
          <p:nvPr/>
        </p:nvSpPr>
        <p:spPr>
          <a:xfrm>
            <a:off x="360000" y="0"/>
            <a:ext cx="11826000" cy="548639"/>
          </a:xfrm>
          <a:prstGeom prst="rect">
            <a:avLst/>
          </a:prstGeom>
        </p:spPr>
        <p:txBody>
          <a:bodyPr anchor="b">
            <a:normAutofit/>
          </a:bodyPr>
          <a:lstStyle>
            <a:defPPr>
              <a:defRPr lang="zh-CN"/>
            </a:defPPr>
            <a:lvl1pPr marL="0" algn="l" defTabSz="914400" rtl="0" eaLnBrk="1" latinLnBrk="0" hangingPunct="1">
              <a:lnSpc>
                <a:spcPct val="90000"/>
              </a:lnSpc>
              <a:spcBef>
                <a:spcPct val="0"/>
              </a:spcBef>
              <a:buNone/>
              <a:defRPr sz="3200" b="1" kern="1200">
                <a:solidFill>
                  <a:schemeClr val="bg1"/>
                </a:solidFill>
                <a:latin typeface="微软雅黑" panose="020B0503020204020204" pitchFamily="34" charset="-122"/>
                <a:ea typeface="微软雅黑" panose="020B0503020204020204" pitchFamily="34" charset="-122"/>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000" dirty="0"/>
              <a:t>半导体的基本知识 </a:t>
            </a:r>
            <a:r>
              <a:rPr lang="en-US" altLang="zh-CN" sz="3000" dirty="0"/>
              <a:t>—— </a:t>
            </a:r>
            <a:r>
              <a:rPr lang="zh-CN" altLang="en-US" sz="3000" dirty="0">
                <a:solidFill>
                  <a:srgbClr val="FFFF00"/>
                </a:solidFill>
              </a:rPr>
              <a:t>杂质半导体</a:t>
            </a:r>
            <a:endParaRPr lang="en-US" altLang="zh-CN" sz="3000" dirty="0"/>
          </a:p>
        </p:txBody>
      </p:sp>
    </p:spTree>
    <p:extLst>
      <p:ext uri="{BB962C8B-B14F-4D97-AF65-F5344CB8AC3E}">
        <p14:creationId xmlns:p14="http://schemas.microsoft.com/office/powerpoint/2010/main" val="1729524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F0088-D7FA-A26F-A3B7-09CF099DBE62}"/>
            </a:ext>
          </a:extLst>
        </p:cNvPr>
        <p:cNvGrpSpPr/>
        <p:nvPr/>
      </p:nvGrpSpPr>
      <p:grpSpPr>
        <a:xfrm>
          <a:off x="0" y="0"/>
          <a:ext cx="0" cy="0"/>
          <a:chOff x="0" y="0"/>
          <a:chExt cx="0" cy="0"/>
        </a:xfrm>
      </p:grpSpPr>
      <p:sp>
        <p:nvSpPr>
          <p:cNvPr id="3" name="标题 1">
            <a:extLst>
              <a:ext uri="{FF2B5EF4-FFF2-40B4-BE49-F238E27FC236}">
                <a16:creationId xmlns:a16="http://schemas.microsoft.com/office/drawing/2014/main" id="{6923D753-6282-129A-19DB-2EC025386928}"/>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半导体的基本知识 </a:t>
            </a:r>
            <a:r>
              <a:rPr lang="en-US" altLang="zh-CN" sz="3000" dirty="0"/>
              <a:t>—— </a:t>
            </a:r>
            <a:r>
              <a:rPr lang="en-US" altLang="zh-CN" sz="3000" dirty="0">
                <a:solidFill>
                  <a:srgbClr val="FFFF00"/>
                </a:solidFill>
              </a:rPr>
              <a:t>PN </a:t>
            </a:r>
            <a:r>
              <a:rPr lang="zh-CN" altLang="en-US" sz="3000" dirty="0">
                <a:solidFill>
                  <a:srgbClr val="FFFF00"/>
                </a:solidFill>
              </a:rPr>
              <a:t>结</a:t>
            </a:r>
            <a:endParaRPr lang="en-US" altLang="zh-CN" sz="3000" dirty="0">
              <a:solidFill>
                <a:srgbClr val="FFFF00"/>
              </a:solidFill>
            </a:endParaRPr>
          </a:p>
        </p:txBody>
      </p:sp>
      <p:sp>
        <p:nvSpPr>
          <p:cNvPr id="4" name="文本框 3">
            <a:extLst>
              <a:ext uri="{FF2B5EF4-FFF2-40B4-BE49-F238E27FC236}">
                <a16:creationId xmlns:a16="http://schemas.microsoft.com/office/drawing/2014/main" id="{316C1C43-5A29-A370-E1B6-B97D21D8EE7B}"/>
              </a:ext>
            </a:extLst>
          </p:cNvPr>
          <p:cNvSpPr txBox="1"/>
          <p:nvPr/>
        </p:nvSpPr>
        <p:spPr>
          <a:xfrm>
            <a:off x="360000" y="828000"/>
            <a:ext cx="11365332" cy="2270686"/>
          </a:xfrm>
          <a:prstGeom prst="rect">
            <a:avLst/>
          </a:prstGeom>
          <a:noFill/>
        </p:spPr>
        <p:txBody>
          <a:bodyPr wrap="square">
            <a:spAutoFit/>
          </a:bodyPr>
          <a:lstStyle/>
          <a:p>
            <a:pPr>
              <a:lnSpc>
                <a:spcPct val="120000"/>
              </a:lnSpc>
              <a:spcAft>
                <a:spcPts val="600"/>
              </a:spcAft>
            </a:pPr>
            <a:r>
              <a:rPr kumimoji="1" lang="en-US" altLang="zh-CN" sz="2800" b="1" dirty="0">
                <a:solidFill>
                  <a:srgbClr val="002060"/>
                </a:solidFill>
                <a:latin typeface="微软雅黑" panose="020B0503020204020204" pitchFamily="34" charset="-122"/>
                <a:ea typeface="微软雅黑" panose="020B0503020204020204" pitchFamily="34" charset="-122"/>
              </a:rPr>
              <a:t>PN </a:t>
            </a:r>
            <a:r>
              <a:rPr kumimoji="1" lang="zh-CN" altLang="en-US" sz="2800" b="1" dirty="0">
                <a:solidFill>
                  <a:srgbClr val="002060"/>
                </a:solidFill>
                <a:latin typeface="微软雅黑" panose="020B0503020204020204" pitchFamily="34" charset="-122"/>
                <a:ea typeface="微软雅黑" panose="020B0503020204020204" pitchFamily="34" charset="-122"/>
              </a:rPr>
              <a:t>结</a:t>
            </a:r>
            <a:r>
              <a:rPr kumimoji="1" lang="zh-CN" altLang="en-US" sz="2800" dirty="0">
                <a:solidFill>
                  <a:srgbClr val="002060"/>
                </a:solidFill>
                <a:latin typeface="微软雅黑" panose="020B0503020204020204" pitchFamily="34" charset="-122"/>
                <a:ea typeface="微软雅黑" panose="020B0503020204020204" pitchFamily="34" charset="-122"/>
              </a:rPr>
              <a:t>：在紧邻制作的 </a:t>
            </a:r>
            <a:r>
              <a:rPr kumimoji="1" lang="en-US" altLang="zh-CN" sz="2800" dirty="0">
                <a:solidFill>
                  <a:srgbClr val="002060"/>
                </a:solidFill>
                <a:latin typeface="微软雅黑" panose="020B0503020204020204" pitchFamily="34" charset="-122"/>
                <a:ea typeface="微软雅黑" panose="020B0503020204020204" pitchFamily="34" charset="-122"/>
              </a:rPr>
              <a:t>P </a:t>
            </a:r>
            <a:r>
              <a:rPr kumimoji="1" lang="zh-CN" altLang="en-US" sz="2800" dirty="0">
                <a:solidFill>
                  <a:srgbClr val="002060"/>
                </a:solidFill>
                <a:latin typeface="微软雅黑" panose="020B0503020204020204" pitchFamily="34" charset="-122"/>
                <a:ea typeface="微软雅黑" panose="020B0503020204020204" pitchFamily="34" charset="-122"/>
              </a:rPr>
              <a:t>型半导体和 </a:t>
            </a:r>
            <a:r>
              <a:rPr kumimoji="1" lang="en-US" altLang="zh-CN" sz="2800" dirty="0">
                <a:solidFill>
                  <a:srgbClr val="002060"/>
                </a:solidFill>
                <a:latin typeface="微软雅黑" panose="020B0503020204020204" pitchFamily="34" charset="-122"/>
                <a:ea typeface="微软雅黑" panose="020B0503020204020204" pitchFamily="34" charset="-122"/>
              </a:rPr>
              <a:t>N </a:t>
            </a:r>
            <a:r>
              <a:rPr kumimoji="1" lang="zh-CN" altLang="en-US" sz="2800" dirty="0">
                <a:solidFill>
                  <a:srgbClr val="002060"/>
                </a:solidFill>
                <a:latin typeface="微软雅黑" panose="020B0503020204020204" pitchFamily="34" charset="-122"/>
                <a:ea typeface="微软雅黑" panose="020B0503020204020204" pitchFamily="34" charset="-122"/>
              </a:rPr>
              <a:t>型半导体的交界面，由于载流子的扩散运动和漂移运动所形成的空间电荷区</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扩散运动：</a:t>
            </a:r>
            <a:r>
              <a:rPr kumimoji="1" lang="zh-CN" altLang="en-US" sz="2800" dirty="0">
                <a:solidFill>
                  <a:schemeClr val="accent5">
                    <a:lumMod val="75000"/>
                  </a:schemeClr>
                </a:solidFill>
                <a:latin typeface="微软雅黑" panose="020B0503020204020204" pitchFamily="34" charset="-122"/>
                <a:ea typeface="微软雅黑" panose="020B0503020204020204" pitchFamily="34" charset="-122"/>
              </a:rPr>
              <a:t>因浓度差引起的载流子的运动</a:t>
            </a:r>
            <a:endPar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漂移运动：</a:t>
            </a:r>
            <a:r>
              <a:rPr kumimoji="1" lang="zh-CN" altLang="en-US" sz="2800" dirty="0">
                <a:solidFill>
                  <a:schemeClr val="accent5">
                    <a:lumMod val="75000"/>
                  </a:schemeClr>
                </a:solidFill>
                <a:latin typeface="微软雅黑" panose="020B0503020204020204" pitchFamily="34" charset="-122"/>
                <a:ea typeface="微软雅黑" panose="020B0503020204020204" pitchFamily="34" charset="-122"/>
              </a:rPr>
              <a:t>在电场作用下引起的载流子的运动</a:t>
            </a:r>
            <a:endPar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p:txBody>
      </p:sp>
      <p:grpSp>
        <p:nvGrpSpPr>
          <p:cNvPr id="5" name="组合 4">
            <a:extLst>
              <a:ext uri="{FF2B5EF4-FFF2-40B4-BE49-F238E27FC236}">
                <a16:creationId xmlns:a16="http://schemas.microsoft.com/office/drawing/2014/main" id="{819A83FD-A3F6-9185-BEAE-FACAF6A751F6}"/>
              </a:ext>
            </a:extLst>
          </p:cNvPr>
          <p:cNvGrpSpPr/>
          <p:nvPr/>
        </p:nvGrpSpPr>
        <p:grpSpPr>
          <a:xfrm>
            <a:off x="11449269" y="6198682"/>
            <a:ext cx="786273" cy="548639"/>
            <a:chOff x="11454918" y="5839511"/>
            <a:chExt cx="786273" cy="548639"/>
          </a:xfrm>
        </p:grpSpPr>
        <p:grpSp>
          <p:nvGrpSpPr>
            <p:cNvPr id="6" name="组合 5">
              <a:extLst>
                <a:ext uri="{FF2B5EF4-FFF2-40B4-BE49-F238E27FC236}">
                  <a16:creationId xmlns:a16="http://schemas.microsoft.com/office/drawing/2014/main" id="{42AC26E7-A6EC-8F7D-AA78-A5CB96540CBE}"/>
                </a:ext>
              </a:extLst>
            </p:cNvPr>
            <p:cNvGrpSpPr/>
            <p:nvPr/>
          </p:nvGrpSpPr>
          <p:grpSpPr>
            <a:xfrm>
              <a:off x="11454918" y="5867450"/>
              <a:ext cx="737081" cy="520700"/>
              <a:chOff x="11454918" y="5867450"/>
              <a:chExt cx="737081" cy="520700"/>
            </a:xfrm>
          </p:grpSpPr>
          <p:sp>
            <p:nvSpPr>
              <p:cNvPr id="8" name="箭头: 五边形 7">
                <a:extLst>
                  <a:ext uri="{FF2B5EF4-FFF2-40B4-BE49-F238E27FC236}">
                    <a16:creationId xmlns:a16="http://schemas.microsoft.com/office/drawing/2014/main" id="{0F93DF12-3EB3-2EB2-E798-32C113E8EFB3}"/>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箭头: V 形 8">
                <a:extLst>
                  <a:ext uri="{FF2B5EF4-FFF2-40B4-BE49-F238E27FC236}">
                    <a16:creationId xmlns:a16="http://schemas.microsoft.com/office/drawing/2014/main" id="{C47204B5-4513-BA00-B880-81E057B6677A}"/>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7" name="灯片编号占位符 3">
              <a:extLst>
                <a:ext uri="{FF2B5EF4-FFF2-40B4-BE49-F238E27FC236}">
                  <a16:creationId xmlns:a16="http://schemas.microsoft.com/office/drawing/2014/main" id="{FF9DFF79-8153-A56D-AD72-0ACEF345EAED}"/>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10</a:t>
              </a:fld>
              <a:endParaRPr lang="zh-CN" altLang="en-US" sz="3200" dirty="0">
                <a:solidFill>
                  <a:schemeClr val="bg1"/>
                </a:solidFill>
                <a:latin typeface="Candara"/>
                <a:ea typeface="微软雅黑"/>
              </a:endParaRPr>
            </a:p>
          </p:txBody>
        </p:sp>
      </p:grpSp>
      <p:sp>
        <p:nvSpPr>
          <p:cNvPr id="664" name="文本框 663">
            <a:extLst>
              <a:ext uri="{FF2B5EF4-FFF2-40B4-BE49-F238E27FC236}">
                <a16:creationId xmlns:a16="http://schemas.microsoft.com/office/drawing/2014/main" id="{D08E4D3C-0016-D107-C241-9B5B4D8B4912}"/>
              </a:ext>
            </a:extLst>
          </p:cNvPr>
          <p:cNvSpPr txBox="1"/>
          <p:nvPr/>
        </p:nvSpPr>
        <p:spPr>
          <a:xfrm>
            <a:off x="6480000" y="5472000"/>
            <a:ext cx="4680000" cy="792000"/>
          </a:xfrm>
          <a:prstGeom prst="rect">
            <a:avLst/>
          </a:prstGeom>
          <a:noFill/>
        </p:spPr>
        <p:txBody>
          <a:bodyPr wrap="square">
            <a:spAutoFit/>
          </a:bodyPr>
          <a:lstStyle/>
          <a:p>
            <a:pPr algn="ctr"/>
            <a:r>
              <a:rPr kumimoji="1" lang="en-US" altLang="zh-CN" sz="2400" dirty="0">
                <a:solidFill>
                  <a:srgbClr val="002060"/>
                </a:solidFill>
                <a:latin typeface="微软雅黑" panose="020B0503020204020204" pitchFamily="34" charset="-122"/>
                <a:ea typeface="微软雅黑" panose="020B0503020204020204" pitchFamily="34" charset="-122"/>
              </a:rPr>
              <a:t>PN </a:t>
            </a:r>
            <a:r>
              <a:rPr kumimoji="1" lang="zh-CN" altLang="en-US" sz="2400" dirty="0">
                <a:solidFill>
                  <a:srgbClr val="002060"/>
                </a:solidFill>
                <a:latin typeface="微软雅黑" panose="020B0503020204020204" pitchFamily="34" charset="-122"/>
                <a:ea typeface="微软雅黑" panose="020B0503020204020204" pitchFamily="34" charset="-122"/>
              </a:rPr>
              <a:t>结</a:t>
            </a:r>
            <a:endParaRPr kumimoji="1" lang="en-US" altLang="zh-CN" sz="2400" dirty="0">
              <a:solidFill>
                <a:srgbClr val="002060"/>
              </a:solidFill>
              <a:latin typeface="微软雅黑" panose="020B0503020204020204" pitchFamily="34" charset="-122"/>
              <a:ea typeface="微软雅黑" panose="020B0503020204020204" pitchFamily="34" charset="-122"/>
            </a:endParaRPr>
          </a:p>
          <a:p>
            <a:pPr algn="ctr"/>
            <a:r>
              <a:rPr kumimoji="1" lang="zh-CN" altLang="en-US" sz="2000" dirty="0">
                <a:solidFill>
                  <a:srgbClr val="002060"/>
                </a:solidFill>
                <a:latin typeface="微软雅黑" panose="020B0503020204020204" pitchFamily="34" charset="-122"/>
                <a:ea typeface="微软雅黑" panose="020B0503020204020204" pitchFamily="34" charset="-122"/>
              </a:rPr>
              <a:t>（空间电荷区</a:t>
            </a:r>
            <a:r>
              <a:rPr kumimoji="1" lang="en-US" altLang="zh-CN" sz="2000" dirty="0">
                <a:solidFill>
                  <a:srgbClr val="002060"/>
                </a:solidFill>
                <a:latin typeface="微软雅黑" panose="020B0503020204020204" pitchFamily="34" charset="-122"/>
                <a:ea typeface="微软雅黑" panose="020B0503020204020204" pitchFamily="34" charset="-122"/>
              </a:rPr>
              <a:t>/</a:t>
            </a:r>
            <a:r>
              <a:rPr kumimoji="1" lang="zh-CN" altLang="en-US" sz="2000" dirty="0">
                <a:solidFill>
                  <a:srgbClr val="002060"/>
                </a:solidFill>
                <a:latin typeface="微软雅黑" panose="020B0503020204020204" pitchFamily="34" charset="-122"/>
                <a:ea typeface="微软雅黑" panose="020B0503020204020204" pitchFamily="34" charset="-122"/>
              </a:rPr>
              <a:t>耗尽区</a:t>
            </a:r>
            <a:r>
              <a:rPr kumimoji="1" lang="en-US" altLang="zh-CN" sz="2000" dirty="0">
                <a:solidFill>
                  <a:srgbClr val="002060"/>
                </a:solidFill>
                <a:latin typeface="微软雅黑" panose="020B0503020204020204" pitchFamily="34" charset="-122"/>
                <a:ea typeface="微软雅黑" panose="020B0503020204020204" pitchFamily="34" charset="-122"/>
              </a:rPr>
              <a:t>/</a:t>
            </a:r>
            <a:r>
              <a:rPr kumimoji="1" lang="zh-CN" altLang="en-US" sz="2000" dirty="0">
                <a:solidFill>
                  <a:srgbClr val="002060"/>
                </a:solidFill>
                <a:latin typeface="微软雅黑" panose="020B0503020204020204" pitchFamily="34" charset="-122"/>
                <a:ea typeface="微软雅黑" panose="020B0503020204020204" pitchFamily="34" charset="-122"/>
              </a:rPr>
              <a:t>势垒区）</a:t>
            </a:r>
            <a:endParaRPr lang="zh-CN" altLang="en-US" sz="2000" dirty="0">
              <a:solidFill>
                <a:srgbClr val="002060"/>
              </a:solidFill>
            </a:endParaRPr>
          </a:p>
        </p:txBody>
      </p:sp>
      <p:grpSp>
        <p:nvGrpSpPr>
          <p:cNvPr id="43" name="组合 42">
            <a:extLst>
              <a:ext uri="{FF2B5EF4-FFF2-40B4-BE49-F238E27FC236}">
                <a16:creationId xmlns:a16="http://schemas.microsoft.com/office/drawing/2014/main" id="{1871C2F2-023B-DE29-EF07-22156E482B4B}"/>
              </a:ext>
            </a:extLst>
          </p:cNvPr>
          <p:cNvGrpSpPr/>
          <p:nvPr/>
        </p:nvGrpSpPr>
        <p:grpSpPr>
          <a:xfrm>
            <a:off x="828000" y="3348000"/>
            <a:ext cx="4680000" cy="2088000"/>
            <a:chOff x="828000" y="3348000"/>
            <a:chExt cx="4680000" cy="2088000"/>
          </a:xfrm>
        </p:grpSpPr>
        <p:sp>
          <p:nvSpPr>
            <p:cNvPr id="219" name="文本框 218">
              <a:extLst>
                <a:ext uri="{FF2B5EF4-FFF2-40B4-BE49-F238E27FC236}">
                  <a16:creationId xmlns:a16="http://schemas.microsoft.com/office/drawing/2014/main" id="{006000C8-EEF1-3A69-13D4-ABFA3E1ACE3C}"/>
                </a:ext>
              </a:extLst>
            </p:cNvPr>
            <p:cNvSpPr txBox="1"/>
            <p:nvPr/>
          </p:nvSpPr>
          <p:spPr>
            <a:xfrm>
              <a:off x="828000" y="3348000"/>
              <a:ext cx="2340000" cy="432000"/>
            </a:xfrm>
            <a:prstGeom prst="rect">
              <a:avLst/>
            </a:prstGeom>
            <a:noFill/>
          </p:spPr>
          <p:txBody>
            <a:bodyPr wrap="square">
              <a:spAutoFit/>
            </a:bodyPr>
            <a:lstStyle/>
            <a:p>
              <a:pPr algn="ctr"/>
              <a:r>
                <a:rPr kumimoji="1" lang="en-US" altLang="zh-CN" sz="2400" dirty="0">
                  <a:latin typeface="微软雅黑" panose="020B0503020204020204" pitchFamily="34" charset="-122"/>
                  <a:ea typeface="微软雅黑" panose="020B0503020204020204" pitchFamily="34" charset="-122"/>
                </a:rPr>
                <a:t>P </a:t>
              </a:r>
              <a:r>
                <a:rPr kumimoji="1" lang="zh-CN" altLang="en-US" sz="2400" dirty="0">
                  <a:latin typeface="微软雅黑" panose="020B0503020204020204" pitchFamily="34" charset="-122"/>
                  <a:ea typeface="微软雅黑" panose="020B0503020204020204" pitchFamily="34" charset="-122"/>
                </a:rPr>
                <a:t>型</a:t>
              </a:r>
              <a:endParaRPr lang="zh-CN" altLang="en-US" sz="2400" dirty="0"/>
            </a:p>
          </p:txBody>
        </p:sp>
        <p:sp>
          <p:nvSpPr>
            <p:cNvPr id="220" name="文本框 219">
              <a:extLst>
                <a:ext uri="{FF2B5EF4-FFF2-40B4-BE49-F238E27FC236}">
                  <a16:creationId xmlns:a16="http://schemas.microsoft.com/office/drawing/2014/main" id="{3088B4AC-ACAD-73E0-5A23-13003B5078E8}"/>
                </a:ext>
              </a:extLst>
            </p:cNvPr>
            <p:cNvSpPr txBox="1"/>
            <p:nvPr/>
          </p:nvSpPr>
          <p:spPr>
            <a:xfrm>
              <a:off x="3168000" y="3348000"/>
              <a:ext cx="2340000" cy="432000"/>
            </a:xfrm>
            <a:prstGeom prst="rect">
              <a:avLst/>
            </a:prstGeom>
            <a:noFill/>
          </p:spPr>
          <p:txBody>
            <a:bodyPr wrap="square">
              <a:spAutoFit/>
            </a:bodyPr>
            <a:lstStyle/>
            <a:p>
              <a:pPr algn="ctr"/>
              <a:r>
                <a:rPr kumimoji="1" lang="en-US" altLang="zh-CN" sz="2400" dirty="0">
                  <a:latin typeface="微软雅黑" panose="020B0503020204020204" pitchFamily="34" charset="-122"/>
                  <a:ea typeface="微软雅黑" panose="020B0503020204020204" pitchFamily="34" charset="-122"/>
                </a:rPr>
                <a:t>N </a:t>
              </a:r>
              <a:r>
                <a:rPr kumimoji="1" lang="zh-CN" altLang="en-US" sz="2400" dirty="0">
                  <a:latin typeface="微软雅黑" panose="020B0503020204020204" pitchFamily="34" charset="-122"/>
                  <a:ea typeface="微软雅黑" panose="020B0503020204020204" pitchFamily="34" charset="-122"/>
                </a:rPr>
                <a:t>型</a:t>
              </a:r>
              <a:endParaRPr lang="zh-CN" altLang="en-US" sz="2400" dirty="0"/>
            </a:p>
          </p:txBody>
        </p:sp>
        <mc:AlternateContent xmlns:mc="http://schemas.openxmlformats.org/markup-compatibility/2006" xmlns:a14="http://schemas.microsoft.com/office/drawing/2010/main">
          <mc:Choice Requires="a14">
            <p:sp>
              <p:nvSpPr>
                <p:cNvPr id="520" name="矩形 519">
                  <a:extLst>
                    <a:ext uri="{FF2B5EF4-FFF2-40B4-BE49-F238E27FC236}">
                      <a16:creationId xmlns:a16="http://schemas.microsoft.com/office/drawing/2014/main" id="{C267CD10-E205-F482-5E9C-40C69C2A7F4E}"/>
                    </a:ext>
                  </a:extLst>
                </p:cNvPr>
                <p:cNvSpPr/>
                <p:nvPr/>
              </p:nvSpPr>
              <p:spPr>
                <a:xfrm>
                  <a:off x="828000" y="3780000"/>
                  <a:ext cx="2340000" cy="1656000"/>
                </a:xfrm>
                <a:prstGeom prst="rect">
                  <a:avLst/>
                </a:prstGeom>
                <a:noFill/>
                <a:ln w="25400"/>
              </p:spPr>
              <p:style>
                <a:lnRef idx="2">
                  <a:schemeClr val="dk1"/>
                </a:lnRef>
                <a:fillRef idx="1">
                  <a:schemeClr val="lt1"/>
                </a:fillRef>
                <a:effectRef idx="0">
                  <a:schemeClr val="dk1"/>
                </a:effectRef>
                <a:fontRef idx="minor">
                  <a:schemeClr val="dk1"/>
                </a:fontRef>
              </p:style>
              <p:txBody>
                <a:bodyPr rtlCol="0" anchor="ctr"/>
                <a:lstStyle/>
                <a:p>
                  <a:pPr algn="ctr">
                    <a:spcAft>
                      <a:spcPts val="1200"/>
                    </a:spcAft>
                  </a:pPr>
                  <a14:m>
                    <m:oMath xmlns:m="http://schemas.openxmlformats.org/officeDocument/2006/math">
                      <m:r>
                        <a:rPr kumimoji="1" lang="en-US" altLang="zh-CN" sz="2200" i="1" smtClean="0">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endParaRPr lang="zh-CN" altLang="en-US" sz="2200" dirty="0"/>
                </a:p>
                <a:p>
                  <a:pPr algn="ctr">
                    <a:spcAft>
                      <a:spcPts val="1200"/>
                    </a:spcAft>
                  </a:pP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endParaRPr lang="zh-CN" altLang="en-US" sz="2200" dirty="0"/>
                </a:p>
                <a:p>
                  <a:pPr algn="ctr">
                    <a:spcAft>
                      <a:spcPts val="1200"/>
                    </a:spcAft>
                  </a:pP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p>
              </p:txBody>
            </p:sp>
          </mc:Choice>
          <mc:Fallback xmlns="">
            <p:sp>
              <p:nvSpPr>
                <p:cNvPr id="520" name="矩形 519">
                  <a:extLst>
                    <a:ext uri="{FF2B5EF4-FFF2-40B4-BE49-F238E27FC236}">
                      <a16:creationId xmlns:a16="http://schemas.microsoft.com/office/drawing/2014/main" id="{C267CD10-E205-F482-5E9C-40C69C2A7F4E}"/>
                    </a:ext>
                  </a:extLst>
                </p:cNvPr>
                <p:cNvSpPr>
                  <a:spLocks noRot="1" noChangeAspect="1" noMove="1" noResize="1" noEditPoints="1" noAdjustHandles="1" noChangeArrowheads="1" noChangeShapeType="1" noTextEdit="1"/>
                </p:cNvSpPr>
                <p:nvPr/>
              </p:nvSpPr>
              <p:spPr>
                <a:xfrm>
                  <a:off x="828000" y="3780000"/>
                  <a:ext cx="2340000" cy="1656000"/>
                </a:xfrm>
                <a:prstGeom prst="rect">
                  <a:avLst/>
                </a:prstGeom>
                <a:blipFill>
                  <a:blip r:embed="rId3"/>
                  <a:stretch>
                    <a:fillRect/>
                  </a:stretch>
                </a:blipFill>
                <a:ln w="25400"/>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1" name="矩形 520">
                  <a:extLst>
                    <a:ext uri="{FF2B5EF4-FFF2-40B4-BE49-F238E27FC236}">
                      <a16:creationId xmlns:a16="http://schemas.microsoft.com/office/drawing/2014/main" id="{56A0EBD0-C87A-D9B1-1EBA-F351FAB7A112}"/>
                    </a:ext>
                  </a:extLst>
                </p:cNvPr>
                <p:cNvSpPr/>
                <p:nvPr/>
              </p:nvSpPr>
              <p:spPr>
                <a:xfrm>
                  <a:off x="3168000" y="3780000"/>
                  <a:ext cx="2340000" cy="1656000"/>
                </a:xfrm>
                <a:prstGeom prst="rect">
                  <a:avLst/>
                </a:prstGeom>
                <a:noFill/>
                <a:ln w="25400"/>
              </p:spPr>
              <p:style>
                <a:lnRef idx="2">
                  <a:schemeClr val="dk1"/>
                </a:lnRef>
                <a:fillRef idx="1">
                  <a:schemeClr val="lt1"/>
                </a:fillRef>
                <a:effectRef idx="0">
                  <a:schemeClr val="dk1"/>
                </a:effectRef>
                <a:fontRef idx="minor">
                  <a:schemeClr val="dk1"/>
                </a:fontRef>
              </p:style>
              <p:txBody>
                <a:bodyPr rtlCol="0" anchor="ctr"/>
                <a:lstStyle/>
                <a:p>
                  <a:pPr algn="ctr">
                    <a:spcAft>
                      <a:spcPts val="1200"/>
                    </a:spcAft>
                  </a:pPr>
                  <a14:m>
                    <m:oMath xmlns:m="http://schemas.openxmlformats.org/officeDocument/2006/math">
                      <m:r>
                        <a:rPr kumimoji="1" lang="en-US" altLang="zh-CN" sz="2200" i="1" smtClean="0">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endParaRPr lang="en-US" altLang="zh-CN" sz="2200" dirty="0"/>
                </a:p>
                <a:p>
                  <a:pPr algn="ctr">
                    <a:spcAft>
                      <a:spcPts val="1200"/>
                    </a:spcAft>
                  </a:pPr>
                  <a14:m>
                    <m:oMath xmlns:m="http://schemas.openxmlformats.org/officeDocument/2006/math">
                      <m:r>
                        <a:rPr kumimoji="1" lang="en-US" altLang="zh-CN" sz="2200" i="1" smtClean="0">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endParaRPr lang="en-US" altLang="zh-CN" sz="2200" dirty="0"/>
                </a:p>
                <a:p>
                  <a:pPr algn="ctr">
                    <a:spcAft>
                      <a:spcPts val="1200"/>
                    </a:spcAft>
                  </a:pP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endParaRPr lang="zh-CN" altLang="en-US" sz="2200" dirty="0"/>
                </a:p>
              </p:txBody>
            </p:sp>
          </mc:Choice>
          <mc:Fallback xmlns="">
            <p:sp>
              <p:nvSpPr>
                <p:cNvPr id="521" name="矩形 520">
                  <a:extLst>
                    <a:ext uri="{FF2B5EF4-FFF2-40B4-BE49-F238E27FC236}">
                      <a16:creationId xmlns:a16="http://schemas.microsoft.com/office/drawing/2014/main" id="{56A0EBD0-C87A-D9B1-1EBA-F351FAB7A112}"/>
                    </a:ext>
                  </a:extLst>
                </p:cNvPr>
                <p:cNvSpPr>
                  <a:spLocks noRot="1" noChangeAspect="1" noMove="1" noResize="1" noEditPoints="1" noAdjustHandles="1" noChangeArrowheads="1" noChangeShapeType="1" noTextEdit="1"/>
                </p:cNvSpPr>
                <p:nvPr/>
              </p:nvSpPr>
              <p:spPr>
                <a:xfrm>
                  <a:off x="3168000" y="3780000"/>
                  <a:ext cx="2340000" cy="1656000"/>
                </a:xfrm>
                <a:prstGeom prst="rect">
                  <a:avLst/>
                </a:prstGeom>
                <a:blipFill>
                  <a:blip r:embed="rId4"/>
                  <a:stretch>
                    <a:fillRect/>
                  </a:stretch>
                </a:blipFill>
                <a:ln w="25400"/>
              </p:spPr>
              <p:txBody>
                <a:bodyPr/>
                <a:lstStyle/>
                <a:p>
                  <a:r>
                    <a:rPr lang="zh-CN" altLang="en-US">
                      <a:noFill/>
                    </a:rPr>
                    <a:t> </a:t>
                  </a:r>
                </a:p>
              </p:txBody>
            </p:sp>
          </mc:Fallback>
        </mc:AlternateContent>
        <p:sp>
          <p:nvSpPr>
            <p:cNvPr id="525" name="椭圆 524">
              <a:extLst>
                <a:ext uri="{FF2B5EF4-FFF2-40B4-BE49-F238E27FC236}">
                  <a16:creationId xmlns:a16="http://schemas.microsoft.com/office/drawing/2014/main" id="{1B7D85A3-DF1C-A12D-2F87-D08A920974B7}"/>
                </a:ext>
              </a:extLst>
            </p:cNvPr>
            <p:cNvSpPr/>
            <p:nvPr/>
          </p:nvSpPr>
          <p:spPr>
            <a:xfrm>
              <a:off x="1188000" y="3888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6" name="椭圆 525">
              <a:extLst>
                <a:ext uri="{FF2B5EF4-FFF2-40B4-BE49-F238E27FC236}">
                  <a16:creationId xmlns:a16="http://schemas.microsoft.com/office/drawing/2014/main" id="{6BF6BDDF-1109-674B-098C-50BB3C3B98DF}"/>
                </a:ext>
              </a:extLst>
            </p:cNvPr>
            <p:cNvSpPr/>
            <p:nvPr/>
          </p:nvSpPr>
          <p:spPr>
            <a:xfrm>
              <a:off x="1260000" y="4320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8" name="椭圆 527">
              <a:extLst>
                <a:ext uri="{FF2B5EF4-FFF2-40B4-BE49-F238E27FC236}">
                  <a16:creationId xmlns:a16="http://schemas.microsoft.com/office/drawing/2014/main" id="{B32FCC27-35CC-3D71-7D86-F00828D41037}"/>
                </a:ext>
              </a:extLst>
            </p:cNvPr>
            <p:cNvSpPr/>
            <p:nvPr/>
          </p:nvSpPr>
          <p:spPr>
            <a:xfrm>
              <a:off x="1188000" y="4824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9" name="椭圆 528">
              <a:extLst>
                <a:ext uri="{FF2B5EF4-FFF2-40B4-BE49-F238E27FC236}">
                  <a16:creationId xmlns:a16="http://schemas.microsoft.com/office/drawing/2014/main" id="{BE52359B-98F3-0B66-8E5B-12EDDFAF2236}"/>
                </a:ext>
              </a:extLst>
            </p:cNvPr>
            <p:cNvSpPr/>
            <p:nvPr/>
          </p:nvSpPr>
          <p:spPr>
            <a:xfrm>
              <a:off x="1656000" y="4896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0" name="椭圆 529">
              <a:extLst>
                <a:ext uri="{FF2B5EF4-FFF2-40B4-BE49-F238E27FC236}">
                  <a16:creationId xmlns:a16="http://schemas.microsoft.com/office/drawing/2014/main" id="{CBDCA360-5EFF-0E57-0B6E-DBF52CAC2AA9}"/>
                </a:ext>
              </a:extLst>
            </p:cNvPr>
            <p:cNvSpPr/>
            <p:nvPr/>
          </p:nvSpPr>
          <p:spPr>
            <a:xfrm>
              <a:off x="1800000" y="4284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2" name="椭圆 531">
              <a:extLst>
                <a:ext uri="{FF2B5EF4-FFF2-40B4-BE49-F238E27FC236}">
                  <a16:creationId xmlns:a16="http://schemas.microsoft.com/office/drawing/2014/main" id="{05982BE1-C8F6-846E-3DD9-CE1B308D8747}"/>
                </a:ext>
              </a:extLst>
            </p:cNvPr>
            <p:cNvSpPr/>
            <p:nvPr/>
          </p:nvSpPr>
          <p:spPr>
            <a:xfrm>
              <a:off x="2196000" y="4320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3" name="椭圆 532">
              <a:extLst>
                <a:ext uri="{FF2B5EF4-FFF2-40B4-BE49-F238E27FC236}">
                  <a16:creationId xmlns:a16="http://schemas.microsoft.com/office/drawing/2014/main" id="{1D4A5900-060E-85A2-9C3D-3F973779C739}"/>
                </a:ext>
              </a:extLst>
            </p:cNvPr>
            <p:cNvSpPr/>
            <p:nvPr/>
          </p:nvSpPr>
          <p:spPr>
            <a:xfrm>
              <a:off x="2592000" y="3852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4" name="椭圆 533">
              <a:extLst>
                <a:ext uri="{FF2B5EF4-FFF2-40B4-BE49-F238E27FC236}">
                  <a16:creationId xmlns:a16="http://schemas.microsoft.com/office/drawing/2014/main" id="{B69F89D3-A923-4471-8E54-9037C71DBD0B}"/>
                </a:ext>
              </a:extLst>
            </p:cNvPr>
            <p:cNvSpPr/>
            <p:nvPr/>
          </p:nvSpPr>
          <p:spPr>
            <a:xfrm>
              <a:off x="2592000" y="4392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椭圆 111">
              <a:extLst>
                <a:ext uri="{FF2B5EF4-FFF2-40B4-BE49-F238E27FC236}">
                  <a16:creationId xmlns:a16="http://schemas.microsoft.com/office/drawing/2014/main" id="{CFC65D82-B21D-05E8-7BBA-22FD20BB69D2}"/>
                </a:ext>
              </a:extLst>
            </p:cNvPr>
            <p:cNvSpPr/>
            <p:nvPr/>
          </p:nvSpPr>
          <p:spPr>
            <a:xfrm>
              <a:off x="2700000" y="4860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椭圆 112">
              <a:extLst>
                <a:ext uri="{FF2B5EF4-FFF2-40B4-BE49-F238E27FC236}">
                  <a16:creationId xmlns:a16="http://schemas.microsoft.com/office/drawing/2014/main" id="{9B99AB8F-4E73-1D65-CBE3-DF73D9338DBF}"/>
                </a:ext>
              </a:extLst>
            </p:cNvPr>
            <p:cNvSpPr/>
            <p:nvPr/>
          </p:nvSpPr>
          <p:spPr>
            <a:xfrm>
              <a:off x="2196916" y="4788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椭圆 114">
              <a:extLst>
                <a:ext uri="{FF2B5EF4-FFF2-40B4-BE49-F238E27FC236}">
                  <a16:creationId xmlns:a16="http://schemas.microsoft.com/office/drawing/2014/main" id="{006EFE5D-9F8F-EDCA-BAFC-C583ECB19530}"/>
                </a:ext>
              </a:extLst>
            </p:cNvPr>
            <p:cNvSpPr/>
            <p:nvPr/>
          </p:nvSpPr>
          <p:spPr>
            <a:xfrm>
              <a:off x="864000" y="5220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椭圆 115">
              <a:extLst>
                <a:ext uri="{FF2B5EF4-FFF2-40B4-BE49-F238E27FC236}">
                  <a16:creationId xmlns:a16="http://schemas.microsoft.com/office/drawing/2014/main" id="{2241E33F-088B-2210-4012-702B44028706}"/>
                </a:ext>
              </a:extLst>
            </p:cNvPr>
            <p:cNvSpPr/>
            <p:nvPr/>
          </p:nvSpPr>
          <p:spPr>
            <a:xfrm>
              <a:off x="2592000" y="5256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椭圆 116">
              <a:extLst>
                <a:ext uri="{FF2B5EF4-FFF2-40B4-BE49-F238E27FC236}">
                  <a16:creationId xmlns:a16="http://schemas.microsoft.com/office/drawing/2014/main" id="{B3A3BBCD-D0A0-6A77-07AC-F32D2C3A1E7E}"/>
                </a:ext>
              </a:extLst>
            </p:cNvPr>
            <p:cNvSpPr/>
            <p:nvPr/>
          </p:nvSpPr>
          <p:spPr>
            <a:xfrm>
              <a:off x="3492000" y="4320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椭圆 117">
              <a:extLst>
                <a:ext uri="{FF2B5EF4-FFF2-40B4-BE49-F238E27FC236}">
                  <a16:creationId xmlns:a16="http://schemas.microsoft.com/office/drawing/2014/main" id="{5FDCC3A2-F11D-3901-A77A-B06AB9723141}"/>
                </a:ext>
              </a:extLst>
            </p:cNvPr>
            <p:cNvSpPr/>
            <p:nvPr/>
          </p:nvSpPr>
          <p:spPr>
            <a:xfrm>
              <a:off x="3276000" y="4788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椭圆 118">
              <a:extLst>
                <a:ext uri="{FF2B5EF4-FFF2-40B4-BE49-F238E27FC236}">
                  <a16:creationId xmlns:a16="http://schemas.microsoft.com/office/drawing/2014/main" id="{86C1ACCA-0EF6-D6E0-9902-BF5A613645D1}"/>
                </a:ext>
              </a:extLst>
            </p:cNvPr>
            <p:cNvSpPr/>
            <p:nvPr/>
          </p:nvSpPr>
          <p:spPr>
            <a:xfrm>
              <a:off x="3312000" y="3888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a:extLst>
                <a:ext uri="{FF2B5EF4-FFF2-40B4-BE49-F238E27FC236}">
                  <a16:creationId xmlns:a16="http://schemas.microsoft.com/office/drawing/2014/main" id="{B7566F91-5F39-BFD1-F992-972AC54C241F}"/>
                </a:ext>
              </a:extLst>
            </p:cNvPr>
            <p:cNvSpPr/>
            <p:nvPr/>
          </p:nvSpPr>
          <p:spPr>
            <a:xfrm>
              <a:off x="3348000" y="5292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椭圆 120">
              <a:extLst>
                <a:ext uri="{FF2B5EF4-FFF2-40B4-BE49-F238E27FC236}">
                  <a16:creationId xmlns:a16="http://schemas.microsoft.com/office/drawing/2014/main" id="{4006D9D3-9F19-8C1A-84DB-147E38B9736D}"/>
                </a:ext>
              </a:extLst>
            </p:cNvPr>
            <p:cNvSpPr/>
            <p:nvPr/>
          </p:nvSpPr>
          <p:spPr>
            <a:xfrm>
              <a:off x="3960000" y="4356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椭圆 121">
              <a:extLst>
                <a:ext uri="{FF2B5EF4-FFF2-40B4-BE49-F238E27FC236}">
                  <a16:creationId xmlns:a16="http://schemas.microsoft.com/office/drawing/2014/main" id="{16692AA5-4657-E613-F325-163A0741ABF4}"/>
                </a:ext>
              </a:extLst>
            </p:cNvPr>
            <p:cNvSpPr/>
            <p:nvPr/>
          </p:nvSpPr>
          <p:spPr>
            <a:xfrm>
              <a:off x="3852000" y="4824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椭圆 123">
              <a:extLst>
                <a:ext uri="{FF2B5EF4-FFF2-40B4-BE49-F238E27FC236}">
                  <a16:creationId xmlns:a16="http://schemas.microsoft.com/office/drawing/2014/main" id="{26665F40-AC1B-AA58-531E-FA6B2706BC01}"/>
                </a:ext>
              </a:extLst>
            </p:cNvPr>
            <p:cNvSpPr/>
            <p:nvPr/>
          </p:nvSpPr>
          <p:spPr>
            <a:xfrm>
              <a:off x="4392000" y="3888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椭圆 125">
              <a:extLst>
                <a:ext uri="{FF2B5EF4-FFF2-40B4-BE49-F238E27FC236}">
                  <a16:creationId xmlns:a16="http://schemas.microsoft.com/office/drawing/2014/main" id="{221B2674-E13B-13F0-996A-F6D335E75F0B}"/>
                </a:ext>
              </a:extLst>
            </p:cNvPr>
            <p:cNvSpPr/>
            <p:nvPr/>
          </p:nvSpPr>
          <p:spPr>
            <a:xfrm>
              <a:off x="4500000" y="4788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椭圆 126">
              <a:extLst>
                <a:ext uri="{FF2B5EF4-FFF2-40B4-BE49-F238E27FC236}">
                  <a16:creationId xmlns:a16="http://schemas.microsoft.com/office/drawing/2014/main" id="{39CF8195-8F24-AEB4-85C4-FA83C81C197A}"/>
                </a:ext>
              </a:extLst>
            </p:cNvPr>
            <p:cNvSpPr/>
            <p:nvPr/>
          </p:nvSpPr>
          <p:spPr>
            <a:xfrm>
              <a:off x="4968000" y="5220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9" name="椭圆 638">
              <a:extLst>
                <a:ext uri="{FF2B5EF4-FFF2-40B4-BE49-F238E27FC236}">
                  <a16:creationId xmlns:a16="http://schemas.microsoft.com/office/drawing/2014/main" id="{89D5FF1B-7650-F789-3D3F-283E0AB9D4EB}"/>
                </a:ext>
              </a:extLst>
            </p:cNvPr>
            <p:cNvSpPr/>
            <p:nvPr/>
          </p:nvSpPr>
          <p:spPr>
            <a:xfrm>
              <a:off x="4896000" y="4284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2" name="椭圆 191">
              <a:extLst>
                <a:ext uri="{FF2B5EF4-FFF2-40B4-BE49-F238E27FC236}">
                  <a16:creationId xmlns:a16="http://schemas.microsoft.com/office/drawing/2014/main" id="{274379EC-820A-96CC-D536-FF28C07EF465}"/>
                </a:ext>
              </a:extLst>
            </p:cNvPr>
            <p:cNvSpPr/>
            <p:nvPr/>
          </p:nvSpPr>
          <p:spPr>
            <a:xfrm>
              <a:off x="5364000" y="4824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3" name="椭圆 192">
              <a:extLst>
                <a:ext uri="{FF2B5EF4-FFF2-40B4-BE49-F238E27FC236}">
                  <a16:creationId xmlns:a16="http://schemas.microsoft.com/office/drawing/2014/main" id="{88C6072A-7483-97ED-8E11-7A9DEF3A21F3}"/>
                </a:ext>
              </a:extLst>
            </p:cNvPr>
            <p:cNvSpPr/>
            <p:nvPr/>
          </p:nvSpPr>
          <p:spPr>
            <a:xfrm>
              <a:off x="5040000" y="3852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5" name="直接箭头连接符 194">
              <a:extLst>
                <a:ext uri="{FF2B5EF4-FFF2-40B4-BE49-F238E27FC236}">
                  <a16:creationId xmlns:a16="http://schemas.microsoft.com/office/drawing/2014/main" id="{A556EE37-DF5A-270A-2D11-0A8884099512}"/>
                </a:ext>
              </a:extLst>
            </p:cNvPr>
            <p:cNvCxnSpPr>
              <a:cxnSpLocks/>
              <a:stCxn id="533" idx="6"/>
            </p:cNvCxnSpPr>
            <p:nvPr/>
          </p:nvCxnSpPr>
          <p:spPr>
            <a:xfrm>
              <a:off x="2700000" y="3906000"/>
              <a:ext cx="252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96" name="直接箭头连接符 195">
              <a:extLst>
                <a:ext uri="{FF2B5EF4-FFF2-40B4-BE49-F238E27FC236}">
                  <a16:creationId xmlns:a16="http://schemas.microsoft.com/office/drawing/2014/main" id="{5B617867-EC65-52AF-68F4-1B8562BDFA71}"/>
                </a:ext>
              </a:extLst>
            </p:cNvPr>
            <p:cNvCxnSpPr>
              <a:cxnSpLocks/>
              <a:stCxn id="534" idx="6"/>
            </p:cNvCxnSpPr>
            <p:nvPr/>
          </p:nvCxnSpPr>
          <p:spPr>
            <a:xfrm>
              <a:off x="2700000" y="4446000"/>
              <a:ext cx="252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97" name="直接箭头连接符 196">
              <a:extLst>
                <a:ext uri="{FF2B5EF4-FFF2-40B4-BE49-F238E27FC236}">
                  <a16:creationId xmlns:a16="http://schemas.microsoft.com/office/drawing/2014/main" id="{4FD55054-80BA-B64F-375C-7E245D7B36EE}"/>
                </a:ext>
              </a:extLst>
            </p:cNvPr>
            <p:cNvCxnSpPr>
              <a:cxnSpLocks/>
              <a:stCxn id="112" idx="6"/>
            </p:cNvCxnSpPr>
            <p:nvPr/>
          </p:nvCxnSpPr>
          <p:spPr>
            <a:xfrm>
              <a:off x="2808000" y="4914000"/>
              <a:ext cx="252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98" name="直接箭头连接符 197">
              <a:extLst>
                <a:ext uri="{FF2B5EF4-FFF2-40B4-BE49-F238E27FC236}">
                  <a16:creationId xmlns:a16="http://schemas.microsoft.com/office/drawing/2014/main" id="{A9AF90F2-3F9B-0E21-C051-28A114AAC64B}"/>
                </a:ext>
              </a:extLst>
            </p:cNvPr>
            <p:cNvCxnSpPr>
              <a:cxnSpLocks/>
              <a:stCxn id="113" idx="6"/>
            </p:cNvCxnSpPr>
            <p:nvPr/>
          </p:nvCxnSpPr>
          <p:spPr>
            <a:xfrm>
              <a:off x="2304916" y="4842000"/>
              <a:ext cx="251084"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99" name="直接箭头连接符 198">
              <a:extLst>
                <a:ext uri="{FF2B5EF4-FFF2-40B4-BE49-F238E27FC236}">
                  <a16:creationId xmlns:a16="http://schemas.microsoft.com/office/drawing/2014/main" id="{BDAE5A5B-FFBB-3B6F-8FDE-83641EF4A5B9}"/>
                </a:ext>
              </a:extLst>
            </p:cNvPr>
            <p:cNvCxnSpPr>
              <a:cxnSpLocks/>
              <a:stCxn id="532" idx="6"/>
            </p:cNvCxnSpPr>
            <p:nvPr/>
          </p:nvCxnSpPr>
          <p:spPr>
            <a:xfrm>
              <a:off x="2304000" y="4374000"/>
              <a:ext cx="252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00" name="直接箭头连接符 199">
              <a:extLst>
                <a:ext uri="{FF2B5EF4-FFF2-40B4-BE49-F238E27FC236}">
                  <a16:creationId xmlns:a16="http://schemas.microsoft.com/office/drawing/2014/main" id="{87A737E6-0962-3C76-8776-7981CF9264B4}"/>
                </a:ext>
              </a:extLst>
            </p:cNvPr>
            <p:cNvCxnSpPr>
              <a:cxnSpLocks/>
              <a:stCxn id="116" idx="6"/>
            </p:cNvCxnSpPr>
            <p:nvPr/>
          </p:nvCxnSpPr>
          <p:spPr>
            <a:xfrm>
              <a:off x="2700000" y="5310000"/>
              <a:ext cx="252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01" name="直接箭头连接符 200">
              <a:extLst>
                <a:ext uri="{FF2B5EF4-FFF2-40B4-BE49-F238E27FC236}">
                  <a16:creationId xmlns:a16="http://schemas.microsoft.com/office/drawing/2014/main" id="{BF7ADC42-D727-1C81-5428-699EE254A076}"/>
                </a:ext>
              </a:extLst>
            </p:cNvPr>
            <p:cNvCxnSpPr>
              <a:cxnSpLocks/>
            </p:cNvCxnSpPr>
            <p:nvPr/>
          </p:nvCxnSpPr>
          <p:spPr>
            <a:xfrm flipH="1">
              <a:off x="3096000" y="5346000"/>
              <a:ext cx="288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02" name="直接箭头连接符 201">
              <a:extLst>
                <a:ext uri="{FF2B5EF4-FFF2-40B4-BE49-F238E27FC236}">
                  <a16:creationId xmlns:a16="http://schemas.microsoft.com/office/drawing/2014/main" id="{F40197B1-A207-4434-BFB0-643A934A48C8}"/>
                </a:ext>
              </a:extLst>
            </p:cNvPr>
            <p:cNvCxnSpPr>
              <a:cxnSpLocks/>
            </p:cNvCxnSpPr>
            <p:nvPr/>
          </p:nvCxnSpPr>
          <p:spPr>
            <a:xfrm flipH="1">
              <a:off x="3024000" y="4842000"/>
              <a:ext cx="288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03" name="直接箭头连接符 202">
              <a:extLst>
                <a:ext uri="{FF2B5EF4-FFF2-40B4-BE49-F238E27FC236}">
                  <a16:creationId xmlns:a16="http://schemas.microsoft.com/office/drawing/2014/main" id="{D210BCB0-F843-7D75-E952-0E2C8C410E92}"/>
                </a:ext>
              </a:extLst>
            </p:cNvPr>
            <p:cNvCxnSpPr>
              <a:cxnSpLocks/>
            </p:cNvCxnSpPr>
            <p:nvPr/>
          </p:nvCxnSpPr>
          <p:spPr>
            <a:xfrm flipH="1">
              <a:off x="3708000" y="4410000"/>
              <a:ext cx="288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04" name="直接箭头连接符 203">
              <a:extLst>
                <a:ext uri="{FF2B5EF4-FFF2-40B4-BE49-F238E27FC236}">
                  <a16:creationId xmlns:a16="http://schemas.microsoft.com/office/drawing/2014/main" id="{A421C90F-7A74-2469-4108-C3A1BFFF238E}"/>
                </a:ext>
              </a:extLst>
            </p:cNvPr>
            <p:cNvCxnSpPr>
              <a:cxnSpLocks/>
            </p:cNvCxnSpPr>
            <p:nvPr/>
          </p:nvCxnSpPr>
          <p:spPr>
            <a:xfrm flipH="1" flipV="1">
              <a:off x="3600000" y="4878000"/>
              <a:ext cx="288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05" name="直接箭头连接符 204">
              <a:extLst>
                <a:ext uri="{FF2B5EF4-FFF2-40B4-BE49-F238E27FC236}">
                  <a16:creationId xmlns:a16="http://schemas.microsoft.com/office/drawing/2014/main" id="{F13AF6B7-D359-0814-D103-91279E7F5553}"/>
                </a:ext>
              </a:extLst>
            </p:cNvPr>
            <p:cNvCxnSpPr>
              <a:cxnSpLocks/>
            </p:cNvCxnSpPr>
            <p:nvPr/>
          </p:nvCxnSpPr>
          <p:spPr>
            <a:xfrm flipH="1">
              <a:off x="3240000" y="4374000"/>
              <a:ext cx="288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06" name="直接箭头连接符 205">
              <a:extLst>
                <a:ext uri="{FF2B5EF4-FFF2-40B4-BE49-F238E27FC236}">
                  <a16:creationId xmlns:a16="http://schemas.microsoft.com/office/drawing/2014/main" id="{DA6523A1-6505-87AB-A4F9-8FCAC8C70109}"/>
                </a:ext>
              </a:extLst>
            </p:cNvPr>
            <p:cNvCxnSpPr>
              <a:cxnSpLocks/>
            </p:cNvCxnSpPr>
            <p:nvPr/>
          </p:nvCxnSpPr>
          <p:spPr>
            <a:xfrm flipH="1">
              <a:off x="3060000" y="3942000"/>
              <a:ext cx="288895"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207" name="椭圆 206">
              <a:extLst>
                <a:ext uri="{FF2B5EF4-FFF2-40B4-BE49-F238E27FC236}">
                  <a16:creationId xmlns:a16="http://schemas.microsoft.com/office/drawing/2014/main" id="{4AC4D9F6-B717-E9F8-1959-DF771C83EDE7}"/>
                </a:ext>
              </a:extLst>
            </p:cNvPr>
            <p:cNvSpPr/>
            <p:nvPr/>
          </p:nvSpPr>
          <p:spPr>
            <a:xfrm>
              <a:off x="3816000" y="5256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8" name="直接箭头连接符 207">
              <a:extLst>
                <a:ext uri="{FF2B5EF4-FFF2-40B4-BE49-F238E27FC236}">
                  <a16:creationId xmlns:a16="http://schemas.microsoft.com/office/drawing/2014/main" id="{B8DB6D5B-02D9-B271-D1C2-2747FABA67EF}"/>
                </a:ext>
              </a:extLst>
            </p:cNvPr>
            <p:cNvCxnSpPr>
              <a:cxnSpLocks/>
            </p:cNvCxnSpPr>
            <p:nvPr/>
          </p:nvCxnSpPr>
          <p:spPr>
            <a:xfrm flipH="1">
              <a:off x="3564000" y="5310000"/>
              <a:ext cx="288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209" name="椭圆 208">
              <a:extLst>
                <a:ext uri="{FF2B5EF4-FFF2-40B4-BE49-F238E27FC236}">
                  <a16:creationId xmlns:a16="http://schemas.microsoft.com/office/drawing/2014/main" id="{0FBA15D9-7D16-24F2-2939-241CB7935418}"/>
                </a:ext>
              </a:extLst>
            </p:cNvPr>
            <p:cNvSpPr/>
            <p:nvPr/>
          </p:nvSpPr>
          <p:spPr>
            <a:xfrm>
              <a:off x="3816000" y="3852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0" name="直接箭头连接符 209">
              <a:extLst>
                <a:ext uri="{FF2B5EF4-FFF2-40B4-BE49-F238E27FC236}">
                  <a16:creationId xmlns:a16="http://schemas.microsoft.com/office/drawing/2014/main" id="{BF6ACF69-86DF-DE21-EA88-53877342C554}"/>
                </a:ext>
              </a:extLst>
            </p:cNvPr>
            <p:cNvCxnSpPr>
              <a:cxnSpLocks/>
            </p:cNvCxnSpPr>
            <p:nvPr/>
          </p:nvCxnSpPr>
          <p:spPr>
            <a:xfrm flipH="1">
              <a:off x="3564000" y="3906000"/>
              <a:ext cx="288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211" name="椭圆 210">
              <a:extLst>
                <a:ext uri="{FF2B5EF4-FFF2-40B4-BE49-F238E27FC236}">
                  <a16:creationId xmlns:a16="http://schemas.microsoft.com/office/drawing/2014/main" id="{49A5D899-5A04-5D5B-44E2-325461ACDEA9}"/>
                </a:ext>
              </a:extLst>
            </p:cNvPr>
            <p:cNvSpPr/>
            <p:nvPr/>
          </p:nvSpPr>
          <p:spPr>
            <a:xfrm>
              <a:off x="4428000" y="4320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2" name="椭圆 211">
              <a:extLst>
                <a:ext uri="{FF2B5EF4-FFF2-40B4-BE49-F238E27FC236}">
                  <a16:creationId xmlns:a16="http://schemas.microsoft.com/office/drawing/2014/main" id="{9212ECB1-EC41-1621-D4A5-503DD144AFFE}"/>
                </a:ext>
              </a:extLst>
            </p:cNvPr>
            <p:cNvSpPr/>
            <p:nvPr/>
          </p:nvSpPr>
          <p:spPr>
            <a:xfrm>
              <a:off x="2160000" y="3888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3" name="直接箭头连接符 212">
              <a:extLst>
                <a:ext uri="{FF2B5EF4-FFF2-40B4-BE49-F238E27FC236}">
                  <a16:creationId xmlns:a16="http://schemas.microsoft.com/office/drawing/2014/main" id="{36E14439-25C1-640C-C745-83938EA97311}"/>
                </a:ext>
              </a:extLst>
            </p:cNvPr>
            <p:cNvCxnSpPr>
              <a:cxnSpLocks/>
              <a:stCxn id="212" idx="6"/>
            </p:cNvCxnSpPr>
            <p:nvPr/>
          </p:nvCxnSpPr>
          <p:spPr>
            <a:xfrm>
              <a:off x="2268000" y="3942000"/>
              <a:ext cx="252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214" name="椭圆 213">
              <a:extLst>
                <a:ext uri="{FF2B5EF4-FFF2-40B4-BE49-F238E27FC236}">
                  <a16:creationId xmlns:a16="http://schemas.microsoft.com/office/drawing/2014/main" id="{44DB49EC-03E1-E4BB-F91D-96870377FC2F}"/>
                </a:ext>
              </a:extLst>
            </p:cNvPr>
            <p:cNvSpPr/>
            <p:nvPr/>
          </p:nvSpPr>
          <p:spPr>
            <a:xfrm>
              <a:off x="2160000" y="5256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15" name="直接箭头连接符 214">
              <a:extLst>
                <a:ext uri="{FF2B5EF4-FFF2-40B4-BE49-F238E27FC236}">
                  <a16:creationId xmlns:a16="http://schemas.microsoft.com/office/drawing/2014/main" id="{D927EEB2-2585-99C2-8898-21F17439AC23}"/>
                </a:ext>
              </a:extLst>
            </p:cNvPr>
            <p:cNvCxnSpPr>
              <a:cxnSpLocks/>
              <a:stCxn id="214" idx="6"/>
            </p:cNvCxnSpPr>
            <p:nvPr/>
          </p:nvCxnSpPr>
          <p:spPr>
            <a:xfrm>
              <a:off x="2268000" y="5310000"/>
              <a:ext cx="252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217" name="椭圆 216">
              <a:extLst>
                <a:ext uri="{FF2B5EF4-FFF2-40B4-BE49-F238E27FC236}">
                  <a16:creationId xmlns:a16="http://schemas.microsoft.com/office/drawing/2014/main" id="{173829FE-0B0F-F5CC-24BD-78FC339E8BF3}"/>
                </a:ext>
              </a:extLst>
            </p:cNvPr>
            <p:cNvSpPr/>
            <p:nvPr/>
          </p:nvSpPr>
          <p:spPr>
            <a:xfrm>
              <a:off x="1620000" y="5256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5" name="椭圆 664">
              <a:extLst>
                <a:ext uri="{FF2B5EF4-FFF2-40B4-BE49-F238E27FC236}">
                  <a16:creationId xmlns:a16="http://schemas.microsoft.com/office/drawing/2014/main" id="{72B92B66-51A7-08D8-BBBE-C65C6273F5F7}"/>
                </a:ext>
              </a:extLst>
            </p:cNvPr>
            <p:cNvSpPr/>
            <p:nvPr/>
          </p:nvSpPr>
          <p:spPr>
            <a:xfrm>
              <a:off x="864000" y="4392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6" name="椭圆 665">
              <a:extLst>
                <a:ext uri="{FF2B5EF4-FFF2-40B4-BE49-F238E27FC236}">
                  <a16:creationId xmlns:a16="http://schemas.microsoft.com/office/drawing/2014/main" id="{4CB8006E-2A51-0DAA-7F14-D100E785F1A3}"/>
                </a:ext>
              </a:extLst>
            </p:cNvPr>
            <p:cNvSpPr/>
            <p:nvPr/>
          </p:nvSpPr>
          <p:spPr>
            <a:xfrm>
              <a:off x="1764000" y="4752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7" name="椭圆 676">
              <a:extLst>
                <a:ext uri="{FF2B5EF4-FFF2-40B4-BE49-F238E27FC236}">
                  <a16:creationId xmlns:a16="http://schemas.microsoft.com/office/drawing/2014/main" id="{E998B854-4D8A-F4B6-2A60-CE77BA2A6C61}"/>
                </a:ext>
              </a:extLst>
            </p:cNvPr>
            <p:cNvSpPr/>
            <p:nvPr/>
          </p:nvSpPr>
          <p:spPr>
            <a:xfrm>
              <a:off x="4320000" y="5256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8" name="椭圆 677">
              <a:extLst>
                <a:ext uri="{FF2B5EF4-FFF2-40B4-BE49-F238E27FC236}">
                  <a16:creationId xmlns:a16="http://schemas.microsoft.com/office/drawing/2014/main" id="{EF41FBEF-2CF1-830E-27BB-DA089A6C3BA5}"/>
                </a:ext>
              </a:extLst>
            </p:cNvPr>
            <p:cNvSpPr/>
            <p:nvPr/>
          </p:nvSpPr>
          <p:spPr>
            <a:xfrm>
              <a:off x="4932000" y="4716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58" name="组合 557">
            <a:extLst>
              <a:ext uri="{FF2B5EF4-FFF2-40B4-BE49-F238E27FC236}">
                <a16:creationId xmlns:a16="http://schemas.microsoft.com/office/drawing/2014/main" id="{9E2DD769-960A-1210-4069-77E007F73675}"/>
              </a:ext>
            </a:extLst>
          </p:cNvPr>
          <p:cNvGrpSpPr/>
          <p:nvPr/>
        </p:nvGrpSpPr>
        <p:grpSpPr>
          <a:xfrm>
            <a:off x="6480000" y="3348000"/>
            <a:ext cx="4680000" cy="2088000"/>
            <a:chOff x="6480000" y="3348000"/>
            <a:chExt cx="4680000" cy="2088000"/>
          </a:xfrm>
        </p:grpSpPr>
        <p:sp>
          <p:nvSpPr>
            <p:cNvPr id="663" name="矩形 662">
              <a:extLst>
                <a:ext uri="{FF2B5EF4-FFF2-40B4-BE49-F238E27FC236}">
                  <a16:creationId xmlns:a16="http://schemas.microsoft.com/office/drawing/2014/main" id="{72EB0195-F7E1-3249-4874-3516CF2E6247}"/>
                </a:ext>
              </a:extLst>
            </p:cNvPr>
            <p:cNvSpPr/>
            <p:nvPr/>
          </p:nvSpPr>
          <p:spPr>
            <a:xfrm>
              <a:off x="7830000" y="3780000"/>
              <a:ext cx="1980000" cy="1656000"/>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44">
              <a:extLst>
                <a:ext uri="{FF2B5EF4-FFF2-40B4-BE49-F238E27FC236}">
                  <a16:creationId xmlns:a16="http://schemas.microsoft.com/office/drawing/2014/main" id="{B1D1086D-4A80-5280-D8A5-E739297D52B9}"/>
                </a:ext>
              </a:extLst>
            </p:cNvPr>
            <p:cNvSpPr txBox="1"/>
            <p:nvPr/>
          </p:nvSpPr>
          <p:spPr>
            <a:xfrm>
              <a:off x="6480000" y="3348000"/>
              <a:ext cx="2340000" cy="432000"/>
            </a:xfrm>
            <a:prstGeom prst="rect">
              <a:avLst/>
            </a:prstGeom>
            <a:noFill/>
          </p:spPr>
          <p:txBody>
            <a:bodyPr wrap="square">
              <a:spAutoFit/>
            </a:bodyPr>
            <a:lstStyle/>
            <a:p>
              <a:pPr algn="ctr"/>
              <a:r>
                <a:rPr kumimoji="1" lang="en-US" altLang="zh-CN" sz="2400" dirty="0">
                  <a:latin typeface="微软雅黑" panose="020B0503020204020204" pitchFamily="34" charset="-122"/>
                  <a:ea typeface="微软雅黑" panose="020B0503020204020204" pitchFamily="34" charset="-122"/>
                </a:rPr>
                <a:t>P </a:t>
              </a:r>
              <a:r>
                <a:rPr kumimoji="1" lang="zh-CN" altLang="en-US" sz="2400" dirty="0">
                  <a:latin typeface="微软雅黑" panose="020B0503020204020204" pitchFamily="34" charset="-122"/>
                  <a:ea typeface="微软雅黑" panose="020B0503020204020204" pitchFamily="34" charset="-122"/>
                </a:rPr>
                <a:t>型</a:t>
              </a:r>
              <a:endParaRPr lang="zh-CN" altLang="en-US" sz="2400" dirty="0"/>
            </a:p>
          </p:txBody>
        </p:sp>
        <p:sp>
          <p:nvSpPr>
            <p:cNvPr id="46" name="文本框 45">
              <a:extLst>
                <a:ext uri="{FF2B5EF4-FFF2-40B4-BE49-F238E27FC236}">
                  <a16:creationId xmlns:a16="http://schemas.microsoft.com/office/drawing/2014/main" id="{29752600-1A62-ADAB-BF1F-BBC95E8326B8}"/>
                </a:ext>
              </a:extLst>
            </p:cNvPr>
            <p:cNvSpPr txBox="1"/>
            <p:nvPr/>
          </p:nvSpPr>
          <p:spPr>
            <a:xfrm>
              <a:off x="8820000" y="3348000"/>
              <a:ext cx="2340000" cy="432000"/>
            </a:xfrm>
            <a:prstGeom prst="rect">
              <a:avLst/>
            </a:prstGeom>
            <a:noFill/>
          </p:spPr>
          <p:txBody>
            <a:bodyPr wrap="square">
              <a:spAutoFit/>
            </a:bodyPr>
            <a:lstStyle/>
            <a:p>
              <a:pPr algn="ctr"/>
              <a:r>
                <a:rPr kumimoji="1" lang="en-US" altLang="zh-CN" sz="2400" dirty="0">
                  <a:latin typeface="微软雅黑" panose="020B0503020204020204" pitchFamily="34" charset="-122"/>
                  <a:ea typeface="微软雅黑" panose="020B0503020204020204" pitchFamily="34" charset="-122"/>
                </a:rPr>
                <a:t>N </a:t>
              </a:r>
              <a:r>
                <a:rPr kumimoji="1" lang="zh-CN" altLang="en-US" sz="2400" dirty="0">
                  <a:latin typeface="微软雅黑" panose="020B0503020204020204" pitchFamily="34" charset="-122"/>
                  <a:ea typeface="微软雅黑" panose="020B0503020204020204" pitchFamily="34" charset="-122"/>
                </a:rPr>
                <a:t>型</a:t>
              </a:r>
              <a:endParaRPr lang="zh-CN" altLang="en-US" sz="2400" dirty="0"/>
            </a:p>
          </p:txBody>
        </p:sp>
        <mc:AlternateContent xmlns:mc="http://schemas.openxmlformats.org/markup-compatibility/2006" xmlns:a14="http://schemas.microsoft.com/office/drawing/2010/main">
          <mc:Choice Requires="a14">
            <p:sp>
              <p:nvSpPr>
                <p:cNvPr id="47" name="矩形 46">
                  <a:extLst>
                    <a:ext uri="{FF2B5EF4-FFF2-40B4-BE49-F238E27FC236}">
                      <a16:creationId xmlns:a16="http://schemas.microsoft.com/office/drawing/2014/main" id="{446B99EF-6D78-A002-DFBC-10ABE89C4C8B}"/>
                    </a:ext>
                  </a:extLst>
                </p:cNvPr>
                <p:cNvSpPr/>
                <p:nvPr/>
              </p:nvSpPr>
              <p:spPr>
                <a:xfrm>
                  <a:off x="6480000" y="3780000"/>
                  <a:ext cx="2340000" cy="1656000"/>
                </a:xfrm>
                <a:prstGeom prst="rect">
                  <a:avLst/>
                </a:prstGeom>
                <a:noFill/>
                <a:ln w="25400"/>
              </p:spPr>
              <p:style>
                <a:lnRef idx="2">
                  <a:schemeClr val="dk1"/>
                </a:lnRef>
                <a:fillRef idx="1">
                  <a:schemeClr val="lt1"/>
                </a:fillRef>
                <a:effectRef idx="0">
                  <a:schemeClr val="dk1"/>
                </a:effectRef>
                <a:fontRef idx="minor">
                  <a:schemeClr val="dk1"/>
                </a:fontRef>
              </p:style>
              <p:txBody>
                <a:bodyPr rtlCol="0" anchor="ctr"/>
                <a:lstStyle/>
                <a:p>
                  <a:pPr algn="ctr">
                    <a:spcAft>
                      <a:spcPts val="1200"/>
                    </a:spcAft>
                  </a:pPr>
                  <a14:m>
                    <m:oMath xmlns:m="http://schemas.openxmlformats.org/officeDocument/2006/math">
                      <m:r>
                        <a:rPr kumimoji="1" lang="en-US" altLang="zh-CN" sz="2200" i="1" smtClean="0">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endParaRPr lang="zh-CN" altLang="en-US" sz="2200" dirty="0"/>
                </a:p>
                <a:p>
                  <a:pPr algn="ctr">
                    <a:spcAft>
                      <a:spcPts val="1200"/>
                    </a:spcAft>
                  </a:pP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endParaRPr lang="zh-CN" altLang="en-US" sz="2200" dirty="0"/>
                </a:p>
                <a:p>
                  <a:pPr algn="ctr">
                    <a:spcAft>
                      <a:spcPts val="1200"/>
                    </a:spcAft>
                  </a:pP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p>
              </p:txBody>
            </p:sp>
          </mc:Choice>
          <mc:Fallback xmlns="">
            <p:sp>
              <p:nvSpPr>
                <p:cNvPr id="47" name="矩形 46">
                  <a:extLst>
                    <a:ext uri="{FF2B5EF4-FFF2-40B4-BE49-F238E27FC236}">
                      <a16:creationId xmlns:a16="http://schemas.microsoft.com/office/drawing/2014/main" id="{446B99EF-6D78-A002-DFBC-10ABE89C4C8B}"/>
                    </a:ext>
                  </a:extLst>
                </p:cNvPr>
                <p:cNvSpPr>
                  <a:spLocks noRot="1" noChangeAspect="1" noMove="1" noResize="1" noEditPoints="1" noAdjustHandles="1" noChangeArrowheads="1" noChangeShapeType="1" noTextEdit="1"/>
                </p:cNvSpPr>
                <p:nvPr/>
              </p:nvSpPr>
              <p:spPr>
                <a:xfrm>
                  <a:off x="6480000" y="3780000"/>
                  <a:ext cx="2340000" cy="1656000"/>
                </a:xfrm>
                <a:prstGeom prst="rect">
                  <a:avLst/>
                </a:prstGeom>
                <a:blipFill>
                  <a:blip r:embed="rId5"/>
                  <a:stretch>
                    <a:fillRect/>
                  </a:stretch>
                </a:blipFill>
                <a:ln w="25400"/>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矩形 47">
                  <a:extLst>
                    <a:ext uri="{FF2B5EF4-FFF2-40B4-BE49-F238E27FC236}">
                      <a16:creationId xmlns:a16="http://schemas.microsoft.com/office/drawing/2014/main" id="{70A15BCA-C75C-EE7F-85BA-FD27916E6851}"/>
                    </a:ext>
                  </a:extLst>
                </p:cNvPr>
                <p:cNvSpPr/>
                <p:nvPr/>
              </p:nvSpPr>
              <p:spPr>
                <a:xfrm>
                  <a:off x="8820000" y="3780000"/>
                  <a:ext cx="2340000" cy="1656000"/>
                </a:xfrm>
                <a:prstGeom prst="rect">
                  <a:avLst/>
                </a:prstGeom>
                <a:noFill/>
                <a:ln w="25400"/>
              </p:spPr>
              <p:style>
                <a:lnRef idx="2">
                  <a:schemeClr val="dk1"/>
                </a:lnRef>
                <a:fillRef idx="1">
                  <a:schemeClr val="lt1"/>
                </a:fillRef>
                <a:effectRef idx="0">
                  <a:schemeClr val="dk1"/>
                </a:effectRef>
                <a:fontRef idx="minor">
                  <a:schemeClr val="dk1"/>
                </a:fontRef>
              </p:style>
              <p:txBody>
                <a:bodyPr rtlCol="0" anchor="ctr"/>
                <a:lstStyle/>
                <a:p>
                  <a:pPr algn="ctr">
                    <a:spcAft>
                      <a:spcPts val="1200"/>
                    </a:spcAft>
                  </a:pPr>
                  <a14:m>
                    <m:oMath xmlns:m="http://schemas.openxmlformats.org/officeDocument/2006/math">
                      <m:r>
                        <a:rPr kumimoji="1" lang="en-US" altLang="zh-CN" sz="2200" i="1" smtClean="0">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endParaRPr lang="en-US" altLang="zh-CN" sz="2200" dirty="0"/>
                </a:p>
                <a:p>
                  <a:pPr algn="ctr">
                    <a:spcAft>
                      <a:spcPts val="1200"/>
                    </a:spcAft>
                  </a:pPr>
                  <a14:m>
                    <m:oMath xmlns:m="http://schemas.openxmlformats.org/officeDocument/2006/math">
                      <m:r>
                        <a:rPr kumimoji="1" lang="en-US" altLang="zh-CN" sz="2200" i="1" smtClean="0">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endParaRPr lang="en-US" altLang="zh-CN" sz="2200" dirty="0"/>
                </a:p>
                <a:p>
                  <a:pPr algn="ctr">
                    <a:spcAft>
                      <a:spcPts val="1200"/>
                    </a:spcAft>
                  </a:pP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r>
                    <a:rPr lang="zh-CN" altLang="en-US" sz="2200" dirty="0"/>
                    <a:t>  </a:t>
                  </a:r>
                  <a14:m>
                    <m:oMath xmlns:m="http://schemas.openxmlformats.org/officeDocument/2006/math">
                      <m:r>
                        <a:rPr kumimoji="1" lang="en-US" altLang="zh-CN" sz="2200" i="1">
                          <a:latin typeface="Cambria Math" panose="02040503050406030204" pitchFamily="18" charset="0"/>
                          <a:ea typeface="Cambria Math" panose="02040503050406030204" pitchFamily="18" charset="0"/>
                        </a:rPr>
                        <m:t>⊕</m:t>
                      </m:r>
                    </m:oMath>
                  </a14:m>
                  <a:endParaRPr lang="zh-CN" altLang="en-US" sz="2200" dirty="0"/>
                </a:p>
              </p:txBody>
            </p:sp>
          </mc:Choice>
          <mc:Fallback xmlns="">
            <p:sp>
              <p:nvSpPr>
                <p:cNvPr id="48" name="矩形 47">
                  <a:extLst>
                    <a:ext uri="{FF2B5EF4-FFF2-40B4-BE49-F238E27FC236}">
                      <a16:creationId xmlns:a16="http://schemas.microsoft.com/office/drawing/2014/main" id="{70A15BCA-C75C-EE7F-85BA-FD27916E6851}"/>
                    </a:ext>
                  </a:extLst>
                </p:cNvPr>
                <p:cNvSpPr>
                  <a:spLocks noRot="1" noChangeAspect="1" noMove="1" noResize="1" noEditPoints="1" noAdjustHandles="1" noChangeArrowheads="1" noChangeShapeType="1" noTextEdit="1"/>
                </p:cNvSpPr>
                <p:nvPr/>
              </p:nvSpPr>
              <p:spPr>
                <a:xfrm>
                  <a:off x="8820000" y="3780000"/>
                  <a:ext cx="2340000" cy="1656000"/>
                </a:xfrm>
                <a:prstGeom prst="rect">
                  <a:avLst/>
                </a:prstGeom>
                <a:blipFill>
                  <a:blip r:embed="rId6"/>
                  <a:stretch>
                    <a:fillRect/>
                  </a:stretch>
                </a:blipFill>
                <a:ln w="25400"/>
              </p:spPr>
              <p:txBody>
                <a:bodyPr/>
                <a:lstStyle/>
                <a:p>
                  <a:r>
                    <a:rPr lang="zh-CN" altLang="en-US">
                      <a:noFill/>
                    </a:rPr>
                    <a:t> </a:t>
                  </a:r>
                </a:p>
              </p:txBody>
            </p:sp>
          </mc:Fallback>
        </mc:AlternateContent>
        <p:sp>
          <p:nvSpPr>
            <p:cNvPr id="49" name="椭圆 48">
              <a:extLst>
                <a:ext uri="{FF2B5EF4-FFF2-40B4-BE49-F238E27FC236}">
                  <a16:creationId xmlns:a16="http://schemas.microsoft.com/office/drawing/2014/main" id="{3ACC915D-7E96-9DA6-4196-661F4B1A4660}"/>
                </a:ext>
              </a:extLst>
            </p:cNvPr>
            <p:cNvSpPr/>
            <p:nvPr/>
          </p:nvSpPr>
          <p:spPr>
            <a:xfrm>
              <a:off x="6840000" y="3888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a:extLst>
                <a:ext uri="{FF2B5EF4-FFF2-40B4-BE49-F238E27FC236}">
                  <a16:creationId xmlns:a16="http://schemas.microsoft.com/office/drawing/2014/main" id="{938D5F90-3F38-9C8D-5F19-22C345CD517A}"/>
                </a:ext>
              </a:extLst>
            </p:cNvPr>
            <p:cNvSpPr/>
            <p:nvPr/>
          </p:nvSpPr>
          <p:spPr>
            <a:xfrm>
              <a:off x="6912000" y="4320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a:extLst>
                <a:ext uri="{FF2B5EF4-FFF2-40B4-BE49-F238E27FC236}">
                  <a16:creationId xmlns:a16="http://schemas.microsoft.com/office/drawing/2014/main" id="{6FE0DB83-DF49-A5BA-8F7A-AF765B95DB83}"/>
                </a:ext>
              </a:extLst>
            </p:cNvPr>
            <p:cNvSpPr/>
            <p:nvPr/>
          </p:nvSpPr>
          <p:spPr>
            <a:xfrm>
              <a:off x="6840000" y="4824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a:extLst>
                <a:ext uri="{FF2B5EF4-FFF2-40B4-BE49-F238E27FC236}">
                  <a16:creationId xmlns:a16="http://schemas.microsoft.com/office/drawing/2014/main" id="{5BF6DCD2-7B12-3B1A-AE8D-F272D126E230}"/>
                </a:ext>
              </a:extLst>
            </p:cNvPr>
            <p:cNvSpPr/>
            <p:nvPr/>
          </p:nvSpPr>
          <p:spPr>
            <a:xfrm>
              <a:off x="7308000" y="4896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a:extLst>
                <a:ext uri="{FF2B5EF4-FFF2-40B4-BE49-F238E27FC236}">
                  <a16:creationId xmlns:a16="http://schemas.microsoft.com/office/drawing/2014/main" id="{2F971D5F-61A6-7DB5-B9CF-A06A3393307E}"/>
                </a:ext>
              </a:extLst>
            </p:cNvPr>
            <p:cNvSpPr/>
            <p:nvPr/>
          </p:nvSpPr>
          <p:spPr>
            <a:xfrm>
              <a:off x="7452000" y="4284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a:extLst>
                <a:ext uri="{FF2B5EF4-FFF2-40B4-BE49-F238E27FC236}">
                  <a16:creationId xmlns:a16="http://schemas.microsoft.com/office/drawing/2014/main" id="{4292FA8F-96D5-49EF-1E8B-29BF64DD010E}"/>
                </a:ext>
              </a:extLst>
            </p:cNvPr>
            <p:cNvSpPr/>
            <p:nvPr/>
          </p:nvSpPr>
          <p:spPr>
            <a:xfrm>
              <a:off x="6516000" y="5220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5" name="椭圆 514">
              <a:extLst>
                <a:ext uri="{FF2B5EF4-FFF2-40B4-BE49-F238E27FC236}">
                  <a16:creationId xmlns:a16="http://schemas.microsoft.com/office/drawing/2014/main" id="{C2E5B6D1-4569-F61F-791C-1BBEEA764D93}"/>
                </a:ext>
              </a:extLst>
            </p:cNvPr>
            <p:cNvSpPr/>
            <p:nvPr/>
          </p:nvSpPr>
          <p:spPr>
            <a:xfrm>
              <a:off x="10044000" y="3888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6" name="椭圆 515">
              <a:extLst>
                <a:ext uri="{FF2B5EF4-FFF2-40B4-BE49-F238E27FC236}">
                  <a16:creationId xmlns:a16="http://schemas.microsoft.com/office/drawing/2014/main" id="{1FCC64EE-9535-30B0-0F3A-32FA026C064A}"/>
                </a:ext>
              </a:extLst>
            </p:cNvPr>
            <p:cNvSpPr/>
            <p:nvPr/>
          </p:nvSpPr>
          <p:spPr>
            <a:xfrm>
              <a:off x="10152000" y="4788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7" name="椭圆 516">
              <a:extLst>
                <a:ext uri="{FF2B5EF4-FFF2-40B4-BE49-F238E27FC236}">
                  <a16:creationId xmlns:a16="http://schemas.microsoft.com/office/drawing/2014/main" id="{F32C532C-964B-89FB-448D-3E48FA5A81F3}"/>
                </a:ext>
              </a:extLst>
            </p:cNvPr>
            <p:cNvSpPr/>
            <p:nvPr/>
          </p:nvSpPr>
          <p:spPr>
            <a:xfrm>
              <a:off x="10620000" y="5220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8" name="椭圆 517">
              <a:extLst>
                <a:ext uri="{FF2B5EF4-FFF2-40B4-BE49-F238E27FC236}">
                  <a16:creationId xmlns:a16="http://schemas.microsoft.com/office/drawing/2014/main" id="{C1B8BDE1-4067-2A54-9F30-A16933A014CD}"/>
                </a:ext>
              </a:extLst>
            </p:cNvPr>
            <p:cNvSpPr/>
            <p:nvPr/>
          </p:nvSpPr>
          <p:spPr>
            <a:xfrm>
              <a:off x="10548000" y="4284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9" name="椭圆 518">
              <a:extLst>
                <a:ext uri="{FF2B5EF4-FFF2-40B4-BE49-F238E27FC236}">
                  <a16:creationId xmlns:a16="http://schemas.microsoft.com/office/drawing/2014/main" id="{A14C0B23-C6C0-1B62-821C-E4659BDE4854}"/>
                </a:ext>
              </a:extLst>
            </p:cNvPr>
            <p:cNvSpPr/>
            <p:nvPr/>
          </p:nvSpPr>
          <p:spPr>
            <a:xfrm>
              <a:off x="11016000" y="4824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2" name="椭圆 521">
              <a:extLst>
                <a:ext uri="{FF2B5EF4-FFF2-40B4-BE49-F238E27FC236}">
                  <a16:creationId xmlns:a16="http://schemas.microsoft.com/office/drawing/2014/main" id="{E450863F-D9BF-1228-4E22-EE1946E631E8}"/>
                </a:ext>
              </a:extLst>
            </p:cNvPr>
            <p:cNvSpPr/>
            <p:nvPr/>
          </p:nvSpPr>
          <p:spPr>
            <a:xfrm>
              <a:off x="10692000" y="3852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7" name="椭圆 546">
              <a:extLst>
                <a:ext uri="{FF2B5EF4-FFF2-40B4-BE49-F238E27FC236}">
                  <a16:creationId xmlns:a16="http://schemas.microsoft.com/office/drawing/2014/main" id="{25BEB3F8-F592-7835-F487-936C421873B0}"/>
                </a:ext>
              </a:extLst>
            </p:cNvPr>
            <p:cNvSpPr/>
            <p:nvPr/>
          </p:nvSpPr>
          <p:spPr>
            <a:xfrm>
              <a:off x="10080000" y="4320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2" name="椭圆 551">
              <a:extLst>
                <a:ext uri="{FF2B5EF4-FFF2-40B4-BE49-F238E27FC236}">
                  <a16:creationId xmlns:a16="http://schemas.microsoft.com/office/drawing/2014/main" id="{9791DBAD-63CA-904F-0F15-B81757A5A65A}"/>
                </a:ext>
              </a:extLst>
            </p:cNvPr>
            <p:cNvSpPr/>
            <p:nvPr/>
          </p:nvSpPr>
          <p:spPr>
            <a:xfrm>
              <a:off x="7272000" y="5256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3" name="椭圆 552">
              <a:extLst>
                <a:ext uri="{FF2B5EF4-FFF2-40B4-BE49-F238E27FC236}">
                  <a16:creationId xmlns:a16="http://schemas.microsoft.com/office/drawing/2014/main" id="{CD2704BE-386A-9E71-8688-8750752C67D0}"/>
                </a:ext>
              </a:extLst>
            </p:cNvPr>
            <p:cNvSpPr/>
            <p:nvPr/>
          </p:nvSpPr>
          <p:spPr>
            <a:xfrm>
              <a:off x="6516000" y="4392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4" name="椭圆 553">
              <a:extLst>
                <a:ext uri="{FF2B5EF4-FFF2-40B4-BE49-F238E27FC236}">
                  <a16:creationId xmlns:a16="http://schemas.microsoft.com/office/drawing/2014/main" id="{2B02B97C-7DC5-2857-F231-45D704693895}"/>
                </a:ext>
              </a:extLst>
            </p:cNvPr>
            <p:cNvSpPr/>
            <p:nvPr/>
          </p:nvSpPr>
          <p:spPr>
            <a:xfrm>
              <a:off x="7416000" y="4752000"/>
              <a:ext cx="108000" cy="108000"/>
            </a:xfrm>
            <a:prstGeom prst="ellipse">
              <a:avLst/>
            </a:prstGeom>
            <a:solidFill>
              <a:schemeClr val="dk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5" name="椭圆 554">
              <a:extLst>
                <a:ext uri="{FF2B5EF4-FFF2-40B4-BE49-F238E27FC236}">
                  <a16:creationId xmlns:a16="http://schemas.microsoft.com/office/drawing/2014/main" id="{61259E24-4D6B-7786-8F8D-65524AC2767C}"/>
                </a:ext>
              </a:extLst>
            </p:cNvPr>
            <p:cNvSpPr/>
            <p:nvPr/>
          </p:nvSpPr>
          <p:spPr>
            <a:xfrm>
              <a:off x="9972000" y="5256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6" name="椭圆 555">
              <a:extLst>
                <a:ext uri="{FF2B5EF4-FFF2-40B4-BE49-F238E27FC236}">
                  <a16:creationId xmlns:a16="http://schemas.microsoft.com/office/drawing/2014/main" id="{925CC751-E1D0-B4C5-D374-438CC575E787}"/>
                </a:ext>
              </a:extLst>
            </p:cNvPr>
            <p:cNvSpPr/>
            <p:nvPr/>
          </p:nvSpPr>
          <p:spPr>
            <a:xfrm>
              <a:off x="10584000" y="4716000"/>
              <a:ext cx="108000" cy="108000"/>
            </a:xfrm>
            <a:prstGeom prst="ellipse">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5877589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FFE752EF-6676-FE1F-C6CA-A992F6FAC910}"/>
                  </a:ext>
                </a:extLst>
              </p:cNvPr>
              <p:cNvSpPr txBox="1"/>
              <p:nvPr/>
            </p:nvSpPr>
            <p:spPr>
              <a:xfrm>
                <a:off x="360000" y="828000"/>
                <a:ext cx="4617573" cy="5326971"/>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en-US" altLang="zh-CN" sz="2800" dirty="0">
                    <a:solidFill>
                      <a:srgbClr val="002060"/>
                    </a:solidFill>
                    <a:latin typeface="微软雅黑" panose="020B0503020204020204" pitchFamily="34" charset="-122"/>
                    <a:ea typeface="微软雅黑" panose="020B0503020204020204" pitchFamily="34" charset="-122"/>
                  </a:rPr>
                  <a:t>PN </a:t>
                </a:r>
                <a:r>
                  <a:rPr kumimoji="1" lang="zh-CN" altLang="en-US" sz="2800" dirty="0">
                    <a:solidFill>
                      <a:srgbClr val="002060"/>
                    </a:solidFill>
                    <a:latin typeface="微软雅黑" panose="020B0503020204020204" pitchFamily="34" charset="-122"/>
                    <a:ea typeface="微软雅黑" panose="020B0503020204020204" pitchFamily="34" charset="-122"/>
                  </a:rPr>
                  <a:t>结外加正向电压</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P</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端为 </a:t>
                </a:r>
                <a14:m>
                  <m:oMath xmlns:m="http://schemas.openxmlformats.org/officeDocument/2006/math">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N</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端为 </a:t>
                </a:r>
                <a14:m>
                  <m:oMath xmlns:m="http://schemas.openxmlformats.org/officeDocument/2006/math">
                    <m:r>
                      <a:rPr kumimoji="1" lang="en-US" altLang="zh-CN" sz="2400" b="0" i="1" dirty="0" smtClean="0">
                        <a:solidFill>
                          <a:schemeClr val="accent5">
                            <a:lumMod val="75000"/>
                          </a:schemeClr>
                        </a:solidFill>
                        <a:latin typeface="Cambria Math" panose="02040503050406030204" pitchFamily="18" charset="0"/>
                        <a:ea typeface="微软雅黑" panose="020B0503020204020204" pitchFamily="34" charset="-122"/>
                      </a:rPr>
                      <m:t>−</m:t>
                    </m:r>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PN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结变窄</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形成较大的正向扩散电流</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呈现低电阻，导通</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en-US" altLang="zh-CN" sz="2800" dirty="0">
                    <a:solidFill>
                      <a:srgbClr val="002060"/>
                    </a:solidFill>
                    <a:latin typeface="微软雅黑" panose="020B0503020204020204" pitchFamily="34" charset="-122"/>
                    <a:ea typeface="微软雅黑" panose="020B0503020204020204" pitchFamily="34" charset="-122"/>
                  </a:rPr>
                  <a:t>PN </a:t>
                </a:r>
                <a:r>
                  <a:rPr kumimoji="1" lang="zh-CN" altLang="en-US" sz="2800" dirty="0">
                    <a:solidFill>
                      <a:srgbClr val="002060"/>
                    </a:solidFill>
                    <a:latin typeface="微软雅黑" panose="020B0503020204020204" pitchFamily="34" charset="-122"/>
                    <a:ea typeface="微软雅黑" panose="020B0503020204020204" pitchFamily="34" charset="-122"/>
                  </a:rPr>
                  <a:t>结外加反向电压</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P</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端为 </a:t>
                </a:r>
                <a14:m>
                  <m:oMath xmlns:m="http://schemas.openxmlformats.org/officeDocument/2006/math">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N</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端为 </a:t>
                </a:r>
                <a14:m>
                  <m:oMath xmlns:m="http://schemas.openxmlformats.org/officeDocument/2006/math">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m:t>
                    </m:r>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PN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结变宽</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形成很小的反向漂移电流</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呈现高电阻，截止</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FFE752EF-6676-FE1F-C6CA-A992F6FAC910}"/>
                  </a:ext>
                </a:extLst>
              </p:cNvPr>
              <p:cNvSpPr txBox="1">
                <a:spLocks noRot="1" noChangeAspect="1" noMove="1" noResize="1" noEditPoints="1" noAdjustHandles="1" noChangeArrowheads="1" noChangeShapeType="1" noTextEdit="1"/>
              </p:cNvSpPr>
              <p:nvPr/>
            </p:nvSpPr>
            <p:spPr>
              <a:xfrm>
                <a:off x="360000" y="828000"/>
                <a:ext cx="4617573" cy="5326971"/>
              </a:xfrm>
              <a:prstGeom prst="rect">
                <a:avLst/>
              </a:prstGeom>
              <a:blipFill>
                <a:blip r:embed="rId3"/>
                <a:stretch>
                  <a:fillRect l="-2375" t="-458" b="-1716"/>
                </a:stretch>
              </a:blipFill>
            </p:spPr>
            <p:txBody>
              <a:bodyPr/>
              <a:lstStyle/>
              <a:p>
                <a:r>
                  <a:rPr lang="zh-CN" altLang="en-US">
                    <a:noFill/>
                  </a:rPr>
                  <a:t> </a:t>
                </a:r>
              </a:p>
            </p:txBody>
          </p:sp>
        </mc:Fallback>
      </mc:AlternateContent>
      <p:grpSp>
        <p:nvGrpSpPr>
          <p:cNvPr id="73" name="组合 72">
            <a:extLst>
              <a:ext uri="{FF2B5EF4-FFF2-40B4-BE49-F238E27FC236}">
                <a16:creationId xmlns:a16="http://schemas.microsoft.com/office/drawing/2014/main" id="{699023F9-6D2A-03D5-F638-7B9C88B72D99}"/>
              </a:ext>
            </a:extLst>
          </p:cNvPr>
          <p:cNvGrpSpPr/>
          <p:nvPr/>
        </p:nvGrpSpPr>
        <p:grpSpPr>
          <a:xfrm>
            <a:off x="11449269" y="6198682"/>
            <a:ext cx="786273" cy="548639"/>
            <a:chOff x="11454918" y="5839511"/>
            <a:chExt cx="786273" cy="548639"/>
          </a:xfrm>
        </p:grpSpPr>
        <p:grpSp>
          <p:nvGrpSpPr>
            <p:cNvPr id="74" name="组合 73">
              <a:extLst>
                <a:ext uri="{FF2B5EF4-FFF2-40B4-BE49-F238E27FC236}">
                  <a16:creationId xmlns:a16="http://schemas.microsoft.com/office/drawing/2014/main" id="{2BDAB299-3E8B-6C64-357C-03D965F225E8}"/>
                </a:ext>
              </a:extLst>
            </p:cNvPr>
            <p:cNvGrpSpPr/>
            <p:nvPr/>
          </p:nvGrpSpPr>
          <p:grpSpPr>
            <a:xfrm>
              <a:off x="11454918" y="5867450"/>
              <a:ext cx="737081" cy="520700"/>
              <a:chOff x="11454918" y="5867450"/>
              <a:chExt cx="737081" cy="520700"/>
            </a:xfrm>
          </p:grpSpPr>
          <p:sp>
            <p:nvSpPr>
              <p:cNvPr id="76" name="箭头: 五边形 75">
                <a:extLst>
                  <a:ext uri="{FF2B5EF4-FFF2-40B4-BE49-F238E27FC236}">
                    <a16:creationId xmlns:a16="http://schemas.microsoft.com/office/drawing/2014/main" id="{F11C5BE7-2FE4-18B8-F54D-CBA46F467048}"/>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7" name="箭头: V 形 76">
                <a:extLst>
                  <a:ext uri="{FF2B5EF4-FFF2-40B4-BE49-F238E27FC236}">
                    <a16:creationId xmlns:a16="http://schemas.microsoft.com/office/drawing/2014/main" id="{2744C166-5450-1A22-9C76-FB3E26527915}"/>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75" name="灯片编号占位符 3">
              <a:extLst>
                <a:ext uri="{FF2B5EF4-FFF2-40B4-BE49-F238E27FC236}">
                  <a16:creationId xmlns:a16="http://schemas.microsoft.com/office/drawing/2014/main" id="{FCC8C342-BEC5-332F-DD61-0D46909E9E10}"/>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11</a:t>
              </a:fld>
              <a:endParaRPr lang="zh-CN" altLang="en-US" sz="3200" dirty="0">
                <a:solidFill>
                  <a:schemeClr val="bg1"/>
                </a:solidFill>
                <a:latin typeface="Candara"/>
                <a:ea typeface="微软雅黑"/>
              </a:endParaRPr>
            </a:p>
          </p:txBody>
        </p:sp>
      </p:grpSp>
      <p:sp>
        <p:nvSpPr>
          <p:cNvPr id="102" name="文本框 101">
            <a:extLst>
              <a:ext uri="{FF2B5EF4-FFF2-40B4-BE49-F238E27FC236}">
                <a16:creationId xmlns:a16="http://schemas.microsoft.com/office/drawing/2014/main" id="{0DBD7E2B-2730-E9A3-7D60-CFF309356810}"/>
              </a:ext>
            </a:extLst>
          </p:cNvPr>
          <p:cNvSpPr txBox="1"/>
          <p:nvPr/>
        </p:nvSpPr>
        <p:spPr>
          <a:xfrm>
            <a:off x="6840000" y="3239999"/>
            <a:ext cx="3600000" cy="504000"/>
          </a:xfrm>
          <a:prstGeom prst="rect">
            <a:avLst/>
          </a:prstGeom>
          <a:noFill/>
        </p:spPr>
        <p:txBody>
          <a:bodyPr wrap="square">
            <a:spAutoFit/>
          </a:bodyPr>
          <a:lstStyle/>
          <a:p>
            <a:pPr algn="ctr"/>
            <a:r>
              <a:rPr lang="en-US" altLang="zh-CN" sz="2400" dirty="0">
                <a:solidFill>
                  <a:srgbClr val="3333FF"/>
                </a:solidFill>
                <a:latin typeface="微软雅黑" panose="020B0503020204020204" pitchFamily="34" charset="-122"/>
                <a:ea typeface="微软雅黑" panose="020B0503020204020204" pitchFamily="34" charset="-122"/>
              </a:rPr>
              <a:t>PN </a:t>
            </a:r>
            <a:r>
              <a:rPr lang="zh-CN" altLang="en-US" sz="2400" dirty="0">
                <a:solidFill>
                  <a:srgbClr val="3333FF"/>
                </a:solidFill>
                <a:latin typeface="微软雅黑" panose="020B0503020204020204" pitchFamily="34" charset="-122"/>
                <a:ea typeface="微软雅黑" panose="020B0503020204020204" pitchFamily="34" charset="-122"/>
              </a:rPr>
              <a:t>结具有单向导电性</a:t>
            </a:r>
            <a:endParaRPr lang="zh-CN" altLang="en-US" sz="2400" dirty="0">
              <a:latin typeface="微软雅黑" panose="020B0503020204020204" pitchFamily="34" charset="-122"/>
              <a:ea typeface="微软雅黑" panose="020B0503020204020204" pitchFamily="34" charset="-122"/>
            </a:endParaRPr>
          </a:p>
        </p:txBody>
      </p:sp>
      <p:sp>
        <p:nvSpPr>
          <p:cNvPr id="5" name="标题 1">
            <a:extLst>
              <a:ext uri="{FF2B5EF4-FFF2-40B4-BE49-F238E27FC236}">
                <a16:creationId xmlns:a16="http://schemas.microsoft.com/office/drawing/2014/main" id="{54A918E3-505B-4245-E425-13E0D117E559}"/>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半导体的基本知识 </a:t>
            </a:r>
            <a:r>
              <a:rPr lang="en-US" altLang="zh-CN" sz="3000" dirty="0"/>
              <a:t>—— </a:t>
            </a:r>
            <a:r>
              <a:rPr lang="en-US" altLang="zh-CN" sz="3000" dirty="0">
                <a:solidFill>
                  <a:srgbClr val="FFFF00"/>
                </a:solidFill>
              </a:rPr>
              <a:t>PN </a:t>
            </a:r>
            <a:r>
              <a:rPr lang="zh-CN" altLang="en-US" sz="3000" dirty="0">
                <a:solidFill>
                  <a:srgbClr val="FFFF00"/>
                </a:solidFill>
              </a:rPr>
              <a:t>结</a:t>
            </a:r>
            <a:endParaRPr lang="en-US" altLang="zh-CN" sz="3000" dirty="0">
              <a:solidFill>
                <a:srgbClr val="FFFF00"/>
              </a:solidFill>
            </a:endParaRPr>
          </a:p>
        </p:txBody>
      </p:sp>
      <p:grpSp>
        <p:nvGrpSpPr>
          <p:cNvPr id="17" name="组合 16">
            <a:extLst>
              <a:ext uri="{FF2B5EF4-FFF2-40B4-BE49-F238E27FC236}">
                <a16:creationId xmlns:a16="http://schemas.microsoft.com/office/drawing/2014/main" id="{D92B7F17-1EEE-98DF-C91E-47E8969C5508}"/>
              </a:ext>
            </a:extLst>
          </p:cNvPr>
          <p:cNvGrpSpPr/>
          <p:nvPr/>
        </p:nvGrpSpPr>
        <p:grpSpPr>
          <a:xfrm>
            <a:off x="6840000" y="720000"/>
            <a:ext cx="3600001" cy="2340000"/>
            <a:chOff x="6840000" y="720000"/>
            <a:chExt cx="3600001" cy="2340000"/>
          </a:xfrm>
        </p:grpSpPr>
        <p:sp>
          <p:nvSpPr>
            <p:cNvPr id="51" name="矩形 50">
              <a:extLst>
                <a:ext uri="{FF2B5EF4-FFF2-40B4-BE49-F238E27FC236}">
                  <a16:creationId xmlns:a16="http://schemas.microsoft.com/office/drawing/2014/main" id="{4A7E2BDF-4769-612B-4875-1E93541F66BB}"/>
                </a:ext>
              </a:extLst>
            </p:cNvPr>
            <p:cNvSpPr/>
            <p:nvPr/>
          </p:nvSpPr>
          <p:spPr>
            <a:xfrm>
              <a:off x="8316000" y="720000"/>
              <a:ext cx="648000" cy="1188000"/>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98CE9A81-375F-832C-8DE8-596FDD458B62}"/>
                </a:ext>
              </a:extLst>
            </p:cNvPr>
            <p:cNvSpPr/>
            <p:nvPr/>
          </p:nvSpPr>
          <p:spPr>
            <a:xfrm>
              <a:off x="7272000" y="720000"/>
              <a:ext cx="2736000" cy="1188000"/>
            </a:xfrm>
            <a:prstGeom prst="rect">
              <a:avLst/>
            </a:prstGeom>
            <a:no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6" name="直接连接符 5">
              <a:extLst>
                <a:ext uri="{FF2B5EF4-FFF2-40B4-BE49-F238E27FC236}">
                  <a16:creationId xmlns:a16="http://schemas.microsoft.com/office/drawing/2014/main" id="{7289366A-169E-E9B4-CFEA-40F85049678E}"/>
                </a:ext>
              </a:extLst>
            </p:cNvPr>
            <p:cNvCxnSpPr>
              <a:cxnSpLocks/>
            </p:cNvCxnSpPr>
            <p:nvPr/>
          </p:nvCxnSpPr>
          <p:spPr>
            <a:xfrm>
              <a:off x="6840000" y="1314000"/>
              <a:ext cx="43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C6707A23-5BAB-0B82-1204-4E2DBA2116AE}"/>
                </a:ext>
              </a:extLst>
            </p:cNvPr>
            <p:cNvCxnSpPr>
              <a:cxnSpLocks/>
              <a:stCxn id="4" idx="3"/>
            </p:cNvCxnSpPr>
            <p:nvPr/>
          </p:nvCxnSpPr>
          <p:spPr>
            <a:xfrm>
              <a:off x="10007999" y="1314000"/>
              <a:ext cx="43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D2D465B9-8E9A-04C3-A952-2D8A56F6ED8A}"/>
                </a:ext>
              </a:extLst>
            </p:cNvPr>
            <p:cNvCxnSpPr>
              <a:cxnSpLocks/>
            </p:cNvCxnSpPr>
            <p:nvPr/>
          </p:nvCxnSpPr>
          <p:spPr>
            <a:xfrm flipV="1">
              <a:off x="6840000" y="1314000"/>
              <a:ext cx="1" cy="1044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FE8C418E-67C0-E9F5-BB08-356626CBF935}"/>
                </a:ext>
              </a:extLst>
            </p:cNvPr>
            <p:cNvCxnSpPr>
              <a:cxnSpLocks/>
            </p:cNvCxnSpPr>
            <p:nvPr/>
          </p:nvCxnSpPr>
          <p:spPr>
            <a:xfrm flipV="1">
              <a:off x="10440000" y="1314000"/>
              <a:ext cx="1" cy="1044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8BB86EA0-46FC-A5FB-C5C4-737D6CC0144B}"/>
                </a:ext>
              </a:extLst>
            </p:cNvPr>
            <p:cNvSpPr txBox="1"/>
            <p:nvPr/>
          </p:nvSpPr>
          <p:spPr>
            <a:xfrm>
              <a:off x="7290000" y="1080000"/>
              <a:ext cx="540000" cy="540000"/>
            </a:xfrm>
            <a:prstGeom prst="rect">
              <a:avLst/>
            </a:prstGeom>
            <a:noFill/>
          </p:spPr>
          <p:txBody>
            <a:bodyPr wrap="square">
              <a:spAutoFit/>
            </a:bodyPr>
            <a:lstStyle/>
            <a:p>
              <a:r>
                <a:rPr kumimoji="1" lang="en-US" altLang="zh-CN" sz="2800" dirty="0">
                  <a:solidFill>
                    <a:srgbClr val="002060"/>
                  </a:solidFill>
                  <a:latin typeface="微软雅黑" panose="020B0503020204020204" pitchFamily="34" charset="-122"/>
                  <a:ea typeface="微软雅黑" panose="020B0503020204020204" pitchFamily="34" charset="-122"/>
                </a:rPr>
                <a:t>P</a:t>
              </a:r>
              <a:endParaRPr lang="zh-CN" altLang="en-US" sz="2800" dirty="0"/>
            </a:p>
          </p:txBody>
        </p:sp>
        <p:sp>
          <p:nvSpPr>
            <p:cNvPr id="34" name="文本框 33">
              <a:extLst>
                <a:ext uri="{FF2B5EF4-FFF2-40B4-BE49-F238E27FC236}">
                  <a16:creationId xmlns:a16="http://schemas.microsoft.com/office/drawing/2014/main" id="{B26F28B8-7F39-5896-DC2B-EBA0C545A380}"/>
                </a:ext>
              </a:extLst>
            </p:cNvPr>
            <p:cNvSpPr txBox="1"/>
            <p:nvPr/>
          </p:nvSpPr>
          <p:spPr>
            <a:xfrm>
              <a:off x="9450000" y="1080000"/>
              <a:ext cx="540000" cy="540000"/>
            </a:xfrm>
            <a:prstGeom prst="rect">
              <a:avLst/>
            </a:prstGeom>
            <a:noFill/>
          </p:spPr>
          <p:txBody>
            <a:bodyPr wrap="square">
              <a:spAutoFit/>
            </a:bodyPr>
            <a:lstStyle/>
            <a:p>
              <a:pPr algn="r"/>
              <a:r>
                <a:rPr kumimoji="1" lang="en-US" altLang="zh-CN" sz="2800" dirty="0">
                  <a:solidFill>
                    <a:srgbClr val="002060"/>
                  </a:solidFill>
                  <a:latin typeface="微软雅黑" panose="020B0503020204020204" pitchFamily="34" charset="-122"/>
                  <a:ea typeface="微软雅黑" panose="020B0503020204020204" pitchFamily="34" charset="-122"/>
                </a:rPr>
                <a:t>N</a:t>
              </a:r>
              <a:endParaRPr lang="zh-CN" altLang="en-US" sz="2800" dirty="0"/>
            </a:p>
          </p:txBody>
        </p:sp>
        <p:cxnSp>
          <p:nvCxnSpPr>
            <p:cNvPr id="16" name="直接连接符 15">
              <a:extLst>
                <a:ext uri="{FF2B5EF4-FFF2-40B4-BE49-F238E27FC236}">
                  <a16:creationId xmlns:a16="http://schemas.microsoft.com/office/drawing/2014/main" id="{86B38779-E74C-A6BF-E2E4-87B3948C6ED3}"/>
                </a:ext>
              </a:extLst>
            </p:cNvPr>
            <p:cNvCxnSpPr>
              <a:cxnSpLocks/>
            </p:cNvCxnSpPr>
            <p:nvPr/>
          </p:nvCxnSpPr>
          <p:spPr>
            <a:xfrm>
              <a:off x="6840000" y="2358000"/>
              <a:ext cx="135791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E41AA558-CC2B-A9A4-F4BF-1B5BDB9CA9DF}"/>
                </a:ext>
              </a:extLst>
            </p:cNvPr>
            <p:cNvCxnSpPr>
              <a:cxnSpLocks/>
            </p:cNvCxnSpPr>
            <p:nvPr/>
          </p:nvCxnSpPr>
          <p:spPr>
            <a:xfrm flipV="1">
              <a:off x="8208000" y="2124000"/>
              <a:ext cx="0" cy="46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0A23CC7E-E72E-698C-AD1D-CD9EBFCA017E}"/>
                </a:ext>
              </a:extLst>
            </p:cNvPr>
            <p:cNvCxnSpPr>
              <a:cxnSpLocks/>
            </p:cNvCxnSpPr>
            <p:nvPr/>
          </p:nvCxnSpPr>
          <p:spPr>
            <a:xfrm flipV="1">
              <a:off x="8352000" y="2232000"/>
              <a:ext cx="0" cy="25200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2B5A4F56-C227-371A-12AA-7AB489A34834}"/>
                </a:ext>
              </a:extLst>
            </p:cNvPr>
            <p:cNvCxnSpPr>
              <a:cxnSpLocks/>
            </p:cNvCxnSpPr>
            <p:nvPr/>
          </p:nvCxnSpPr>
          <p:spPr>
            <a:xfrm>
              <a:off x="8352000" y="2358000"/>
              <a:ext cx="208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9" name="矩形 28">
              <a:extLst>
                <a:ext uri="{FF2B5EF4-FFF2-40B4-BE49-F238E27FC236}">
                  <a16:creationId xmlns:a16="http://schemas.microsoft.com/office/drawing/2014/main" id="{04DF73E8-A874-1CF0-3E98-5F34A7ADB378}"/>
                </a:ext>
              </a:extLst>
            </p:cNvPr>
            <p:cNvSpPr/>
            <p:nvPr/>
          </p:nvSpPr>
          <p:spPr>
            <a:xfrm>
              <a:off x="9180000" y="2286000"/>
              <a:ext cx="504000" cy="144000"/>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F8D9BD91-2F7A-FBD9-9183-9FCD19AE62FE}"/>
                    </a:ext>
                  </a:extLst>
                </p:cNvPr>
                <p:cNvSpPr txBox="1"/>
                <p:nvPr/>
              </p:nvSpPr>
              <p:spPr>
                <a:xfrm>
                  <a:off x="7920000" y="2520000"/>
                  <a:ext cx="720000" cy="540000"/>
                </a:xfrm>
                <a:prstGeom prst="rect">
                  <a:avLst/>
                </a:prstGeom>
                <a:noFill/>
              </p:spPr>
              <p:txBody>
                <a:bodyPr wrap="square">
                  <a:spAutoFit/>
                </a:bodyPr>
                <a:lstStyle/>
                <a:p>
                  <a:pPr algn="r"/>
                  <a14:m>
                    <m:oMathPara xmlns:m="http://schemas.openxmlformats.org/officeDocument/2006/math">
                      <m:oMathParaPr>
                        <m:jc m:val="centerGroup"/>
                      </m:oMathParaPr>
                      <m:oMath xmlns:m="http://schemas.openxmlformats.org/officeDocument/2006/math">
                        <m:r>
                          <a:rPr kumimoji="1" lang="en-US" altLang="zh-CN" sz="2800" b="1" i="1" smtClean="0">
                            <a:solidFill>
                              <a:srgbClr val="002060"/>
                            </a:solidFill>
                            <a:latin typeface="Cambria Math" panose="02040503050406030204" pitchFamily="18" charset="0"/>
                            <a:ea typeface="微软雅黑" panose="020B0503020204020204" pitchFamily="34" charset="-122"/>
                          </a:rPr>
                          <m:t>𝑽</m:t>
                        </m:r>
                      </m:oMath>
                    </m:oMathPara>
                  </a14:m>
                  <a:endParaRPr lang="zh-CN" altLang="en-US" sz="2800" b="1" i="1" dirty="0"/>
                </a:p>
              </p:txBody>
            </p:sp>
          </mc:Choice>
          <mc:Fallback xmlns="">
            <p:sp>
              <p:nvSpPr>
                <p:cNvPr id="35" name="文本框 34">
                  <a:extLst>
                    <a:ext uri="{FF2B5EF4-FFF2-40B4-BE49-F238E27FC236}">
                      <a16:creationId xmlns:a16="http://schemas.microsoft.com/office/drawing/2014/main" id="{F8D9BD91-2F7A-FBD9-9183-9FCD19AE62FE}"/>
                    </a:ext>
                  </a:extLst>
                </p:cNvPr>
                <p:cNvSpPr txBox="1">
                  <a:spLocks noRot="1" noChangeAspect="1" noMove="1" noResize="1" noEditPoints="1" noAdjustHandles="1" noChangeArrowheads="1" noChangeShapeType="1" noTextEdit="1"/>
                </p:cNvSpPr>
                <p:nvPr/>
              </p:nvSpPr>
              <p:spPr>
                <a:xfrm>
                  <a:off x="7920000" y="2520000"/>
                  <a:ext cx="720000" cy="540000"/>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45BCF879-8E17-59D9-B67B-A52A2F1DFBAE}"/>
                    </a:ext>
                  </a:extLst>
                </p:cNvPr>
                <p:cNvSpPr txBox="1"/>
                <p:nvPr/>
              </p:nvSpPr>
              <p:spPr>
                <a:xfrm>
                  <a:off x="9072000" y="2520000"/>
                  <a:ext cx="720000" cy="540000"/>
                </a:xfrm>
                <a:prstGeom prst="rect">
                  <a:avLst/>
                </a:prstGeom>
                <a:noFill/>
              </p:spPr>
              <p:txBody>
                <a:bodyPr wrap="square">
                  <a:spAutoFit/>
                </a:bodyPr>
                <a:lstStyle/>
                <a:p>
                  <a:pPr algn="r"/>
                  <a14:m>
                    <m:oMathPara xmlns:m="http://schemas.openxmlformats.org/officeDocument/2006/math">
                      <m:oMathParaPr>
                        <m:jc m:val="centerGroup"/>
                      </m:oMathParaPr>
                      <m:oMath xmlns:m="http://schemas.openxmlformats.org/officeDocument/2006/math">
                        <m:r>
                          <a:rPr kumimoji="1" lang="en-US" altLang="zh-CN" sz="2800" b="1" i="1" smtClean="0">
                            <a:solidFill>
                              <a:srgbClr val="002060"/>
                            </a:solidFill>
                            <a:latin typeface="Cambria Math" panose="02040503050406030204" pitchFamily="18" charset="0"/>
                            <a:ea typeface="微软雅黑" panose="020B0503020204020204" pitchFamily="34" charset="-122"/>
                          </a:rPr>
                          <m:t>𝑹</m:t>
                        </m:r>
                      </m:oMath>
                    </m:oMathPara>
                  </a14:m>
                  <a:endParaRPr lang="zh-CN" altLang="en-US" sz="2800" b="1" i="1" dirty="0"/>
                </a:p>
              </p:txBody>
            </p:sp>
          </mc:Choice>
          <mc:Fallback xmlns="">
            <p:sp>
              <p:nvSpPr>
                <p:cNvPr id="36" name="文本框 35">
                  <a:extLst>
                    <a:ext uri="{FF2B5EF4-FFF2-40B4-BE49-F238E27FC236}">
                      <a16:creationId xmlns:a16="http://schemas.microsoft.com/office/drawing/2014/main" id="{45BCF879-8E17-59D9-B67B-A52A2F1DFBAE}"/>
                    </a:ext>
                  </a:extLst>
                </p:cNvPr>
                <p:cNvSpPr txBox="1">
                  <a:spLocks noRot="1" noChangeAspect="1" noMove="1" noResize="1" noEditPoints="1" noAdjustHandles="1" noChangeArrowheads="1" noChangeShapeType="1" noTextEdit="1"/>
                </p:cNvSpPr>
                <p:nvPr/>
              </p:nvSpPr>
              <p:spPr>
                <a:xfrm>
                  <a:off x="9072000" y="2520000"/>
                  <a:ext cx="720000" cy="540000"/>
                </a:xfrm>
                <a:prstGeom prst="rect">
                  <a:avLst/>
                </a:prstGeom>
                <a:blipFill>
                  <a:blip r:embed="rId5"/>
                  <a:stretch>
                    <a:fillRect/>
                  </a:stretch>
                </a:blipFill>
              </p:spPr>
              <p:txBody>
                <a:bodyPr/>
                <a:lstStyle/>
                <a:p>
                  <a:r>
                    <a:rPr lang="zh-CN" altLang="en-US">
                      <a:noFill/>
                    </a:rPr>
                    <a:t> </a:t>
                  </a:r>
                </a:p>
              </p:txBody>
            </p:sp>
          </mc:Fallback>
        </mc:AlternateContent>
        <p:cxnSp>
          <p:nvCxnSpPr>
            <p:cNvPr id="38" name="直接箭头连接符 37">
              <a:extLst>
                <a:ext uri="{FF2B5EF4-FFF2-40B4-BE49-F238E27FC236}">
                  <a16:creationId xmlns:a16="http://schemas.microsoft.com/office/drawing/2014/main" id="{636F89C5-1D9B-8395-9797-5FD7F19FEF37}"/>
                </a:ext>
              </a:extLst>
            </p:cNvPr>
            <p:cNvCxnSpPr/>
            <p:nvPr/>
          </p:nvCxnSpPr>
          <p:spPr>
            <a:xfrm flipH="1">
              <a:off x="7056000" y="2448000"/>
              <a:ext cx="720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078A6A66-A43A-18A6-2396-83FEEEED40ED}"/>
                    </a:ext>
                  </a:extLst>
                </p:cNvPr>
                <p:cNvSpPr txBox="1"/>
                <p:nvPr/>
              </p:nvSpPr>
              <p:spPr>
                <a:xfrm>
                  <a:off x="7056000" y="2520000"/>
                  <a:ext cx="720000" cy="540000"/>
                </a:xfrm>
                <a:prstGeom prst="rect">
                  <a:avLst/>
                </a:prstGeom>
                <a:noFill/>
              </p:spPr>
              <p:txBody>
                <a:bodyPr wrap="square">
                  <a:spAutoFit/>
                </a:bodyPr>
                <a:lstStyle/>
                <a:p>
                  <a:pPr algn="ctr"/>
                  <a14:m>
                    <m:oMath xmlns:m="http://schemas.openxmlformats.org/officeDocument/2006/math">
                      <m:r>
                        <a:rPr kumimoji="1" lang="en-US" altLang="zh-CN" sz="2800" b="1" i="1" smtClean="0">
                          <a:solidFill>
                            <a:srgbClr val="002060"/>
                          </a:solidFill>
                          <a:latin typeface="Cambria Math" panose="02040503050406030204" pitchFamily="18" charset="0"/>
                          <a:ea typeface="微软雅黑" panose="020B0503020204020204" pitchFamily="34" charset="-122"/>
                        </a:rPr>
                        <m:t>𝑰</m:t>
                      </m:r>
                    </m:oMath>
                  </a14:m>
                  <a:r>
                    <a:rPr lang="zh-CN" altLang="en-US" sz="2800" dirty="0">
                      <a:solidFill>
                        <a:srgbClr val="002060"/>
                      </a:solidFill>
                      <a:latin typeface="微软雅黑" panose="020B0503020204020204" pitchFamily="34" charset="-122"/>
                      <a:ea typeface="微软雅黑" panose="020B0503020204020204" pitchFamily="34" charset="-122"/>
                    </a:rPr>
                    <a:t> </a:t>
                  </a:r>
                  <a14:m>
                    <m:oMath xmlns:m="http://schemas.openxmlformats.org/officeDocument/2006/math">
                      <m:r>
                        <a:rPr lang="zh-CN" altLang="en-US" sz="2800" i="1" dirty="0" smtClean="0">
                          <a:solidFill>
                            <a:srgbClr val="002060"/>
                          </a:solidFill>
                          <a:latin typeface="Cambria Math" panose="02040503050406030204" pitchFamily="18" charset="0"/>
                        </a:rPr>
                        <m:t>↑</m:t>
                      </m:r>
                    </m:oMath>
                  </a14:m>
                  <a:endParaRPr lang="zh-CN" altLang="en-US" sz="2800" b="1" i="1" dirty="0">
                    <a:solidFill>
                      <a:srgbClr val="002060"/>
                    </a:solidFill>
                    <a:latin typeface="微软雅黑" panose="020B0503020204020204" pitchFamily="34" charset="-122"/>
                    <a:ea typeface="微软雅黑" panose="020B0503020204020204" pitchFamily="34" charset="-122"/>
                  </a:endParaRPr>
                </a:p>
              </p:txBody>
            </p:sp>
          </mc:Choice>
          <mc:Fallback xmlns="">
            <p:sp>
              <p:nvSpPr>
                <p:cNvPr id="39" name="文本框 38">
                  <a:extLst>
                    <a:ext uri="{FF2B5EF4-FFF2-40B4-BE49-F238E27FC236}">
                      <a16:creationId xmlns:a16="http://schemas.microsoft.com/office/drawing/2014/main" id="{078A6A66-A43A-18A6-2396-83FEEEED40ED}"/>
                    </a:ext>
                  </a:extLst>
                </p:cNvPr>
                <p:cNvSpPr txBox="1">
                  <a:spLocks noRot="1" noChangeAspect="1" noMove="1" noResize="1" noEditPoints="1" noAdjustHandles="1" noChangeArrowheads="1" noChangeShapeType="1" noTextEdit="1"/>
                </p:cNvSpPr>
                <p:nvPr/>
              </p:nvSpPr>
              <p:spPr>
                <a:xfrm>
                  <a:off x="7056000" y="2520000"/>
                  <a:ext cx="720000" cy="540000"/>
                </a:xfrm>
                <a:prstGeom prst="rect">
                  <a:avLst/>
                </a:prstGeom>
                <a:blipFill>
                  <a:blip r:embed="rId6"/>
                  <a:stretch>
                    <a:fillRect/>
                  </a:stretch>
                </a:blipFill>
              </p:spPr>
              <p:txBody>
                <a:bodyPr/>
                <a:lstStyle/>
                <a:p>
                  <a:r>
                    <a:rPr lang="zh-CN" altLang="en-US">
                      <a:noFill/>
                    </a:rPr>
                    <a:t> </a:t>
                  </a:r>
                </a:p>
              </p:txBody>
            </p:sp>
          </mc:Fallback>
        </mc:AlternateContent>
        <p:cxnSp>
          <p:nvCxnSpPr>
            <p:cNvPr id="42" name="直接连接符 41">
              <a:extLst>
                <a:ext uri="{FF2B5EF4-FFF2-40B4-BE49-F238E27FC236}">
                  <a16:creationId xmlns:a16="http://schemas.microsoft.com/office/drawing/2014/main" id="{A9F6A882-E94E-5DC3-3BFE-0BB2C9A28161}"/>
                </a:ext>
              </a:extLst>
            </p:cNvPr>
            <p:cNvCxnSpPr>
              <a:cxnSpLocks/>
              <a:stCxn id="4" idx="2"/>
              <a:endCxn id="4" idx="0"/>
            </p:cNvCxnSpPr>
            <p:nvPr/>
          </p:nvCxnSpPr>
          <p:spPr>
            <a:xfrm flipV="1">
              <a:off x="8640000" y="720000"/>
              <a:ext cx="0" cy="118800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B1EE1A74-B5D3-3D30-89DA-DE592D10EAC8}"/>
                    </a:ext>
                  </a:extLst>
                </p:cNvPr>
                <p:cNvSpPr txBox="1"/>
                <p:nvPr/>
              </p:nvSpPr>
              <p:spPr>
                <a:xfrm>
                  <a:off x="8316000" y="774000"/>
                  <a:ext cx="360000" cy="1188000"/>
                </a:xfrm>
                <a:prstGeom prst="rect">
                  <a:avLst/>
                </a:prstGeom>
                <a:noFill/>
              </p:spPr>
              <p:txBody>
                <a:bodyPr wrap="square">
                  <a:spAutoFit/>
                </a:bodyPr>
                <a:lstStyle/>
                <a:p>
                  <a:pPr algn="ctr">
                    <a:spcAft>
                      <a:spcPts val="600"/>
                    </a:spcAft>
                  </a:pPr>
                  <a14:m>
                    <m:oMathPara xmlns:m="http://schemas.openxmlformats.org/officeDocument/2006/math">
                      <m:oMathParaPr>
                        <m:jc m:val="centerGroup"/>
                      </m:oMathParaPr>
                      <m:oMath xmlns:m="http://schemas.openxmlformats.org/officeDocument/2006/math">
                        <m:r>
                          <a:rPr kumimoji="1" lang="en-US" altLang="zh-CN" sz="1800" i="1" smtClean="0">
                            <a:latin typeface="Cambria Math" panose="02040503050406030204" pitchFamily="18" charset="0"/>
                            <a:ea typeface="Cambria Math" panose="02040503050406030204" pitchFamily="18" charset="0"/>
                          </a:rPr>
                          <m:t>⊖</m:t>
                        </m:r>
                      </m:oMath>
                    </m:oMathPara>
                  </a14:m>
                  <a:endParaRPr lang="en-US" altLang="zh-CN" dirty="0"/>
                </a:p>
                <a:p>
                  <a:pPr algn="ctr">
                    <a:spcAft>
                      <a:spcPts val="600"/>
                    </a:spcAft>
                  </a:pPr>
                  <a14:m>
                    <m:oMathPara xmlns:m="http://schemas.openxmlformats.org/officeDocument/2006/math">
                      <m:oMathParaPr>
                        <m:jc m:val="centerGroup"/>
                      </m:oMathParaPr>
                      <m:oMath xmlns:m="http://schemas.openxmlformats.org/officeDocument/2006/math">
                        <m:r>
                          <a:rPr kumimoji="1" lang="en-US" altLang="zh-CN" i="1">
                            <a:latin typeface="Cambria Math" panose="02040503050406030204" pitchFamily="18" charset="0"/>
                            <a:ea typeface="Cambria Math" panose="02040503050406030204" pitchFamily="18" charset="0"/>
                          </a:rPr>
                          <m:t>⊖</m:t>
                        </m:r>
                      </m:oMath>
                    </m:oMathPara>
                  </a14:m>
                  <a:endParaRPr kumimoji="1" lang="en-US" altLang="zh-CN" dirty="0">
                    <a:ea typeface="Cambria Math" panose="02040503050406030204" pitchFamily="18" charset="0"/>
                  </a:endParaRPr>
                </a:p>
                <a:p>
                  <a:pPr algn="ctr">
                    <a:spcAft>
                      <a:spcPts val="600"/>
                    </a:spcAft>
                  </a:pPr>
                  <a14:m>
                    <m:oMathPara xmlns:m="http://schemas.openxmlformats.org/officeDocument/2006/math">
                      <m:oMathParaPr>
                        <m:jc m:val="centerGroup"/>
                      </m:oMathParaPr>
                      <m:oMath xmlns:m="http://schemas.openxmlformats.org/officeDocument/2006/math">
                        <m:r>
                          <a:rPr kumimoji="1" lang="en-US" altLang="zh-CN" i="1">
                            <a:latin typeface="Cambria Math" panose="02040503050406030204" pitchFamily="18" charset="0"/>
                            <a:ea typeface="Cambria Math" panose="02040503050406030204" pitchFamily="18" charset="0"/>
                          </a:rPr>
                          <m:t>⊖</m:t>
                        </m:r>
                      </m:oMath>
                    </m:oMathPara>
                  </a14:m>
                  <a:endParaRPr lang="zh-CN" altLang="en-US" dirty="0"/>
                </a:p>
              </p:txBody>
            </p:sp>
          </mc:Choice>
          <mc:Fallback xmlns="">
            <p:sp>
              <p:nvSpPr>
                <p:cNvPr id="9" name="文本框 8">
                  <a:extLst>
                    <a:ext uri="{FF2B5EF4-FFF2-40B4-BE49-F238E27FC236}">
                      <a16:creationId xmlns:a16="http://schemas.microsoft.com/office/drawing/2014/main" id="{B1EE1A74-B5D3-3D30-89DA-DE592D10EAC8}"/>
                    </a:ext>
                  </a:extLst>
                </p:cNvPr>
                <p:cNvSpPr txBox="1">
                  <a:spLocks noRot="1" noChangeAspect="1" noMove="1" noResize="1" noEditPoints="1" noAdjustHandles="1" noChangeArrowheads="1" noChangeShapeType="1" noTextEdit="1"/>
                </p:cNvSpPr>
                <p:nvPr/>
              </p:nvSpPr>
              <p:spPr>
                <a:xfrm>
                  <a:off x="8316000" y="774000"/>
                  <a:ext cx="360000" cy="1188000"/>
                </a:xfrm>
                <a:prstGeom prst="rect">
                  <a:avLst/>
                </a:prstGeom>
                <a:blipFill>
                  <a:blip r:embed="rId7"/>
                  <a:stretch>
                    <a:fillRect l="-16949" r="-33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C135BDBC-25A2-D8AD-EFD5-7EDB1D439A64}"/>
                    </a:ext>
                  </a:extLst>
                </p:cNvPr>
                <p:cNvSpPr txBox="1"/>
                <p:nvPr/>
              </p:nvSpPr>
              <p:spPr>
                <a:xfrm>
                  <a:off x="8658000" y="774000"/>
                  <a:ext cx="360000" cy="1188000"/>
                </a:xfrm>
                <a:prstGeom prst="rect">
                  <a:avLst/>
                </a:prstGeom>
                <a:noFill/>
              </p:spPr>
              <p:txBody>
                <a:bodyPr wrap="square">
                  <a:spAutoFit/>
                </a:bodyPr>
                <a:lstStyle/>
                <a:p>
                  <a:pPr algn="ctr">
                    <a:spcAft>
                      <a:spcPts val="600"/>
                    </a:spcAft>
                  </a:pPr>
                  <a14:m>
                    <m:oMathPara xmlns:m="http://schemas.openxmlformats.org/officeDocument/2006/math">
                      <m:oMathParaPr>
                        <m:jc m:val="centerGroup"/>
                      </m:oMathParaPr>
                      <m:oMath xmlns:m="http://schemas.openxmlformats.org/officeDocument/2006/math">
                        <m:r>
                          <a:rPr kumimoji="1" lang="en-US" altLang="zh-CN" i="1" smtClean="0">
                            <a:latin typeface="Cambria Math" panose="02040503050406030204" pitchFamily="18" charset="0"/>
                            <a:ea typeface="Cambria Math" panose="02040503050406030204" pitchFamily="18" charset="0"/>
                          </a:rPr>
                          <m:t>⊕</m:t>
                        </m:r>
                      </m:oMath>
                    </m:oMathPara>
                  </a14:m>
                  <a:endParaRPr lang="en-US" altLang="zh-CN" dirty="0"/>
                </a:p>
                <a:p>
                  <a:pPr algn="ctr">
                    <a:spcAft>
                      <a:spcPts val="600"/>
                    </a:spcAft>
                  </a:pPr>
                  <a14:m>
                    <m:oMathPara xmlns:m="http://schemas.openxmlformats.org/officeDocument/2006/math">
                      <m:oMathParaPr>
                        <m:jc m:val="centerGroup"/>
                      </m:oMathParaPr>
                      <m:oMath xmlns:m="http://schemas.openxmlformats.org/officeDocument/2006/math">
                        <m:r>
                          <a:rPr kumimoji="1" lang="en-US" altLang="zh-CN" i="1">
                            <a:latin typeface="Cambria Math" panose="02040503050406030204" pitchFamily="18" charset="0"/>
                            <a:ea typeface="Cambria Math" panose="02040503050406030204" pitchFamily="18" charset="0"/>
                          </a:rPr>
                          <m:t>⊕</m:t>
                        </m:r>
                      </m:oMath>
                    </m:oMathPara>
                  </a14:m>
                  <a:endParaRPr kumimoji="1" lang="en-US" altLang="zh-CN" dirty="0">
                    <a:ea typeface="Cambria Math" panose="02040503050406030204" pitchFamily="18" charset="0"/>
                  </a:endParaRPr>
                </a:p>
                <a:p>
                  <a:pPr algn="ctr">
                    <a:spcAft>
                      <a:spcPts val="600"/>
                    </a:spcAft>
                  </a:pPr>
                  <a14:m>
                    <m:oMathPara xmlns:m="http://schemas.openxmlformats.org/officeDocument/2006/math">
                      <m:oMathParaPr>
                        <m:jc m:val="centerGroup"/>
                      </m:oMathParaPr>
                      <m:oMath xmlns:m="http://schemas.openxmlformats.org/officeDocument/2006/math">
                        <m:r>
                          <a:rPr kumimoji="1" lang="en-US" altLang="zh-CN" i="1">
                            <a:latin typeface="Cambria Math" panose="02040503050406030204" pitchFamily="18" charset="0"/>
                            <a:ea typeface="Cambria Math" panose="02040503050406030204" pitchFamily="18" charset="0"/>
                          </a:rPr>
                          <m:t>⊕</m:t>
                        </m:r>
                      </m:oMath>
                    </m:oMathPara>
                  </a14:m>
                  <a:endParaRPr lang="zh-CN" altLang="en-US" dirty="0"/>
                </a:p>
              </p:txBody>
            </p:sp>
          </mc:Choice>
          <mc:Fallback xmlns="">
            <p:sp>
              <p:nvSpPr>
                <p:cNvPr id="10" name="文本框 9">
                  <a:extLst>
                    <a:ext uri="{FF2B5EF4-FFF2-40B4-BE49-F238E27FC236}">
                      <a16:creationId xmlns:a16="http://schemas.microsoft.com/office/drawing/2014/main" id="{C135BDBC-25A2-D8AD-EFD5-7EDB1D439A64}"/>
                    </a:ext>
                  </a:extLst>
                </p:cNvPr>
                <p:cNvSpPr txBox="1">
                  <a:spLocks noRot="1" noChangeAspect="1" noMove="1" noResize="1" noEditPoints="1" noAdjustHandles="1" noChangeArrowheads="1" noChangeShapeType="1" noTextEdit="1"/>
                </p:cNvSpPr>
                <p:nvPr/>
              </p:nvSpPr>
              <p:spPr>
                <a:xfrm>
                  <a:off x="8658000" y="774000"/>
                  <a:ext cx="360000" cy="1188000"/>
                </a:xfrm>
                <a:prstGeom prst="rect">
                  <a:avLst/>
                </a:prstGeom>
                <a:blipFill>
                  <a:blip r:embed="rId8"/>
                  <a:stretch>
                    <a:fillRect l="-16949" r="-3390"/>
                  </a:stretch>
                </a:blipFill>
              </p:spPr>
              <p:txBody>
                <a:bodyPr/>
                <a:lstStyle/>
                <a:p>
                  <a:r>
                    <a:rPr lang="zh-CN" altLang="en-US">
                      <a:noFill/>
                    </a:rPr>
                    <a:t> </a:t>
                  </a:r>
                </a:p>
              </p:txBody>
            </p:sp>
          </mc:Fallback>
        </mc:AlternateContent>
      </p:grpSp>
      <p:grpSp>
        <p:nvGrpSpPr>
          <p:cNvPr id="83" name="组合 82">
            <a:extLst>
              <a:ext uri="{FF2B5EF4-FFF2-40B4-BE49-F238E27FC236}">
                <a16:creationId xmlns:a16="http://schemas.microsoft.com/office/drawing/2014/main" id="{F9559DFE-8E46-8F1B-3163-AEE9B4C80F17}"/>
              </a:ext>
            </a:extLst>
          </p:cNvPr>
          <p:cNvGrpSpPr/>
          <p:nvPr/>
        </p:nvGrpSpPr>
        <p:grpSpPr>
          <a:xfrm>
            <a:off x="6840000" y="4140000"/>
            <a:ext cx="3600001" cy="2340000"/>
            <a:chOff x="6840000" y="4140000"/>
            <a:chExt cx="3600001" cy="2340000"/>
          </a:xfrm>
        </p:grpSpPr>
        <p:sp>
          <p:nvSpPr>
            <p:cNvPr id="19" name="矩形 18">
              <a:extLst>
                <a:ext uri="{FF2B5EF4-FFF2-40B4-BE49-F238E27FC236}">
                  <a16:creationId xmlns:a16="http://schemas.microsoft.com/office/drawing/2014/main" id="{E42AA084-A05C-5A49-C32A-CCFBF0169E95}"/>
                </a:ext>
              </a:extLst>
            </p:cNvPr>
            <p:cNvSpPr/>
            <p:nvPr/>
          </p:nvSpPr>
          <p:spPr>
            <a:xfrm>
              <a:off x="7740000" y="4140000"/>
              <a:ext cx="1800000" cy="1188000"/>
            </a:xfrm>
            <a:prstGeom prst="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365E1E31-456F-BB4E-69BA-7C4AAF483FDF}"/>
                </a:ext>
              </a:extLst>
            </p:cNvPr>
            <p:cNvSpPr/>
            <p:nvPr/>
          </p:nvSpPr>
          <p:spPr>
            <a:xfrm>
              <a:off x="7272000" y="4140000"/>
              <a:ext cx="2736000" cy="1188000"/>
            </a:xfrm>
            <a:prstGeom prst="rect">
              <a:avLst/>
            </a:prstGeom>
            <a:noFill/>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22" name="直接连接符 21">
              <a:extLst>
                <a:ext uri="{FF2B5EF4-FFF2-40B4-BE49-F238E27FC236}">
                  <a16:creationId xmlns:a16="http://schemas.microsoft.com/office/drawing/2014/main" id="{4BFA21E1-2AC4-F027-04E8-680656AC52F0}"/>
                </a:ext>
              </a:extLst>
            </p:cNvPr>
            <p:cNvCxnSpPr>
              <a:cxnSpLocks/>
            </p:cNvCxnSpPr>
            <p:nvPr/>
          </p:nvCxnSpPr>
          <p:spPr>
            <a:xfrm>
              <a:off x="6840000" y="4734000"/>
              <a:ext cx="43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23570735-6E58-CC34-4EB5-7B0D15E15411}"/>
                </a:ext>
              </a:extLst>
            </p:cNvPr>
            <p:cNvCxnSpPr>
              <a:cxnSpLocks/>
              <a:stCxn id="21" idx="3"/>
            </p:cNvCxnSpPr>
            <p:nvPr/>
          </p:nvCxnSpPr>
          <p:spPr>
            <a:xfrm>
              <a:off x="10007999" y="4734000"/>
              <a:ext cx="43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87E23769-EED5-0DCC-1FA5-9D47EACA9C1E}"/>
                </a:ext>
              </a:extLst>
            </p:cNvPr>
            <p:cNvCxnSpPr>
              <a:cxnSpLocks/>
            </p:cNvCxnSpPr>
            <p:nvPr/>
          </p:nvCxnSpPr>
          <p:spPr>
            <a:xfrm flipV="1">
              <a:off x="6840000" y="4734000"/>
              <a:ext cx="1" cy="1044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CE10DCB2-052C-212D-BC8D-8D7294F064F6}"/>
                </a:ext>
              </a:extLst>
            </p:cNvPr>
            <p:cNvCxnSpPr>
              <a:cxnSpLocks/>
            </p:cNvCxnSpPr>
            <p:nvPr/>
          </p:nvCxnSpPr>
          <p:spPr>
            <a:xfrm flipV="1">
              <a:off x="10440000" y="4734000"/>
              <a:ext cx="1" cy="10440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389B0E8F-C458-F598-F86D-01EB334D2EA2}"/>
                </a:ext>
              </a:extLst>
            </p:cNvPr>
            <p:cNvSpPr txBox="1"/>
            <p:nvPr/>
          </p:nvSpPr>
          <p:spPr>
            <a:xfrm>
              <a:off x="7290000" y="4500000"/>
              <a:ext cx="540000" cy="540000"/>
            </a:xfrm>
            <a:prstGeom prst="rect">
              <a:avLst/>
            </a:prstGeom>
            <a:noFill/>
          </p:spPr>
          <p:txBody>
            <a:bodyPr wrap="square">
              <a:spAutoFit/>
            </a:bodyPr>
            <a:lstStyle/>
            <a:p>
              <a:r>
                <a:rPr kumimoji="1" lang="en-US" altLang="zh-CN" sz="2800" dirty="0">
                  <a:solidFill>
                    <a:srgbClr val="002060"/>
                  </a:solidFill>
                  <a:latin typeface="微软雅黑" panose="020B0503020204020204" pitchFamily="34" charset="-122"/>
                  <a:ea typeface="微软雅黑" panose="020B0503020204020204" pitchFamily="34" charset="-122"/>
                </a:rPr>
                <a:t>P</a:t>
              </a:r>
              <a:endParaRPr lang="zh-CN" altLang="en-US" sz="2800" dirty="0"/>
            </a:p>
          </p:txBody>
        </p:sp>
        <p:sp>
          <p:nvSpPr>
            <p:cNvPr id="30" name="文本框 29">
              <a:extLst>
                <a:ext uri="{FF2B5EF4-FFF2-40B4-BE49-F238E27FC236}">
                  <a16:creationId xmlns:a16="http://schemas.microsoft.com/office/drawing/2014/main" id="{89BB0FEF-AD54-69A9-6EA9-73FC8FC40BB6}"/>
                </a:ext>
              </a:extLst>
            </p:cNvPr>
            <p:cNvSpPr txBox="1"/>
            <p:nvPr/>
          </p:nvSpPr>
          <p:spPr>
            <a:xfrm>
              <a:off x="9450000" y="4500000"/>
              <a:ext cx="540000" cy="540000"/>
            </a:xfrm>
            <a:prstGeom prst="rect">
              <a:avLst/>
            </a:prstGeom>
            <a:noFill/>
          </p:spPr>
          <p:txBody>
            <a:bodyPr wrap="square">
              <a:spAutoFit/>
            </a:bodyPr>
            <a:lstStyle/>
            <a:p>
              <a:pPr algn="r"/>
              <a:r>
                <a:rPr kumimoji="1" lang="en-US" altLang="zh-CN" sz="2800" dirty="0">
                  <a:solidFill>
                    <a:srgbClr val="002060"/>
                  </a:solidFill>
                  <a:latin typeface="微软雅黑" panose="020B0503020204020204" pitchFamily="34" charset="-122"/>
                  <a:ea typeface="微软雅黑" panose="020B0503020204020204" pitchFamily="34" charset="-122"/>
                </a:rPr>
                <a:t>N</a:t>
              </a:r>
              <a:endParaRPr lang="zh-CN" altLang="en-US" sz="2800" dirty="0"/>
            </a:p>
          </p:txBody>
        </p:sp>
        <p:cxnSp>
          <p:nvCxnSpPr>
            <p:cNvPr id="58" name="直接连接符 57">
              <a:extLst>
                <a:ext uri="{FF2B5EF4-FFF2-40B4-BE49-F238E27FC236}">
                  <a16:creationId xmlns:a16="http://schemas.microsoft.com/office/drawing/2014/main" id="{DA1ABC9B-DA7B-8D73-E0C5-E73D014D1ACC}"/>
                </a:ext>
              </a:extLst>
            </p:cNvPr>
            <p:cNvCxnSpPr>
              <a:cxnSpLocks/>
            </p:cNvCxnSpPr>
            <p:nvPr/>
          </p:nvCxnSpPr>
          <p:spPr>
            <a:xfrm>
              <a:off x="6840000" y="5778000"/>
              <a:ext cx="135791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04CC26B3-F618-97D7-FE05-95943EB706ED}"/>
                </a:ext>
              </a:extLst>
            </p:cNvPr>
            <p:cNvCxnSpPr>
              <a:cxnSpLocks/>
            </p:cNvCxnSpPr>
            <p:nvPr/>
          </p:nvCxnSpPr>
          <p:spPr>
            <a:xfrm flipV="1">
              <a:off x="8352000" y="5544000"/>
              <a:ext cx="0" cy="46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48C82964-BCF3-DAE7-EE61-542FB5E36F20}"/>
                </a:ext>
              </a:extLst>
            </p:cNvPr>
            <p:cNvCxnSpPr>
              <a:cxnSpLocks/>
            </p:cNvCxnSpPr>
            <p:nvPr/>
          </p:nvCxnSpPr>
          <p:spPr>
            <a:xfrm flipV="1">
              <a:off x="8208000" y="5652000"/>
              <a:ext cx="0" cy="25200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94C5C6DA-E087-7153-B97A-6F939F714A33}"/>
                </a:ext>
              </a:extLst>
            </p:cNvPr>
            <p:cNvCxnSpPr>
              <a:cxnSpLocks/>
            </p:cNvCxnSpPr>
            <p:nvPr/>
          </p:nvCxnSpPr>
          <p:spPr>
            <a:xfrm>
              <a:off x="8352000" y="5778000"/>
              <a:ext cx="2088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2" name="矩形 61">
              <a:extLst>
                <a:ext uri="{FF2B5EF4-FFF2-40B4-BE49-F238E27FC236}">
                  <a16:creationId xmlns:a16="http://schemas.microsoft.com/office/drawing/2014/main" id="{905AD5E6-9DF2-EAFE-7609-4BA9162265CF}"/>
                </a:ext>
              </a:extLst>
            </p:cNvPr>
            <p:cNvSpPr/>
            <p:nvPr/>
          </p:nvSpPr>
          <p:spPr>
            <a:xfrm>
              <a:off x="9180000" y="5706000"/>
              <a:ext cx="504000" cy="144000"/>
            </a:xfrm>
            <a:prstGeom prst="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BFC9333A-FF35-E19B-9D18-48273AD3EC2A}"/>
                    </a:ext>
                  </a:extLst>
                </p:cNvPr>
                <p:cNvSpPr txBox="1"/>
                <p:nvPr/>
              </p:nvSpPr>
              <p:spPr>
                <a:xfrm>
                  <a:off x="7920000" y="5940000"/>
                  <a:ext cx="720000" cy="540000"/>
                </a:xfrm>
                <a:prstGeom prst="rect">
                  <a:avLst/>
                </a:prstGeom>
                <a:noFill/>
              </p:spPr>
              <p:txBody>
                <a:bodyPr wrap="square">
                  <a:spAutoFit/>
                </a:bodyPr>
                <a:lstStyle/>
                <a:p>
                  <a:pPr algn="r"/>
                  <a14:m>
                    <m:oMathPara xmlns:m="http://schemas.openxmlformats.org/officeDocument/2006/math">
                      <m:oMathParaPr>
                        <m:jc m:val="centerGroup"/>
                      </m:oMathParaPr>
                      <m:oMath xmlns:m="http://schemas.openxmlformats.org/officeDocument/2006/math">
                        <m:r>
                          <a:rPr kumimoji="1" lang="en-US" altLang="zh-CN" sz="2800" b="1" i="1" smtClean="0">
                            <a:solidFill>
                              <a:srgbClr val="002060"/>
                            </a:solidFill>
                            <a:latin typeface="Cambria Math" panose="02040503050406030204" pitchFamily="18" charset="0"/>
                            <a:ea typeface="微软雅黑" panose="020B0503020204020204" pitchFamily="34" charset="-122"/>
                          </a:rPr>
                          <m:t>𝑽</m:t>
                        </m:r>
                      </m:oMath>
                    </m:oMathPara>
                  </a14:m>
                  <a:endParaRPr lang="zh-CN" altLang="en-US" sz="2800" b="1" i="1" dirty="0"/>
                </a:p>
              </p:txBody>
            </p:sp>
          </mc:Choice>
          <mc:Fallback xmlns="">
            <p:sp>
              <p:nvSpPr>
                <p:cNvPr id="63" name="文本框 62">
                  <a:extLst>
                    <a:ext uri="{FF2B5EF4-FFF2-40B4-BE49-F238E27FC236}">
                      <a16:creationId xmlns:a16="http://schemas.microsoft.com/office/drawing/2014/main" id="{BFC9333A-FF35-E19B-9D18-48273AD3EC2A}"/>
                    </a:ext>
                  </a:extLst>
                </p:cNvPr>
                <p:cNvSpPr txBox="1">
                  <a:spLocks noRot="1" noChangeAspect="1" noMove="1" noResize="1" noEditPoints="1" noAdjustHandles="1" noChangeArrowheads="1" noChangeShapeType="1" noTextEdit="1"/>
                </p:cNvSpPr>
                <p:nvPr/>
              </p:nvSpPr>
              <p:spPr>
                <a:xfrm>
                  <a:off x="7920000" y="5940000"/>
                  <a:ext cx="720000" cy="540000"/>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 name="文本框 65">
                  <a:extLst>
                    <a:ext uri="{FF2B5EF4-FFF2-40B4-BE49-F238E27FC236}">
                      <a16:creationId xmlns:a16="http://schemas.microsoft.com/office/drawing/2014/main" id="{51DB2A8D-1BC1-49E0-370E-6F4FB36AEE4E}"/>
                    </a:ext>
                  </a:extLst>
                </p:cNvPr>
                <p:cNvSpPr txBox="1"/>
                <p:nvPr/>
              </p:nvSpPr>
              <p:spPr>
                <a:xfrm>
                  <a:off x="9072000" y="5940000"/>
                  <a:ext cx="720000" cy="540000"/>
                </a:xfrm>
                <a:prstGeom prst="rect">
                  <a:avLst/>
                </a:prstGeom>
                <a:noFill/>
              </p:spPr>
              <p:txBody>
                <a:bodyPr wrap="square">
                  <a:spAutoFit/>
                </a:bodyPr>
                <a:lstStyle/>
                <a:p>
                  <a:pPr algn="r"/>
                  <a14:m>
                    <m:oMathPara xmlns:m="http://schemas.openxmlformats.org/officeDocument/2006/math">
                      <m:oMathParaPr>
                        <m:jc m:val="centerGroup"/>
                      </m:oMathParaPr>
                      <m:oMath xmlns:m="http://schemas.openxmlformats.org/officeDocument/2006/math">
                        <m:r>
                          <a:rPr kumimoji="1" lang="en-US" altLang="zh-CN" sz="2800" b="1" i="1" smtClean="0">
                            <a:solidFill>
                              <a:srgbClr val="002060"/>
                            </a:solidFill>
                            <a:latin typeface="Cambria Math" panose="02040503050406030204" pitchFamily="18" charset="0"/>
                            <a:ea typeface="微软雅黑" panose="020B0503020204020204" pitchFamily="34" charset="-122"/>
                          </a:rPr>
                          <m:t>𝑹</m:t>
                        </m:r>
                      </m:oMath>
                    </m:oMathPara>
                  </a14:m>
                  <a:endParaRPr lang="zh-CN" altLang="en-US" sz="2800" b="1" i="1" dirty="0"/>
                </a:p>
              </p:txBody>
            </p:sp>
          </mc:Choice>
          <mc:Fallback xmlns="">
            <p:sp>
              <p:nvSpPr>
                <p:cNvPr id="66" name="文本框 65">
                  <a:extLst>
                    <a:ext uri="{FF2B5EF4-FFF2-40B4-BE49-F238E27FC236}">
                      <a16:creationId xmlns:a16="http://schemas.microsoft.com/office/drawing/2014/main" id="{51DB2A8D-1BC1-49E0-370E-6F4FB36AEE4E}"/>
                    </a:ext>
                  </a:extLst>
                </p:cNvPr>
                <p:cNvSpPr txBox="1">
                  <a:spLocks noRot="1" noChangeAspect="1" noMove="1" noResize="1" noEditPoints="1" noAdjustHandles="1" noChangeArrowheads="1" noChangeShapeType="1" noTextEdit="1"/>
                </p:cNvSpPr>
                <p:nvPr/>
              </p:nvSpPr>
              <p:spPr>
                <a:xfrm>
                  <a:off x="9072000" y="5940000"/>
                  <a:ext cx="720000" cy="540000"/>
                </a:xfrm>
                <a:prstGeom prst="rect">
                  <a:avLst/>
                </a:prstGeom>
                <a:blipFill>
                  <a:blip r:embed="rId10"/>
                  <a:stretch>
                    <a:fillRect/>
                  </a:stretch>
                </a:blipFill>
              </p:spPr>
              <p:txBody>
                <a:bodyPr/>
                <a:lstStyle/>
                <a:p>
                  <a:r>
                    <a:rPr lang="zh-CN" altLang="en-US">
                      <a:noFill/>
                    </a:rPr>
                    <a:t> </a:t>
                  </a:r>
                </a:p>
              </p:txBody>
            </p:sp>
          </mc:Fallback>
        </mc:AlternateContent>
        <p:cxnSp>
          <p:nvCxnSpPr>
            <p:cNvPr id="67" name="直接箭头连接符 66">
              <a:extLst>
                <a:ext uri="{FF2B5EF4-FFF2-40B4-BE49-F238E27FC236}">
                  <a16:creationId xmlns:a16="http://schemas.microsoft.com/office/drawing/2014/main" id="{A8062229-FC44-92D3-A612-8D3438E02054}"/>
                </a:ext>
              </a:extLst>
            </p:cNvPr>
            <p:cNvCxnSpPr>
              <a:cxnSpLocks/>
            </p:cNvCxnSpPr>
            <p:nvPr/>
          </p:nvCxnSpPr>
          <p:spPr>
            <a:xfrm flipV="1">
              <a:off x="7056000" y="5868000"/>
              <a:ext cx="720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文本框 67">
                  <a:extLst>
                    <a:ext uri="{FF2B5EF4-FFF2-40B4-BE49-F238E27FC236}">
                      <a16:creationId xmlns:a16="http://schemas.microsoft.com/office/drawing/2014/main" id="{B49E3A45-ADE6-DD29-D227-382307D2038A}"/>
                    </a:ext>
                  </a:extLst>
                </p:cNvPr>
                <p:cNvSpPr txBox="1"/>
                <p:nvPr/>
              </p:nvSpPr>
              <p:spPr>
                <a:xfrm>
                  <a:off x="7056000" y="5940000"/>
                  <a:ext cx="720000" cy="540000"/>
                </a:xfrm>
                <a:prstGeom prst="rect">
                  <a:avLst/>
                </a:prstGeom>
                <a:noFill/>
              </p:spPr>
              <p:txBody>
                <a:bodyPr wrap="square">
                  <a:spAutoFit/>
                </a:bodyPr>
                <a:lstStyle/>
                <a:p>
                  <a:pPr algn="ctr"/>
                  <a14:m>
                    <m:oMath xmlns:m="http://schemas.openxmlformats.org/officeDocument/2006/math">
                      <m:r>
                        <a:rPr kumimoji="1" lang="en-US" altLang="zh-CN" sz="2800" b="1" i="1" smtClean="0">
                          <a:solidFill>
                            <a:srgbClr val="002060"/>
                          </a:solidFill>
                          <a:latin typeface="Cambria Math" panose="02040503050406030204" pitchFamily="18" charset="0"/>
                          <a:ea typeface="微软雅黑" panose="020B0503020204020204" pitchFamily="34" charset="-122"/>
                        </a:rPr>
                        <m:t>𝑰</m:t>
                      </m:r>
                    </m:oMath>
                  </a14:m>
                  <a:r>
                    <a:rPr lang="zh-CN" altLang="en-US" sz="2800" dirty="0">
                      <a:solidFill>
                        <a:srgbClr val="002060"/>
                      </a:solidFill>
                      <a:latin typeface="微软雅黑" panose="020B0503020204020204" pitchFamily="34" charset="-122"/>
                      <a:ea typeface="微软雅黑" panose="020B0503020204020204" pitchFamily="34" charset="-122"/>
                    </a:rPr>
                    <a:t> </a:t>
                  </a:r>
                  <a14:m>
                    <m:oMath xmlns:m="http://schemas.openxmlformats.org/officeDocument/2006/math">
                      <m:r>
                        <a:rPr lang="zh-CN" altLang="en-US" sz="2800" i="1" dirty="0">
                          <a:solidFill>
                            <a:srgbClr val="002060"/>
                          </a:solidFill>
                          <a:latin typeface="Cambria Math" panose="02040503050406030204" pitchFamily="18" charset="0"/>
                        </a:rPr>
                        <m:t>↓</m:t>
                      </m:r>
                    </m:oMath>
                  </a14:m>
                  <a:endParaRPr lang="zh-CN" altLang="en-US" sz="2800" b="1" i="1" dirty="0">
                    <a:solidFill>
                      <a:srgbClr val="002060"/>
                    </a:solidFill>
                    <a:latin typeface="微软雅黑" panose="020B0503020204020204" pitchFamily="34" charset="-122"/>
                    <a:ea typeface="微软雅黑" panose="020B0503020204020204" pitchFamily="34" charset="-122"/>
                  </a:endParaRPr>
                </a:p>
              </p:txBody>
            </p:sp>
          </mc:Choice>
          <mc:Fallback xmlns="">
            <p:sp>
              <p:nvSpPr>
                <p:cNvPr id="68" name="文本框 67">
                  <a:extLst>
                    <a:ext uri="{FF2B5EF4-FFF2-40B4-BE49-F238E27FC236}">
                      <a16:creationId xmlns:a16="http://schemas.microsoft.com/office/drawing/2014/main" id="{B49E3A45-ADE6-DD29-D227-382307D2038A}"/>
                    </a:ext>
                  </a:extLst>
                </p:cNvPr>
                <p:cNvSpPr txBox="1">
                  <a:spLocks noRot="1" noChangeAspect="1" noMove="1" noResize="1" noEditPoints="1" noAdjustHandles="1" noChangeArrowheads="1" noChangeShapeType="1" noTextEdit="1"/>
                </p:cNvSpPr>
                <p:nvPr/>
              </p:nvSpPr>
              <p:spPr>
                <a:xfrm>
                  <a:off x="7056000" y="5940000"/>
                  <a:ext cx="720000" cy="540000"/>
                </a:xfrm>
                <a:prstGeom prst="rect">
                  <a:avLst/>
                </a:prstGeom>
                <a:blipFill>
                  <a:blip r:embed="rId11"/>
                  <a:stretch>
                    <a:fillRect/>
                  </a:stretch>
                </a:blipFill>
              </p:spPr>
              <p:txBody>
                <a:bodyPr/>
                <a:lstStyle/>
                <a:p>
                  <a:r>
                    <a:rPr lang="zh-CN" altLang="en-US">
                      <a:noFill/>
                    </a:rPr>
                    <a:t> </a:t>
                  </a:r>
                </a:p>
              </p:txBody>
            </p:sp>
          </mc:Fallback>
        </mc:AlternateContent>
        <p:cxnSp>
          <p:nvCxnSpPr>
            <p:cNvPr id="69" name="直接连接符 68">
              <a:extLst>
                <a:ext uri="{FF2B5EF4-FFF2-40B4-BE49-F238E27FC236}">
                  <a16:creationId xmlns:a16="http://schemas.microsoft.com/office/drawing/2014/main" id="{FA37B648-F2C7-4EAB-F266-9432F26F8CFA}"/>
                </a:ext>
              </a:extLst>
            </p:cNvPr>
            <p:cNvCxnSpPr>
              <a:cxnSpLocks/>
              <a:stCxn id="21" idx="2"/>
              <a:endCxn id="21" idx="0"/>
            </p:cNvCxnSpPr>
            <p:nvPr/>
          </p:nvCxnSpPr>
          <p:spPr>
            <a:xfrm flipV="1">
              <a:off x="8640000" y="4140000"/>
              <a:ext cx="0" cy="118800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0" name="文本框 79">
                  <a:extLst>
                    <a:ext uri="{FF2B5EF4-FFF2-40B4-BE49-F238E27FC236}">
                      <a16:creationId xmlns:a16="http://schemas.microsoft.com/office/drawing/2014/main" id="{4086DA67-8F84-3AD4-B264-6A9FBDB3EE70}"/>
                    </a:ext>
                  </a:extLst>
                </p:cNvPr>
                <p:cNvSpPr txBox="1"/>
                <p:nvPr/>
              </p:nvSpPr>
              <p:spPr>
                <a:xfrm>
                  <a:off x="7650000" y="4194000"/>
                  <a:ext cx="1080000" cy="1188000"/>
                </a:xfrm>
                <a:prstGeom prst="rect">
                  <a:avLst/>
                </a:prstGeom>
                <a:noFill/>
              </p:spPr>
              <p:txBody>
                <a:bodyPr wrap="square">
                  <a:spAutoFit/>
                </a:bodyPr>
                <a:lstStyle/>
                <a:p>
                  <a:pPr algn="ctr">
                    <a:spcAft>
                      <a:spcPts val="600"/>
                    </a:spcAft>
                  </a:pPr>
                  <a14:m>
                    <m:oMath xmlns:m="http://schemas.openxmlformats.org/officeDocument/2006/math">
                      <m:r>
                        <a:rPr kumimoji="1" lang="en-US" altLang="zh-CN" sz="1800" i="1" smtClean="0">
                          <a:latin typeface="Cambria Math" panose="02040503050406030204" pitchFamily="18" charset="0"/>
                          <a:ea typeface="Cambria Math" panose="02040503050406030204" pitchFamily="18" charset="0"/>
                        </a:rPr>
                        <m:t>⊖</m:t>
                      </m:r>
                    </m:oMath>
                  </a14:m>
                  <a:r>
                    <a:rPr lang="en-US" altLang="zh-CN" dirty="0"/>
                    <a:t> </a:t>
                  </a:r>
                  <a14:m>
                    <m:oMath xmlns:m="http://schemas.openxmlformats.org/officeDocument/2006/math">
                      <m:r>
                        <a:rPr kumimoji="1" lang="en-US" altLang="zh-CN" i="1">
                          <a:latin typeface="Cambria Math" panose="02040503050406030204" pitchFamily="18" charset="0"/>
                          <a:ea typeface="Cambria Math" panose="02040503050406030204" pitchFamily="18" charset="0"/>
                        </a:rPr>
                        <m:t>⊖</m:t>
                      </m:r>
                    </m:oMath>
                  </a14:m>
                  <a:r>
                    <a:rPr lang="en-US" altLang="zh-CN" dirty="0"/>
                    <a:t> </a:t>
                  </a:r>
                  <a14:m>
                    <m:oMath xmlns:m="http://schemas.openxmlformats.org/officeDocument/2006/math">
                      <m:r>
                        <a:rPr kumimoji="1" lang="en-US" altLang="zh-CN" i="1">
                          <a:latin typeface="Cambria Math" panose="02040503050406030204" pitchFamily="18" charset="0"/>
                          <a:ea typeface="Cambria Math" panose="02040503050406030204" pitchFamily="18" charset="0"/>
                        </a:rPr>
                        <m:t>⊖</m:t>
                      </m:r>
                    </m:oMath>
                  </a14:m>
                  <a:endParaRPr lang="en-US" altLang="zh-CN" dirty="0"/>
                </a:p>
                <a:p>
                  <a:pPr algn="ctr">
                    <a:spcAft>
                      <a:spcPts val="600"/>
                    </a:spcAft>
                  </a:pPr>
                  <a14:m>
                    <m:oMath xmlns:m="http://schemas.openxmlformats.org/officeDocument/2006/math">
                      <m:r>
                        <a:rPr kumimoji="1" lang="en-US" altLang="zh-CN" i="1">
                          <a:latin typeface="Cambria Math" panose="02040503050406030204" pitchFamily="18" charset="0"/>
                          <a:ea typeface="Cambria Math" panose="02040503050406030204" pitchFamily="18" charset="0"/>
                        </a:rPr>
                        <m:t>⊖</m:t>
                      </m:r>
                    </m:oMath>
                  </a14:m>
                  <a:r>
                    <a:rPr kumimoji="1" lang="en-US" altLang="zh-CN" dirty="0">
                      <a:ea typeface="Cambria Math" panose="02040503050406030204" pitchFamily="18" charset="0"/>
                    </a:rPr>
                    <a:t> </a:t>
                  </a:r>
                  <a14:m>
                    <m:oMath xmlns:m="http://schemas.openxmlformats.org/officeDocument/2006/math">
                      <m:r>
                        <a:rPr kumimoji="1" lang="en-US" altLang="zh-CN" i="1">
                          <a:latin typeface="Cambria Math" panose="02040503050406030204" pitchFamily="18" charset="0"/>
                          <a:ea typeface="Cambria Math" panose="02040503050406030204" pitchFamily="18" charset="0"/>
                        </a:rPr>
                        <m:t>⊖</m:t>
                      </m:r>
                    </m:oMath>
                  </a14:m>
                  <a:r>
                    <a:rPr lang="en-US" altLang="zh-CN" dirty="0"/>
                    <a:t> </a:t>
                  </a:r>
                  <a14:m>
                    <m:oMath xmlns:m="http://schemas.openxmlformats.org/officeDocument/2006/math">
                      <m:r>
                        <a:rPr kumimoji="1" lang="en-US" altLang="zh-CN" i="1">
                          <a:latin typeface="Cambria Math" panose="02040503050406030204" pitchFamily="18" charset="0"/>
                          <a:ea typeface="Cambria Math" panose="02040503050406030204" pitchFamily="18" charset="0"/>
                        </a:rPr>
                        <m:t>⊖</m:t>
                      </m:r>
                    </m:oMath>
                  </a14:m>
                  <a:r>
                    <a:rPr lang="en-US" altLang="zh-CN" dirty="0"/>
                    <a:t> </a:t>
                  </a:r>
                  <a:endParaRPr kumimoji="1" lang="en-US" altLang="zh-CN" dirty="0">
                    <a:ea typeface="Cambria Math" panose="02040503050406030204" pitchFamily="18" charset="0"/>
                  </a:endParaRPr>
                </a:p>
                <a:p>
                  <a:pPr algn="ctr">
                    <a:spcAft>
                      <a:spcPts val="600"/>
                    </a:spcAft>
                  </a:pPr>
                  <a14:m>
                    <m:oMath xmlns:m="http://schemas.openxmlformats.org/officeDocument/2006/math">
                      <m:r>
                        <a:rPr kumimoji="1" lang="en-US" altLang="zh-CN" i="1">
                          <a:latin typeface="Cambria Math" panose="02040503050406030204" pitchFamily="18" charset="0"/>
                          <a:ea typeface="Cambria Math" panose="02040503050406030204" pitchFamily="18" charset="0"/>
                        </a:rPr>
                        <m:t>⊖</m:t>
                      </m:r>
                    </m:oMath>
                  </a14:m>
                  <a:r>
                    <a:rPr lang="zh-CN" altLang="en-US" dirty="0"/>
                    <a:t> </a:t>
                  </a:r>
                  <a14:m>
                    <m:oMath xmlns:m="http://schemas.openxmlformats.org/officeDocument/2006/math">
                      <m:r>
                        <a:rPr kumimoji="1" lang="en-US" altLang="zh-CN" i="1">
                          <a:latin typeface="Cambria Math" panose="02040503050406030204" pitchFamily="18" charset="0"/>
                          <a:ea typeface="Cambria Math" panose="02040503050406030204" pitchFamily="18" charset="0"/>
                        </a:rPr>
                        <m:t>⊖</m:t>
                      </m:r>
                    </m:oMath>
                  </a14:m>
                  <a:r>
                    <a:rPr lang="en-US" altLang="zh-CN" dirty="0"/>
                    <a:t> </a:t>
                  </a:r>
                  <a14:m>
                    <m:oMath xmlns:m="http://schemas.openxmlformats.org/officeDocument/2006/math">
                      <m:r>
                        <a:rPr kumimoji="1" lang="en-US" altLang="zh-CN" i="1">
                          <a:latin typeface="Cambria Math" panose="02040503050406030204" pitchFamily="18" charset="0"/>
                          <a:ea typeface="Cambria Math" panose="02040503050406030204" pitchFamily="18" charset="0"/>
                        </a:rPr>
                        <m:t>⊖</m:t>
                      </m:r>
                    </m:oMath>
                  </a14:m>
                  <a:r>
                    <a:rPr lang="en-US" altLang="zh-CN" dirty="0"/>
                    <a:t> </a:t>
                  </a:r>
                  <a:endParaRPr lang="zh-CN" altLang="en-US" dirty="0"/>
                </a:p>
              </p:txBody>
            </p:sp>
          </mc:Choice>
          <mc:Fallback xmlns="">
            <p:sp>
              <p:nvSpPr>
                <p:cNvPr id="80" name="文本框 79">
                  <a:extLst>
                    <a:ext uri="{FF2B5EF4-FFF2-40B4-BE49-F238E27FC236}">
                      <a16:creationId xmlns:a16="http://schemas.microsoft.com/office/drawing/2014/main" id="{4086DA67-8F84-3AD4-B264-6A9FBDB3EE70}"/>
                    </a:ext>
                  </a:extLst>
                </p:cNvPr>
                <p:cNvSpPr txBox="1">
                  <a:spLocks noRot="1" noChangeAspect="1" noMove="1" noResize="1" noEditPoints="1" noAdjustHandles="1" noChangeArrowheads="1" noChangeShapeType="1" noTextEdit="1"/>
                </p:cNvSpPr>
                <p:nvPr/>
              </p:nvSpPr>
              <p:spPr>
                <a:xfrm>
                  <a:off x="7650000" y="4194000"/>
                  <a:ext cx="1080000" cy="1188000"/>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1" name="文本框 80">
                  <a:extLst>
                    <a:ext uri="{FF2B5EF4-FFF2-40B4-BE49-F238E27FC236}">
                      <a16:creationId xmlns:a16="http://schemas.microsoft.com/office/drawing/2014/main" id="{16B927A6-EBD8-6BAD-7F4E-172C3B768859}"/>
                    </a:ext>
                  </a:extLst>
                </p:cNvPr>
                <p:cNvSpPr txBox="1"/>
                <p:nvPr/>
              </p:nvSpPr>
              <p:spPr>
                <a:xfrm>
                  <a:off x="8550000" y="4194000"/>
                  <a:ext cx="1080000" cy="1188000"/>
                </a:xfrm>
                <a:prstGeom prst="rect">
                  <a:avLst/>
                </a:prstGeom>
                <a:noFill/>
              </p:spPr>
              <p:txBody>
                <a:bodyPr wrap="square">
                  <a:spAutoFit/>
                </a:bodyPr>
                <a:lstStyle/>
                <a:p>
                  <a:pPr algn="ctr">
                    <a:spcAft>
                      <a:spcPts val="600"/>
                    </a:spcAft>
                  </a:pPr>
                  <a14:m>
                    <m:oMath xmlns:m="http://schemas.openxmlformats.org/officeDocument/2006/math">
                      <m:r>
                        <a:rPr kumimoji="1" lang="en-US" altLang="zh-CN" i="1" smtClean="0">
                          <a:latin typeface="Cambria Math" panose="02040503050406030204" pitchFamily="18" charset="0"/>
                          <a:ea typeface="Cambria Math" panose="02040503050406030204" pitchFamily="18" charset="0"/>
                        </a:rPr>
                        <m:t>⊕</m:t>
                      </m:r>
                    </m:oMath>
                  </a14:m>
                  <a:r>
                    <a:rPr lang="en-US" altLang="zh-CN" dirty="0"/>
                    <a:t> </a:t>
                  </a:r>
                  <a14:m>
                    <m:oMath xmlns:m="http://schemas.openxmlformats.org/officeDocument/2006/math">
                      <m:r>
                        <a:rPr kumimoji="1" lang="en-US" altLang="zh-CN" i="1">
                          <a:latin typeface="Cambria Math" panose="02040503050406030204" pitchFamily="18" charset="0"/>
                          <a:ea typeface="Cambria Math" panose="02040503050406030204" pitchFamily="18" charset="0"/>
                        </a:rPr>
                        <m:t>⊕</m:t>
                      </m:r>
                    </m:oMath>
                  </a14:m>
                  <a:r>
                    <a:rPr lang="en-US" altLang="zh-CN" dirty="0"/>
                    <a:t> </a:t>
                  </a:r>
                  <a14:m>
                    <m:oMath xmlns:m="http://schemas.openxmlformats.org/officeDocument/2006/math">
                      <m:r>
                        <a:rPr kumimoji="1" lang="en-US" altLang="zh-CN" i="1">
                          <a:latin typeface="Cambria Math" panose="02040503050406030204" pitchFamily="18" charset="0"/>
                          <a:ea typeface="Cambria Math" panose="02040503050406030204" pitchFamily="18" charset="0"/>
                        </a:rPr>
                        <m:t>⊕</m:t>
                      </m:r>
                    </m:oMath>
                  </a14:m>
                  <a:r>
                    <a:rPr lang="en-US" altLang="zh-CN" dirty="0"/>
                    <a:t> </a:t>
                  </a:r>
                </a:p>
                <a:p>
                  <a:pPr algn="ctr">
                    <a:spcAft>
                      <a:spcPts val="600"/>
                    </a:spcAft>
                  </a:pPr>
                  <a14:m>
                    <m:oMath xmlns:m="http://schemas.openxmlformats.org/officeDocument/2006/math">
                      <m:r>
                        <a:rPr kumimoji="1" lang="en-US" altLang="zh-CN" i="1">
                          <a:latin typeface="Cambria Math" panose="02040503050406030204" pitchFamily="18" charset="0"/>
                          <a:ea typeface="Cambria Math" panose="02040503050406030204" pitchFamily="18" charset="0"/>
                        </a:rPr>
                        <m:t>⊕</m:t>
                      </m:r>
                    </m:oMath>
                  </a14:m>
                  <a:r>
                    <a:rPr kumimoji="1" lang="en-US" altLang="zh-CN" dirty="0">
                      <a:ea typeface="Cambria Math" panose="02040503050406030204" pitchFamily="18" charset="0"/>
                    </a:rPr>
                    <a:t> </a:t>
                  </a:r>
                  <a14:m>
                    <m:oMath xmlns:m="http://schemas.openxmlformats.org/officeDocument/2006/math">
                      <m:r>
                        <a:rPr kumimoji="1" lang="en-US" altLang="zh-CN" i="1">
                          <a:latin typeface="Cambria Math" panose="02040503050406030204" pitchFamily="18" charset="0"/>
                          <a:ea typeface="Cambria Math" panose="02040503050406030204" pitchFamily="18" charset="0"/>
                        </a:rPr>
                        <m:t>⊕</m:t>
                      </m:r>
                    </m:oMath>
                  </a14:m>
                  <a:r>
                    <a:rPr lang="en-US" altLang="zh-CN" dirty="0"/>
                    <a:t> </a:t>
                  </a:r>
                  <a14:m>
                    <m:oMath xmlns:m="http://schemas.openxmlformats.org/officeDocument/2006/math">
                      <m:r>
                        <a:rPr kumimoji="1" lang="en-US" altLang="zh-CN" i="1">
                          <a:latin typeface="Cambria Math" panose="02040503050406030204" pitchFamily="18" charset="0"/>
                          <a:ea typeface="Cambria Math" panose="02040503050406030204" pitchFamily="18" charset="0"/>
                        </a:rPr>
                        <m:t>⊕</m:t>
                      </m:r>
                    </m:oMath>
                  </a14:m>
                  <a:r>
                    <a:rPr lang="en-US" altLang="zh-CN" dirty="0"/>
                    <a:t> </a:t>
                  </a:r>
                  <a:endParaRPr kumimoji="1" lang="en-US" altLang="zh-CN" dirty="0">
                    <a:ea typeface="Cambria Math" panose="02040503050406030204" pitchFamily="18" charset="0"/>
                  </a:endParaRPr>
                </a:p>
                <a:p>
                  <a:pPr algn="ctr">
                    <a:spcAft>
                      <a:spcPts val="600"/>
                    </a:spcAft>
                  </a:pPr>
                  <a14:m>
                    <m:oMath xmlns:m="http://schemas.openxmlformats.org/officeDocument/2006/math">
                      <m:r>
                        <a:rPr kumimoji="1" lang="en-US" altLang="zh-CN" i="1">
                          <a:latin typeface="Cambria Math" panose="02040503050406030204" pitchFamily="18" charset="0"/>
                          <a:ea typeface="Cambria Math" panose="02040503050406030204" pitchFamily="18" charset="0"/>
                        </a:rPr>
                        <m:t>⊕</m:t>
                      </m:r>
                    </m:oMath>
                  </a14:m>
                  <a:r>
                    <a:rPr lang="zh-CN" altLang="en-US" dirty="0"/>
                    <a:t> </a:t>
                  </a:r>
                  <a14:m>
                    <m:oMath xmlns:m="http://schemas.openxmlformats.org/officeDocument/2006/math">
                      <m:r>
                        <a:rPr kumimoji="1" lang="en-US" altLang="zh-CN" i="1">
                          <a:latin typeface="Cambria Math" panose="02040503050406030204" pitchFamily="18" charset="0"/>
                          <a:ea typeface="Cambria Math" panose="02040503050406030204" pitchFamily="18" charset="0"/>
                        </a:rPr>
                        <m:t>⊕</m:t>
                      </m:r>
                    </m:oMath>
                  </a14:m>
                  <a:r>
                    <a:rPr lang="en-US" altLang="zh-CN" dirty="0"/>
                    <a:t> </a:t>
                  </a:r>
                  <a14:m>
                    <m:oMath xmlns:m="http://schemas.openxmlformats.org/officeDocument/2006/math">
                      <m:r>
                        <a:rPr kumimoji="1" lang="en-US" altLang="zh-CN" i="1">
                          <a:latin typeface="Cambria Math" panose="02040503050406030204" pitchFamily="18" charset="0"/>
                          <a:ea typeface="Cambria Math" panose="02040503050406030204" pitchFamily="18" charset="0"/>
                        </a:rPr>
                        <m:t>⊕</m:t>
                      </m:r>
                    </m:oMath>
                  </a14:m>
                  <a:r>
                    <a:rPr lang="en-US" altLang="zh-CN" dirty="0"/>
                    <a:t> </a:t>
                  </a:r>
                  <a:endParaRPr lang="zh-CN" altLang="en-US" dirty="0"/>
                </a:p>
              </p:txBody>
            </p:sp>
          </mc:Choice>
          <mc:Fallback xmlns="">
            <p:sp>
              <p:nvSpPr>
                <p:cNvPr id="81" name="文本框 80">
                  <a:extLst>
                    <a:ext uri="{FF2B5EF4-FFF2-40B4-BE49-F238E27FC236}">
                      <a16:creationId xmlns:a16="http://schemas.microsoft.com/office/drawing/2014/main" id="{16B927A6-EBD8-6BAD-7F4E-172C3B768859}"/>
                    </a:ext>
                  </a:extLst>
                </p:cNvPr>
                <p:cNvSpPr txBox="1">
                  <a:spLocks noRot="1" noChangeAspect="1" noMove="1" noResize="1" noEditPoints="1" noAdjustHandles="1" noChangeArrowheads="1" noChangeShapeType="1" noTextEdit="1"/>
                </p:cNvSpPr>
                <p:nvPr/>
              </p:nvSpPr>
              <p:spPr>
                <a:xfrm>
                  <a:off x="8550000" y="4194000"/>
                  <a:ext cx="1080000" cy="1188000"/>
                </a:xfrm>
                <a:prstGeom prst="rect">
                  <a:avLst/>
                </a:prstGeom>
                <a:blipFill>
                  <a:blip r:embed="rId13"/>
                  <a:stretch>
                    <a:fillRect/>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1690570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randombar(horizontal)">
                                      <p:cBhvr>
                                        <p:cTn id="7" dur="5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875087-D4EA-844E-5B6E-7B2DBF0CE3F3}"/>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二极管及其应用</a:t>
            </a:r>
            <a:endParaRPr lang="en-US" altLang="zh-CN" sz="3000" dirty="0"/>
          </a:p>
        </p:txBody>
      </p:sp>
      <p:sp>
        <p:nvSpPr>
          <p:cNvPr id="3" name="文本框 2">
            <a:extLst>
              <a:ext uri="{FF2B5EF4-FFF2-40B4-BE49-F238E27FC236}">
                <a16:creationId xmlns:a16="http://schemas.microsoft.com/office/drawing/2014/main" id="{30DE43DD-9F3C-4054-8F09-1655132E4BC5}"/>
              </a:ext>
            </a:extLst>
          </p:cNvPr>
          <p:cNvSpPr txBox="1"/>
          <p:nvPr/>
        </p:nvSpPr>
        <p:spPr>
          <a:xfrm>
            <a:off x="360000" y="828000"/>
            <a:ext cx="11110281" cy="565604"/>
          </a:xfrm>
          <a:prstGeom prst="rect">
            <a:avLst/>
          </a:prstGeom>
          <a:noFill/>
        </p:spPr>
        <p:txBody>
          <a:bodyPr wrap="square">
            <a:spAutoFit/>
          </a:bodyPr>
          <a:lstStyle/>
          <a:p>
            <a:pPr>
              <a:lnSpc>
                <a:spcPct val="120000"/>
              </a:lnSpc>
              <a:spcAft>
                <a:spcPts val="600"/>
              </a:spcAft>
            </a:pPr>
            <a:r>
              <a:rPr kumimoji="1" lang="zh-CN" altLang="en-US" sz="2800" b="1" dirty="0">
                <a:solidFill>
                  <a:srgbClr val="002060"/>
                </a:solidFill>
                <a:latin typeface="微软雅黑" panose="020B0503020204020204" pitchFamily="34" charset="-122"/>
                <a:ea typeface="微软雅黑" panose="020B0503020204020204" pitchFamily="34" charset="-122"/>
              </a:rPr>
              <a:t>二极管</a:t>
            </a:r>
            <a:r>
              <a:rPr kumimoji="1" lang="zh-CN" altLang="en-US" sz="2800" dirty="0">
                <a:solidFill>
                  <a:srgbClr val="002060"/>
                </a:solidFill>
                <a:latin typeface="微软雅黑" panose="020B0503020204020204" pitchFamily="34" charset="-122"/>
                <a:ea typeface="微软雅黑" panose="020B0503020204020204" pitchFamily="34" charset="-122"/>
              </a:rPr>
              <a:t>（</a:t>
            </a:r>
            <a:r>
              <a:rPr kumimoji="1" lang="en-US" altLang="zh-CN" sz="2800" dirty="0">
                <a:solidFill>
                  <a:srgbClr val="002060"/>
                </a:solidFill>
                <a:latin typeface="微软雅黑" panose="020B0503020204020204" pitchFamily="34" charset="-122"/>
                <a:ea typeface="微软雅黑" panose="020B0503020204020204" pitchFamily="34" charset="-122"/>
              </a:rPr>
              <a:t>Diode</a:t>
            </a:r>
            <a:r>
              <a:rPr kumimoji="1" lang="zh-CN" altLang="en-US" sz="2800" dirty="0">
                <a:solidFill>
                  <a:srgbClr val="002060"/>
                </a:solidFill>
                <a:latin typeface="微软雅黑" panose="020B0503020204020204" pitchFamily="34" charset="-122"/>
                <a:ea typeface="微软雅黑" panose="020B0503020204020204" pitchFamily="34" charset="-122"/>
              </a:rPr>
              <a:t>）：可将二极管看作 </a:t>
            </a:r>
            <a:r>
              <a:rPr kumimoji="1" lang="en-US" altLang="zh-CN" sz="2800" dirty="0">
                <a:solidFill>
                  <a:srgbClr val="002060"/>
                </a:solidFill>
                <a:latin typeface="微软雅黑" panose="020B0503020204020204" pitchFamily="34" charset="-122"/>
                <a:ea typeface="微软雅黑" panose="020B0503020204020204" pitchFamily="34" charset="-122"/>
              </a:rPr>
              <a:t>PN </a:t>
            </a:r>
            <a:r>
              <a:rPr kumimoji="1" lang="zh-CN" altLang="en-US" sz="2800" dirty="0">
                <a:solidFill>
                  <a:srgbClr val="002060"/>
                </a:solidFill>
                <a:latin typeface="微软雅黑" panose="020B0503020204020204" pitchFamily="34" charset="-122"/>
                <a:ea typeface="微软雅黑" panose="020B0503020204020204" pitchFamily="34" charset="-122"/>
              </a:rPr>
              <a:t>结的一个物化器件</a:t>
            </a:r>
            <a:endParaRPr kumimoji="1" lang="en-US" altLang="zh-CN" sz="2800" dirty="0">
              <a:solidFill>
                <a:srgbClr val="002060"/>
              </a:solidFill>
              <a:latin typeface="微软雅黑" panose="020B0503020204020204" pitchFamily="34" charset="-122"/>
              <a:ea typeface="微软雅黑" panose="020B0503020204020204" pitchFamily="34" charset="-122"/>
            </a:endParaRPr>
          </a:p>
        </p:txBody>
      </p:sp>
      <p:grpSp>
        <p:nvGrpSpPr>
          <p:cNvPr id="4" name="组合 3">
            <a:extLst>
              <a:ext uri="{FF2B5EF4-FFF2-40B4-BE49-F238E27FC236}">
                <a16:creationId xmlns:a16="http://schemas.microsoft.com/office/drawing/2014/main" id="{C98811A4-CB88-227D-1312-7FAE80D3FDA6}"/>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9777ACAA-8A8B-8F72-F9E6-DA3382AE0A79}"/>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08D9ECFC-EF1F-4D61-16E7-10DD5F94E876}"/>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B184F7B1-5733-369F-A468-E27C4217BEA6}"/>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99EEC769-34C9-79BA-329B-66BF292DDC23}"/>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12</a:t>
              </a:fld>
              <a:endParaRPr lang="zh-CN" altLang="en-US" sz="3200" dirty="0">
                <a:solidFill>
                  <a:schemeClr val="bg1"/>
                </a:solidFill>
                <a:latin typeface="Candara"/>
                <a:ea typeface="微软雅黑"/>
              </a:endParaRPr>
            </a:p>
          </p:txBody>
        </p:sp>
      </p:grpSp>
      <p:pic>
        <p:nvPicPr>
          <p:cNvPr id="10" name="图片 9">
            <a:extLst>
              <a:ext uri="{FF2B5EF4-FFF2-40B4-BE49-F238E27FC236}">
                <a16:creationId xmlns:a16="http://schemas.microsoft.com/office/drawing/2014/main" id="{4F924740-E108-44F5-4945-EFE754753836}"/>
              </a:ext>
            </a:extLst>
          </p:cNvPr>
          <p:cNvPicPr>
            <a:picLocks noChangeAspect="1"/>
          </p:cNvPicPr>
          <p:nvPr/>
        </p:nvPicPr>
        <p:blipFill>
          <a:blip r:embed="rId2"/>
          <a:stretch>
            <a:fillRect/>
          </a:stretch>
        </p:blipFill>
        <p:spPr>
          <a:xfrm>
            <a:off x="720000" y="2253005"/>
            <a:ext cx="2645736" cy="2917520"/>
          </a:xfrm>
          <a:prstGeom prst="rect">
            <a:avLst/>
          </a:prstGeom>
        </p:spPr>
      </p:pic>
      <p:pic>
        <p:nvPicPr>
          <p:cNvPr id="12" name="图片 11">
            <a:extLst>
              <a:ext uri="{FF2B5EF4-FFF2-40B4-BE49-F238E27FC236}">
                <a16:creationId xmlns:a16="http://schemas.microsoft.com/office/drawing/2014/main" id="{AB09ABF5-FE22-FD79-0681-F4F37FF8E0B1}"/>
              </a:ext>
            </a:extLst>
          </p:cNvPr>
          <p:cNvPicPr>
            <a:picLocks noChangeAspect="1"/>
          </p:cNvPicPr>
          <p:nvPr/>
        </p:nvPicPr>
        <p:blipFill>
          <a:blip r:embed="rId3"/>
          <a:stretch>
            <a:fillRect/>
          </a:stretch>
        </p:blipFill>
        <p:spPr>
          <a:xfrm>
            <a:off x="4140000" y="2558086"/>
            <a:ext cx="3583191" cy="2307358"/>
          </a:xfrm>
          <a:prstGeom prst="rect">
            <a:avLst/>
          </a:prstGeom>
        </p:spPr>
      </p:pic>
      <p:pic>
        <p:nvPicPr>
          <p:cNvPr id="14" name="图片 13">
            <a:extLst>
              <a:ext uri="{FF2B5EF4-FFF2-40B4-BE49-F238E27FC236}">
                <a16:creationId xmlns:a16="http://schemas.microsoft.com/office/drawing/2014/main" id="{BEE3A321-A43E-122D-D6D3-E99C819D8C5F}"/>
              </a:ext>
            </a:extLst>
          </p:cNvPr>
          <p:cNvPicPr>
            <a:picLocks noChangeAspect="1"/>
          </p:cNvPicPr>
          <p:nvPr/>
        </p:nvPicPr>
        <p:blipFill>
          <a:blip r:embed="rId4"/>
          <a:stretch>
            <a:fillRect/>
          </a:stretch>
        </p:blipFill>
        <p:spPr>
          <a:xfrm>
            <a:off x="8856000" y="2721075"/>
            <a:ext cx="2307034" cy="1981381"/>
          </a:xfrm>
          <a:prstGeom prst="rect">
            <a:avLst/>
          </a:prstGeom>
        </p:spPr>
      </p:pic>
    </p:spTree>
    <p:extLst>
      <p:ext uri="{BB962C8B-B14F-4D97-AF65-F5344CB8AC3E}">
        <p14:creationId xmlns:p14="http://schemas.microsoft.com/office/powerpoint/2010/main" val="10010052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E8F08-0647-E805-4BD1-87770B042C9E}"/>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0D7D55A3-E5BF-2B7E-5F0A-A779BAB5DAF8}"/>
              </a:ext>
            </a:extLst>
          </p:cNvPr>
          <p:cNvSpPr txBox="1"/>
          <p:nvPr/>
        </p:nvSpPr>
        <p:spPr>
          <a:xfrm>
            <a:off x="360000" y="828000"/>
            <a:ext cx="11110281" cy="565604"/>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二极管的结构（点接触型和面接触型）和符号</a:t>
            </a:r>
            <a:endParaRPr kumimoji="1" lang="en-US" altLang="zh-CN" sz="2800" dirty="0">
              <a:solidFill>
                <a:srgbClr val="002060"/>
              </a:solidFill>
              <a:latin typeface="微软雅黑" panose="020B0503020204020204" pitchFamily="34" charset="-122"/>
              <a:ea typeface="微软雅黑" panose="020B0503020204020204" pitchFamily="34" charset="-122"/>
            </a:endParaRPr>
          </a:p>
        </p:txBody>
      </p:sp>
      <p:grpSp>
        <p:nvGrpSpPr>
          <p:cNvPr id="4" name="组合 3">
            <a:extLst>
              <a:ext uri="{FF2B5EF4-FFF2-40B4-BE49-F238E27FC236}">
                <a16:creationId xmlns:a16="http://schemas.microsoft.com/office/drawing/2014/main" id="{AC9222BE-63D0-1DF8-9EAB-EF64F1A6C00F}"/>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2DAA2AE9-7088-9273-8F90-4D74E8BFB078}"/>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8123F90C-5F1B-B239-95E3-0034FC736C64}"/>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60BD944A-F265-B165-57FC-05E304F59CA0}"/>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EB10D7F3-27FB-9522-D811-9CB961A2C0F9}"/>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13</a:t>
              </a:fld>
              <a:endParaRPr lang="zh-CN" altLang="en-US" sz="3200" dirty="0">
                <a:solidFill>
                  <a:schemeClr val="bg1"/>
                </a:solidFill>
                <a:latin typeface="Candara"/>
                <a:ea typeface="微软雅黑"/>
              </a:endParaRPr>
            </a:p>
          </p:txBody>
        </p:sp>
      </p:grpSp>
      <p:pic>
        <p:nvPicPr>
          <p:cNvPr id="17" name="Picture 5">
            <a:extLst>
              <a:ext uri="{FF2B5EF4-FFF2-40B4-BE49-F238E27FC236}">
                <a16:creationId xmlns:a16="http://schemas.microsoft.com/office/drawing/2014/main" id="{6A094F14-C94B-D326-CFB4-274FF0DAD0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000" y="1440000"/>
            <a:ext cx="4605877" cy="17886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18" name="Picture 3">
            <a:extLst>
              <a:ext uri="{FF2B5EF4-FFF2-40B4-BE49-F238E27FC236}">
                <a16:creationId xmlns:a16="http://schemas.microsoft.com/office/drawing/2014/main" id="{64A9C542-C981-9D41-E474-3724FCCBF6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8000" y="3600000"/>
            <a:ext cx="3882779" cy="242592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0" name="文本框 19">
            <a:extLst>
              <a:ext uri="{FF2B5EF4-FFF2-40B4-BE49-F238E27FC236}">
                <a16:creationId xmlns:a16="http://schemas.microsoft.com/office/drawing/2014/main" id="{A1BA2CB2-290D-FBF4-EA0E-91DC0C271F1B}"/>
              </a:ext>
            </a:extLst>
          </p:cNvPr>
          <p:cNvSpPr txBox="1"/>
          <p:nvPr/>
        </p:nvSpPr>
        <p:spPr>
          <a:xfrm>
            <a:off x="2016000" y="3059999"/>
            <a:ext cx="1980000" cy="504000"/>
          </a:xfrm>
          <a:prstGeom prst="rect">
            <a:avLst/>
          </a:prstGeom>
          <a:noFill/>
        </p:spPr>
        <p:txBody>
          <a:bodyPr wrap="square">
            <a:spAutoFit/>
          </a:bodyPr>
          <a:lstStyle/>
          <a:p>
            <a:pPr algn="ct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点接触型</a:t>
            </a:r>
            <a:endParaRPr lang="zh-CN" altLang="en-US" sz="2400" dirty="0">
              <a:solidFill>
                <a:schemeClr val="accent5">
                  <a:lumMod val="75000"/>
                </a:schemeClr>
              </a:solidFill>
            </a:endParaRPr>
          </a:p>
        </p:txBody>
      </p:sp>
      <p:sp>
        <p:nvSpPr>
          <p:cNvPr id="22" name="文本框 21">
            <a:extLst>
              <a:ext uri="{FF2B5EF4-FFF2-40B4-BE49-F238E27FC236}">
                <a16:creationId xmlns:a16="http://schemas.microsoft.com/office/drawing/2014/main" id="{C1766176-38DD-7F53-93BB-7C7A3F03A1B9}"/>
              </a:ext>
            </a:extLst>
          </p:cNvPr>
          <p:cNvSpPr txBox="1"/>
          <p:nvPr/>
        </p:nvSpPr>
        <p:spPr>
          <a:xfrm>
            <a:off x="2016000" y="6119999"/>
            <a:ext cx="1980000" cy="504000"/>
          </a:xfrm>
          <a:prstGeom prst="rect">
            <a:avLst/>
          </a:prstGeom>
          <a:noFill/>
        </p:spPr>
        <p:txBody>
          <a:bodyPr wrap="square">
            <a:spAutoFit/>
          </a:bodyPr>
          <a:lstStyle/>
          <a:p>
            <a:pPr algn="ct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面接触型</a:t>
            </a:r>
            <a:endParaRPr lang="zh-CN" altLang="en-US" sz="2400" dirty="0">
              <a:solidFill>
                <a:schemeClr val="accent5">
                  <a:lumMod val="75000"/>
                </a:schemeClr>
              </a:solidFill>
            </a:endParaRPr>
          </a:p>
        </p:txBody>
      </p:sp>
      <p:sp>
        <p:nvSpPr>
          <p:cNvPr id="26" name="Rectangle 8">
            <a:extLst>
              <a:ext uri="{FF2B5EF4-FFF2-40B4-BE49-F238E27FC236}">
                <a16:creationId xmlns:a16="http://schemas.microsoft.com/office/drawing/2014/main" id="{5E21013E-BDD6-3ED3-4119-649B2FC12FAD}"/>
              </a:ext>
            </a:extLst>
          </p:cNvPr>
          <p:cNvSpPr>
            <a:spLocks noChangeArrowheads="1"/>
          </p:cNvSpPr>
          <p:nvPr/>
        </p:nvSpPr>
        <p:spPr bwMode="auto">
          <a:xfrm>
            <a:off x="8172000" y="6048000"/>
            <a:ext cx="1656000" cy="46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zh-CN" altLang="en-US" sz="2400" b="0" dirty="0">
                <a:solidFill>
                  <a:schemeClr val="accent5">
                    <a:lumMod val="75000"/>
                  </a:schemeClr>
                </a:solidFill>
                <a:latin typeface="微软雅黑" panose="020B0503020204020204" pitchFamily="34" charset="-122"/>
                <a:ea typeface="微软雅黑" panose="020B0503020204020204" pitchFamily="34" charset="-122"/>
              </a:rPr>
              <a:t>二极管符号</a:t>
            </a:r>
          </a:p>
        </p:txBody>
      </p:sp>
      <p:grpSp>
        <p:nvGrpSpPr>
          <p:cNvPr id="52" name="组合 51">
            <a:extLst>
              <a:ext uri="{FF2B5EF4-FFF2-40B4-BE49-F238E27FC236}">
                <a16:creationId xmlns:a16="http://schemas.microsoft.com/office/drawing/2014/main" id="{844C61F2-3D46-5B40-319D-6E8D23A6FDE9}"/>
              </a:ext>
            </a:extLst>
          </p:cNvPr>
          <p:cNvGrpSpPr/>
          <p:nvPr/>
        </p:nvGrpSpPr>
        <p:grpSpPr>
          <a:xfrm>
            <a:off x="7920000" y="4896000"/>
            <a:ext cx="2160000" cy="1044000"/>
            <a:chOff x="7538923" y="4702219"/>
            <a:chExt cx="2160000" cy="1044000"/>
          </a:xfrm>
        </p:grpSpPr>
        <p:sp>
          <p:nvSpPr>
            <p:cNvPr id="32" name="等腰三角形 31">
              <a:extLst>
                <a:ext uri="{FF2B5EF4-FFF2-40B4-BE49-F238E27FC236}">
                  <a16:creationId xmlns:a16="http://schemas.microsoft.com/office/drawing/2014/main" id="{25479057-64FD-74EC-A25E-C637AF7A47F3}"/>
                </a:ext>
              </a:extLst>
            </p:cNvPr>
            <p:cNvSpPr/>
            <p:nvPr/>
          </p:nvSpPr>
          <p:spPr>
            <a:xfrm rot="5400000">
              <a:off x="8330923" y="4972219"/>
              <a:ext cx="576000" cy="432000"/>
            </a:xfrm>
            <a:prstGeom prst="triangl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34" name="直接连接符 33">
              <a:extLst>
                <a:ext uri="{FF2B5EF4-FFF2-40B4-BE49-F238E27FC236}">
                  <a16:creationId xmlns:a16="http://schemas.microsoft.com/office/drawing/2014/main" id="{4E7F8FAE-C0A5-0E05-9AD8-C103EA643D17}"/>
                </a:ext>
              </a:extLst>
            </p:cNvPr>
            <p:cNvCxnSpPr>
              <a:cxnSpLocks/>
            </p:cNvCxnSpPr>
            <p:nvPr/>
          </p:nvCxnSpPr>
          <p:spPr>
            <a:xfrm>
              <a:off x="7826923" y="5188219"/>
              <a:ext cx="1626543"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8636E77B-BB09-A140-09D1-0951594390DF}"/>
                </a:ext>
              </a:extLst>
            </p:cNvPr>
            <p:cNvCxnSpPr>
              <a:cxnSpLocks/>
            </p:cNvCxnSpPr>
            <p:nvPr/>
          </p:nvCxnSpPr>
          <p:spPr>
            <a:xfrm>
              <a:off x="8834923" y="4882219"/>
              <a:ext cx="0" cy="64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7" name="Rectangle 8">
              <a:extLst>
                <a:ext uri="{FF2B5EF4-FFF2-40B4-BE49-F238E27FC236}">
                  <a16:creationId xmlns:a16="http://schemas.microsoft.com/office/drawing/2014/main" id="{DBEB3132-56F9-E5E3-95DC-04562DB8806E}"/>
                </a:ext>
              </a:extLst>
            </p:cNvPr>
            <p:cNvSpPr>
              <a:spLocks noChangeArrowheads="1"/>
            </p:cNvSpPr>
            <p:nvPr/>
          </p:nvSpPr>
          <p:spPr bwMode="auto">
            <a:xfrm>
              <a:off x="7754923" y="4702219"/>
              <a:ext cx="432000" cy="46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b="0" dirty="0">
                  <a:latin typeface="微软雅黑" panose="020B0503020204020204" pitchFamily="34" charset="-122"/>
                  <a:ea typeface="微软雅黑" panose="020B0503020204020204" pitchFamily="34" charset="-122"/>
                </a:rPr>
                <a:t>P</a:t>
              </a:r>
              <a:endParaRPr kumimoji="1" lang="zh-CN" altLang="en-US" sz="2400" b="0" dirty="0">
                <a:latin typeface="微软雅黑" panose="020B0503020204020204" pitchFamily="34" charset="-122"/>
                <a:ea typeface="微软雅黑" panose="020B0503020204020204" pitchFamily="34" charset="-122"/>
              </a:endParaRPr>
            </a:p>
          </p:txBody>
        </p:sp>
        <p:sp>
          <p:nvSpPr>
            <p:cNvPr id="48" name="Rectangle 8">
              <a:extLst>
                <a:ext uri="{FF2B5EF4-FFF2-40B4-BE49-F238E27FC236}">
                  <a16:creationId xmlns:a16="http://schemas.microsoft.com/office/drawing/2014/main" id="{0E640582-0E6A-F220-F196-807F8C9BB54D}"/>
                </a:ext>
              </a:extLst>
            </p:cNvPr>
            <p:cNvSpPr>
              <a:spLocks noChangeArrowheads="1"/>
            </p:cNvSpPr>
            <p:nvPr/>
          </p:nvSpPr>
          <p:spPr bwMode="auto">
            <a:xfrm>
              <a:off x="9122923" y="4702219"/>
              <a:ext cx="432000" cy="46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b="0" dirty="0">
                  <a:latin typeface="微软雅黑" panose="020B0503020204020204" pitchFamily="34" charset="-122"/>
                  <a:ea typeface="微软雅黑" panose="020B0503020204020204" pitchFamily="34" charset="-122"/>
                </a:rPr>
                <a:t>N</a:t>
              </a:r>
              <a:endParaRPr kumimoji="1" lang="zh-CN" altLang="en-US" sz="2400" b="0" dirty="0">
                <a:latin typeface="微软雅黑" panose="020B0503020204020204" pitchFamily="34" charset="-122"/>
                <a:ea typeface="微软雅黑" panose="020B0503020204020204" pitchFamily="34" charset="-122"/>
              </a:endParaRPr>
            </a:p>
          </p:txBody>
        </p:sp>
        <p:sp>
          <p:nvSpPr>
            <p:cNvPr id="49" name="Rectangle 8">
              <a:extLst>
                <a:ext uri="{FF2B5EF4-FFF2-40B4-BE49-F238E27FC236}">
                  <a16:creationId xmlns:a16="http://schemas.microsoft.com/office/drawing/2014/main" id="{50080D82-F3FE-7AA6-25BD-BECA08B3EF91}"/>
                </a:ext>
              </a:extLst>
            </p:cNvPr>
            <p:cNvSpPr>
              <a:spLocks noChangeArrowheads="1"/>
            </p:cNvSpPr>
            <p:nvPr/>
          </p:nvSpPr>
          <p:spPr bwMode="auto">
            <a:xfrm>
              <a:off x="7538923" y="5314219"/>
              <a:ext cx="720000" cy="432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sz="2000" b="0" dirty="0">
                  <a:latin typeface="微软雅黑" panose="020B0503020204020204" pitchFamily="34" charset="-122"/>
                  <a:ea typeface="微软雅黑" panose="020B0503020204020204" pitchFamily="34" charset="-122"/>
                </a:rPr>
                <a:t>阳极</a:t>
              </a:r>
            </a:p>
          </p:txBody>
        </p:sp>
        <p:sp>
          <p:nvSpPr>
            <p:cNvPr id="50" name="Rectangle 8">
              <a:extLst>
                <a:ext uri="{FF2B5EF4-FFF2-40B4-BE49-F238E27FC236}">
                  <a16:creationId xmlns:a16="http://schemas.microsoft.com/office/drawing/2014/main" id="{C378F1A7-7796-1038-7DDC-B8604569A64B}"/>
                </a:ext>
              </a:extLst>
            </p:cNvPr>
            <p:cNvSpPr>
              <a:spLocks noChangeArrowheads="1"/>
            </p:cNvSpPr>
            <p:nvPr/>
          </p:nvSpPr>
          <p:spPr bwMode="auto">
            <a:xfrm>
              <a:off x="8978923" y="5314219"/>
              <a:ext cx="720000" cy="432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sz="2000" b="0" dirty="0">
                  <a:latin typeface="微软雅黑" panose="020B0503020204020204" pitchFamily="34" charset="-122"/>
                  <a:ea typeface="微软雅黑" panose="020B0503020204020204" pitchFamily="34" charset="-122"/>
                </a:rPr>
                <a:t>阴极</a:t>
              </a:r>
            </a:p>
          </p:txBody>
        </p:sp>
      </p:grpSp>
      <p:sp>
        <p:nvSpPr>
          <p:cNvPr id="71" name="Rectangle 8">
            <a:extLst>
              <a:ext uri="{FF2B5EF4-FFF2-40B4-BE49-F238E27FC236}">
                <a16:creationId xmlns:a16="http://schemas.microsoft.com/office/drawing/2014/main" id="{5569F1BD-826C-3BD8-EF0D-95FAD77B21B9}"/>
              </a:ext>
            </a:extLst>
          </p:cNvPr>
          <p:cNvSpPr>
            <a:spLocks noChangeArrowheads="1"/>
          </p:cNvSpPr>
          <p:nvPr/>
        </p:nvSpPr>
        <p:spPr bwMode="auto">
          <a:xfrm>
            <a:off x="7704000" y="3852000"/>
            <a:ext cx="2591993" cy="46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sz="2400" b="0" dirty="0">
                <a:solidFill>
                  <a:schemeClr val="accent5">
                    <a:lumMod val="75000"/>
                  </a:schemeClr>
                </a:solidFill>
                <a:latin typeface="微软雅黑" panose="020B0503020204020204" pitchFamily="34" charset="-122"/>
                <a:ea typeface="微软雅黑" panose="020B0503020204020204" pitchFamily="34" charset="-122"/>
              </a:rPr>
              <a:t>平面型二极管</a:t>
            </a:r>
          </a:p>
        </p:txBody>
      </p:sp>
      <p:sp>
        <p:nvSpPr>
          <p:cNvPr id="9" name="标题 1">
            <a:extLst>
              <a:ext uri="{FF2B5EF4-FFF2-40B4-BE49-F238E27FC236}">
                <a16:creationId xmlns:a16="http://schemas.microsoft.com/office/drawing/2014/main" id="{A2E67401-A7FD-2AA8-64C8-CDF8AC78D174}"/>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二极管及其应用</a:t>
            </a:r>
            <a:endParaRPr lang="en-US" altLang="zh-CN" sz="3000" dirty="0"/>
          </a:p>
        </p:txBody>
      </p:sp>
      <p:grpSp>
        <p:nvGrpSpPr>
          <p:cNvPr id="30" name="组合 29">
            <a:extLst>
              <a:ext uri="{FF2B5EF4-FFF2-40B4-BE49-F238E27FC236}">
                <a16:creationId xmlns:a16="http://schemas.microsoft.com/office/drawing/2014/main" id="{CF4F6DFB-4940-47BB-3252-7900452E2B95}"/>
              </a:ext>
            </a:extLst>
          </p:cNvPr>
          <p:cNvGrpSpPr/>
          <p:nvPr/>
        </p:nvGrpSpPr>
        <p:grpSpPr>
          <a:xfrm>
            <a:off x="7704000" y="1440000"/>
            <a:ext cx="2592000" cy="2339999"/>
            <a:chOff x="7704000" y="1440000"/>
            <a:chExt cx="2592000" cy="2339999"/>
          </a:xfrm>
        </p:grpSpPr>
        <p:sp>
          <p:nvSpPr>
            <p:cNvPr id="53" name="矩形 52">
              <a:extLst>
                <a:ext uri="{FF2B5EF4-FFF2-40B4-BE49-F238E27FC236}">
                  <a16:creationId xmlns:a16="http://schemas.microsoft.com/office/drawing/2014/main" id="{DC195C18-E912-406D-D5DB-34594F733303}"/>
                </a:ext>
              </a:extLst>
            </p:cNvPr>
            <p:cNvSpPr/>
            <p:nvPr/>
          </p:nvSpPr>
          <p:spPr>
            <a:xfrm>
              <a:off x="7704000" y="2591999"/>
              <a:ext cx="2592000" cy="1188000"/>
            </a:xfrm>
            <a:prstGeom prst="rect">
              <a:avLst/>
            </a:pr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矩形: 圆顶角 54">
              <a:extLst>
                <a:ext uri="{FF2B5EF4-FFF2-40B4-BE49-F238E27FC236}">
                  <a16:creationId xmlns:a16="http://schemas.microsoft.com/office/drawing/2014/main" id="{AA4C453F-6170-1762-7A51-D2C189C973EC}"/>
                </a:ext>
              </a:extLst>
            </p:cNvPr>
            <p:cNvSpPr/>
            <p:nvPr/>
          </p:nvSpPr>
          <p:spPr>
            <a:xfrm flipV="1">
              <a:off x="8064000" y="2592000"/>
              <a:ext cx="1872000" cy="828000"/>
            </a:xfrm>
            <a:prstGeom prst="round2Same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54" name="矩形: 圆顶角 53">
              <a:extLst>
                <a:ext uri="{FF2B5EF4-FFF2-40B4-BE49-F238E27FC236}">
                  <a16:creationId xmlns:a16="http://schemas.microsoft.com/office/drawing/2014/main" id="{A3919D4A-293F-A506-D15C-CD95D408DE74}"/>
                </a:ext>
              </a:extLst>
            </p:cNvPr>
            <p:cNvSpPr/>
            <p:nvPr/>
          </p:nvSpPr>
          <p:spPr>
            <a:xfrm flipV="1">
              <a:off x="8532000" y="2592000"/>
              <a:ext cx="936000" cy="432000"/>
            </a:xfrm>
            <a:prstGeom prst="round2SameRect">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56" name="矩形 55">
              <a:extLst>
                <a:ext uri="{FF2B5EF4-FFF2-40B4-BE49-F238E27FC236}">
                  <a16:creationId xmlns:a16="http://schemas.microsoft.com/office/drawing/2014/main" id="{9DEF1463-30EB-B8B2-D5B9-3DB757338E79}"/>
                </a:ext>
              </a:extLst>
            </p:cNvPr>
            <p:cNvSpPr/>
            <p:nvPr/>
          </p:nvSpPr>
          <p:spPr>
            <a:xfrm>
              <a:off x="8856000" y="2520000"/>
              <a:ext cx="288000" cy="72514"/>
            </a:xfrm>
            <a:prstGeom prst="rect">
              <a:avLst/>
            </a:prstGeom>
            <a:solidFill>
              <a:schemeClr val="tx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8" name="直接连接符 57">
              <a:extLst>
                <a:ext uri="{FF2B5EF4-FFF2-40B4-BE49-F238E27FC236}">
                  <a16:creationId xmlns:a16="http://schemas.microsoft.com/office/drawing/2014/main" id="{02AB71E5-F91B-E786-9D23-F36D58A84257}"/>
                </a:ext>
              </a:extLst>
            </p:cNvPr>
            <p:cNvCxnSpPr>
              <a:cxnSpLocks/>
              <a:endCxn id="56" idx="0"/>
            </p:cNvCxnSpPr>
            <p:nvPr/>
          </p:nvCxnSpPr>
          <p:spPr>
            <a:xfrm>
              <a:off x="9000000" y="2160000"/>
              <a:ext cx="0" cy="36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3" name="椭圆 62">
              <a:extLst>
                <a:ext uri="{FF2B5EF4-FFF2-40B4-BE49-F238E27FC236}">
                  <a16:creationId xmlns:a16="http://schemas.microsoft.com/office/drawing/2014/main" id="{4A667FA2-514C-7B92-1DA5-4F470A329AB0}"/>
                </a:ext>
              </a:extLst>
            </p:cNvPr>
            <p:cNvSpPr/>
            <p:nvPr/>
          </p:nvSpPr>
          <p:spPr>
            <a:xfrm>
              <a:off x="8928000" y="2088000"/>
              <a:ext cx="144000" cy="144000"/>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65" name="Rectangle 8">
              <a:extLst>
                <a:ext uri="{FF2B5EF4-FFF2-40B4-BE49-F238E27FC236}">
                  <a16:creationId xmlns:a16="http://schemas.microsoft.com/office/drawing/2014/main" id="{9B2C2BBE-AAE4-AFB7-9BFE-CE3E1B85AB5B}"/>
                </a:ext>
              </a:extLst>
            </p:cNvPr>
            <p:cNvSpPr>
              <a:spLocks noChangeArrowheads="1"/>
            </p:cNvSpPr>
            <p:nvPr/>
          </p:nvSpPr>
          <p:spPr bwMode="auto">
            <a:xfrm>
              <a:off x="8820000" y="2592000"/>
              <a:ext cx="360000" cy="360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400" b="0" dirty="0">
                  <a:latin typeface="微软雅黑" panose="020B0503020204020204" pitchFamily="34" charset="-122"/>
                  <a:ea typeface="微软雅黑" panose="020B0503020204020204" pitchFamily="34" charset="-122"/>
                </a:rPr>
                <a:t>P</a:t>
              </a:r>
              <a:endParaRPr kumimoji="1" lang="zh-CN" altLang="en-US" sz="2400" b="0" dirty="0">
                <a:latin typeface="微软雅黑" panose="020B0503020204020204" pitchFamily="34" charset="-122"/>
                <a:ea typeface="微软雅黑" panose="020B0503020204020204" pitchFamily="34" charset="-122"/>
              </a:endParaRPr>
            </a:p>
          </p:txBody>
        </p:sp>
        <p:sp>
          <p:nvSpPr>
            <p:cNvPr id="66" name="Rectangle 8">
              <a:extLst>
                <a:ext uri="{FF2B5EF4-FFF2-40B4-BE49-F238E27FC236}">
                  <a16:creationId xmlns:a16="http://schemas.microsoft.com/office/drawing/2014/main" id="{AB04CCC0-9701-5946-FCFF-69AD43E46299}"/>
                </a:ext>
              </a:extLst>
            </p:cNvPr>
            <p:cNvSpPr>
              <a:spLocks noChangeArrowheads="1"/>
            </p:cNvSpPr>
            <p:nvPr/>
          </p:nvSpPr>
          <p:spPr bwMode="auto">
            <a:xfrm>
              <a:off x="8820000" y="3006000"/>
              <a:ext cx="360000" cy="360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200" b="0" dirty="0">
                  <a:latin typeface="微软雅黑" panose="020B0503020204020204" pitchFamily="34" charset="-122"/>
                  <a:ea typeface="微软雅黑" panose="020B0503020204020204" pitchFamily="34" charset="-122"/>
                </a:rPr>
                <a:t>N</a:t>
              </a:r>
              <a:endParaRPr kumimoji="1" lang="zh-CN" altLang="en-US" sz="2200" b="0" dirty="0">
                <a:latin typeface="微软雅黑" panose="020B0503020204020204" pitchFamily="34" charset="-122"/>
                <a:ea typeface="微软雅黑" panose="020B0503020204020204" pitchFamily="34" charset="-122"/>
              </a:endParaRPr>
            </a:p>
          </p:txBody>
        </p:sp>
        <p:sp>
          <p:nvSpPr>
            <p:cNvPr id="67" name="Rectangle 8">
              <a:extLst>
                <a:ext uri="{FF2B5EF4-FFF2-40B4-BE49-F238E27FC236}">
                  <a16:creationId xmlns:a16="http://schemas.microsoft.com/office/drawing/2014/main" id="{7CA6070B-B68A-3F3D-0B60-F202BFC0304F}"/>
                </a:ext>
              </a:extLst>
            </p:cNvPr>
            <p:cNvSpPr>
              <a:spLocks noChangeArrowheads="1"/>
            </p:cNvSpPr>
            <p:nvPr/>
          </p:nvSpPr>
          <p:spPr bwMode="auto">
            <a:xfrm>
              <a:off x="8100000" y="3419999"/>
              <a:ext cx="1800000" cy="360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b="0" dirty="0">
                  <a:latin typeface="微软雅黑" panose="020B0503020204020204" pitchFamily="34" charset="-122"/>
                  <a:ea typeface="微软雅黑" panose="020B0503020204020204" pitchFamily="34" charset="-122"/>
                </a:rPr>
                <a:t>P </a:t>
              </a:r>
              <a:r>
                <a:rPr kumimoji="1" lang="zh-CN" altLang="en-US" sz="1800" b="0" dirty="0">
                  <a:latin typeface="微软雅黑" panose="020B0503020204020204" pitchFamily="34" charset="-122"/>
                  <a:ea typeface="微软雅黑" panose="020B0503020204020204" pitchFamily="34" charset="-122"/>
                </a:rPr>
                <a:t>型支持衬底</a:t>
              </a:r>
            </a:p>
          </p:txBody>
        </p:sp>
        <p:sp>
          <p:nvSpPr>
            <p:cNvPr id="68" name="Rectangle 8">
              <a:extLst>
                <a:ext uri="{FF2B5EF4-FFF2-40B4-BE49-F238E27FC236}">
                  <a16:creationId xmlns:a16="http://schemas.microsoft.com/office/drawing/2014/main" id="{4AE2D9A5-11E6-5126-A1DA-A9366312E48E}"/>
                </a:ext>
              </a:extLst>
            </p:cNvPr>
            <p:cNvSpPr>
              <a:spLocks noChangeArrowheads="1"/>
            </p:cNvSpPr>
            <p:nvPr/>
          </p:nvSpPr>
          <p:spPr bwMode="auto">
            <a:xfrm>
              <a:off x="8640000" y="1440000"/>
              <a:ext cx="720000"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sz="1800" b="0" dirty="0">
                  <a:latin typeface="微软雅黑" panose="020B0503020204020204" pitchFamily="34" charset="-122"/>
                  <a:ea typeface="微软雅黑" panose="020B0503020204020204" pitchFamily="34" charset="-122"/>
                </a:rPr>
                <a:t>阳极引线</a:t>
              </a:r>
            </a:p>
          </p:txBody>
        </p:sp>
        <p:sp>
          <p:nvSpPr>
            <p:cNvPr id="69" name="Rectangle 8">
              <a:extLst>
                <a:ext uri="{FF2B5EF4-FFF2-40B4-BE49-F238E27FC236}">
                  <a16:creationId xmlns:a16="http://schemas.microsoft.com/office/drawing/2014/main" id="{69B6FF92-4296-EAC5-D19D-E7489AFFE691}"/>
                </a:ext>
              </a:extLst>
            </p:cNvPr>
            <p:cNvSpPr>
              <a:spLocks noChangeArrowheads="1"/>
            </p:cNvSpPr>
            <p:nvPr/>
          </p:nvSpPr>
          <p:spPr bwMode="auto">
            <a:xfrm>
              <a:off x="9342000" y="1440000"/>
              <a:ext cx="720000"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sz="1800" b="0" dirty="0">
                  <a:latin typeface="微软雅黑" panose="020B0503020204020204" pitchFamily="34" charset="-122"/>
                  <a:ea typeface="微软雅黑" panose="020B0503020204020204" pitchFamily="34" charset="-122"/>
                </a:rPr>
                <a:t>阴极引线</a:t>
              </a:r>
            </a:p>
          </p:txBody>
        </p:sp>
        <p:sp>
          <p:nvSpPr>
            <p:cNvPr id="24" name="矩形 23">
              <a:extLst>
                <a:ext uri="{FF2B5EF4-FFF2-40B4-BE49-F238E27FC236}">
                  <a16:creationId xmlns:a16="http://schemas.microsoft.com/office/drawing/2014/main" id="{7B24D473-52B8-F015-0E1B-5C02C213D504}"/>
                </a:ext>
              </a:extLst>
            </p:cNvPr>
            <p:cNvSpPr/>
            <p:nvPr/>
          </p:nvSpPr>
          <p:spPr>
            <a:xfrm>
              <a:off x="9558000" y="2520000"/>
              <a:ext cx="288000" cy="72514"/>
            </a:xfrm>
            <a:prstGeom prst="rect">
              <a:avLst/>
            </a:prstGeom>
            <a:solidFill>
              <a:schemeClr val="tx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a:extLst>
                <a:ext uri="{FF2B5EF4-FFF2-40B4-BE49-F238E27FC236}">
                  <a16:creationId xmlns:a16="http://schemas.microsoft.com/office/drawing/2014/main" id="{B8A8F627-3724-6BD7-A11F-45860D0AE54C}"/>
                </a:ext>
              </a:extLst>
            </p:cNvPr>
            <p:cNvCxnSpPr>
              <a:cxnSpLocks/>
              <a:endCxn id="24" idx="0"/>
            </p:cNvCxnSpPr>
            <p:nvPr/>
          </p:nvCxnSpPr>
          <p:spPr>
            <a:xfrm>
              <a:off x="9702000" y="2160000"/>
              <a:ext cx="0" cy="36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椭圆 26">
              <a:extLst>
                <a:ext uri="{FF2B5EF4-FFF2-40B4-BE49-F238E27FC236}">
                  <a16:creationId xmlns:a16="http://schemas.microsoft.com/office/drawing/2014/main" id="{8B7F1336-8B65-1AB8-19B6-89053EB1942C}"/>
                </a:ext>
              </a:extLst>
            </p:cNvPr>
            <p:cNvSpPr/>
            <p:nvPr/>
          </p:nvSpPr>
          <p:spPr>
            <a:xfrm>
              <a:off x="9630000" y="2088000"/>
              <a:ext cx="144000" cy="144000"/>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spTree>
    <p:extLst>
      <p:ext uri="{BB962C8B-B14F-4D97-AF65-F5344CB8AC3E}">
        <p14:creationId xmlns:p14="http://schemas.microsoft.com/office/powerpoint/2010/main" val="470506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FE1E3-6E35-B351-8C7B-28E089A5472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390DC987-2710-CC21-118E-F1F72FDB7090}"/>
                  </a:ext>
                </a:extLst>
              </p:cNvPr>
              <p:cNvSpPr txBox="1"/>
              <p:nvPr/>
            </p:nvSpPr>
            <p:spPr>
              <a:xfrm>
                <a:off x="360000" y="828000"/>
                <a:ext cx="6701132" cy="5183214"/>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二极管的伏安（</a:t>
                </a:r>
                <a14:m>
                  <m:oMath xmlns:m="http://schemas.openxmlformats.org/officeDocument/2006/math">
                    <m:r>
                      <a:rPr kumimoji="1" lang="en-US" altLang="zh-CN" sz="2800" b="0" i="1">
                        <a:solidFill>
                          <a:srgbClr val="002060"/>
                        </a:solidFill>
                        <a:latin typeface="Cambria Math" panose="02040503050406030204" pitchFamily="18" charset="0"/>
                        <a:ea typeface="微软雅黑" panose="020B0503020204020204" pitchFamily="34" charset="-122"/>
                      </a:rPr>
                      <m:t>𝐼</m:t>
                    </m:r>
                    <m:r>
                      <a:rPr kumimoji="1" lang="en-US" altLang="zh-CN" sz="2800" b="0" i="1">
                        <a:solidFill>
                          <a:srgbClr val="002060"/>
                        </a:solidFill>
                        <a:latin typeface="Cambria Math" panose="02040503050406030204" pitchFamily="18" charset="0"/>
                        <a:ea typeface="微软雅黑" panose="020B0503020204020204" pitchFamily="34" charset="-122"/>
                      </a:rPr>
                      <m:t>−</m:t>
                    </m:r>
                    <m:r>
                      <a:rPr kumimoji="1" lang="en-US" altLang="zh-CN" sz="2800" b="0" i="1" smtClean="0">
                        <a:solidFill>
                          <a:srgbClr val="002060"/>
                        </a:solidFill>
                        <a:latin typeface="Cambria Math" panose="02040503050406030204" pitchFamily="18" charset="0"/>
                        <a:ea typeface="微软雅黑" panose="020B0503020204020204" pitchFamily="34" charset="-122"/>
                      </a:rPr>
                      <m:t>𝑉</m:t>
                    </m:r>
                  </m:oMath>
                </a14:m>
                <a:r>
                  <a:rPr kumimoji="1" lang="zh-CN" altLang="en-US" sz="2800" dirty="0">
                    <a:solidFill>
                      <a:srgbClr val="002060"/>
                    </a:solidFill>
                    <a:latin typeface="微软雅黑" panose="020B0503020204020204" pitchFamily="34" charset="-122"/>
                    <a:ea typeface="微软雅黑" panose="020B0503020204020204" pitchFamily="34" charset="-122"/>
                  </a:rPr>
                  <a:t>）特性</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正向特性（</a:t>
                </a:r>
                <a14:m>
                  <m:oMath xmlns:m="http://schemas.openxmlformats.org/officeDocument/2006/math">
                    <m: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t>𝑣</m:t>
                    </m:r>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&gt;0</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死区：</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𝑣</m:t>
                    </m:r>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&lt;</m:t>
                    </m:r>
                    <m:sSub>
                      <m:sSubPr>
                        <m:ctrlP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th</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kumimoji="1" lang="en-US" altLang="zh-CN" sz="2400" dirty="0">
                    <a:solidFill>
                      <a:schemeClr val="accent5">
                        <a:lumMod val="75000"/>
                      </a:schemeClr>
                    </a:solidFill>
                    <a:ea typeface="微软雅黑" panose="020B0503020204020204" pitchFamily="34" charset="-122"/>
                  </a:rPr>
                  <a:t>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𝑖</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sz="2400" i="1" smtClean="0">
                        <a:solidFill>
                          <a:schemeClr val="accent5">
                            <a:lumMod val="75000"/>
                          </a:schemeClr>
                        </a:solidFill>
                        <a:latin typeface="Cambria Math" panose="02040503050406030204" pitchFamily="18" charset="0"/>
                        <a:ea typeface="Cambria Math" panose="02040503050406030204" pitchFamily="18" charset="0"/>
                      </a:rPr>
                      <m:t>≈</m:t>
                    </m:r>
                    <m:r>
                      <a:rPr kumimoji="1" lang="en-US" altLang="zh-CN" sz="2400" b="0" i="1" smtClean="0">
                        <a:solidFill>
                          <a:schemeClr val="accent5">
                            <a:lumMod val="75000"/>
                          </a:schemeClr>
                        </a:solidFill>
                        <a:latin typeface="Cambria Math" panose="02040503050406030204" pitchFamily="18" charset="0"/>
                        <a:ea typeface="Cambria Math" panose="02040503050406030204" pitchFamily="18" charset="0"/>
                      </a:rPr>
                      <m:t>0</m:t>
                    </m:r>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导通区：</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14:m>
                  <m:oMath xmlns:m="http://schemas.openxmlformats.org/officeDocument/2006/math">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𝑣</m:t>
                    </m:r>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&gt;</m:t>
                    </m:r>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th</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kumimoji="1" lang="en-US" altLang="zh-CN" sz="2400" dirty="0">
                    <a:solidFill>
                      <a:schemeClr val="accent5">
                        <a:lumMod val="75000"/>
                      </a:schemeClr>
                    </a:solidFill>
                    <a:ea typeface="微软雅黑" panose="020B0503020204020204" pitchFamily="34" charset="-122"/>
                  </a:rPr>
                  <a:t>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𝑖</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sz="2400" i="1" smtClean="0">
                        <a:solidFill>
                          <a:schemeClr val="accent5">
                            <a:lumMod val="75000"/>
                          </a:schemeClr>
                        </a:solidFill>
                        <a:latin typeface="Cambria Math" panose="02040503050406030204" pitchFamily="18" charset="0"/>
                        <a:ea typeface="Cambria Math" panose="02040503050406030204" pitchFamily="18" charset="0"/>
                      </a:rPr>
                      <m:t>≠</m:t>
                    </m:r>
                    <m:r>
                      <a:rPr kumimoji="1" lang="en-US" altLang="zh-CN" sz="2400" i="1">
                        <a:solidFill>
                          <a:schemeClr val="accent5">
                            <a:lumMod val="75000"/>
                          </a:schemeClr>
                        </a:solidFill>
                        <a:latin typeface="Cambria Math" panose="02040503050406030204" pitchFamily="18" charset="0"/>
                        <a:ea typeface="Cambria Math" panose="02040503050406030204" pitchFamily="18" charset="0"/>
                      </a:rPr>
                      <m:t>0</m:t>
                    </m:r>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lvl="1">
                  <a:lnSpc>
                    <a:spcPct val="120000"/>
                  </a:lnSpc>
                  <a:spcAft>
                    <a:spcPts val="600"/>
                  </a:spcAft>
                </a:pPr>
                <a:r>
                  <a:rPr kumimoji="1" lang="zh-CN" altLang="en-US" sz="2400" dirty="0">
                    <a:solidFill>
                      <a:srgbClr val="002060"/>
                    </a:solidFill>
                    <a:latin typeface="微软雅黑" panose="020B0503020204020204" pitchFamily="34" charset="-122"/>
                    <a:ea typeface="微软雅黑" panose="020B0503020204020204" pitchFamily="34" charset="-122"/>
                  </a:rPr>
                  <a:t>（</a:t>
                </a:r>
                <a:r>
                  <a:rPr kumimoji="1" lang="en-US" altLang="zh-CN" sz="2400" dirty="0">
                    <a:solidFill>
                      <a:srgbClr val="002060"/>
                    </a:solidFill>
                    <a:ea typeface="微软雅黑" panose="020B0503020204020204" pitchFamily="34" charset="-122"/>
                  </a:rPr>
                  <a:t> </a:t>
                </a:r>
                <a14:m>
                  <m:oMath xmlns:m="http://schemas.openxmlformats.org/officeDocument/2006/math">
                    <m:sSub>
                      <m:sSubPr>
                        <m:ctrlPr>
                          <a:rPr kumimoji="1" lang="en-US" altLang="zh-CN" sz="2400" i="1">
                            <a:solidFill>
                              <a:srgbClr val="002060"/>
                            </a:solidFill>
                            <a:latin typeface="Cambria Math" panose="02040503050406030204" pitchFamily="18" charset="0"/>
                            <a:ea typeface="微软雅黑" panose="020B0503020204020204" pitchFamily="34" charset="-122"/>
                          </a:rPr>
                        </m:ctrlPr>
                      </m:sSubPr>
                      <m:e>
                        <m:r>
                          <a:rPr kumimoji="1" lang="en-US" altLang="zh-CN" sz="2400" i="1">
                            <a:solidFill>
                              <a:srgbClr val="002060"/>
                            </a:solidFill>
                            <a:latin typeface="Cambria Math" panose="02040503050406030204" pitchFamily="18" charset="0"/>
                            <a:ea typeface="微软雅黑" panose="020B0503020204020204" pitchFamily="34" charset="-122"/>
                          </a:rPr>
                          <m:t>𝑉</m:t>
                        </m:r>
                      </m:e>
                      <m:sub>
                        <m:r>
                          <m:rPr>
                            <m:sty m:val="p"/>
                          </m:rPr>
                          <a:rPr kumimoji="1" lang="en-US" altLang="zh-CN" sz="2400" b="0" i="0" smtClean="0">
                            <a:solidFill>
                              <a:srgbClr val="002060"/>
                            </a:solidFill>
                            <a:latin typeface="Cambria Math" panose="02040503050406030204" pitchFamily="18" charset="0"/>
                            <a:ea typeface="微软雅黑" panose="020B0503020204020204" pitchFamily="34" charset="-122"/>
                          </a:rPr>
                          <m:t>th</m:t>
                        </m:r>
                      </m:sub>
                    </m:sSub>
                  </m:oMath>
                </a14:m>
                <a:r>
                  <a:rPr kumimoji="1" lang="zh-CN" altLang="en-US" sz="2400" dirty="0">
                    <a:solidFill>
                      <a:srgbClr val="002060"/>
                    </a:solidFill>
                    <a:latin typeface="微软雅黑" panose="020B0503020204020204" pitchFamily="34" charset="-122"/>
                    <a:ea typeface="微软雅黑" panose="020B0503020204020204" pitchFamily="34" charset="-122"/>
                  </a:rPr>
                  <a:t> 是死区电压</a:t>
                </a:r>
                <a:r>
                  <a:rPr kumimoji="1" lang="en-US" altLang="zh-CN" sz="2400" dirty="0">
                    <a:solidFill>
                      <a:srgbClr val="002060"/>
                    </a:solidFill>
                    <a:latin typeface="微软雅黑" panose="020B0503020204020204" pitchFamily="34" charset="-122"/>
                    <a:ea typeface="微软雅黑" panose="020B0503020204020204" pitchFamily="34" charset="-122"/>
                  </a:rPr>
                  <a:t>/</a:t>
                </a:r>
                <a:r>
                  <a:rPr kumimoji="1" lang="zh-CN" altLang="en-US" sz="2400" dirty="0">
                    <a:solidFill>
                      <a:srgbClr val="002060"/>
                    </a:solidFill>
                    <a:latin typeface="微软雅黑" panose="020B0503020204020204" pitchFamily="34" charset="-122"/>
                    <a:ea typeface="微软雅黑" panose="020B0503020204020204" pitchFamily="34" charset="-122"/>
                  </a:rPr>
                  <a:t>门坎电压，硅二极管的 </a:t>
                </a:r>
                <a14:m>
                  <m:oMath xmlns:m="http://schemas.openxmlformats.org/officeDocument/2006/math">
                    <m:sSub>
                      <m:sSubPr>
                        <m:ctrlPr>
                          <a:rPr kumimoji="1" lang="en-US" altLang="zh-CN" sz="2400" i="1">
                            <a:solidFill>
                              <a:srgbClr val="002060"/>
                            </a:solidFill>
                            <a:latin typeface="Cambria Math" panose="02040503050406030204" pitchFamily="18" charset="0"/>
                            <a:ea typeface="微软雅黑" panose="020B0503020204020204" pitchFamily="34" charset="-122"/>
                          </a:rPr>
                        </m:ctrlPr>
                      </m:sSubPr>
                      <m:e>
                        <m:r>
                          <a:rPr kumimoji="1" lang="en-US" altLang="zh-CN" sz="2400" i="1">
                            <a:solidFill>
                              <a:srgbClr val="002060"/>
                            </a:solidFill>
                            <a:latin typeface="Cambria Math" panose="02040503050406030204" pitchFamily="18" charset="0"/>
                            <a:ea typeface="微软雅黑" panose="020B0503020204020204" pitchFamily="34" charset="-122"/>
                          </a:rPr>
                          <m:t>𝑉</m:t>
                        </m:r>
                      </m:e>
                      <m:sub>
                        <m:r>
                          <m:rPr>
                            <m:sty m:val="p"/>
                          </m:rPr>
                          <a:rPr kumimoji="1" lang="en-US" altLang="zh-CN" sz="2400" b="0" i="0" smtClean="0">
                            <a:solidFill>
                              <a:srgbClr val="002060"/>
                            </a:solidFill>
                            <a:latin typeface="Cambria Math" panose="02040503050406030204" pitchFamily="18" charset="0"/>
                            <a:ea typeface="微软雅黑" panose="020B0503020204020204" pitchFamily="34" charset="-122"/>
                          </a:rPr>
                          <m:t>th</m:t>
                        </m:r>
                      </m:sub>
                    </m:sSub>
                  </m:oMath>
                </a14:m>
                <a:r>
                  <a:rPr kumimoji="1" lang="zh-CN" altLang="en-US" sz="2400" dirty="0">
                    <a:solidFill>
                      <a:srgbClr val="002060"/>
                    </a:solidFill>
                    <a:latin typeface="微软雅黑" panose="020B0503020204020204" pitchFamily="34" charset="-122"/>
                    <a:ea typeface="微软雅黑" panose="020B0503020204020204" pitchFamily="34" charset="-122"/>
                  </a:rPr>
                  <a:t> 约为 </a:t>
                </a:r>
                <a14:m>
                  <m:oMath xmlns:m="http://schemas.openxmlformats.org/officeDocument/2006/math">
                    <m:r>
                      <a:rPr kumimoji="1" lang="en-US" altLang="zh-CN" sz="2400" i="1" dirty="0">
                        <a:solidFill>
                          <a:srgbClr val="002060"/>
                        </a:solidFill>
                        <a:latin typeface="Cambria Math" panose="02040503050406030204" pitchFamily="18" charset="0"/>
                        <a:ea typeface="微软雅黑" panose="020B0503020204020204" pitchFamily="34" charset="-122"/>
                      </a:rPr>
                      <m:t>0</m:t>
                    </m:r>
                    <m:r>
                      <a:rPr kumimoji="1" lang="en-US" altLang="zh-CN" sz="2400" b="0" i="1" dirty="0" smtClean="0">
                        <a:solidFill>
                          <a:srgbClr val="002060"/>
                        </a:solidFill>
                        <a:latin typeface="Cambria Math" panose="02040503050406030204" pitchFamily="18" charset="0"/>
                        <a:ea typeface="微软雅黑" panose="020B0503020204020204" pitchFamily="34" charset="-122"/>
                      </a:rPr>
                      <m:t>.5 </m:t>
                    </m:r>
                    <m:r>
                      <m:rPr>
                        <m:sty m:val="p"/>
                      </m:rPr>
                      <a:rPr kumimoji="1" lang="en-US" altLang="zh-CN" sz="2400" b="0" i="0" dirty="0" smtClean="0">
                        <a:solidFill>
                          <a:srgbClr val="002060"/>
                        </a:solidFill>
                        <a:latin typeface="Cambria Math" panose="02040503050406030204" pitchFamily="18" charset="0"/>
                        <a:ea typeface="微软雅黑" panose="020B0503020204020204" pitchFamily="34" charset="-122"/>
                      </a:rPr>
                      <m:t>V</m:t>
                    </m:r>
                  </m:oMath>
                </a14:m>
                <a:r>
                  <a:rPr kumimoji="1" lang="zh-CN" altLang="en-US" sz="2400" dirty="0">
                    <a:solidFill>
                      <a:srgbClr val="002060"/>
                    </a:solidFill>
                    <a:latin typeface="微软雅黑" panose="020B0503020204020204" pitchFamily="34" charset="-122"/>
                    <a:ea typeface="微软雅黑" panose="020B0503020204020204" pitchFamily="34" charset="-122"/>
                  </a:rPr>
                  <a:t>，锗二极管的 </a:t>
                </a:r>
                <a14:m>
                  <m:oMath xmlns:m="http://schemas.openxmlformats.org/officeDocument/2006/math">
                    <m:sSub>
                      <m:sSubPr>
                        <m:ctrlPr>
                          <a:rPr kumimoji="1" lang="en-US" altLang="zh-CN" sz="2400" i="1">
                            <a:solidFill>
                              <a:srgbClr val="002060"/>
                            </a:solidFill>
                            <a:latin typeface="Cambria Math" panose="02040503050406030204" pitchFamily="18" charset="0"/>
                            <a:ea typeface="微软雅黑" panose="020B0503020204020204" pitchFamily="34" charset="-122"/>
                          </a:rPr>
                        </m:ctrlPr>
                      </m:sSubPr>
                      <m:e>
                        <m:r>
                          <a:rPr kumimoji="1" lang="en-US" altLang="zh-CN" sz="2400" i="1">
                            <a:solidFill>
                              <a:srgbClr val="002060"/>
                            </a:solidFill>
                            <a:latin typeface="Cambria Math" panose="02040503050406030204" pitchFamily="18" charset="0"/>
                            <a:ea typeface="微软雅黑" panose="020B0503020204020204" pitchFamily="34" charset="-122"/>
                          </a:rPr>
                          <m:t>𝑉</m:t>
                        </m:r>
                      </m:e>
                      <m:sub>
                        <m:r>
                          <m:rPr>
                            <m:sty m:val="p"/>
                          </m:rPr>
                          <a:rPr kumimoji="1" lang="en-US" altLang="zh-CN" sz="2400" b="0" i="0" smtClean="0">
                            <a:solidFill>
                              <a:srgbClr val="002060"/>
                            </a:solidFill>
                            <a:latin typeface="Cambria Math" panose="02040503050406030204" pitchFamily="18" charset="0"/>
                            <a:ea typeface="微软雅黑" panose="020B0503020204020204" pitchFamily="34" charset="-122"/>
                          </a:rPr>
                          <m:t>th</m:t>
                        </m:r>
                      </m:sub>
                    </m:sSub>
                  </m:oMath>
                </a14:m>
                <a:r>
                  <a:rPr kumimoji="1" lang="zh-CN" altLang="en-US" sz="2400" dirty="0">
                    <a:solidFill>
                      <a:srgbClr val="002060"/>
                    </a:solidFill>
                    <a:latin typeface="微软雅黑" panose="020B0503020204020204" pitchFamily="34" charset="-122"/>
                    <a:ea typeface="微软雅黑" panose="020B0503020204020204" pitchFamily="34" charset="-122"/>
                  </a:rPr>
                  <a:t> 约为 </a:t>
                </a:r>
                <a14:m>
                  <m:oMath xmlns:m="http://schemas.openxmlformats.org/officeDocument/2006/math">
                    <m:r>
                      <a:rPr kumimoji="1" lang="en-US" altLang="zh-CN" sz="2400" i="1" dirty="0">
                        <a:solidFill>
                          <a:srgbClr val="002060"/>
                        </a:solidFill>
                        <a:latin typeface="Cambria Math" panose="02040503050406030204" pitchFamily="18" charset="0"/>
                        <a:ea typeface="微软雅黑" panose="020B0503020204020204" pitchFamily="34" charset="-122"/>
                      </a:rPr>
                      <m:t>0.</m:t>
                    </m:r>
                    <m:r>
                      <a:rPr kumimoji="1" lang="en-US" altLang="zh-CN" sz="2400" i="1" dirty="0" smtClean="0">
                        <a:solidFill>
                          <a:srgbClr val="002060"/>
                        </a:solidFill>
                        <a:latin typeface="Cambria Math" panose="02040503050406030204" pitchFamily="18" charset="0"/>
                        <a:ea typeface="微软雅黑" panose="020B0503020204020204" pitchFamily="34" charset="-122"/>
                      </a:rPr>
                      <m:t>1</m:t>
                    </m:r>
                    <m:r>
                      <a:rPr kumimoji="1" lang="en-US" altLang="zh-CN" sz="2400" i="1" dirty="0">
                        <a:solidFill>
                          <a:srgbClr val="002060"/>
                        </a:solidFill>
                        <a:latin typeface="Cambria Math" panose="02040503050406030204" pitchFamily="18" charset="0"/>
                        <a:ea typeface="微软雅黑" panose="020B0503020204020204" pitchFamily="34" charset="-122"/>
                      </a:rPr>
                      <m:t> </m:t>
                    </m:r>
                    <m:r>
                      <m:rPr>
                        <m:sty m:val="p"/>
                      </m:rPr>
                      <a:rPr kumimoji="1" lang="en-US" altLang="zh-CN" sz="2400" dirty="0">
                        <a:solidFill>
                          <a:srgbClr val="002060"/>
                        </a:solidFill>
                        <a:latin typeface="Cambria Math" panose="02040503050406030204" pitchFamily="18" charset="0"/>
                        <a:ea typeface="微软雅黑" panose="020B0503020204020204" pitchFamily="34" charset="-122"/>
                      </a:rPr>
                      <m:t>V</m:t>
                    </m:r>
                    <m:r>
                      <a:rPr kumimoji="1" lang="en-US" altLang="zh-CN" sz="2400" i="1" dirty="0">
                        <a:solidFill>
                          <a:srgbClr val="002060"/>
                        </a:solidFill>
                        <a:latin typeface="Cambria Math" panose="02040503050406030204" pitchFamily="18" charset="0"/>
                        <a:ea typeface="微软雅黑" panose="020B0503020204020204" pitchFamily="34" charset="-122"/>
                      </a:rPr>
                      <m:t> </m:t>
                    </m:r>
                  </m:oMath>
                </a14:m>
                <a:r>
                  <a:rPr kumimoji="1" lang="zh-CN" altLang="en-US" sz="2400" dirty="0">
                    <a:solidFill>
                      <a:srgbClr val="002060"/>
                    </a:solidFill>
                    <a:latin typeface="微软雅黑" panose="020B0503020204020204" pitchFamily="34" charset="-122"/>
                    <a:ea typeface="微软雅黑" panose="020B0503020204020204" pitchFamily="34" charset="-122"/>
                  </a:rPr>
                  <a:t>）</a:t>
                </a:r>
                <a:endParaRPr kumimoji="1" lang="en-US" altLang="zh-CN" sz="24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反向特性（</a:t>
                </a:r>
                <a14:m>
                  <m:oMath xmlns:m="http://schemas.openxmlformats.org/officeDocument/2006/math">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𝑣</m:t>
                    </m:r>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&lt;</m:t>
                    </m:r>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0</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截止区：</a:t>
                </a:r>
                <a:r>
                  <a:rPr kumimoji="1" lang="en-US" altLang="zh-CN" sz="2400" dirty="0">
                    <a:solidFill>
                      <a:schemeClr val="accent5">
                        <a:lumMod val="75000"/>
                      </a:schemeClr>
                    </a:solidFill>
                    <a:ea typeface="微软雅黑" panose="020B0503020204020204" pitchFamily="34" charset="-122"/>
                  </a:rPr>
                  <a:t>	</a:t>
                </a:r>
                <a14:m>
                  <m:oMath xmlns:m="http://schemas.openxmlformats.org/officeDocument/2006/math">
                    <m:d>
                      <m:dPr>
                        <m:begChr m:val="|"/>
                        <m:endChr m:val="|"/>
                        <m:ctrlP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ctrlPr>
                      </m:d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𝑣</m:t>
                        </m:r>
                      </m:e>
                    </m:d>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&lt;</m:t>
                    </m:r>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BR</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kumimoji="1" lang="en-US" altLang="zh-CN" sz="2400" dirty="0">
                    <a:solidFill>
                      <a:schemeClr val="accent5">
                        <a:lumMod val="75000"/>
                      </a:schemeClr>
                    </a:solidFill>
                    <a:ea typeface="微软雅黑" panose="020B0503020204020204" pitchFamily="34" charset="-122"/>
                  </a:rPr>
                  <a:t>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𝑖</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sz="2400" i="1">
                        <a:solidFill>
                          <a:schemeClr val="accent5">
                            <a:lumMod val="75000"/>
                          </a:schemeClr>
                        </a:solidFill>
                        <a:latin typeface="Cambria Math" panose="02040503050406030204" pitchFamily="18" charset="0"/>
                        <a:ea typeface="Cambria Math" panose="02040503050406030204" pitchFamily="18" charset="0"/>
                      </a:rPr>
                      <m:t>≈0</m:t>
                    </m:r>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击穿区：</a:t>
                </a:r>
                <a:r>
                  <a:rPr kumimoji="1" lang="en-US" altLang="zh-CN" sz="2400" dirty="0">
                    <a:solidFill>
                      <a:schemeClr val="accent5">
                        <a:lumMod val="75000"/>
                      </a:schemeClr>
                    </a:solidFill>
                    <a:ea typeface="微软雅黑" panose="020B0503020204020204" pitchFamily="34" charset="-122"/>
                  </a:rPr>
                  <a:t>	</a:t>
                </a:r>
                <a14:m>
                  <m:oMath xmlns:m="http://schemas.openxmlformats.org/officeDocument/2006/math">
                    <m:d>
                      <m:dPr>
                        <m:begChr m:val="|"/>
                        <m:endChr m:val="|"/>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d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𝑣</m:t>
                        </m:r>
                      </m:e>
                    </m:d>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&gt;</m:t>
                    </m:r>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i="0">
                            <a:solidFill>
                              <a:schemeClr val="accent5">
                                <a:lumMod val="75000"/>
                              </a:schemeClr>
                            </a:solidFill>
                            <a:latin typeface="Cambria Math" panose="02040503050406030204" pitchFamily="18" charset="0"/>
                            <a:ea typeface="微软雅黑" panose="020B0503020204020204" pitchFamily="34" charset="-122"/>
                          </a:rPr>
                          <m:t>BR</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kumimoji="1" lang="en-US" altLang="zh-CN" sz="2400" dirty="0">
                    <a:solidFill>
                      <a:schemeClr val="accent5">
                        <a:lumMod val="75000"/>
                      </a:schemeClr>
                    </a:solidFill>
                    <a:ea typeface="微软雅黑" panose="020B0503020204020204" pitchFamily="34" charset="-122"/>
                  </a:rPr>
                  <a:t>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𝑖</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sz="2400" i="1">
                        <a:solidFill>
                          <a:schemeClr val="accent5">
                            <a:lumMod val="75000"/>
                          </a:schemeClr>
                        </a:solidFill>
                        <a:latin typeface="Cambria Math" panose="02040503050406030204" pitchFamily="18" charset="0"/>
                        <a:ea typeface="Cambria Math" panose="02040503050406030204" pitchFamily="18" charset="0"/>
                      </a:rPr>
                      <m:t>≠0</m:t>
                    </m:r>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lvl="1">
                  <a:lnSpc>
                    <a:spcPct val="120000"/>
                  </a:lnSpc>
                  <a:spcAft>
                    <a:spcPts val="600"/>
                  </a:spcAft>
                </a:pPr>
                <a:r>
                  <a:rPr kumimoji="1" lang="zh-CN" altLang="en-US" sz="2400" dirty="0">
                    <a:solidFill>
                      <a:srgbClr val="002060"/>
                    </a:solidFill>
                    <a:latin typeface="微软雅黑" panose="020B0503020204020204" pitchFamily="34" charset="-122"/>
                    <a:ea typeface="微软雅黑" panose="020B0503020204020204" pitchFamily="34" charset="-122"/>
                  </a:rPr>
                  <a:t>（</a:t>
                </a:r>
                <a:r>
                  <a:rPr kumimoji="1" lang="en-US" altLang="zh-CN" sz="2400" dirty="0">
                    <a:solidFill>
                      <a:srgbClr val="002060"/>
                    </a:solidFill>
                    <a:ea typeface="微软雅黑" panose="020B0503020204020204" pitchFamily="34" charset="-122"/>
                  </a:rPr>
                  <a:t> </a:t>
                </a:r>
                <a14:m>
                  <m:oMath xmlns:m="http://schemas.openxmlformats.org/officeDocument/2006/math">
                    <m:sSub>
                      <m:sSubPr>
                        <m:ctrlPr>
                          <a:rPr kumimoji="1" lang="en-US" altLang="zh-CN" sz="2400" i="1">
                            <a:solidFill>
                              <a:srgbClr val="002060"/>
                            </a:solidFill>
                            <a:latin typeface="Cambria Math" panose="02040503050406030204" pitchFamily="18" charset="0"/>
                            <a:ea typeface="微软雅黑" panose="020B0503020204020204" pitchFamily="34" charset="-122"/>
                          </a:rPr>
                        </m:ctrlPr>
                      </m:sSubPr>
                      <m:e>
                        <m:r>
                          <a:rPr kumimoji="1" lang="en-US" altLang="zh-CN" sz="2400" i="1">
                            <a:solidFill>
                              <a:srgbClr val="002060"/>
                            </a:solidFill>
                            <a:latin typeface="Cambria Math" panose="02040503050406030204" pitchFamily="18" charset="0"/>
                            <a:ea typeface="微软雅黑" panose="020B0503020204020204" pitchFamily="34" charset="-122"/>
                          </a:rPr>
                          <m:t>𝑉</m:t>
                        </m:r>
                      </m:e>
                      <m:sub>
                        <m:r>
                          <m:rPr>
                            <m:sty m:val="p"/>
                          </m:rPr>
                          <a:rPr kumimoji="1" lang="en-US" altLang="zh-CN" sz="2400" b="0" i="0" smtClean="0">
                            <a:solidFill>
                              <a:srgbClr val="002060"/>
                            </a:solidFill>
                            <a:latin typeface="Cambria Math" panose="02040503050406030204" pitchFamily="18" charset="0"/>
                            <a:ea typeface="微软雅黑" panose="020B0503020204020204" pitchFamily="34" charset="-122"/>
                          </a:rPr>
                          <m:t>BR</m:t>
                        </m:r>
                      </m:sub>
                    </m:sSub>
                  </m:oMath>
                </a14:m>
                <a:r>
                  <a:rPr kumimoji="1" lang="zh-CN" altLang="en-US" sz="2400" dirty="0">
                    <a:solidFill>
                      <a:srgbClr val="002060"/>
                    </a:solidFill>
                    <a:latin typeface="微软雅黑" panose="020B0503020204020204" pitchFamily="34" charset="-122"/>
                    <a:ea typeface="微软雅黑" panose="020B0503020204020204" pitchFamily="34" charset="-122"/>
                  </a:rPr>
                  <a:t> 是击穿电压 ）</a:t>
                </a:r>
                <a:endParaRPr kumimoji="1" lang="en-US" altLang="zh-CN" sz="2400" dirty="0">
                  <a:solidFill>
                    <a:srgbClr val="002060"/>
                  </a:solidFill>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390DC987-2710-CC21-118E-F1F72FDB7090}"/>
                  </a:ext>
                </a:extLst>
              </p:cNvPr>
              <p:cNvSpPr txBox="1">
                <a:spLocks noRot="1" noChangeAspect="1" noMove="1" noResize="1" noEditPoints="1" noAdjustHandles="1" noChangeArrowheads="1" noChangeShapeType="1" noTextEdit="1"/>
              </p:cNvSpPr>
              <p:nvPr/>
            </p:nvSpPr>
            <p:spPr>
              <a:xfrm>
                <a:off x="360000" y="828000"/>
                <a:ext cx="6701132" cy="5183214"/>
              </a:xfrm>
              <a:prstGeom prst="rect">
                <a:avLst/>
              </a:prstGeom>
              <a:blipFill>
                <a:blip r:embed="rId3"/>
                <a:stretch>
                  <a:fillRect l="-1638" t="-471" b="-1647"/>
                </a:stretch>
              </a:blipFill>
            </p:spPr>
            <p:txBody>
              <a:bodyPr/>
              <a:lstStyle/>
              <a:p>
                <a:r>
                  <a:rPr lang="zh-CN" altLang="en-US">
                    <a:noFill/>
                  </a:rPr>
                  <a:t> </a:t>
                </a:r>
              </a:p>
            </p:txBody>
          </p:sp>
        </mc:Fallback>
      </mc:AlternateContent>
      <p:grpSp>
        <p:nvGrpSpPr>
          <p:cNvPr id="4" name="组合 3">
            <a:extLst>
              <a:ext uri="{FF2B5EF4-FFF2-40B4-BE49-F238E27FC236}">
                <a16:creationId xmlns:a16="http://schemas.microsoft.com/office/drawing/2014/main" id="{197611CA-9839-A305-341F-55AB27AF3A03}"/>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F7A84AF0-9169-56EF-7285-DE0E8251F22C}"/>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0E41BDF6-48A9-9030-BF51-78C3192DAC49}"/>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D5D10743-F770-B0CD-C362-358E1359C9DD}"/>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480A7FF8-0C45-633C-BC56-1C9FAE63BD9F}"/>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14</a:t>
              </a:fld>
              <a:endParaRPr lang="zh-CN" altLang="en-US" sz="3200" dirty="0">
                <a:solidFill>
                  <a:schemeClr val="bg1"/>
                </a:solidFill>
                <a:latin typeface="Candara"/>
                <a:ea typeface="微软雅黑"/>
              </a:endParaRPr>
            </a:p>
          </p:txBody>
        </p:sp>
      </p:grpSp>
      <p:sp>
        <p:nvSpPr>
          <p:cNvPr id="111" name="文本框 110">
            <a:extLst>
              <a:ext uri="{FF2B5EF4-FFF2-40B4-BE49-F238E27FC236}">
                <a16:creationId xmlns:a16="http://schemas.microsoft.com/office/drawing/2014/main" id="{3244A6D4-E93B-4ABA-DAC7-E1F232EA16E4}"/>
              </a:ext>
            </a:extLst>
          </p:cNvPr>
          <p:cNvSpPr txBox="1"/>
          <p:nvPr/>
        </p:nvSpPr>
        <p:spPr>
          <a:xfrm>
            <a:off x="8172000" y="6156000"/>
            <a:ext cx="2520000" cy="504000"/>
          </a:xfrm>
          <a:prstGeom prst="rect">
            <a:avLst/>
          </a:prstGeom>
          <a:noFill/>
        </p:spPr>
        <p:txBody>
          <a:bodyPr wrap="square">
            <a:spAutoFit/>
          </a:bodyPr>
          <a:lstStyle/>
          <a:p>
            <a:pPr algn="ct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二极管伏安曲线</a:t>
            </a:r>
            <a:endParaRPr lang="zh-CN" altLang="en-US" sz="2400" dirty="0">
              <a:solidFill>
                <a:schemeClr val="accent5">
                  <a:lumMod val="75000"/>
                </a:schemeClr>
              </a:solidFill>
            </a:endParaRPr>
          </a:p>
        </p:txBody>
      </p:sp>
      <p:grpSp>
        <p:nvGrpSpPr>
          <p:cNvPr id="49" name="组合 48">
            <a:extLst>
              <a:ext uri="{FF2B5EF4-FFF2-40B4-BE49-F238E27FC236}">
                <a16:creationId xmlns:a16="http://schemas.microsoft.com/office/drawing/2014/main" id="{222CE942-4B19-1B7D-7001-07607A4E45D5}"/>
              </a:ext>
            </a:extLst>
          </p:cNvPr>
          <p:cNvGrpSpPr/>
          <p:nvPr/>
        </p:nvGrpSpPr>
        <p:grpSpPr>
          <a:xfrm>
            <a:off x="8999999" y="576000"/>
            <a:ext cx="1656001" cy="1152000"/>
            <a:chOff x="8782253" y="699638"/>
            <a:chExt cx="1656001" cy="1152000"/>
          </a:xfrm>
        </p:grpSpPr>
        <mc:AlternateContent xmlns:mc="http://schemas.openxmlformats.org/markup-compatibility/2006" xmlns:a14="http://schemas.microsoft.com/office/drawing/2010/main">
          <mc:Choice Requires="a14">
            <p:sp>
              <p:nvSpPr>
                <p:cNvPr id="57" name="Rectangle 8">
                  <a:extLst>
                    <a:ext uri="{FF2B5EF4-FFF2-40B4-BE49-F238E27FC236}">
                      <a16:creationId xmlns:a16="http://schemas.microsoft.com/office/drawing/2014/main" id="{7D1A18F0-4FDD-AC28-809F-EB70838AE6D2}"/>
                    </a:ext>
                  </a:extLst>
                </p:cNvPr>
                <p:cNvSpPr>
                  <a:spLocks noChangeArrowheads="1"/>
                </p:cNvSpPr>
                <p:nvPr/>
              </p:nvSpPr>
              <p:spPr bwMode="auto">
                <a:xfrm>
                  <a:off x="8962254" y="699638"/>
                  <a:ext cx="360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𝑖</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57" name="Rectangle 8">
                  <a:extLst>
                    <a:ext uri="{FF2B5EF4-FFF2-40B4-BE49-F238E27FC236}">
                      <a16:creationId xmlns:a16="http://schemas.microsoft.com/office/drawing/2014/main" id="{7D1A18F0-4FDD-AC28-809F-EB70838AE6D2}"/>
                    </a:ext>
                  </a:extLst>
                </p:cNvPr>
                <p:cNvSpPr>
                  <a:spLocks noRot="1" noChangeAspect="1" noMove="1" noResize="1" noEditPoints="1" noAdjustHandles="1" noChangeArrowheads="1" noChangeShapeType="1" noTextEdit="1"/>
                </p:cNvSpPr>
                <p:nvPr/>
              </p:nvSpPr>
              <p:spPr bwMode="auto">
                <a:xfrm>
                  <a:off x="8962254" y="699638"/>
                  <a:ext cx="360000" cy="432000"/>
                </a:xfrm>
                <a:prstGeom prst="rect">
                  <a:avLst/>
                </a:prstGeom>
                <a:blipFill>
                  <a:blip r:embed="rId4"/>
                  <a:stretch>
                    <a:fillRect l="-16949"/>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50" name="等腰三角形 49">
              <a:extLst>
                <a:ext uri="{FF2B5EF4-FFF2-40B4-BE49-F238E27FC236}">
                  <a16:creationId xmlns:a16="http://schemas.microsoft.com/office/drawing/2014/main" id="{3834B09A-29F6-FB3A-BD50-5DEEF469D837}"/>
                </a:ext>
              </a:extLst>
            </p:cNvPr>
            <p:cNvSpPr/>
            <p:nvPr/>
          </p:nvSpPr>
          <p:spPr>
            <a:xfrm rot="5400000">
              <a:off x="9358254" y="1023638"/>
              <a:ext cx="504000" cy="360000"/>
            </a:xfrm>
            <a:prstGeom prst="triangl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cxnSp>
          <p:nvCxnSpPr>
            <p:cNvPr id="51" name="直接连接符 50">
              <a:extLst>
                <a:ext uri="{FF2B5EF4-FFF2-40B4-BE49-F238E27FC236}">
                  <a16:creationId xmlns:a16="http://schemas.microsoft.com/office/drawing/2014/main" id="{FB2EAAFC-ABC5-10F2-FAD2-9AE2F5BFC316}"/>
                </a:ext>
              </a:extLst>
            </p:cNvPr>
            <p:cNvCxnSpPr>
              <a:cxnSpLocks/>
            </p:cNvCxnSpPr>
            <p:nvPr/>
          </p:nvCxnSpPr>
          <p:spPr>
            <a:xfrm>
              <a:off x="8854254" y="1203638"/>
              <a:ext cx="144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C5C56570-0070-A05E-FC84-30AD19584232}"/>
                </a:ext>
              </a:extLst>
            </p:cNvPr>
            <p:cNvCxnSpPr>
              <a:cxnSpLocks/>
            </p:cNvCxnSpPr>
            <p:nvPr/>
          </p:nvCxnSpPr>
          <p:spPr>
            <a:xfrm>
              <a:off x="9790254" y="933638"/>
              <a:ext cx="0" cy="54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Rectangle 8">
                  <a:extLst>
                    <a:ext uri="{FF2B5EF4-FFF2-40B4-BE49-F238E27FC236}">
                      <a16:creationId xmlns:a16="http://schemas.microsoft.com/office/drawing/2014/main" id="{1FAA1F17-9C6C-0BF0-3200-E7E05602B66C}"/>
                    </a:ext>
                  </a:extLst>
                </p:cNvPr>
                <p:cNvSpPr>
                  <a:spLocks noChangeArrowheads="1"/>
                </p:cNvSpPr>
                <p:nvPr/>
              </p:nvSpPr>
              <p:spPr bwMode="auto">
                <a:xfrm>
                  <a:off x="8782254" y="1419638"/>
                  <a:ext cx="1656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 xmlns:m="http://schemas.openxmlformats.org/officeDocument/2006/math">
                      <m:r>
                        <a:rPr kumimoji="1" lang="pt-BR"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14:m>
                    <m:oMath xmlns:m="http://schemas.openxmlformats.org/officeDocument/2006/math">
                      <m:sSub>
                        <m:sSubPr>
                          <m:ctrlPr>
                            <a:rPr kumimoji="1" lang="en-US" altLang="zh-CN" sz="2000" b="0" i="1">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𝑣</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a14:m>
                  <a:r>
                    <a:rPr kumimoji="1" lang="zh-CN" altLang="en-US" sz="2000" b="0" dirty="0">
                      <a:latin typeface="微软雅黑" panose="020B0503020204020204" pitchFamily="34" charset="-122"/>
                      <a:ea typeface="微软雅黑" panose="020B0503020204020204" pitchFamily="34" charset="-122"/>
                    </a:rPr>
                    <a:t>    </a:t>
                  </a:r>
                  <a14:m>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p>
              </p:txBody>
            </p:sp>
          </mc:Choice>
          <mc:Fallback xmlns="">
            <p:sp>
              <p:nvSpPr>
                <p:cNvPr id="53" name="Rectangle 8">
                  <a:extLst>
                    <a:ext uri="{FF2B5EF4-FFF2-40B4-BE49-F238E27FC236}">
                      <a16:creationId xmlns:a16="http://schemas.microsoft.com/office/drawing/2014/main" id="{1FAA1F17-9C6C-0BF0-3200-E7E05602B66C}"/>
                    </a:ext>
                  </a:extLst>
                </p:cNvPr>
                <p:cNvSpPr>
                  <a:spLocks noRot="1" noChangeAspect="1" noMove="1" noResize="1" noEditPoints="1" noAdjustHandles="1" noChangeArrowheads="1" noChangeShapeType="1" noTextEdit="1"/>
                </p:cNvSpPr>
                <p:nvPr/>
              </p:nvSpPr>
              <p:spPr bwMode="auto">
                <a:xfrm>
                  <a:off x="8782254" y="1419638"/>
                  <a:ext cx="1656000" cy="432000"/>
                </a:xfrm>
                <a:prstGeom prst="rect">
                  <a:avLst/>
                </a:prstGeom>
                <a:blipFill>
                  <a:blip r:embed="rId5"/>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54" name="椭圆 53">
              <a:extLst>
                <a:ext uri="{FF2B5EF4-FFF2-40B4-BE49-F238E27FC236}">
                  <a16:creationId xmlns:a16="http://schemas.microsoft.com/office/drawing/2014/main" id="{38F8387F-B455-84E6-D9E1-6299E3C8A3CA}"/>
                </a:ext>
              </a:extLst>
            </p:cNvPr>
            <p:cNvSpPr/>
            <p:nvPr/>
          </p:nvSpPr>
          <p:spPr>
            <a:xfrm>
              <a:off x="10222254" y="1131638"/>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55" name="椭圆 54">
              <a:extLst>
                <a:ext uri="{FF2B5EF4-FFF2-40B4-BE49-F238E27FC236}">
                  <a16:creationId xmlns:a16="http://schemas.microsoft.com/office/drawing/2014/main" id="{0E995EA5-9275-D9AC-D15C-6E7DF4AE83F6}"/>
                </a:ext>
              </a:extLst>
            </p:cNvPr>
            <p:cNvSpPr/>
            <p:nvPr/>
          </p:nvSpPr>
          <p:spPr>
            <a:xfrm>
              <a:off x="8782253" y="1131638"/>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56" name="直接箭头连接符 55">
              <a:extLst>
                <a:ext uri="{FF2B5EF4-FFF2-40B4-BE49-F238E27FC236}">
                  <a16:creationId xmlns:a16="http://schemas.microsoft.com/office/drawing/2014/main" id="{5C13EA2A-641C-F194-68E5-60F000D294DE}"/>
                </a:ext>
              </a:extLst>
            </p:cNvPr>
            <p:cNvCxnSpPr>
              <a:cxnSpLocks/>
            </p:cNvCxnSpPr>
            <p:nvPr/>
          </p:nvCxnSpPr>
          <p:spPr>
            <a:xfrm>
              <a:off x="8962254" y="1095638"/>
              <a:ext cx="396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71" name="组合 70">
            <a:extLst>
              <a:ext uri="{FF2B5EF4-FFF2-40B4-BE49-F238E27FC236}">
                <a16:creationId xmlns:a16="http://schemas.microsoft.com/office/drawing/2014/main" id="{7A4B0865-307D-EE2F-48C7-B46D02216E56}"/>
              </a:ext>
            </a:extLst>
          </p:cNvPr>
          <p:cNvGrpSpPr/>
          <p:nvPr/>
        </p:nvGrpSpPr>
        <p:grpSpPr>
          <a:xfrm>
            <a:off x="7200000" y="2160000"/>
            <a:ext cx="4499999" cy="3816000"/>
            <a:chOff x="7356809" y="2154206"/>
            <a:chExt cx="4499999" cy="3816000"/>
          </a:xfrm>
        </p:grpSpPr>
        <p:sp>
          <p:nvSpPr>
            <p:cNvPr id="90" name="Line 6">
              <a:extLst>
                <a:ext uri="{FF2B5EF4-FFF2-40B4-BE49-F238E27FC236}">
                  <a16:creationId xmlns:a16="http://schemas.microsoft.com/office/drawing/2014/main" id="{595A0C1B-72BF-3E55-800E-2970EF2E231C}"/>
                </a:ext>
              </a:extLst>
            </p:cNvPr>
            <p:cNvSpPr>
              <a:spLocks noChangeShapeType="1"/>
            </p:cNvSpPr>
            <p:nvPr/>
          </p:nvSpPr>
          <p:spPr bwMode="auto">
            <a:xfrm>
              <a:off x="9588809" y="2370206"/>
              <a:ext cx="0" cy="3600000"/>
            </a:xfrm>
            <a:prstGeom prst="line">
              <a:avLst/>
            </a:prstGeom>
            <a:noFill/>
            <a:ln w="25400">
              <a:solidFill>
                <a:schemeClr val="tx1"/>
              </a:solidFill>
              <a:round/>
              <a:headEnd type="triangle" w="med" len="lg"/>
              <a:tailEnd type="none" w="sm" len="sm"/>
            </a:ln>
            <a:extLst>
              <a:ext uri="{909E8E84-426E-40dd-AFC4-6F175D3DCCD1}">
                <a14:hiddenFill xmlns="" xmlns:a14="http://schemas.microsoft.com/office/drawing/2010/main">
                  <a:noFill/>
                </a14:hiddenFill>
              </a:ext>
            </a:extLst>
          </p:spPr>
          <p:txBody>
            <a:bodyPr lIns="90000" tIns="46800" rIns="90000" bIns="46800" anchor="ctr">
              <a:spAutoFit/>
            </a:bodyPr>
            <a:lstStyle/>
            <a:p>
              <a:endParaRPr lang="zh-CN" altLang="en-US"/>
            </a:p>
          </p:txBody>
        </p:sp>
        <p:sp>
          <p:nvSpPr>
            <p:cNvPr id="91" name="Line 7">
              <a:extLst>
                <a:ext uri="{FF2B5EF4-FFF2-40B4-BE49-F238E27FC236}">
                  <a16:creationId xmlns:a16="http://schemas.microsoft.com/office/drawing/2014/main" id="{50BAC024-99E7-73DC-FE32-94ADE989AEA8}"/>
                </a:ext>
              </a:extLst>
            </p:cNvPr>
            <p:cNvSpPr>
              <a:spLocks noChangeShapeType="1"/>
            </p:cNvSpPr>
            <p:nvPr/>
          </p:nvSpPr>
          <p:spPr bwMode="auto">
            <a:xfrm flipH="1">
              <a:off x="7788809" y="4476206"/>
              <a:ext cx="3492000" cy="0"/>
            </a:xfrm>
            <a:prstGeom prst="line">
              <a:avLst/>
            </a:prstGeom>
            <a:noFill/>
            <a:ln w="25400">
              <a:solidFill>
                <a:schemeClr val="tx1"/>
              </a:solidFill>
              <a:round/>
              <a:headEnd type="triangle" w="med" len="lg"/>
              <a:tailEnd type="none" w="sm" len="sm"/>
            </a:ln>
            <a:extLst>
              <a:ext uri="{909E8E84-426E-40dd-AFC4-6F175D3DCCD1}">
                <a14:hiddenFill xmlns="" xmlns:a14="http://schemas.microsoft.com/office/drawing/2010/main">
                  <a:noFill/>
                </a14:hiddenFill>
              </a:ext>
            </a:extLst>
          </p:spPr>
          <p:txBody>
            <a:bodyPr wrap="square" lIns="90000" tIns="46800" rIns="90000" bIns="46800" anchor="ctr">
              <a:spAutoFit/>
            </a:bodyPr>
            <a:lstStyle/>
            <a:p>
              <a:endParaRPr lang="zh-CN" altLang="en-US"/>
            </a:p>
          </p:txBody>
        </p:sp>
        <mc:AlternateContent xmlns:mc="http://schemas.openxmlformats.org/markup-compatibility/2006" xmlns:a14="http://schemas.microsoft.com/office/drawing/2010/main">
          <mc:Choice Requires="a14">
            <p:sp>
              <p:nvSpPr>
                <p:cNvPr id="92" name="Text Box 8">
                  <a:extLst>
                    <a:ext uri="{FF2B5EF4-FFF2-40B4-BE49-F238E27FC236}">
                      <a16:creationId xmlns:a16="http://schemas.microsoft.com/office/drawing/2014/main" id="{6A82C561-E6A8-C511-51DF-A6EF0F33A137}"/>
                    </a:ext>
                  </a:extLst>
                </p:cNvPr>
                <p:cNvSpPr txBox="1">
                  <a:spLocks noChangeArrowheads="1"/>
                </p:cNvSpPr>
                <p:nvPr/>
              </p:nvSpPr>
              <p:spPr bwMode="auto">
                <a:xfrm>
                  <a:off x="9552809" y="2154206"/>
                  <a:ext cx="576000" cy="504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ea typeface="微软雅黑" panose="020B0503020204020204" pitchFamily="34" charset="-122"/>
                              </a:rPr>
                            </m:ctrlPr>
                          </m:sSubPr>
                          <m:e>
                            <m:r>
                              <a:rPr kumimoji="1" lang="en-US" altLang="zh-CN" sz="2400" b="0" i="1">
                                <a:latin typeface="Cambria Math" panose="02040503050406030204" pitchFamily="18" charset="0"/>
                                <a:ea typeface="微软雅黑" panose="020B0503020204020204" pitchFamily="34" charset="-122"/>
                              </a:rPr>
                              <m:t>𝑖</m:t>
                            </m:r>
                          </m:e>
                          <m:sub>
                            <m:r>
                              <m:rPr>
                                <m:sty m:val="p"/>
                              </m:rPr>
                              <a:rPr kumimoji="1" lang="en-US" altLang="zh-CN" sz="2400" b="0" i="0" smtClean="0">
                                <a:latin typeface="Cambria Math" panose="02040503050406030204" pitchFamily="18" charset="0"/>
                                <a:ea typeface="微软雅黑" panose="020B0503020204020204" pitchFamily="34" charset="-122"/>
                              </a:rPr>
                              <m:t>D</m:t>
                            </m:r>
                          </m:sub>
                        </m:sSub>
                      </m:oMath>
                    </m:oMathPara>
                  </a14:m>
                  <a:endParaRPr kumimoji="1" lang="en-US" altLang="zh-CN" sz="2400" i="1" dirty="0">
                    <a:ea typeface="楷体_GB2312" pitchFamily="49" charset="-122"/>
                  </a:endParaRPr>
                </a:p>
              </p:txBody>
            </p:sp>
          </mc:Choice>
          <mc:Fallback xmlns="">
            <p:sp>
              <p:nvSpPr>
                <p:cNvPr id="92" name="Text Box 8">
                  <a:extLst>
                    <a:ext uri="{FF2B5EF4-FFF2-40B4-BE49-F238E27FC236}">
                      <a16:creationId xmlns:a16="http://schemas.microsoft.com/office/drawing/2014/main" id="{6A82C561-E6A8-C511-51DF-A6EF0F33A137}"/>
                    </a:ext>
                  </a:extLst>
                </p:cNvPr>
                <p:cNvSpPr txBox="1">
                  <a:spLocks noRot="1" noChangeAspect="1" noMove="1" noResize="1" noEditPoints="1" noAdjustHandles="1" noChangeArrowheads="1" noChangeShapeType="1" noTextEdit="1"/>
                </p:cNvSpPr>
                <p:nvPr/>
              </p:nvSpPr>
              <p:spPr bwMode="auto">
                <a:xfrm>
                  <a:off x="9552809" y="2154206"/>
                  <a:ext cx="576000" cy="504000"/>
                </a:xfrm>
                <a:prstGeom prst="rect">
                  <a:avLst/>
                </a:prstGeom>
                <a:blipFill>
                  <a:blip r:embed="rId6"/>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3" name="Text Box 8">
                  <a:extLst>
                    <a:ext uri="{FF2B5EF4-FFF2-40B4-BE49-F238E27FC236}">
                      <a16:creationId xmlns:a16="http://schemas.microsoft.com/office/drawing/2014/main" id="{51CF5406-0D55-96CA-0AFE-9123F8ED8180}"/>
                    </a:ext>
                  </a:extLst>
                </p:cNvPr>
                <p:cNvSpPr txBox="1">
                  <a:spLocks noChangeArrowheads="1"/>
                </p:cNvSpPr>
                <p:nvPr/>
              </p:nvSpPr>
              <p:spPr bwMode="auto">
                <a:xfrm>
                  <a:off x="11244808" y="4170206"/>
                  <a:ext cx="612000" cy="504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ea typeface="微软雅黑" panose="020B0503020204020204" pitchFamily="34" charset="-122"/>
                              </a:rPr>
                            </m:ctrlPr>
                          </m:sSubPr>
                          <m:e>
                            <m:r>
                              <a:rPr kumimoji="1" lang="en-US" altLang="zh-CN" sz="2400" b="0" i="1" smtClean="0">
                                <a:latin typeface="Cambria Math" panose="02040503050406030204" pitchFamily="18" charset="0"/>
                                <a:ea typeface="微软雅黑" panose="020B0503020204020204" pitchFamily="34" charset="-122"/>
                              </a:rPr>
                              <m:t>𝑣</m:t>
                            </m:r>
                          </m:e>
                          <m:sub>
                            <m:r>
                              <m:rPr>
                                <m:sty m:val="p"/>
                              </m:rPr>
                              <a:rPr kumimoji="1" lang="en-US" altLang="zh-CN" sz="2400" b="0" i="0" smtClean="0">
                                <a:latin typeface="Cambria Math" panose="02040503050406030204" pitchFamily="18" charset="0"/>
                                <a:ea typeface="微软雅黑" panose="020B0503020204020204" pitchFamily="34" charset="-122"/>
                              </a:rPr>
                              <m:t>D</m:t>
                            </m:r>
                          </m:sub>
                        </m:sSub>
                      </m:oMath>
                    </m:oMathPara>
                  </a14:m>
                  <a:endParaRPr kumimoji="1" lang="en-US" altLang="zh-CN" sz="2400" i="1" dirty="0">
                    <a:ea typeface="楷体_GB2312" pitchFamily="49" charset="-122"/>
                  </a:endParaRPr>
                </a:p>
              </p:txBody>
            </p:sp>
          </mc:Choice>
          <mc:Fallback xmlns="">
            <p:sp>
              <p:nvSpPr>
                <p:cNvPr id="93" name="Text Box 8">
                  <a:extLst>
                    <a:ext uri="{FF2B5EF4-FFF2-40B4-BE49-F238E27FC236}">
                      <a16:creationId xmlns:a16="http://schemas.microsoft.com/office/drawing/2014/main" id="{51CF5406-0D55-96CA-0AFE-9123F8ED8180}"/>
                    </a:ext>
                  </a:extLst>
                </p:cNvPr>
                <p:cNvSpPr txBox="1">
                  <a:spLocks noRot="1" noChangeAspect="1" noMove="1" noResize="1" noEditPoints="1" noAdjustHandles="1" noChangeArrowheads="1" noChangeShapeType="1" noTextEdit="1"/>
                </p:cNvSpPr>
                <p:nvPr/>
              </p:nvSpPr>
              <p:spPr bwMode="auto">
                <a:xfrm>
                  <a:off x="11244808" y="4170206"/>
                  <a:ext cx="612000" cy="504000"/>
                </a:xfrm>
                <a:prstGeom prst="rect">
                  <a:avLst/>
                </a:prstGeom>
                <a:blipFill>
                  <a:blip r:embed="rId7"/>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p:sp>
          <p:nvSpPr>
            <p:cNvPr id="107" name="任意多边形: 形状 106">
              <a:extLst>
                <a:ext uri="{FF2B5EF4-FFF2-40B4-BE49-F238E27FC236}">
                  <a16:creationId xmlns:a16="http://schemas.microsoft.com/office/drawing/2014/main" id="{9E31C20D-266D-4E6B-D9FA-F16D06044C5E}"/>
                </a:ext>
              </a:extLst>
            </p:cNvPr>
            <p:cNvSpPr/>
            <p:nvPr/>
          </p:nvSpPr>
          <p:spPr>
            <a:xfrm>
              <a:off x="9948809" y="2442206"/>
              <a:ext cx="648000" cy="2034000"/>
            </a:xfrm>
            <a:custGeom>
              <a:avLst/>
              <a:gdLst>
                <a:gd name="connsiteX0" fmla="*/ 0 w 605831"/>
                <a:gd name="connsiteY0" fmla="*/ 1277899 h 1278370"/>
                <a:gd name="connsiteX1" fmla="*/ 428120 w 605831"/>
                <a:gd name="connsiteY1" fmla="*/ 1069493 h 1278370"/>
                <a:gd name="connsiteX2" fmla="*/ 605831 w 605831"/>
                <a:gd name="connsiteY2" fmla="*/ 0 h 1278370"/>
              </a:gdLst>
              <a:ahLst/>
              <a:cxnLst>
                <a:cxn ang="0">
                  <a:pos x="connsiteX0" y="connsiteY0"/>
                </a:cxn>
                <a:cxn ang="0">
                  <a:pos x="connsiteX1" y="connsiteY1"/>
                </a:cxn>
                <a:cxn ang="0">
                  <a:pos x="connsiteX2" y="connsiteY2"/>
                </a:cxn>
              </a:cxnLst>
              <a:rect l="l" t="t" r="r" b="b"/>
              <a:pathLst>
                <a:path w="605831" h="1278370">
                  <a:moveTo>
                    <a:pt x="0" y="1277899"/>
                  </a:moveTo>
                  <a:cubicBezTo>
                    <a:pt x="163574" y="1280187"/>
                    <a:pt x="327148" y="1282476"/>
                    <a:pt x="428120" y="1069493"/>
                  </a:cubicBezTo>
                  <a:cubicBezTo>
                    <a:pt x="529092" y="856510"/>
                    <a:pt x="605831" y="0"/>
                    <a:pt x="605831" y="0"/>
                  </a:cubicBezTo>
                </a:path>
              </a:pathLst>
            </a:cu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8" name="直接连接符 107">
              <a:extLst>
                <a:ext uri="{FF2B5EF4-FFF2-40B4-BE49-F238E27FC236}">
                  <a16:creationId xmlns:a16="http://schemas.microsoft.com/office/drawing/2014/main" id="{CC36E5FB-3508-B1C1-078E-59A08F945A89}"/>
                </a:ext>
              </a:extLst>
            </p:cNvPr>
            <p:cNvCxnSpPr/>
            <p:nvPr/>
          </p:nvCxnSpPr>
          <p:spPr>
            <a:xfrm flipH="1">
              <a:off x="9588809" y="4476206"/>
              <a:ext cx="36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6" name="Text Box 10">
              <a:extLst>
                <a:ext uri="{FF2B5EF4-FFF2-40B4-BE49-F238E27FC236}">
                  <a16:creationId xmlns:a16="http://schemas.microsoft.com/office/drawing/2014/main" id="{DB2BB629-1B02-9821-7075-2DBD4418D6D0}"/>
                </a:ext>
              </a:extLst>
            </p:cNvPr>
            <p:cNvSpPr txBox="1">
              <a:spLocks noChangeArrowheads="1"/>
            </p:cNvSpPr>
            <p:nvPr/>
          </p:nvSpPr>
          <p:spPr bwMode="auto">
            <a:xfrm>
              <a:off x="9624809" y="3378206"/>
              <a:ext cx="433387" cy="648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kumimoji="1" lang="zh-CN" altLang="en-US" sz="2000" b="0" dirty="0">
                  <a:latin typeface="微软雅黑" panose="020B0503020204020204" pitchFamily="34" charset="-122"/>
                  <a:ea typeface="微软雅黑" panose="020B0503020204020204" pitchFamily="34" charset="-122"/>
                </a:rPr>
                <a:t>死</a:t>
              </a:r>
            </a:p>
            <a:p>
              <a:pPr eaLnBrk="1" hangingPunct="1">
                <a:lnSpc>
                  <a:spcPct val="90000"/>
                </a:lnSpc>
                <a:spcAft>
                  <a:spcPct val="0"/>
                </a:spcAft>
                <a:buFontTx/>
                <a:buNone/>
              </a:pPr>
              <a:r>
                <a:rPr kumimoji="1" lang="zh-CN" altLang="en-US" sz="2000" b="0" dirty="0">
                  <a:latin typeface="微软雅黑" panose="020B0503020204020204" pitchFamily="34" charset="-122"/>
                  <a:ea typeface="微软雅黑" panose="020B0503020204020204" pitchFamily="34" charset="-122"/>
                </a:rPr>
                <a:t>区</a:t>
              </a:r>
            </a:p>
          </p:txBody>
        </p:sp>
        <p:sp>
          <p:nvSpPr>
            <p:cNvPr id="98" name="Line 13">
              <a:extLst>
                <a:ext uri="{FF2B5EF4-FFF2-40B4-BE49-F238E27FC236}">
                  <a16:creationId xmlns:a16="http://schemas.microsoft.com/office/drawing/2014/main" id="{D8EF1C26-0288-F40F-DCEC-68F3FDDA5203}"/>
                </a:ext>
              </a:extLst>
            </p:cNvPr>
            <p:cNvSpPr>
              <a:spLocks noChangeShapeType="1"/>
            </p:cNvSpPr>
            <p:nvPr/>
          </p:nvSpPr>
          <p:spPr bwMode="auto">
            <a:xfrm>
              <a:off x="10092809" y="2622206"/>
              <a:ext cx="0" cy="3312000"/>
            </a:xfrm>
            <a:prstGeom prst="line">
              <a:avLst/>
            </a:prstGeom>
            <a:noFill/>
            <a:ln w="19050">
              <a:solidFill>
                <a:srgbClr val="0033CC"/>
              </a:solidFill>
              <a:prstDash val="dash"/>
              <a:round/>
              <a:headEnd type="none" w="sm" len="sm"/>
              <a:tailEnd type="none" w="sm" len="sm"/>
            </a:ln>
            <a:extLst>
              <a:ext uri="{909E8E84-426E-40dd-AFC4-6F175D3DCCD1}">
                <a14:hiddenFill xmlns="" xmlns:a14="http://schemas.microsoft.com/office/drawing/2010/main">
                  <a:noFill/>
                </a14:hiddenFill>
              </a:ext>
            </a:extLst>
          </p:spPr>
          <p:txBody>
            <a:bodyPr lIns="90000" tIns="46800" rIns="90000" bIns="46800" anchor="ctr">
              <a:spAutoFit/>
            </a:bodyPr>
            <a:lstStyle/>
            <a:p>
              <a:endParaRPr lang="zh-CN" altLang="en-US"/>
            </a:p>
          </p:txBody>
        </p:sp>
        <p:sp>
          <p:nvSpPr>
            <p:cNvPr id="99" name="Text Box 14">
              <a:extLst>
                <a:ext uri="{FF2B5EF4-FFF2-40B4-BE49-F238E27FC236}">
                  <a16:creationId xmlns:a16="http://schemas.microsoft.com/office/drawing/2014/main" id="{B184FC1D-A266-4507-9093-56E6A12D9AD8}"/>
                </a:ext>
              </a:extLst>
            </p:cNvPr>
            <p:cNvSpPr txBox="1">
              <a:spLocks noChangeArrowheads="1"/>
            </p:cNvSpPr>
            <p:nvPr/>
          </p:nvSpPr>
          <p:spPr bwMode="auto">
            <a:xfrm>
              <a:off x="8292809" y="3522206"/>
              <a:ext cx="1296000" cy="360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Aft>
                  <a:spcPct val="0"/>
                </a:spcAft>
                <a:buFontTx/>
                <a:buNone/>
              </a:pPr>
              <a:r>
                <a:rPr kumimoji="1" lang="zh-CN" altLang="en-US" sz="2000" b="0" dirty="0">
                  <a:latin typeface="微软雅黑" panose="020B0503020204020204" pitchFamily="34" charset="-122"/>
                  <a:ea typeface="微软雅黑" panose="020B0503020204020204" pitchFamily="34" charset="-122"/>
                </a:rPr>
                <a:t>截止区</a:t>
              </a:r>
              <a:endParaRPr kumimoji="1" lang="en-US" altLang="zh-CN" sz="2000" b="0" dirty="0">
                <a:latin typeface="微软雅黑" panose="020B0503020204020204" pitchFamily="34" charset="-122"/>
                <a:ea typeface="微软雅黑" panose="020B0503020204020204" pitchFamily="34" charset="-122"/>
              </a:endParaRPr>
            </a:p>
          </p:txBody>
        </p:sp>
        <p:sp>
          <p:nvSpPr>
            <p:cNvPr id="100" name="Text Box 15">
              <a:extLst>
                <a:ext uri="{FF2B5EF4-FFF2-40B4-BE49-F238E27FC236}">
                  <a16:creationId xmlns:a16="http://schemas.microsoft.com/office/drawing/2014/main" id="{DAE36CC3-A5BF-CBC5-AB05-EFEB7EEE3D06}"/>
                </a:ext>
              </a:extLst>
            </p:cNvPr>
            <p:cNvSpPr txBox="1">
              <a:spLocks noChangeArrowheads="1"/>
            </p:cNvSpPr>
            <p:nvPr/>
          </p:nvSpPr>
          <p:spPr bwMode="auto">
            <a:xfrm>
              <a:off x="10416809" y="3522206"/>
              <a:ext cx="1189037" cy="360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Aft>
                  <a:spcPct val="0"/>
                </a:spcAft>
                <a:buFontTx/>
                <a:buNone/>
              </a:pPr>
              <a:r>
                <a:rPr kumimoji="1" lang="zh-CN" altLang="en-US" sz="2000" b="0" dirty="0">
                  <a:latin typeface="微软雅黑" panose="020B0503020204020204" pitchFamily="34" charset="-122"/>
                  <a:ea typeface="微软雅黑" panose="020B0503020204020204" pitchFamily="34" charset="-122"/>
                </a:rPr>
                <a:t>导通区</a:t>
              </a:r>
            </a:p>
          </p:txBody>
        </p:sp>
        <p:sp>
          <p:nvSpPr>
            <p:cNvPr id="101" name="Text Box 16">
              <a:extLst>
                <a:ext uri="{FF2B5EF4-FFF2-40B4-BE49-F238E27FC236}">
                  <a16:creationId xmlns:a16="http://schemas.microsoft.com/office/drawing/2014/main" id="{FE173B94-ECBF-9B6D-C3E1-38B888460DAA}"/>
                </a:ext>
              </a:extLst>
            </p:cNvPr>
            <p:cNvSpPr txBox="1">
              <a:spLocks noChangeArrowheads="1"/>
            </p:cNvSpPr>
            <p:nvPr/>
          </p:nvSpPr>
          <p:spPr bwMode="auto">
            <a:xfrm>
              <a:off x="7716809" y="3234206"/>
              <a:ext cx="540000" cy="936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Aft>
                  <a:spcPct val="0"/>
                </a:spcAft>
                <a:buFontTx/>
                <a:buNone/>
              </a:pPr>
              <a:r>
                <a:rPr kumimoji="1" lang="zh-CN" altLang="en-US" sz="2000" b="0" dirty="0">
                  <a:latin typeface="微软雅黑" panose="020B0503020204020204" pitchFamily="34" charset="-122"/>
                  <a:ea typeface="微软雅黑" panose="020B0503020204020204" pitchFamily="34" charset="-122"/>
                </a:rPr>
                <a:t>击穿区</a:t>
              </a:r>
            </a:p>
          </p:txBody>
        </p:sp>
        <p:sp>
          <p:nvSpPr>
            <p:cNvPr id="102" name="AutoShape 18">
              <a:extLst>
                <a:ext uri="{FF2B5EF4-FFF2-40B4-BE49-F238E27FC236}">
                  <a16:creationId xmlns:a16="http://schemas.microsoft.com/office/drawing/2014/main" id="{C66360A9-4D78-1CCD-4865-423D5D9CE996}"/>
                </a:ext>
              </a:extLst>
            </p:cNvPr>
            <p:cNvSpPr>
              <a:spLocks noChangeArrowheads="1"/>
            </p:cNvSpPr>
            <p:nvPr/>
          </p:nvSpPr>
          <p:spPr bwMode="auto">
            <a:xfrm>
              <a:off x="8364572" y="4926206"/>
              <a:ext cx="1080000" cy="540000"/>
            </a:xfrm>
            <a:prstGeom prst="wedgeEllipseCallout">
              <a:avLst>
                <a:gd name="adj1" fmla="val -21503"/>
                <a:gd name="adj2" fmla="val -99457"/>
              </a:avLst>
            </a:prstGeom>
            <a:solidFill>
              <a:srgbClr val="FFFF99"/>
            </a:solidFill>
            <a:ln w="9525">
              <a:solidFill>
                <a:schemeClr val="tx1"/>
              </a:solidFill>
              <a:miter lim="800000"/>
              <a:headEnd/>
              <a:tailEnd/>
            </a:ln>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sz="1600" b="0">
                  <a:latin typeface="微软雅黑" panose="020B0503020204020204" pitchFamily="34" charset="-122"/>
                  <a:ea typeface="微软雅黑" panose="020B0503020204020204" pitchFamily="34" charset="-122"/>
                </a:rPr>
                <a:t>反向特性</a:t>
              </a:r>
            </a:p>
          </p:txBody>
        </p:sp>
        <mc:AlternateContent xmlns:mc="http://schemas.openxmlformats.org/markup-compatibility/2006" xmlns:a14="http://schemas.microsoft.com/office/drawing/2010/main">
          <mc:Choice Requires="a14">
            <p:sp>
              <p:nvSpPr>
                <p:cNvPr id="103" name="Text Box 20">
                  <a:extLst>
                    <a:ext uri="{FF2B5EF4-FFF2-40B4-BE49-F238E27FC236}">
                      <a16:creationId xmlns:a16="http://schemas.microsoft.com/office/drawing/2014/main" id="{D2A9FD2E-8A42-B381-0481-BCC51FAF9583}"/>
                    </a:ext>
                  </a:extLst>
                </p:cNvPr>
                <p:cNvSpPr txBox="1">
                  <a:spLocks noChangeArrowheads="1"/>
                </p:cNvSpPr>
                <p:nvPr/>
              </p:nvSpPr>
              <p:spPr bwMode="auto">
                <a:xfrm>
                  <a:off x="7356809" y="4386206"/>
                  <a:ext cx="936025" cy="468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nSpc>
                      <a:spcPct val="120000"/>
                    </a:lnSpc>
                    <a:spcAft>
                      <a:spcPct val="0"/>
                    </a:spcAft>
                    <a:buNone/>
                  </a:pPr>
                  <a14:m>
                    <m:oMathPara xmlns:m="http://schemas.openxmlformats.org/officeDocument/2006/math">
                      <m:oMathParaPr>
                        <m:jc m:val="centerGroup"/>
                      </m:oMathParaPr>
                      <m:oMath xmlns:m="http://schemas.openxmlformats.org/officeDocument/2006/math">
                        <m:r>
                          <a:rPr kumimoji="1" lang="en-US" altLang="zh-CN" sz="2400" b="0" i="0" smtClean="0">
                            <a:latin typeface="Cambria Math" panose="02040503050406030204" pitchFamily="18" charset="0"/>
                            <a:ea typeface="微软雅黑" panose="020B0503020204020204" pitchFamily="34" charset="-122"/>
                          </a:rPr>
                          <m:t>−</m:t>
                        </m:r>
                        <m:sSub>
                          <m:sSubPr>
                            <m:ctrlPr>
                              <a:rPr kumimoji="1" lang="en-US" altLang="zh-CN" sz="2400" b="0" i="1" smtClean="0">
                                <a:latin typeface="Cambria Math" panose="02040503050406030204" pitchFamily="18" charset="0"/>
                                <a:ea typeface="微软雅黑" panose="020B0503020204020204" pitchFamily="34" charset="-122"/>
                              </a:rPr>
                            </m:ctrlPr>
                          </m:sSubPr>
                          <m:e>
                            <m:r>
                              <a:rPr kumimoji="1" lang="en-US" altLang="zh-CN" sz="2400" b="0" i="1" smtClean="0">
                                <a:latin typeface="Cambria Math" panose="02040503050406030204" pitchFamily="18" charset="0"/>
                                <a:ea typeface="微软雅黑" panose="020B0503020204020204" pitchFamily="34" charset="-122"/>
                              </a:rPr>
                              <m:t>𝑉</m:t>
                            </m:r>
                          </m:e>
                          <m:sub>
                            <m:r>
                              <m:rPr>
                                <m:sty m:val="p"/>
                              </m:rPr>
                              <a:rPr kumimoji="1" lang="en-US" altLang="zh-CN" sz="2400" b="0" i="0" smtClean="0">
                                <a:latin typeface="Cambria Math" panose="02040503050406030204" pitchFamily="18" charset="0"/>
                                <a:ea typeface="微软雅黑" panose="020B0503020204020204" pitchFamily="34" charset="-122"/>
                              </a:rPr>
                              <m:t>BR</m:t>
                            </m:r>
                          </m:sub>
                        </m:sSub>
                      </m:oMath>
                    </m:oMathPara>
                  </a14:m>
                  <a:endParaRPr lang="en-US" altLang="zh-CN" sz="2400" b="0" baseline="-25000" dirty="0"/>
                </a:p>
              </p:txBody>
            </p:sp>
          </mc:Choice>
          <mc:Fallback xmlns="">
            <p:sp>
              <p:nvSpPr>
                <p:cNvPr id="103" name="Text Box 20">
                  <a:extLst>
                    <a:ext uri="{FF2B5EF4-FFF2-40B4-BE49-F238E27FC236}">
                      <a16:creationId xmlns:a16="http://schemas.microsoft.com/office/drawing/2014/main" id="{D2A9FD2E-8A42-B381-0481-BCC51FAF9583}"/>
                    </a:ext>
                  </a:extLst>
                </p:cNvPr>
                <p:cNvSpPr txBox="1">
                  <a:spLocks noRot="1" noChangeAspect="1" noMove="1" noResize="1" noEditPoints="1" noAdjustHandles="1" noChangeArrowheads="1" noChangeShapeType="1" noTextEdit="1"/>
                </p:cNvSpPr>
                <p:nvPr/>
              </p:nvSpPr>
              <p:spPr bwMode="auto">
                <a:xfrm>
                  <a:off x="7356809" y="4386206"/>
                  <a:ext cx="936025" cy="468000"/>
                </a:xfrm>
                <a:prstGeom prst="rect">
                  <a:avLst/>
                </a:prstGeom>
                <a:blipFill>
                  <a:blip r:embed="rId8"/>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4" name="Text Box 20">
                  <a:extLst>
                    <a:ext uri="{FF2B5EF4-FFF2-40B4-BE49-F238E27FC236}">
                      <a16:creationId xmlns:a16="http://schemas.microsoft.com/office/drawing/2014/main" id="{8456FA52-8E8B-24C3-5664-A1FF81940995}"/>
                    </a:ext>
                  </a:extLst>
                </p:cNvPr>
                <p:cNvSpPr txBox="1">
                  <a:spLocks noChangeArrowheads="1"/>
                </p:cNvSpPr>
                <p:nvPr/>
              </p:nvSpPr>
              <p:spPr bwMode="auto">
                <a:xfrm>
                  <a:off x="9984809" y="4386206"/>
                  <a:ext cx="648000" cy="54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nSpc>
                      <a:spcPct val="120000"/>
                    </a:lnSpc>
                    <a:spcAft>
                      <a:spcPct val="0"/>
                    </a:spcAft>
                    <a:buNone/>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ea typeface="微软雅黑" panose="020B0503020204020204" pitchFamily="34" charset="-122"/>
                              </a:rPr>
                            </m:ctrlPr>
                          </m:sSubPr>
                          <m:e>
                            <m:r>
                              <a:rPr kumimoji="1" lang="en-US" altLang="zh-CN" sz="2400" b="0" i="1" smtClean="0">
                                <a:latin typeface="Cambria Math" panose="02040503050406030204" pitchFamily="18" charset="0"/>
                                <a:ea typeface="微软雅黑" panose="020B0503020204020204" pitchFamily="34" charset="-122"/>
                              </a:rPr>
                              <m:t>𝑉</m:t>
                            </m:r>
                          </m:e>
                          <m:sub>
                            <m:r>
                              <m:rPr>
                                <m:sty m:val="p"/>
                              </m:rPr>
                              <a:rPr kumimoji="1" lang="en-US" altLang="zh-CN" sz="2400" b="0" i="0" smtClean="0">
                                <a:latin typeface="Cambria Math" panose="02040503050406030204" pitchFamily="18" charset="0"/>
                                <a:ea typeface="微软雅黑" panose="020B0503020204020204" pitchFamily="34" charset="-122"/>
                              </a:rPr>
                              <m:t>th</m:t>
                            </m:r>
                          </m:sub>
                        </m:sSub>
                      </m:oMath>
                    </m:oMathPara>
                  </a14:m>
                  <a:endParaRPr lang="en-US" altLang="zh-CN" sz="2400" b="0" baseline="-25000" dirty="0"/>
                </a:p>
              </p:txBody>
            </p:sp>
          </mc:Choice>
          <mc:Fallback xmlns="">
            <p:sp>
              <p:nvSpPr>
                <p:cNvPr id="104" name="Text Box 20">
                  <a:extLst>
                    <a:ext uri="{FF2B5EF4-FFF2-40B4-BE49-F238E27FC236}">
                      <a16:creationId xmlns:a16="http://schemas.microsoft.com/office/drawing/2014/main" id="{8456FA52-8E8B-24C3-5664-A1FF81940995}"/>
                    </a:ext>
                  </a:extLst>
                </p:cNvPr>
                <p:cNvSpPr txBox="1">
                  <a:spLocks noRot="1" noChangeAspect="1" noMove="1" noResize="1" noEditPoints="1" noAdjustHandles="1" noChangeArrowheads="1" noChangeShapeType="1" noTextEdit="1"/>
                </p:cNvSpPr>
                <p:nvPr/>
              </p:nvSpPr>
              <p:spPr bwMode="auto">
                <a:xfrm>
                  <a:off x="9984809" y="4386206"/>
                  <a:ext cx="648000" cy="540000"/>
                </a:xfrm>
                <a:prstGeom prst="rect">
                  <a:avLst/>
                </a:prstGeom>
                <a:blipFill>
                  <a:blip r:embed="rId9"/>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05" name="AutoShape 18">
              <a:extLst>
                <a:ext uri="{FF2B5EF4-FFF2-40B4-BE49-F238E27FC236}">
                  <a16:creationId xmlns:a16="http://schemas.microsoft.com/office/drawing/2014/main" id="{6CD25AC9-2E2A-C5C3-0C77-B3381EC7B0AE}"/>
                </a:ext>
              </a:extLst>
            </p:cNvPr>
            <p:cNvSpPr>
              <a:spLocks noChangeArrowheads="1"/>
            </p:cNvSpPr>
            <p:nvPr/>
          </p:nvSpPr>
          <p:spPr bwMode="auto">
            <a:xfrm>
              <a:off x="10703708" y="2334206"/>
              <a:ext cx="1080000" cy="540000"/>
            </a:xfrm>
            <a:prstGeom prst="wedgeEllipseCallout">
              <a:avLst>
                <a:gd name="adj1" fmla="val -57763"/>
                <a:gd name="adj2" fmla="val 87560"/>
              </a:avLst>
            </a:prstGeom>
            <a:solidFill>
              <a:srgbClr val="FFFF99"/>
            </a:solidFill>
            <a:ln w="9525">
              <a:solidFill>
                <a:schemeClr val="tx1"/>
              </a:solidFill>
              <a:miter lim="800000"/>
              <a:headEnd/>
              <a:tailEnd/>
            </a:ln>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zh-CN" altLang="en-US" sz="1600" b="0" dirty="0">
                  <a:latin typeface="微软雅黑" panose="020B0503020204020204" pitchFamily="34" charset="-122"/>
                  <a:ea typeface="微软雅黑" panose="020B0503020204020204" pitchFamily="34" charset="-122"/>
                </a:rPr>
                <a:t>正向特性</a:t>
              </a:r>
            </a:p>
          </p:txBody>
        </p:sp>
        <p:sp>
          <p:nvSpPr>
            <p:cNvPr id="127" name="Line 11">
              <a:extLst>
                <a:ext uri="{FF2B5EF4-FFF2-40B4-BE49-F238E27FC236}">
                  <a16:creationId xmlns:a16="http://schemas.microsoft.com/office/drawing/2014/main" id="{9D621B14-C601-8084-94E1-9EA3D172299C}"/>
                </a:ext>
              </a:extLst>
            </p:cNvPr>
            <p:cNvSpPr>
              <a:spLocks noChangeShapeType="1"/>
            </p:cNvSpPr>
            <p:nvPr/>
          </p:nvSpPr>
          <p:spPr bwMode="auto">
            <a:xfrm>
              <a:off x="8256809" y="2622206"/>
              <a:ext cx="0" cy="3312000"/>
            </a:xfrm>
            <a:prstGeom prst="line">
              <a:avLst/>
            </a:prstGeom>
            <a:noFill/>
            <a:ln w="19050">
              <a:solidFill>
                <a:srgbClr val="0033CC"/>
              </a:solidFill>
              <a:prstDash val="dash"/>
              <a:round/>
              <a:headEnd/>
              <a:tailEnd/>
            </a:ln>
            <a:extLst>
              <a:ext uri="{909E8E84-426E-40dd-AFC4-6F175D3DCCD1}">
                <a14:hiddenFill xmlns="" xmlns:a14="http://schemas.microsoft.com/office/drawing/2010/main">
                  <a:noFill/>
                </a14:hiddenFill>
              </a:ext>
            </a:extLst>
          </p:spPr>
          <p:txBody>
            <a:bodyPr wrap="none" anchor="ctr"/>
            <a:lstStyle/>
            <a:p>
              <a:endParaRPr lang="zh-CN" altLang="en-US" dirty="0"/>
            </a:p>
          </p:txBody>
        </p:sp>
        <p:cxnSp>
          <p:nvCxnSpPr>
            <p:cNvPr id="67" name="直接连接符 66">
              <a:extLst>
                <a:ext uri="{FF2B5EF4-FFF2-40B4-BE49-F238E27FC236}">
                  <a16:creationId xmlns:a16="http://schemas.microsoft.com/office/drawing/2014/main" id="{3ABBEC76-194A-32F8-D5F9-4D9E402CC667}"/>
                </a:ext>
              </a:extLst>
            </p:cNvPr>
            <p:cNvCxnSpPr>
              <a:cxnSpLocks/>
            </p:cNvCxnSpPr>
            <p:nvPr/>
          </p:nvCxnSpPr>
          <p:spPr>
            <a:xfrm flipH="1">
              <a:off x="8177609" y="4836206"/>
              <a:ext cx="43730" cy="9966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任意多边形: 形状 67">
              <a:extLst>
                <a:ext uri="{FF2B5EF4-FFF2-40B4-BE49-F238E27FC236}">
                  <a16:creationId xmlns:a16="http://schemas.microsoft.com/office/drawing/2014/main" id="{F1F524A7-9FC1-E370-CD32-F85EB330D1BC}"/>
                </a:ext>
              </a:extLst>
            </p:cNvPr>
            <p:cNvSpPr/>
            <p:nvPr/>
          </p:nvSpPr>
          <p:spPr>
            <a:xfrm>
              <a:off x="8220809" y="4476206"/>
              <a:ext cx="1368000" cy="360000"/>
            </a:xfrm>
            <a:custGeom>
              <a:avLst/>
              <a:gdLst>
                <a:gd name="connsiteX0" fmla="*/ 1396678 w 1396678"/>
                <a:gd name="connsiteY0" fmla="*/ 0 h 437908"/>
                <a:gd name="connsiteX1" fmla="*/ 1049438 w 1396678"/>
                <a:gd name="connsiteY1" fmla="*/ 131179 h 437908"/>
                <a:gd name="connsiteX2" fmla="*/ 185195 w 1396678"/>
                <a:gd name="connsiteY2" fmla="*/ 162045 h 437908"/>
                <a:gd name="connsiteX3" fmla="*/ 0 w 1396678"/>
                <a:gd name="connsiteY3" fmla="*/ 437908 h 437908"/>
              </a:gdLst>
              <a:ahLst/>
              <a:cxnLst>
                <a:cxn ang="0">
                  <a:pos x="connsiteX0" y="connsiteY0"/>
                </a:cxn>
                <a:cxn ang="0">
                  <a:pos x="connsiteX1" y="connsiteY1"/>
                </a:cxn>
                <a:cxn ang="0">
                  <a:pos x="connsiteX2" y="connsiteY2"/>
                </a:cxn>
                <a:cxn ang="0">
                  <a:pos x="connsiteX3" y="connsiteY3"/>
                </a:cxn>
              </a:cxnLst>
              <a:rect l="l" t="t" r="r" b="b"/>
              <a:pathLst>
                <a:path w="1396678" h="437908">
                  <a:moveTo>
                    <a:pt x="1396678" y="0"/>
                  </a:moveTo>
                  <a:cubicBezTo>
                    <a:pt x="1324015" y="52086"/>
                    <a:pt x="1251352" y="104172"/>
                    <a:pt x="1049438" y="131179"/>
                  </a:cubicBezTo>
                  <a:cubicBezTo>
                    <a:pt x="847524" y="158186"/>
                    <a:pt x="360101" y="110924"/>
                    <a:pt x="185195" y="162045"/>
                  </a:cubicBezTo>
                  <a:cubicBezTo>
                    <a:pt x="10289" y="213166"/>
                    <a:pt x="5144" y="325537"/>
                    <a:pt x="0" y="437908"/>
                  </a:cubicBezTo>
                </a:path>
              </a:pathLst>
            </a:cu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文本框 69">
              <a:extLst>
                <a:ext uri="{FF2B5EF4-FFF2-40B4-BE49-F238E27FC236}">
                  <a16:creationId xmlns:a16="http://schemas.microsoft.com/office/drawing/2014/main" id="{2CDA4F54-A5B4-D75A-EFD0-3D55553EF5E6}"/>
                </a:ext>
              </a:extLst>
            </p:cNvPr>
            <p:cNvSpPr txBox="1"/>
            <p:nvPr/>
          </p:nvSpPr>
          <p:spPr>
            <a:xfrm>
              <a:off x="9246809" y="4098206"/>
              <a:ext cx="360000" cy="468000"/>
            </a:xfrm>
            <a:prstGeom prst="rect">
              <a:avLst/>
            </a:prstGeom>
            <a:noFill/>
          </p:spPr>
          <p:txBody>
            <a:bodyPr wrap="square">
              <a:spAutoFit/>
            </a:bodyPr>
            <a:lstStyle/>
            <a:p>
              <a:pPr algn="ctr"/>
              <a:r>
                <a:rPr kumimoji="1" lang="en-US" altLang="zh-CN" sz="2400" b="0" dirty="0">
                  <a:latin typeface="微软雅黑" panose="020B0503020204020204" pitchFamily="34" charset="-122"/>
                  <a:ea typeface="微软雅黑" panose="020B0503020204020204" pitchFamily="34" charset="-122"/>
                </a:rPr>
                <a:t>0</a:t>
              </a:r>
              <a:endParaRPr lang="zh-CN" altLang="en-US" sz="2400" dirty="0"/>
            </a:p>
          </p:txBody>
        </p:sp>
      </p:grpSp>
      <p:sp>
        <p:nvSpPr>
          <p:cNvPr id="9" name="标题 1">
            <a:extLst>
              <a:ext uri="{FF2B5EF4-FFF2-40B4-BE49-F238E27FC236}">
                <a16:creationId xmlns:a16="http://schemas.microsoft.com/office/drawing/2014/main" id="{DA47652E-DF9B-FB71-125C-8ED19643E8A6}"/>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二极管及其应用</a:t>
            </a:r>
            <a:endParaRPr lang="en-US" altLang="zh-CN" sz="3000" dirty="0"/>
          </a:p>
        </p:txBody>
      </p:sp>
    </p:spTree>
    <p:extLst>
      <p:ext uri="{BB962C8B-B14F-4D97-AF65-F5344CB8AC3E}">
        <p14:creationId xmlns:p14="http://schemas.microsoft.com/office/powerpoint/2010/main" val="15299705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87A6C-98EC-D90C-9BB2-5504259AE4E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DD52CCE0-B678-6A05-E63F-532566C1526C}"/>
                  </a:ext>
                </a:extLst>
              </p:cNvPr>
              <p:cNvSpPr txBox="1"/>
              <p:nvPr/>
            </p:nvSpPr>
            <p:spPr>
              <a:xfrm>
                <a:off x="360000" y="828000"/>
                <a:ext cx="7390541" cy="3692678"/>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二极管的主要参数</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最大整流电流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𝐼</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F</m:t>
                        </m:r>
                      </m:sub>
                    </m:sSub>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长期运行所允许承受的最大正向平均电流</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反向击穿电压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BR</m:t>
                        </m:r>
                      </m:sub>
                    </m:sSub>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最高工作频率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t>𝑓</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M</m:t>
                        </m:r>
                      </m:sub>
                    </m:sSub>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反向电流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𝐼</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R</m:t>
                        </m:r>
                      </m:sub>
                    </m:sSub>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极间电容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𝐶</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d</m:t>
                        </m:r>
                      </m:sub>
                    </m:sSub>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DD52CCE0-B678-6A05-E63F-532566C1526C}"/>
                  </a:ext>
                </a:extLst>
              </p:cNvPr>
              <p:cNvSpPr txBox="1">
                <a:spLocks noRot="1" noChangeAspect="1" noMove="1" noResize="1" noEditPoints="1" noAdjustHandles="1" noChangeArrowheads="1" noChangeShapeType="1" noTextEdit="1"/>
              </p:cNvSpPr>
              <p:nvPr/>
            </p:nvSpPr>
            <p:spPr>
              <a:xfrm>
                <a:off x="360000" y="828000"/>
                <a:ext cx="7390541" cy="3692678"/>
              </a:xfrm>
              <a:prstGeom prst="rect">
                <a:avLst/>
              </a:prstGeom>
              <a:blipFill>
                <a:blip r:embed="rId3"/>
                <a:stretch>
                  <a:fillRect l="-1485" t="-660" b="-2805"/>
                </a:stretch>
              </a:blipFill>
            </p:spPr>
            <p:txBody>
              <a:bodyPr/>
              <a:lstStyle/>
              <a:p>
                <a:r>
                  <a:rPr lang="zh-CN" altLang="en-US">
                    <a:noFill/>
                  </a:rPr>
                  <a:t> </a:t>
                </a:r>
              </a:p>
            </p:txBody>
          </p:sp>
        </mc:Fallback>
      </mc:AlternateContent>
      <p:grpSp>
        <p:nvGrpSpPr>
          <p:cNvPr id="4" name="组合 3">
            <a:extLst>
              <a:ext uri="{FF2B5EF4-FFF2-40B4-BE49-F238E27FC236}">
                <a16:creationId xmlns:a16="http://schemas.microsoft.com/office/drawing/2014/main" id="{3E92E20A-92B7-0932-0BD8-45807DDD5E00}"/>
              </a:ext>
            </a:extLst>
          </p:cNvPr>
          <p:cNvGrpSpPr/>
          <p:nvPr/>
        </p:nvGrpSpPr>
        <p:grpSpPr>
          <a:xfrm>
            <a:off x="11449269" y="6198682"/>
            <a:ext cx="786273" cy="548639"/>
            <a:chOff x="11454918" y="5839511"/>
            <a:chExt cx="786273" cy="548639"/>
          </a:xfrm>
        </p:grpSpPr>
        <p:grpSp>
          <p:nvGrpSpPr>
            <p:cNvPr id="5" name="组合 4">
              <a:extLst>
                <a:ext uri="{FF2B5EF4-FFF2-40B4-BE49-F238E27FC236}">
                  <a16:creationId xmlns:a16="http://schemas.microsoft.com/office/drawing/2014/main" id="{94916B7B-FE25-C0DA-DBCB-57FD9D19D4EF}"/>
                </a:ext>
              </a:extLst>
            </p:cNvPr>
            <p:cNvGrpSpPr/>
            <p:nvPr/>
          </p:nvGrpSpPr>
          <p:grpSpPr>
            <a:xfrm>
              <a:off x="11454918" y="5867450"/>
              <a:ext cx="737081" cy="520700"/>
              <a:chOff x="11454918" y="5867450"/>
              <a:chExt cx="737081" cy="520700"/>
            </a:xfrm>
          </p:grpSpPr>
          <p:sp>
            <p:nvSpPr>
              <p:cNvPr id="7" name="箭头: 五边形 6">
                <a:extLst>
                  <a:ext uri="{FF2B5EF4-FFF2-40B4-BE49-F238E27FC236}">
                    <a16:creationId xmlns:a16="http://schemas.microsoft.com/office/drawing/2014/main" id="{B8B85DCC-55D4-19FB-3521-59EEB6818FC8}"/>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箭头: V 形 7">
                <a:extLst>
                  <a:ext uri="{FF2B5EF4-FFF2-40B4-BE49-F238E27FC236}">
                    <a16:creationId xmlns:a16="http://schemas.microsoft.com/office/drawing/2014/main" id="{AF7B8A28-F45D-92FB-EA07-26C906E57286}"/>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6" name="灯片编号占位符 3">
              <a:extLst>
                <a:ext uri="{FF2B5EF4-FFF2-40B4-BE49-F238E27FC236}">
                  <a16:creationId xmlns:a16="http://schemas.microsoft.com/office/drawing/2014/main" id="{CE151104-FE4E-A64A-E5CE-2AE3DD74432D}"/>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15</a:t>
              </a:fld>
              <a:endParaRPr lang="zh-CN" altLang="en-US" sz="3200" dirty="0">
                <a:solidFill>
                  <a:schemeClr val="bg1"/>
                </a:solidFill>
                <a:latin typeface="Candara"/>
                <a:ea typeface="微软雅黑"/>
              </a:endParaRPr>
            </a:p>
          </p:txBody>
        </p:sp>
      </p:grpSp>
      <p:sp>
        <p:nvSpPr>
          <p:cNvPr id="19" name="标题 1">
            <a:extLst>
              <a:ext uri="{FF2B5EF4-FFF2-40B4-BE49-F238E27FC236}">
                <a16:creationId xmlns:a16="http://schemas.microsoft.com/office/drawing/2014/main" id="{7F30EA23-0955-9190-B98A-073D2632DB8B}"/>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二极管及其应用</a:t>
            </a:r>
            <a:endParaRPr lang="en-US" altLang="zh-CN" sz="3000" dirty="0"/>
          </a:p>
        </p:txBody>
      </p:sp>
      <p:grpSp>
        <p:nvGrpSpPr>
          <p:cNvPr id="2" name="组合 1">
            <a:extLst>
              <a:ext uri="{FF2B5EF4-FFF2-40B4-BE49-F238E27FC236}">
                <a16:creationId xmlns:a16="http://schemas.microsoft.com/office/drawing/2014/main" id="{FAC210D6-2794-D1F5-B84C-B4BD4E61D161}"/>
              </a:ext>
            </a:extLst>
          </p:cNvPr>
          <p:cNvGrpSpPr/>
          <p:nvPr/>
        </p:nvGrpSpPr>
        <p:grpSpPr>
          <a:xfrm>
            <a:off x="8999999" y="576000"/>
            <a:ext cx="1656001" cy="1152000"/>
            <a:chOff x="8782253" y="699638"/>
            <a:chExt cx="1656001" cy="1152000"/>
          </a:xfrm>
        </p:grpSpPr>
        <mc:AlternateContent xmlns:mc="http://schemas.openxmlformats.org/markup-compatibility/2006" xmlns:a14="http://schemas.microsoft.com/office/drawing/2010/main">
          <mc:Choice Requires="a14">
            <p:sp>
              <p:nvSpPr>
                <p:cNvPr id="18" name="Rectangle 8">
                  <a:extLst>
                    <a:ext uri="{FF2B5EF4-FFF2-40B4-BE49-F238E27FC236}">
                      <a16:creationId xmlns:a16="http://schemas.microsoft.com/office/drawing/2014/main" id="{55745D9C-DF28-FB57-7B89-F526D00A2577}"/>
                    </a:ext>
                  </a:extLst>
                </p:cNvPr>
                <p:cNvSpPr>
                  <a:spLocks noChangeArrowheads="1"/>
                </p:cNvSpPr>
                <p:nvPr/>
              </p:nvSpPr>
              <p:spPr bwMode="auto">
                <a:xfrm>
                  <a:off x="8962254" y="699638"/>
                  <a:ext cx="360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𝑖</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18" name="Rectangle 8">
                  <a:extLst>
                    <a:ext uri="{FF2B5EF4-FFF2-40B4-BE49-F238E27FC236}">
                      <a16:creationId xmlns:a16="http://schemas.microsoft.com/office/drawing/2014/main" id="{55745D9C-DF28-FB57-7B89-F526D00A2577}"/>
                    </a:ext>
                  </a:extLst>
                </p:cNvPr>
                <p:cNvSpPr>
                  <a:spLocks noRot="1" noChangeAspect="1" noMove="1" noResize="1" noEditPoints="1" noAdjustHandles="1" noChangeArrowheads="1" noChangeShapeType="1" noTextEdit="1"/>
                </p:cNvSpPr>
                <p:nvPr/>
              </p:nvSpPr>
              <p:spPr bwMode="auto">
                <a:xfrm>
                  <a:off x="8962254" y="699638"/>
                  <a:ext cx="360000" cy="432000"/>
                </a:xfrm>
                <a:prstGeom prst="rect">
                  <a:avLst/>
                </a:prstGeom>
                <a:blipFill>
                  <a:blip r:embed="rId10"/>
                  <a:stretch>
                    <a:fillRect l="-16949"/>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0" name="等腰三角形 19">
              <a:extLst>
                <a:ext uri="{FF2B5EF4-FFF2-40B4-BE49-F238E27FC236}">
                  <a16:creationId xmlns:a16="http://schemas.microsoft.com/office/drawing/2014/main" id="{F1A5E039-70C6-B3E4-92BA-942AEA840692}"/>
                </a:ext>
              </a:extLst>
            </p:cNvPr>
            <p:cNvSpPr/>
            <p:nvPr/>
          </p:nvSpPr>
          <p:spPr>
            <a:xfrm rot="5400000">
              <a:off x="9358254" y="1023638"/>
              <a:ext cx="504000" cy="360000"/>
            </a:xfrm>
            <a:prstGeom prst="triangl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cxnSp>
          <p:nvCxnSpPr>
            <p:cNvPr id="21" name="直接连接符 20">
              <a:extLst>
                <a:ext uri="{FF2B5EF4-FFF2-40B4-BE49-F238E27FC236}">
                  <a16:creationId xmlns:a16="http://schemas.microsoft.com/office/drawing/2014/main" id="{BF80CB34-4F89-2247-39BC-3001BA734827}"/>
                </a:ext>
              </a:extLst>
            </p:cNvPr>
            <p:cNvCxnSpPr>
              <a:cxnSpLocks/>
            </p:cNvCxnSpPr>
            <p:nvPr/>
          </p:nvCxnSpPr>
          <p:spPr>
            <a:xfrm>
              <a:off x="8854254" y="1203638"/>
              <a:ext cx="144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B0C24867-6B23-8665-6A1B-4825FAC03C60}"/>
                </a:ext>
              </a:extLst>
            </p:cNvPr>
            <p:cNvCxnSpPr>
              <a:cxnSpLocks/>
            </p:cNvCxnSpPr>
            <p:nvPr/>
          </p:nvCxnSpPr>
          <p:spPr>
            <a:xfrm>
              <a:off x="9790254" y="933638"/>
              <a:ext cx="0" cy="54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Rectangle 8">
                  <a:extLst>
                    <a:ext uri="{FF2B5EF4-FFF2-40B4-BE49-F238E27FC236}">
                      <a16:creationId xmlns:a16="http://schemas.microsoft.com/office/drawing/2014/main" id="{81D7A52E-1194-8783-AF03-C6E24F2B433D}"/>
                    </a:ext>
                  </a:extLst>
                </p:cNvPr>
                <p:cNvSpPr>
                  <a:spLocks noChangeArrowheads="1"/>
                </p:cNvSpPr>
                <p:nvPr/>
              </p:nvSpPr>
              <p:spPr bwMode="auto">
                <a:xfrm>
                  <a:off x="8782254" y="1419638"/>
                  <a:ext cx="1656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 xmlns:m="http://schemas.openxmlformats.org/officeDocument/2006/math">
                      <m:r>
                        <a:rPr kumimoji="1" lang="pt-BR"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14:m>
                    <m:oMath xmlns:m="http://schemas.openxmlformats.org/officeDocument/2006/math">
                      <m:sSub>
                        <m:sSubPr>
                          <m:ctrlPr>
                            <a:rPr kumimoji="1" lang="en-US" altLang="zh-CN" sz="2000" b="0" i="1">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𝑣</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a14:m>
                  <a:r>
                    <a:rPr kumimoji="1" lang="zh-CN" altLang="en-US" sz="2000" b="0" dirty="0">
                      <a:latin typeface="微软雅黑" panose="020B0503020204020204" pitchFamily="34" charset="-122"/>
                      <a:ea typeface="微软雅黑" panose="020B0503020204020204" pitchFamily="34" charset="-122"/>
                    </a:rPr>
                    <a:t>    </a:t>
                  </a:r>
                  <a14:m>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p>
              </p:txBody>
            </p:sp>
          </mc:Choice>
          <mc:Fallback xmlns="">
            <p:sp>
              <p:nvSpPr>
                <p:cNvPr id="23" name="Rectangle 8">
                  <a:extLst>
                    <a:ext uri="{FF2B5EF4-FFF2-40B4-BE49-F238E27FC236}">
                      <a16:creationId xmlns:a16="http://schemas.microsoft.com/office/drawing/2014/main" id="{81D7A52E-1194-8783-AF03-C6E24F2B433D}"/>
                    </a:ext>
                  </a:extLst>
                </p:cNvPr>
                <p:cNvSpPr>
                  <a:spLocks noRot="1" noChangeAspect="1" noMove="1" noResize="1" noEditPoints="1" noAdjustHandles="1" noChangeArrowheads="1" noChangeShapeType="1" noTextEdit="1"/>
                </p:cNvSpPr>
                <p:nvPr/>
              </p:nvSpPr>
              <p:spPr bwMode="auto">
                <a:xfrm>
                  <a:off x="8782254" y="1419638"/>
                  <a:ext cx="1656000" cy="432000"/>
                </a:xfrm>
                <a:prstGeom prst="rect">
                  <a:avLst/>
                </a:prstGeom>
                <a:blipFill>
                  <a:blip r:embed="rId11"/>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4" name="椭圆 23">
              <a:extLst>
                <a:ext uri="{FF2B5EF4-FFF2-40B4-BE49-F238E27FC236}">
                  <a16:creationId xmlns:a16="http://schemas.microsoft.com/office/drawing/2014/main" id="{A955FFFC-0C9C-6CB7-AEC4-45FA62677AE3}"/>
                </a:ext>
              </a:extLst>
            </p:cNvPr>
            <p:cNvSpPr/>
            <p:nvPr/>
          </p:nvSpPr>
          <p:spPr>
            <a:xfrm>
              <a:off x="10222254" y="1131638"/>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25" name="椭圆 24">
              <a:extLst>
                <a:ext uri="{FF2B5EF4-FFF2-40B4-BE49-F238E27FC236}">
                  <a16:creationId xmlns:a16="http://schemas.microsoft.com/office/drawing/2014/main" id="{18E3E8BD-0614-B298-9669-BD6FDEDE2F89}"/>
                </a:ext>
              </a:extLst>
            </p:cNvPr>
            <p:cNvSpPr/>
            <p:nvPr/>
          </p:nvSpPr>
          <p:spPr>
            <a:xfrm>
              <a:off x="8782253" y="1131638"/>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26" name="直接箭头连接符 25">
              <a:extLst>
                <a:ext uri="{FF2B5EF4-FFF2-40B4-BE49-F238E27FC236}">
                  <a16:creationId xmlns:a16="http://schemas.microsoft.com/office/drawing/2014/main" id="{75A4D18D-A1DA-6DDA-EA32-D97481DEA6E9}"/>
                </a:ext>
              </a:extLst>
            </p:cNvPr>
            <p:cNvCxnSpPr>
              <a:cxnSpLocks/>
            </p:cNvCxnSpPr>
            <p:nvPr/>
          </p:nvCxnSpPr>
          <p:spPr>
            <a:xfrm>
              <a:off x="8962254" y="1095638"/>
              <a:ext cx="396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45" name="组合 44">
            <a:extLst>
              <a:ext uri="{FF2B5EF4-FFF2-40B4-BE49-F238E27FC236}">
                <a16:creationId xmlns:a16="http://schemas.microsoft.com/office/drawing/2014/main" id="{80554B28-6721-2B96-6127-A1A7DCA76891}"/>
              </a:ext>
            </a:extLst>
          </p:cNvPr>
          <p:cNvGrpSpPr/>
          <p:nvPr/>
        </p:nvGrpSpPr>
        <p:grpSpPr>
          <a:xfrm>
            <a:off x="7632000" y="2160000"/>
            <a:ext cx="4067999" cy="3816000"/>
            <a:chOff x="7632000" y="2160000"/>
            <a:chExt cx="4067999" cy="3816000"/>
          </a:xfrm>
        </p:grpSpPr>
        <p:sp>
          <p:nvSpPr>
            <p:cNvPr id="10" name="Line 6">
              <a:extLst>
                <a:ext uri="{FF2B5EF4-FFF2-40B4-BE49-F238E27FC236}">
                  <a16:creationId xmlns:a16="http://schemas.microsoft.com/office/drawing/2014/main" id="{C923A8D1-CD41-EBEE-5045-D2CBDCE7BB28}"/>
                </a:ext>
              </a:extLst>
            </p:cNvPr>
            <p:cNvSpPr>
              <a:spLocks noChangeShapeType="1"/>
            </p:cNvSpPr>
            <p:nvPr/>
          </p:nvSpPr>
          <p:spPr bwMode="auto">
            <a:xfrm>
              <a:off x="9432000" y="2376000"/>
              <a:ext cx="0" cy="3600000"/>
            </a:xfrm>
            <a:prstGeom prst="line">
              <a:avLst/>
            </a:prstGeom>
            <a:noFill/>
            <a:ln w="25400">
              <a:solidFill>
                <a:schemeClr val="tx1"/>
              </a:solidFill>
              <a:round/>
              <a:headEnd type="triangle" w="med" len="lg"/>
              <a:tailEnd type="none" w="sm" len="sm"/>
            </a:ln>
            <a:extLst>
              <a:ext uri="{909E8E84-426E-40dd-AFC4-6F175D3DCCD1}">
                <a14:hiddenFill xmlns="" xmlns:a14="http://schemas.microsoft.com/office/drawing/2010/main">
                  <a:noFill/>
                </a14:hiddenFill>
              </a:ext>
            </a:extLst>
          </p:spPr>
          <p:txBody>
            <a:bodyPr lIns="90000" tIns="46800" rIns="90000" bIns="46800" anchor="ctr">
              <a:spAutoFit/>
            </a:bodyPr>
            <a:lstStyle/>
            <a:p>
              <a:endParaRPr lang="zh-CN" altLang="en-US"/>
            </a:p>
          </p:txBody>
        </p:sp>
        <p:sp>
          <p:nvSpPr>
            <p:cNvPr id="11" name="Line 7">
              <a:extLst>
                <a:ext uri="{FF2B5EF4-FFF2-40B4-BE49-F238E27FC236}">
                  <a16:creationId xmlns:a16="http://schemas.microsoft.com/office/drawing/2014/main" id="{BBA61983-5019-C84E-B2D5-C8C1636F4DBD}"/>
                </a:ext>
              </a:extLst>
            </p:cNvPr>
            <p:cNvSpPr>
              <a:spLocks noChangeShapeType="1"/>
            </p:cNvSpPr>
            <p:nvPr/>
          </p:nvSpPr>
          <p:spPr bwMode="auto">
            <a:xfrm flipH="1">
              <a:off x="7632000" y="4482000"/>
              <a:ext cx="3492000" cy="0"/>
            </a:xfrm>
            <a:prstGeom prst="line">
              <a:avLst/>
            </a:prstGeom>
            <a:noFill/>
            <a:ln w="25400">
              <a:solidFill>
                <a:schemeClr val="tx1"/>
              </a:solidFill>
              <a:round/>
              <a:headEnd type="triangle" w="med" len="lg"/>
              <a:tailEnd type="none" w="sm" len="sm"/>
            </a:ln>
            <a:extLst>
              <a:ext uri="{909E8E84-426E-40dd-AFC4-6F175D3DCCD1}">
                <a14:hiddenFill xmlns="" xmlns:a14="http://schemas.microsoft.com/office/drawing/2010/main">
                  <a:noFill/>
                </a14:hiddenFill>
              </a:ext>
            </a:extLst>
          </p:spPr>
          <p:txBody>
            <a:bodyPr wrap="square" lIns="90000" tIns="46800" rIns="90000" bIns="46800" anchor="ctr">
              <a:spAutoFit/>
            </a:bodyPr>
            <a:lstStyle/>
            <a:p>
              <a:endParaRPr lang="zh-CN" altLang="en-US"/>
            </a:p>
          </p:txBody>
        </p:sp>
        <mc:AlternateContent xmlns:mc="http://schemas.openxmlformats.org/markup-compatibility/2006" xmlns:a14="http://schemas.microsoft.com/office/drawing/2010/main">
          <mc:Choice Requires="a14">
            <p:sp>
              <p:nvSpPr>
                <p:cNvPr id="12" name="Text Box 8">
                  <a:extLst>
                    <a:ext uri="{FF2B5EF4-FFF2-40B4-BE49-F238E27FC236}">
                      <a16:creationId xmlns:a16="http://schemas.microsoft.com/office/drawing/2014/main" id="{A4018665-6D78-2DFD-1F28-06FE379916B5}"/>
                    </a:ext>
                  </a:extLst>
                </p:cNvPr>
                <p:cNvSpPr txBox="1">
                  <a:spLocks noChangeArrowheads="1"/>
                </p:cNvSpPr>
                <p:nvPr/>
              </p:nvSpPr>
              <p:spPr bwMode="auto">
                <a:xfrm>
                  <a:off x="9396000" y="2160000"/>
                  <a:ext cx="576000" cy="504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ea typeface="微软雅黑" panose="020B0503020204020204" pitchFamily="34" charset="-122"/>
                              </a:rPr>
                            </m:ctrlPr>
                          </m:sSubPr>
                          <m:e>
                            <m:r>
                              <a:rPr kumimoji="1" lang="en-US" altLang="zh-CN" sz="2400" b="0" i="1">
                                <a:latin typeface="Cambria Math" panose="02040503050406030204" pitchFamily="18" charset="0"/>
                                <a:ea typeface="微软雅黑" panose="020B0503020204020204" pitchFamily="34" charset="-122"/>
                              </a:rPr>
                              <m:t>𝑖</m:t>
                            </m:r>
                          </m:e>
                          <m:sub>
                            <m:r>
                              <m:rPr>
                                <m:sty m:val="p"/>
                              </m:rPr>
                              <a:rPr kumimoji="1" lang="en-US" altLang="zh-CN" sz="2400" b="0" i="0" smtClean="0">
                                <a:latin typeface="Cambria Math" panose="02040503050406030204" pitchFamily="18" charset="0"/>
                                <a:ea typeface="微软雅黑" panose="020B0503020204020204" pitchFamily="34" charset="-122"/>
                              </a:rPr>
                              <m:t>D</m:t>
                            </m:r>
                          </m:sub>
                        </m:sSub>
                      </m:oMath>
                    </m:oMathPara>
                  </a14:m>
                  <a:endParaRPr kumimoji="1" lang="en-US" altLang="zh-CN" sz="2400" i="1" dirty="0">
                    <a:ea typeface="楷体_GB2312" pitchFamily="49" charset="-122"/>
                  </a:endParaRPr>
                </a:p>
              </p:txBody>
            </p:sp>
          </mc:Choice>
          <mc:Fallback xmlns="">
            <p:sp>
              <p:nvSpPr>
                <p:cNvPr id="12" name="Text Box 8">
                  <a:extLst>
                    <a:ext uri="{FF2B5EF4-FFF2-40B4-BE49-F238E27FC236}">
                      <a16:creationId xmlns:a16="http://schemas.microsoft.com/office/drawing/2014/main" id="{A4018665-6D78-2DFD-1F28-06FE379916B5}"/>
                    </a:ext>
                  </a:extLst>
                </p:cNvPr>
                <p:cNvSpPr txBox="1">
                  <a:spLocks noRot="1" noChangeAspect="1" noMove="1" noResize="1" noEditPoints="1" noAdjustHandles="1" noChangeArrowheads="1" noChangeShapeType="1" noTextEdit="1"/>
                </p:cNvSpPr>
                <p:nvPr/>
              </p:nvSpPr>
              <p:spPr bwMode="auto">
                <a:xfrm>
                  <a:off x="9396000" y="2160000"/>
                  <a:ext cx="576000" cy="504000"/>
                </a:xfrm>
                <a:prstGeom prst="rect">
                  <a:avLst/>
                </a:prstGeom>
                <a:blipFill>
                  <a:blip r:embed="rId12"/>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Text Box 8">
                  <a:extLst>
                    <a:ext uri="{FF2B5EF4-FFF2-40B4-BE49-F238E27FC236}">
                      <a16:creationId xmlns:a16="http://schemas.microsoft.com/office/drawing/2014/main" id="{27BDC7B0-DE04-89B5-E88C-9616AA28B95C}"/>
                    </a:ext>
                  </a:extLst>
                </p:cNvPr>
                <p:cNvSpPr txBox="1">
                  <a:spLocks noChangeArrowheads="1"/>
                </p:cNvSpPr>
                <p:nvPr/>
              </p:nvSpPr>
              <p:spPr bwMode="auto">
                <a:xfrm>
                  <a:off x="11087999" y="4176000"/>
                  <a:ext cx="612000" cy="504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ea typeface="微软雅黑" panose="020B0503020204020204" pitchFamily="34" charset="-122"/>
                              </a:rPr>
                            </m:ctrlPr>
                          </m:sSubPr>
                          <m:e>
                            <m:r>
                              <a:rPr kumimoji="1" lang="en-US" altLang="zh-CN" sz="2400" b="0" i="1" smtClean="0">
                                <a:latin typeface="Cambria Math" panose="02040503050406030204" pitchFamily="18" charset="0"/>
                                <a:ea typeface="微软雅黑" panose="020B0503020204020204" pitchFamily="34" charset="-122"/>
                              </a:rPr>
                              <m:t>𝑣</m:t>
                            </m:r>
                          </m:e>
                          <m:sub>
                            <m:r>
                              <m:rPr>
                                <m:sty m:val="p"/>
                              </m:rPr>
                              <a:rPr kumimoji="1" lang="en-US" altLang="zh-CN" sz="2400" b="0" i="0" smtClean="0">
                                <a:latin typeface="Cambria Math" panose="02040503050406030204" pitchFamily="18" charset="0"/>
                                <a:ea typeface="微软雅黑" panose="020B0503020204020204" pitchFamily="34" charset="-122"/>
                              </a:rPr>
                              <m:t>D</m:t>
                            </m:r>
                          </m:sub>
                        </m:sSub>
                      </m:oMath>
                    </m:oMathPara>
                  </a14:m>
                  <a:endParaRPr kumimoji="1" lang="en-US" altLang="zh-CN" sz="2400" i="1" dirty="0">
                    <a:ea typeface="楷体_GB2312" pitchFamily="49" charset="-122"/>
                  </a:endParaRPr>
                </a:p>
              </p:txBody>
            </p:sp>
          </mc:Choice>
          <mc:Fallback xmlns="">
            <p:sp>
              <p:nvSpPr>
                <p:cNvPr id="13" name="Text Box 8">
                  <a:extLst>
                    <a:ext uri="{FF2B5EF4-FFF2-40B4-BE49-F238E27FC236}">
                      <a16:creationId xmlns:a16="http://schemas.microsoft.com/office/drawing/2014/main" id="{27BDC7B0-DE04-89B5-E88C-9616AA28B95C}"/>
                    </a:ext>
                  </a:extLst>
                </p:cNvPr>
                <p:cNvSpPr txBox="1">
                  <a:spLocks noRot="1" noChangeAspect="1" noMove="1" noResize="1" noEditPoints="1" noAdjustHandles="1" noChangeArrowheads="1" noChangeShapeType="1" noTextEdit="1"/>
                </p:cNvSpPr>
                <p:nvPr/>
              </p:nvSpPr>
              <p:spPr bwMode="auto">
                <a:xfrm>
                  <a:off x="11087999" y="4176000"/>
                  <a:ext cx="612000" cy="504000"/>
                </a:xfrm>
                <a:prstGeom prst="rect">
                  <a:avLst/>
                </a:prstGeom>
                <a:blipFill>
                  <a:blip r:embed="rId13"/>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p:cxnSp>
          <p:nvCxnSpPr>
            <p:cNvPr id="15" name="直接连接符 14">
              <a:extLst>
                <a:ext uri="{FF2B5EF4-FFF2-40B4-BE49-F238E27FC236}">
                  <a16:creationId xmlns:a16="http://schemas.microsoft.com/office/drawing/2014/main" id="{7BD3BEEE-2BD4-0607-CEB2-BB1D2BB28178}"/>
                </a:ext>
              </a:extLst>
            </p:cNvPr>
            <p:cNvCxnSpPr/>
            <p:nvPr/>
          </p:nvCxnSpPr>
          <p:spPr>
            <a:xfrm flipH="1">
              <a:off x="9432000" y="4482000"/>
              <a:ext cx="36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 Box 20">
                  <a:extLst>
                    <a:ext uri="{FF2B5EF4-FFF2-40B4-BE49-F238E27FC236}">
                      <a16:creationId xmlns:a16="http://schemas.microsoft.com/office/drawing/2014/main" id="{BDD1A736-CBE3-13C7-7910-E3868D069220}"/>
                    </a:ext>
                  </a:extLst>
                </p:cNvPr>
                <p:cNvSpPr txBox="1">
                  <a:spLocks noChangeArrowheads="1"/>
                </p:cNvSpPr>
                <p:nvPr/>
              </p:nvSpPr>
              <p:spPr bwMode="auto">
                <a:xfrm>
                  <a:off x="7632000" y="3996000"/>
                  <a:ext cx="936025" cy="468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nSpc>
                      <a:spcPct val="120000"/>
                    </a:lnSpc>
                    <a:spcAft>
                      <a:spcPct val="0"/>
                    </a:spcAft>
                    <a:buNone/>
                  </a:pPr>
                  <a14:m>
                    <m:oMathPara xmlns:m="http://schemas.openxmlformats.org/officeDocument/2006/math">
                      <m:oMathParaPr>
                        <m:jc m:val="centerGroup"/>
                      </m:oMathParaPr>
                      <m:oMath xmlns:m="http://schemas.openxmlformats.org/officeDocument/2006/math">
                        <m:r>
                          <a:rPr kumimoji="1" lang="en-US" altLang="zh-CN" sz="2400" b="0" i="0" smtClean="0">
                            <a:latin typeface="Cambria Math" panose="02040503050406030204" pitchFamily="18" charset="0"/>
                            <a:ea typeface="微软雅黑" panose="020B0503020204020204" pitchFamily="34" charset="-122"/>
                          </a:rPr>
                          <m:t>−</m:t>
                        </m:r>
                        <m:sSub>
                          <m:sSubPr>
                            <m:ctrlPr>
                              <a:rPr kumimoji="1" lang="en-US" altLang="zh-CN" sz="2400" b="0" i="1" smtClean="0">
                                <a:latin typeface="Cambria Math" panose="02040503050406030204" pitchFamily="18" charset="0"/>
                                <a:ea typeface="微软雅黑" panose="020B0503020204020204" pitchFamily="34" charset="-122"/>
                              </a:rPr>
                            </m:ctrlPr>
                          </m:sSubPr>
                          <m:e>
                            <m:r>
                              <a:rPr kumimoji="1" lang="en-US" altLang="zh-CN" sz="2400" b="0" i="1" smtClean="0">
                                <a:latin typeface="Cambria Math" panose="02040503050406030204" pitchFamily="18" charset="0"/>
                                <a:ea typeface="微软雅黑" panose="020B0503020204020204" pitchFamily="34" charset="-122"/>
                              </a:rPr>
                              <m:t>𝑉</m:t>
                            </m:r>
                          </m:e>
                          <m:sub>
                            <m:r>
                              <m:rPr>
                                <m:sty m:val="p"/>
                              </m:rPr>
                              <a:rPr kumimoji="1" lang="en-US" altLang="zh-CN" sz="2400" b="0" i="0" smtClean="0">
                                <a:latin typeface="Cambria Math" panose="02040503050406030204" pitchFamily="18" charset="0"/>
                                <a:ea typeface="微软雅黑" panose="020B0503020204020204" pitchFamily="34" charset="-122"/>
                              </a:rPr>
                              <m:t>BR</m:t>
                            </m:r>
                          </m:sub>
                        </m:sSub>
                      </m:oMath>
                    </m:oMathPara>
                  </a14:m>
                  <a:endParaRPr lang="en-US" altLang="zh-CN" sz="2400" b="0" baseline="-25000" dirty="0"/>
                </a:p>
              </p:txBody>
            </p:sp>
          </mc:Choice>
          <mc:Fallback xmlns="">
            <p:sp>
              <p:nvSpPr>
                <p:cNvPr id="31" name="Text Box 20">
                  <a:extLst>
                    <a:ext uri="{FF2B5EF4-FFF2-40B4-BE49-F238E27FC236}">
                      <a16:creationId xmlns:a16="http://schemas.microsoft.com/office/drawing/2014/main" id="{BDD1A736-CBE3-13C7-7910-E3868D069220}"/>
                    </a:ext>
                  </a:extLst>
                </p:cNvPr>
                <p:cNvSpPr txBox="1">
                  <a:spLocks noRot="1" noChangeAspect="1" noMove="1" noResize="1" noEditPoints="1" noAdjustHandles="1" noChangeArrowheads="1" noChangeShapeType="1" noTextEdit="1"/>
                </p:cNvSpPr>
                <p:nvPr/>
              </p:nvSpPr>
              <p:spPr bwMode="auto">
                <a:xfrm>
                  <a:off x="7632000" y="3996000"/>
                  <a:ext cx="936025" cy="468000"/>
                </a:xfrm>
                <a:prstGeom prst="rect">
                  <a:avLst/>
                </a:prstGeom>
                <a:blipFill>
                  <a:blip r:embed="rId14"/>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4" name="Line 11">
              <a:extLst>
                <a:ext uri="{FF2B5EF4-FFF2-40B4-BE49-F238E27FC236}">
                  <a16:creationId xmlns:a16="http://schemas.microsoft.com/office/drawing/2014/main" id="{846ADA6C-13F1-5976-9E03-96255B9DE528}"/>
                </a:ext>
              </a:extLst>
            </p:cNvPr>
            <p:cNvSpPr>
              <a:spLocks noChangeShapeType="1"/>
            </p:cNvSpPr>
            <p:nvPr/>
          </p:nvSpPr>
          <p:spPr bwMode="auto">
            <a:xfrm>
              <a:off x="8100000" y="4481158"/>
              <a:ext cx="0" cy="216000"/>
            </a:xfrm>
            <a:prstGeom prst="line">
              <a:avLst/>
            </a:prstGeom>
            <a:noFill/>
            <a:ln w="19050">
              <a:solidFill>
                <a:schemeClr val="accent5">
                  <a:lumMod val="75000"/>
                </a:schemeClr>
              </a:solidFill>
              <a:prstDash val="sysDot"/>
              <a:round/>
              <a:headEnd/>
              <a:tailEnd/>
            </a:ln>
            <a:extLst>
              <a:ext uri="{909E8E84-426E-40dd-AFC4-6F175D3DCCD1}">
                <a14:hiddenFill xmlns="" xmlns:a14="http://schemas.microsoft.com/office/drawing/2010/main">
                  <a:noFill/>
                </a14:hiddenFill>
              </a:ext>
            </a:extLst>
          </p:spPr>
          <p:txBody>
            <a:bodyPr wrap="none" anchor="ctr"/>
            <a:lstStyle/>
            <a:p>
              <a:endParaRPr lang="zh-CN" altLang="en-US" dirty="0"/>
            </a:p>
          </p:txBody>
        </p:sp>
        <p:cxnSp>
          <p:nvCxnSpPr>
            <p:cNvPr id="35" name="直接连接符 34">
              <a:extLst>
                <a:ext uri="{FF2B5EF4-FFF2-40B4-BE49-F238E27FC236}">
                  <a16:creationId xmlns:a16="http://schemas.microsoft.com/office/drawing/2014/main" id="{A9DA531E-CCBE-43B6-E194-C90501CB84FC}"/>
                </a:ext>
              </a:extLst>
            </p:cNvPr>
            <p:cNvCxnSpPr>
              <a:cxnSpLocks/>
            </p:cNvCxnSpPr>
            <p:nvPr/>
          </p:nvCxnSpPr>
          <p:spPr>
            <a:xfrm flipH="1">
              <a:off x="8020800" y="4842000"/>
              <a:ext cx="43730" cy="99666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DE2FDD57-A196-1AE0-AFF0-B53EFE420DD8}"/>
                </a:ext>
              </a:extLst>
            </p:cNvPr>
            <p:cNvSpPr txBox="1"/>
            <p:nvPr/>
          </p:nvSpPr>
          <p:spPr>
            <a:xfrm>
              <a:off x="9090000" y="4104000"/>
              <a:ext cx="360000" cy="468000"/>
            </a:xfrm>
            <a:prstGeom prst="rect">
              <a:avLst/>
            </a:prstGeom>
            <a:noFill/>
          </p:spPr>
          <p:txBody>
            <a:bodyPr wrap="square">
              <a:spAutoFit/>
            </a:bodyPr>
            <a:lstStyle/>
            <a:p>
              <a:pPr algn="ctr"/>
              <a:r>
                <a:rPr kumimoji="1" lang="en-US" altLang="zh-CN" sz="2400" b="0" dirty="0">
                  <a:latin typeface="微软雅黑" panose="020B0503020204020204" pitchFamily="34" charset="-122"/>
                  <a:ea typeface="微软雅黑" panose="020B0503020204020204" pitchFamily="34" charset="-122"/>
                </a:rPr>
                <a:t>0</a:t>
              </a:r>
              <a:endParaRPr lang="zh-CN" altLang="en-US" sz="2400" dirty="0"/>
            </a:p>
          </p:txBody>
        </p:sp>
        <p:cxnSp>
          <p:nvCxnSpPr>
            <p:cNvPr id="38" name="直接连接符 37">
              <a:extLst>
                <a:ext uri="{FF2B5EF4-FFF2-40B4-BE49-F238E27FC236}">
                  <a16:creationId xmlns:a16="http://schemas.microsoft.com/office/drawing/2014/main" id="{13831AEF-805D-4630-2489-5E4B4F2C8006}"/>
                </a:ext>
              </a:extLst>
            </p:cNvPr>
            <p:cNvCxnSpPr>
              <a:cxnSpLocks/>
            </p:cNvCxnSpPr>
            <p:nvPr/>
          </p:nvCxnSpPr>
          <p:spPr>
            <a:xfrm flipH="1">
              <a:off x="8208000" y="4608000"/>
              <a:ext cx="1224000" cy="0"/>
            </a:xfrm>
            <a:prstGeom prst="line">
              <a:avLst/>
            </a:prstGeom>
            <a:ln w="25400">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Text Box 17">
                  <a:extLst>
                    <a:ext uri="{FF2B5EF4-FFF2-40B4-BE49-F238E27FC236}">
                      <a16:creationId xmlns:a16="http://schemas.microsoft.com/office/drawing/2014/main" id="{CFBE58CE-F739-3797-DDE1-F3343AF29821}"/>
                    </a:ext>
                  </a:extLst>
                </p:cNvPr>
                <p:cNvSpPr txBox="1">
                  <a:spLocks noChangeArrowheads="1"/>
                </p:cNvSpPr>
                <p:nvPr/>
              </p:nvSpPr>
              <p:spPr bwMode="auto">
                <a:xfrm>
                  <a:off x="9036000" y="4536000"/>
                  <a:ext cx="503215" cy="54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nSpc>
                      <a:spcPct val="120000"/>
                    </a:lnSpc>
                    <a:spcAft>
                      <a:spcPct val="0"/>
                    </a:spcAft>
                    <a:buNone/>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ea typeface="微软雅黑" panose="020B0503020204020204" pitchFamily="34" charset="-122"/>
                              </a:rPr>
                            </m:ctrlPr>
                          </m:sSubPr>
                          <m:e>
                            <m:r>
                              <a:rPr kumimoji="1" lang="en-US" altLang="zh-CN" sz="2400" b="0" i="1">
                                <a:latin typeface="Cambria Math" panose="02040503050406030204" pitchFamily="18" charset="0"/>
                                <a:ea typeface="微软雅黑" panose="020B0503020204020204" pitchFamily="34" charset="-122"/>
                              </a:rPr>
                              <m:t>𝐼</m:t>
                            </m:r>
                          </m:e>
                          <m:sub>
                            <m:r>
                              <m:rPr>
                                <m:sty m:val="p"/>
                              </m:rPr>
                              <a:rPr kumimoji="1" lang="en-US" altLang="zh-CN" sz="2400" b="0" i="0" smtClean="0">
                                <a:latin typeface="Cambria Math" panose="02040503050406030204" pitchFamily="18" charset="0"/>
                                <a:ea typeface="微软雅黑" panose="020B0503020204020204" pitchFamily="34" charset="-122"/>
                              </a:rPr>
                              <m:t>R</m:t>
                            </m:r>
                          </m:sub>
                        </m:sSub>
                      </m:oMath>
                    </m:oMathPara>
                  </a14:m>
                  <a:endParaRPr lang="en-US" altLang="zh-CN" baseline="-25000" dirty="0"/>
                </a:p>
              </p:txBody>
            </p:sp>
          </mc:Choice>
          <mc:Fallback xmlns="">
            <p:sp>
              <p:nvSpPr>
                <p:cNvPr id="40" name="Text Box 17">
                  <a:extLst>
                    <a:ext uri="{FF2B5EF4-FFF2-40B4-BE49-F238E27FC236}">
                      <a16:creationId xmlns:a16="http://schemas.microsoft.com/office/drawing/2014/main" id="{CFBE58CE-F739-3797-DDE1-F3343AF29821}"/>
                    </a:ext>
                  </a:extLst>
                </p:cNvPr>
                <p:cNvSpPr txBox="1">
                  <a:spLocks noRot="1" noChangeAspect="1" noMove="1" noResize="1" noEditPoints="1" noAdjustHandles="1" noChangeArrowheads="1" noChangeShapeType="1" noTextEdit="1"/>
                </p:cNvSpPr>
                <p:nvPr/>
              </p:nvSpPr>
              <p:spPr bwMode="auto">
                <a:xfrm>
                  <a:off x="9036000" y="4536000"/>
                  <a:ext cx="503215" cy="540000"/>
                </a:xfrm>
                <a:prstGeom prst="rect">
                  <a:avLst/>
                </a:prstGeom>
                <a:blipFill>
                  <a:blip r:embed="rId15"/>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41" name="直接连接符 40">
              <a:extLst>
                <a:ext uri="{FF2B5EF4-FFF2-40B4-BE49-F238E27FC236}">
                  <a16:creationId xmlns:a16="http://schemas.microsoft.com/office/drawing/2014/main" id="{41DBA151-B68D-850B-BE82-5F2C39C7ADED}"/>
                </a:ext>
              </a:extLst>
            </p:cNvPr>
            <p:cNvCxnSpPr>
              <a:cxnSpLocks/>
            </p:cNvCxnSpPr>
            <p:nvPr/>
          </p:nvCxnSpPr>
          <p:spPr>
            <a:xfrm flipH="1">
              <a:off x="9432000" y="3312000"/>
              <a:ext cx="936000" cy="0"/>
            </a:xfrm>
            <a:prstGeom prst="line">
              <a:avLst/>
            </a:prstGeom>
            <a:ln w="25400">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8FB0374C-8094-7C5C-8605-6474D2306D71}"/>
                </a:ext>
              </a:extLst>
            </p:cNvPr>
            <p:cNvCxnSpPr>
              <a:cxnSpLocks/>
            </p:cNvCxnSpPr>
            <p:nvPr/>
          </p:nvCxnSpPr>
          <p:spPr>
            <a:xfrm>
              <a:off x="10368000" y="3312000"/>
              <a:ext cx="0" cy="1152000"/>
            </a:xfrm>
            <a:prstGeom prst="line">
              <a:avLst/>
            </a:prstGeom>
            <a:ln w="25400">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4" name="任意多边形: 形状 13">
              <a:extLst>
                <a:ext uri="{FF2B5EF4-FFF2-40B4-BE49-F238E27FC236}">
                  <a16:creationId xmlns:a16="http://schemas.microsoft.com/office/drawing/2014/main" id="{D39BDA49-B541-F56B-3C79-B43F9207AB99}"/>
                </a:ext>
              </a:extLst>
            </p:cNvPr>
            <p:cNvSpPr/>
            <p:nvPr/>
          </p:nvSpPr>
          <p:spPr>
            <a:xfrm>
              <a:off x="9792000" y="2448000"/>
              <a:ext cx="648000" cy="2034000"/>
            </a:xfrm>
            <a:custGeom>
              <a:avLst/>
              <a:gdLst>
                <a:gd name="connsiteX0" fmla="*/ 0 w 605831"/>
                <a:gd name="connsiteY0" fmla="*/ 1277899 h 1278370"/>
                <a:gd name="connsiteX1" fmla="*/ 428120 w 605831"/>
                <a:gd name="connsiteY1" fmla="*/ 1069493 h 1278370"/>
                <a:gd name="connsiteX2" fmla="*/ 605831 w 605831"/>
                <a:gd name="connsiteY2" fmla="*/ 0 h 1278370"/>
              </a:gdLst>
              <a:ahLst/>
              <a:cxnLst>
                <a:cxn ang="0">
                  <a:pos x="connsiteX0" y="connsiteY0"/>
                </a:cxn>
                <a:cxn ang="0">
                  <a:pos x="connsiteX1" y="connsiteY1"/>
                </a:cxn>
                <a:cxn ang="0">
                  <a:pos x="connsiteX2" y="connsiteY2"/>
                </a:cxn>
              </a:cxnLst>
              <a:rect l="l" t="t" r="r" b="b"/>
              <a:pathLst>
                <a:path w="605831" h="1278370">
                  <a:moveTo>
                    <a:pt x="0" y="1277899"/>
                  </a:moveTo>
                  <a:cubicBezTo>
                    <a:pt x="163574" y="1280187"/>
                    <a:pt x="327148" y="1282476"/>
                    <a:pt x="428120" y="1069493"/>
                  </a:cubicBezTo>
                  <a:cubicBezTo>
                    <a:pt x="529092" y="856510"/>
                    <a:pt x="605831" y="0"/>
                    <a:pt x="605831" y="0"/>
                  </a:cubicBezTo>
                </a:path>
              </a:pathLst>
            </a:cu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任意多边形: 形状 35">
              <a:extLst>
                <a:ext uri="{FF2B5EF4-FFF2-40B4-BE49-F238E27FC236}">
                  <a16:creationId xmlns:a16="http://schemas.microsoft.com/office/drawing/2014/main" id="{1F14BC8E-A252-3775-05F0-9E3C94BD5BBE}"/>
                </a:ext>
              </a:extLst>
            </p:cNvPr>
            <p:cNvSpPr/>
            <p:nvPr/>
          </p:nvSpPr>
          <p:spPr>
            <a:xfrm>
              <a:off x="8064000" y="4482000"/>
              <a:ext cx="1368000" cy="360000"/>
            </a:xfrm>
            <a:custGeom>
              <a:avLst/>
              <a:gdLst>
                <a:gd name="connsiteX0" fmla="*/ 1396678 w 1396678"/>
                <a:gd name="connsiteY0" fmla="*/ 0 h 437908"/>
                <a:gd name="connsiteX1" fmla="*/ 1049438 w 1396678"/>
                <a:gd name="connsiteY1" fmla="*/ 131179 h 437908"/>
                <a:gd name="connsiteX2" fmla="*/ 185195 w 1396678"/>
                <a:gd name="connsiteY2" fmla="*/ 162045 h 437908"/>
                <a:gd name="connsiteX3" fmla="*/ 0 w 1396678"/>
                <a:gd name="connsiteY3" fmla="*/ 437908 h 437908"/>
              </a:gdLst>
              <a:ahLst/>
              <a:cxnLst>
                <a:cxn ang="0">
                  <a:pos x="connsiteX0" y="connsiteY0"/>
                </a:cxn>
                <a:cxn ang="0">
                  <a:pos x="connsiteX1" y="connsiteY1"/>
                </a:cxn>
                <a:cxn ang="0">
                  <a:pos x="connsiteX2" y="connsiteY2"/>
                </a:cxn>
                <a:cxn ang="0">
                  <a:pos x="connsiteX3" y="connsiteY3"/>
                </a:cxn>
              </a:cxnLst>
              <a:rect l="l" t="t" r="r" b="b"/>
              <a:pathLst>
                <a:path w="1396678" h="437908">
                  <a:moveTo>
                    <a:pt x="1396678" y="0"/>
                  </a:moveTo>
                  <a:cubicBezTo>
                    <a:pt x="1324015" y="52086"/>
                    <a:pt x="1251352" y="104172"/>
                    <a:pt x="1049438" y="131179"/>
                  </a:cubicBezTo>
                  <a:cubicBezTo>
                    <a:pt x="847524" y="158186"/>
                    <a:pt x="360101" y="110924"/>
                    <a:pt x="185195" y="162045"/>
                  </a:cubicBezTo>
                  <a:cubicBezTo>
                    <a:pt x="10289" y="213166"/>
                    <a:pt x="5144" y="325537"/>
                    <a:pt x="0" y="437908"/>
                  </a:cubicBezTo>
                </a:path>
              </a:pathLst>
            </a:cu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3" name="Text Box 20">
                  <a:extLst>
                    <a:ext uri="{FF2B5EF4-FFF2-40B4-BE49-F238E27FC236}">
                      <a16:creationId xmlns:a16="http://schemas.microsoft.com/office/drawing/2014/main" id="{AA817B24-6F17-C480-ED8F-E0E930E3015A}"/>
                    </a:ext>
                  </a:extLst>
                </p:cNvPr>
                <p:cNvSpPr txBox="1">
                  <a:spLocks noChangeArrowheads="1"/>
                </p:cNvSpPr>
                <p:nvPr/>
              </p:nvSpPr>
              <p:spPr bwMode="auto">
                <a:xfrm>
                  <a:off x="10116000" y="4392000"/>
                  <a:ext cx="540000" cy="54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nSpc>
                      <a:spcPct val="120000"/>
                    </a:lnSpc>
                    <a:spcAft>
                      <a:spcPct val="0"/>
                    </a:spcAft>
                    <a:buNone/>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ea typeface="微软雅黑" panose="020B0503020204020204" pitchFamily="34" charset="-122"/>
                              </a:rPr>
                            </m:ctrlPr>
                          </m:sSubPr>
                          <m:e>
                            <m:r>
                              <a:rPr kumimoji="1" lang="en-US" altLang="zh-CN" sz="2400" b="0" i="1" smtClean="0">
                                <a:latin typeface="Cambria Math" panose="02040503050406030204" pitchFamily="18" charset="0"/>
                                <a:ea typeface="微软雅黑" panose="020B0503020204020204" pitchFamily="34" charset="-122"/>
                              </a:rPr>
                              <m:t>𝑉</m:t>
                            </m:r>
                          </m:e>
                          <m:sub>
                            <m:r>
                              <m:rPr>
                                <m:sty m:val="p"/>
                              </m:rPr>
                              <a:rPr kumimoji="1" lang="en-US" altLang="zh-CN" sz="2400" b="0" i="0" smtClean="0">
                                <a:latin typeface="Cambria Math" panose="02040503050406030204" pitchFamily="18" charset="0"/>
                                <a:ea typeface="微软雅黑" panose="020B0503020204020204" pitchFamily="34" charset="-122"/>
                              </a:rPr>
                              <m:t>F</m:t>
                            </m:r>
                          </m:sub>
                        </m:sSub>
                      </m:oMath>
                    </m:oMathPara>
                  </a14:m>
                  <a:endParaRPr lang="en-US" altLang="zh-CN" sz="2400" b="0" baseline="-25000" dirty="0"/>
                </a:p>
              </p:txBody>
            </p:sp>
          </mc:Choice>
          <mc:Fallback xmlns="">
            <p:sp>
              <p:nvSpPr>
                <p:cNvPr id="43" name="Text Box 20">
                  <a:extLst>
                    <a:ext uri="{FF2B5EF4-FFF2-40B4-BE49-F238E27FC236}">
                      <a16:creationId xmlns:a16="http://schemas.microsoft.com/office/drawing/2014/main" id="{AA817B24-6F17-C480-ED8F-E0E930E3015A}"/>
                    </a:ext>
                  </a:extLst>
                </p:cNvPr>
                <p:cNvSpPr txBox="1">
                  <a:spLocks noRot="1" noChangeAspect="1" noMove="1" noResize="1" noEditPoints="1" noAdjustHandles="1" noChangeArrowheads="1" noChangeShapeType="1" noTextEdit="1"/>
                </p:cNvSpPr>
                <p:nvPr/>
              </p:nvSpPr>
              <p:spPr bwMode="auto">
                <a:xfrm>
                  <a:off x="10116000" y="4392000"/>
                  <a:ext cx="540000" cy="540000"/>
                </a:xfrm>
                <a:prstGeom prst="rect">
                  <a:avLst/>
                </a:prstGeom>
                <a:blipFill>
                  <a:blip r:embed="rId16"/>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Text Box 20">
                  <a:extLst>
                    <a:ext uri="{FF2B5EF4-FFF2-40B4-BE49-F238E27FC236}">
                      <a16:creationId xmlns:a16="http://schemas.microsoft.com/office/drawing/2014/main" id="{D22591AB-452F-C745-1879-FA3BCA7C6938}"/>
                    </a:ext>
                  </a:extLst>
                </p:cNvPr>
                <p:cNvSpPr txBox="1">
                  <a:spLocks noChangeArrowheads="1"/>
                </p:cNvSpPr>
                <p:nvPr/>
              </p:nvSpPr>
              <p:spPr bwMode="auto">
                <a:xfrm>
                  <a:off x="9000000" y="3060000"/>
                  <a:ext cx="540000" cy="54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nSpc>
                      <a:spcPct val="120000"/>
                    </a:lnSpc>
                    <a:spcAft>
                      <a:spcPct val="0"/>
                    </a:spcAft>
                    <a:buNone/>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ea typeface="微软雅黑" panose="020B0503020204020204" pitchFamily="34" charset="-122"/>
                              </a:rPr>
                            </m:ctrlPr>
                          </m:sSubPr>
                          <m:e>
                            <m:r>
                              <a:rPr kumimoji="1" lang="en-US" altLang="zh-CN" sz="2400" b="0" i="1" smtClean="0">
                                <a:latin typeface="Cambria Math" panose="02040503050406030204" pitchFamily="18" charset="0"/>
                                <a:ea typeface="微软雅黑" panose="020B0503020204020204" pitchFamily="34" charset="-122"/>
                              </a:rPr>
                              <m:t>𝐼</m:t>
                            </m:r>
                          </m:e>
                          <m:sub>
                            <m:r>
                              <m:rPr>
                                <m:sty m:val="p"/>
                              </m:rPr>
                              <a:rPr kumimoji="1" lang="en-US" altLang="zh-CN" sz="2400" b="0" i="0" smtClean="0">
                                <a:latin typeface="Cambria Math" panose="02040503050406030204" pitchFamily="18" charset="0"/>
                                <a:ea typeface="微软雅黑" panose="020B0503020204020204" pitchFamily="34" charset="-122"/>
                              </a:rPr>
                              <m:t>F</m:t>
                            </m:r>
                          </m:sub>
                        </m:sSub>
                      </m:oMath>
                    </m:oMathPara>
                  </a14:m>
                  <a:endParaRPr lang="en-US" altLang="zh-CN" sz="2400" b="0" baseline="-25000" dirty="0"/>
                </a:p>
              </p:txBody>
            </p:sp>
          </mc:Choice>
          <mc:Fallback xmlns="">
            <p:sp>
              <p:nvSpPr>
                <p:cNvPr id="44" name="Text Box 20">
                  <a:extLst>
                    <a:ext uri="{FF2B5EF4-FFF2-40B4-BE49-F238E27FC236}">
                      <a16:creationId xmlns:a16="http://schemas.microsoft.com/office/drawing/2014/main" id="{D22591AB-452F-C745-1879-FA3BCA7C6938}"/>
                    </a:ext>
                  </a:extLst>
                </p:cNvPr>
                <p:cNvSpPr txBox="1">
                  <a:spLocks noRot="1" noChangeAspect="1" noMove="1" noResize="1" noEditPoints="1" noAdjustHandles="1" noChangeArrowheads="1" noChangeShapeType="1" noTextEdit="1"/>
                </p:cNvSpPr>
                <p:nvPr/>
              </p:nvSpPr>
              <p:spPr bwMode="auto">
                <a:xfrm>
                  <a:off x="9000000" y="3060000"/>
                  <a:ext cx="540000" cy="540000"/>
                </a:xfrm>
                <a:prstGeom prst="rect">
                  <a:avLst/>
                </a:prstGeom>
                <a:blipFill>
                  <a:blip r:embed="rId17"/>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spTree>
    <p:extLst>
      <p:ext uri="{BB962C8B-B14F-4D97-AF65-F5344CB8AC3E}">
        <p14:creationId xmlns:p14="http://schemas.microsoft.com/office/powerpoint/2010/main" val="325603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A3CF5-196B-FDB5-484E-2B26BC2B4C1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50B1A214-000B-BE19-139F-541BE92A3AC0}"/>
                  </a:ext>
                </a:extLst>
              </p:cNvPr>
              <p:cNvSpPr txBox="1"/>
              <p:nvPr/>
            </p:nvSpPr>
            <p:spPr>
              <a:xfrm>
                <a:off x="360000" y="828000"/>
                <a:ext cx="4583656" cy="5260158"/>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二极管的简化模型</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理想模型</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忽略死区和导通压降</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当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𝑖</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&gt;0</m:t>
                    </m:r>
                  </m:oMath>
                </a14:m>
                <a:r>
                  <a:rPr kumimoji="1" lang="zh-CN" altLang="en-US" sz="2400" dirty="0">
                    <a:solidFill>
                      <a:schemeClr val="accent5">
                        <a:lumMod val="75000"/>
                      </a:schemeClr>
                    </a:solidFill>
                    <a:ea typeface="微软雅黑" panose="020B0503020204020204" pitchFamily="34" charset="-122"/>
                  </a:rPr>
                  <a:t>，</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𝑣</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m:t>
                    </m:r>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0</m:t>
                    </m:r>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当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𝑣</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&lt;</m:t>
                    </m:r>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0</m:t>
                    </m:r>
                  </m:oMath>
                </a14:m>
                <a:r>
                  <a:rPr kumimoji="1" lang="zh-CN" altLang="en-US" sz="2400" dirty="0">
                    <a:solidFill>
                      <a:schemeClr val="accent5">
                        <a:lumMod val="75000"/>
                      </a:schemeClr>
                    </a:solidFill>
                    <a:ea typeface="微软雅黑" panose="020B0503020204020204" pitchFamily="34" charset="-122"/>
                  </a:rPr>
                  <a:t>，</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𝑖</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=0</m:t>
                    </m:r>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恒压降模型</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导通压降 </a:t>
                </a:r>
                <a14:m>
                  <m:oMath xmlns:m="http://schemas.openxmlformats.org/officeDocument/2006/math">
                    <m:r>
                      <a:rPr kumimoji="1" lang="en-US" altLang="zh-CN" sz="2400" i="1" smtClean="0">
                        <a:solidFill>
                          <a:schemeClr val="accent5">
                            <a:lumMod val="75000"/>
                          </a:schemeClr>
                        </a:solidFill>
                        <a:latin typeface="Cambria Math" panose="02040503050406030204" pitchFamily="18" charset="0"/>
                        <a:ea typeface="Cambria Math" panose="02040503050406030204" pitchFamily="18" charset="0"/>
                      </a:rPr>
                      <m:t>≠</m:t>
                    </m:r>
                    <m:r>
                      <a:rPr kumimoji="1" lang="en-US" altLang="zh-CN" sz="2400" b="0" i="1" smtClean="0">
                        <a:solidFill>
                          <a:schemeClr val="accent5">
                            <a:lumMod val="75000"/>
                          </a:schemeClr>
                        </a:solidFill>
                        <a:latin typeface="Cambria Math" panose="02040503050406030204" pitchFamily="18" charset="0"/>
                        <a:ea typeface="Cambria Math" panose="02040503050406030204" pitchFamily="18" charset="0"/>
                      </a:rPr>
                      <m:t>0</m:t>
                    </m:r>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当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𝑖</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&gt;0</m:t>
                    </m:r>
                  </m:oMath>
                </a14:m>
                <a:r>
                  <a:rPr kumimoji="1" lang="zh-CN" altLang="en-US" sz="2400" dirty="0">
                    <a:solidFill>
                      <a:schemeClr val="accent5">
                        <a:lumMod val="75000"/>
                      </a:schemeClr>
                    </a:solidFill>
                    <a:ea typeface="微软雅黑" panose="020B0503020204020204" pitchFamily="34" charset="-122"/>
                  </a:rPr>
                  <a:t>，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𝑣</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D</m:t>
                        </m:r>
                      </m:sub>
                    </m:sSub>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1371600" lvl="2" indent="-457200">
                  <a:lnSpc>
                    <a:spcPct val="120000"/>
                  </a:lnSpc>
                  <a:spcAft>
                    <a:spcPts val="600"/>
                  </a:spcAft>
                  <a:buFont typeface="Wingdings" panose="05000000000000000000" pitchFamily="2" charset="2"/>
                  <a:buChar char="ð"/>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当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𝑣</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&lt;</m:t>
                    </m:r>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D</m:t>
                        </m:r>
                      </m:sub>
                    </m:sSub>
                  </m:oMath>
                </a14:m>
                <a:r>
                  <a:rPr kumimoji="1" lang="zh-CN" altLang="en-US" sz="2400" dirty="0">
                    <a:solidFill>
                      <a:schemeClr val="accent5">
                        <a:lumMod val="75000"/>
                      </a:schemeClr>
                    </a:solidFill>
                    <a:ea typeface="微软雅黑" panose="020B0503020204020204" pitchFamily="34" charset="-122"/>
                  </a:rPr>
                  <a:t>，</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𝑖</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=0</m:t>
                    </m:r>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50B1A214-000B-BE19-139F-541BE92A3AC0}"/>
                  </a:ext>
                </a:extLst>
              </p:cNvPr>
              <p:cNvSpPr txBox="1">
                <a:spLocks noRot="1" noChangeAspect="1" noMove="1" noResize="1" noEditPoints="1" noAdjustHandles="1" noChangeArrowheads="1" noChangeShapeType="1" noTextEdit="1"/>
              </p:cNvSpPr>
              <p:nvPr/>
            </p:nvSpPr>
            <p:spPr>
              <a:xfrm>
                <a:off x="360000" y="828000"/>
                <a:ext cx="4583656" cy="5260158"/>
              </a:xfrm>
              <a:prstGeom prst="rect">
                <a:avLst/>
              </a:prstGeom>
              <a:blipFill>
                <a:blip r:embed="rId3"/>
                <a:stretch>
                  <a:fillRect l="-2394" t="-463" b="-16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9" name="文本框 128">
                <a:extLst>
                  <a:ext uri="{FF2B5EF4-FFF2-40B4-BE49-F238E27FC236}">
                    <a16:creationId xmlns:a16="http://schemas.microsoft.com/office/drawing/2014/main" id="{D89246E3-5AAB-3FB4-F4EC-3AFB2775322F}"/>
                  </a:ext>
                </a:extLst>
              </p:cNvPr>
              <p:cNvSpPr txBox="1"/>
              <p:nvPr/>
            </p:nvSpPr>
            <p:spPr>
              <a:xfrm>
                <a:off x="9612000" y="3240000"/>
                <a:ext cx="2094315" cy="401841"/>
              </a:xfrm>
              <a:prstGeom prst="rect">
                <a:avLst/>
              </a:prstGeom>
              <a:noFill/>
            </p:spPr>
            <p:txBody>
              <a:bodyPr wrap="square">
                <a:spAutoFit/>
              </a:bodyPr>
              <a:lstStyle/>
              <a:p>
                <a:pPr algn="ctr">
                  <a:lnSpc>
                    <a:spcPct val="120000"/>
                  </a:lnSpc>
                  <a:spcAft>
                    <a:spcPts val="600"/>
                  </a:spcAft>
                </a:pPr>
                <a:r>
                  <a:rPr kumimoji="1" lang="en-US" altLang="zh-CN" dirty="0">
                    <a:solidFill>
                      <a:srgbClr val="0000FF"/>
                    </a:solidFill>
                    <a:latin typeface="微软雅黑" panose="020B0503020204020204" pitchFamily="34" charset="-122"/>
                    <a:ea typeface="微软雅黑" panose="020B0503020204020204" pitchFamily="34" charset="-122"/>
                  </a:rPr>
                  <a:t>( </a:t>
                </a:r>
                <a14:m>
                  <m:oMath xmlns:m="http://schemas.openxmlformats.org/officeDocument/2006/math">
                    <m:sSub>
                      <m:sSubPr>
                        <m:ctrlPr>
                          <a:rPr kumimoji="1" lang="en-US" altLang="zh-CN" i="1" smtClean="0">
                            <a:solidFill>
                              <a:srgbClr val="0000FF"/>
                            </a:solidFill>
                            <a:latin typeface="Cambria Math" panose="02040503050406030204" pitchFamily="18" charset="0"/>
                            <a:ea typeface="微软雅黑" panose="020B0503020204020204" pitchFamily="34" charset="-122"/>
                          </a:rPr>
                        </m:ctrlPr>
                      </m:sSubPr>
                      <m:e>
                        <m:r>
                          <a:rPr kumimoji="1" lang="en-US" altLang="zh-CN" b="0" i="1" smtClean="0">
                            <a:solidFill>
                              <a:srgbClr val="0000FF"/>
                            </a:solidFill>
                            <a:latin typeface="Cambria Math" panose="02040503050406030204" pitchFamily="18" charset="0"/>
                            <a:ea typeface="微软雅黑" panose="020B0503020204020204" pitchFamily="34" charset="-122"/>
                          </a:rPr>
                          <m:t>𝑣</m:t>
                        </m:r>
                      </m:e>
                      <m:sub>
                        <m:r>
                          <m:rPr>
                            <m:sty m:val="p"/>
                          </m:rPr>
                          <a:rPr kumimoji="1" lang="en-US" altLang="zh-CN" b="0" i="0" smtClean="0">
                            <a:solidFill>
                              <a:srgbClr val="0000FF"/>
                            </a:solidFill>
                            <a:latin typeface="Cambria Math" panose="02040503050406030204" pitchFamily="18" charset="0"/>
                            <a:ea typeface="微软雅黑" panose="020B0503020204020204" pitchFamily="34" charset="-122"/>
                          </a:rPr>
                          <m:t>D</m:t>
                        </m:r>
                      </m:sub>
                    </m:sSub>
                    <m:r>
                      <a:rPr kumimoji="1" lang="en-US" altLang="zh-CN" b="0" i="1" smtClean="0">
                        <a:solidFill>
                          <a:srgbClr val="0000FF"/>
                        </a:solidFill>
                        <a:latin typeface="Cambria Math" panose="02040503050406030204" pitchFamily="18" charset="0"/>
                        <a:ea typeface="微软雅黑" panose="020B0503020204020204" pitchFamily="34" charset="-122"/>
                      </a:rPr>
                      <m:t>&lt;0</m:t>
                    </m:r>
                  </m:oMath>
                </a14:m>
                <a:r>
                  <a:rPr kumimoji="1" lang="zh-CN" altLang="en-US" dirty="0">
                    <a:solidFill>
                      <a:srgbClr val="0000FF"/>
                    </a:solidFill>
                    <a:latin typeface="微软雅黑" panose="020B0503020204020204" pitchFamily="34" charset="-122"/>
                    <a:ea typeface="微软雅黑" panose="020B0503020204020204" pitchFamily="34" charset="-122"/>
                  </a:rPr>
                  <a:t>，</a:t>
                </a:r>
                <a14:m>
                  <m:oMath xmlns:m="http://schemas.openxmlformats.org/officeDocument/2006/math">
                    <m:sSub>
                      <m:sSubPr>
                        <m:ctrlPr>
                          <a:rPr kumimoji="1" lang="en-US" altLang="zh-CN" i="1">
                            <a:solidFill>
                              <a:srgbClr val="0000FF"/>
                            </a:solidFill>
                            <a:latin typeface="Cambria Math" panose="02040503050406030204" pitchFamily="18" charset="0"/>
                            <a:ea typeface="微软雅黑" panose="020B0503020204020204" pitchFamily="34" charset="-122"/>
                          </a:rPr>
                        </m:ctrlPr>
                      </m:sSubPr>
                      <m:e>
                        <m:r>
                          <a:rPr kumimoji="1" lang="en-US" altLang="zh-CN" b="0" i="1" smtClean="0">
                            <a:solidFill>
                              <a:srgbClr val="0000FF"/>
                            </a:solidFill>
                            <a:latin typeface="Cambria Math" panose="02040503050406030204" pitchFamily="18" charset="0"/>
                            <a:ea typeface="微软雅黑" panose="020B0503020204020204" pitchFamily="34" charset="-122"/>
                          </a:rPr>
                          <m:t>𝑖</m:t>
                        </m:r>
                      </m:e>
                      <m:sub>
                        <m:r>
                          <m:rPr>
                            <m:sty m:val="p"/>
                          </m:rPr>
                          <a:rPr kumimoji="1" lang="en-US" altLang="zh-CN" b="0" i="0" smtClean="0">
                            <a:solidFill>
                              <a:srgbClr val="0000FF"/>
                            </a:solidFill>
                            <a:latin typeface="Cambria Math" panose="02040503050406030204" pitchFamily="18" charset="0"/>
                            <a:ea typeface="微软雅黑" panose="020B0503020204020204" pitchFamily="34" charset="-122"/>
                          </a:rPr>
                          <m:t>D</m:t>
                        </m:r>
                      </m:sub>
                    </m:sSub>
                    <m:r>
                      <a:rPr kumimoji="1" lang="en-US" altLang="zh-CN" b="0" i="1" smtClean="0">
                        <a:solidFill>
                          <a:srgbClr val="0000FF"/>
                        </a:solidFill>
                        <a:latin typeface="Cambria Math" panose="02040503050406030204" pitchFamily="18" charset="0"/>
                        <a:ea typeface="微软雅黑" panose="020B0503020204020204" pitchFamily="34" charset="-122"/>
                      </a:rPr>
                      <m:t>=</m:t>
                    </m:r>
                    <m:r>
                      <a:rPr kumimoji="1" lang="en-US" altLang="zh-CN" i="1">
                        <a:solidFill>
                          <a:srgbClr val="0000FF"/>
                        </a:solidFill>
                        <a:latin typeface="Cambria Math" panose="02040503050406030204" pitchFamily="18" charset="0"/>
                        <a:ea typeface="微软雅黑" panose="020B0503020204020204" pitchFamily="34" charset="-122"/>
                      </a:rPr>
                      <m:t>0</m:t>
                    </m:r>
                  </m:oMath>
                </a14:m>
                <a:r>
                  <a:rPr kumimoji="1" lang="en-US" altLang="zh-CN" dirty="0">
                    <a:solidFill>
                      <a:srgbClr val="0000FF"/>
                    </a:solidFill>
                    <a:latin typeface="微软雅黑" panose="020B0503020204020204" pitchFamily="34" charset="-122"/>
                    <a:ea typeface="微软雅黑" panose="020B0503020204020204" pitchFamily="34" charset="-122"/>
                  </a:rPr>
                  <a:t> )</a:t>
                </a:r>
              </a:p>
            </p:txBody>
          </p:sp>
        </mc:Choice>
        <mc:Fallback xmlns="">
          <p:sp>
            <p:nvSpPr>
              <p:cNvPr id="129" name="文本框 128">
                <a:extLst>
                  <a:ext uri="{FF2B5EF4-FFF2-40B4-BE49-F238E27FC236}">
                    <a16:creationId xmlns:a16="http://schemas.microsoft.com/office/drawing/2014/main" id="{D89246E3-5AAB-3FB4-F4EC-3AFB2775322F}"/>
                  </a:ext>
                </a:extLst>
              </p:cNvPr>
              <p:cNvSpPr txBox="1">
                <a:spLocks noRot="1" noChangeAspect="1" noMove="1" noResize="1" noEditPoints="1" noAdjustHandles="1" noChangeArrowheads="1" noChangeShapeType="1" noTextEdit="1"/>
              </p:cNvSpPr>
              <p:nvPr/>
            </p:nvSpPr>
            <p:spPr>
              <a:xfrm>
                <a:off x="9612000" y="3240000"/>
                <a:ext cx="2094315" cy="401841"/>
              </a:xfrm>
              <a:prstGeom prst="rect">
                <a:avLst/>
              </a:prstGeom>
              <a:blipFill>
                <a:blip r:embed="rId4"/>
                <a:stretch>
                  <a:fillRect l="-583" r="-292" b="-227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3" name="Rectangle 12">
                <a:extLst>
                  <a:ext uri="{FF2B5EF4-FFF2-40B4-BE49-F238E27FC236}">
                    <a16:creationId xmlns:a16="http://schemas.microsoft.com/office/drawing/2014/main" id="{0BBCA21E-DF30-A469-B95C-48E59EA350A3}"/>
                  </a:ext>
                </a:extLst>
              </p:cNvPr>
              <p:cNvSpPr>
                <a:spLocks noChangeArrowheads="1"/>
              </p:cNvSpPr>
              <p:nvPr/>
            </p:nvSpPr>
            <p:spPr bwMode="auto">
              <a:xfrm>
                <a:off x="8640000" y="5652000"/>
                <a:ext cx="2467952" cy="707886"/>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r>
                  <a:rPr kumimoji="1" lang="zh-CN" altLang="en-US" sz="2000" b="0" dirty="0">
                    <a:solidFill>
                      <a:srgbClr val="0000FF"/>
                    </a:solidFill>
                    <a:latin typeface="Microsoft YaHei" panose="020B0503020204020204" pitchFamily="34" charset="-122"/>
                    <a:ea typeface="Microsoft YaHei" panose="020B0503020204020204" pitchFamily="34" charset="-122"/>
                  </a:rPr>
                  <a:t>硅二极管 </a:t>
                </a:r>
                <a14:m>
                  <m:oMath xmlns:m="http://schemas.openxmlformats.org/officeDocument/2006/math">
                    <m:sSub>
                      <m:sSubPr>
                        <m:ctrlPr>
                          <a:rPr kumimoji="1" lang="en-US" altLang="zh-CN" sz="2000" i="1">
                            <a:solidFill>
                              <a:srgbClr val="0000FF"/>
                            </a:solidFill>
                            <a:latin typeface="Cambria Math" panose="02040503050406030204" pitchFamily="18" charset="0"/>
                            <a:ea typeface="微软雅黑" panose="020B0503020204020204" pitchFamily="34" charset="-122"/>
                          </a:rPr>
                        </m:ctrlPr>
                      </m:sSubPr>
                      <m:e>
                        <m:r>
                          <a:rPr kumimoji="1" lang="en-US" altLang="zh-CN" sz="2000" b="0" i="1">
                            <a:solidFill>
                              <a:srgbClr val="0000FF"/>
                            </a:solidFill>
                            <a:latin typeface="Cambria Math" panose="02040503050406030204" pitchFamily="18" charset="0"/>
                            <a:ea typeface="微软雅黑" panose="020B0503020204020204" pitchFamily="34" charset="-122"/>
                          </a:rPr>
                          <m:t>𝑉</m:t>
                        </m:r>
                      </m:e>
                      <m:sub>
                        <m:r>
                          <m:rPr>
                            <m:sty m:val="p"/>
                          </m:rPr>
                          <a:rPr kumimoji="1" lang="en-US" altLang="zh-CN" sz="2000" b="0" i="0" smtClean="0">
                            <a:solidFill>
                              <a:srgbClr val="0000FF"/>
                            </a:solidFill>
                            <a:latin typeface="Cambria Math" panose="02040503050406030204" pitchFamily="18" charset="0"/>
                            <a:ea typeface="微软雅黑" panose="020B0503020204020204" pitchFamily="34" charset="-122"/>
                          </a:rPr>
                          <m:t>D</m:t>
                        </m:r>
                      </m:sub>
                    </m:sSub>
                    <m:r>
                      <a:rPr kumimoji="1" lang="en-US" altLang="zh-CN" sz="2000" b="0" i="1" smtClean="0">
                        <a:solidFill>
                          <a:srgbClr val="0000FF"/>
                        </a:solidFill>
                        <a:latin typeface="Cambria Math" panose="02040503050406030204" pitchFamily="18" charset="0"/>
                        <a:ea typeface="微软雅黑" panose="020B0503020204020204" pitchFamily="34" charset="-122"/>
                      </a:rPr>
                      <m:t>≈0.7 </m:t>
                    </m:r>
                    <m:r>
                      <m:rPr>
                        <m:sty m:val="p"/>
                      </m:rPr>
                      <a:rPr kumimoji="1" lang="en-US" altLang="zh-CN" sz="2000" b="0" i="0" smtClean="0">
                        <a:solidFill>
                          <a:srgbClr val="0000FF"/>
                        </a:solidFill>
                        <a:latin typeface="Cambria Math" panose="02040503050406030204" pitchFamily="18" charset="0"/>
                        <a:ea typeface="微软雅黑" panose="020B0503020204020204" pitchFamily="34" charset="-122"/>
                      </a:rPr>
                      <m:t>V</m:t>
                    </m:r>
                  </m:oMath>
                </a14:m>
                <a:endParaRPr kumimoji="1" lang="en-US" altLang="zh-CN" sz="2000" b="0" dirty="0">
                  <a:solidFill>
                    <a:srgbClr val="0000FF"/>
                  </a:solidFill>
                  <a:latin typeface="Microsoft YaHei" panose="020B0503020204020204" pitchFamily="34" charset="-122"/>
                  <a:ea typeface="Microsoft YaHei" panose="020B0503020204020204" pitchFamily="34" charset="-122"/>
                </a:endParaRPr>
              </a:p>
              <a:p>
                <a:pPr algn="ctr">
                  <a:spcAft>
                    <a:spcPct val="0"/>
                  </a:spcAft>
                  <a:buNone/>
                </a:pPr>
                <a:r>
                  <a:rPr kumimoji="1" lang="zh-CN" altLang="en-US" sz="2000" b="0" dirty="0">
                    <a:solidFill>
                      <a:srgbClr val="0000FF"/>
                    </a:solidFill>
                    <a:latin typeface="Microsoft YaHei" panose="020B0503020204020204" pitchFamily="34" charset="-122"/>
                    <a:ea typeface="Microsoft YaHei" panose="020B0503020204020204" pitchFamily="34" charset="-122"/>
                  </a:rPr>
                  <a:t>锗二极管 </a:t>
                </a:r>
                <a14:m>
                  <m:oMath xmlns:m="http://schemas.openxmlformats.org/officeDocument/2006/math">
                    <m:sSub>
                      <m:sSubPr>
                        <m:ctrlPr>
                          <a:rPr kumimoji="1" lang="en-US" altLang="zh-CN" sz="2000" i="1">
                            <a:solidFill>
                              <a:srgbClr val="0000FF"/>
                            </a:solidFill>
                            <a:latin typeface="Cambria Math" panose="02040503050406030204" pitchFamily="18" charset="0"/>
                            <a:ea typeface="微软雅黑" panose="020B0503020204020204" pitchFamily="34" charset="-122"/>
                          </a:rPr>
                        </m:ctrlPr>
                      </m:sSubPr>
                      <m:e>
                        <m:r>
                          <a:rPr kumimoji="1" lang="en-US" altLang="zh-CN" sz="2000" b="0" i="1">
                            <a:solidFill>
                              <a:srgbClr val="0000FF"/>
                            </a:solidFill>
                            <a:latin typeface="Cambria Math" panose="02040503050406030204" pitchFamily="18" charset="0"/>
                            <a:ea typeface="微软雅黑" panose="020B0503020204020204" pitchFamily="34" charset="-122"/>
                          </a:rPr>
                          <m:t>𝑉</m:t>
                        </m:r>
                      </m:e>
                      <m:sub>
                        <m:r>
                          <m:rPr>
                            <m:sty m:val="p"/>
                          </m:rPr>
                          <a:rPr kumimoji="1" lang="en-US" altLang="zh-CN" sz="2000" b="0" i="0" smtClean="0">
                            <a:solidFill>
                              <a:srgbClr val="0000FF"/>
                            </a:solidFill>
                            <a:latin typeface="Cambria Math" panose="02040503050406030204" pitchFamily="18" charset="0"/>
                            <a:ea typeface="微软雅黑" panose="020B0503020204020204" pitchFamily="34" charset="-122"/>
                          </a:rPr>
                          <m:t>D</m:t>
                        </m:r>
                      </m:sub>
                    </m:sSub>
                    <m:r>
                      <a:rPr kumimoji="1" lang="en-US" altLang="zh-CN" sz="2000" b="0" i="1">
                        <a:solidFill>
                          <a:srgbClr val="0000FF"/>
                        </a:solidFill>
                        <a:latin typeface="Cambria Math" panose="02040503050406030204" pitchFamily="18" charset="0"/>
                        <a:ea typeface="微软雅黑" panose="020B0503020204020204" pitchFamily="34" charset="-122"/>
                      </a:rPr>
                      <m:t>≈0.</m:t>
                    </m:r>
                    <m:r>
                      <a:rPr kumimoji="1" lang="en-US" altLang="zh-CN" sz="2000" b="0" i="1" smtClean="0">
                        <a:solidFill>
                          <a:srgbClr val="0000FF"/>
                        </a:solidFill>
                        <a:latin typeface="Cambria Math" panose="02040503050406030204" pitchFamily="18" charset="0"/>
                        <a:ea typeface="微软雅黑" panose="020B0503020204020204" pitchFamily="34" charset="-122"/>
                      </a:rPr>
                      <m:t>2</m:t>
                    </m:r>
                    <m:r>
                      <a:rPr kumimoji="1" lang="en-US" altLang="zh-CN" sz="2000" b="0" i="1">
                        <a:solidFill>
                          <a:srgbClr val="0000FF"/>
                        </a:solidFill>
                        <a:latin typeface="Cambria Math" panose="02040503050406030204" pitchFamily="18" charset="0"/>
                        <a:ea typeface="微软雅黑" panose="020B0503020204020204" pitchFamily="34" charset="-122"/>
                      </a:rPr>
                      <m:t> </m:t>
                    </m:r>
                    <m:r>
                      <m:rPr>
                        <m:sty m:val="p"/>
                      </m:rPr>
                      <a:rPr kumimoji="1" lang="en-US" altLang="zh-CN" sz="2000" b="0">
                        <a:solidFill>
                          <a:srgbClr val="0000FF"/>
                        </a:solidFill>
                        <a:latin typeface="Cambria Math" panose="02040503050406030204" pitchFamily="18" charset="0"/>
                        <a:ea typeface="微软雅黑" panose="020B0503020204020204" pitchFamily="34" charset="-122"/>
                      </a:rPr>
                      <m:t>V</m:t>
                    </m:r>
                  </m:oMath>
                </a14:m>
                <a:endParaRPr kumimoji="1" lang="en-US" altLang="zh-CN" sz="2000" b="0" dirty="0">
                  <a:solidFill>
                    <a:srgbClr val="0000FF"/>
                  </a:solidFill>
                  <a:latin typeface="Microsoft YaHei" panose="020B0503020204020204" pitchFamily="34" charset="-122"/>
                  <a:ea typeface="Microsoft YaHei" panose="020B0503020204020204" pitchFamily="34" charset="-122"/>
                </a:endParaRPr>
              </a:p>
            </p:txBody>
          </p:sp>
        </mc:Choice>
        <mc:Fallback xmlns="">
          <p:sp>
            <p:nvSpPr>
              <p:cNvPr id="183" name="Rectangle 12">
                <a:extLst>
                  <a:ext uri="{FF2B5EF4-FFF2-40B4-BE49-F238E27FC236}">
                    <a16:creationId xmlns:a16="http://schemas.microsoft.com/office/drawing/2014/main" id="{0BBCA21E-DF30-A469-B95C-48E59EA350A3}"/>
                  </a:ext>
                </a:extLst>
              </p:cNvPr>
              <p:cNvSpPr>
                <a:spLocks noRot="1" noChangeAspect="1" noMove="1" noResize="1" noEditPoints="1" noAdjustHandles="1" noChangeArrowheads="1" noChangeShapeType="1" noTextEdit="1"/>
              </p:cNvSpPr>
              <p:nvPr/>
            </p:nvSpPr>
            <p:spPr bwMode="auto">
              <a:xfrm>
                <a:off x="8640000" y="5652000"/>
                <a:ext cx="2467952" cy="707886"/>
              </a:xfrm>
              <a:prstGeom prst="rect">
                <a:avLst/>
              </a:prstGeom>
              <a:blipFill>
                <a:blip r:embed="rId9"/>
                <a:stretch>
                  <a:fillRect l="-1481" t="-4310" b="-1465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188" name="组合 187">
            <a:extLst>
              <a:ext uri="{FF2B5EF4-FFF2-40B4-BE49-F238E27FC236}">
                <a16:creationId xmlns:a16="http://schemas.microsoft.com/office/drawing/2014/main" id="{38719D29-1EA0-9C11-C714-884C0128FB0A}"/>
              </a:ext>
            </a:extLst>
          </p:cNvPr>
          <p:cNvGrpSpPr/>
          <p:nvPr/>
        </p:nvGrpSpPr>
        <p:grpSpPr>
          <a:xfrm>
            <a:off x="5148000" y="1440000"/>
            <a:ext cx="2304000" cy="2339097"/>
            <a:chOff x="5877291" y="1577456"/>
            <a:chExt cx="2304000" cy="2339097"/>
          </a:xfrm>
        </p:grpSpPr>
        <p:cxnSp>
          <p:nvCxnSpPr>
            <p:cNvPr id="124" name="直接连接符 123">
              <a:extLst>
                <a:ext uri="{FF2B5EF4-FFF2-40B4-BE49-F238E27FC236}">
                  <a16:creationId xmlns:a16="http://schemas.microsoft.com/office/drawing/2014/main" id="{92871BE5-2EA9-59ED-76F7-48E222B8F8D9}"/>
                </a:ext>
              </a:extLst>
            </p:cNvPr>
            <p:cNvCxnSpPr>
              <a:cxnSpLocks/>
            </p:cNvCxnSpPr>
            <p:nvPr/>
          </p:nvCxnSpPr>
          <p:spPr>
            <a:xfrm>
              <a:off x="5877291" y="3413456"/>
              <a:ext cx="1872000" cy="0"/>
            </a:xfrm>
            <a:prstGeom prst="line">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26" name="直接连接符 125">
              <a:extLst>
                <a:ext uri="{FF2B5EF4-FFF2-40B4-BE49-F238E27FC236}">
                  <a16:creationId xmlns:a16="http://schemas.microsoft.com/office/drawing/2014/main" id="{CD235351-271D-9E2F-702B-AF372E6E76D7}"/>
                </a:ext>
              </a:extLst>
            </p:cNvPr>
            <p:cNvCxnSpPr>
              <a:cxnSpLocks/>
            </p:cNvCxnSpPr>
            <p:nvPr/>
          </p:nvCxnSpPr>
          <p:spPr>
            <a:xfrm flipH="1" flipV="1">
              <a:off x="6597291" y="1793456"/>
              <a:ext cx="0" cy="2052000"/>
            </a:xfrm>
            <a:prstGeom prst="line">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Text Box 8">
                  <a:extLst>
                    <a:ext uri="{FF2B5EF4-FFF2-40B4-BE49-F238E27FC236}">
                      <a16:creationId xmlns:a16="http://schemas.microsoft.com/office/drawing/2014/main" id="{313369FB-C70F-AD28-900D-7756E0F8D713}"/>
                    </a:ext>
                  </a:extLst>
                </p:cNvPr>
                <p:cNvSpPr txBox="1">
                  <a:spLocks noChangeArrowheads="1"/>
                </p:cNvSpPr>
                <p:nvPr/>
              </p:nvSpPr>
              <p:spPr bwMode="auto">
                <a:xfrm>
                  <a:off x="6597291" y="1577456"/>
                  <a:ext cx="468000" cy="432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ea typeface="微软雅黑" panose="020B0503020204020204" pitchFamily="34" charset="-122"/>
                              </a:rPr>
                            </m:ctrlPr>
                          </m:sSubPr>
                          <m:e>
                            <m:r>
                              <a:rPr kumimoji="1" lang="en-US" altLang="zh-CN" sz="2400" b="0" i="1">
                                <a:latin typeface="Cambria Math" panose="02040503050406030204" pitchFamily="18" charset="0"/>
                                <a:ea typeface="微软雅黑" panose="020B0503020204020204" pitchFamily="34" charset="-122"/>
                              </a:rPr>
                              <m:t>𝑖</m:t>
                            </m:r>
                          </m:e>
                          <m:sub>
                            <m:r>
                              <m:rPr>
                                <m:sty m:val="p"/>
                              </m:rPr>
                              <a:rPr kumimoji="1" lang="en-US" altLang="zh-CN" sz="2400" b="0" i="0" smtClean="0">
                                <a:latin typeface="Cambria Math" panose="02040503050406030204" pitchFamily="18" charset="0"/>
                                <a:ea typeface="微软雅黑" panose="020B0503020204020204" pitchFamily="34" charset="-122"/>
                              </a:rPr>
                              <m:t>D</m:t>
                            </m:r>
                          </m:sub>
                        </m:sSub>
                      </m:oMath>
                    </m:oMathPara>
                  </a14:m>
                  <a:endParaRPr kumimoji="1" lang="en-US" altLang="zh-CN" sz="2400" i="1" dirty="0">
                    <a:ea typeface="楷体_GB2312" pitchFamily="49" charset="-122"/>
                  </a:endParaRPr>
                </a:p>
              </p:txBody>
            </p:sp>
          </mc:Choice>
          <mc:Fallback xmlns="">
            <p:sp>
              <p:nvSpPr>
                <p:cNvPr id="63" name="Text Box 8">
                  <a:extLst>
                    <a:ext uri="{FF2B5EF4-FFF2-40B4-BE49-F238E27FC236}">
                      <a16:creationId xmlns:a16="http://schemas.microsoft.com/office/drawing/2014/main" id="{313369FB-C70F-AD28-900D-7756E0F8D713}"/>
                    </a:ext>
                  </a:extLst>
                </p:cNvPr>
                <p:cNvSpPr txBox="1">
                  <a:spLocks noRot="1" noChangeAspect="1" noMove="1" noResize="1" noEditPoints="1" noAdjustHandles="1" noChangeArrowheads="1" noChangeShapeType="1" noTextEdit="1"/>
                </p:cNvSpPr>
                <p:nvPr/>
              </p:nvSpPr>
              <p:spPr bwMode="auto">
                <a:xfrm>
                  <a:off x="6597291" y="1577456"/>
                  <a:ext cx="468000" cy="432000"/>
                </a:xfrm>
                <a:prstGeom prst="rect">
                  <a:avLst/>
                </a:prstGeom>
                <a:blipFill>
                  <a:blip r:embed="rId10"/>
                  <a:stretch>
                    <a:fillRect l="-10526" b="-8451"/>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4" name="Text Box 8">
                  <a:extLst>
                    <a:ext uri="{FF2B5EF4-FFF2-40B4-BE49-F238E27FC236}">
                      <a16:creationId xmlns:a16="http://schemas.microsoft.com/office/drawing/2014/main" id="{24A6FACA-B007-04B5-6B09-9C367F5A9C3C}"/>
                    </a:ext>
                  </a:extLst>
                </p:cNvPr>
                <p:cNvSpPr txBox="1">
                  <a:spLocks noChangeArrowheads="1"/>
                </p:cNvSpPr>
                <p:nvPr/>
              </p:nvSpPr>
              <p:spPr bwMode="auto">
                <a:xfrm>
                  <a:off x="7677291" y="2981456"/>
                  <a:ext cx="504000" cy="468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ea typeface="微软雅黑" panose="020B0503020204020204" pitchFamily="34" charset="-122"/>
                              </a:rPr>
                            </m:ctrlPr>
                          </m:sSubPr>
                          <m:e>
                            <m:r>
                              <a:rPr kumimoji="1" lang="en-US" altLang="zh-CN" sz="2400" b="0" i="1" smtClean="0">
                                <a:latin typeface="Cambria Math" panose="02040503050406030204" pitchFamily="18" charset="0"/>
                                <a:ea typeface="微软雅黑" panose="020B0503020204020204" pitchFamily="34" charset="-122"/>
                              </a:rPr>
                              <m:t>𝑣</m:t>
                            </m:r>
                          </m:e>
                          <m:sub>
                            <m:r>
                              <m:rPr>
                                <m:sty m:val="p"/>
                              </m:rPr>
                              <a:rPr kumimoji="1" lang="en-US" altLang="zh-CN" sz="2400" b="0" i="0" smtClean="0">
                                <a:latin typeface="Cambria Math" panose="02040503050406030204" pitchFamily="18" charset="0"/>
                                <a:ea typeface="微软雅黑" panose="020B0503020204020204" pitchFamily="34" charset="-122"/>
                              </a:rPr>
                              <m:t>D</m:t>
                            </m:r>
                          </m:sub>
                        </m:sSub>
                      </m:oMath>
                    </m:oMathPara>
                  </a14:m>
                  <a:endParaRPr kumimoji="1" lang="en-US" altLang="zh-CN" sz="2400" i="1" dirty="0">
                    <a:ea typeface="楷体_GB2312" pitchFamily="49" charset="-122"/>
                  </a:endParaRPr>
                </a:p>
              </p:txBody>
            </p:sp>
          </mc:Choice>
          <mc:Fallback xmlns="">
            <p:sp>
              <p:nvSpPr>
                <p:cNvPr id="64" name="Text Box 8">
                  <a:extLst>
                    <a:ext uri="{FF2B5EF4-FFF2-40B4-BE49-F238E27FC236}">
                      <a16:creationId xmlns:a16="http://schemas.microsoft.com/office/drawing/2014/main" id="{24A6FACA-B007-04B5-6B09-9C367F5A9C3C}"/>
                    </a:ext>
                  </a:extLst>
                </p:cNvPr>
                <p:cNvSpPr txBox="1">
                  <a:spLocks noRot="1" noChangeAspect="1" noMove="1" noResize="1" noEditPoints="1" noAdjustHandles="1" noChangeArrowheads="1" noChangeShapeType="1" noTextEdit="1"/>
                </p:cNvSpPr>
                <p:nvPr/>
              </p:nvSpPr>
              <p:spPr bwMode="auto">
                <a:xfrm>
                  <a:off x="7677291" y="2981456"/>
                  <a:ext cx="504000" cy="468000"/>
                </a:xfrm>
                <a:prstGeom prst="rect">
                  <a:avLst/>
                </a:prstGeom>
                <a:blipFill>
                  <a:blip r:embed="rId11"/>
                  <a:stretch>
                    <a:fillRect l="-7317" b="-394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p:grpSp>
          <p:nvGrpSpPr>
            <p:cNvPr id="65" name="组合 64">
              <a:extLst>
                <a:ext uri="{FF2B5EF4-FFF2-40B4-BE49-F238E27FC236}">
                  <a16:creationId xmlns:a16="http://schemas.microsoft.com/office/drawing/2014/main" id="{4E31C31A-8DED-07E5-61AE-142D0B21EA9E}"/>
                </a:ext>
              </a:extLst>
            </p:cNvPr>
            <p:cNvGrpSpPr/>
            <p:nvPr/>
          </p:nvGrpSpPr>
          <p:grpSpPr>
            <a:xfrm>
              <a:off x="6597291" y="2045456"/>
              <a:ext cx="972000" cy="1368000"/>
              <a:chOff x="1894812" y="5013202"/>
              <a:chExt cx="878362" cy="1289409"/>
            </a:xfrm>
          </p:grpSpPr>
          <p:sp>
            <p:nvSpPr>
              <p:cNvPr id="72" name="任意多边形: 形状 71">
                <a:extLst>
                  <a:ext uri="{FF2B5EF4-FFF2-40B4-BE49-F238E27FC236}">
                    <a16:creationId xmlns:a16="http://schemas.microsoft.com/office/drawing/2014/main" id="{9C008A76-904A-1922-DACF-EA18A8F9DC26}"/>
                  </a:ext>
                </a:extLst>
              </p:cNvPr>
              <p:cNvSpPr/>
              <p:nvPr/>
            </p:nvSpPr>
            <p:spPr>
              <a:xfrm>
                <a:off x="2187599" y="5013202"/>
                <a:ext cx="585575" cy="1289409"/>
              </a:xfrm>
              <a:custGeom>
                <a:avLst/>
                <a:gdLst>
                  <a:gd name="connsiteX0" fmla="*/ 0 w 605831"/>
                  <a:gd name="connsiteY0" fmla="*/ 1277899 h 1278370"/>
                  <a:gd name="connsiteX1" fmla="*/ 428120 w 605831"/>
                  <a:gd name="connsiteY1" fmla="*/ 1069493 h 1278370"/>
                  <a:gd name="connsiteX2" fmla="*/ 605831 w 605831"/>
                  <a:gd name="connsiteY2" fmla="*/ 0 h 1278370"/>
                </a:gdLst>
                <a:ahLst/>
                <a:cxnLst>
                  <a:cxn ang="0">
                    <a:pos x="connsiteX0" y="connsiteY0"/>
                  </a:cxn>
                  <a:cxn ang="0">
                    <a:pos x="connsiteX1" y="connsiteY1"/>
                  </a:cxn>
                  <a:cxn ang="0">
                    <a:pos x="connsiteX2" y="connsiteY2"/>
                  </a:cxn>
                </a:cxnLst>
                <a:rect l="l" t="t" r="r" b="b"/>
                <a:pathLst>
                  <a:path w="605831" h="1278370">
                    <a:moveTo>
                      <a:pt x="0" y="1277899"/>
                    </a:moveTo>
                    <a:cubicBezTo>
                      <a:pt x="163574" y="1280187"/>
                      <a:pt x="327148" y="1282476"/>
                      <a:pt x="428120" y="1069493"/>
                    </a:cubicBezTo>
                    <a:cubicBezTo>
                      <a:pt x="529092" y="856510"/>
                      <a:pt x="605831" y="0"/>
                      <a:pt x="605831" y="0"/>
                    </a:cubicBezTo>
                  </a:path>
                </a:pathLst>
              </a:custGeom>
              <a:noFill/>
              <a:ln w="381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3" name="直接连接符 72">
                <a:extLst>
                  <a:ext uri="{FF2B5EF4-FFF2-40B4-BE49-F238E27FC236}">
                    <a16:creationId xmlns:a16="http://schemas.microsoft.com/office/drawing/2014/main" id="{3A272EC2-0092-B484-D582-FC78F7BEFF24}"/>
                  </a:ext>
                </a:extLst>
              </p:cNvPr>
              <p:cNvCxnSpPr/>
              <p:nvPr/>
            </p:nvCxnSpPr>
            <p:spPr>
              <a:xfrm flipH="1">
                <a:off x="1894812" y="6302611"/>
                <a:ext cx="195192" cy="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cxnSp>
          <p:nvCxnSpPr>
            <p:cNvPr id="83" name="直接连接符 82">
              <a:extLst>
                <a:ext uri="{FF2B5EF4-FFF2-40B4-BE49-F238E27FC236}">
                  <a16:creationId xmlns:a16="http://schemas.microsoft.com/office/drawing/2014/main" id="{4AE0843D-4EB2-0A03-BA1E-27D55AF756B0}"/>
                </a:ext>
              </a:extLst>
            </p:cNvPr>
            <p:cNvCxnSpPr>
              <a:cxnSpLocks/>
            </p:cNvCxnSpPr>
            <p:nvPr/>
          </p:nvCxnSpPr>
          <p:spPr>
            <a:xfrm>
              <a:off x="5877291" y="3413456"/>
              <a:ext cx="720000" cy="0"/>
            </a:xfrm>
            <a:prstGeom prst="line">
              <a:avLst/>
            </a:prstGeom>
            <a:ln w="635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0A7D95F4-7E05-73D2-37F4-0F9BCA5B0405}"/>
                </a:ext>
              </a:extLst>
            </p:cNvPr>
            <p:cNvCxnSpPr>
              <a:cxnSpLocks/>
            </p:cNvCxnSpPr>
            <p:nvPr/>
          </p:nvCxnSpPr>
          <p:spPr>
            <a:xfrm>
              <a:off x="6597291" y="2081456"/>
              <a:ext cx="1" cy="1332903"/>
            </a:xfrm>
            <a:prstGeom prst="line">
              <a:avLst/>
            </a:prstGeom>
            <a:ln w="63500">
              <a:solidFill>
                <a:srgbClr val="0000FF"/>
              </a:solidFill>
            </a:ln>
          </p:spPr>
          <p:style>
            <a:lnRef idx="1">
              <a:schemeClr val="accent1"/>
            </a:lnRef>
            <a:fillRef idx="0">
              <a:schemeClr val="accent1"/>
            </a:fillRef>
            <a:effectRef idx="0">
              <a:schemeClr val="accent1"/>
            </a:effectRef>
            <a:fontRef idx="minor">
              <a:schemeClr val="tx1"/>
            </a:fontRef>
          </p:style>
        </p:cxnSp>
        <p:sp>
          <p:nvSpPr>
            <p:cNvPr id="186" name="文本框 185">
              <a:extLst>
                <a:ext uri="{FF2B5EF4-FFF2-40B4-BE49-F238E27FC236}">
                  <a16:creationId xmlns:a16="http://schemas.microsoft.com/office/drawing/2014/main" id="{E8FF6AEA-2493-7C2F-4FCF-3F901258E95C}"/>
                </a:ext>
              </a:extLst>
            </p:cNvPr>
            <p:cNvSpPr txBox="1"/>
            <p:nvPr/>
          </p:nvSpPr>
          <p:spPr>
            <a:xfrm>
              <a:off x="6237291" y="3412553"/>
              <a:ext cx="360000" cy="504000"/>
            </a:xfrm>
            <a:prstGeom prst="rect">
              <a:avLst/>
            </a:prstGeom>
            <a:noFill/>
          </p:spPr>
          <p:txBody>
            <a:bodyPr wrap="square">
              <a:spAutoFit/>
            </a:bodyPr>
            <a:lstStyle/>
            <a:p>
              <a:pPr algn="ctr"/>
              <a:r>
                <a:rPr kumimoji="1" lang="en-US" altLang="zh-CN" sz="2400" b="0" dirty="0">
                  <a:latin typeface="微软雅黑" panose="020B0503020204020204" pitchFamily="34" charset="-122"/>
                  <a:ea typeface="微软雅黑" panose="020B0503020204020204" pitchFamily="34" charset="-122"/>
                </a:rPr>
                <a:t>0</a:t>
              </a:r>
              <a:endParaRPr lang="zh-CN" altLang="en-US" sz="2400" dirty="0"/>
            </a:p>
          </p:txBody>
        </p:sp>
      </p:grpSp>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DE32C92D-D814-0466-7A00-D19D85AE3EB3}"/>
                  </a:ext>
                </a:extLst>
              </p:cNvPr>
              <p:cNvSpPr txBox="1"/>
              <p:nvPr/>
            </p:nvSpPr>
            <p:spPr>
              <a:xfrm>
                <a:off x="7920000" y="2700000"/>
                <a:ext cx="3817305" cy="432000"/>
              </a:xfrm>
              <a:prstGeom prst="rect">
                <a:avLst/>
              </a:prstGeom>
              <a:noFill/>
            </p:spPr>
            <p:txBody>
              <a:bodyPr wrap="square">
                <a:spAutoFit/>
              </a:bodyPr>
              <a:lstStyle/>
              <a:p>
                <a:pPr algn="ctr">
                  <a:lnSpc>
                    <a:spcPct val="120000"/>
                  </a:lnSpc>
                  <a:spcAft>
                    <a:spcPts val="600"/>
                  </a:spcAft>
                </a:pPr>
                <a:r>
                  <a:rPr kumimoji="1" lang="en-US" altLang="zh-CN" dirty="0">
                    <a:solidFill>
                      <a:srgbClr val="0000FF"/>
                    </a:solidFill>
                    <a:latin typeface="微软雅黑" panose="020B0503020204020204" pitchFamily="34" charset="-122"/>
                    <a:ea typeface="微软雅黑" panose="020B0503020204020204" pitchFamily="34" charset="-122"/>
                  </a:rPr>
                  <a:t>( </a:t>
                </a:r>
                <a14:m>
                  <m:oMath xmlns:m="http://schemas.openxmlformats.org/officeDocument/2006/math">
                    <m:sSub>
                      <m:sSubPr>
                        <m:ctrlPr>
                          <a:rPr kumimoji="1" lang="en-US" altLang="zh-CN" i="1" smtClean="0">
                            <a:solidFill>
                              <a:srgbClr val="0000FF"/>
                            </a:solidFill>
                            <a:latin typeface="Cambria Math" panose="02040503050406030204" pitchFamily="18" charset="0"/>
                            <a:ea typeface="微软雅黑" panose="020B0503020204020204" pitchFamily="34" charset="-122"/>
                          </a:rPr>
                        </m:ctrlPr>
                      </m:sSubPr>
                      <m:e>
                        <m:r>
                          <a:rPr kumimoji="1" lang="en-US" altLang="zh-CN" b="0" i="1" smtClean="0">
                            <a:solidFill>
                              <a:srgbClr val="0000FF"/>
                            </a:solidFill>
                            <a:latin typeface="Cambria Math" panose="02040503050406030204" pitchFamily="18" charset="0"/>
                            <a:ea typeface="微软雅黑" panose="020B0503020204020204" pitchFamily="34" charset="-122"/>
                          </a:rPr>
                          <m:t>𝑖</m:t>
                        </m:r>
                      </m:e>
                      <m:sub>
                        <m:r>
                          <m:rPr>
                            <m:sty m:val="p"/>
                          </m:rPr>
                          <a:rPr kumimoji="1" lang="en-US" altLang="zh-CN" b="0" i="0" smtClean="0">
                            <a:solidFill>
                              <a:srgbClr val="0000FF"/>
                            </a:solidFill>
                            <a:latin typeface="Cambria Math" panose="02040503050406030204" pitchFamily="18" charset="0"/>
                            <a:ea typeface="微软雅黑" panose="020B0503020204020204" pitchFamily="34" charset="-122"/>
                          </a:rPr>
                          <m:t>D</m:t>
                        </m:r>
                      </m:sub>
                    </m:sSub>
                    <m:r>
                      <a:rPr kumimoji="1" lang="en-US" altLang="zh-CN" b="0" i="1" smtClean="0">
                        <a:solidFill>
                          <a:srgbClr val="0000FF"/>
                        </a:solidFill>
                        <a:latin typeface="Cambria Math" panose="02040503050406030204" pitchFamily="18" charset="0"/>
                        <a:ea typeface="微软雅黑" panose="020B0503020204020204" pitchFamily="34" charset="-122"/>
                      </a:rPr>
                      <m:t>&gt;0</m:t>
                    </m:r>
                  </m:oMath>
                </a14:m>
                <a:r>
                  <a:rPr kumimoji="1" lang="zh-CN" altLang="en-US" dirty="0">
                    <a:solidFill>
                      <a:srgbClr val="0000FF"/>
                    </a:solidFill>
                    <a:latin typeface="微软雅黑" panose="020B0503020204020204" pitchFamily="34" charset="-122"/>
                    <a:ea typeface="微软雅黑" panose="020B0503020204020204" pitchFamily="34" charset="-122"/>
                  </a:rPr>
                  <a:t>，</a:t>
                </a:r>
                <a14:m>
                  <m:oMath xmlns:m="http://schemas.openxmlformats.org/officeDocument/2006/math">
                    <m:sSub>
                      <m:sSubPr>
                        <m:ctrlPr>
                          <a:rPr kumimoji="1" lang="en-US" altLang="zh-CN" i="1">
                            <a:solidFill>
                              <a:srgbClr val="0000FF"/>
                            </a:solidFill>
                            <a:latin typeface="Cambria Math" panose="02040503050406030204" pitchFamily="18" charset="0"/>
                            <a:ea typeface="微软雅黑" panose="020B0503020204020204" pitchFamily="34" charset="-122"/>
                          </a:rPr>
                        </m:ctrlPr>
                      </m:sSubPr>
                      <m:e>
                        <m:r>
                          <a:rPr kumimoji="1" lang="en-US" altLang="zh-CN" b="0" i="1" smtClean="0">
                            <a:solidFill>
                              <a:srgbClr val="0000FF"/>
                            </a:solidFill>
                            <a:latin typeface="Cambria Math" panose="02040503050406030204" pitchFamily="18" charset="0"/>
                            <a:ea typeface="微软雅黑" panose="020B0503020204020204" pitchFamily="34" charset="-122"/>
                          </a:rPr>
                          <m:t>𝑣</m:t>
                        </m:r>
                      </m:e>
                      <m:sub>
                        <m:r>
                          <m:rPr>
                            <m:sty m:val="p"/>
                          </m:rPr>
                          <a:rPr kumimoji="1" lang="en-US" altLang="zh-CN" b="0" i="0" smtClean="0">
                            <a:solidFill>
                              <a:srgbClr val="0000FF"/>
                            </a:solidFill>
                            <a:latin typeface="Cambria Math" panose="02040503050406030204" pitchFamily="18" charset="0"/>
                            <a:ea typeface="微软雅黑" panose="020B0503020204020204" pitchFamily="34" charset="-122"/>
                          </a:rPr>
                          <m:t>D</m:t>
                        </m:r>
                      </m:sub>
                    </m:sSub>
                    <m:r>
                      <a:rPr kumimoji="1" lang="en-US" altLang="zh-CN" b="0" i="1" smtClean="0">
                        <a:solidFill>
                          <a:srgbClr val="0000FF"/>
                        </a:solidFill>
                        <a:latin typeface="Cambria Math" panose="02040503050406030204" pitchFamily="18" charset="0"/>
                        <a:ea typeface="微软雅黑" panose="020B0503020204020204" pitchFamily="34" charset="-122"/>
                      </a:rPr>
                      <m:t>=</m:t>
                    </m:r>
                    <m:r>
                      <a:rPr kumimoji="1" lang="en-US" altLang="zh-CN" i="1">
                        <a:solidFill>
                          <a:srgbClr val="0000FF"/>
                        </a:solidFill>
                        <a:latin typeface="Cambria Math" panose="02040503050406030204" pitchFamily="18" charset="0"/>
                        <a:ea typeface="微软雅黑" panose="020B0503020204020204" pitchFamily="34" charset="-122"/>
                      </a:rPr>
                      <m:t>0</m:t>
                    </m:r>
                  </m:oMath>
                </a14:m>
                <a:r>
                  <a:rPr kumimoji="1" lang="en-US" altLang="zh-CN" dirty="0">
                    <a:solidFill>
                      <a:srgbClr val="0000FF"/>
                    </a:solidFill>
                    <a:latin typeface="微软雅黑" panose="020B0503020204020204" pitchFamily="34" charset="-122"/>
                    <a:ea typeface="微软雅黑" panose="020B0503020204020204" pitchFamily="34" charset="-122"/>
                  </a:rPr>
                  <a:t> )</a:t>
                </a:r>
              </a:p>
            </p:txBody>
          </p:sp>
        </mc:Choice>
        <mc:Fallback xmlns="">
          <p:sp>
            <p:nvSpPr>
              <p:cNvPr id="35" name="文本框 34">
                <a:extLst>
                  <a:ext uri="{FF2B5EF4-FFF2-40B4-BE49-F238E27FC236}">
                    <a16:creationId xmlns:a16="http://schemas.microsoft.com/office/drawing/2014/main" id="{DE32C92D-D814-0466-7A00-D19D85AE3EB3}"/>
                  </a:ext>
                </a:extLst>
              </p:cNvPr>
              <p:cNvSpPr txBox="1">
                <a:spLocks noRot="1" noChangeAspect="1" noMove="1" noResize="1" noEditPoints="1" noAdjustHandles="1" noChangeArrowheads="1" noChangeShapeType="1" noTextEdit="1"/>
              </p:cNvSpPr>
              <p:nvPr/>
            </p:nvSpPr>
            <p:spPr>
              <a:xfrm>
                <a:off x="7920000" y="2700000"/>
                <a:ext cx="3817305" cy="432000"/>
              </a:xfrm>
              <a:prstGeom prst="rect">
                <a:avLst/>
              </a:prstGeom>
              <a:blipFill>
                <a:blip r:embed="rId12"/>
                <a:stretch>
                  <a:fillRect t="-1408" b="-14085"/>
                </a:stretch>
              </a:blipFill>
            </p:spPr>
            <p:txBody>
              <a:bodyPr/>
              <a:lstStyle/>
              <a:p>
                <a:r>
                  <a:rPr lang="zh-CN" altLang="en-US">
                    <a:noFill/>
                  </a:rPr>
                  <a:t> </a:t>
                </a:r>
              </a:p>
            </p:txBody>
          </p:sp>
        </mc:Fallback>
      </mc:AlternateContent>
      <p:grpSp>
        <p:nvGrpSpPr>
          <p:cNvPr id="45" name="组合 44">
            <a:extLst>
              <a:ext uri="{FF2B5EF4-FFF2-40B4-BE49-F238E27FC236}">
                <a16:creationId xmlns:a16="http://schemas.microsoft.com/office/drawing/2014/main" id="{14CAA7A5-1E83-45E5-8772-10FB3BD373E2}"/>
              </a:ext>
            </a:extLst>
          </p:cNvPr>
          <p:cNvGrpSpPr/>
          <p:nvPr/>
        </p:nvGrpSpPr>
        <p:grpSpPr>
          <a:xfrm>
            <a:off x="11449269" y="6198682"/>
            <a:ext cx="786273" cy="548639"/>
            <a:chOff x="11454918" y="5839511"/>
            <a:chExt cx="786273" cy="548639"/>
          </a:xfrm>
        </p:grpSpPr>
        <p:grpSp>
          <p:nvGrpSpPr>
            <p:cNvPr id="46" name="组合 45">
              <a:extLst>
                <a:ext uri="{FF2B5EF4-FFF2-40B4-BE49-F238E27FC236}">
                  <a16:creationId xmlns:a16="http://schemas.microsoft.com/office/drawing/2014/main" id="{057690CB-D7F4-4A18-215B-807E45F2BD18}"/>
                </a:ext>
              </a:extLst>
            </p:cNvPr>
            <p:cNvGrpSpPr/>
            <p:nvPr/>
          </p:nvGrpSpPr>
          <p:grpSpPr>
            <a:xfrm>
              <a:off x="11454918" y="5867450"/>
              <a:ext cx="737081" cy="520700"/>
              <a:chOff x="11454918" y="5867450"/>
              <a:chExt cx="737081" cy="520700"/>
            </a:xfrm>
          </p:grpSpPr>
          <p:sp>
            <p:nvSpPr>
              <p:cNvPr id="48" name="箭头: 五边形 47">
                <a:extLst>
                  <a:ext uri="{FF2B5EF4-FFF2-40B4-BE49-F238E27FC236}">
                    <a16:creationId xmlns:a16="http://schemas.microsoft.com/office/drawing/2014/main" id="{AF1F51EC-8639-99C0-886F-BA2F626E8BD9}"/>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9" name="箭头: V 形 48">
                <a:extLst>
                  <a:ext uri="{FF2B5EF4-FFF2-40B4-BE49-F238E27FC236}">
                    <a16:creationId xmlns:a16="http://schemas.microsoft.com/office/drawing/2014/main" id="{3739E335-E8D0-46BB-AA21-AE6FE587E7A2}"/>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47" name="灯片编号占位符 3">
              <a:extLst>
                <a:ext uri="{FF2B5EF4-FFF2-40B4-BE49-F238E27FC236}">
                  <a16:creationId xmlns:a16="http://schemas.microsoft.com/office/drawing/2014/main" id="{189DC7AC-212C-EC56-0DD5-A77C920433FD}"/>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16</a:t>
              </a:fld>
              <a:endParaRPr lang="zh-CN" altLang="en-US" sz="3200" dirty="0">
                <a:solidFill>
                  <a:schemeClr val="bg1"/>
                </a:solidFill>
                <a:latin typeface="Candara"/>
                <a:ea typeface="微软雅黑"/>
              </a:endParaRPr>
            </a:p>
          </p:txBody>
        </p:sp>
      </p:grpSp>
      <p:sp>
        <p:nvSpPr>
          <p:cNvPr id="4" name="标题 1">
            <a:extLst>
              <a:ext uri="{FF2B5EF4-FFF2-40B4-BE49-F238E27FC236}">
                <a16:creationId xmlns:a16="http://schemas.microsoft.com/office/drawing/2014/main" id="{C5DFFB27-4B99-EA3B-03B1-AD6A8F217D8B}"/>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二极管及其应用</a:t>
            </a:r>
            <a:endParaRPr lang="en-US" altLang="zh-CN" sz="3000" dirty="0"/>
          </a:p>
        </p:txBody>
      </p:sp>
      <p:grpSp>
        <p:nvGrpSpPr>
          <p:cNvPr id="2" name="组合 1">
            <a:extLst>
              <a:ext uri="{FF2B5EF4-FFF2-40B4-BE49-F238E27FC236}">
                <a16:creationId xmlns:a16="http://schemas.microsoft.com/office/drawing/2014/main" id="{5C2E8E8F-C63A-6316-BEF4-960C7FFA3FAF}"/>
              </a:ext>
            </a:extLst>
          </p:cNvPr>
          <p:cNvGrpSpPr/>
          <p:nvPr/>
        </p:nvGrpSpPr>
        <p:grpSpPr>
          <a:xfrm>
            <a:off x="8999999" y="576000"/>
            <a:ext cx="1656001" cy="1152000"/>
            <a:chOff x="8782253" y="699638"/>
            <a:chExt cx="1656001" cy="1152000"/>
          </a:xfrm>
        </p:grpSpPr>
        <mc:AlternateContent xmlns:mc="http://schemas.openxmlformats.org/markup-compatibility/2006" xmlns:a14="http://schemas.microsoft.com/office/drawing/2010/main">
          <mc:Choice Requires="a14">
            <p:sp>
              <p:nvSpPr>
                <p:cNvPr id="5" name="Rectangle 8">
                  <a:extLst>
                    <a:ext uri="{FF2B5EF4-FFF2-40B4-BE49-F238E27FC236}">
                      <a16:creationId xmlns:a16="http://schemas.microsoft.com/office/drawing/2014/main" id="{9FF83785-BE42-CE7B-3E46-14E740BB12F2}"/>
                    </a:ext>
                  </a:extLst>
                </p:cNvPr>
                <p:cNvSpPr>
                  <a:spLocks noChangeArrowheads="1"/>
                </p:cNvSpPr>
                <p:nvPr/>
              </p:nvSpPr>
              <p:spPr bwMode="auto">
                <a:xfrm>
                  <a:off x="8962254" y="699638"/>
                  <a:ext cx="360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𝑖</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5" name="Rectangle 8">
                  <a:extLst>
                    <a:ext uri="{FF2B5EF4-FFF2-40B4-BE49-F238E27FC236}">
                      <a16:creationId xmlns:a16="http://schemas.microsoft.com/office/drawing/2014/main" id="{9FF83785-BE42-CE7B-3E46-14E740BB12F2}"/>
                    </a:ext>
                  </a:extLst>
                </p:cNvPr>
                <p:cNvSpPr>
                  <a:spLocks noRot="1" noChangeAspect="1" noMove="1" noResize="1" noEditPoints="1" noAdjustHandles="1" noChangeArrowheads="1" noChangeShapeType="1" noTextEdit="1"/>
                </p:cNvSpPr>
                <p:nvPr/>
              </p:nvSpPr>
              <p:spPr bwMode="auto">
                <a:xfrm>
                  <a:off x="8962254" y="699638"/>
                  <a:ext cx="360000" cy="432000"/>
                </a:xfrm>
                <a:prstGeom prst="rect">
                  <a:avLst/>
                </a:prstGeom>
                <a:blipFill>
                  <a:blip r:embed="rId13"/>
                  <a:stretch>
                    <a:fillRect l="-16949"/>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6" name="等腰三角形 5">
              <a:extLst>
                <a:ext uri="{FF2B5EF4-FFF2-40B4-BE49-F238E27FC236}">
                  <a16:creationId xmlns:a16="http://schemas.microsoft.com/office/drawing/2014/main" id="{00C081FF-9065-D850-935C-F677443A516D}"/>
                </a:ext>
              </a:extLst>
            </p:cNvPr>
            <p:cNvSpPr/>
            <p:nvPr/>
          </p:nvSpPr>
          <p:spPr>
            <a:xfrm rot="5400000">
              <a:off x="9358254" y="1023638"/>
              <a:ext cx="504000" cy="360000"/>
            </a:xfrm>
            <a:prstGeom prst="triangl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cxnSp>
          <p:nvCxnSpPr>
            <p:cNvPr id="7" name="直接连接符 6">
              <a:extLst>
                <a:ext uri="{FF2B5EF4-FFF2-40B4-BE49-F238E27FC236}">
                  <a16:creationId xmlns:a16="http://schemas.microsoft.com/office/drawing/2014/main" id="{07C1FD78-0CB4-C8C0-4B63-88AF1196C5A1}"/>
                </a:ext>
              </a:extLst>
            </p:cNvPr>
            <p:cNvCxnSpPr>
              <a:cxnSpLocks/>
            </p:cNvCxnSpPr>
            <p:nvPr/>
          </p:nvCxnSpPr>
          <p:spPr>
            <a:xfrm>
              <a:off x="8854254" y="1203638"/>
              <a:ext cx="144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009011A8-3B44-8BE1-6ACA-1914E7F09E42}"/>
                </a:ext>
              </a:extLst>
            </p:cNvPr>
            <p:cNvCxnSpPr>
              <a:cxnSpLocks/>
            </p:cNvCxnSpPr>
            <p:nvPr/>
          </p:nvCxnSpPr>
          <p:spPr>
            <a:xfrm>
              <a:off x="9790254" y="933638"/>
              <a:ext cx="0" cy="54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F19B915F-021F-265E-B7B4-BA8227C30A36}"/>
                    </a:ext>
                  </a:extLst>
                </p:cNvPr>
                <p:cNvSpPr>
                  <a:spLocks noChangeArrowheads="1"/>
                </p:cNvSpPr>
                <p:nvPr/>
              </p:nvSpPr>
              <p:spPr bwMode="auto">
                <a:xfrm>
                  <a:off x="8782254" y="1419638"/>
                  <a:ext cx="1656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 xmlns:m="http://schemas.openxmlformats.org/officeDocument/2006/math">
                      <m:r>
                        <a:rPr kumimoji="1" lang="pt-BR"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14:m>
                    <m:oMath xmlns:m="http://schemas.openxmlformats.org/officeDocument/2006/math">
                      <m:sSub>
                        <m:sSubPr>
                          <m:ctrlPr>
                            <a:rPr kumimoji="1" lang="en-US" altLang="zh-CN" sz="2000" b="0" i="1">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𝑣</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a14:m>
                  <a:r>
                    <a:rPr kumimoji="1" lang="zh-CN" altLang="en-US" sz="2000" b="0" dirty="0">
                      <a:latin typeface="微软雅黑" panose="020B0503020204020204" pitchFamily="34" charset="-122"/>
                      <a:ea typeface="微软雅黑" panose="020B0503020204020204" pitchFamily="34" charset="-122"/>
                    </a:rPr>
                    <a:t>    </a:t>
                  </a:r>
                  <a14:m>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p>
              </p:txBody>
            </p:sp>
          </mc:Choice>
          <mc:Fallback xmlns="">
            <p:sp>
              <p:nvSpPr>
                <p:cNvPr id="9" name="Rectangle 8">
                  <a:extLst>
                    <a:ext uri="{FF2B5EF4-FFF2-40B4-BE49-F238E27FC236}">
                      <a16:creationId xmlns:a16="http://schemas.microsoft.com/office/drawing/2014/main" id="{F19B915F-021F-265E-B7B4-BA8227C30A36}"/>
                    </a:ext>
                  </a:extLst>
                </p:cNvPr>
                <p:cNvSpPr>
                  <a:spLocks noRot="1" noChangeAspect="1" noMove="1" noResize="1" noEditPoints="1" noAdjustHandles="1" noChangeArrowheads="1" noChangeShapeType="1" noTextEdit="1"/>
                </p:cNvSpPr>
                <p:nvPr/>
              </p:nvSpPr>
              <p:spPr bwMode="auto">
                <a:xfrm>
                  <a:off x="8782254" y="1419638"/>
                  <a:ext cx="1656000" cy="432000"/>
                </a:xfrm>
                <a:prstGeom prst="rect">
                  <a:avLst/>
                </a:prstGeom>
                <a:blipFill>
                  <a:blip r:embed="rId14"/>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0" name="椭圆 9">
              <a:extLst>
                <a:ext uri="{FF2B5EF4-FFF2-40B4-BE49-F238E27FC236}">
                  <a16:creationId xmlns:a16="http://schemas.microsoft.com/office/drawing/2014/main" id="{085CFD98-418D-3B07-4001-84F48C1EF03E}"/>
                </a:ext>
              </a:extLst>
            </p:cNvPr>
            <p:cNvSpPr/>
            <p:nvPr/>
          </p:nvSpPr>
          <p:spPr>
            <a:xfrm>
              <a:off x="10222254" y="1131638"/>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1" name="椭圆 10">
              <a:extLst>
                <a:ext uri="{FF2B5EF4-FFF2-40B4-BE49-F238E27FC236}">
                  <a16:creationId xmlns:a16="http://schemas.microsoft.com/office/drawing/2014/main" id="{C902A81A-68F4-53EA-28C3-24FF4D7D37F4}"/>
                </a:ext>
              </a:extLst>
            </p:cNvPr>
            <p:cNvSpPr/>
            <p:nvPr/>
          </p:nvSpPr>
          <p:spPr>
            <a:xfrm>
              <a:off x="8782253" y="1131638"/>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12" name="直接箭头连接符 11">
              <a:extLst>
                <a:ext uri="{FF2B5EF4-FFF2-40B4-BE49-F238E27FC236}">
                  <a16:creationId xmlns:a16="http://schemas.microsoft.com/office/drawing/2014/main" id="{9F84F0DA-84EB-A17F-F028-0790D0965DA9}"/>
                </a:ext>
              </a:extLst>
            </p:cNvPr>
            <p:cNvCxnSpPr>
              <a:cxnSpLocks/>
            </p:cNvCxnSpPr>
            <p:nvPr/>
          </p:nvCxnSpPr>
          <p:spPr>
            <a:xfrm>
              <a:off x="8962254" y="1095638"/>
              <a:ext cx="396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38" name="组合 37">
            <a:extLst>
              <a:ext uri="{FF2B5EF4-FFF2-40B4-BE49-F238E27FC236}">
                <a16:creationId xmlns:a16="http://schemas.microsoft.com/office/drawing/2014/main" id="{4FBE7018-E0F9-493B-AEEF-2DF34EAF12BF}"/>
              </a:ext>
            </a:extLst>
          </p:cNvPr>
          <p:cNvGrpSpPr/>
          <p:nvPr/>
        </p:nvGrpSpPr>
        <p:grpSpPr>
          <a:xfrm>
            <a:off x="5148000" y="4032000"/>
            <a:ext cx="2304000" cy="2339097"/>
            <a:chOff x="5148000" y="4032000"/>
            <a:chExt cx="2304000" cy="2339097"/>
          </a:xfrm>
        </p:grpSpPr>
        <p:cxnSp>
          <p:nvCxnSpPr>
            <p:cNvPr id="16" name="直接连接符 15">
              <a:extLst>
                <a:ext uri="{FF2B5EF4-FFF2-40B4-BE49-F238E27FC236}">
                  <a16:creationId xmlns:a16="http://schemas.microsoft.com/office/drawing/2014/main" id="{E52A5F7B-70D6-8F71-8472-61A4ABE78C73}"/>
                </a:ext>
              </a:extLst>
            </p:cNvPr>
            <p:cNvCxnSpPr>
              <a:cxnSpLocks/>
            </p:cNvCxnSpPr>
            <p:nvPr/>
          </p:nvCxnSpPr>
          <p:spPr>
            <a:xfrm>
              <a:off x="5148000" y="5868000"/>
              <a:ext cx="1872000" cy="0"/>
            </a:xfrm>
            <a:prstGeom prst="line">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7B9A2BFF-17B1-844A-20E5-E5D376F261AB}"/>
                </a:ext>
              </a:extLst>
            </p:cNvPr>
            <p:cNvCxnSpPr>
              <a:cxnSpLocks/>
            </p:cNvCxnSpPr>
            <p:nvPr/>
          </p:nvCxnSpPr>
          <p:spPr>
            <a:xfrm flipH="1" flipV="1">
              <a:off x="5868000" y="4248000"/>
              <a:ext cx="0" cy="2052000"/>
            </a:xfrm>
            <a:prstGeom prst="line">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Text Box 8">
                  <a:extLst>
                    <a:ext uri="{FF2B5EF4-FFF2-40B4-BE49-F238E27FC236}">
                      <a16:creationId xmlns:a16="http://schemas.microsoft.com/office/drawing/2014/main" id="{415471EC-F488-1167-A27B-D1223B6779C0}"/>
                    </a:ext>
                  </a:extLst>
                </p:cNvPr>
                <p:cNvSpPr txBox="1">
                  <a:spLocks noChangeArrowheads="1"/>
                </p:cNvSpPr>
                <p:nvPr/>
              </p:nvSpPr>
              <p:spPr bwMode="auto">
                <a:xfrm>
                  <a:off x="5868000" y="4032000"/>
                  <a:ext cx="468000" cy="432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ea typeface="微软雅黑" panose="020B0503020204020204" pitchFamily="34" charset="-122"/>
                              </a:rPr>
                            </m:ctrlPr>
                          </m:sSubPr>
                          <m:e>
                            <m:r>
                              <a:rPr kumimoji="1" lang="en-US" altLang="zh-CN" sz="2400" b="0" i="1">
                                <a:latin typeface="Cambria Math" panose="02040503050406030204" pitchFamily="18" charset="0"/>
                                <a:ea typeface="微软雅黑" panose="020B0503020204020204" pitchFamily="34" charset="-122"/>
                              </a:rPr>
                              <m:t>𝑖</m:t>
                            </m:r>
                          </m:e>
                          <m:sub>
                            <m:r>
                              <m:rPr>
                                <m:sty m:val="p"/>
                              </m:rPr>
                              <a:rPr kumimoji="1" lang="en-US" altLang="zh-CN" sz="2400" b="0" i="0" smtClean="0">
                                <a:latin typeface="Cambria Math" panose="02040503050406030204" pitchFamily="18" charset="0"/>
                                <a:ea typeface="微软雅黑" panose="020B0503020204020204" pitchFamily="34" charset="-122"/>
                              </a:rPr>
                              <m:t>D</m:t>
                            </m:r>
                          </m:sub>
                        </m:sSub>
                      </m:oMath>
                    </m:oMathPara>
                  </a14:m>
                  <a:endParaRPr kumimoji="1" lang="en-US" altLang="zh-CN" sz="2400" i="1" dirty="0">
                    <a:ea typeface="楷体_GB2312" pitchFamily="49" charset="-122"/>
                  </a:endParaRPr>
                </a:p>
              </p:txBody>
            </p:sp>
          </mc:Choice>
          <mc:Fallback xmlns="">
            <p:sp>
              <p:nvSpPr>
                <p:cNvPr id="18" name="Text Box 8">
                  <a:extLst>
                    <a:ext uri="{FF2B5EF4-FFF2-40B4-BE49-F238E27FC236}">
                      <a16:creationId xmlns:a16="http://schemas.microsoft.com/office/drawing/2014/main" id="{415471EC-F488-1167-A27B-D1223B6779C0}"/>
                    </a:ext>
                  </a:extLst>
                </p:cNvPr>
                <p:cNvSpPr txBox="1">
                  <a:spLocks noRot="1" noChangeAspect="1" noMove="1" noResize="1" noEditPoints="1" noAdjustHandles="1" noChangeArrowheads="1" noChangeShapeType="1" noTextEdit="1"/>
                </p:cNvSpPr>
                <p:nvPr/>
              </p:nvSpPr>
              <p:spPr bwMode="auto">
                <a:xfrm>
                  <a:off x="5868000" y="4032000"/>
                  <a:ext cx="468000" cy="432000"/>
                </a:xfrm>
                <a:prstGeom prst="rect">
                  <a:avLst/>
                </a:prstGeom>
                <a:blipFill>
                  <a:blip r:embed="rId15"/>
                  <a:stretch>
                    <a:fillRect l="-10526" b="-8451"/>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Text Box 8">
                  <a:extLst>
                    <a:ext uri="{FF2B5EF4-FFF2-40B4-BE49-F238E27FC236}">
                      <a16:creationId xmlns:a16="http://schemas.microsoft.com/office/drawing/2014/main" id="{75D11361-ACD9-EC4B-A5E1-15AEBE4900BA}"/>
                    </a:ext>
                  </a:extLst>
                </p:cNvPr>
                <p:cNvSpPr txBox="1">
                  <a:spLocks noChangeArrowheads="1"/>
                </p:cNvSpPr>
                <p:nvPr/>
              </p:nvSpPr>
              <p:spPr bwMode="auto">
                <a:xfrm>
                  <a:off x="6948000" y="5436000"/>
                  <a:ext cx="504000" cy="468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ea typeface="微软雅黑" panose="020B0503020204020204" pitchFamily="34" charset="-122"/>
                              </a:rPr>
                            </m:ctrlPr>
                          </m:sSubPr>
                          <m:e>
                            <m:r>
                              <a:rPr kumimoji="1" lang="en-US" altLang="zh-CN" sz="2400" b="0" i="1" smtClean="0">
                                <a:latin typeface="Cambria Math" panose="02040503050406030204" pitchFamily="18" charset="0"/>
                                <a:ea typeface="微软雅黑" panose="020B0503020204020204" pitchFamily="34" charset="-122"/>
                              </a:rPr>
                              <m:t>𝑣</m:t>
                            </m:r>
                          </m:e>
                          <m:sub>
                            <m:r>
                              <m:rPr>
                                <m:sty m:val="p"/>
                              </m:rPr>
                              <a:rPr kumimoji="1" lang="en-US" altLang="zh-CN" sz="2400" b="0" i="0" smtClean="0">
                                <a:latin typeface="Cambria Math" panose="02040503050406030204" pitchFamily="18" charset="0"/>
                                <a:ea typeface="微软雅黑" panose="020B0503020204020204" pitchFamily="34" charset="-122"/>
                              </a:rPr>
                              <m:t>D</m:t>
                            </m:r>
                          </m:sub>
                        </m:sSub>
                      </m:oMath>
                    </m:oMathPara>
                  </a14:m>
                  <a:endParaRPr kumimoji="1" lang="en-US" altLang="zh-CN" sz="2400" i="1" dirty="0">
                    <a:ea typeface="楷体_GB2312" pitchFamily="49" charset="-122"/>
                  </a:endParaRPr>
                </a:p>
              </p:txBody>
            </p:sp>
          </mc:Choice>
          <mc:Fallback xmlns="">
            <p:sp>
              <p:nvSpPr>
                <p:cNvPr id="19" name="Text Box 8">
                  <a:extLst>
                    <a:ext uri="{FF2B5EF4-FFF2-40B4-BE49-F238E27FC236}">
                      <a16:creationId xmlns:a16="http://schemas.microsoft.com/office/drawing/2014/main" id="{75D11361-ACD9-EC4B-A5E1-15AEBE4900BA}"/>
                    </a:ext>
                  </a:extLst>
                </p:cNvPr>
                <p:cNvSpPr txBox="1">
                  <a:spLocks noRot="1" noChangeAspect="1" noMove="1" noResize="1" noEditPoints="1" noAdjustHandles="1" noChangeArrowheads="1" noChangeShapeType="1" noTextEdit="1"/>
                </p:cNvSpPr>
                <p:nvPr/>
              </p:nvSpPr>
              <p:spPr bwMode="auto">
                <a:xfrm>
                  <a:off x="6948000" y="5436000"/>
                  <a:ext cx="504000" cy="468000"/>
                </a:xfrm>
                <a:prstGeom prst="rect">
                  <a:avLst/>
                </a:prstGeom>
                <a:blipFill>
                  <a:blip r:embed="rId16"/>
                  <a:stretch>
                    <a:fillRect l="-7317" b="-259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p:grpSp>
          <p:nvGrpSpPr>
            <p:cNvPr id="20" name="组合 19">
              <a:extLst>
                <a:ext uri="{FF2B5EF4-FFF2-40B4-BE49-F238E27FC236}">
                  <a16:creationId xmlns:a16="http://schemas.microsoft.com/office/drawing/2014/main" id="{214A90A5-E5D8-8FAD-0A2B-ED586127BFD3}"/>
                </a:ext>
              </a:extLst>
            </p:cNvPr>
            <p:cNvGrpSpPr/>
            <p:nvPr/>
          </p:nvGrpSpPr>
          <p:grpSpPr>
            <a:xfrm>
              <a:off x="5868000" y="4500000"/>
              <a:ext cx="972000" cy="1368000"/>
              <a:chOff x="1894812" y="5013202"/>
              <a:chExt cx="878362" cy="1289409"/>
            </a:xfrm>
          </p:grpSpPr>
          <p:sp>
            <p:nvSpPr>
              <p:cNvPr id="24" name="任意多边形: 形状 23">
                <a:extLst>
                  <a:ext uri="{FF2B5EF4-FFF2-40B4-BE49-F238E27FC236}">
                    <a16:creationId xmlns:a16="http://schemas.microsoft.com/office/drawing/2014/main" id="{FA59D6B2-F93F-0B83-02C6-5EEC794FA6C1}"/>
                  </a:ext>
                </a:extLst>
              </p:cNvPr>
              <p:cNvSpPr/>
              <p:nvPr/>
            </p:nvSpPr>
            <p:spPr>
              <a:xfrm>
                <a:off x="2187599" y="5013202"/>
                <a:ext cx="585575" cy="1289409"/>
              </a:xfrm>
              <a:custGeom>
                <a:avLst/>
                <a:gdLst>
                  <a:gd name="connsiteX0" fmla="*/ 0 w 605831"/>
                  <a:gd name="connsiteY0" fmla="*/ 1277899 h 1278370"/>
                  <a:gd name="connsiteX1" fmla="*/ 428120 w 605831"/>
                  <a:gd name="connsiteY1" fmla="*/ 1069493 h 1278370"/>
                  <a:gd name="connsiteX2" fmla="*/ 605831 w 605831"/>
                  <a:gd name="connsiteY2" fmla="*/ 0 h 1278370"/>
                </a:gdLst>
                <a:ahLst/>
                <a:cxnLst>
                  <a:cxn ang="0">
                    <a:pos x="connsiteX0" y="connsiteY0"/>
                  </a:cxn>
                  <a:cxn ang="0">
                    <a:pos x="connsiteX1" y="connsiteY1"/>
                  </a:cxn>
                  <a:cxn ang="0">
                    <a:pos x="connsiteX2" y="connsiteY2"/>
                  </a:cxn>
                </a:cxnLst>
                <a:rect l="l" t="t" r="r" b="b"/>
                <a:pathLst>
                  <a:path w="605831" h="1278370">
                    <a:moveTo>
                      <a:pt x="0" y="1277899"/>
                    </a:moveTo>
                    <a:cubicBezTo>
                      <a:pt x="163574" y="1280187"/>
                      <a:pt x="327148" y="1282476"/>
                      <a:pt x="428120" y="1069493"/>
                    </a:cubicBezTo>
                    <a:cubicBezTo>
                      <a:pt x="529092" y="856510"/>
                      <a:pt x="605831" y="0"/>
                      <a:pt x="605831" y="0"/>
                    </a:cubicBezTo>
                  </a:path>
                </a:pathLst>
              </a:custGeom>
              <a:noFill/>
              <a:ln w="38100">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 name="直接连接符 35">
                <a:extLst>
                  <a:ext uri="{FF2B5EF4-FFF2-40B4-BE49-F238E27FC236}">
                    <a16:creationId xmlns:a16="http://schemas.microsoft.com/office/drawing/2014/main" id="{DE6A5B38-ADC7-B6D0-FEDA-04190BBBEBE6}"/>
                  </a:ext>
                </a:extLst>
              </p:cNvPr>
              <p:cNvCxnSpPr/>
              <p:nvPr/>
            </p:nvCxnSpPr>
            <p:spPr>
              <a:xfrm flipH="1">
                <a:off x="1894812" y="6302611"/>
                <a:ext cx="195192" cy="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cxnSp>
          <p:nvCxnSpPr>
            <p:cNvPr id="21" name="直接连接符 20">
              <a:extLst>
                <a:ext uri="{FF2B5EF4-FFF2-40B4-BE49-F238E27FC236}">
                  <a16:creationId xmlns:a16="http://schemas.microsoft.com/office/drawing/2014/main" id="{7A1CFD06-2F2F-BFA1-92BB-5ABBC385283F}"/>
                </a:ext>
              </a:extLst>
            </p:cNvPr>
            <p:cNvCxnSpPr>
              <a:cxnSpLocks/>
            </p:cNvCxnSpPr>
            <p:nvPr/>
          </p:nvCxnSpPr>
          <p:spPr>
            <a:xfrm>
              <a:off x="5148000" y="5868000"/>
              <a:ext cx="1548000" cy="0"/>
            </a:xfrm>
            <a:prstGeom prst="line">
              <a:avLst/>
            </a:prstGeom>
            <a:ln w="635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07F33BCB-A5C9-B9EA-2045-7EC8154EB1FD}"/>
                </a:ext>
              </a:extLst>
            </p:cNvPr>
            <p:cNvCxnSpPr>
              <a:cxnSpLocks/>
            </p:cNvCxnSpPr>
            <p:nvPr/>
          </p:nvCxnSpPr>
          <p:spPr>
            <a:xfrm>
              <a:off x="6696000" y="4536000"/>
              <a:ext cx="1" cy="1332903"/>
            </a:xfrm>
            <a:prstGeom prst="line">
              <a:avLst/>
            </a:prstGeom>
            <a:ln w="63500">
              <a:solidFill>
                <a:srgbClr val="0000FF"/>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1365CEA2-DB9C-B0E7-44D4-49A03F174789}"/>
                </a:ext>
              </a:extLst>
            </p:cNvPr>
            <p:cNvSpPr txBox="1"/>
            <p:nvPr/>
          </p:nvSpPr>
          <p:spPr>
            <a:xfrm>
              <a:off x="5508000" y="5867097"/>
              <a:ext cx="360000" cy="504000"/>
            </a:xfrm>
            <a:prstGeom prst="rect">
              <a:avLst/>
            </a:prstGeom>
            <a:noFill/>
          </p:spPr>
          <p:txBody>
            <a:bodyPr wrap="square">
              <a:spAutoFit/>
            </a:bodyPr>
            <a:lstStyle/>
            <a:p>
              <a:pPr algn="ctr"/>
              <a:r>
                <a:rPr kumimoji="1" lang="en-US" altLang="zh-CN" sz="2400" b="0" dirty="0">
                  <a:latin typeface="微软雅黑" panose="020B0503020204020204" pitchFamily="34" charset="-122"/>
                  <a:ea typeface="微软雅黑" panose="020B0503020204020204" pitchFamily="34" charset="-122"/>
                </a:rPr>
                <a:t>0</a:t>
              </a:r>
              <a:endParaRPr lang="zh-CN" altLang="en-US" sz="2400" dirty="0"/>
            </a:p>
          </p:txBody>
        </p:sp>
        <mc:AlternateContent xmlns:mc="http://schemas.openxmlformats.org/markup-compatibility/2006" xmlns:a14="http://schemas.microsoft.com/office/drawing/2010/main">
          <mc:Choice Requires="a14">
            <p:sp>
              <p:nvSpPr>
                <p:cNvPr id="37" name="Text Box 8">
                  <a:extLst>
                    <a:ext uri="{FF2B5EF4-FFF2-40B4-BE49-F238E27FC236}">
                      <a16:creationId xmlns:a16="http://schemas.microsoft.com/office/drawing/2014/main" id="{1399AF5E-B9C3-705B-7E88-A95284FC9745}"/>
                    </a:ext>
                  </a:extLst>
                </p:cNvPr>
                <p:cNvSpPr txBox="1">
                  <a:spLocks noChangeArrowheads="1"/>
                </p:cNvSpPr>
                <p:nvPr/>
              </p:nvSpPr>
              <p:spPr bwMode="auto">
                <a:xfrm>
                  <a:off x="6516000" y="5868000"/>
                  <a:ext cx="576000" cy="432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ea typeface="微软雅黑" panose="020B0503020204020204" pitchFamily="34" charset="-122"/>
                              </a:rPr>
                            </m:ctrlPr>
                          </m:sSubPr>
                          <m:e>
                            <m:r>
                              <a:rPr kumimoji="1" lang="en-US" altLang="zh-CN" sz="2400" b="0" i="1" smtClean="0">
                                <a:latin typeface="Cambria Math" panose="02040503050406030204" pitchFamily="18" charset="0"/>
                                <a:ea typeface="微软雅黑" panose="020B0503020204020204" pitchFamily="34" charset="-122"/>
                              </a:rPr>
                              <m:t>𝑉</m:t>
                            </m:r>
                          </m:e>
                          <m:sub>
                            <m:r>
                              <m:rPr>
                                <m:sty m:val="p"/>
                              </m:rPr>
                              <a:rPr kumimoji="1" lang="en-US" altLang="zh-CN" sz="2400" b="0" i="0" smtClean="0">
                                <a:latin typeface="Cambria Math" panose="02040503050406030204" pitchFamily="18" charset="0"/>
                                <a:ea typeface="微软雅黑" panose="020B0503020204020204" pitchFamily="34" charset="-122"/>
                              </a:rPr>
                              <m:t>D</m:t>
                            </m:r>
                          </m:sub>
                        </m:sSub>
                      </m:oMath>
                    </m:oMathPara>
                  </a14:m>
                  <a:endParaRPr kumimoji="1" lang="en-US" altLang="zh-CN" sz="2400" i="1" dirty="0">
                    <a:ea typeface="楷体_GB2312" pitchFamily="49" charset="-122"/>
                  </a:endParaRPr>
                </a:p>
              </p:txBody>
            </p:sp>
          </mc:Choice>
          <mc:Fallback xmlns="">
            <p:sp>
              <p:nvSpPr>
                <p:cNvPr id="37" name="Text Box 8">
                  <a:extLst>
                    <a:ext uri="{FF2B5EF4-FFF2-40B4-BE49-F238E27FC236}">
                      <a16:creationId xmlns:a16="http://schemas.microsoft.com/office/drawing/2014/main" id="{1399AF5E-B9C3-705B-7E88-A95284FC9745}"/>
                    </a:ext>
                  </a:extLst>
                </p:cNvPr>
                <p:cNvSpPr txBox="1">
                  <a:spLocks noRot="1" noChangeAspect="1" noMove="1" noResize="1" noEditPoints="1" noAdjustHandles="1" noChangeArrowheads="1" noChangeShapeType="1" noTextEdit="1"/>
                </p:cNvSpPr>
                <p:nvPr/>
              </p:nvSpPr>
              <p:spPr bwMode="auto">
                <a:xfrm>
                  <a:off x="6516000" y="5868000"/>
                  <a:ext cx="576000" cy="432000"/>
                </a:xfrm>
                <a:prstGeom prst="rect">
                  <a:avLst/>
                </a:prstGeom>
                <a:blipFill>
                  <a:blip r:embed="rId17"/>
                  <a:stretch>
                    <a:fillRect l="-3191" b="-8571"/>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p:grpSp>
      <p:grpSp>
        <p:nvGrpSpPr>
          <p:cNvPr id="67" name="组合 66">
            <a:extLst>
              <a:ext uri="{FF2B5EF4-FFF2-40B4-BE49-F238E27FC236}">
                <a16:creationId xmlns:a16="http://schemas.microsoft.com/office/drawing/2014/main" id="{3B3E31B2-9BE1-7651-5224-46CB36D99045}"/>
              </a:ext>
            </a:extLst>
          </p:cNvPr>
          <p:cNvGrpSpPr/>
          <p:nvPr/>
        </p:nvGrpSpPr>
        <p:grpSpPr>
          <a:xfrm>
            <a:off x="7920000" y="1656000"/>
            <a:ext cx="1656001" cy="1008000"/>
            <a:chOff x="7020000" y="612000"/>
            <a:chExt cx="1656001" cy="1008000"/>
          </a:xfrm>
        </p:grpSpPr>
        <mc:AlternateContent xmlns:mc="http://schemas.openxmlformats.org/markup-compatibility/2006" xmlns:a14="http://schemas.microsoft.com/office/drawing/2010/main">
          <mc:Choice Requires="a14">
            <p:sp>
              <p:nvSpPr>
                <p:cNvPr id="40" name="Rectangle 8">
                  <a:extLst>
                    <a:ext uri="{FF2B5EF4-FFF2-40B4-BE49-F238E27FC236}">
                      <a16:creationId xmlns:a16="http://schemas.microsoft.com/office/drawing/2014/main" id="{0AA4F21C-DB2F-C428-FA87-2AC8554B2D06}"/>
                    </a:ext>
                  </a:extLst>
                </p:cNvPr>
                <p:cNvSpPr>
                  <a:spLocks noChangeArrowheads="1"/>
                </p:cNvSpPr>
                <p:nvPr/>
              </p:nvSpPr>
              <p:spPr bwMode="auto">
                <a:xfrm>
                  <a:off x="7200001" y="612000"/>
                  <a:ext cx="360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𝑖</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40" name="Rectangle 8">
                  <a:extLst>
                    <a:ext uri="{FF2B5EF4-FFF2-40B4-BE49-F238E27FC236}">
                      <a16:creationId xmlns:a16="http://schemas.microsoft.com/office/drawing/2014/main" id="{0AA4F21C-DB2F-C428-FA87-2AC8554B2D06}"/>
                    </a:ext>
                  </a:extLst>
                </p:cNvPr>
                <p:cNvSpPr>
                  <a:spLocks noRot="1" noChangeAspect="1" noMove="1" noResize="1" noEditPoints="1" noAdjustHandles="1" noChangeArrowheads="1" noChangeShapeType="1" noTextEdit="1"/>
                </p:cNvSpPr>
                <p:nvPr/>
              </p:nvSpPr>
              <p:spPr bwMode="auto">
                <a:xfrm>
                  <a:off x="7200001" y="612000"/>
                  <a:ext cx="360000" cy="432000"/>
                </a:xfrm>
                <a:prstGeom prst="rect">
                  <a:avLst/>
                </a:prstGeom>
                <a:blipFill>
                  <a:blip r:embed="rId18"/>
                  <a:stretch>
                    <a:fillRect l="-16949"/>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42" name="直接连接符 41">
              <a:extLst>
                <a:ext uri="{FF2B5EF4-FFF2-40B4-BE49-F238E27FC236}">
                  <a16:creationId xmlns:a16="http://schemas.microsoft.com/office/drawing/2014/main" id="{E6B08716-DCC2-1150-5D20-505A2624FA09}"/>
                </a:ext>
              </a:extLst>
            </p:cNvPr>
            <p:cNvCxnSpPr>
              <a:cxnSpLocks/>
            </p:cNvCxnSpPr>
            <p:nvPr/>
          </p:nvCxnSpPr>
          <p:spPr>
            <a:xfrm>
              <a:off x="7092001" y="1116000"/>
              <a:ext cx="144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Rectangle 8">
                  <a:extLst>
                    <a:ext uri="{FF2B5EF4-FFF2-40B4-BE49-F238E27FC236}">
                      <a16:creationId xmlns:a16="http://schemas.microsoft.com/office/drawing/2014/main" id="{79B236C1-C32E-5AD9-2894-D2CD61856593}"/>
                    </a:ext>
                  </a:extLst>
                </p:cNvPr>
                <p:cNvSpPr>
                  <a:spLocks noChangeArrowheads="1"/>
                </p:cNvSpPr>
                <p:nvPr/>
              </p:nvSpPr>
              <p:spPr bwMode="auto">
                <a:xfrm>
                  <a:off x="7020001" y="1188000"/>
                  <a:ext cx="1656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 xmlns:m="http://schemas.openxmlformats.org/officeDocument/2006/math">
                      <m:r>
                        <a:rPr kumimoji="1" lang="pt-BR"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14:m>
                    <m:oMath xmlns:m="http://schemas.openxmlformats.org/officeDocument/2006/math">
                      <m:sSub>
                        <m:sSubPr>
                          <m:ctrlPr>
                            <a:rPr kumimoji="1" lang="en-US" altLang="zh-CN" sz="2000" b="0" i="1">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𝑣</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a14:m>
                  <a:r>
                    <a:rPr kumimoji="1" lang="zh-CN" altLang="en-US" sz="2000" b="0" dirty="0">
                      <a:latin typeface="微软雅黑" panose="020B0503020204020204" pitchFamily="34" charset="-122"/>
                      <a:ea typeface="微软雅黑" panose="020B0503020204020204" pitchFamily="34" charset="-122"/>
                    </a:rPr>
                    <a:t>    </a:t>
                  </a:r>
                  <a14:m>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p>
              </p:txBody>
            </p:sp>
          </mc:Choice>
          <mc:Fallback xmlns="">
            <p:sp>
              <p:nvSpPr>
                <p:cNvPr id="44" name="Rectangle 8">
                  <a:extLst>
                    <a:ext uri="{FF2B5EF4-FFF2-40B4-BE49-F238E27FC236}">
                      <a16:creationId xmlns:a16="http://schemas.microsoft.com/office/drawing/2014/main" id="{79B236C1-C32E-5AD9-2894-D2CD61856593}"/>
                    </a:ext>
                  </a:extLst>
                </p:cNvPr>
                <p:cNvSpPr>
                  <a:spLocks noRot="1" noChangeAspect="1" noMove="1" noResize="1" noEditPoints="1" noAdjustHandles="1" noChangeArrowheads="1" noChangeShapeType="1" noTextEdit="1"/>
                </p:cNvSpPr>
                <p:nvPr/>
              </p:nvSpPr>
              <p:spPr bwMode="auto">
                <a:xfrm>
                  <a:off x="7020001" y="1188000"/>
                  <a:ext cx="1656000" cy="432000"/>
                </a:xfrm>
                <a:prstGeom prst="rect">
                  <a:avLst/>
                </a:prstGeom>
                <a:blipFill>
                  <a:blip r:embed="rId19"/>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59" name="椭圆 58">
              <a:extLst>
                <a:ext uri="{FF2B5EF4-FFF2-40B4-BE49-F238E27FC236}">
                  <a16:creationId xmlns:a16="http://schemas.microsoft.com/office/drawing/2014/main" id="{A927E8BD-86AD-FE74-6CAA-6988C1A29391}"/>
                </a:ext>
              </a:extLst>
            </p:cNvPr>
            <p:cNvSpPr/>
            <p:nvPr/>
          </p:nvSpPr>
          <p:spPr>
            <a:xfrm>
              <a:off x="8460001" y="1044000"/>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60" name="椭圆 59">
              <a:extLst>
                <a:ext uri="{FF2B5EF4-FFF2-40B4-BE49-F238E27FC236}">
                  <a16:creationId xmlns:a16="http://schemas.microsoft.com/office/drawing/2014/main" id="{7B626737-1156-0AB1-461F-9AD7C0A02595}"/>
                </a:ext>
              </a:extLst>
            </p:cNvPr>
            <p:cNvSpPr/>
            <p:nvPr/>
          </p:nvSpPr>
          <p:spPr>
            <a:xfrm>
              <a:off x="7020000" y="1044000"/>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61" name="直接箭头连接符 60">
              <a:extLst>
                <a:ext uri="{FF2B5EF4-FFF2-40B4-BE49-F238E27FC236}">
                  <a16:creationId xmlns:a16="http://schemas.microsoft.com/office/drawing/2014/main" id="{FC064AD8-C2EF-AF5D-83A0-70E9F538AFBD}"/>
                </a:ext>
              </a:extLst>
            </p:cNvPr>
            <p:cNvCxnSpPr>
              <a:cxnSpLocks/>
            </p:cNvCxnSpPr>
            <p:nvPr/>
          </p:nvCxnSpPr>
          <p:spPr>
            <a:xfrm>
              <a:off x="7200001" y="1008000"/>
              <a:ext cx="396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62" name="椭圆 61">
              <a:extLst>
                <a:ext uri="{FF2B5EF4-FFF2-40B4-BE49-F238E27FC236}">
                  <a16:creationId xmlns:a16="http://schemas.microsoft.com/office/drawing/2014/main" id="{F929B78A-AE03-3145-D439-A336F385DF96}"/>
                </a:ext>
              </a:extLst>
            </p:cNvPr>
            <p:cNvSpPr/>
            <p:nvPr/>
          </p:nvSpPr>
          <p:spPr>
            <a:xfrm>
              <a:off x="7596000" y="1044000"/>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66" name="椭圆 65">
              <a:extLst>
                <a:ext uri="{FF2B5EF4-FFF2-40B4-BE49-F238E27FC236}">
                  <a16:creationId xmlns:a16="http://schemas.microsoft.com/office/drawing/2014/main" id="{7D0C1224-8882-2C80-369A-817EB66553B5}"/>
                </a:ext>
              </a:extLst>
            </p:cNvPr>
            <p:cNvSpPr/>
            <p:nvPr/>
          </p:nvSpPr>
          <p:spPr>
            <a:xfrm>
              <a:off x="7920000" y="1044000"/>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grpSp>
        <p:nvGrpSpPr>
          <p:cNvPr id="68" name="组合 67">
            <a:extLst>
              <a:ext uri="{FF2B5EF4-FFF2-40B4-BE49-F238E27FC236}">
                <a16:creationId xmlns:a16="http://schemas.microsoft.com/office/drawing/2014/main" id="{A23FB15A-0CAA-A7AF-0A92-905839AC3F96}"/>
              </a:ext>
            </a:extLst>
          </p:cNvPr>
          <p:cNvGrpSpPr/>
          <p:nvPr/>
        </p:nvGrpSpPr>
        <p:grpSpPr>
          <a:xfrm>
            <a:off x="10080000" y="1656000"/>
            <a:ext cx="1656001" cy="1152000"/>
            <a:chOff x="8782253" y="699638"/>
            <a:chExt cx="1656001" cy="1152000"/>
          </a:xfrm>
        </p:grpSpPr>
        <mc:AlternateContent xmlns:mc="http://schemas.openxmlformats.org/markup-compatibility/2006" xmlns:a14="http://schemas.microsoft.com/office/drawing/2010/main">
          <mc:Choice Requires="a14">
            <p:sp>
              <p:nvSpPr>
                <p:cNvPr id="69" name="Rectangle 8">
                  <a:extLst>
                    <a:ext uri="{FF2B5EF4-FFF2-40B4-BE49-F238E27FC236}">
                      <a16:creationId xmlns:a16="http://schemas.microsoft.com/office/drawing/2014/main" id="{E229E074-E567-BAA0-12C6-3F343C986EA8}"/>
                    </a:ext>
                  </a:extLst>
                </p:cNvPr>
                <p:cNvSpPr>
                  <a:spLocks noChangeArrowheads="1"/>
                </p:cNvSpPr>
                <p:nvPr/>
              </p:nvSpPr>
              <p:spPr bwMode="auto">
                <a:xfrm>
                  <a:off x="8962254" y="699638"/>
                  <a:ext cx="360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𝑖</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69" name="Rectangle 8">
                  <a:extLst>
                    <a:ext uri="{FF2B5EF4-FFF2-40B4-BE49-F238E27FC236}">
                      <a16:creationId xmlns:a16="http://schemas.microsoft.com/office/drawing/2014/main" id="{E229E074-E567-BAA0-12C6-3F343C986EA8}"/>
                    </a:ext>
                  </a:extLst>
                </p:cNvPr>
                <p:cNvSpPr>
                  <a:spLocks noRot="1" noChangeAspect="1" noMove="1" noResize="1" noEditPoints="1" noAdjustHandles="1" noChangeArrowheads="1" noChangeShapeType="1" noTextEdit="1"/>
                </p:cNvSpPr>
                <p:nvPr/>
              </p:nvSpPr>
              <p:spPr bwMode="auto">
                <a:xfrm>
                  <a:off x="8962254" y="699638"/>
                  <a:ext cx="360000" cy="432000"/>
                </a:xfrm>
                <a:prstGeom prst="rect">
                  <a:avLst/>
                </a:prstGeom>
                <a:blipFill>
                  <a:blip r:embed="rId20"/>
                  <a:stretch>
                    <a:fillRect l="-16949"/>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70" name="等腰三角形 69">
              <a:extLst>
                <a:ext uri="{FF2B5EF4-FFF2-40B4-BE49-F238E27FC236}">
                  <a16:creationId xmlns:a16="http://schemas.microsoft.com/office/drawing/2014/main" id="{584518E8-92CA-9113-089A-0E5C1D7510CC}"/>
                </a:ext>
              </a:extLst>
            </p:cNvPr>
            <p:cNvSpPr/>
            <p:nvPr/>
          </p:nvSpPr>
          <p:spPr>
            <a:xfrm rot="5400000">
              <a:off x="9358254" y="1023638"/>
              <a:ext cx="504000" cy="360000"/>
            </a:xfrm>
            <a:prstGeom prst="triangle">
              <a:avLst/>
            </a:prstGeom>
            <a:solidFill>
              <a:schemeClr val="tx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cxnSp>
          <p:nvCxnSpPr>
            <p:cNvPr id="71" name="直接连接符 70">
              <a:extLst>
                <a:ext uri="{FF2B5EF4-FFF2-40B4-BE49-F238E27FC236}">
                  <a16:creationId xmlns:a16="http://schemas.microsoft.com/office/drawing/2014/main" id="{8A2C3F98-5B54-BF97-9D99-849D3E8376C1}"/>
                </a:ext>
              </a:extLst>
            </p:cNvPr>
            <p:cNvCxnSpPr>
              <a:cxnSpLocks/>
            </p:cNvCxnSpPr>
            <p:nvPr/>
          </p:nvCxnSpPr>
          <p:spPr>
            <a:xfrm>
              <a:off x="8854254" y="1203638"/>
              <a:ext cx="144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F127B1A7-DF16-D2D5-B022-BE20ADF184A7}"/>
                </a:ext>
              </a:extLst>
            </p:cNvPr>
            <p:cNvCxnSpPr>
              <a:cxnSpLocks/>
            </p:cNvCxnSpPr>
            <p:nvPr/>
          </p:nvCxnSpPr>
          <p:spPr>
            <a:xfrm>
              <a:off x="9790254" y="933638"/>
              <a:ext cx="0" cy="54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5" name="Rectangle 8">
                  <a:extLst>
                    <a:ext uri="{FF2B5EF4-FFF2-40B4-BE49-F238E27FC236}">
                      <a16:creationId xmlns:a16="http://schemas.microsoft.com/office/drawing/2014/main" id="{C8BE29D8-0287-E0A0-CF9F-E2F89D622EA6}"/>
                    </a:ext>
                  </a:extLst>
                </p:cNvPr>
                <p:cNvSpPr>
                  <a:spLocks noChangeArrowheads="1"/>
                </p:cNvSpPr>
                <p:nvPr/>
              </p:nvSpPr>
              <p:spPr bwMode="auto">
                <a:xfrm>
                  <a:off x="8782254" y="1419638"/>
                  <a:ext cx="1656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 xmlns:m="http://schemas.openxmlformats.org/officeDocument/2006/math">
                      <m:r>
                        <a:rPr kumimoji="1" lang="pt-BR"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14:m>
                    <m:oMath xmlns:m="http://schemas.openxmlformats.org/officeDocument/2006/math">
                      <m:sSub>
                        <m:sSubPr>
                          <m:ctrlPr>
                            <a:rPr kumimoji="1" lang="en-US" altLang="zh-CN" sz="2000" b="0" i="1">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𝑣</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a14:m>
                  <a:r>
                    <a:rPr kumimoji="1" lang="zh-CN" altLang="en-US" sz="2000" b="0" dirty="0">
                      <a:latin typeface="微软雅黑" panose="020B0503020204020204" pitchFamily="34" charset="-122"/>
                      <a:ea typeface="微软雅黑" panose="020B0503020204020204" pitchFamily="34" charset="-122"/>
                    </a:rPr>
                    <a:t>    </a:t>
                  </a:r>
                  <a14:m>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p>
              </p:txBody>
            </p:sp>
          </mc:Choice>
          <mc:Fallback xmlns="">
            <p:sp>
              <p:nvSpPr>
                <p:cNvPr id="75" name="Rectangle 8">
                  <a:extLst>
                    <a:ext uri="{FF2B5EF4-FFF2-40B4-BE49-F238E27FC236}">
                      <a16:creationId xmlns:a16="http://schemas.microsoft.com/office/drawing/2014/main" id="{C8BE29D8-0287-E0A0-CF9F-E2F89D622EA6}"/>
                    </a:ext>
                  </a:extLst>
                </p:cNvPr>
                <p:cNvSpPr>
                  <a:spLocks noRot="1" noChangeAspect="1" noMove="1" noResize="1" noEditPoints="1" noAdjustHandles="1" noChangeArrowheads="1" noChangeShapeType="1" noTextEdit="1"/>
                </p:cNvSpPr>
                <p:nvPr/>
              </p:nvSpPr>
              <p:spPr bwMode="auto">
                <a:xfrm>
                  <a:off x="8782254" y="1419638"/>
                  <a:ext cx="1656000" cy="432000"/>
                </a:xfrm>
                <a:prstGeom prst="rect">
                  <a:avLst/>
                </a:prstGeom>
                <a:blipFill>
                  <a:blip r:embed="rId21"/>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76" name="椭圆 75">
              <a:extLst>
                <a:ext uri="{FF2B5EF4-FFF2-40B4-BE49-F238E27FC236}">
                  <a16:creationId xmlns:a16="http://schemas.microsoft.com/office/drawing/2014/main" id="{72C9611D-016E-9471-CD32-859F7ACD2C29}"/>
                </a:ext>
              </a:extLst>
            </p:cNvPr>
            <p:cNvSpPr/>
            <p:nvPr/>
          </p:nvSpPr>
          <p:spPr>
            <a:xfrm>
              <a:off x="10222254" y="1131638"/>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77" name="椭圆 76">
              <a:extLst>
                <a:ext uri="{FF2B5EF4-FFF2-40B4-BE49-F238E27FC236}">
                  <a16:creationId xmlns:a16="http://schemas.microsoft.com/office/drawing/2014/main" id="{7C486AA3-3842-B2E8-BAD0-CF488D1DEA43}"/>
                </a:ext>
              </a:extLst>
            </p:cNvPr>
            <p:cNvSpPr/>
            <p:nvPr/>
          </p:nvSpPr>
          <p:spPr>
            <a:xfrm>
              <a:off x="8782253" y="1131638"/>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78" name="直接箭头连接符 77">
              <a:extLst>
                <a:ext uri="{FF2B5EF4-FFF2-40B4-BE49-F238E27FC236}">
                  <a16:creationId xmlns:a16="http://schemas.microsoft.com/office/drawing/2014/main" id="{E142F1C3-81DD-7D72-9942-1298C2E3EE76}"/>
                </a:ext>
              </a:extLst>
            </p:cNvPr>
            <p:cNvCxnSpPr>
              <a:cxnSpLocks/>
            </p:cNvCxnSpPr>
            <p:nvPr/>
          </p:nvCxnSpPr>
          <p:spPr>
            <a:xfrm>
              <a:off x="8962254" y="1095638"/>
              <a:ext cx="396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grpSp>
        <p:nvGrpSpPr>
          <p:cNvPr id="93" name="组合 92">
            <a:extLst>
              <a:ext uri="{FF2B5EF4-FFF2-40B4-BE49-F238E27FC236}">
                <a16:creationId xmlns:a16="http://schemas.microsoft.com/office/drawing/2014/main" id="{BA4B594D-24EE-7D2C-A360-FD1331898421}"/>
              </a:ext>
            </a:extLst>
          </p:cNvPr>
          <p:cNvGrpSpPr/>
          <p:nvPr/>
        </p:nvGrpSpPr>
        <p:grpSpPr>
          <a:xfrm>
            <a:off x="7920000" y="2988000"/>
            <a:ext cx="1656001" cy="1008000"/>
            <a:chOff x="7920000" y="2988000"/>
            <a:chExt cx="1656001" cy="1008000"/>
          </a:xfrm>
        </p:grpSpPr>
        <p:cxnSp>
          <p:nvCxnSpPr>
            <p:cNvPr id="92" name="直接连接符 91">
              <a:extLst>
                <a:ext uri="{FF2B5EF4-FFF2-40B4-BE49-F238E27FC236}">
                  <a16:creationId xmlns:a16="http://schemas.microsoft.com/office/drawing/2014/main" id="{F4C8A6C3-82A4-8DF8-171D-F5E7F4E53056}"/>
                </a:ext>
              </a:extLst>
            </p:cNvPr>
            <p:cNvCxnSpPr>
              <a:cxnSpLocks/>
            </p:cNvCxnSpPr>
            <p:nvPr/>
          </p:nvCxnSpPr>
          <p:spPr>
            <a:xfrm>
              <a:off x="8892000" y="3492000"/>
              <a:ext cx="54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0" name="Rectangle 8">
                  <a:extLst>
                    <a:ext uri="{FF2B5EF4-FFF2-40B4-BE49-F238E27FC236}">
                      <a16:creationId xmlns:a16="http://schemas.microsoft.com/office/drawing/2014/main" id="{343D51ED-7407-F684-4FBC-9456CCCD7C5B}"/>
                    </a:ext>
                  </a:extLst>
                </p:cNvPr>
                <p:cNvSpPr>
                  <a:spLocks noChangeArrowheads="1"/>
                </p:cNvSpPr>
                <p:nvPr/>
              </p:nvSpPr>
              <p:spPr bwMode="auto">
                <a:xfrm>
                  <a:off x="8100001" y="2988000"/>
                  <a:ext cx="360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𝑖</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80" name="Rectangle 8">
                  <a:extLst>
                    <a:ext uri="{FF2B5EF4-FFF2-40B4-BE49-F238E27FC236}">
                      <a16:creationId xmlns:a16="http://schemas.microsoft.com/office/drawing/2014/main" id="{343D51ED-7407-F684-4FBC-9456CCCD7C5B}"/>
                    </a:ext>
                  </a:extLst>
                </p:cNvPr>
                <p:cNvSpPr>
                  <a:spLocks noRot="1" noChangeAspect="1" noMove="1" noResize="1" noEditPoints="1" noAdjustHandles="1" noChangeArrowheads="1" noChangeShapeType="1" noTextEdit="1"/>
                </p:cNvSpPr>
                <p:nvPr/>
              </p:nvSpPr>
              <p:spPr bwMode="auto">
                <a:xfrm>
                  <a:off x="8100001" y="2988000"/>
                  <a:ext cx="360000" cy="432000"/>
                </a:xfrm>
                <a:prstGeom prst="rect">
                  <a:avLst/>
                </a:prstGeom>
                <a:blipFill>
                  <a:blip r:embed="rId22"/>
                  <a:stretch>
                    <a:fillRect l="-16949"/>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81" name="直接连接符 80">
              <a:extLst>
                <a:ext uri="{FF2B5EF4-FFF2-40B4-BE49-F238E27FC236}">
                  <a16:creationId xmlns:a16="http://schemas.microsoft.com/office/drawing/2014/main" id="{C7D0AC43-5283-1A1B-ED12-E813C8AD0486}"/>
                </a:ext>
              </a:extLst>
            </p:cNvPr>
            <p:cNvCxnSpPr>
              <a:cxnSpLocks/>
            </p:cNvCxnSpPr>
            <p:nvPr/>
          </p:nvCxnSpPr>
          <p:spPr>
            <a:xfrm>
              <a:off x="7992001" y="3492000"/>
              <a:ext cx="576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2" name="Rectangle 8">
                  <a:extLst>
                    <a:ext uri="{FF2B5EF4-FFF2-40B4-BE49-F238E27FC236}">
                      <a16:creationId xmlns:a16="http://schemas.microsoft.com/office/drawing/2014/main" id="{F357B0A7-37CD-4276-4CA8-C1EBBD0BFBA1}"/>
                    </a:ext>
                  </a:extLst>
                </p:cNvPr>
                <p:cNvSpPr>
                  <a:spLocks noChangeArrowheads="1"/>
                </p:cNvSpPr>
                <p:nvPr/>
              </p:nvSpPr>
              <p:spPr bwMode="auto">
                <a:xfrm>
                  <a:off x="7920001" y="3564000"/>
                  <a:ext cx="1656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 xmlns:m="http://schemas.openxmlformats.org/officeDocument/2006/math">
                      <m:r>
                        <a:rPr kumimoji="1" lang="pt-BR"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14:m>
                    <m:oMath xmlns:m="http://schemas.openxmlformats.org/officeDocument/2006/math">
                      <m:sSub>
                        <m:sSubPr>
                          <m:ctrlPr>
                            <a:rPr kumimoji="1" lang="en-US" altLang="zh-CN" sz="2000" b="0" i="1">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𝑣</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a14:m>
                  <a:r>
                    <a:rPr kumimoji="1" lang="zh-CN" altLang="en-US" sz="2000" b="0" dirty="0">
                      <a:latin typeface="微软雅黑" panose="020B0503020204020204" pitchFamily="34" charset="-122"/>
                      <a:ea typeface="微软雅黑" panose="020B0503020204020204" pitchFamily="34" charset="-122"/>
                    </a:rPr>
                    <a:t>    </a:t>
                  </a:r>
                  <a14:m>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p>
              </p:txBody>
            </p:sp>
          </mc:Choice>
          <mc:Fallback xmlns="">
            <p:sp>
              <p:nvSpPr>
                <p:cNvPr id="82" name="Rectangle 8">
                  <a:extLst>
                    <a:ext uri="{FF2B5EF4-FFF2-40B4-BE49-F238E27FC236}">
                      <a16:creationId xmlns:a16="http://schemas.microsoft.com/office/drawing/2014/main" id="{F357B0A7-37CD-4276-4CA8-C1EBBD0BFBA1}"/>
                    </a:ext>
                  </a:extLst>
                </p:cNvPr>
                <p:cNvSpPr>
                  <a:spLocks noRot="1" noChangeAspect="1" noMove="1" noResize="1" noEditPoints="1" noAdjustHandles="1" noChangeArrowheads="1" noChangeShapeType="1" noTextEdit="1"/>
                </p:cNvSpPr>
                <p:nvPr/>
              </p:nvSpPr>
              <p:spPr bwMode="auto">
                <a:xfrm>
                  <a:off x="7920001" y="3564000"/>
                  <a:ext cx="1656000" cy="432000"/>
                </a:xfrm>
                <a:prstGeom prst="rect">
                  <a:avLst/>
                </a:prstGeom>
                <a:blipFill>
                  <a:blip r:embed="rId23"/>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84" name="椭圆 83">
              <a:extLst>
                <a:ext uri="{FF2B5EF4-FFF2-40B4-BE49-F238E27FC236}">
                  <a16:creationId xmlns:a16="http://schemas.microsoft.com/office/drawing/2014/main" id="{E26F43D1-54BE-6357-4629-D69A1A37E24C}"/>
                </a:ext>
              </a:extLst>
            </p:cNvPr>
            <p:cNvSpPr/>
            <p:nvPr/>
          </p:nvSpPr>
          <p:spPr>
            <a:xfrm>
              <a:off x="9360001" y="3420000"/>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86" name="椭圆 85">
              <a:extLst>
                <a:ext uri="{FF2B5EF4-FFF2-40B4-BE49-F238E27FC236}">
                  <a16:creationId xmlns:a16="http://schemas.microsoft.com/office/drawing/2014/main" id="{AF637542-83E5-2B0F-844C-7D9CFB124994}"/>
                </a:ext>
              </a:extLst>
            </p:cNvPr>
            <p:cNvSpPr/>
            <p:nvPr/>
          </p:nvSpPr>
          <p:spPr>
            <a:xfrm>
              <a:off x="7920000" y="3420000"/>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87" name="直接箭头连接符 86">
              <a:extLst>
                <a:ext uri="{FF2B5EF4-FFF2-40B4-BE49-F238E27FC236}">
                  <a16:creationId xmlns:a16="http://schemas.microsoft.com/office/drawing/2014/main" id="{D5A31126-CD97-922E-8ECB-1D54FBB20E0F}"/>
                </a:ext>
              </a:extLst>
            </p:cNvPr>
            <p:cNvCxnSpPr>
              <a:cxnSpLocks/>
            </p:cNvCxnSpPr>
            <p:nvPr/>
          </p:nvCxnSpPr>
          <p:spPr>
            <a:xfrm>
              <a:off x="8100001" y="3384000"/>
              <a:ext cx="396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88" name="椭圆 87">
              <a:extLst>
                <a:ext uri="{FF2B5EF4-FFF2-40B4-BE49-F238E27FC236}">
                  <a16:creationId xmlns:a16="http://schemas.microsoft.com/office/drawing/2014/main" id="{431C49DE-070B-22FC-1A1F-22AD55BE7919}"/>
                </a:ext>
              </a:extLst>
            </p:cNvPr>
            <p:cNvSpPr/>
            <p:nvPr/>
          </p:nvSpPr>
          <p:spPr>
            <a:xfrm>
              <a:off x="8496000" y="3420000"/>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90" name="椭圆 89">
              <a:extLst>
                <a:ext uri="{FF2B5EF4-FFF2-40B4-BE49-F238E27FC236}">
                  <a16:creationId xmlns:a16="http://schemas.microsoft.com/office/drawing/2014/main" id="{10C425B5-D5C0-B013-D3AC-D83A3ECD0F89}"/>
                </a:ext>
              </a:extLst>
            </p:cNvPr>
            <p:cNvSpPr/>
            <p:nvPr/>
          </p:nvSpPr>
          <p:spPr>
            <a:xfrm>
              <a:off x="8820000" y="3420000"/>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grpSp>
        <p:nvGrpSpPr>
          <p:cNvPr id="116" name="组合 115">
            <a:extLst>
              <a:ext uri="{FF2B5EF4-FFF2-40B4-BE49-F238E27FC236}">
                <a16:creationId xmlns:a16="http://schemas.microsoft.com/office/drawing/2014/main" id="{1B9EE2D3-2B6F-8DB8-FFC7-A6994A2E2FD5}"/>
              </a:ext>
            </a:extLst>
          </p:cNvPr>
          <p:cNvGrpSpPr/>
          <p:nvPr/>
        </p:nvGrpSpPr>
        <p:grpSpPr>
          <a:xfrm>
            <a:off x="8640000" y="4356000"/>
            <a:ext cx="2340000" cy="1264110"/>
            <a:chOff x="9180000" y="4068000"/>
            <a:chExt cx="2340000" cy="1264110"/>
          </a:xfrm>
        </p:grpSpPr>
        <p:cxnSp>
          <p:nvCxnSpPr>
            <p:cNvPr id="113" name="直接连接符 112">
              <a:extLst>
                <a:ext uri="{FF2B5EF4-FFF2-40B4-BE49-F238E27FC236}">
                  <a16:creationId xmlns:a16="http://schemas.microsoft.com/office/drawing/2014/main" id="{78A0C3D5-2636-6B07-934E-B4790FF9192F}"/>
                </a:ext>
              </a:extLst>
            </p:cNvPr>
            <p:cNvCxnSpPr>
              <a:cxnSpLocks/>
            </p:cNvCxnSpPr>
            <p:nvPr/>
          </p:nvCxnSpPr>
          <p:spPr>
            <a:xfrm>
              <a:off x="10944000" y="4716000"/>
              <a:ext cx="46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5" name="Rectangle 8">
                  <a:extLst>
                    <a:ext uri="{FF2B5EF4-FFF2-40B4-BE49-F238E27FC236}">
                      <a16:creationId xmlns:a16="http://schemas.microsoft.com/office/drawing/2014/main" id="{83F53ADD-F4C0-E022-C2DA-F64F630B95AD}"/>
                    </a:ext>
                  </a:extLst>
                </p:cNvPr>
                <p:cNvSpPr>
                  <a:spLocks noChangeArrowheads="1"/>
                </p:cNvSpPr>
                <p:nvPr/>
              </p:nvSpPr>
              <p:spPr bwMode="auto">
                <a:xfrm>
                  <a:off x="9360001" y="4212000"/>
                  <a:ext cx="360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𝑖</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95" name="Rectangle 8">
                  <a:extLst>
                    <a:ext uri="{FF2B5EF4-FFF2-40B4-BE49-F238E27FC236}">
                      <a16:creationId xmlns:a16="http://schemas.microsoft.com/office/drawing/2014/main" id="{83F53ADD-F4C0-E022-C2DA-F64F630B95AD}"/>
                    </a:ext>
                  </a:extLst>
                </p:cNvPr>
                <p:cNvSpPr>
                  <a:spLocks noRot="1" noChangeAspect="1" noMove="1" noResize="1" noEditPoints="1" noAdjustHandles="1" noChangeArrowheads="1" noChangeShapeType="1" noTextEdit="1"/>
                </p:cNvSpPr>
                <p:nvPr/>
              </p:nvSpPr>
              <p:spPr bwMode="auto">
                <a:xfrm>
                  <a:off x="9360001" y="4212000"/>
                  <a:ext cx="360000" cy="432000"/>
                </a:xfrm>
                <a:prstGeom prst="rect">
                  <a:avLst/>
                </a:prstGeom>
                <a:blipFill>
                  <a:blip r:embed="rId24"/>
                  <a:stretch>
                    <a:fillRect l="-16949"/>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03" name="等腰三角形 102">
              <a:extLst>
                <a:ext uri="{FF2B5EF4-FFF2-40B4-BE49-F238E27FC236}">
                  <a16:creationId xmlns:a16="http://schemas.microsoft.com/office/drawing/2014/main" id="{E2C59049-DA1E-BE58-8FAE-1C7D410FB25B}"/>
                </a:ext>
              </a:extLst>
            </p:cNvPr>
            <p:cNvSpPr/>
            <p:nvPr/>
          </p:nvSpPr>
          <p:spPr>
            <a:xfrm rot="5400000">
              <a:off x="9756001" y="4536000"/>
              <a:ext cx="504000" cy="360000"/>
            </a:xfrm>
            <a:prstGeom prst="triangle">
              <a:avLst/>
            </a:prstGeom>
            <a:solidFill>
              <a:schemeClr val="tx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cxnSp>
          <p:nvCxnSpPr>
            <p:cNvPr id="104" name="直接连接符 103">
              <a:extLst>
                <a:ext uri="{FF2B5EF4-FFF2-40B4-BE49-F238E27FC236}">
                  <a16:creationId xmlns:a16="http://schemas.microsoft.com/office/drawing/2014/main" id="{43654501-26AF-014E-D831-B46627D3C949}"/>
                </a:ext>
              </a:extLst>
            </p:cNvPr>
            <p:cNvCxnSpPr>
              <a:cxnSpLocks/>
            </p:cNvCxnSpPr>
            <p:nvPr/>
          </p:nvCxnSpPr>
          <p:spPr>
            <a:xfrm>
              <a:off x="9252001" y="4716000"/>
              <a:ext cx="154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BEEDADF2-0666-5DA8-7939-90D07390C001}"/>
                </a:ext>
              </a:extLst>
            </p:cNvPr>
            <p:cNvCxnSpPr>
              <a:cxnSpLocks/>
            </p:cNvCxnSpPr>
            <p:nvPr/>
          </p:nvCxnSpPr>
          <p:spPr>
            <a:xfrm>
              <a:off x="10188001" y="4446000"/>
              <a:ext cx="0" cy="54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6" name="Rectangle 8">
                  <a:extLst>
                    <a:ext uri="{FF2B5EF4-FFF2-40B4-BE49-F238E27FC236}">
                      <a16:creationId xmlns:a16="http://schemas.microsoft.com/office/drawing/2014/main" id="{B3A50E4B-D735-AA4C-80B2-7979ADE4509B}"/>
                    </a:ext>
                  </a:extLst>
                </p:cNvPr>
                <p:cNvSpPr>
                  <a:spLocks noChangeArrowheads="1"/>
                </p:cNvSpPr>
                <p:nvPr/>
              </p:nvSpPr>
              <p:spPr bwMode="auto">
                <a:xfrm>
                  <a:off x="9180000" y="4932000"/>
                  <a:ext cx="2303993" cy="40011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 xmlns:m="http://schemas.openxmlformats.org/officeDocument/2006/math">
                      <m:r>
                        <a:rPr kumimoji="1" lang="pt-BR"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14:m>
                    <m:oMath xmlns:m="http://schemas.openxmlformats.org/officeDocument/2006/math">
                      <m:sSub>
                        <m:sSubPr>
                          <m:ctrlPr>
                            <a:rPr kumimoji="1" lang="en-US" altLang="zh-CN" sz="2000" b="0" i="1">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𝑣</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a14:m>
                  <a:r>
                    <a:rPr kumimoji="1" lang="zh-CN" altLang="en-US" sz="2000" b="0" dirty="0">
                      <a:latin typeface="微软雅黑" panose="020B0503020204020204" pitchFamily="34" charset="-122"/>
                      <a:ea typeface="微软雅黑" panose="020B0503020204020204" pitchFamily="34" charset="-122"/>
                    </a:rPr>
                    <a:t>        </a:t>
                  </a:r>
                  <a14:m>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p>
              </p:txBody>
            </p:sp>
          </mc:Choice>
          <mc:Fallback xmlns="">
            <p:sp>
              <p:nvSpPr>
                <p:cNvPr id="106" name="Rectangle 8">
                  <a:extLst>
                    <a:ext uri="{FF2B5EF4-FFF2-40B4-BE49-F238E27FC236}">
                      <a16:creationId xmlns:a16="http://schemas.microsoft.com/office/drawing/2014/main" id="{B3A50E4B-D735-AA4C-80B2-7979ADE4509B}"/>
                    </a:ext>
                  </a:extLst>
                </p:cNvPr>
                <p:cNvSpPr>
                  <a:spLocks noRot="1" noChangeAspect="1" noMove="1" noResize="1" noEditPoints="1" noAdjustHandles="1" noChangeArrowheads="1" noChangeShapeType="1" noTextEdit="1"/>
                </p:cNvSpPr>
                <p:nvPr/>
              </p:nvSpPr>
              <p:spPr bwMode="auto">
                <a:xfrm>
                  <a:off x="9180000" y="4932000"/>
                  <a:ext cx="2303993" cy="400110"/>
                </a:xfrm>
                <a:prstGeom prst="rect">
                  <a:avLst/>
                </a:prstGeom>
                <a:blipFill>
                  <a:blip r:embed="rId25"/>
                  <a:stretch>
                    <a:fillRect b="-151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07" name="椭圆 106">
              <a:extLst>
                <a:ext uri="{FF2B5EF4-FFF2-40B4-BE49-F238E27FC236}">
                  <a16:creationId xmlns:a16="http://schemas.microsoft.com/office/drawing/2014/main" id="{D0078E64-0BA0-15E2-1E4E-981D9327AB76}"/>
                </a:ext>
              </a:extLst>
            </p:cNvPr>
            <p:cNvSpPr/>
            <p:nvPr/>
          </p:nvSpPr>
          <p:spPr>
            <a:xfrm>
              <a:off x="11340000" y="4644000"/>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08" name="椭圆 107">
              <a:extLst>
                <a:ext uri="{FF2B5EF4-FFF2-40B4-BE49-F238E27FC236}">
                  <a16:creationId xmlns:a16="http://schemas.microsoft.com/office/drawing/2014/main" id="{962F7A94-B76B-97F8-8B6E-C4BF12CC183E}"/>
                </a:ext>
              </a:extLst>
            </p:cNvPr>
            <p:cNvSpPr/>
            <p:nvPr/>
          </p:nvSpPr>
          <p:spPr>
            <a:xfrm>
              <a:off x="9180000" y="4644000"/>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109" name="直接箭头连接符 108">
              <a:extLst>
                <a:ext uri="{FF2B5EF4-FFF2-40B4-BE49-F238E27FC236}">
                  <a16:creationId xmlns:a16="http://schemas.microsoft.com/office/drawing/2014/main" id="{749A3949-A717-609C-092A-C80D406F676E}"/>
                </a:ext>
              </a:extLst>
            </p:cNvPr>
            <p:cNvCxnSpPr>
              <a:cxnSpLocks/>
            </p:cNvCxnSpPr>
            <p:nvPr/>
          </p:nvCxnSpPr>
          <p:spPr>
            <a:xfrm>
              <a:off x="9360001" y="4608000"/>
              <a:ext cx="396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33757AC4-05FA-4DE5-2497-30C99B0C0A1E}"/>
                </a:ext>
              </a:extLst>
            </p:cNvPr>
            <p:cNvCxnSpPr>
              <a:cxnSpLocks/>
            </p:cNvCxnSpPr>
            <p:nvPr/>
          </p:nvCxnSpPr>
          <p:spPr>
            <a:xfrm flipH="1" flipV="1">
              <a:off x="10800000" y="4464000"/>
              <a:ext cx="0" cy="504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51EE9E1A-8547-DDC3-4237-F69BA721D78A}"/>
                </a:ext>
              </a:extLst>
            </p:cNvPr>
            <p:cNvCxnSpPr>
              <a:cxnSpLocks/>
            </p:cNvCxnSpPr>
            <p:nvPr/>
          </p:nvCxnSpPr>
          <p:spPr>
            <a:xfrm flipH="1" flipV="1">
              <a:off x="10926000" y="4572000"/>
              <a:ext cx="0" cy="28800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5" name="Rectangle 8">
                  <a:extLst>
                    <a:ext uri="{FF2B5EF4-FFF2-40B4-BE49-F238E27FC236}">
                      <a16:creationId xmlns:a16="http://schemas.microsoft.com/office/drawing/2014/main" id="{37C60D31-4F2A-99ED-F7F1-85E12220101C}"/>
                    </a:ext>
                  </a:extLst>
                </p:cNvPr>
                <p:cNvSpPr>
                  <a:spLocks noChangeArrowheads="1"/>
                </p:cNvSpPr>
                <p:nvPr/>
              </p:nvSpPr>
              <p:spPr bwMode="auto">
                <a:xfrm>
                  <a:off x="10224000" y="4068000"/>
                  <a:ext cx="1296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 xmlns:m="http://schemas.openxmlformats.org/officeDocument/2006/math">
                      <m:r>
                        <a:rPr kumimoji="1" lang="pt-BR"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14:m>
                    <m:oMath xmlns:m="http://schemas.openxmlformats.org/officeDocument/2006/math">
                      <m:sSub>
                        <m:sSubPr>
                          <m:ctrlPr>
                            <a:rPr kumimoji="1" lang="en-US" altLang="zh-CN" sz="2000" b="0" i="1">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𝑉</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a14:m>
                  <a:r>
                    <a:rPr kumimoji="1" lang="zh-CN" altLang="en-US" sz="2000" b="0" dirty="0">
                      <a:latin typeface="微软雅黑" panose="020B0503020204020204" pitchFamily="34" charset="-122"/>
                      <a:ea typeface="微软雅黑" panose="020B0503020204020204" pitchFamily="34" charset="-122"/>
                    </a:rPr>
                    <a:t>  </a:t>
                  </a:r>
                  <a14:m>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p>
              </p:txBody>
            </p:sp>
          </mc:Choice>
          <mc:Fallback xmlns="">
            <p:sp>
              <p:nvSpPr>
                <p:cNvPr id="115" name="Rectangle 8">
                  <a:extLst>
                    <a:ext uri="{FF2B5EF4-FFF2-40B4-BE49-F238E27FC236}">
                      <a16:creationId xmlns:a16="http://schemas.microsoft.com/office/drawing/2014/main" id="{37C60D31-4F2A-99ED-F7F1-85E12220101C}"/>
                    </a:ext>
                  </a:extLst>
                </p:cNvPr>
                <p:cNvSpPr>
                  <a:spLocks noRot="1" noChangeAspect="1" noMove="1" noResize="1" noEditPoints="1" noAdjustHandles="1" noChangeArrowheads="1" noChangeShapeType="1" noTextEdit="1"/>
                </p:cNvSpPr>
                <p:nvPr/>
              </p:nvSpPr>
              <p:spPr bwMode="auto">
                <a:xfrm>
                  <a:off x="10224000" y="4068000"/>
                  <a:ext cx="1296000" cy="432000"/>
                </a:xfrm>
                <a:prstGeom prst="rect">
                  <a:avLst/>
                </a:prstGeom>
                <a:blipFill>
                  <a:blip r:embed="rId26"/>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spTree>
    <p:extLst>
      <p:ext uri="{BB962C8B-B14F-4D97-AF65-F5344CB8AC3E}">
        <p14:creationId xmlns:p14="http://schemas.microsoft.com/office/powerpoint/2010/main" val="24296466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1BB93-194F-EDD8-4367-B30BA1261C9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7776526E-CEEF-6722-D1D0-B8845AFA622D}"/>
                  </a:ext>
                </a:extLst>
              </p:cNvPr>
              <p:cNvSpPr txBox="1"/>
              <p:nvPr/>
            </p:nvSpPr>
            <p:spPr>
              <a:xfrm>
                <a:off x="360000" y="828000"/>
                <a:ext cx="6932184" cy="1676677"/>
              </a:xfrm>
              <a:prstGeom prst="rect">
                <a:avLst/>
              </a:prstGeom>
              <a:noFill/>
            </p:spPr>
            <p:txBody>
              <a:bodyPr wrap="square">
                <a:spAutoFit/>
              </a:bodyPr>
              <a:lstStyle/>
              <a:p>
                <a:pPr>
                  <a:lnSpc>
                    <a:spcPct val="120000"/>
                  </a:lnSpc>
                  <a:spcAft>
                    <a:spcPts val="600"/>
                  </a:spcAft>
                </a:pPr>
                <a:r>
                  <a:rPr kumimoji="1" lang="zh-CN" altLang="en-US" sz="2800" dirty="0">
                    <a:solidFill>
                      <a:srgbClr val="002060"/>
                    </a:solidFill>
                    <a:latin typeface="微软雅黑" panose="020B0503020204020204" pitchFamily="34" charset="-122"/>
                    <a:ea typeface="微软雅黑" panose="020B0503020204020204" pitchFamily="34" charset="-122"/>
                  </a:rPr>
                  <a:t>示例一：</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lvl="1">
                  <a:lnSpc>
                    <a:spcPct val="120000"/>
                  </a:lnSpc>
                  <a:spcAft>
                    <a:spcPts val="600"/>
                  </a:spcAft>
                </a:pPr>
                <a:r>
                  <a:rPr kumimoji="1" lang="zh-CN" altLang="en-US" sz="2800" dirty="0">
                    <a:solidFill>
                      <a:srgbClr val="002060"/>
                    </a:solidFill>
                    <a:latin typeface="微软雅黑" panose="020B0503020204020204" pitchFamily="34" charset="-122"/>
                    <a:ea typeface="微软雅黑" panose="020B0503020204020204" pitchFamily="34" charset="-122"/>
                  </a:rPr>
                  <a:t>右图中的二极管为硅管，</a:t>
                </a:r>
                <a14:m>
                  <m:oMath xmlns:m="http://schemas.openxmlformats.org/officeDocument/2006/math">
                    <m:sSub>
                      <m:sSubPr>
                        <m:ctrlPr>
                          <a:rPr kumimoji="1" lang="en-US" altLang="zh-CN" sz="2800" i="1" smtClean="0">
                            <a:solidFill>
                              <a:srgbClr val="002060"/>
                            </a:solidFill>
                            <a:latin typeface="Cambria Math" panose="02040503050406030204" pitchFamily="18" charset="0"/>
                            <a:ea typeface="微软雅黑" panose="020B0503020204020204" pitchFamily="34" charset="-122"/>
                          </a:rPr>
                        </m:ctrlPr>
                      </m:sSubPr>
                      <m:e>
                        <m:r>
                          <a:rPr kumimoji="1" lang="en-US" altLang="zh-CN" sz="2800" b="0" i="1" smtClean="0">
                            <a:solidFill>
                              <a:srgbClr val="002060"/>
                            </a:solidFill>
                            <a:latin typeface="Cambria Math" panose="02040503050406030204" pitchFamily="18" charset="0"/>
                            <a:ea typeface="微软雅黑" panose="020B0503020204020204" pitchFamily="34" charset="-122"/>
                          </a:rPr>
                          <m:t>𝑉</m:t>
                        </m:r>
                      </m:e>
                      <m:sub>
                        <m:r>
                          <m:rPr>
                            <m:sty m:val="p"/>
                          </m:rPr>
                          <a:rPr kumimoji="1" lang="en-US" altLang="zh-CN" sz="2800" b="0" i="0" smtClean="0">
                            <a:solidFill>
                              <a:srgbClr val="002060"/>
                            </a:solidFill>
                            <a:latin typeface="Cambria Math" panose="02040503050406030204" pitchFamily="18" charset="0"/>
                            <a:ea typeface="微软雅黑" panose="020B0503020204020204" pitchFamily="34" charset="-122"/>
                          </a:rPr>
                          <m:t>DD</m:t>
                        </m:r>
                      </m:sub>
                    </m:sSub>
                    <m:r>
                      <a:rPr kumimoji="1" lang="en-US" altLang="zh-CN" sz="2800" i="1">
                        <a:solidFill>
                          <a:srgbClr val="002060"/>
                        </a:solidFill>
                        <a:latin typeface="Cambria Math" panose="02040503050406030204" pitchFamily="18" charset="0"/>
                        <a:ea typeface="微软雅黑" panose="020B0503020204020204" pitchFamily="34" charset="-122"/>
                      </a:rPr>
                      <m:t>=</m:t>
                    </m:r>
                    <m:r>
                      <a:rPr kumimoji="1" lang="en-US" altLang="zh-CN" sz="2800" i="1" smtClean="0">
                        <a:solidFill>
                          <a:srgbClr val="002060"/>
                        </a:solidFill>
                        <a:latin typeface="Cambria Math" panose="02040503050406030204" pitchFamily="18" charset="0"/>
                        <a:ea typeface="微软雅黑" panose="020B0503020204020204" pitchFamily="34" charset="-122"/>
                      </a:rPr>
                      <m:t>1</m:t>
                    </m:r>
                    <m:r>
                      <a:rPr kumimoji="1" lang="en-US" altLang="zh-CN" sz="2800" b="0" i="1" smtClean="0">
                        <a:solidFill>
                          <a:srgbClr val="002060"/>
                        </a:solidFill>
                        <a:latin typeface="Cambria Math" panose="02040503050406030204" pitchFamily="18" charset="0"/>
                        <a:ea typeface="微软雅黑" panose="020B0503020204020204" pitchFamily="34" charset="-122"/>
                      </a:rPr>
                      <m:t>0 </m:t>
                    </m:r>
                    <m:r>
                      <m:rPr>
                        <m:sty m:val="p"/>
                      </m:rPr>
                      <a:rPr kumimoji="1" lang="en-US" altLang="zh-CN" sz="2800" b="0" i="0" smtClean="0">
                        <a:solidFill>
                          <a:srgbClr val="002060"/>
                        </a:solidFill>
                        <a:latin typeface="Cambria Math" panose="02040503050406030204" pitchFamily="18" charset="0"/>
                        <a:ea typeface="微软雅黑" panose="020B0503020204020204" pitchFamily="34" charset="-122"/>
                      </a:rPr>
                      <m:t>V</m:t>
                    </m:r>
                  </m:oMath>
                </a14:m>
                <a:r>
                  <a:rPr kumimoji="1" lang="zh-CN" altLang="en-US" sz="2800" dirty="0">
                    <a:solidFill>
                      <a:srgbClr val="002060"/>
                    </a:solidFill>
                    <a:ea typeface="微软雅黑" panose="020B0503020204020204" pitchFamily="34" charset="-122"/>
                  </a:rPr>
                  <a:t>，</a:t>
                </a:r>
                <a14:m>
                  <m:oMath xmlns:m="http://schemas.openxmlformats.org/officeDocument/2006/math">
                    <m:r>
                      <a:rPr kumimoji="1" lang="en-US" altLang="zh-CN" sz="2800" b="0" i="1" smtClean="0">
                        <a:solidFill>
                          <a:srgbClr val="002060"/>
                        </a:solidFill>
                        <a:latin typeface="Cambria Math" panose="02040503050406030204" pitchFamily="18" charset="0"/>
                        <a:ea typeface="微软雅黑" panose="020B0503020204020204" pitchFamily="34" charset="-122"/>
                      </a:rPr>
                      <m:t>𝑅</m:t>
                    </m:r>
                    <m:r>
                      <a:rPr kumimoji="1" lang="en-US" altLang="zh-CN" sz="2800" i="1">
                        <a:solidFill>
                          <a:srgbClr val="002060"/>
                        </a:solidFill>
                        <a:latin typeface="Cambria Math" panose="02040503050406030204" pitchFamily="18" charset="0"/>
                        <a:ea typeface="微软雅黑" panose="020B0503020204020204" pitchFamily="34" charset="-122"/>
                      </a:rPr>
                      <m:t>=10 </m:t>
                    </m:r>
                    <m:r>
                      <m:rPr>
                        <m:sty m:val="p"/>
                      </m:rPr>
                      <a:rPr kumimoji="1" lang="en-US" altLang="zh-CN" sz="2800" i="1" smtClean="0">
                        <a:solidFill>
                          <a:srgbClr val="002060"/>
                        </a:solidFill>
                        <a:latin typeface="Cambria Math" panose="02040503050406030204" pitchFamily="18" charset="0"/>
                        <a:ea typeface="微软雅黑" panose="020B0503020204020204" pitchFamily="34" charset="-122"/>
                      </a:rPr>
                      <m:t>k</m:t>
                    </m:r>
                    <m:r>
                      <m:rPr>
                        <m:sty m:val="p"/>
                      </m:rPr>
                      <a:rPr kumimoji="1" lang="el-GR" altLang="zh-CN" sz="2800" i="1" smtClean="0">
                        <a:solidFill>
                          <a:srgbClr val="002060"/>
                        </a:solidFill>
                        <a:latin typeface="Cambria Math" panose="02040503050406030204" pitchFamily="18" charset="0"/>
                        <a:ea typeface="Cambria Math" panose="02040503050406030204" pitchFamily="18" charset="0"/>
                      </a:rPr>
                      <m:t>Ω</m:t>
                    </m:r>
                  </m:oMath>
                </a14:m>
                <a:r>
                  <a:rPr kumimoji="1" lang="zh-CN" altLang="en-US" sz="2800" dirty="0">
                    <a:solidFill>
                      <a:srgbClr val="002060"/>
                    </a:solidFill>
                    <a:latin typeface="微软雅黑" panose="020B0503020204020204" pitchFamily="34" charset="-122"/>
                    <a:ea typeface="微软雅黑" panose="020B0503020204020204" pitchFamily="34" charset="-122"/>
                  </a:rPr>
                  <a:t>，求 </a:t>
                </a:r>
                <a14:m>
                  <m:oMath xmlns:m="http://schemas.openxmlformats.org/officeDocument/2006/math">
                    <m:sSub>
                      <m:sSubPr>
                        <m:ctrlPr>
                          <a:rPr kumimoji="1" lang="en-US" altLang="zh-CN" sz="2800" i="1">
                            <a:solidFill>
                              <a:srgbClr val="002060"/>
                            </a:solidFill>
                            <a:latin typeface="Cambria Math" panose="02040503050406030204" pitchFamily="18" charset="0"/>
                            <a:ea typeface="微软雅黑" panose="020B0503020204020204" pitchFamily="34" charset="-122"/>
                          </a:rPr>
                        </m:ctrlPr>
                      </m:sSubPr>
                      <m:e>
                        <m:r>
                          <a:rPr kumimoji="1" lang="en-US" altLang="zh-CN" sz="2800" b="0" i="1" smtClean="0">
                            <a:solidFill>
                              <a:srgbClr val="002060"/>
                            </a:solidFill>
                            <a:latin typeface="Cambria Math" panose="02040503050406030204" pitchFamily="18" charset="0"/>
                            <a:ea typeface="微软雅黑" panose="020B0503020204020204" pitchFamily="34" charset="-122"/>
                          </a:rPr>
                          <m:t>𝑖</m:t>
                        </m:r>
                      </m:e>
                      <m:sub>
                        <m:r>
                          <m:rPr>
                            <m:sty m:val="p"/>
                          </m:rPr>
                          <a:rPr kumimoji="1" lang="en-US" altLang="zh-CN" sz="2800" b="0" i="0" smtClean="0">
                            <a:solidFill>
                              <a:srgbClr val="002060"/>
                            </a:solidFill>
                            <a:latin typeface="Cambria Math" panose="02040503050406030204" pitchFamily="18" charset="0"/>
                            <a:ea typeface="微软雅黑" panose="020B0503020204020204" pitchFamily="34" charset="-122"/>
                          </a:rPr>
                          <m:t>D</m:t>
                        </m:r>
                      </m:sub>
                    </m:sSub>
                  </m:oMath>
                </a14:m>
                <a:r>
                  <a:rPr kumimoji="1" lang="zh-CN" altLang="en-US" sz="2800" dirty="0">
                    <a:solidFill>
                      <a:srgbClr val="002060"/>
                    </a:solidFill>
                    <a:latin typeface="微软雅黑" panose="020B0503020204020204" pitchFamily="34" charset="-122"/>
                    <a:ea typeface="微软雅黑" panose="020B0503020204020204" pitchFamily="34" charset="-122"/>
                  </a:rPr>
                  <a:t> 和 </a:t>
                </a:r>
                <a14:m>
                  <m:oMath xmlns:m="http://schemas.openxmlformats.org/officeDocument/2006/math">
                    <m:sSub>
                      <m:sSubPr>
                        <m:ctrlPr>
                          <a:rPr kumimoji="1" lang="en-US" altLang="zh-CN" sz="2800" i="1">
                            <a:solidFill>
                              <a:srgbClr val="002060"/>
                            </a:solidFill>
                            <a:latin typeface="Cambria Math" panose="02040503050406030204" pitchFamily="18" charset="0"/>
                            <a:ea typeface="微软雅黑" panose="020B0503020204020204" pitchFamily="34" charset="-122"/>
                          </a:rPr>
                        </m:ctrlPr>
                      </m:sSubPr>
                      <m:e>
                        <m:r>
                          <a:rPr kumimoji="1" lang="en-US" altLang="zh-CN" sz="2800" b="0" i="1" smtClean="0">
                            <a:solidFill>
                              <a:srgbClr val="002060"/>
                            </a:solidFill>
                            <a:latin typeface="Cambria Math" panose="02040503050406030204" pitchFamily="18" charset="0"/>
                            <a:ea typeface="微软雅黑" panose="020B0503020204020204" pitchFamily="34" charset="-122"/>
                          </a:rPr>
                          <m:t>𝑣</m:t>
                        </m:r>
                      </m:e>
                      <m:sub>
                        <m:r>
                          <m:rPr>
                            <m:sty m:val="p"/>
                          </m:rPr>
                          <a:rPr kumimoji="1" lang="en-US" altLang="zh-CN" sz="2800" b="0" i="0" smtClean="0">
                            <a:solidFill>
                              <a:srgbClr val="002060"/>
                            </a:solidFill>
                            <a:latin typeface="Cambria Math" panose="02040503050406030204" pitchFamily="18" charset="0"/>
                            <a:ea typeface="微软雅黑" panose="020B0503020204020204" pitchFamily="34" charset="-122"/>
                          </a:rPr>
                          <m:t>D</m:t>
                        </m:r>
                      </m:sub>
                    </m:sSub>
                  </m:oMath>
                </a14:m>
                <a:r>
                  <a:rPr kumimoji="1" lang="zh-CN" altLang="en-US" sz="2800" dirty="0">
                    <a:solidFill>
                      <a:srgbClr val="002060"/>
                    </a:solidFill>
                    <a:latin typeface="微软雅黑" panose="020B0503020204020204" pitchFamily="34" charset="-122"/>
                    <a:ea typeface="微软雅黑" panose="020B0503020204020204" pitchFamily="34" charset="-122"/>
                  </a:rPr>
                  <a:t>  </a:t>
                </a:r>
                <a:endParaRPr kumimoji="1" lang="en-US" altLang="zh-CN" sz="2800" dirty="0">
                  <a:solidFill>
                    <a:srgbClr val="002060"/>
                  </a:solidFill>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7776526E-CEEF-6722-D1D0-B8845AFA622D}"/>
                  </a:ext>
                </a:extLst>
              </p:cNvPr>
              <p:cNvSpPr txBox="1">
                <a:spLocks noRot="1" noChangeAspect="1" noMove="1" noResize="1" noEditPoints="1" noAdjustHandles="1" noChangeArrowheads="1" noChangeShapeType="1" noTextEdit="1"/>
              </p:cNvSpPr>
              <p:nvPr/>
            </p:nvSpPr>
            <p:spPr>
              <a:xfrm>
                <a:off x="360000" y="828000"/>
                <a:ext cx="6932184" cy="1676677"/>
              </a:xfrm>
              <a:prstGeom prst="rect">
                <a:avLst/>
              </a:prstGeom>
              <a:blipFill>
                <a:blip r:embed="rId3"/>
                <a:stretch>
                  <a:fillRect l="-1759" t="-1455" b="-94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6" name="文本框 85">
                <a:extLst>
                  <a:ext uri="{FF2B5EF4-FFF2-40B4-BE49-F238E27FC236}">
                    <a16:creationId xmlns:a16="http://schemas.microsoft.com/office/drawing/2014/main" id="{61375DB6-A274-3815-1840-E918659A8B1B}"/>
                  </a:ext>
                </a:extLst>
              </p:cNvPr>
              <p:cNvSpPr txBox="1"/>
              <p:nvPr/>
            </p:nvSpPr>
            <p:spPr>
              <a:xfrm>
                <a:off x="360001" y="2520000"/>
                <a:ext cx="6280068" cy="4004558"/>
              </a:xfrm>
              <a:prstGeom prst="rect">
                <a:avLst/>
              </a:prstGeom>
              <a:noFill/>
            </p:spPr>
            <p:txBody>
              <a:bodyPr wrap="square">
                <a:spAutoFit/>
              </a:bodyPr>
              <a:lstStyle/>
              <a:p>
                <a:pPr>
                  <a:lnSpc>
                    <a:spcPct val="120000"/>
                  </a:lnSpc>
                  <a:spcAft>
                    <a:spcPts val="600"/>
                  </a:spcAft>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1</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）使用理想模型：</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lvl="1">
                  <a:lnSpc>
                    <a:spcPct val="120000"/>
                  </a:lnSpc>
                  <a:spcAft>
                    <a:spcPts val="600"/>
                  </a:spcAft>
                </a:pPr>
                <a14:m>
                  <m:oMath xmlns:m="http://schemas.openxmlformats.org/officeDocument/2006/math">
                    <m:sSub>
                      <m:sSubPr>
                        <m:ctrlPr>
                          <a:rPr kumimoji="1" lang="en-US" altLang="zh-CN" sz="280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800" b="0" i="1" smtClean="0">
                            <a:solidFill>
                              <a:schemeClr val="accent5">
                                <a:lumMod val="75000"/>
                              </a:schemeClr>
                            </a:solidFill>
                            <a:latin typeface="Cambria Math" panose="02040503050406030204" pitchFamily="18" charset="0"/>
                            <a:ea typeface="微软雅黑" panose="020B0503020204020204" pitchFamily="34" charset="-122"/>
                          </a:rPr>
                          <m:t>𝑣</m:t>
                        </m:r>
                      </m:e>
                      <m:sub>
                        <m:r>
                          <m:rPr>
                            <m:sty m:val="p"/>
                          </m:rPr>
                          <a:rPr kumimoji="1" lang="en-US" altLang="zh-CN" sz="2800" b="0" i="0" smtClean="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sz="2800" i="1">
                        <a:solidFill>
                          <a:schemeClr val="accent5">
                            <a:lumMod val="75000"/>
                          </a:schemeClr>
                        </a:solidFill>
                        <a:latin typeface="Cambria Math" panose="02040503050406030204" pitchFamily="18" charset="0"/>
                        <a:ea typeface="微软雅黑" panose="020B0503020204020204" pitchFamily="34" charset="-122"/>
                      </a:rPr>
                      <m:t>=</m:t>
                    </m:r>
                    <m:r>
                      <a:rPr kumimoji="1" lang="en-US" altLang="zh-CN" sz="2800" b="0" i="1" smtClean="0">
                        <a:solidFill>
                          <a:schemeClr val="accent5">
                            <a:lumMod val="75000"/>
                          </a:schemeClr>
                        </a:solidFill>
                        <a:latin typeface="Cambria Math" panose="02040503050406030204" pitchFamily="18" charset="0"/>
                        <a:ea typeface="微软雅黑" panose="020B0503020204020204" pitchFamily="34" charset="-122"/>
                      </a:rPr>
                      <m:t>0 </m:t>
                    </m:r>
                    <m:r>
                      <m:rPr>
                        <m:sty m:val="p"/>
                      </m:rPr>
                      <a:rPr kumimoji="1" lang="en-US" altLang="zh-CN" sz="2800" b="0" i="0" smtClean="0">
                        <a:solidFill>
                          <a:schemeClr val="accent5">
                            <a:lumMod val="75000"/>
                          </a:schemeClr>
                        </a:solidFill>
                        <a:latin typeface="Cambria Math" panose="02040503050406030204" pitchFamily="18" charset="0"/>
                        <a:ea typeface="微软雅黑" panose="020B0503020204020204" pitchFamily="34" charset="-122"/>
                      </a:rPr>
                      <m:t>V</m:t>
                    </m:r>
                  </m:oMath>
                </a14:m>
                <a:r>
                  <a:rPr kumimoji="1" lang="en-US" altLang="zh-CN" sz="2800" dirty="0">
                    <a:solidFill>
                      <a:schemeClr val="accent5">
                        <a:lumMod val="75000"/>
                      </a:schemeClr>
                    </a:solidFill>
                    <a:ea typeface="微软雅黑" panose="020B0503020204020204" pitchFamily="34" charset="-122"/>
                  </a:rPr>
                  <a:t> </a:t>
                </a:r>
              </a:p>
              <a:p>
                <a:pPr lvl="1">
                  <a:lnSpc>
                    <a:spcPct val="120000"/>
                  </a:lnSpc>
                  <a:spcAft>
                    <a:spcPts val="600"/>
                  </a:spcAft>
                </a:pPr>
                <a14:m>
                  <m:oMath xmlns:m="http://schemas.openxmlformats.org/officeDocument/2006/math">
                    <m:sSub>
                      <m:sSubPr>
                        <m:ctrlPr>
                          <a:rPr kumimoji="1" lang="en-US" altLang="zh-CN" sz="28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800" b="0" i="1" smtClean="0">
                            <a:solidFill>
                              <a:schemeClr val="accent5">
                                <a:lumMod val="75000"/>
                              </a:schemeClr>
                            </a:solidFill>
                            <a:latin typeface="Cambria Math" panose="02040503050406030204" pitchFamily="18" charset="0"/>
                            <a:ea typeface="微软雅黑" panose="020B0503020204020204" pitchFamily="34" charset="-122"/>
                          </a:rPr>
                          <m:t>𝑖</m:t>
                        </m:r>
                      </m:e>
                      <m:sub>
                        <m:r>
                          <m:rPr>
                            <m:sty m:val="p"/>
                          </m:rPr>
                          <a:rPr kumimoji="1" lang="en-US" altLang="zh-CN" sz="2800" b="0" i="0" smtClean="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sz="2800" i="1">
                        <a:solidFill>
                          <a:schemeClr val="accent5">
                            <a:lumMod val="75000"/>
                          </a:schemeClr>
                        </a:solidFill>
                        <a:latin typeface="Cambria Math" panose="02040503050406030204" pitchFamily="18" charset="0"/>
                        <a:ea typeface="微软雅黑" panose="020B0503020204020204" pitchFamily="34" charset="-122"/>
                      </a:rPr>
                      <m:t>=</m:t>
                    </m:r>
                    <m:f>
                      <m:fPr>
                        <m:ctrlPr>
                          <a:rPr kumimoji="1" lang="en-US" altLang="zh-CN" sz="2800" i="1" smtClean="0">
                            <a:solidFill>
                              <a:schemeClr val="accent5">
                                <a:lumMod val="75000"/>
                              </a:schemeClr>
                            </a:solidFill>
                            <a:latin typeface="Cambria Math" panose="02040503050406030204" pitchFamily="18" charset="0"/>
                            <a:ea typeface="微软雅黑" panose="020B0503020204020204" pitchFamily="34" charset="-122"/>
                          </a:rPr>
                        </m:ctrlPr>
                      </m:fPr>
                      <m:num>
                        <m:sSub>
                          <m:sSubPr>
                            <m:ctrlPr>
                              <a:rPr kumimoji="1" lang="en-US" altLang="zh-CN" sz="28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800"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800" i="0">
                                <a:solidFill>
                                  <a:schemeClr val="accent5">
                                    <a:lumMod val="75000"/>
                                  </a:schemeClr>
                                </a:solidFill>
                                <a:latin typeface="Cambria Math" panose="02040503050406030204" pitchFamily="18" charset="0"/>
                                <a:ea typeface="微软雅黑" panose="020B0503020204020204" pitchFamily="34" charset="-122"/>
                              </a:rPr>
                              <m:t>DD</m:t>
                            </m:r>
                          </m:sub>
                        </m:sSub>
                      </m:num>
                      <m:den>
                        <m:r>
                          <a:rPr kumimoji="1" lang="en-US" altLang="zh-CN" sz="2800" b="0" i="1" smtClean="0">
                            <a:solidFill>
                              <a:schemeClr val="accent5">
                                <a:lumMod val="75000"/>
                              </a:schemeClr>
                            </a:solidFill>
                            <a:latin typeface="Cambria Math" panose="02040503050406030204" pitchFamily="18" charset="0"/>
                            <a:ea typeface="微软雅黑" panose="020B0503020204020204" pitchFamily="34" charset="-122"/>
                          </a:rPr>
                          <m:t>𝑅</m:t>
                        </m:r>
                      </m:den>
                    </m:f>
                    <m:r>
                      <a:rPr kumimoji="1" lang="en-US" altLang="zh-CN" sz="2800" b="0" i="1" smtClean="0">
                        <a:solidFill>
                          <a:schemeClr val="accent5">
                            <a:lumMod val="75000"/>
                          </a:schemeClr>
                        </a:solidFill>
                        <a:latin typeface="Cambria Math" panose="02040503050406030204" pitchFamily="18" charset="0"/>
                        <a:ea typeface="微软雅黑" panose="020B0503020204020204" pitchFamily="34" charset="-122"/>
                      </a:rPr>
                      <m:t>=</m:t>
                    </m:r>
                    <m:f>
                      <m:fPr>
                        <m:ctrlPr>
                          <a:rPr kumimoji="1" lang="en-US" altLang="zh-CN" sz="2800" i="1">
                            <a:solidFill>
                              <a:schemeClr val="accent5">
                                <a:lumMod val="75000"/>
                              </a:schemeClr>
                            </a:solidFill>
                            <a:latin typeface="Cambria Math" panose="02040503050406030204" pitchFamily="18" charset="0"/>
                            <a:ea typeface="微软雅黑" panose="020B0503020204020204" pitchFamily="34" charset="-122"/>
                          </a:rPr>
                        </m:ctrlPr>
                      </m:fPr>
                      <m:num>
                        <m:r>
                          <a:rPr kumimoji="1" lang="en-US" altLang="zh-CN" sz="2800" b="0" i="1" smtClean="0">
                            <a:solidFill>
                              <a:schemeClr val="accent5">
                                <a:lumMod val="75000"/>
                              </a:schemeClr>
                            </a:solidFill>
                            <a:latin typeface="Cambria Math" panose="02040503050406030204" pitchFamily="18" charset="0"/>
                            <a:ea typeface="微软雅黑" panose="020B0503020204020204" pitchFamily="34" charset="-122"/>
                          </a:rPr>
                          <m:t>10 </m:t>
                        </m:r>
                        <m:r>
                          <m:rPr>
                            <m:sty m:val="p"/>
                          </m:rPr>
                          <a:rPr kumimoji="1" lang="en-US" altLang="zh-CN" sz="2800" b="0" i="0" smtClean="0">
                            <a:solidFill>
                              <a:schemeClr val="accent5">
                                <a:lumMod val="75000"/>
                              </a:schemeClr>
                            </a:solidFill>
                            <a:latin typeface="Cambria Math" panose="02040503050406030204" pitchFamily="18" charset="0"/>
                            <a:ea typeface="微软雅黑" panose="020B0503020204020204" pitchFamily="34" charset="-122"/>
                          </a:rPr>
                          <m:t>V</m:t>
                        </m:r>
                      </m:num>
                      <m:den>
                        <m:r>
                          <a:rPr kumimoji="1" lang="en-US" altLang="zh-CN" sz="2800" i="1">
                            <a:solidFill>
                              <a:schemeClr val="accent5">
                                <a:lumMod val="75000"/>
                              </a:schemeClr>
                            </a:solidFill>
                            <a:latin typeface="Cambria Math" panose="02040503050406030204" pitchFamily="18" charset="0"/>
                            <a:ea typeface="微软雅黑" panose="020B0503020204020204" pitchFamily="34" charset="-122"/>
                          </a:rPr>
                          <m:t>10 </m:t>
                        </m:r>
                        <m:r>
                          <m:rPr>
                            <m:sty m:val="p"/>
                          </m:rPr>
                          <a:rPr kumimoji="1" lang="en-US" altLang="zh-CN" sz="2800" i="1">
                            <a:solidFill>
                              <a:schemeClr val="accent5">
                                <a:lumMod val="75000"/>
                              </a:schemeClr>
                            </a:solidFill>
                            <a:latin typeface="Cambria Math" panose="02040503050406030204" pitchFamily="18" charset="0"/>
                            <a:ea typeface="微软雅黑" panose="020B0503020204020204" pitchFamily="34" charset="-122"/>
                          </a:rPr>
                          <m:t>kΩ</m:t>
                        </m:r>
                      </m:den>
                    </m:f>
                    <m:r>
                      <a:rPr kumimoji="1" lang="en-US" altLang="zh-CN" sz="2800" b="0" i="1" smtClean="0">
                        <a:solidFill>
                          <a:schemeClr val="accent5">
                            <a:lumMod val="75000"/>
                          </a:schemeClr>
                        </a:solidFill>
                        <a:latin typeface="Cambria Math" panose="02040503050406030204" pitchFamily="18" charset="0"/>
                        <a:ea typeface="微软雅黑" panose="020B0503020204020204" pitchFamily="34" charset="-122"/>
                      </a:rPr>
                      <m:t>=1 </m:t>
                    </m:r>
                    <m:r>
                      <m:rPr>
                        <m:sty m:val="p"/>
                      </m:rPr>
                      <a:rPr kumimoji="1" lang="en-US" altLang="zh-CN" sz="2800" b="0" i="0" smtClean="0">
                        <a:solidFill>
                          <a:schemeClr val="accent5">
                            <a:lumMod val="75000"/>
                          </a:schemeClr>
                        </a:solidFill>
                        <a:latin typeface="Cambria Math" panose="02040503050406030204" pitchFamily="18" charset="0"/>
                        <a:ea typeface="微软雅黑" panose="020B0503020204020204" pitchFamily="34" charset="-122"/>
                      </a:rPr>
                      <m:t>mA</m:t>
                    </m:r>
                  </m:oMath>
                </a14:m>
                <a:r>
                  <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rPr>
                  <a:t> </a:t>
                </a:r>
              </a:p>
              <a:p>
                <a:pPr>
                  <a:lnSpc>
                    <a:spcPct val="120000"/>
                  </a:lnSpc>
                  <a:spcAft>
                    <a:spcPts val="600"/>
                  </a:spcAft>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2</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）使用恒压降模型（硅管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sz="2400" i="1">
                        <a:solidFill>
                          <a:schemeClr val="accent5">
                            <a:lumMod val="75000"/>
                          </a:schemeClr>
                        </a:solidFill>
                        <a:latin typeface="Cambria Math" panose="02040503050406030204" pitchFamily="18" charset="0"/>
                        <a:ea typeface="Cambria Math" panose="02040503050406030204" pitchFamily="18" charset="0"/>
                      </a:rPr>
                      <m:t>≈</m:t>
                    </m:r>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0.7 </m:t>
                    </m:r>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V</m:t>
                    </m:r>
                  </m:oMath>
                </a14:m>
                <a:r>
                  <a:rPr kumimoji="1" lang="en-US" altLang="zh-CN" sz="2400" dirty="0">
                    <a:solidFill>
                      <a:schemeClr val="accent5">
                        <a:lumMod val="75000"/>
                      </a:schemeClr>
                    </a:solidFill>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kumimoji="1" lang="zh-CN" altLang="en-US" sz="2800" dirty="0">
                    <a:solidFill>
                      <a:schemeClr val="accent5">
                        <a:lumMod val="75000"/>
                      </a:schemeClr>
                    </a:solidFill>
                    <a:latin typeface="微软雅黑" panose="020B0503020204020204" pitchFamily="34" charset="-122"/>
                    <a:ea typeface="微软雅黑" panose="020B0503020204020204" pitchFamily="34" charset="-122"/>
                  </a:rPr>
                  <a:t>：</a:t>
                </a:r>
                <a:endPar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endParaRPr>
              </a:p>
              <a:p>
                <a:pPr lvl="1">
                  <a:lnSpc>
                    <a:spcPct val="120000"/>
                  </a:lnSpc>
                  <a:spcAft>
                    <a:spcPts val="600"/>
                  </a:spcAft>
                </a:pPr>
                <a14:m>
                  <m:oMath xmlns:m="http://schemas.openxmlformats.org/officeDocument/2006/math">
                    <m:sSub>
                      <m:sSubPr>
                        <m:ctrlPr>
                          <a:rPr kumimoji="1" lang="en-US" altLang="zh-CN" sz="28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800" i="1">
                            <a:solidFill>
                              <a:schemeClr val="accent5">
                                <a:lumMod val="75000"/>
                              </a:schemeClr>
                            </a:solidFill>
                            <a:latin typeface="Cambria Math" panose="02040503050406030204" pitchFamily="18" charset="0"/>
                            <a:ea typeface="微软雅黑" panose="020B0503020204020204" pitchFamily="34" charset="-122"/>
                          </a:rPr>
                          <m:t>𝑣</m:t>
                        </m:r>
                      </m:e>
                      <m:sub>
                        <m:r>
                          <m:rPr>
                            <m:sty m:val="p"/>
                          </m:rPr>
                          <a:rPr kumimoji="1" lang="en-US" altLang="zh-CN" sz="2800" b="0" i="0" smtClean="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sz="2800" i="1">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sz="28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800"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800" b="0" i="0" smtClean="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sz="2800" i="1">
                        <a:solidFill>
                          <a:schemeClr val="accent5">
                            <a:lumMod val="75000"/>
                          </a:schemeClr>
                        </a:solidFill>
                        <a:latin typeface="Cambria Math" panose="02040503050406030204" pitchFamily="18" charset="0"/>
                        <a:ea typeface="微软雅黑" panose="020B0503020204020204" pitchFamily="34" charset="-122"/>
                      </a:rPr>
                      <m:t>=0.7 </m:t>
                    </m:r>
                    <m:r>
                      <m:rPr>
                        <m:sty m:val="p"/>
                      </m:rPr>
                      <a:rPr kumimoji="1" lang="en-US" altLang="zh-CN" sz="2800">
                        <a:solidFill>
                          <a:schemeClr val="accent5">
                            <a:lumMod val="75000"/>
                          </a:schemeClr>
                        </a:solidFill>
                        <a:latin typeface="Cambria Math" panose="02040503050406030204" pitchFamily="18" charset="0"/>
                        <a:ea typeface="微软雅黑" panose="020B0503020204020204" pitchFamily="34" charset="-122"/>
                      </a:rPr>
                      <m:t>V</m:t>
                    </m:r>
                  </m:oMath>
                </a14:m>
                <a:r>
                  <a:rPr kumimoji="1" lang="en-US" altLang="zh-CN" sz="2800" dirty="0">
                    <a:solidFill>
                      <a:schemeClr val="accent5">
                        <a:lumMod val="75000"/>
                      </a:schemeClr>
                    </a:solidFill>
                    <a:ea typeface="微软雅黑" panose="020B0503020204020204" pitchFamily="34" charset="-122"/>
                  </a:rPr>
                  <a:t> </a:t>
                </a:r>
              </a:p>
              <a:p>
                <a:pPr lvl="1">
                  <a:lnSpc>
                    <a:spcPct val="120000"/>
                  </a:lnSpc>
                  <a:spcAft>
                    <a:spcPts val="600"/>
                  </a:spcAft>
                </a:pPr>
                <a14:m>
                  <m:oMath xmlns:m="http://schemas.openxmlformats.org/officeDocument/2006/math">
                    <m:sSub>
                      <m:sSubPr>
                        <m:ctrlPr>
                          <a:rPr kumimoji="1" lang="en-US" altLang="zh-CN" sz="28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800" i="1">
                            <a:solidFill>
                              <a:schemeClr val="accent5">
                                <a:lumMod val="75000"/>
                              </a:schemeClr>
                            </a:solidFill>
                            <a:latin typeface="Cambria Math" panose="02040503050406030204" pitchFamily="18" charset="0"/>
                            <a:ea typeface="微软雅黑" panose="020B0503020204020204" pitchFamily="34" charset="-122"/>
                          </a:rPr>
                          <m:t>𝑖</m:t>
                        </m:r>
                      </m:e>
                      <m:sub>
                        <m:r>
                          <m:rPr>
                            <m:sty m:val="p"/>
                          </m:rPr>
                          <a:rPr kumimoji="1" lang="en-US" altLang="zh-CN" sz="2800" b="0" i="0" smtClean="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sz="2800" i="1">
                        <a:solidFill>
                          <a:schemeClr val="accent5">
                            <a:lumMod val="75000"/>
                          </a:schemeClr>
                        </a:solidFill>
                        <a:latin typeface="Cambria Math" panose="02040503050406030204" pitchFamily="18" charset="0"/>
                        <a:ea typeface="微软雅黑" panose="020B0503020204020204" pitchFamily="34" charset="-122"/>
                      </a:rPr>
                      <m:t>=</m:t>
                    </m:r>
                    <m:f>
                      <m:fPr>
                        <m:ctrlPr>
                          <a:rPr kumimoji="1" lang="en-US" altLang="zh-CN" sz="2800" i="1">
                            <a:solidFill>
                              <a:schemeClr val="accent5">
                                <a:lumMod val="75000"/>
                              </a:schemeClr>
                            </a:solidFill>
                            <a:latin typeface="Cambria Math" panose="02040503050406030204" pitchFamily="18" charset="0"/>
                            <a:ea typeface="微软雅黑" panose="020B0503020204020204" pitchFamily="34" charset="-122"/>
                          </a:rPr>
                        </m:ctrlPr>
                      </m:fPr>
                      <m:num>
                        <m:sSub>
                          <m:sSubPr>
                            <m:ctrlPr>
                              <a:rPr kumimoji="1" lang="en-US" altLang="zh-CN" sz="28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800"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800" i="0">
                                <a:solidFill>
                                  <a:schemeClr val="accent5">
                                    <a:lumMod val="75000"/>
                                  </a:schemeClr>
                                </a:solidFill>
                                <a:latin typeface="Cambria Math" panose="02040503050406030204" pitchFamily="18" charset="0"/>
                                <a:ea typeface="微软雅黑" panose="020B0503020204020204" pitchFamily="34" charset="-122"/>
                              </a:rPr>
                              <m:t>DD</m:t>
                            </m:r>
                          </m:sub>
                        </m:sSub>
                        <m:r>
                          <a:rPr kumimoji="1" lang="en-US" altLang="zh-CN" sz="2800" i="1">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sz="28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800"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800" b="0" i="0" smtClean="0">
                                <a:solidFill>
                                  <a:schemeClr val="accent5">
                                    <a:lumMod val="75000"/>
                                  </a:schemeClr>
                                </a:solidFill>
                                <a:latin typeface="Cambria Math" panose="02040503050406030204" pitchFamily="18" charset="0"/>
                                <a:ea typeface="微软雅黑" panose="020B0503020204020204" pitchFamily="34" charset="-122"/>
                              </a:rPr>
                              <m:t>D</m:t>
                            </m:r>
                          </m:sub>
                        </m:sSub>
                      </m:num>
                      <m:den>
                        <m:r>
                          <a:rPr kumimoji="1" lang="en-US" altLang="zh-CN" sz="2800" i="1">
                            <a:solidFill>
                              <a:schemeClr val="accent5">
                                <a:lumMod val="75000"/>
                              </a:schemeClr>
                            </a:solidFill>
                            <a:latin typeface="Cambria Math" panose="02040503050406030204" pitchFamily="18" charset="0"/>
                            <a:ea typeface="微软雅黑" panose="020B0503020204020204" pitchFamily="34" charset="-122"/>
                          </a:rPr>
                          <m:t>𝑅</m:t>
                        </m:r>
                      </m:den>
                    </m:f>
                    <m:r>
                      <a:rPr kumimoji="1" lang="en-US" altLang="zh-CN" sz="2800" i="1">
                        <a:solidFill>
                          <a:schemeClr val="accent5">
                            <a:lumMod val="75000"/>
                          </a:schemeClr>
                        </a:solidFill>
                        <a:latin typeface="Cambria Math" panose="02040503050406030204" pitchFamily="18" charset="0"/>
                        <a:ea typeface="微软雅黑" panose="020B0503020204020204" pitchFamily="34" charset="-122"/>
                      </a:rPr>
                      <m:t>=</m:t>
                    </m:r>
                    <m:f>
                      <m:fPr>
                        <m:ctrlPr>
                          <a:rPr kumimoji="1" lang="en-US" altLang="zh-CN" sz="2800" i="1">
                            <a:solidFill>
                              <a:schemeClr val="accent5">
                                <a:lumMod val="75000"/>
                              </a:schemeClr>
                            </a:solidFill>
                            <a:latin typeface="Cambria Math" panose="02040503050406030204" pitchFamily="18" charset="0"/>
                            <a:ea typeface="微软雅黑" panose="020B0503020204020204" pitchFamily="34" charset="-122"/>
                          </a:rPr>
                        </m:ctrlPr>
                      </m:fPr>
                      <m:num>
                        <m:r>
                          <a:rPr kumimoji="1" lang="en-US" altLang="zh-CN" sz="2800" i="1">
                            <a:solidFill>
                              <a:schemeClr val="accent5">
                                <a:lumMod val="75000"/>
                              </a:schemeClr>
                            </a:solidFill>
                            <a:latin typeface="Cambria Math" panose="02040503050406030204" pitchFamily="18" charset="0"/>
                            <a:ea typeface="微软雅黑" panose="020B0503020204020204" pitchFamily="34" charset="-122"/>
                          </a:rPr>
                          <m:t>10 </m:t>
                        </m:r>
                        <m:r>
                          <m:rPr>
                            <m:sty m:val="p"/>
                          </m:rPr>
                          <a:rPr kumimoji="1" lang="en-US" altLang="zh-CN" sz="2800">
                            <a:solidFill>
                              <a:schemeClr val="accent5">
                                <a:lumMod val="75000"/>
                              </a:schemeClr>
                            </a:solidFill>
                            <a:latin typeface="Cambria Math" panose="02040503050406030204" pitchFamily="18" charset="0"/>
                            <a:ea typeface="微软雅黑" panose="020B0503020204020204" pitchFamily="34" charset="-122"/>
                          </a:rPr>
                          <m:t>V</m:t>
                        </m:r>
                        <m:r>
                          <a:rPr kumimoji="1" lang="en-US" altLang="zh-CN" sz="2800" i="1">
                            <a:solidFill>
                              <a:schemeClr val="accent5">
                                <a:lumMod val="75000"/>
                              </a:schemeClr>
                            </a:solidFill>
                            <a:latin typeface="Cambria Math" panose="02040503050406030204" pitchFamily="18" charset="0"/>
                            <a:ea typeface="微软雅黑" panose="020B0503020204020204" pitchFamily="34" charset="-122"/>
                          </a:rPr>
                          <m:t>−0.7 </m:t>
                        </m:r>
                        <m:r>
                          <m:rPr>
                            <m:sty m:val="p"/>
                          </m:rPr>
                          <a:rPr kumimoji="1" lang="en-US" altLang="zh-CN" sz="2800">
                            <a:solidFill>
                              <a:schemeClr val="accent5">
                                <a:lumMod val="75000"/>
                              </a:schemeClr>
                            </a:solidFill>
                            <a:latin typeface="Cambria Math" panose="02040503050406030204" pitchFamily="18" charset="0"/>
                            <a:ea typeface="微软雅黑" panose="020B0503020204020204" pitchFamily="34" charset="-122"/>
                          </a:rPr>
                          <m:t>V</m:t>
                        </m:r>
                      </m:num>
                      <m:den>
                        <m:r>
                          <a:rPr kumimoji="1" lang="en-US" altLang="zh-CN" sz="2800" i="1">
                            <a:solidFill>
                              <a:schemeClr val="accent5">
                                <a:lumMod val="75000"/>
                              </a:schemeClr>
                            </a:solidFill>
                            <a:latin typeface="Cambria Math" panose="02040503050406030204" pitchFamily="18" charset="0"/>
                            <a:ea typeface="微软雅黑" panose="020B0503020204020204" pitchFamily="34" charset="-122"/>
                          </a:rPr>
                          <m:t>10 </m:t>
                        </m:r>
                        <m:r>
                          <m:rPr>
                            <m:sty m:val="p"/>
                          </m:rPr>
                          <a:rPr kumimoji="1" lang="en-US" altLang="zh-CN" sz="2800" i="1">
                            <a:solidFill>
                              <a:schemeClr val="accent5">
                                <a:lumMod val="75000"/>
                              </a:schemeClr>
                            </a:solidFill>
                            <a:latin typeface="Cambria Math" panose="02040503050406030204" pitchFamily="18" charset="0"/>
                            <a:ea typeface="微软雅黑" panose="020B0503020204020204" pitchFamily="34" charset="-122"/>
                          </a:rPr>
                          <m:t>kΩ</m:t>
                        </m:r>
                      </m:den>
                    </m:f>
                    <m:r>
                      <a:rPr kumimoji="1" lang="en-US" altLang="zh-CN" sz="2800" i="1">
                        <a:solidFill>
                          <a:schemeClr val="accent5">
                            <a:lumMod val="75000"/>
                          </a:schemeClr>
                        </a:solidFill>
                        <a:latin typeface="Cambria Math" panose="02040503050406030204" pitchFamily="18" charset="0"/>
                        <a:ea typeface="微软雅黑" panose="020B0503020204020204" pitchFamily="34" charset="-122"/>
                      </a:rPr>
                      <m:t>=0.93 </m:t>
                    </m:r>
                    <m:r>
                      <m:rPr>
                        <m:sty m:val="p"/>
                      </m:rPr>
                      <a:rPr kumimoji="1" lang="en-US" altLang="zh-CN" sz="2800">
                        <a:solidFill>
                          <a:schemeClr val="accent5">
                            <a:lumMod val="75000"/>
                          </a:schemeClr>
                        </a:solidFill>
                        <a:latin typeface="Cambria Math" panose="02040503050406030204" pitchFamily="18" charset="0"/>
                        <a:ea typeface="微软雅黑" panose="020B0503020204020204" pitchFamily="34" charset="-122"/>
                      </a:rPr>
                      <m:t>mA</m:t>
                    </m:r>
                  </m:oMath>
                </a14:m>
                <a:r>
                  <a:rPr kumimoji="1" lang="en-US" altLang="zh-CN" sz="2800" dirty="0">
                    <a:solidFill>
                      <a:schemeClr val="accent5">
                        <a:lumMod val="75000"/>
                      </a:schemeClr>
                    </a:solidFill>
                    <a:latin typeface="微软雅黑" panose="020B0503020204020204" pitchFamily="34" charset="-122"/>
                    <a:ea typeface="微软雅黑" panose="020B0503020204020204" pitchFamily="34" charset="-122"/>
                  </a:rPr>
                  <a:t> </a:t>
                </a:r>
              </a:p>
            </p:txBody>
          </p:sp>
        </mc:Choice>
        <mc:Fallback xmlns="">
          <p:sp>
            <p:nvSpPr>
              <p:cNvPr id="86" name="文本框 85">
                <a:extLst>
                  <a:ext uri="{FF2B5EF4-FFF2-40B4-BE49-F238E27FC236}">
                    <a16:creationId xmlns:a16="http://schemas.microsoft.com/office/drawing/2014/main" id="{61375DB6-A274-3815-1840-E918659A8B1B}"/>
                  </a:ext>
                </a:extLst>
              </p:cNvPr>
              <p:cNvSpPr txBox="1">
                <a:spLocks noRot="1" noChangeAspect="1" noMove="1" noResize="1" noEditPoints="1" noAdjustHandles="1" noChangeArrowheads="1" noChangeShapeType="1" noTextEdit="1"/>
              </p:cNvSpPr>
              <p:nvPr/>
            </p:nvSpPr>
            <p:spPr>
              <a:xfrm>
                <a:off x="360001" y="2520000"/>
                <a:ext cx="6280068" cy="4004558"/>
              </a:xfrm>
              <a:prstGeom prst="rect">
                <a:avLst/>
              </a:prstGeom>
              <a:blipFill>
                <a:blip r:embed="rId4"/>
                <a:stretch>
                  <a:fillRect l="-1456" t="-304" r="-1165"/>
                </a:stretch>
              </a:blipFill>
            </p:spPr>
            <p:txBody>
              <a:bodyPr/>
              <a:lstStyle/>
              <a:p>
                <a:r>
                  <a:rPr lang="zh-CN" altLang="en-US">
                    <a:noFill/>
                  </a:rPr>
                  <a:t> </a:t>
                </a:r>
              </a:p>
            </p:txBody>
          </p:sp>
        </mc:Fallback>
      </mc:AlternateContent>
      <p:sp>
        <p:nvSpPr>
          <p:cNvPr id="180" name="文本框 179">
            <a:extLst>
              <a:ext uri="{FF2B5EF4-FFF2-40B4-BE49-F238E27FC236}">
                <a16:creationId xmlns:a16="http://schemas.microsoft.com/office/drawing/2014/main" id="{532AD829-92B5-7D9A-13BF-94EF6DA6824C}"/>
              </a:ext>
            </a:extLst>
          </p:cNvPr>
          <p:cNvSpPr txBox="1"/>
          <p:nvPr/>
        </p:nvSpPr>
        <p:spPr>
          <a:xfrm>
            <a:off x="8100000" y="6120000"/>
            <a:ext cx="720000" cy="461665"/>
          </a:xfrm>
          <a:prstGeom prst="rect">
            <a:avLst/>
          </a:prstGeom>
          <a:noFill/>
        </p:spPr>
        <p:txBody>
          <a:bodyPr wrap="square">
            <a:spAutoFit/>
          </a:bodyPr>
          <a:lstStyle/>
          <a:p>
            <a:pPr algn="ctr"/>
            <a:r>
              <a:rPr kumimoji="1" lang="zh-CN" altLang="en-US" sz="2400" dirty="0">
                <a:solidFill>
                  <a:srgbClr val="0000FF"/>
                </a:solidFill>
                <a:latin typeface="微软雅黑" panose="020B0503020204020204" pitchFamily="34" charset="-122"/>
                <a:ea typeface="微软雅黑" panose="020B0503020204020204" pitchFamily="34" charset="-122"/>
              </a:rPr>
              <a:t>（</a:t>
            </a:r>
            <a:r>
              <a:rPr kumimoji="1" lang="en-US" altLang="zh-CN" sz="2400" dirty="0">
                <a:solidFill>
                  <a:srgbClr val="0000FF"/>
                </a:solidFill>
                <a:latin typeface="微软雅黑" panose="020B0503020204020204" pitchFamily="34" charset="-122"/>
                <a:ea typeface="微软雅黑" panose="020B0503020204020204" pitchFamily="34" charset="-122"/>
              </a:rPr>
              <a:t>1</a:t>
            </a:r>
            <a:r>
              <a:rPr kumimoji="1" lang="zh-CN" altLang="en-US" sz="2400" dirty="0">
                <a:solidFill>
                  <a:srgbClr val="0000FF"/>
                </a:solidFill>
                <a:latin typeface="微软雅黑" panose="020B0503020204020204" pitchFamily="34" charset="-122"/>
                <a:ea typeface="微软雅黑" panose="020B0503020204020204" pitchFamily="34" charset="-122"/>
              </a:rPr>
              <a:t>）</a:t>
            </a:r>
            <a:endParaRPr lang="zh-CN" altLang="en-US" sz="2400" dirty="0">
              <a:solidFill>
                <a:srgbClr val="0000FF"/>
              </a:solidFill>
            </a:endParaRPr>
          </a:p>
        </p:txBody>
      </p:sp>
      <p:grpSp>
        <p:nvGrpSpPr>
          <p:cNvPr id="9" name="组合 8">
            <a:extLst>
              <a:ext uri="{FF2B5EF4-FFF2-40B4-BE49-F238E27FC236}">
                <a16:creationId xmlns:a16="http://schemas.microsoft.com/office/drawing/2014/main" id="{CB82576A-1386-2036-C43B-C8E65B0A9BDB}"/>
              </a:ext>
            </a:extLst>
          </p:cNvPr>
          <p:cNvGrpSpPr/>
          <p:nvPr/>
        </p:nvGrpSpPr>
        <p:grpSpPr>
          <a:xfrm>
            <a:off x="11449269" y="6198682"/>
            <a:ext cx="786273" cy="548639"/>
            <a:chOff x="11454918" y="5839511"/>
            <a:chExt cx="786273" cy="548639"/>
          </a:xfrm>
        </p:grpSpPr>
        <p:grpSp>
          <p:nvGrpSpPr>
            <p:cNvPr id="10" name="组合 9">
              <a:extLst>
                <a:ext uri="{FF2B5EF4-FFF2-40B4-BE49-F238E27FC236}">
                  <a16:creationId xmlns:a16="http://schemas.microsoft.com/office/drawing/2014/main" id="{15B09343-D792-D236-6CCB-805B4B72FE8C}"/>
                </a:ext>
              </a:extLst>
            </p:cNvPr>
            <p:cNvGrpSpPr/>
            <p:nvPr/>
          </p:nvGrpSpPr>
          <p:grpSpPr>
            <a:xfrm>
              <a:off x="11454918" y="5867450"/>
              <a:ext cx="737081" cy="520700"/>
              <a:chOff x="11454918" y="5867450"/>
              <a:chExt cx="737081" cy="520700"/>
            </a:xfrm>
          </p:grpSpPr>
          <p:sp>
            <p:nvSpPr>
              <p:cNvPr id="22" name="箭头: 五边形 21">
                <a:extLst>
                  <a:ext uri="{FF2B5EF4-FFF2-40B4-BE49-F238E27FC236}">
                    <a16:creationId xmlns:a16="http://schemas.microsoft.com/office/drawing/2014/main" id="{82BF0490-E1B0-E564-43AA-946C8B1216FE}"/>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箭头: V 形 24">
                <a:extLst>
                  <a:ext uri="{FF2B5EF4-FFF2-40B4-BE49-F238E27FC236}">
                    <a16:creationId xmlns:a16="http://schemas.microsoft.com/office/drawing/2014/main" id="{97A342E4-1D9F-8DBD-50EA-022D8C2EA47C}"/>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1" name="灯片编号占位符 3">
              <a:extLst>
                <a:ext uri="{FF2B5EF4-FFF2-40B4-BE49-F238E27FC236}">
                  <a16:creationId xmlns:a16="http://schemas.microsoft.com/office/drawing/2014/main" id="{6396F479-68E9-5B45-FE1B-28C31D6C43A5}"/>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17</a:t>
              </a:fld>
              <a:endParaRPr lang="zh-CN" altLang="en-US" sz="3200" dirty="0">
                <a:solidFill>
                  <a:schemeClr val="bg1"/>
                </a:solidFill>
                <a:latin typeface="Candara"/>
                <a:ea typeface="微软雅黑"/>
              </a:endParaRPr>
            </a:p>
          </p:txBody>
        </p:sp>
      </p:grpSp>
      <p:sp>
        <p:nvSpPr>
          <p:cNvPr id="4" name="标题 1">
            <a:extLst>
              <a:ext uri="{FF2B5EF4-FFF2-40B4-BE49-F238E27FC236}">
                <a16:creationId xmlns:a16="http://schemas.microsoft.com/office/drawing/2014/main" id="{72851ED7-CE75-7537-BFEF-B10EA2A689AC}"/>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二极管及其应用 </a:t>
            </a:r>
            <a:r>
              <a:rPr lang="en-US" altLang="zh-CN" sz="3000" dirty="0"/>
              <a:t>—— </a:t>
            </a:r>
            <a:r>
              <a:rPr lang="zh-CN" altLang="en-US" sz="3000" dirty="0">
                <a:solidFill>
                  <a:srgbClr val="FFFF00"/>
                </a:solidFill>
              </a:rPr>
              <a:t>计算示例</a:t>
            </a:r>
            <a:endParaRPr lang="en-US" altLang="zh-CN" sz="3000" dirty="0"/>
          </a:p>
        </p:txBody>
      </p:sp>
      <p:grpSp>
        <p:nvGrpSpPr>
          <p:cNvPr id="32" name="组合 31">
            <a:extLst>
              <a:ext uri="{FF2B5EF4-FFF2-40B4-BE49-F238E27FC236}">
                <a16:creationId xmlns:a16="http://schemas.microsoft.com/office/drawing/2014/main" id="{AD22EF8D-F96A-A168-CABF-017630863D8B}"/>
              </a:ext>
            </a:extLst>
          </p:cNvPr>
          <p:cNvGrpSpPr/>
          <p:nvPr/>
        </p:nvGrpSpPr>
        <p:grpSpPr>
          <a:xfrm>
            <a:off x="7920000" y="3312000"/>
            <a:ext cx="1404000" cy="2799439"/>
            <a:chOff x="7920000" y="3312000"/>
            <a:chExt cx="1404000" cy="2799439"/>
          </a:xfrm>
        </p:grpSpPr>
        <mc:AlternateContent xmlns:mc="http://schemas.openxmlformats.org/markup-compatibility/2006" xmlns:a14="http://schemas.microsoft.com/office/drawing/2010/main">
          <mc:Choice Requires="a14">
            <p:sp>
              <p:nvSpPr>
                <p:cNvPr id="110" name="Rectangle 8">
                  <a:extLst>
                    <a:ext uri="{FF2B5EF4-FFF2-40B4-BE49-F238E27FC236}">
                      <a16:creationId xmlns:a16="http://schemas.microsoft.com/office/drawing/2014/main" id="{DF1160A3-A086-6F45-EB9E-D81A14015811}"/>
                    </a:ext>
                  </a:extLst>
                </p:cNvPr>
                <p:cNvSpPr>
                  <a:spLocks noChangeArrowheads="1"/>
                </p:cNvSpPr>
                <p:nvPr/>
              </p:nvSpPr>
              <p:spPr bwMode="auto">
                <a:xfrm>
                  <a:off x="7920000" y="4320000"/>
                  <a:ext cx="360000" cy="468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solidFill>
                                  <a:srgbClr val="0000FF"/>
                                </a:solidFill>
                                <a:latin typeface="Cambria Math" panose="02040503050406030204" pitchFamily="18" charset="0"/>
                                <a:ea typeface="微软雅黑" panose="020B0503020204020204" pitchFamily="34" charset="-122"/>
                              </a:rPr>
                            </m:ctrlPr>
                          </m:sSubPr>
                          <m:e>
                            <m:r>
                              <a:rPr kumimoji="1" lang="en-US" altLang="zh-CN" sz="2000" b="0" i="1" smtClean="0">
                                <a:solidFill>
                                  <a:srgbClr val="0000FF"/>
                                </a:solidFill>
                                <a:latin typeface="Cambria Math" panose="02040503050406030204" pitchFamily="18" charset="0"/>
                                <a:ea typeface="微软雅黑" panose="020B0503020204020204" pitchFamily="34" charset="-122"/>
                              </a:rPr>
                              <m:t>𝑖</m:t>
                            </m:r>
                          </m:e>
                          <m:sub>
                            <m:r>
                              <m:rPr>
                                <m:sty m:val="p"/>
                              </m:rPr>
                              <a:rPr kumimoji="1" lang="en-US" altLang="zh-CN" sz="2000" b="0" i="0" smtClean="0">
                                <a:solidFill>
                                  <a:srgbClr val="0000FF"/>
                                </a:solidFill>
                                <a:latin typeface="Cambria Math" panose="02040503050406030204" pitchFamily="18" charset="0"/>
                                <a:ea typeface="微软雅黑" panose="020B0503020204020204" pitchFamily="34" charset="-122"/>
                              </a:rPr>
                              <m:t>D</m:t>
                            </m:r>
                          </m:sub>
                        </m:sSub>
                      </m:oMath>
                    </m:oMathPara>
                  </a14:m>
                  <a:endParaRPr kumimoji="1" lang="zh-CN" altLang="en-US" sz="2000" b="0" dirty="0">
                    <a:solidFill>
                      <a:srgbClr val="0000FF"/>
                    </a:solidFill>
                    <a:latin typeface="微软雅黑" panose="020B0503020204020204" pitchFamily="34" charset="-122"/>
                    <a:ea typeface="微软雅黑" panose="020B0503020204020204" pitchFamily="34" charset="-122"/>
                  </a:endParaRPr>
                </a:p>
              </p:txBody>
            </p:sp>
          </mc:Choice>
          <mc:Fallback xmlns="">
            <p:sp>
              <p:nvSpPr>
                <p:cNvPr id="110" name="Rectangle 8">
                  <a:extLst>
                    <a:ext uri="{FF2B5EF4-FFF2-40B4-BE49-F238E27FC236}">
                      <a16:creationId xmlns:a16="http://schemas.microsoft.com/office/drawing/2014/main" id="{DF1160A3-A086-6F45-EB9E-D81A14015811}"/>
                    </a:ext>
                  </a:extLst>
                </p:cNvPr>
                <p:cNvSpPr>
                  <a:spLocks noRot="1" noChangeAspect="1" noMove="1" noResize="1" noEditPoints="1" noAdjustHandles="1" noChangeArrowheads="1" noChangeShapeType="1" noTextEdit="1"/>
                </p:cNvSpPr>
                <p:nvPr/>
              </p:nvSpPr>
              <p:spPr bwMode="auto">
                <a:xfrm>
                  <a:off x="7920000" y="4320000"/>
                  <a:ext cx="360000" cy="468000"/>
                </a:xfrm>
                <a:prstGeom prst="rect">
                  <a:avLst/>
                </a:prstGeom>
                <a:blipFill>
                  <a:blip r:embed="rId5"/>
                  <a:stretch>
                    <a:fillRect l="-16949"/>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6" name="Rectangle 8">
                  <a:extLst>
                    <a:ext uri="{FF2B5EF4-FFF2-40B4-BE49-F238E27FC236}">
                      <a16:creationId xmlns:a16="http://schemas.microsoft.com/office/drawing/2014/main" id="{EA38AF61-3B91-1640-5D69-15204696B4B7}"/>
                    </a:ext>
                  </a:extLst>
                </p:cNvPr>
                <p:cNvSpPr>
                  <a:spLocks noChangeArrowheads="1"/>
                </p:cNvSpPr>
                <p:nvPr/>
              </p:nvSpPr>
              <p:spPr bwMode="auto">
                <a:xfrm>
                  <a:off x="8820000" y="4788000"/>
                  <a:ext cx="504000" cy="1323439"/>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1200"/>
                    </a:spcAft>
                    <a:buNone/>
                  </a:pPr>
                  <a14:m>
                    <m:oMathPara xmlns:m="http://schemas.openxmlformats.org/officeDocument/2006/math">
                      <m:oMathParaPr>
                        <m:jc m:val="centerGroup"/>
                      </m:oMathParaPr>
                      <m:oMath xmlns:m="http://schemas.openxmlformats.org/officeDocument/2006/math">
                        <m:r>
                          <a:rPr kumimoji="1" lang="pt-BR" altLang="zh-CN" sz="2000" b="0" i="1" smtClean="0">
                            <a:solidFill>
                              <a:srgbClr val="0000FF"/>
                            </a:solidFill>
                            <a:latin typeface="Cambria Math" panose="02040503050406030204" pitchFamily="18" charset="0"/>
                            <a:ea typeface="微软雅黑" panose="020B0503020204020204" pitchFamily="34" charset="-122"/>
                          </a:rPr>
                          <m:t>+</m:t>
                        </m:r>
                      </m:oMath>
                    </m:oMathPara>
                  </a14:m>
                  <a:endParaRPr kumimoji="1" lang="en-US" altLang="zh-CN" sz="2000" b="0" dirty="0">
                    <a:solidFill>
                      <a:srgbClr val="0000FF"/>
                    </a:solidFill>
                    <a:latin typeface="微软雅黑" panose="020B0503020204020204" pitchFamily="34" charset="-122"/>
                    <a:ea typeface="微软雅黑" panose="020B0503020204020204" pitchFamily="34" charset="-122"/>
                  </a:endParaRPr>
                </a:p>
                <a:p>
                  <a:pPr algn="ctr">
                    <a:spcAft>
                      <a:spcPts val="1200"/>
                    </a:spcAft>
                    <a:buNone/>
                  </a:pPr>
                  <a14:m>
                    <m:oMath xmlns:m="http://schemas.openxmlformats.org/officeDocument/2006/math">
                      <m:sSub>
                        <m:sSubPr>
                          <m:ctrlPr>
                            <a:rPr kumimoji="1" lang="en-US" altLang="zh-CN" sz="2000" b="0" i="1">
                              <a:solidFill>
                                <a:srgbClr val="0000FF"/>
                              </a:solidFill>
                              <a:latin typeface="Cambria Math" panose="02040503050406030204" pitchFamily="18" charset="0"/>
                              <a:ea typeface="微软雅黑" panose="020B0503020204020204" pitchFamily="34" charset="-122"/>
                            </a:rPr>
                          </m:ctrlPr>
                        </m:sSubPr>
                        <m:e>
                          <m:r>
                            <a:rPr kumimoji="1" lang="en-US" altLang="zh-CN" sz="2000" b="0" i="1" smtClean="0">
                              <a:solidFill>
                                <a:srgbClr val="0000FF"/>
                              </a:solidFill>
                              <a:latin typeface="Cambria Math" panose="02040503050406030204" pitchFamily="18" charset="0"/>
                              <a:ea typeface="微软雅黑" panose="020B0503020204020204" pitchFamily="34" charset="-122"/>
                            </a:rPr>
                            <m:t>𝑣</m:t>
                          </m:r>
                        </m:e>
                        <m:sub>
                          <m:r>
                            <m:rPr>
                              <m:sty m:val="p"/>
                            </m:rPr>
                            <a:rPr kumimoji="1" lang="en-US" altLang="zh-CN" sz="2000" b="0" i="0" smtClean="0">
                              <a:solidFill>
                                <a:srgbClr val="0000FF"/>
                              </a:solidFill>
                              <a:latin typeface="Cambria Math" panose="02040503050406030204" pitchFamily="18" charset="0"/>
                              <a:ea typeface="微软雅黑" panose="020B0503020204020204" pitchFamily="34" charset="-122"/>
                            </a:rPr>
                            <m:t>D</m:t>
                          </m:r>
                        </m:sub>
                      </m:sSub>
                    </m:oMath>
                  </a14:m>
                  <a:r>
                    <a:rPr kumimoji="1" lang="zh-CN" altLang="en-US" sz="2000" b="0" dirty="0">
                      <a:solidFill>
                        <a:srgbClr val="0000FF"/>
                      </a:solidFill>
                      <a:latin typeface="微软雅黑" panose="020B0503020204020204" pitchFamily="34" charset="-122"/>
                      <a:ea typeface="微软雅黑" panose="020B0503020204020204" pitchFamily="34" charset="-122"/>
                    </a:rPr>
                    <a:t>    </a:t>
                  </a:r>
                  <a:endParaRPr kumimoji="1" lang="en-US" altLang="zh-CN" sz="2000" b="0" dirty="0">
                    <a:solidFill>
                      <a:srgbClr val="0000FF"/>
                    </a:solidFill>
                    <a:latin typeface="微软雅黑" panose="020B0503020204020204" pitchFamily="34" charset="-122"/>
                    <a:ea typeface="微软雅黑" panose="020B0503020204020204" pitchFamily="34" charset="-122"/>
                  </a:endParaRPr>
                </a:p>
                <a:p>
                  <a:pPr algn="ctr">
                    <a:spcAft>
                      <a:spcPts val="1200"/>
                    </a:spcAft>
                    <a:buNone/>
                  </a:pPr>
                  <a14:m>
                    <m:oMath xmlns:m="http://schemas.openxmlformats.org/officeDocument/2006/math">
                      <m:r>
                        <a:rPr kumimoji="1" lang="en-US" altLang="zh-CN" sz="2000" b="0" i="1" smtClean="0">
                          <a:solidFill>
                            <a:srgbClr val="0000FF"/>
                          </a:solidFill>
                          <a:latin typeface="Cambria Math" panose="02040503050406030204" pitchFamily="18" charset="0"/>
                          <a:ea typeface="微软雅黑" panose="020B0503020204020204" pitchFamily="34" charset="-122"/>
                        </a:rPr>
                        <m:t>−</m:t>
                      </m:r>
                    </m:oMath>
                  </a14:m>
                  <a:r>
                    <a:rPr kumimoji="1" lang="zh-CN" altLang="en-US" sz="2000" b="0" dirty="0">
                      <a:solidFill>
                        <a:srgbClr val="0000FF"/>
                      </a:solidFill>
                      <a:latin typeface="微软雅黑" panose="020B0503020204020204" pitchFamily="34" charset="-122"/>
                      <a:ea typeface="微软雅黑" panose="020B0503020204020204" pitchFamily="34" charset="-122"/>
                    </a:rPr>
                    <a:t>    </a:t>
                  </a:r>
                </a:p>
              </p:txBody>
            </p:sp>
          </mc:Choice>
          <mc:Fallback xmlns="">
            <p:sp>
              <p:nvSpPr>
                <p:cNvPr id="106" name="Rectangle 8">
                  <a:extLst>
                    <a:ext uri="{FF2B5EF4-FFF2-40B4-BE49-F238E27FC236}">
                      <a16:creationId xmlns:a16="http://schemas.microsoft.com/office/drawing/2014/main" id="{EA38AF61-3B91-1640-5D69-15204696B4B7}"/>
                    </a:ext>
                  </a:extLst>
                </p:cNvPr>
                <p:cNvSpPr>
                  <a:spLocks noRot="1" noChangeAspect="1" noMove="1" noResize="1" noEditPoints="1" noAdjustHandles="1" noChangeArrowheads="1" noChangeShapeType="1" noTextEdit="1"/>
                </p:cNvSpPr>
                <p:nvPr/>
              </p:nvSpPr>
              <p:spPr bwMode="auto">
                <a:xfrm>
                  <a:off x="8820000" y="4788000"/>
                  <a:ext cx="504000" cy="1323439"/>
                </a:xfrm>
                <a:prstGeom prst="rect">
                  <a:avLst/>
                </a:prstGeom>
                <a:blipFill>
                  <a:blip r:embed="rId6"/>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7" name="Rectangle 8">
                  <a:extLst>
                    <a:ext uri="{FF2B5EF4-FFF2-40B4-BE49-F238E27FC236}">
                      <a16:creationId xmlns:a16="http://schemas.microsoft.com/office/drawing/2014/main" id="{90F75931-60D9-F46A-6A6F-73D74D2F8646}"/>
                    </a:ext>
                  </a:extLst>
                </p:cNvPr>
                <p:cNvSpPr>
                  <a:spLocks noChangeArrowheads="1"/>
                </p:cNvSpPr>
                <p:nvPr/>
              </p:nvSpPr>
              <p:spPr bwMode="auto">
                <a:xfrm>
                  <a:off x="8604000" y="4068000"/>
                  <a:ext cx="288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a:rPr kumimoji="1" lang="en-US" altLang="zh-CN" sz="2000" b="0" i="1" smtClean="0">
                            <a:solidFill>
                              <a:srgbClr val="0000FF"/>
                            </a:solidFill>
                            <a:latin typeface="Cambria Math" panose="02040503050406030204" pitchFamily="18" charset="0"/>
                            <a:ea typeface="微软雅黑" panose="020B0503020204020204" pitchFamily="34" charset="-122"/>
                          </a:rPr>
                          <m:t>𝑅</m:t>
                        </m:r>
                      </m:oMath>
                    </m:oMathPara>
                  </a14:m>
                  <a:endParaRPr kumimoji="1" lang="zh-CN" altLang="en-US" sz="2000" b="0" dirty="0">
                    <a:solidFill>
                      <a:srgbClr val="0000FF"/>
                    </a:solidFill>
                    <a:latin typeface="微软雅黑" panose="020B0503020204020204" pitchFamily="34" charset="-122"/>
                    <a:ea typeface="微软雅黑" panose="020B0503020204020204" pitchFamily="34" charset="-122"/>
                  </a:endParaRPr>
                </a:p>
              </p:txBody>
            </p:sp>
          </mc:Choice>
          <mc:Fallback xmlns="">
            <p:sp>
              <p:nvSpPr>
                <p:cNvPr id="107" name="Rectangle 8">
                  <a:extLst>
                    <a:ext uri="{FF2B5EF4-FFF2-40B4-BE49-F238E27FC236}">
                      <a16:creationId xmlns:a16="http://schemas.microsoft.com/office/drawing/2014/main" id="{90F75931-60D9-F46A-6A6F-73D74D2F8646}"/>
                    </a:ext>
                  </a:extLst>
                </p:cNvPr>
                <p:cNvSpPr>
                  <a:spLocks noRot="1" noChangeAspect="1" noMove="1" noResize="1" noEditPoints="1" noAdjustHandles="1" noChangeArrowheads="1" noChangeShapeType="1" noTextEdit="1"/>
                </p:cNvSpPr>
                <p:nvPr/>
              </p:nvSpPr>
              <p:spPr bwMode="auto">
                <a:xfrm>
                  <a:off x="8604000" y="4068000"/>
                  <a:ext cx="288000" cy="432000"/>
                </a:xfrm>
                <a:prstGeom prst="rect">
                  <a:avLst/>
                </a:prstGeom>
                <a:blipFill>
                  <a:blip r:embed="rId7"/>
                  <a:stretch>
                    <a:fillRect l="-20833"/>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8" name="Rectangle 8">
                  <a:extLst>
                    <a:ext uri="{FF2B5EF4-FFF2-40B4-BE49-F238E27FC236}">
                      <a16:creationId xmlns:a16="http://schemas.microsoft.com/office/drawing/2014/main" id="{8D0A6D2C-348A-F6E8-260A-18795CC1DEA1}"/>
                    </a:ext>
                  </a:extLst>
                </p:cNvPr>
                <p:cNvSpPr>
                  <a:spLocks noChangeArrowheads="1"/>
                </p:cNvSpPr>
                <p:nvPr/>
              </p:nvSpPr>
              <p:spPr bwMode="auto">
                <a:xfrm>
                  <a:off x="8460000" y="3312000"/>
                  <a:ext cx="504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solidFill>
                                  <a:srgbClr val="0000FF"/>
                                </a:solidFill>
                                <a:latin typeface="Cambria Math" panose="02040503050406030204" pitchFamily="18" charset="0"/>
                                <a:ea typeface="微软雅黑" panose="020B0503020204020204" pitchFamily="34" charset="-122"/>
                              </a:rPr>
                            </m:ctrlPr>
                          </m:sSubPr>
                          <m:e>
                            <m:r>
                              <a:rPr kumimoji="1" lang="en-US" altLang="zh-CN" sz="2000" b="0" i="1" smtClean="0">
                                <a:solidFill>
                                  <a:srgbClr val="0000FF"/>
                                </a:solidFill>
                                <a:latin typeface="Cambria Math" panose="02040503050406030204" pitchFamily="18" charset="0"/>
                                <a:ea typeface="微软雅黑" panose="020B0503020204020204" pitchFamily="34" charset="-122"/>
                              </a:rPr>
                              <m:t>𝑉</m:t>
                            </m:r>
                          </m:e>
                          <m:sub>
                            <m:r>
                              <m:rPr>
                                <m:sty m:val="p"/>
                              </m:rPr>
                              <a:rPr kumimoji="1" lang="en-US" altLang="zh-CN" sz="2000" b="0" i="0" smtClean="0">
                                <a:solidFill>
                                  <a:srgbClr val="0000FF"/>
                                </a:solidFill>
                                <a:latin typeface="Cambria Math" panose="02040503050406030204" pitchFamily="18" charset="0"/>
                                <a:ea typeface="微软雅黑" panose="020B0503020204020204" pitchFamily="34" charset="-122"/>
                              </a:rPr>
                              <m:t>DD</m:t>
                            </m:r>
                          </m:sub>
                        </m:sSub>
                      </m:oMath>
                    </m:oMathPara>
                  </a14:m>
                  <a:endParaRPr kumimoji="1" lang="zh-CN" altLang="en-US" sz="2000" b="0" dirty="0">
                    <a:solidFill>
                      <a:srgbClr val="0000FF"/>
                    </a:solidFill>
                    <a:latin typeface="微软雅黑" panose="020B0503020204020204" pitchFamily="34" charset="-122"/>
                    <a:ea typeface="微软雅黑" panose="020B0503020204020204" pitchFamily="34" charset="-122"/>
                  </a:endParaRPr>
                </a:p>
              </p:txBody>
            </p:sp>
          </mc:Choice>
          <mc:Fallback xmlns="">
            <p:sp>
              <p:nvSpPr>
                <p:cNvPr id="108" name="Rectangle 8">
                  <a:extLst>
                    <a:ext uri="{FF2B5EF4-FFF2-40B4-BE49-F238E27FC236}">
                      <a16:creationId xmlns:a16="http://schemas.microsoft.com/office/drawing/2014/main" id="{8D0A6D2C-348A-F6E8-260A-18795CC1DEA1}"/>
                    </a:ext>
                  </a:extLst>
                </p:cNvPr>
                <p:cNvSpPr>
                  <a:spLocks noRot="1" noChangeAspect="1" noMove="1" noResize="1" noEditPoints="1" noAdjustHandles="1" noChangeArrowheads="1" noChangeShapeType="1" noTextEdit="1"/>
                </p:cNvSpPr>
                <p:nvPr/>
              </p:nvSpPr>
              <p:spPr bwMode="auto">
                <a:xfrm>
                  <a:off x="8460000" y="3312000"/>
                  <a:ext cx="504000" cy="432000"/>
                </a:xfrm>
                <a:prstGeom prst="rect">
                  <a:avLst/>
                </a:prstGeom>
                <a:blipFill>
                  <a:blip r:embed="rId8"/>
                  <a:stretch>
                    <a:fillRect l="-15854"/>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109" name="直接箭头连接符 108">
              <a:extLst>
                <a:ext uri="{FF2B5EF4-FFF2-40B4-BE49-F238E27FC236}">
                  <a16:creationId xmlns:a16="http://schemas.microsoft.com/office/drawing/2014/main" id="{9B95F7BB-7A6B-7357-92F6-E5A91A215684}"/>
                </a:ext>
              </a:extLst>
            </p:cNvPr>
            <p:cNvCxnSpPr>
              <a:cxnSpLocks/>
            </p:cNvCxnSpPr>
            <p:nvPr/>
          </p:nvCxnSpPr>
          <p:spPr>
            <a:xfrm>
              <a:off x="8244000" y="4320000"/>
              <a:ext cx="0" cy="468000"/>
            </a:xfrm>
            <a:prstGeom prst="straightConnector1">
              <a:avLst/>
            </a:prstGeom>
            <a:ln w="19050">
              <a:solidFill>
                <a:srgbClr val="0000FF"/>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A3EC0C04-2B51-CD66-5000-378ABB4EEA25}"/>
                </a:ext>
              </a:extLst>
            </p:cNvPr>
            <p:cNvCxnSpPr/>
            <p:nvPr/>
          </p:nvCxnSpPr>
          <p:spPr>
            <a:xfrm>
              <a:off x="8460000" y="3672000"/>
              <a:ext cx="0" cy="234000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sp>
          <p:nvSpPr>
            <p:cNvPr id="6" name="椭圆 5">
              <a:extLst>
                <a:ext uri="{FF2B5EF4-FFF2-40B4-BE49-F238E27FC236}">
                  <a16:creationId xmlns:a16="http://schemas.microsoft.com/office/drawing/2014/main" id="{448DEB91-6F9C-5ABF-5021-7338926A8103}"/>
                </a:ext>
              </a:extLst>
            </p:cNvPr>
            <p:cNvSpPr/>
            <p:nvPr/>
          </p:nvSpPr>
          <p:spPr>
            <a:xfrm>
              <a:off x="8406000" y="3672000"/>
              <a:ext cx="108000" cy="108000"/>
            </a:xfrm>
            <a:prstGeom prst="ellipse">
              <a:avLst/>
            </a:prstGeom>
            <a:ln w="25400">
              <a:solidFill>
                <a:srgbClr val="0000F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rgbClr val="0000FF"/>
                </a:solidFill>
              </a:endParaRPr>
            </a:p>
          </p:txBody>
        </p:sp>
        <p:sp>
          <p:nvSpPr>
            <p:cNvPr id="7" name="矩形 6">
              <a:extLst>
                <a:ext uri="{FF2B5EF4-FFF2-40B4-BE49-F238E27FC236}">
                  <a16:creationId xmlns:a16="http://schemas.microsoft.com/office/drawing/2014/main" id="{AAACB3F2-9B26-7EF1-2BF5-3FED8DFC7F20}"/>
                </a:ext>
              </a:extLst>
            </p:cNvPr>
            <p:cNvSpPr/>
            <p:nvPr/>
          </p:nvSpPr>
          <p:spPr>
            <a:xfrm>
              <a:off x="8388000" y="4032000"/>
              <a:ext cx="144000" cy="504000"/>
            </a:xfrm>
            <a:prstGeom prst="rect">
              <a:avLst/>
            </a:prstGeom>
            <a:solidFill>
              <a:schemeClr val="bg1">
                <a:alpha val="99000"/>
              </a:schemeClr>
            </a:solidFill>
            <a:ln w="38100">
              <a:solidFill>
                <a:srgbClr val="0000F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rgbClr val="0000FF"/>
                </a:solidFill>
              </a:endParaRPr>
            </a:p>
          </p:txBody>
        </p:sp>
        <p:sp>
          <p:nvSpPr>
            <p:cNvPr id="8" name="椭圆 7">
              <a:extLst>
                <a:ext uri="{FF2B5EF4-FFF2-40B4-BE49-F238E27FC236}">
                  <a16:creationId xmlns:a16="http://schemas.microsoft.com/office/drawing/2014/main" id="{6BB7C839-7D39-261C-F8E9-DF8DE320C1F5}"/>
                </a:ext>
              </a:extLst>
            </p:cNvPr>
            <p:cNvSpPr/>
            <p:nvPr/>
          </p:nvSpPr>
          <p:spPr>
            <a:xfrm>
              <a:off x="8406000" y="4734000"/>
              <a:ext cx="108000" cy="108000"/>
            </a:xfrm>
            <a:prstGeom prst="ellipse">
              <a:avLst/>
            </a:prstGeom>
            <a:solidFill>
              <a:srgbClr val="0000FF"/>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rgbClr val="0000FF"/>
                </a:solidFill>
              </a:endParaRPr>
            </a:p>
          </p:txBody>
        </p:sp>
        <p:cxnSp>
          <p:nvCxnSpPr>
            <p:cNvPr id="17" name="直接连接符 16">
              <a:extLst>
                <a:ext uri="{FF2B5EF4-FFF2-40B4-BE49-F238E27FC236}">
                  <a16:creationId xmlns:a16="http://schemas.microsoft.com/office/drawing/2014/main" id="{8341A180-E6E4-3DAC-7ADD-5C27892F5149}"/>
                </a:ext>
              </a:extLst>
            </p:cNvPr>
            <p:cNvCxnSpPr>
              <a:cxnSpLocks/>
            </p:cNvCxnSpPr>
            <p:nvPr/>
          </p:nvCxnSpPr>
          <p:spPr>
            <a:xfrm flipH="1">
              <a:off x="8460000" y="4788000"/>
              <a:ext cx="540000"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sp>
          <p:nvSpPr>
            <p:cNvPr id="19" name="椭圆 18">
              <a:extLst>
                <a:ext uri="{FF2B5EF4-FFF2-40B4-BE49-F238E27FC236}">
                  <a16:creationId xmlns:a16="http://schemas.microsoft.com/office/drawing/2014/main" id="{2AF04B6A-F91D-7E84-E4E8-CCACF5BD5D1A}"/>
                </a:ext>
              </a:extLst>
            </p:cNvPr>
            <p:cNvSpPr/>
            <p:nvPr/>
          </p:nvSpPr>
          <p:spPr>
            <a:xfrm>
              <a:off x="9000000" y="4734000"/>
              <a:ext cx="108000" cy="108000"/>
            </a:xfrm>
            <a:prstGeom prst="ellipse">
              <a:avLst/>
            </a:prstGeom>
            <a:ln w="25400">
              <a:solidFill>
                <a:srgbClr val="0000F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rgbClr val="0000FF"/>
                </a:solidFill>
              </a:endParaRPr>
            </a:p>
          </p:txBody>
        </p:sp>
        <p:sp>
          <p:nvSpPr>
            <p:cNvPr id="20" name="椭圆 19">
              <a:extLst>
                <a:ext uri="{FF2B5EF4-FFF2-40B4-BE49-F238E27FC236}">
                  <a16:creationId xmlns:a16="http://schemas.microsoft.com/office/drawing/2014/main" id="{31BA2E7D-3F27-286E-A325-B4602A13ABF3}"/>
                </a:ext>
              </a:extLst>
            </p:cNvPr>
            <p:cNvSpPr/>
            <p:nvPr/>
          </p:nvSpPr>
          <p:spPr>
            <a:xfrm>
              <a:off x="8406000" y="5040000"/>
              <a:ext cx="108000" cy="108000"/>
            </a:xfrm>
            <a:prstGeom prst="ellipse">
              <a:avLst/>
            </a:prstGeom>
            <a:ln w="25400">
              <a:solidFill>
                <a:srgbClr val="0000F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rgbClr val="0000FF"/>
                </a:solidFill>
              </a:endParaRPr>
            </a:p>
          </p:txBody>
        </p:sp>
        <p:sp>
          <p:nvSpPr>
            <p:cNvPr id="21" name="椭圆 20">
              <a:extLst>
                <a:ext uri="{FF2B5EF4-FFF2-40B4-BE49-F238E27FC236}">
                  <a16:creationId xmlns:a16="http://schemas.microsoft.com/office/drawing/2014/main" id="{F0CD5376-954F-F08E-31ED-C2D370F501BB}"/>
                </a:ext>
              </a:extLst>
            </p:cNvPr>
            <p:cNvSpPr/>
            <p:nvPr/>
          </p:nvSpPr>
          <p:spPr>
            <a:xfrm>
              <a:off x="8406000" y="5580000"/>
              <a:ext cx="108000" cy="108000"/>
            </a:xfrm>
            <a:prstGeom prst="ellipse">
              <a:avLst/>
            </a:prstGeom>
            <a:ln w="25400">
              <a:solidFill>
                <a:srgbClr val="0000F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rgbClr val="0000FF"/>
                </a:solidFill>
              </a:endParaRPr>
            </a:p>
          </p:txBody>
        </p:sp>
        <p:cxnSp>
          <p:nvCxnSpPr>
            <p:cNvPr id="27" name="直接连接符 26">
              <a:extLst>
                <a:ext uri="{FF2B5EF4-FFF2-40B4-BE49-F238E27FC236}">
                  <a16:creationId xmlns:a16="http://schemas.microsoft.com/office/drawing/2014/main" id="{5046EE14-52D7-B7F5-20DB-0AD08CBC0F78}"/>
                </a:ext>
              </a:extLst>
            </p:cNvPr>
            <p:cNvCxnSpPr>
              <a:cxnSpLocks/>
            </p:cNvCxnSpPr>
            <p:nvPr/>
          </p:nvCxnSpPr>
          <p:spPr>
            <a:xfrm flipH="1">
              <a:off x="8244000" y="6012000"/>
              <a:ext cx="432000" cy="0"/>
            </a:xfrm>
            <a:prstGeom prst="line">
              <a:avLst/>
            </a:prstGeom>
            <a:ln w="76200">
              <a:solidFill>
                <a:srgbClr val="0000FF"/>
              </a:solidFill>
            </a:ln>
          </p:spPr>
          <p:style>
            <a:lnRef idx="1">
              <a:schemeClr val="accent1"/>
            </a:lnRef>
            <a:fillRef idx="0">
              <a:schemeClr val="accent1"/>
            </a:fillRef>
            <a:effectRef idx="0">
              <a:schemeClr val="accent1"/>
            </a:effectRef>
            <a:fontRef idx="minor">
              <a:schemeClr val="tx1"/>
            </a:fontRef>
          </p:style>
        </p:cxnSp>
      </p:grpSp>
      <p:sp>
        <p:nvSpPr>
          <p:cNvPr id="33" name="文本框 32">
            <a:extLst>
              <a:ext uri="{FF2B5EF4-FFF2-40B4-BE49-F238E27FC236}">
                <a16:creationId xmlns:a16="http://schemas.microsoft.com/office/drawing/2014/main" id="{09C3CC42-173F-E6B5-47FF-42DC9CB705AB}"/>
              </a:ext>
            </a:extLst>
          </p:cNvPr>
          <p:cNvSpPr txBox="1"/>
          <p:nvPr/>
        </p:nvSpPr>
        <p:spPr>
          <a:xfrm>
            <a:off x="10260000" y="6120000"/>
            <a:ext cx="720000" cy="461665"/>
          </a:xfrm>
          <a:prstGeom prst="rect">
            <a:avLst/>
          </a:prstGeom>
          <a:noFill/>
        </p:spPr>
        <p:txBody>
          <a:bodyPr wrap="square">
            <a:spAutoFit/>
          </a:bodyPr>
          <a:lstStyle/>
          <a:p>
            <a:pPr algn="ctr"/>
            <a:r>
              <a:rPr kumimoji="1" lang="zh-CN" altLang="en-US" sz="2400" dirty="0">
                <a:solidFill>
                  <a:srgbClr val="0000FF"/>
                </a:solidFill>
                <a:latin typeface="微软雅黑" panose="020B0503020204020204" pitchFamily="34" charset="-122"/>
                <a:ea typeface="微软雅黑" panose="020B0503020204020204" pitchFamily="34" charset="-122"/>
              </a:rPr>
              <a:t>（</a:t>
            </a:r>
            <a:r>
              <a:rPr kumimoji="1" lang="en-US" altLang="zh-CN" sz="2400" dirty="0">
                <a:solidFill>
                  <a:srgbClr val="0000FF"/>
                </a:solidFill>
                <a:latin typeface="微软雅黑" panose="020B0503020204020204" pitchFamily="34" charset="-122"/>
                <a:ea typeface="微软雅黑" panose="020B0503020204020204" pitchFamily="34" charset="-122"/>
              </a:rPr>
              <a:t>2</a:t>
            </a:r>
            <a:r>
              <a:rPr kumimoji="1" lang="zh-CN" altLang="en-US" sz="2400" dirty="0">
                <a:solidFill>
                  <a:srgbClr val="0000FF"/>
                </a:solidFill>
                <a:latin typeface="微软雅黑" panose="020B0503020204020204" pitchFamily="34" charset="-122"/>
                <a:ea typeface="微软雅黑" panose="020B0503020204020204" pitchFamily="34" charset="-122"/>
              </a:rPr>
              <a:t>）</a:t>
            </a:r>
            <a:endParaRPr lang="zh-CN" altLang="en-US" sz="2400" dirty="0">
              <a:solidFill>
                <a:srgbClr val="0000FF"/>
              </a:solidFill>
            </a:endParaRPr>
          </a:p>
        </p:txBody>
      </p:sp>
      <p:grpSp>
        <p:nvGrpSpPr>
          <p:cNvPr id="75" name="组合 74">
            <a:extLst>
              <a:ext uri="{FF2B5EF4-FFF2-40B4-BE49-F238E27FC236}">
                <a16:creationId xmlns:a16="http://schemas.microsoft.com/office/drawing/2014/main" id="{83D771DD-9672-2771-21A3-FDE2CB01C044}"/>
              </a:ext>
            </a:extLst>
          </p:cNvPr>
          <p:cNvGrpSpPr/>
          <p:nvPr/>
        </p:nvGrpSpPr>
        <p:grpSpPr>
          <a:xfrm>
            <a:off x="10080000" y="3312000"/>
            <a:ext cx="1404000" cy="2799439"/>
            <a:chOff x="10080000" y="3312000"/>
            <a:chExt cx="1404000" cy="2799439"/>
          </a:xfrm>
        </p:grpSpPr>
        <p:cxnSp>
          <p:nvCxnSpPr>
            <p:cNvPr id="45" name="直接连接符 44">
              <a:extLst>
                <a:ext uri="{FF2B5EF4-FFF2-40B4-BE49-F238E27FC236}">
                  <a16:creationId xmlns:a16="http://schemas.microsoft.com/office/drawing/2014/main" id="{8776AA38-5E8E-9FF0-3C4F-D5AA6623B3A6}"/>
                </a:ext>
              </a:extLst>
            </p:cNvPr>
            <p:cNvCxnSpPr/>
            <p:nvPr/>
          </p:nvCxnSpPr>
          <p:spPr>
            <a:xfrm>
              <a:off x="10620000" y="3672000"/>
              <a:ext cx="0" cy="234000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sp>
          <p:nvSpPr>
            <p:cNvPr id="74" name="矩形 73">
              <a:extLst>
                <a:ext uri="{FF2B5EF4-FFF2-40B4-BE49-F238E27FC236}">
                  <a16:creationId xmlns:a16="http://schemas.microsoft.com/office/drawing/2014/main" id="{EEE69CF4-685E-77F2-A7C6-3C9EF5CF05BD}"/>
                </a:ext>
              </a:extLst>
            </p:cNvPr>
            <p:cNvSpPr/>
            <p:nvPr/>
          </p:nvSpPr>
          <p:spPr>
            <a:xfrm>
              <a:off x="10494000" y="5580000"/>
              <a:ext cx="252000" cy="126000"/>
            </a:xfrm>
            <a:prstGeom prst="rect">
              <a:avLst/>
            </a:prstGeom>
            <a:solidFill>
              <a:schemeClr val="bg1">
                <a:alpha val="99000"/>
              </a:schemeClr>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solidFill>
                  <a:srgbClr val="0000FF"/>
                </a:solidFill>
              </a:endParaRPr>
            </a:p>
          </p:txBody>
        </p:sp>
        <p:sp>
          <p:nvSpPr>
            <p:cNvPr id="119" name="等腰三角形 118">
              <a:extLst>
                <a:ext uri="{FF2B5EF4-FFF2-40B4-BE49-F238E27FC236}">
                  <a16:creationId xmlns:a16="http://schemas.microsoft.com/office/drawing/2014/main" id="{72989628-2760-BDF3-15E0-E330FF078508}"/>
                </a:ext>
              </a:extLst>
            </p:cNvPr>
            <p:cNvSpPr/>
            <p:nvPr/>
          </p:nvSpPr>
          <p:spPr>
            <a:xfrm rot="10800000">
              <a:off x="10404000" y="5040000"/>
              <a:ext cx="432000" cy="288000"/>
            </a:xfrm>
            <a:prstGeom prst="triangle">
              <a:avLst/>
            </a:prstGeom>
            <a:solidFill>
              <a:srgbClr val="0000FF"/>
            </a:solidFill>
            <a:ln w="38100">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rgbClr val="0000FF"/>
                </a:solidFill>
              </a:endParaRPr>
            </a:p>
          </p:txBody>
        </p:sp>
        <p:cxnSp>
          <p:nvCxnSpPr>
            <p:cNvPr id="120" name="直接连接符 119">
              <a:extLst>
                <a:ext uri="{FF2B5EF4-FFF2-40B4-BE49-F238E27FC236}">
                  <a16:creationId xmlns:a16="http://schemas.microsoft.com/office/drawing/2014/main" id="{0C42331F-E1E8-1354-576F-5C5B2391E8C8}"/>
                </a:ext>
              </a:extLst>
            </p:cNvPr>
            <p:cNvCxnSpPr>
              <a:cxnSpLocks/>
            </p:cNvCxnSpPr>
            <p:nvPr/>
          </p:nvCxnSpPr>
          <p:spPr>
            <a:xfrm flipV="1">
              <a:off x="10386000" y="5346000"/>
              <a:ext cx="468000"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33" name="直接连接符 132">
              <a:extLst>
                <a:ext uri="{FF2B5EF4-FFF2-40B4-BE49-F238E27FC236}">
                  <a16:creationId xmlns:a16="http://schemas.microsoft.com/office/drawing/2014/main" id="{6AB1F217-040A-F8EC-65F9-F4DF42DED201}"/>
                </a:ext>
              </a:extLst>
            </p:cNvPr>
            <p:cNvCxnSpPr>
              <a:cxnSpLocks/>
            </p:cNvCxnSpPr>
            <p:nvPr/>
          </p:nvCxnSpPr>
          <p:spPr>
            <a:xfrm flipH="1">
              <a:off x="10386000" y="5580000"/>
              <a:ext cx="468000"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34" name="直接连接符 133">
              <a:extLst>
                <a:ext uri="{FF2B5EF4-FFF2-40B4-BE49-F238E27FC236}">
                  <a16:creationId xmlns:a16="http://schemas.microsoft.com/office/drawing/2014/main" id="{85891938-73D7-D67D-1DD1-8929902A01E1}"/>
                </a:ext>
              </a:extLst>
            </p:cNvPr>
            <p:cNvCxnSpPr>
              <a:cxnSpLocks/>
            </p:cNvCxnSpPr>
            <p:nvPr/>
          </p:nvCxnSpPr>
          <p:spPr>
            <a:xfrm flipH="1">
              <a:off x="10494000" y="5706000"/>
              <a:ext cx="252000" cy="2"/>
            </a:xfrm>
            <a:prstGeom prst="line">
              <a:avLst/>
            </a:prstGeom>
            <a:ln w="63500">
              <a:solidFill>
                <a:srgbClr val="0000FF"/>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Rectangle 8">
                  <a:extLst>
                    <a:ext uri="{FF2B5EF4-FFF2-40B4-BE49-F238E27FC236}">
                      <a16:creationId xmlns:a16="http://schemas.microsoft.com/office/drawing/2014/main" id="{49CB6922-4FC0-4AD0-EBD3-13601CD46472}"/>
                    </a:ext>
                  </a:extLst>
                </p:cNvPr>
                <p:cNvSpPr>
                  <a:spLocks noChangeArrowheads="1"/>
                </p:cNvSpPr>
                <p:nvPr/>
              </p:nvSpPr>
              <p:spPr bwMode="auto">
                <a:xfrm>
                  <a:off x="10080000" y="4320000"/>
                  <a:ext cx="360000" cy="468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solidFill>
                                  <a:srgbClr val="0000FF"/>
                                </a:solidFill>
                                <a:latin typeface="Cambria Math" panose="02040503050406030204" pitchFamily="18" charset="0"/>
                                <a:ea typeface="微软雅黑" panose="020B0503020204020204" pitchFamily="34" charset="-122"/>
                              </a:rPr>
                            </m:ctrlPr>
                          </m:sSubPr>
                          <m:e>
                            <m:r>
                              <a:rPr kumimoji="1" lang="en-US" altLang="zh-CN" sz="2000" b="0" i="1" smtClean="0">
                                <a:solidFill>
                                  <a:srgbClr val="0000FF"/>
                                </a:solidFill>
                                <a:latin typeface="Cambria Math" panose="02040503050406030204" pitchFamily="18" charset="0"/>
                                <a:ea typeface="微软雅黑" panose="020B0503020204020204" pitchFamily="34" charset="-122"/>
                              </a:rPr>
                              <m:t>𝑖</m:t>
                            </m:r>
                          </m:e>
                          <m:sub>
                            <m:r>
                              <m:rPr>
                                <m:sty m:val="p"/>
                              </m:rPr>
                              <a:rPr kumimoji="1" lang="en-US" altLang="zh-CN" sz="2000" b="0" i="0" smtClean="0">
                                <a:solidFill>
                                  <a:srgbClr val="0000FF"/>
                                </a:solidFill>
                                <a:latin typeface="Cambria Math" panose="02040503050406030204" pitchFamily="18" charset="0"/>
                                <a:ea typeface="微软雅黑" panose="020B0503020204020204" pitchFamily="34" charset="-122"/>
                              </a:rPr>
                              <m:t>D</m:t>
                            </m:r>
                          </m:sub>
                        </m:sSub>
                      </m:oMath>
                    </m:oMathPara>
                  </a14:m>
                  <a:endParaRPr kumimoji="1" lang="zh-CN" altLang="en-US" sz="2000" b="0" dirty="0">
                    <a:solidFill>
                      <a:srgbClr val="0000FF"/>
                    </a:solidFill>
                    <a:latin typeface="微软雅黑" panose="020B0503020204020204" pitchFamily="34" charset="-122"/>
                    <a:ea typeface="微软雅黑" panose="020B0503020204020204" pitchFamily="34" charset="-122"/>
                  </a:endParaRPr>
                </a:p>
              </p:txBody>
            </p:sp>
          </mc:Choice>
          <mc:Fallback xmlns="">
            <p:sp>
              <p:nvSpPr>
                <p:cNvPr id="37" name="Rectangle 8">
                  <a:extLst>
                    <a:ext uri="{FF2B5EF4-FFF2-40B4-BE49-F238E27FC236}">
                      <a16:creationId xmlns:a16="http://schemas.microsoft.com/office/drawing/2014/main" id="{49CB6922-4FC0-4AD0-EBD3-13601CD46472}"/>
                    </a:ext>
                  </a:extLst>
                </p:cNvPr>
                <p:cNvSpPr>
                  <a:spLocks noRot="1" noChangeAspect="1" noMove="1" noResize="1" noEditPoints="1" noAdjustHandles="1" noChangeArrowheads="1" noChangeShapeType="1" noTextEdit="1"/>
                </p:cNvSpPr>
                <p:nvPr/>
              </p:nvSpPr>
              <p:spPr bwMode="auto">
                <a:xfrm>
                  <a:off x="10080000" y="4320000"/>
                  <a:ext cx="360000" cy="468000"/>
                </a:xfrm>
                <a:prstGeom prst="rect">
                  <a:avLst/>
                </a:prstGeom>
                <a:blipFill>
                  <a:blip r:embed="rId9"/>
                  <a:stretch>
                    <a:fillRect l="-16949"/>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Rectangle 8">
                  <a:extLst>
                    <a:ext uri="{FF2B5EF4-FFF2-40B4-BE49-F238E27FC236}">
                      <a16:creationId xmlns:a16="http://schemas.microsoft.com/office/drawing/2014/main" id="{40653F8A-3464-9380-ECCE-97D258155E95}"/>
                    </a:ext>
                  </a:extLst>
                </p:cNvPr>
                <p:cNvSpPr>
                  <a:spLocks noChangeArrowheads="1"/>
                </p:cNvSpPr>
                <p:nvPr/>
              </p:nvSpPr>
              <p:spPr bwMode="auto">
                <a:xfrm>
                  <a:off x="10980000" y="4788000"/>
                  <a:ext cx="504000" cy="1323439"/>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1200"/>
                    </a:spcAft>
                    <a:buNone/>
                  </a:pPr>
                  <a14:m>
                    <m:oMathPara xmlns:m="http://schemas.openxmlformats.org/officeDocument/2006/math">
                      <m:oMathParaPr>
                        <m:jc m:val="centerGroup"/>
                      </m:oMathParaPr>
                      <m:oMath xmlns:m="http://schemas.openxmlformats.org/officeDocument/2006/math">
                        <m:r>
                          <a:rPr kumimoji="1" lang="pt-BR" altLang="zh-CN" sz="2000" b="0" i="1" smtClean="0">
                            <a:solidFill>
                              <a:srgbClr val="0000FF"/>
                            </a:solidFill>
                            <a:latin typeface="Cambria Math" panose="02040503050406030204" pitchFamily="18" charset="0"/>
                            <a:ea typeface="微软雅黑" panose="020B0503020204020204" pitchFamily="34" charset="-122"/>
                          </a:rPr>
                          <m:t>+</m:t>
                        </m:r>
                      </m:oMath>
                    </m:oMathPara>
                  </a14:m>
                  <a:endParaRPr kumimoji="1" lang="en-US" altLang="zh-CN" sz="2000" b="0" dirty="0">
                    <a:solidFill>
                      <a:srgbClr val="0000FF"/>
                    </a:solidFill>
                    <a:latin typeface="微软雅黑" panose="020B0503020204020204" pitchFamily="34" charset="-122"/>
                    <a:ea typeface="微软雅黑" panose="020B0503020204020204" pitchFamily="34" charset="-122"/>
                  </a:endParaRPr>
                </a:p>
                <a:p>
                  <a:pPr algn="ctr">
                    <a:spcAft>
                      <a:spcPts val="1200"/>
                    </a:spcAft>
                    <a:buNone/>
                  </a:pPr>
                  <a14:m>
                    <m:oMath xmlns:m="http://schemas.openxmlformats.org/officeDocument/2006/math">
                      <m:sSub>
                        <m:sSubPr>
                          <m:ctrlPr>
                            <a:rPr kumimoji="1" lang="en-US" altLang="zh-CN" sz="2000" b="0" i="1">
                              <a:solidFill>
                                <a:srgbClr val="0000FF"/>
                              </a:solidFill>
                              <a:latin typeface="Cambria Math" panose="02040503050406030204" pitchFamily="18" charset="0"/>
                              <a:ea typeface="微软雅黑" panose="020B0503020204020204" pitchFamily="34" charset="-122"/>
                            </a:rPr>
                          </m:ctrlPr>
                        </m:sSubPr>
                        <m:e>
                          <m:r>
                            <a:rPr kumimoji="1" lang="en-US" altLang="zh-CN" sz="2000" b="0" i="1" smtClean="0">
                              <a:solidFill>
                                <a:srgbClr val="0000FF"/>
                              </a:solidFill>
                              <a:latin typeface="Cambria Math" panose="02040503050406030204" pitchFamily="18" charset="0"/>
                              <a:ea typeface="微软雅黑" panose="020B0503020204020204" pitchFamily="34" charset="-122"/>
                            </a:rPr>
                            <m:t>𝑣</m:t>
                          </m:r>
                        </m:e>
                        <m:sub>
                          <m:r>
                            <m:rPr>
                              <m:sty m:val="p"/>
                            </m:rPr>
                            <a:rPr kumimoji="1" lang="en-US" altLang="zh-CN" sz="2000" b="0" i="0" smtClean="0">
                              <a:solidFill>
                                <a:srgbClr val="0000FF"/>
                              </a:solidFill>
                              <a:latin typeface="Cambria Math" panose="02040503050406030204" pitchFamily="18" charset="0"/>
                              <a:ea typeface="微软雅黑" panose="020B0503020204020204" pitchFamily="34" charset="-122"/>
                            </a:rPr>
                            <m:t>D</m:t>
                          </m:r>
                        </m:sub>
                      </m:sSub>
                    </m:oMath>
                  </a14:m>
                  <a:r>
                    <a:rPr kumimoji="1" lang="zh-CN" altLang="en-US" sz="2000" b="0" dirty="0">
                      <a:solidFill>
                        <a:srgbClr val="0000FF"/>
                      </a:solidFill>
                      <a:latin typeface="微软雅黑" panose="020B0503020204020204" pitchFamily="34" charset="-122"/>
                      <a:ea typeface="微软雅黑" panose="020B0503020204020204" pitchFamily="34" charset="-122"/>
                    </a:rPr>
                    <a:t>    </a:t>
                  </a:r>
                  <a:endParaRPr kumimoji="1" lang="en-US" altLang="zh-CN" sz="2000" b="0" dirty="0">
                    <a:solidFill>
                      <a:srgbClr val="0000FF"/>
                    </a:solidFill>
                    <a:latin typeface="微软雅黑" panose="020B0503020204020204" pitchFamily="34" charset="-122"/>
                    <a:ea typeface="微软雅黑" panose="020B0503020204020204" pitchFamily="34" charset="-122"/>
                  </a:endParaRPr>
                </a:p>
                <a:p>
                  <a:pPr algn="ctr">
                    <a:spcAft>
                      <a:spcPts val="1200"/>
                    </a:spcAft>
                    <a:buNone/>
                  </a:pPr>
                  <a14:m>
                    <m:oMath xmlns:m="http://schemas.openxmlformats.org/officeDocument/2006/math">
                      <m:r>
                        <a:rPr kumimoji="1" lang="en-US" altLang="zh-CN" sz="2000" b="0" i="1" smtClean="0">
                          <a:solidFill>
                            <a:srgbClr val="0000FF"/>
                          </a:solidFill>
                          <a:latin typeface="Cambria Math" panose="02040503050406030204" pitchFamily="18" charset="0"/>
                          <a:ea typeface="微软雅黑" panose="020B0503020204020204" pitchFamily="34" charset="-122"/>
                        </a:rPr>
                        <m:t>−</m:t>
                      </m:r>
                    </m:oMath>
                  </a14:m>
                  <a:r>
                    <a:rPr kumimoji="1" lang="zh-CN" altLang="en-US" sz="2000" b="0" dirty="0">
                      <a:solidFill>
                        <a:srgbClr val="0000FF"/>
                      </a:solidFill>
                      <a:latin typeface="微软雅黑" panose="020B0503020204020204" pitchFamily="34" charset="-122"/>
                      <a:ea typeface="微软雅黑" panose="020B0503020204020204" pitchFamily="34" charset="-122"/>
                    </a:rPr>
                    <a:t>    </a:t>
                  </a:r>
                </a:p>
              </p:txBody>
            </p:sp>
          </mc:Choice>
          <mc:Fallback xmlns="">
            <p:sp>
              <p:nvSpPr>
                <p:cNvPr id="39" name="Rectangle 8">
                  <a:extLst>
                    <a:ext uri="{FF2B5EF4-FFF2-40B4-BE49-F238E27FC236}">
                      <a16:creationId xmlns:a16="http://schemas.microsoft.com/office/drawing/2014/main" id="{40653F8A-3464-9380-ECCE-97D258155E95}"/>
                    </a:ext>
                  </a:extLst>
                </p:cNvPr>
                <p:cNvSpPr>
                  <a:spLocks noRot="1" noChangeAspect="1" noMove="1" noResize="1" noEditPoints="1" noAdjustHandles="1" noChangeArrowheads="1" noChangeShapeType="1" noTextEdit="1"/>
                </p:cNvSpPr>
                <p:nvPr/>
              </p:nvSpPr>
              <p:spPr bwMode="auto">
                <a:xfrm>
                  <a:off x="10980000" y="4788000"/>
                  <a:ext cx="504000" cy="1323439"/>
                </a:xfrm>
                <a:prstGeom prst="rect">
                  <a:avLst/>
                </a:prstGeom>
                <a:blipFill>
                  <a:blip r:embed="rId10"/>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Rectangle 8">
                  <a:extLst>
                    <a:ext uri="{FF2B5EF4-FFF2-40B4-BE49-F238E27FC236}">
                      <a16:creationId xmlns:a16="http://schemas.microsoft.com/office/drawing/2014/main" id="{3EA15220-C649-443D-0A40-B7D5B1493486}"/>
                    </a:ext>
                  </a:extLst>
                </p:cNvPr>
                <p:cNvSpPr>
                  <a:spLocks noChangeArrowheads="1"/>
                </p:cNvSpPr>
                <p:nvPr/>
              </p:nvSpPr>
              <p:spPr bwMode="auto">
                <a:xfrm>
                  <a:off x="10764000" y="4068000"/>
                  <a:ext cx="288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a:rPr kumimoji="1" lang="en-US" altLang="zh-CN" sz="2000" b="0" i="1" smtClean="0">
                            <a:solidFill>
                              <a:srgbClr val="0000FF"/>
                            </a:solidFill>
                            <a:latin typeface="Cambria Math" panose="02040503050406030204" pitchFamily="18" charset="0"/>
                            <a:ea typeface="微软雅黑" panose="020B0503020204020204" pitchFamily="34" charset="-122"/>
                          </a:rPr>
                          <m:t>𝑅</m:t>
                        </m:r>
                      </m:oMath>
                    </m:oMathPara>
                  </a14:m>
                  <a:endParaRPr kumimoji="1" lang="zh-CN" altLang="en-US" sz="2000" b="0" dirty="0">
                    <a:solidFill>
                      <a:srgbClr val="0000FF"/>
                    </a:solidFill>
                    <a:latin typeface="微软雅黑" panose="020B0503020204020204" pitchFamily="34" charset="-122"/>
                    <a:ea typeface="微软雅黑" panose="020B0503020204020204" pitchFamily="34" charset="-122"/>
                  </a:endParaRPr>
                </a:p>
              </p:txBody>
            </p:sp>
          </mc:Choice>
          <mc:Fallback xmlns="">
            <p:sp>
              <p:nvSpPr>
                <p:cNvPr id="40" name="Rectangle 8">
                  <a:extLst>
                    <a:ext uri="{FF2B5EF4-FFF2-40B4-BE49-F238E27FC236}">
                      <a16:creationId xmlns:a16="http://schemas.microsoft.com/office/drawing/2014/main" id="{3EA15220-C649-443D-0A40-B7D5B1493486}"/>
                    </a:ext>
                  </a:extLst>
                </p:cNvPr>
                <p:cNvSpPr>
                  <a:spLocks noRot="1" noChangeAspect="1" noMove="1" noResize="1" noEditPoints="1" noAdjustHandles="1" noChangeArrowheads="1" noChangeShapeType="1" noTextEdit="1"/>
                </p:cNvSpPr>
                <p:nvPr/>
              </p:nvSpPr>
              <p:spPr bwMode="auto">
                <a:xfrm>
                  <a:off x="10764000" y="4068000"/>
                  <a:ext cx="288000" cy="432000"/>
                </a:xfrm>
                <a:prstGeom prst="rect">
                  <a:avLst/>
                </a:prstGeom>
                <a:blipFill>
                  <a:blip r:embed="rId11"/>
                  <a:stretch>
                    <a:fillRect l="-23404"/>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Rectangle 8">
                  <a:extLst>
                    <a:ext uri="{FF2B5EF4-FFF2-40B4-BE49-F238E27FC236}">
                      <a16:creationId xmlns:a16="http://schemas.microsoft.com/office/drawing/2014/main" id="{A131C503-5C33-7B1D-3C44-27C8B1346822}"/>
                    </a:ext>
                  </a:extLst>
                </p:cNvPr>
                <p:cNvSpPr>
                  <a:spLocks noChangeArrowheads="1"/>
                </p:cNvSpPr>
                <p:nvPr/>
              </p:nvSpPr>
              <p:spPr bwMode="auto">
                <a:xfrm>
                  <a:off x="10620000" y="3312000"/>
                  <a:ext cx="504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solidFill>
                                  <a:srgbClr val="0000FF"/>
                                </a:solidFill>
                                <a:latin typeface="Cambria Math" panose="02040503050406030204" pitchFamily="18" charset="0"/>
                                <a:ea typeface="微软雅黑" panose="020B0503020204020204" pitchFamily="34" charset="-122"/>
                              </a:rPr>
                            </m:ctrlPr>
                          </m:sSubPr>
                          <m:e>
                            <m:r>
                              <a:rPr kumimoji="1" lang="en-US" altLang="zh-CN" sz="2000" b="0" i="1" smtClean="0">
                                <a:solidFill>
                                  <a:srgbClr val="0000FF"/>
                                </a:solidFill>
                                <a:latin typeface="Cambria Math" panose="02040503050406030204" pitchFamily="18" charset="0"/>
                                <a:ea typeface="微软雅黑" panose="020B0503020204020204" pitchFamily="34" charset="-122"/>
                              </a:rPr>
                              <m:t>𝑉</m:t>
                            </m:r>
                          </m:e>
                          <m:sub>
                            <m:r>
                              <m:rPr>
                                <m:sty m:val="p"/>
                              </m:rPr>
                              <a:rPr kumimoji="1" lang="en-US" altLang="zh-CN" sz="2000" b="0" i="0" smtClean="0">
                                <a:solidFill>
                                  <a:srgbClr val="0000FF"/>
                                </a:solidFill>
                                <a:latin typeface="Cambria Math" panose="02040503050406030204" pitchFamily="18" charset="0"/>
                                <a:ea typeface="微软雅黑" panose="020B0503020204020204" pitchFamily="34" charset="-122"/>
                              </a:rPr>
                              <m:t>DD</m:t>
                            </m:r>
                          </m:sub>
                        </m:sSub>
                      </m:oMath>
                    </m:oMathPara>
                  </a14:m>
                  <a:endParaRPr kumimoji="1" lang="zh-CN" altLang="en-US" sz="2000" b="0" dirty="0">
                    <a:solidFill>
                      <a:srgbClr val="0000FF"/>
                    </a:solidFill>
                    <a:latin typeface="微软雅黑" panose="020B0503020204020204" pitchFamily="34" charset="-122"/>
                    <a:ea typeface="微软雅黑" panose="020B0503020204020204" pitchFamily="34" charset="-122"/>
                  </a:endParaRPr>
                </a:p>
              </p:txBody>
            </p:sp>
          </mc:Choice>
          <mc:Fallback xmlns="">
            <p:sp>
              <p:nvSpPr>
                <p:cNvPr id="41" name="Rectangle 8">
                  <a:extLst>
                    <a:ext uri="{FF2B5EF4-FFF2-40B4-BE49-F238E27FC236}">
                      <a16:creationId xmlns:a16="http://schemas.microsoft.com/office/drawing/2014/main" id="{A131C503-5C33-7B1D-3C44-27C8B1346822}"/>
                    </a:ext>
                  </a:extLst>
                </p:cNvPr>
                <p:cNvSpPr>
                  <a:spLocks noRot="1" noChangeAspect="1" noMove="1" noResize="1" noEditPoints="1" noAdjustHandles="1" noChangeArrowheads="1" noChangeShapeType="1" noTextEdit="1"/>
                </p:cNvSpPr>
                <p:nvPr/>
              </p:nvSpPr>
              <p:spPr bwMode="auto">
                <a:xfrm>
                  <a:off x="10620000" y="3312000"/>
                  <a:ext cx="504000" cy="432000"/>
                </a:xfrm>
                <a:prstGeom prst="rect">
                  <a:avLst/>
                </a:prstGeom>
                <a:blipFill>
                  <a:blip r:embed="rId12"/>
                  <a:stretch>
                    <a:fillRect l="-15663"/>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42" name="直接箭头连接符 41">
              <a:extLst>
                <a:ext uri="{FF2B5EF4-FFF2-40B4-BE49-F238E27FC236}">
                  <a16:creationId xmlns:a16="http://schemas.microsoft.com/office/drawing/2014/main" id="{207052F1-43E4-2432-9B55-DE43A1AE8A27}"/>
                </a:ext>
              </a:extLst>
            </p:cNvPr>
            <p:cNvCxnSpPr>
              <a:cxnSpLocks/>
            </p:cNvCxnSpPr>
            <p:nvPr/>
          </p:nvCxnSpPr>
          <p:spPr>
            <a:xfrm>
              <a:off x="10404000" y="4320000"/>
              <a:ext cx="0" cy="468000"/>
            </a:xfrm>
            <a:prstGeom prst="straightConnector1">
              <a:avLst/>
            </a:prstGeom>
            <a:ln w="19050">
              <a:solidFill>
                <a:srgbClr val="0000FF"/>
              </a:solidFill>
              <a:tailEnd type="triangle" w="med" len="lg"/>
            </a:ln>
          </p:spPr>
          <p:style>
            <a:lnRef idx="1">
              <a:schemeClr val="accent1"/>
            </a:lnRef>
            <a:fillRef idx="0">
              <a:schemeClr val="accent1"/>
            </a:fillRef>
            <a:effectRef idx="0">
              <a:schemeClr val="accent1"/>
            </a:effectRef>
            <a:fontRef idx="minor">
              <a:schemeClr val="tx1"/>
            </a:fontRef>
          </p:style>
        </p:cxnSp>
        <p:sp>
          <p:nvSpPr>
            <p:cNvPr id="52" name="椭圆 51">
              <a:extLst>
                <a:ext uri="{FF2B5EF4-FFF2-40B4-BE49-F238E27FC236}">
                  <a16:creationId xmlns:a16="http://schemas.microsoft.com/office/drawing/2014/main" id="{DB653994-77BC-2409-2403-02E7FC2D245B}"/>
                </a:ext>
              </a:extLst>
            </p:cNvPr>
            <p:cNvSpPr/>
            <p:nvPr/>
          </p:nvSpPr>
          <p:spPr>
            <a:xfrm>
              <a:off x="10566000" y="3672000"/>
              <a:ext cx="108000" cy="108000"/>
            </a:xfrm>
            <a:prstGeom prst="ellipse">
              <a:avLst/>
            </a:prstGeom>
            <a:ln w="25400">
              <a:solidFill>
                <a:srgbClr val="0000F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rgbClr val="0000FF"/>
                </a:solidFill>
              </a:endParaRPr>
            </a:p>
          </p:txBody>
        </p:sp>
        <p:sp>
          <p:nvSpPr>
            <p:cNvPr id="56" name="矩形 55">
              <a:extLst>
                <a:ext uri="{FF2B5EF4-FFF2-40B4-BE49-F238E27FC236}">
                  <a16:creationId xmlns:a16="http://schemas.microsoft.com/office/drawing/2014/main" id="{D25A37AA-ECBD-902B-357E-E83721C50293}"/>
                </a:ext>
              </a:extLst>
            </p:cNvPr>
            <p:cNvSpPr/>
            <p:nvPr/>
          </p:nvSpPr>
          <p:spPr>
            <a:xfrm>
              <a:off x="10548000" y="4032000"/>
              <a:ext cx="144000" cy="504000"/>
            </a:xfrm>
            <a:prstGeom prst="rect">
              <a:avLst/>
            </a:prstGeom>
            <a:solidFill>
              <a:schemeClr val="bg1">
                <a:alpha val="99000"/>
              </a:schemeClr>
            </a:solidFill>
            <a:ln w="38100">
              <a:solidFill>
                <a:srgbClr val="0000F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rgbClr val="0000FF"/>
                </a:solidFill>
              </a:endParaRPr>
            </a:p>
          </p:txBody>
        </p:sp>
        <p:sp>
          <p:nvSpPr>
            <p:cNvPr id="60" name="椭圆 59">
              <a:extLst>
                <a:ext uri="{FF2B5EF4-FFF2-40B4-BE49-F238E27FC236}">
                  <a16:creationId xmlns:a16="http://schemas.microsoft.com/office/drawing/2014/main" id="{157386AE-6C9B-7471-B03F-FDB462C146FF}"/>
                </a:ext>
              </a:extLst>
            </p:cNvPr>
            <p:cNvSpPr/>
            <p:nvPr/>
          </p:nvSpPr>
          <p:spPr>
            <a:xfrm>
              <a:off x="10566000" y="4734000"/>
              <a:ext cx="108000" cy="108000"/>
            </a:xfrm>
            <a:prstGeom prst="ellipse">
              <a:avLst/>
            </a:prstGeom>
            <a:solidFill>
              <a:srgbClr val="0000FF"/>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rgbClr val="0000FF"/>
                </a:solidFill>
              </a:endParaRPr>
            </a:p>
          </p:txBody>
        </p:sp>
        <p:cxnSp>
          <p:nvCxnSpPr>
            <p:cNvPr id="61" name="直接连接符 60">
              <a:extLst>
                <a:ext uri="{FF2B5EF4-FFF2-40B4-BE49-F238E27FC236}">
                  <a16:creationId xmlns:a16="http://schemas.microsoft.com/office/drawing/2014/main" id="{897452B3-9280-EC07-FD7A-F6C1898B625F}"/>
                </a:ext>
              </a:extLst>
            </p:cNvPr>
            <p:cNvCxnSpPr>
              <a:cxnSpLocks/>
            </p:cNvCxnSpPr>
            <p:nvPr/>
          </p:nvCxnSpPr>
          <p:spPr>
            <a:xfrm flipH="1">
              <a:off x="10620000" y="4788000"/>
              <a:ext cx="540000" cy="0"/>
            </a:xfrm>
            <a:prstGeom prst="line">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sp>
          <p:nvSpPr>
            <p:cNvPr id="63" name="椭圆 62">
              <a:extLst>
                <a:ext uri="{FF2B5EF4-FFF2-40B4-BE49-F238E27FC236}">
                  <a16:creationId xmlns:a16="http://schemas.microsoft.com/office/drawing/2014/main" id="{4B43D63B-FD22-7118-A762-38D327FB0C7F}"/>
                </a:ext>
              </a:extLst>
            </p:cNvPr>
            <p:cNvSpPr/>
            <p:nvPr/>
          </p:nvSpPr>
          <p:spPr>
            <a:xfrm>
              <a:off x="11160000" y="4734000"/>
              <a:ext cx="108000" cy="108000"/>
            </a:xfrm>
            <a:prstGeom prst="ellipse">
              <a:avLst/>
            </a:prstGeom>
            <a:ln w="25400">
              <a:solidFill>
                <a:srgbClr val="0000FF"/>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rgbClr val="0000FF"/>
                </a:solidFill>
              </a:endParaRPr>
            </a:p>
          </p:txBody>
        </p:sp>
        <p:cxnSp>
          <p:nvCxnSpPr>
            <p:cNvPr id="66" name="直接连接符 65">
              <a:extLst>
                <a:ext uri="{FF2B5EF4-FFF2-40B4-BE49-F238E27FC236}">
                  <a16:creationId xmlns:a16="http://schemas.microsoft.com/office/drawing/2014/main" id="{93731549-EED1-94E0-5CD7-F8D16FC07AF9}"/>
                </a:ext>
              </a:extLst>
            </p:cNvPr>
            <p:cNvCxnSpPr>
              <a:cxnSpLocks/>
            </p:cNvCxnSpPr>
            <p:nvPr/>
          </p:nvCxnSpPr>
          <p:spPr>
            <a:xfrm flipH="1">
              <a:off x="10404000" y="6012000"/>
              <a:ext cx="432000" cy="0"/>
            </a:xfrm>
            <a:prstGeom prst="line">
              <a:avLst/>
            </a:prstGeom>
            <a:ln w="76200">
              <a:solidFill>
                <a:srgbClr val="0000FF"/>
              </a:solidFill>
            </a:ln>
          </p:spPr>
          <p:style>
            <a:lnRef idx="1">
              <a:schemeClr val="accent1"/>
            </a:lnRef>
            <a:fillRef idx="0">
              <a:schemeClr val="accent1"/>
            </a:fillRef>
            <a:effectRef idx="0">
              <a:schemeClr val="accent1"/>
            </a:effectRef>
            <a:fontRef idx="minor">
              <a:schemeClr val="tx1"/>
            </a:fontRef>
          </p:style>
        </p:cxnSp>
      </p:grpSp>
      <p:grpSp>
        <p:nvGrpSpPr>
          <p:cNvPr id="102" name="组合 101">
            <a:extLst>
              <a:ext uri="{FF2B5EF4-FFF2-40B4-BE49-F238E27FC236}">
                <a16:creationId xmlns:a16="http://schemas.microsoft.com/office/drawing/2014/main" id="{52415CDC-E9EA-EF22-33D1-CCB29AA2C26B}"/>
              </a:ext>
            </a:extLst>
          </p:cNvPr>
          <p:cNvGrpSpPr/>
          <p:nvPr/>
        </p:nvGrpSpPr>
        <p:grpSpPr>
          <a:xfrm>
            <a:off x="10080000" y="540000"/>
            <a:ext cx="1404000" cy="2491663"/>
            <a:chOff x="10080000" y="540000"/>
            <a:chExt cx="1404000" cy="2491663"/>
          </a:xfrm>
        </p:grpSpPr>
        <p:sp>
          <p:nvSpPr>
            <p:cNvPr id="79" name="等腰三角形 78">
              <a:extLst>
                <a:ext uri="{FF2B5EF4-FFF2-40B4-BE49-F238E27FC236}">
                  <a16:creationId xmlns:a16="http://schemas.microsoft.com/office/drawing/2014/main" id="{DC126B45-FBCF-0A48-79F4-4853DFB6921C}"/>
                </a:ext>
              </a:extLst>
            </p:cNvPr>
            <p:cNvSpPr/>
            <p:nvPr/>
          </p:nvSpPr>
          <p:spPr>
            <a:xfrm rot="10800000">
              <a:off x="10404000" y="2340000"/>
              <a:ext cx="432000" cy="288000"/>
            </a:xfrm>
            <a:prstGeom prst="triangl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cxnSp>
          <p:nvCxnSpPr>
            <p:cNvPr id="77" name="直接连接符 76">
              <a:extLst>
                <a:ext uri="{FF2B5EF4-FFF2-40B4-BE49-F238E27FC236}">
                  <a16:creationId xmlns:a16="http://schemas.microsoft.com/office/drawing/2014/main" id="{8D1AB13A-77C5-A351-9BB3-AB5E9BE03AA1}"/>
                </a:ext>
              </a:extLst>
            </p:cNvPr>
            <p:cNvCxnSpPr/>
            <p:nvPr/>
          </p:nvCxnSpPr>
          <p:spPr>
            <a:xfrm>
              <a:off x="10620000" y="900000"/>
              <a:ext cx="0" cy="208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7FCB37C2-CE09-9AAE-26BA-F3C35CCAC8C7}"/>
                </a:ext>
              </a:extLst>
            </p:cNvPr>
            <p:cNvCxnSpPr>
              <a:cxnSpLocks/>
            </p:cNvCxnSpPr>
            <p:nvPr/>
          </p:nvCxnSpPr>
          <p:spPr>
            <a:xfrm flipV="1">
              <a:off x="10386000" y="2646000"/>
              <a:ext cx="46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3" name="Rectangle 8">
                  <a:extLst>
                    <a:ext uri="{FF2B5EF4-FFF2-40B4-BE49-F238E27FC236}">
                      <a16:creationId xmlns:a16="http://schemas.microsoft.com/office/drawing/2014/main" id="{53DD473C-BF72-9751-3404-E665D81BD66D}"/>
                    </a:ext>
                  </a:extLst>
                </p:cNvPr>
                <p:cNvSpPr>
                  <a:spLocks noChangeArrowheads="1"/>
                </p:cNvSpPr>
                <p:nvPr/>
              </p:nvSpPr>
              <p:spPr bwMode="auto">
                <a:xfrm>
                  <a:off x="10080000" y="1548000"/>
                  <a:ext cx="360000" cy="40011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𝑖</m:t>
                            </m:r>
                          </m:e>
                          <m:sub>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D</m:t>
                            </m:r>
                          </m:sub>
                        </m:sSub>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83" name="Rectangle 8">
                  <a:extLst>
                    <a:ext uri="{FF2B5EF4-FFF2-40B4-BE49-F238E27FC236}">
                      <a16:creationId xmlns:a16="http://schemas.microsoft.com/office/drawing/2014/main" id="{53DD473C-BF72-9751-3404-E665D81BD66D}"/>
                    </a:ext>
                  </a:extLst>
                </p:cNvPr>
                <p:cNvSpPr>
                  <a:spLocks noRot="1" noChangeAspect="1" noMove="1" noResize="1" noEditPoints="1" noAdjustHandles="1" noChangeArrowheads="1" noChangeShapeType="1" noTextEdit="1"/>
                </p:cNvSpPr>
                <p:nvPr/>
              </p:nvSpPr>
              <p:spPr bwMode="auto">
                <a:xfrm>
                  <a:off x="10080000" y="1548000"/>
                  <a:ext cx="360000" cy="400110"/>
                </a:xfrm>
                <a:prstGeom prst="rect">
                  <a:avLst/>
                </a:prstGeom>
                <a:blipFill>
                  <a:blip r:embed="rId13"/>
                  <a:stretch>
                    <a:fillRect l="-16949" b="-151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 name="Rectangle 8">
                  <a:extLst>
                    <a:ext uri="{FF2B5EF4-FFF2-40B4-BE49-F238E27FC236}">
                      <a16:creationId xmlns:a16="http://schemas.microsoft.com/office/drawing/2014/main" id="{9A01EDD5-222B-8089-077C-2CBFF4ABFE83}"/>
                    </a:ext>
                  </a:extLst>
                </p:cNvPr>
                <p:cNvSpPr>
                  <a:spLocks noChangeArrowheads="1"/>
                </p:cNvSpPr>
                <p:nvPr/>
              </p:nvSpPr>
              <p:spPr bwMode="auto">
                <a:xfrm>
                  <a:off x="10980000" y="2016000"/>
                  <a:ext cx="504000" cy="1015663"/>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0"/>
                    </a:spcAft>
                    <a:buNone/>
                  </a:pPr>
                  <a14:m>
                    <m:oMathPara xmlns:m="http://schemas.openxmlformats.org/officeDocument/2006/math">
                      <m:oMathParaPr>
                        <m:jc m:val="centerGroup"/>
                      </m:oMathParaPr>
                      <m:oMath xmlns:m="http://schemas.openxmlformats.org/officeDocument/2006/math">
                        <m:r>
                          <a:rPr kumimoji="1" lang="pt-BR" altLang="zh-CN" sz="2000" b="0" i="1" smtClean="0">
                            <a:solidFill>
                              <a:schemeClr val="tx1"/>
                            </a:solidFill>
                            <a:latin typeface="Cambria Math" panose="02040503050406030204" pitchFamily="18" charset="0"/>
                            <a:ea typeface="微软雅黑" panose="020B0503020204020204" pitchFamily="34" charset="-122"/>
                          </a:rPr>
                          <m:t>+</m:t>
                        </m:r>
                      </m:oMath>
                    </m:oMathPara>
                  </a14:m>
                  <a:endParaRPr kumimoji="1" lang="en-US" altLang="zh-CN" sz="2000" b="0" dirty="0">
                    <a:solidFill>
                      <a:schemeClr val="tx1"/>
                    </a:solidFill>
                    <a:latin typeface="微软雅黑" panose="020B0503020204020204" pitchFamily="34" charset="-122"/>
                    <a:ea typeface="微软雅黑" panose="020B0503020204020204" pitchFamily="34" charset="-122"/>
                  </a:endParaRPr>
                </a:p>
                <a:p>
                  <a:pPr algn="ctr">
                    <a:spcAft>
                      <a:spcPts val="0"/>
                    </a:spcAft>
                    <a:buNone/>
                  </a:pPr>
                  <a14:m>
                    <m:oMath xmlns:m="http://schemas.openxmlformats.org/officeDocument/2006/math">
                      <m:sSub>
                        <m:sSubPr>
                          <m:ctrlPr>
                            <a:rPr kumimoji="1" lang="en-US" altLang="zh-CN" sz="2000" b="0" i="1">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𝑣</m:t>
                          </m:r>
                        </m:e>
                        <m:sub>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D</m:t>
                          </m:r>
                        </m:sub>
                      </m:sSub>
                    </m:oMath>
                  </a14:m>
                  <a:r>
                    <a:rPr kumimoji="1" lang="zh-CN" altLang="en-US" sz="2000" b="0" dirty="0">
                      <a:solidFill>
                        <a:schemeClr val="tx1"/>
                      </a:solidFill>
                      <a:latin typeface="微软雅黑" panose="020B0503020204020204" pitchFamily="34" charset="-122"/>
                      <a:ea typeface="微软雅黑" panose="020B0503020204020204" pitchFamily="34" charset="-122"/>
                    </a:rPr>
                    <a:t>    </a:t>
                  </a:r>
                  <a:endParaRPr kumimoji="1" lang="en-US" altLang="zh-CN" sz="2000" b="0" dirty="0">
                    <a:solidFill>
                      <a:schemeClr val="tx1"/>
                    </a:solidFill>
                    <a:latin typeface="微软雅黑" panose="020B0503020204020204" pitchFamily="34" charset="-122"/>
                    <a:ea typeface="微软雅黑" panose="020B0503020204020204" pitchFamily="34" charset="-122"/>
                  </a:endParaRPr>
                </a:p>
                <a:p>
                  <a:pPr algn="ctr">
                    <a:spcAft>
                      <a:spcPts val="0"/>
                    </a:spcAft>
                    <a:buNone/>
                  </a:pPr>
                  <a14:m>
                    <m:oMath xmlns:m="http://schemas.openxmlformats.org/officeDocument/2006/math">
                      <m:r>
                        <a:rPr kumimoji="1" lang="en-US" altLang="zh-CN" sz="2000" b="0" i="1" smtClean="0">
                          <a:solidFill>
                            <a:schemeClr val="tx1"/>
                          </a:solidFill>
                          <a:latin typeface="Cambria Math" panose="02040503050406030204" pitchFamily="18" charset="0"/>
                          <a:ea typeface="微软雅黑" panose="020B0503020204020204" pitchFamily="34" charset="-122"/>
                        </a:rPr>
                        <m:t>−</m:t>
                      </m:r>
                    </m:oMath>
                  </a14:m>
                  <a:r>
                    <a:rPr kumimoji="1" lang="zh-CN" altLang="en-US" sz="2000" b="0" dirty="0">
                      <a:solidFill>
                        <a:schemeClr val="tx1"/>
                      </a:solidFill>
                      <a:latin typeface="微软雅黑" panose="020B0503020204020204" pitchFamily="34" charset="-122"/>
                      <a:ea typeface="微软雅黑" panose="020B0503020204020204" pitchFamily="34" charset="-122"/>
                    </a:rPr>
                    <a:t>    </a:t>
                  </a:r>
                </a:p>
              </p:txBody>
            </p:sp>
          </mc:Choice>
          <mc:Fallback xmlns="">
            <p:sp>
              <p:nvSpPr>
                <p:cNvPr id="85" name="Rectangle 8">
                  <a:extLst>
                    <a:ext uri="{FF2B5EF4-FFF2-40B4-BE49-F238E27FC236}">
                      <a16:creationId xmlns:a16="http://schemas.microsoft.com/office/drawing/2014/main" id="{9A01EDD5-222B-8089-077C-2CBFF4ABFE83}"/>
                    </a:ext>
                  </a:extLst>
                </p:cNvPr>
                <p:cNvSpPr>
                  <a:spLocks noRot="1" noChangeAspect="1" noMove="1" noResize="1" noEditPoints="1" noAdjustHandles="1" noChangeArrowheads="1" noChangeShapeType="1" noTextEdit="1"/>
                </p:cNvSpPr>
                <p:nvPr/>
              </p:nvSpPr>
              <p:spPr bwMode="auto">
                <a:xfrm>
                  <a:off x="10980000" y="2016000"/>
                  <a:ext cx="504000" cy="1015663"/>
                </a:xfrm>
                <a:prstGeom prst="rect">
                  <a:avLst/>
                </a:prstGeom>
                <a:blipFill>
                  <a:blip r:embed="rId14"/>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7" name="Rectangle 8">
                  <a:extLst>
                    <a:ext uri="{FF2B5EF4-FFF2-40B4-BE49-F238E27FC236}">
                      <a16:creationId xmlns:a16="http://schemas.microsoft.com/office/drawing/2014/main" id="{ACD598FE-5D2B-9D35-7B95-9D57DEF204F1}"/>
                    </a:ext>
                  </a:extLst>
                </p:cNvPr>
                <p:cNvSpPr>
                  <a:spLocks noChangeArrowheads="1"/>
                </p:cNvSpPr>
                <p:nvPr/>
              </p:nvSpPr>
              <p:spPr bwMode="auto">
                <a:xfrm>
                  <a:off x="10764000" y="1296000"/>
                  <a:ext cx="288000" cy="40011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a:rPr kumimoji="1" lang="en-US" altLang="zh-CN" sz="2000" b="0" i="1" smtClean="0">
                            <a:solidFill>
                              <a:schemeClr val="tx1"/>
                            </a:solidFill>
                            <a:latin typeface="Cambria Math" panose="02040503050406030204" pitchFamily="18" charset="0"/>
                            <a:ea typeface="微软雅黑" panose="020B0503020204020204" pitchFamily="34" charset="-122"/>
                          </a:rPr>
                          <m:t>𝑅</m:t>
                        </m:r>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87" name="Rectangle 8">
                  <a:extLst>
                    <a:ext uri="{FF2B5EF4-FFF2-40B4-BE49-F238E27FC236}">
                      <a16:creationId xmlns:a16="http://schemas.microsoft.com/office/drawing/2014/main" id="{ACD598FE-5D2B-9D35-7B95-9D57DEF204F1}"/>
                    </a:ext>
                  </a:extLst>
                </p:cNvPr>
                <p:cNvSpPr>
                  <a:spLocks noRot="1" noChangeAspect="1" noMove="1" noResize="1" noEditPoints="1" noAdjustHandles="1" noChangeArrowheads="1" noChangeShapeType="1" noTextEdit="1"/>
                </p:cNvSpPr>
                <p:nvPr/>
              </p:nvSpPr>
              <p:spPr bwMode="auto">
                <a:xfrm>
                  <a:off x="10764000" y="1296000"/>
                  <a:ext cx="288000" cy="400110"/>
                </a:xfrm>
                <a:prstGeom prst="rect">
                  <a:avLst/>
                </a:prstGeom>
                <a:blipFill>
                  <a:blip r:embed="rId15"/>
                  <a:stretch>
                    <a:fillRect l="-23404"/>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8" name="Rectangle 8">
                  <a:extLst>
                    <a:ext uri="{FF2B5EF4-FFF2-40B4-BE49-F238E27FC236}">
                      <a16:creationId xmlns:a16="http://schemas.microsoft.com/office/drawing/2014/main" id="{7A52B77B-5E78-7D8D-A66B-766D4397BAAA}"/>
                    </a:ext>
                  </a:extLst>
                </p:cNvPr>
                <p:cNvSpPr>
                  <a:spLocks noChangeArrowheads="1"/>
                </p:cNvSpPr>
                <p:nvPr/>
              </p:nvSpPr>
              <p:spPr bwMode="auto">
                <a:xfrm>
                  <a:off x="10620000" y="540000"/>
                  <a:ext cx="504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𝑉</m:t>
                            </m:r>
                          </m:e>
                          <m:sub>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DD</m:t>
                            </m:r>
                          </m:sub>
                        </m:sSub>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88" name="Rectangle 8">
                  <a:extLst>
                    <a:ext uri="{FF2B5EF4-FFF2-40B4-BE49-F238E27FC236}">
                      <a16:creationId xmlns:a16="http://schemas.microsoft.com/office/drawing/2014/main" id="{7A52B77B-5E78-7D8D-A66B-766D4397BAAA}"/>
                    </a:ext>
                  </a:extLst>
                </p:cNvPr>
                <p:cNvSpPr>
                  <a:spLocks noRot="1" noChangeAspect="1" noMove="1" noResize="1" noEditPoints="1" noAdjustHandles="1" noChangeArrowheads="1" noChangeShapeType="1" noTextEdit="1"/>
                </p:cNvSpPr>
                <p:nvPr/>
              </p:nvSpPr>
              <p:spPr bwMode="auto">
                <a:xfrm>
                  <a:off x="10620000" y="540000"/>
                  <a:ext cx="504000" cy="396000"/>
                </a:xfrm>
                <a:prstGeom prst="rect">
                  <a:avLst/>
                </a:prstGeom>
                <a:blipFill>
                  <a:blip r:embed="rId16"/>
                  <a:stretch>
                    <a:fillRect l="-15663" b="-307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89" name="直接箭头连接符 88">
              <a:extLst>
                <a:ext uri="{FF2B5EF4-FFF2-40B4-BE49-F238E27FC236}">
                  <a16:creationId xmlns:a16="http://schemas.microsoft.com/office/drawing/2014/main" id="{0937077A-25E6-C8AD-0B22-7FF60F60343A}"/>
                </a:ext>
              </a:extLst>
            </p:cNvPr>
            <p:cNvCxnSpPr>
              <a:cxnSpLocks/>
            </p:cNvCxnSpPr>
            <p:nvPr/>
          </p:nvCxnSpPr>
          <p:spPr>
            <a:xfrm>
              <a:off x="10404000" y="1548000"/>
              <a:ext cx="0" cy="46800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96" name="椭圆 95">
              <a:extLst>
                <a:ext uri="{FF2B5EF4-FFF2-40B4-BE49-F238E27FC236}">
                  <a16:creationId xmlns:a16="http://schemas.microsoft.com/office/drawing/2014/main" id="{7C380D80-3B7C-9DAF-E9DD-AE27ADFF4198}"/>
                </a:ext>
              </a:extLst>
            </p:cNvPr>
            <p:cNvSpPr/>
            <p:nvPr/>
          </p:nvSpPr>
          <p:spPr>
            <a:xfrm>
              <a:off x="10566000" y="899999"/>
              <a:ext cx="108000" cy="108000"/>
            </a:xfrm>
            <a:prstGeom prst="ellipse">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tx1"/>
                </a:solidFill>
              </a:endParaRPr>
            </a:p>
          </p:txBody>
        </p:sp>
        <p:sp>
          <p:nvSpPr>
            <p:cNvPr id="97" name="矩形 96">
              <a:extLst>
                <a:ext uri="{FF2B5EF4-FFF2-40B4-BE49-F238E27FC236}">
                  <a16:creationId xmlns:a16="http://schemas.microsoft.com/office/drawing/2014/main" id="{207E1FD1-33B2-9235-671E-412AEF85B0C6}"/>
                </a:ext>
              </a:extLst>
            </p:cNvPr>
            <p:cNvSpPr/>
            <p:nvPr/>
          </p:nvSpPr>
          <p:spPr>
            <a:xfrm>
              <a:off x="10548000" y="1260000"/>
              <a:ext cx="144000" cy="504000"/>
            </a:xfrm>
            <a:prstGeom prst="rect">
              <a:avLst/>
            </a:prstGeom>
            <a:solidFill>
              <a:schemeClr val="bg1">
                <a:alpha val="99000"/>
              </a:schemeClr>
            </a:solidFill>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tx1"/>
                </a:solidFill>
              </a:endParaRPr>
            </a:p>
          </p:txBody>
        </p:sp>
        <p:sp>
          <p:nvSpPr>
            <p:cNvPr id="98" name="椭圆 97">
              <a:extLst>
                <a:ext uri="{FF2B5EF4-FFF2-40B4-BE49-F238E27FC236}">
                  <a16:creationId xmlns:a16="http://schemas.microsoft.com/office/drawing/2014/main" id="{D441EA54-80E8-79C6-D807-1FCA07699FDD}"/>
                </a:ext>
              </a:extLst>
            </p:cNvPr>
            <p:cNvSpPr/>
            <p:nvPr/>
          </p:nvSpPr>
          <p:spPr>
            <a:xfrm>
              <a:off x="10566000" y="196200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tx1"/>
                </a:solidFill>
              </a:endParaRPr>
            </a:p>
          </p:txBody>
        </p:sp>
        <p:cxnSp>
          <p:nvCxnSpPr>
            <p:cNvPr id="99" name="直接连接符 98">
              <a:extLst>
                <a:ext uri="{FF2B5EF4-FFF2-40B4-BE49-F238E27FC236}">
                  <a16:creationId xmlns:a16="http://schemas.microsoft.com/office/drawing/2014/main" id="{256FA009-223F-2AAC-E997-F02E3E641DA2}"/>
                </a:ext>
              </a:extLst>
            </p:cNvPr>
            <p:cNvCxnSpPr>
              <a:cxnSpLocks/>
            </p:cNvCxnSpPr>
            <p:nvPr/>
          </p:nvCxnSpPr>
          <p:spPr>
            <a:xfrm flipH="1">
              <a:off x="10620000" y="2016000"/>
              <a:ext cx="54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0" name="椭圆 99">
              <a:extLst>
                <a:ext uri="{FF2B5EF4-FFF2-40B4-BE49-F238E27FC236}">
                  <a16:creationId xmlns:a16="http://schemas.microsoft.com/office/drawing/2014/main" id="{7321813F-DDA8-153F-239D-D0396D577AED}"/>
                </a:ext>
              </a:extLst>
            </p:cNvPr>
            <p:cNvSpPr/>
            <p:nvPr/>
          </p:nvSpPr>
          <p:spPr>
            <a:xfrm>
              <a:off x="11159999" y="1962000"/>
              <a:ext cx="108000" cy="108000"/>
            </a:xfrm>
            <a:prstGeom prst="ellipse">
              <a:avLst/>
            </a:prstGeom>
            <a:ln w="254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tx1"/>
                </a:solidFill>
              </a:endParaRPr>
            </a:p>
          </p:txBody>
        </p:sp>
        <p:cxnSp>
          <p:nvCxnSpPr>
            <p:cNvPr id="101" name="直接连接符 100">
              <a:extLst>
                <a:ext uri="{FF2B5EF4-FFF2-40B4-BE49-F238E27FC236}">
                  <a16:creationId xmlns:a16="http://schemas.microsoft.com/office/drawing/2014/main" id="{39BB2B2A-7FA3-80BE-31C2-B6FEC31F138C}"/>
                </a:ext>
              </a:extLst>
            </p:cNvPr>
            <p:cNvCxnSpPr>
              <a:cxnSpLocks/>
            </p:cNvCxnSpPr>
            <p:nvPr/>
          </p:nvCxnSpPr>
          <p:spPr>
            <a:xfrm flipH="1">
              <a:off x="10404000" y="2988000"/>
              <a:ext cx="4320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7" name="组合 136">
            <a:extLst>
              <a:ext uri="{FF2B5EF4-FFF2-40B4-BE49-F238E27FC236}">
                <a16:creationId xmlns:a16="http://schemas.microsoft.com/office/drawing/2014/main" id="{F1A56674-D719-6CB2-A491-CDE8957742D0}"/>
              </a:ext>
            </a:extLst>
          </p:cNvPr>
          <p:cNvGrpSpPr/>
          <p:nvPr/>
        </p:nvGrpSpPr>
        <p:grpSpPr>
          <a:xfrm>
            <a:off x="7398000" y="900000"/>
            <a:ext cx="2124000" cy="2088698"/>
            <a:chOff x="7398000" y="900000"/>
            <a:chExt cx="2124000" cy="2088698"/>
          </a:xfrm>
        </p:grpSpPr>
        <p:sp>
          <p:nvSpPr>
            <p:cNvPr id="126" name="等腰三角形 125">
              <a:extLst>
                <a:ext uri="{FF2B5EF4-FFF2-40B4-BE49-F238E27FC236}">
                  <a16:creationId xmlns:a16="http://schemas.microsoft.com/office/drawing/2014/main" id="{E82CCDE7-6D84-7693-D9D9-90A6F6078732}"/>
                </a:ext>
              </a:extLst>
            </p:cNvPr>
            <p:cNvSpPr/>
            <p:nvPr/>
          </p:nvSpPr>
          <p:spPr>
            <a:xfrm rot="10800000">
              <a:off x="9072000" y="1908523"/>
              <a:ext cx="432000" cy="288000"/>
            </a:xfrm>
            <a:prstGeom prst="triangle">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cxnSp>
          <p:nvCxnSpPr>
            <p:cNvPr id="128" name="直接连接符 127">
              <a:extLst>
                <a:ext uri="{FF2B5EF4-FFF2-40B4-BE49-F238E27FC236}">
                  <a16:creationId xmlns:a16="http://schemas.microsoft.com/office/drawing/2014/main" id="{25555731-B319-6593-47C8-FA69C17D3E96}"/>
                </a:ext>
              </a:extLst>
            </p:cNvPr>
            <p:cNvCxnSpPr>
              <a:cxnSpLocks/>
            </p:cNvCxnSpPr>
            <p:nvPr/>
          </p:nvCxnSpPr>
          <p:spPr>
            <a:xfrm flipV="1">
              <a:off x="9054000" y="2214523"/>
              <a:ext cx="46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矩形 110">
              <a:extLst>
                <a:ext uri="{FF2B5EF4-FFF2-40B4-BE49-F238E27FC236}">
                  <a16:creationId xmlns:a16="http://schemas.microsoft.com/office/drawing/2014/main" id="{4949646C-D4F0-BACF-49E7-2029A5E8C475}"/>
                </a:ext>
              </a:extLst>
            </p:cNvPr>
            <p:cNvSpPr/>
            <p:nvPr/>
          </p:nvSpPr>
          <p:spPr>
            <a:xfrm>
              <a:off x="7632000" y="1404000"/>
              <a:ext cx="1656000" cy="129600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矩形 135">
              <a:extLst>
                <a:ext uri="{FF2B5EF4-FFF2-40B4-BE49-F238E27FC236}">
                  <a16:creationId xmlns:a16="http://schemas.microsoft.com/office/drawing/2014/main" id="{9584288C-C321-2153-4BCF-6C2B6D6EEE4F}"/>
                </a:ext>
              </a:extLst>
            </p:cNvPr>
            <p:cNvSpPr/>
            <p:nvPr/>
          </p:nvSpPr>
          <p:spPr>
            <a:xfrm>
              <a:off x="7506000" y="2268000"/>
              <a:ext cx="252000" cy="122219"/>
            </a:xfrm>
            <a:prstGeom prst="rect">
              <a:avLst/>
            </a:prstGeom>
            <a:solidFill>
              <a:schemeClr val="bg1">
                <a:alpha val="99000"/>
              </a:schemeClr>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43" name="直接连接符 42">
              <a:extLst>
                <a:ext uri="{FF2B5EF4-FFF2-40B4-BE49-F238E27FC236}">
                  <a16:creationId xmlns:a16="http://schemas.microsoft.com/office/drawing/2014/main" id="{1E6E97ED-D8B1-A6E8-281A-B0FE8130432D}"/>
                </a:ext>
              </a:extLst>
            </p:cNvPr>
            <p:cNvCxnSpPr>
              <a:cxnSpLocks/>
            </p:cNvCxnSpPr>
            <p:nvPr/>
          </p:nvCxnSpPr>
          <p:spPr>
            <a:xfrm>
              <a:off x="8460000" y="2700000"/>
              <a:ext cx="0" cy="28869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Rectangle 8">
                  <a:extLst>
                    <a:ext uri="{FF2B5EF4-FFF2-40B4-BE49-F238E27FC236}">
                      <a16:creationId xmlns:a16="http://schemas.microsoft.com/office/drawing/2014/main" id="{0BC5F2B9-6F6B-1452-7895-37C22F1F359F}"/>
                    </a:ext>
                  </a:extLst>
                </p:cNvPr>
                <p:cNvSpPr>
                  <a:spLocks noChangeArrowheads="1"/>
                </p:cNvSpPr>
                <p:nvPr/>
              </p:nvSpPr>
              <p:spPr bwMode="auto">
                <a:xfrm>
                  <a:off x="8640000" y="1512000"/>
                  <a:ext cx="504000" cy="1008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Group"/>
                      </m:oMathParaPr>
                      <m:oMath xmlns:m="http://schemas.openxmlformats.org/officeDocument/2006/math">
                        <m:r>
                          <a:rPr kumimoji="1" lang="pt-BR" altLang="zh-CN" sz="2000" b="0" i="1" smtClean="0">
                            <a:latin typeface="Cambria Math" panose="02040503050406030204" pitchFamily="18" charset="0"/>
                            <a:ea typeface="微软雅黑" panose="020B0503020204020204" pitchFamily="34" charset="-122"/>
                          </a:rPr>
                          <m:t>+</m:t>
                        </m:r>
                      </m:oMath>
                    </m:oMathPara>
                  </a14:m>
                  <a:endParaRPr kumimoji="1" lang="en-US" altLang="zh-CN" sz="2000" b="0" dirty="0">
                    <a:latin typeface="微软雅黑" panose="020B0503020204020204" pitchFamily="34" charset="-122"/>
                    <a:ea typeface="微软雅黑" panose="020B0503020204020204" pitchFamily="34" charset="-122"/>
                  </a:endParaRPr>
                </a:p>
                <a:p>
                  <a:pPr algn="ctr">
                    <a:spcAft>
                      <a:spcPct val="0"/>
                    </a:spcAft>
                    <a:buNone/>
                  </a:pPr>
                  <a14:m>
                    <m:oMath xmlns:m="http://schemas.openxmlformats.org/officeDocument/2006/math">
                      <m:sSub>
                        <m:sSubPr>
                          <m:ctrlPr>
                            <a:rPr kumimoji="1" lang="en-US" altLang="zh-CN" sz="2000" b="0" i="1">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𝑣</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a14:m>
                  <a:r>
                    <a:rPr kumimoji="1" lang="zh-CN" altLang="en-US" sz="2000" b="0" dirty="0">
                      <a:latin typeface="微软雅黑" panose="020B0503020204020204" pitchFamily="34" charset="-122"/>
                      <a:ea typeface="微软雅黑" panose="020B0503020204020204" pitchFamily="34" charset="-122"/>
                    </a:rPr>
                    <a:t>    </a:t>
                  </a:r>
                  <a:endParaRPr kumimoji="1" lang="en-US" altLang="zh-CN" sz="2000" b="0" dirty="0">
                    <a:latin typeface="微软雅黑" panose="020B0503020204020204" pitchFamily="34" charset="-122"/>
                    <a:ea typeface="微软雅黑" panose="020B0503020204020204" pitchFamily="34" charset="-122"/>
                  </a:endParaRPr>
                </a:p>
                <a:p>
                  <a:pPr algn="ctr">
                    <a:spcAft>
                      <a:spcPct val="0"/>
                    </a:spcAft>
                    <a:buNone/>
                  </a:pPr>
                  <a14:m>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p>
              </p:txBody>
            </p:sp>
          </mc:Choice>
          <mc:Fallback xmlns="">
            <p:sp>
              <p:nvSpPr>
                <p:cNvPr id="15" name="Rectangle 8">
                  <a:extLst>
                    <a:ext uri="{FF2B5EF4-FFF2-40B4-BE49-F238E27FC236}">
                      <a16:creationId xmlns:a16="http://schemas.microsoft.com/office/drawing/2014/main" id="{0BC5F2B9-6F6B-1452-7895-37C22F1F359F}"/>
                    </a:ext>
                  </a:extLst>
                </p:cNvPr>
                <p:cNvSpPr>
                  <a:spLocks noRot="1" noChangeAspect="1" noMove="1" noResize="1" noEditPoints="1" noAdjustHandles="1" noChangeArrowheads="1" noChangeShapeType="1" noTextEdit="1"/>
                </p:cNvSpPr>
                <p:nvPr/>
              </p:nvSpPr>
              <p:spPr bwMode="auto">
                <a:xfrm>
                  <a:off x="8640000" y="1512000"/>
                  <a:ext cx="504000" cy="1008000"/>
                </a:xfrm>
                <a:prstGeom prst="rect">
                  <a:avLst/>
                </a:prstGeom>
                <a:blipFill>
                  <a:blip r:embed="rId17"/>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23" name="直接箭头连接符 22">
              <a:extLst>
                <a:ext uri="{FF2B5EF4-FFF2-40B4-BE49-F238E27FC236}">
                  <a16:creationId xmlns:a16="http://schemas.microsoft.com/office/drawing/2014/main" id="{35FB2039-B009-C4D1-CD98-7999A9606168}"/>
                </a:ext>
              </a:extLst>
            </p:cNvPr>
            <p:cNvCxnSpPr>
              <a:cxnSpLocks/>
            </p:cNvCxnSpPr>
            <p:nvPr/>
          </p:nvCxnSpPr>
          <p:spPr>
            <a:xfrm>
              <a:off x="8280000" y="1296000"/>
              <a:ext cx="468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Rectangle 8">
                  <a:extLst>
                    <a:ext uri="{FF2B5EF4-FFF2-40B4-BE49-F238E27FC236}">
                      <a16:creationId xmlns:a16="http://schemas.microsoft.com/office/drawing/2014/main" id="{CE477978-5651-DEBB-7802-27409AF2B015}"/>
                    </a:ext>
                  </a:extLst>
                </p:cNvPr>
                <p:cNvSpPr>
                  <a:spLocks noChangeArrowheads="1"/>
                </p:cNvSpPr>
                <p:nvPr/>
              </p:nvSpPr>
              <p:spPr bwMode="auto">
                <a:xfrm>
                  <a:off x="8316000" y="900000"/>
                  <a:ext cx="360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𝑖</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24" name="Rectangle 8">
                  <a:extLst>
                    <a:ext uri="{FF2B5EF4-FFF2-40B4-BE49-F238E27FC236}">
                      <a16:creationId xmlns:a16="http://schemas.microsoft.com/office/drawing/2014/main" id="{CE477978-5651-DEBB-7802-27409AF2B015}"/>
                    </a:ext>
                  </a:extLst>
                </p:cNvPr>
                <p:cNvSpPr>
                  <a:spLocks noRot="1" noChangeAspect="1" noMove="1" noResize="1" noEditPoints="1" noAdjustHandles="1" noChangeArrowheads="1" noChangeShapeType="1" noTextEdit="1"/>
                </p:cNvSpPr>
                <p:nvPr/>
              </p:nvSpPr>
              <p:spPr bwMode="auto">
                <a:xfrm>
                  <a:off x="8316000" y="900000"/>
                  <a:ext cx="360000" cy="432000"/>
                </a:xfrm>
                <a:prstGeom prst="rect">
                  <a:avLst/>
                </a:prstGeom>
                <a:blipFill>
                  <a:blip r:embed="rId18"/>
                  <a:stretch>
                    <a:fillRect l="-16949"/>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34" name="直接连接符 33">
              <a:extLst>
                <a:ext uri="{FF2B5EF4-FFF2-40B4-BE49-F238E27FC236}">
                  <a16:creationId xmlns:a16="http://schemas.microsoft.com/office/drawing/2014/main" id="{4F45A550-1C20-DB44-9625-23C16AE21A1A}"/>
                </a:ext>
              </a:extLst>
            </p:cNvPr>
            <p:cNvCxnSpPr>
              <a:cxnSpLocks/>
            </p:cNvCxnSpPr>
            <p:nvPr/>
          </p:nvCxnSpPr>
          <p:spPr>
            <a:xfrm flipH="1">
              <a:off x="7398000" y="2268000"/>
              <a:ext cx="46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4D57E5F7-4061-31FF-0D82-AC185715080A}"/>
                </a:ext>
              </a:extLst>
            </p:cNvPr>
            <p:cNvCxnSpPr>
              <a:cxnSpLocks/>
            </p:cNvCxnSpPr>
            <p:nvPr/>
          </p:nvCxnSpPr>
          <p:spPr>
            <a:xfrm flipH="1">
              <a:off x="7506000" y="2394000"/>
              <a:ext cx="252000"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Rectangle 8">
                  <a:extLst>
                    <a:ext uri="{FF2B5EF4-FFF2-40B4-BE49-F238E27FC236}">
                      <a16:creationId xmlns:a16="http://schemas.microsoft.com/office/drawing/2014/main" id="{32F25BEC-A99D-4234-1D5B-9E87872092C0}"/>
                    </a:ext>
                  </a:extLst>
                </p:cNvPr>
                <p:cNvSpPr>
                  <a:spLocks noChangeArrowheads="1"/>
                </p:cNvSpPr>
                <p:nvPr/>
              </p:nvSpPr>
              <p:spPr bwMode="auto">
                <a:xfrm>
                  <a:off x="7776000" y="1620000"/>
                  <a:ext cx="288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𝑅</m:t>
                        </m:r>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46" name="Rectangle 8">
                  <a:extLst>
                    <a:ext uri="{FF2B5EF4-FFF2-40B4-BE49-F238E27FC236}">
                      <a16:creationId xmlns:a16="http://schemas.microsoft.com/office/drawing/2014/main" id="{32F25BEC-A99D-4234-1D5B-9E87872092C0}"/>
                    </a:ext>
                  </a:extLst>
                </p:cNvPr>
                <p:cNvSpPr>
                  <a:spLocks noRot="1" noChangeAspect="1" noMove="1" noResize="1" noEditPoints="1" noAdjustHandles="1" noChangeArrowheads="1" noChangeShapeType="1" noTextEdit="1"/>
                </p:cNvSpPr>
                <p:nvPr/>
              </p:nvSpPr>
              <p:spPr bwMode="auto">
                <a:xfrm>
                  <a:off x="7776000" y="1620000"/>
                  <a:ext cx="288000" cy="432000"/>
                </a:xfrm>
                <a:prstGeom prst="rect">
                  <a:avLst/>
                </a:prstGeom>
                <a:blipFill>
                  <a:blip r:embed="rId19"/>
                  <a:stretch>
                    <a:fillRect l="-23404"/>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Rectangle 8">
                  <a:extLst>
                    <a:ext uri="{FF2B5EF4-FFF2-40B4-BE49-F238E27FC236}">
                      <a16:creationId xmlns:a16="http://schemas.microsoft.com/office/drawing/2014/main" id="{17C0E6C9-7FF7-48AD-3548-FEE606CFEA2A}"/>
                    </a:ext>
                  </a:extLst>
                </p:cNvPr>
                <p:cNvSpPr>
                  <a:spLocks noChangeArrowheads="1"/>
                </p:cNvSpPr>
                <p:nvPr/>
              </p:nvSpPr>
              <p:spPr bwMode="auto">
                <a:xfrm>
                  <a:off x="7884000" y="2124000"/>
                  <a:ext cx="504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𝑉</m:t>
                            </m:r>
                          </m:e>
                          <m:sub>
                            <m:r>
                              <m:rPr>
                                <m:sty m:val="p"/>
                              </m:rPr>
                              <a:rPr kumimoji="1" lang="en-US" altLang="zh-CN" sz="2000" b="0" i="0" smtClean="0">
                                <a:latin typeface="Cambria Math" panose="02040503050406030204" pitchFamily="18" charset="0"/>
                                <a:ea typeface="微软雅黑" panose="020B0503020204020204" pitchFamily="34" charset="-122"/>
                              </a:rPr>
                              <m:t>DD</m:t>
                            </m:r>
                          </m:sub>
                        </m:sSub>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47" name="Rectangle 8">
                  <a:extLst>
                    <a:ext uri="{FF2B5EF4-FFF2-40B4-BE49-F238E27FC236}">
                      <a16:creationId xmlns:a16="http://schemas.microsoft.com/office/drawing/2014/main" id="{17C0E6C9-7FF7-48AD-3548-FEE606CFEA2A}"/>
                    </a:ext>
                  </a:extLst>
                </p:cNvPr>
                <p:cNvSpPr>
                  <a:spLocks noRot="1" noChangeAspect="1" noMove="1" noResize="1" noEditPoints="1" noAdjustHandles="1" noChangeArrowheads="1" noChangeShapeType="1" noTextEdit="1"/>
                </p:cNvSpPr>
                <p:nvPr/>
              </p:nvSpPr>
              <p:spPr bwMode="auto">
                <a:xfrm>
                  <a:off x="7884000" y="2124000"/>
                  <a:ext cx="504000" cy="432000"/>
                </a:xfrm>
                <a:prstGeom prst="rect">
                  <a:avLst/>
                </a:prstGeom>
                <a:blipFill>
                  <a:blip r:embed="rId20"/>
                  <a:stretch>
                    <a:fillRect l="-14458"/>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112" name="直接连接符 111">
              <a:extLst>
                <a:ext uri="{FF2B5EF4-FFF2-40B4-BE49-F238E27FC236}">
                  <a16:creationId xmlns:a16="http://schemas.microsoft.com/office/drawing/2014/main" id="{2700FBE3-164B-B779-30DA-3CD65AFA9AFE}"/>
                </a:ext>
              </a:extLst>
            </p:cNvPr>
            <p:cNvCxnSpPr>
              <a:cxnSpLocks/>
            </p:cNvCxnSpPr>
            <p:nvPr/>
          </p:nvCxnSpPr>
          <p:spPr>
            <a:xfrm flipH="1">
              <a:off x="8244000" y="2988000"/>
              <a:ext cx="4320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24" name="椭圆 123">
              <a:extLst>
                <a:ext uri="{FF2B5EF4-FFF2-40B4-BE49-F238E27FC236}">
                  <a16:creationId xmlns:a16="http://schemas.microsoft.com/office/drawing/2014/main" id="{10A499A4-B908-3980-C11F-BBA861ECA344}"/>
                </a:ext>
              </a:extLst>
            </p:cNvPr>
            <p:cNvSpPr/>
            <p:nvPr/>
          </p:nvSpPr>
          <p:spPr>
            <a:xfrm>
              <a:off x="8395200" y="2635200"/>
              <a:ext cx="130981" cy="130981"/>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solidFill>
                  <a:schemeClr val="tx1"/>
                </a:solidFill>
              </a:endParaRPr>
            </a:p>
          </p:txBody>
        </p:sp>
        <p:sp>
          <p:nvSpPr>
            <p:cNvPr id="135" name="矩形 134">
              <a:extLst>
                <a:ext uri="{FF2B5EF4-FFF2-40B4-BE49-F238E27FC236}">
                  <a16:creationId xmlns:a16="http://schemas.microsoft.com/office/drawing/2014/main" id="{6EAED1A3-181C-EFC1-51AD-D0173676651D}"/>
                </a:ext>
              </a:extLst>
            </p:cNvPr>
            <p:cNvSpPr/>
            <p:nvPr/>
          </p:nvSpPr>
          <p:spPr>
            <a:xfrm>
              <a:off x="7560000" y="1548000"/>
              <a:ext cx="144000" cy="504000"/>
            </a:xfrm>
            <a:prstGeom prst="rect">
              <a:avLst/>
            </a:prstGeom>
            <a:solidFill>
              <a:schemeClr val="bg1">
                <a:alpha val="99000"/>
              </a:schemeClr>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spTree>
    <p:extLst>
      <p:ext uri="{BB962C8B-B14F-4D97-AF65-F5344CB8AC3E}">
        <p14:creationId xmlns:p14="http://schemas.microsoft.com/office/powerpoint/2010/main" val="33370263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8E1EA-F8E7-C0D6-FF9C-DAA90876B75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562D9625-8F50-082F-77F6-36C8821CADF2}"/>
                  </a:ext>
                </a:extLst>
              </p:cNvPr>
              <p:cNvSpPr txBox="1"/>
              <p:nvPr/>
            </p:nvSpPr>
            <p:spPr>
              <a:xfrm>
                <a:off x="360000" y="828000"/>
                <a:ext cx="6469861" cy="1159613"/>
              </a:xfrm>
              <a:prstGeom prst="rect">
                <a:avLst/>
              </a:prstGeom>
              <a:noFill/>
            </p:spPr>
            <p:txBody>
              <a:bodyPr wrap="square">
                <a:spAutoFit/>
              </a:bodyPr>
              <a:lstStyle/>
              <a:p>
                <a:pPr>
                  <a:lnSpc>
                    <a:spcPct val="120000"/>
                  </a:lnSpc>
                  <a:spcAft>
                    <a:spcPts val="600"/>
                  </a:spcAft>
                </a:pPr>
                <a:r>
                  <a:rPr kumimoji="1" lang="zh-CN" altLang="en-US" sz="2800" dirty="0">
                    <a:solidFill>
                      <a:srgbClr val="002060"/>
                    </a:solidFill>
                    <a:latin typeface="微软雅黑" panose="020B0503020204020204" pitchFamily="34" charset="-122"/>
                    <a:ea typeface="微软雅黑" panose="020B0503020204020204" pitchFamily="34" charset="-122"/>
                  </a:rPr>
                  <a:t>示例二：</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lvl="1">
                  <a:lnSpc>
                    <a:spcPct val="120000"/>
                  </a:lnSpc>
                  <a:spcAft>
                    <a:spcPts val="600"/>
                  </a:spcAft>
                </a:pPr>
                <a:r>
                  <a:rPr kumimoji="1" lang="zh-CN" altLang="en-US" sz="2800" dirty="0">
                    <a:solidFill>
                      <a:srgbClr val="002060"/>
                    </a:solidFill>
                    <a:latin typeface="微软雅黑" panose="020B0503020204020204" pitchFamily="34" charset="-122"/>
                    <a:ea typeface="微软雅黑" panose="020B0503020204020204" pitchFamily="34" charset="-122"/>
                  </a:rPr>
                  <a:t>右图中的二极管为理想型，求 </a:t>
                </a:r>
                <a14:m>
                  <m:oMath xmlns:m="http://schemas.openxmlformats.org/officeDocument/2006/math">
                    <m:sSub>
                      <m:sSubPr>
                        <m:ctrlPr>
                          <a:rPr kumimoji="1" lang="en-US" altLang="zh-CN" sz="2800" i="1">
                            <a:solidFill>
                              <a:srgbClr val="002060"/>
                            </a:solidFill>
                            <a:latin typeface="Cambria Math" panose="02040503050406030204" pitchFamily="18" charset="0"/>
                            <a:ea typeface="微软雅黑" panose="020B0503020204020204" pitchFamily="34" charset="-122"/>
                          </a:rPr>
                        </m:ctrlPr>
                      </m:sSubPr>
                      <m:e>
                        <m:r>
                          <a:rPr kumimoji="1" lang="en-US" altLang="zh-CN" sz="2800" b="0" i="1" smtClean="0">
                            <a:solidFill>
                              <a:srgbClr val="002060"/>
                            </a:solidFill>
                            <a:latin typeface="Cambria Math" panose="02040503050406030204" pitchFamily="18" charset="0"/>
                            <a:ea typeface="微软雅黑" panose="020B0503020204020204" pitchFamily="34" charset="-122"/>
                          </a:rPr>
                          <m:t>𝑉</m:t>
                        </m:r>
                      </m:e>
                      <m:sub>
                        <m:r>
                          <m:rPr>
                            <m:sty m:val="p"/>
                          </m:rPr>
                          <a:rPr kumimoji="1" lang="en-US" altLang="zh-CN" sz="2800" b="0" i="0" smtClean="0">
                            <a:solidFill>
                              <a:srgbClr val="002060"/>
                            </a:solidFill>
                            <a:latin typeface="Cambria Math" panose="02040503050406030204" pitchFamily="18" charset="0"/>
                            <a:ea typeface="微软雅黑" panose="020B0503020204020204" pitchFamily="34" charset="-122"/>
                          </a:rPr>
                          <m:t>O</m:t>
                        </m:r>
                      </m:sub>
                    </m:sSub>
                  </m:oMath>
                </a14:m>
                <a:endParaRPr kumimoji="1" lang="en-US" altLang="zh-CN" sz="2800" dirty="0">
                  <a:solidFill>
                    <a:srgbClr val="002060"/>
                  </a:solidFill>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562D9625-8F50-082F-77F6-36C8821CADF2}"/>
                  </a:ext>
                </a:extLst>
              </p:cNvPr>
              <p:cNvSpPr txBox="1">
                <a:spLocks noRot="1" noChangeAspect="1" noMove="1" noResize="1" noEditPoints="1" noAdjustHandles="1" noChangeArrowheads="1" noChangeShapeType="1" noTextEdit="1"/>
              </p:cNvSpPr>
              <p:nvPr/>
            </p:nvSpPr>
            <p:spPr>
              <a:xfrm>
                <a:off x="360000" y="828000"/>
                <a:ext cx="6469861" cy="1159613"/>
              </a:xfrm>
              <a:prstGeom prst="rect">
                <a:avLst/>
              </a:prstGeom>
              <a:blipFill>
                <a:blip r:embed="rId3"/>
                <a:stretch>
                  <a:fillRect l="-1885" t="-2105" b="-142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6" name="文本框 75">
                <a:extLst>
                  <a:ext uri="{FF2B5EF4-FFF2-40B4-BE49-F238E27FC236}">
                    <a16:creationId xmlns:a16="http://schemas.microsoft.com/office/drawing/2014/main" id="{0AA7C8DC-C0A3-0E73-DEEC-E8DA71DA58D4}"/>
                  </a:ext>
                </a:extLst>
              </p:cNvPr>
              <p:cNvSpPr txBox="1"/>
              <p:nvPr/>
            </p:nvSpPr>
            <p:spPr>
              <a:xfrm>
                <a:off x="360000" y="2520000"/>
                <a:ext cx="8511983" cy="3618811"/>
              </a:xfrm>
              <a:prstGeom prst="rect">
                <a:avLst/>
              </a:prstGeom>
              <a:noFill/>
            </p:spPr>
            <p:txBody>
              <a:bodyPr wrap="square">
                <a:spAutoFit/>
              </a:bodyPr>
              <a:lstStyle/>
              <a:p>
                <a:pPr>
                  <a:lnSpc>
                    <a:spcPct val="120000"/>
                  </a:lnSpc>
                  <a:spcAft>
                    <a:spcPts val="600"/>
                  </a:spcAft>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将二极管 </a:t>
                </a:r>
                <a14:m>
                  <m:oMath xmlns:m="http://schemas.openxmlformats.org/officeDocument/2006/math">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𝐷</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断开，以 </a:t>
                </a:r>
                <a14:m>
                  <m:oMath xmlns:m="http://schemas.openxmlformats.org/officeDocument/2006/math">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𝑂</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为基准电位（即 </a:t>
                </a:r>
                <a14:m>
                  <m:oMath xmlns:m="http://schemas.openxmlformats.org/officeDocument/2006/math">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𝑂</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点为 </a:t>
                </a:r>
                <a14:m>
                  <m:oMath xmlns:m="http://schemas.openxmlformats.org/officeDocument/2006/math">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0 </m:t>
                    </m:r>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V</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），则</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a:lnSpc>
                    <a:spcPct val="120000"/>
                  </a:lnSpc>
                  <a:spcAft>
                    <a:spcPts val="600"/>
                  </a:spcAft>
                </a:pP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a:lnSpc>
                    <a:spcPct val="120000"/>
                  </a:lnSpc>
                  <a:spcAft>
                    <a:spcPts val="600"/>
                  </a:spcAft>
                </a:pPr>
                <a14:m>
                  <m:oMath xmlns:m="http://schemas.openxmlformats.org/officeDocument/2006/math">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𝐷</m:t>
                    </m:r>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的阳极电位为 </a:t>
                </a:r>
                <a14:m>
                  <m:oMath xmlns:m="http://schemas.openxmlformats.org/officeDocument/2006/math">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−6 </m:t>
                    </m:r>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V</m:t>
                    </m:r>
                    <m:r>
                      <a:rPr kumimoji="1" lang="zh-CN" altLang="en-US" sz="2400" i="1">
                        <a:solidFill>
                          <a:schemeClr val="accent5">
                            <a:lumMod val="75000"/>
                          </a:schemeClr>
                        </a:solidFill>
                        <a:latin typeface="Cambria Math" panose="02040503050406030204" pitchFamily="18" charset="0"/>
                        <a:ea typeface="微软雅黑" panose="020B0503020204020204" pitchFamily="34" charset="-122"/>
                      </a:rPr>
                      <m:t>，</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阴极电位为 </a:t>
                </a:r>
                <a14:m>
                  <m:oMath xmlns:m="http://schemas.openxmlformats.org/officeDocument/2006/math">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−12 </m:t>
                    </m:r>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V</m:t>
                    </m:r>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a:lnSpc>
                    <a:spcPct val="120000"/>
                  </a:lnSpc>
                  <a:spcAft>
                    <a:spcPts val="600"/>
                  </a:spcAft>
                </a:pP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a:lnSpc>
                    <a:spcPct val="120000"/>
                  </a:lnSpc>
                  <a:spcAft>
                    <a:spcPts val="600"/>
                  </a:spcAft>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阳极电位高于阴极电位，</a:t>
                </a:r>
                <a14:m>
                  <m:oMath xmlns:m="http://schemas.openxmlformats.org/officeDocument/2006/math">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𝐷</m:t>
                    </m:r>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接入时正向导通，压降为 </a:t>
                </a:r>
                <a14:m>
                  <m:oMath xmlns:m="http://schemas.openxmlformats.org/officeDocument/2006/math">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0</m:t>
                    </m:r>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a:lnSpc>
                    <a:spcPct val="120000"/>
                  </a:lnSpc>
                  <a:spcAft>
                    <a:spcPts val="600"/>
                  </a:spcAft>
                </a:pP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a:lnSpc>
                    <a:spcPct val="120000"/>
                  </a:lnSpc>
                  <a:spcAft>
                    <a:spcPts val="600"/>
                  </a:spcAft>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所以，</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O</m:t>
                        </m:r>
                      </m:sub>
                    </m:s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=−6 </m:t>
                    </m:r>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V</m:t>
                    </m:r>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76" name="文本框 75">
                <a:extLst>
                  <a:ext uri="{FF2B5EF4-FFF2-40B4-BE49-F238E27FC236}">
                    <a16:creationId xmlns:a16="http://schemas.microsoft.com/office/drawing/2014/main" id="{0AA7C8DC-C0A3-0E73-DEEC-E8DA71DA58D4}"/>
                  </a:ext>
                </a:extLst>
              </p:cNvPr>
              <p:cNvSpPr txBox="1">
                <a:spLocks noRot="1" noChangeAspect="1" noMove="1" noResize="1" noEditPoints="1" noAdjustHandles="1" noChangeArrowheads="1" noChangeShapeType="1" noTextEdit="1"/>
              </p:cNvSpPr>
              <p:nvPr/>
            </p:nvSpPr>
            <p:spPr>
              <a:xfrm>
                <a:off x="360000" y="2520000"/>
                <a:ext cx="8511983" cy="3618811"/>
              </a:xfrm>
              <a:prstGeom prst="rect">
                <a:avLst/>
              </a:prstGeom>
              <a:blipFill>
                <a:blip r:embed="rId4"/>
                <a:stretch>
                  <a:fillRect l="-1074" t="-337" b="-2862"/>
                </a:stretch>
              </a:blipFill>
            </p:spPr>
            <p:txBody>
              <a:bodyPr/>
              <a:lstStyle/>
              <a:p>
                <a:r>
                  <a:rPr lang="zh-CN" altLang="en-US">
                    <a:noFill/>
                  </a:rPr>
                  <a:t> </a:t>
                </a:r>
              </a:p>
            </p:txBody>
          </p:sp>
        </mc:Fallback>
      </mc:AlternateContent>
      <p:grpSp>
        <p:nvGrpSpPr>
          <p:cNvPr id="9" name="组合 8">
            <a:extLst>
              <a:ext uri="{FF2B5EF4-FFF2-40B4-BE49-F238E27FC236}">
                <a16:creationId xmlns:a16="http://schemas.microsoft.com/office/drawing/2014/main" id="{ABF458F3-CDAA-3BED-949B-C2C39A4395B1}"/>
              </a:ext>
            </a:extLst>
          </p:cNvPr>
          <p:cNvGrpSpPr/>
          <p:nvPr/>
        </p:nvGrpSpPr>
        <p:grpSpPr>
          <a:xfrm>
            <a:off x="11449269" y="6198682"/>
            <a:ext cx="786273" cy="548639"/>
            <a:chOff x="11454918" y="5839511"/>
            <a:chExt cx="786273" cy="548639"/>
          </a:xfrm>
        </p:grpSpPr>
        <p:grpSp>
          <p:nvGrpSpPr>
            <p:cNvPr id="10" name="组合 9">
              <a:extLst>
                <a:ext uri="{FF2B5EF4-FFF2-40B4-BE49-F238E27FC236}">
                  <a16:creationId xmlns:a16="http://schemas.microsoft.com/office/drawing/2014/main" id="{B0404224-621B-343C-C47B-40C5338B2F86}"/>
                </a:ext>
              </a:extLst>
            </p:cNvPr>
            <p:cNvGrpSpPr/>
            <p:nvPr/>
          </p:nvGrpSpPr>
          <p:grpSpPr>
            <a:xfrm>
              <a:off x="11454918" y="5867450"/>
              <a:ext cx="737081" cy="520700"/>
              <a:chOff x="11454918" y="5867450"/>
              <a:chExt cx="737081" cy="520700"/>
            </a:xfrm>
          </p:grpSpPr>
          <p:sp>
            <p:nvSpPr>
              <p:cNvPr id="13" name="箭头: 五边形 12">
                <a:extLst>
                  <a:ext uri="{FF2B5EF4-FFF2-40B4-BE49-F238E27FC236}">
                    <a16:creationId xmlns:a16="http://schemas.microsoft.com/office/drawing/2014/main" id="{3E9C39B7-50A4-C88B-1FAE-8326E321AF22}"/>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箭头: V 形 15">
                <a:extLst>
                  <a:ext uri="{FF2B5EF4-FFF2-40B4-BE49-F238E27FC236}">
                    <a16:creationId xmlns:a16="http://schemas.microsoft.com/office/drawing/2014/main" id="{FC623FAA-9272-DB10-2A0E-EF1F04A32D21}"/>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1" name="灯片编号占位符 3">
              <a:extLst>
                <a:ext uri="{FF2B5EF4-FFF2-40B4-BE49-F238E27FC236}">
                  <a16:creationId xmlns:a16="http://schemas.microsoft.com/office/drawing/2014/main" id="{08549B85-422E-9AE6-0554-B6EAF8B40B11}"/>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18</a:t>
              </a:fld>
              <a:endParaRPr lang="zh-CN" altLang="en-US" sz="3200" dirty="0">
                <a:solidFill>
                  <a:schemeClr val="bg1"/>
                </a:solidFill>
                <a:latin typeface="Candara"/>
                <a:ea typeface="微软雅黑"/>
              </a:endParaRPr>
            </a:p>
          </p:txBody>
        </p:sp>
      </p:grpSp>
      <p:sp>
        <p:nvSpPr>
          <p:cNvPr id="4" name="标题 1">
            <a:extLst>
              <a:ext uri="{FF2B5EF4-FFF2-40B4-BE49-F238E27FC236}">
                <a16:creationId xmlns:a16="http://schemas.microsoft.com/office/drawing/2014/main" id="{BADF1ACB-7ECB-2DB0-4755-B0C1C8DC1E7D}"/>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二极管及其应用 </a:t>
            </a:r>
            <a:r>
              <a:rPr lang="en-US" altLang="zh-CN" sz="3000" dirty="0"/>
              <a:t>—— </a:t>
            </a:r>
            <a:r>
              <a:rPr lang="zh-CN" altLang="en-US" sz="3000" dirty="0">
                <a:solidFill>
                  <a:srgbClr val="FFFF00"/>
                </a:solidFill>
              </a:rPr>
              <a:t>计算示例</a:t>
            </a:r>
            <a:endParaRPr lang="en-US" altLang="zh-CN" sz="3000" dirty="0"/>
          </a:p>
        </p:txBody>
      </p:sp>
      <p:grpSp>
        <p:nvGrpSpPr>
          <p:cNvPr id="17" name="组合 16">
            <a:extLst>
              <a:ext uri="{FF2B5EF4-FFF2-40B4-BE49-F238E27FC236}">
                <a16:creationId xmlns:a16="http://schemas.microsoft.com/office/drawing/2014/main" id="{521D3C4F-1650-8BA5-C77C-CF0E9964BD63}"/>
              </a:ext>
            </a:extLst>
          </p:cNvPr>
          <p:cNvGrpSpPr/>
          <p:nvPr/>
        </p:nvGrpSpPr>
        <p:grpSpPr>
          <a:xfrm>
            <a:off x="9000000" y="1548000"/>
            <a:ext cx="2736000" cy="2037116"/>
            <a:chOff x="9000000" y="882000"/>
            <a:chExt cx="2736000" cy="2037116"/>
          </a:xfrm>
        </p:grpSpPr>
        <p:sp>
          <p:nvSpPr>
            <p:cNvPr id="12" name="等腰三角形 11">
              <a:extLst>
                <a:ext uri="{FF2B5EF4-FFF2-40B4-BE49-F238E27FC236}">
                  <a16:creationId xmlns:a16="http://schemas.microsoft.com/office/drawing/2014/main" id="{C8165AF5-65ED-04DA-138D-36033365A705}"/>
                </a:ext>
              </a:extLst>
            </p:cNvPr>
            <p:cNvSpPr/>
            <p:nvPr/>
          </p:nvSpPr>
          <p:spPr>
            <a:xfrm rot="5400000">
              <a:off x="9792000" y="972000"/>
              <a:ext cx="432000" cy="288000"/>
            </a:xfrm>
            <a:prstGeom prst="triangl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cxnSp>
          <p:nvCxnSpPr>
            <p:cNvPr id="14" name="直接连接符 13">
              <a:extLst>
                <a:ext uri="{FF2B5EF4-FFF2-40B4-BE49-F238E27FC236}">
                  <a16:creationId xmlns:a16="http://schemas.microsoft.com/office/drawing/2014/main" id="{BAAAD47E-979E-C508-7B31-A0E8E23D2661}"/>
                </a:ext>
              </a:extLst>
            </p:cNvPr>
            <p:cNvCxnSpPr>
              <a:cxnSpLocks/>
            </p:cNvCxnSpPr>
            <p:nvPr/>
          </p:nvCxnSpPr>
          <p:spPr>
            <a:xfrm>
              <a:off x="10152000" y="882000"/>
              <a:ext cx="0" cy="46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Rectangle 8">
                  <a:extLst>
                    <a:ext uri="{FF2B5EF4-FFF2-40B4-BE49-F238E27FC236}">
                      <a16:creationId xmlns:a16="http://schemas.microsoft.com/office/drawing/2014/main" id="{27B625E0-52DF-FD4C-A91B-27B5573A38FE}"/>
                    </a:ext>
                  </a:extLst>
                </p:cNvPr>
                <p:cNvSpPr>
                  <a:spLocks noChangeArrowheads="1"/>
                </p:cNvSpPr>
                <p:nvPr/>
              </p:nvSpPr>
              <p:spPr bwMode="auto">
                <a:xfrm>
                  <a:off x="11374524" y="1044000"/>
                  <a:ext cx="360000" cy="36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0"/>
                    </a:spcAft>
                    <a:buNone/>
                  </a:pPr>
                  <a14:m>
                    <m:oMathPara xmlns:m="http://schemas.openxmlformats.org/officeDocument/2006/math">
                      <m:oMathParaPr>
                        <m:jc m:val="center"/>
                      </m:oMathParaPr>
                      <m:oMath xmlns:m="http://schemas.openxmlformats.org/officeDocument/2006/math">
                        <m:r>
                          <a:rPr kumimoji="1" lang="pt-BR" altLang="zh-CN" sz="2000" b="0" i="1" smtClean="0">
                            <a:latin typeface="Cambria Math" panose="02040503050406030204" pitchFamily="18" charset="0"/>
                            <a:ea typeface="微软雅黑" panose="020B0503020204020204" pitchFamily="34" charset="-122"/>
                          </a:rPr>
                          <m:t>+</m:t>
                        </m:r>
                      </m:oMath>
                    </m:oMathPara>
                  </a14:m>
                  <a:endParaRPr kumimoji="1" lang="en-US" altLang="zh-CN" sz="2000" b="0" dirty="0">
                    <a:latin typeface="微软雅黑" panose="020B0503020204020204" pitchFamily="34" charset="-122"/>
                    <a:ea typeface="微软雅黑" panose="020B0503020204020204" pitchFamily="34" charset="-122"/>
                  </a:endParaRPr>
                </a:p>
              </p:txBody>
            </p:sp>
          </mc:Choice>
          <mc:Fallback xmlns="">
            <p:sp>
              <p:nvSpPr>
                <p:cNvPr id="15" name="Rectangle 8">
                  <a:extLst>
                    <a:ext uri="{FF2B5EF4-FFF2-40B4-BE49-F238E27FC236}">
                      <a16:creationId xmlns:a16="http://schemas.microsoft.com/office/drawing/2014/main" id="{27B625E0-52DF-FD4C-A91B-27B5573A38FE}"/>
                    </a:ext>
                  </a:extLst>
                </p:cNvPr>
                <p:cNvSpPr>
                  <a:spLocks noRot="1" noChangeAspect="1" noMove="1" noResize="1" noEditPoints="1" noAdjustHandles="1" noChangeArrowheads="1" noChangeShapeType="1" noTextEdit="1"/>
                </p:cNvSpPr>
                <p:nvPr/>
              </p:nvSpPr>
              <p:spPr bwMode="auto">
                <a:xfrm>
                  <a:off x="11374524" y="1044000"/>
                  <a:ext cx="360000" cy="360000"/>
                </a:xfrm>
                <a:prstGeom prst="rect">
                  <a:avLst/>
                </a:prstGeom>
                <a:blipFill>
                  <a:blip r:embed="rId5"/>
                  <a:stretch>
                    <a:fillRect l="-10169" b="-508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26" name="直接连接符 25">
              <a:extLst>
                <a:ext uri="{FF2B5EF4-FFF2-40B4-BE49-F238E27FC236}">
                  <a16:creationId xmlns:a16="http://schemas.microsoft.com/office/drawing/2014/main" id="{BE028B0E-6F83-0090-0950-3A6644972899}"/>
                </a:ext>
              </a:extLst>
            </p:cNvPr>
            <p:cNvCxnSpPr>
              <a:cxnSpLocks/>
            </p:cNvCxnSpPr>
            <p:nvPr/>
          </p:nvCxnSpPr>
          <p:spPr>
            <a:xfrm flipH="1">
              <a:off x="9216000" y="1116000"/>
              <a:ext cx="208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F5FAAA24-8DE9-3345-1A34-9739AA0AEA7A}"/>
                </a:ext>
              </a:extLst>
            </p:cNvPr>
            <p:cNvCxnSpPr>
              <a:cxnSpLocks/>
            </p:cNvCxnSpPr>
            <p:nvPr/>
          </p:nvCxnSpPr>
          <p:spPr>
            <a:xfrm>
              <a:off x="10800000" y="1130700"/>
              <a:ext cx="0" cy="99795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B282F7C0-04A2-3B4C-A3E3-EFB389FA9E53}"/>
                </a:ext>
              </a:extLst>
            </p:cNvPr>
            <p:cNvCxnSpPr>
              <a:cxnSpLocks/>
            </p:cNvCxnSpPr>
            <p:nvPr/>
          </p:nvCxnSpPr>
          <p:spPr>
            <a:xfrm flipH="1">
              <a:off x="9000000" y="1872000"/>
              <a:ext cx="43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20A47B77-E1BD-1912-4E73-03F93B5EF57B}"/>
                </a:ext>
              </a:extLst>
            </p:cNvPr>
            <p:cNvCxnSpPr>
              <a:cxnSpLocks/>
            </p:cNvCxnSpPr>
            <p:nvPr/>
          </p:nvCxnSpPr>
          <p:spPr>
            <a:xfrm flipH="1">
              <a:off x="9108000" y="1764000"/>
              <a:ext cx="216000"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193BDDCC-993D-565B-462B-40504C746130}"/>
                </a:ext>
              </a:extLst>
            </p:cNvPr>
            <p:cNvSpPr/>
            <p:nvPr/>
          </p:nvSpPr>
          <p:spPr>
            <a:xfrm>
              <a:off x="10728000" y="1386000"/>
              <a:ext cx="144000" cy="504000"/>
            </a:xfrm>
            <a:prstGeom prst="rect">
              <a:avLst/>
            </a:prstGeom>
            <a:solidFill>
              <a:schemeClr val="bg1">
                <a:alpha val="99000"/>
              </a:schemeClr>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38" name="直接连接符 37">
              <a:extLst>
                <a:ext uri="{FF2B5EF4-FFF2-40B4-BE49-F238E27FC236}">
                  <a16:creationId xmlns:a16="http://schemas.microsoft.com/office/drawing/2014/main" id="{42658A60-4E9A-D75D-C25E-D8979415AC5A}"/>
                </a:ext>
              </a:extLst>
            </p:cNvPr>
            <p:cNvCxnSpPr>
              <a:cxnSpLocks/>
            </p:cNvCxnSpPr>
            <p:nvPr/>
          </p:nvCxnSpPr>
          <p:spPr>
            <a:xfrm>
              <a:off x="9216000" y="1116000"/>
              <a:ext cx="0" cy="64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Rectangle 8">
                  <a:extLst>
                    <a:ext uri="{FF2B5EF4-FFF2-40B4-BE49-F238E27FC236}">
                      <a16:creationId xmlns:a16="http://schemas.microsoft.com/office/drawing/2014/main" id="{E0D12737-8C2C-14B2-D51F-C6FD54B866E4}"/>
                    </a:ext>
                  </a:extLst>
                </p:cNvPr>
                <p:cNvSpPr>
                  <a:spLocks noChangeArrowheads="1"/>
                </p:cNvSpPr>
                <p:nvPr/>
              </p:nvSpPr>
              <p:spPr bwMode="auto">
                <a:xfrm>
                  <a:off x="9468000" y="1620000"/>
                  <a:ext cx="432000" cy="36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6 </m:t>
                        </m:r>
                        <m:r>
                          <m:rPr>
                            <m:sty m:val="p"/>
                          </m:rPr>
                          <a:rPr kumimoji="1" lang="en-US" altLang="zh-CN" sz="2000" b="0" i="0" smtClean="0">
                            <a:latin typeface="Cambria Math" panose="02040503050406030204" pitchFamily="18" charset="0"/>
                            <a:ea typeface="微软雅黑" panose="020B0503020204020204" pitchFamily="34" charset="-122"/>
                          </a:rPr>
                          <m:t>V</m:t>
                        </m:r>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47" name="Rectangle 8">
                  <a:extLst>
                    <a:ext uri="{FF2B5EF4-FFF2-40B4-BE49-F238E27FC236}">
                      <a16:creationId xmlns:a16="http://schemas.microsoft.com/office/drawing/2014/main" id="{E0D12737-8C2C-14B2-D51F-C6FD54B866E4}"/>
                    </a:ext>
                  </a:extLst>
                </p:cNvPr>
                <p:cNvSpPr>
                  <a:spLocks noRot="1" noChangeAspect="1" noMove="1" noResize="1" noEditPoints="1" noAdjustHandles="1" noChangeArrowheads="1" noChangeShapeType="1" noTextEdit="1"/>
                </p:cNvSpPr>
                <p:nvPr/>
              </p:nvSpPr>
              <p:spPr bwMode="auto">
                <a:xfrm>
                  <a:off x="9468000" y="1620000"/>
                  <a:ext cx="432000" cy="360000"/>
                </a:xfrm>
                <a:prstGeom prst="rect">
                  <a:avLst/>
                </a:prstGeom>
                <a:blipFill>
                  <a:blip r:embed="rId6"/>
                  <a:stretch>
                    <a:fillRect l="-19718" r="-1408" b="-508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25" name="直接连接符 24">
              <a:extLst>
                <a:ext uri="{FF2B5EF4-FFF2-40B4-BE49-F238E27FC236}">
                  <a16:creationId xmlns:a16="http://schemas.microsoft.com/office/drawing/2014/main" id="{0F71B517-7F00-060D-51E2-E597301F6D3E}"/>
                </a:ext>
              </a:extLst>
            </p:cNvPr>
            <p:cNvCxnSpPr>
              <a:cxnSpLocks/>
            </p:cNvCxnSpPr>
            <p:nvPr/>
          </p:nvCxnSpPr>
          <p:spPr>
            <a:xfrm>
              <a:off x="9216000" y="1872000"/>
              <a:ext cx="0" cy="684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68DF58B6-2A7B-CACF-48B8-525DBF8DC048}"/>
                </a:ext>
              </a:extLst>
            </p:cNvPr>
            <p:cNvCxnSpPr>
              <a:cxnSpLocks/>
            </p:cNvCxnSpPr>
            <p:nvPr/>
          </p:nvCxnSpPr>
          <p:spPr>
            <a:xfrm flipH="1">
              <a:off x="10584000" y="2232000"/>
              <a:ext cx="43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8838A011-F2B3-74BC-6631-B535470A3A8A}"/>
                </a:ext>
              </a:extLst>
            </p:cNvPr>
            <p:cNvCxnSpPr>
              <a:cxnSpLocks/>
            </p:cNvCxnSpPr>
            <p:nvPr/>
          </p:nvCxnSpPr>
          <p:spPr>
            <a:xfrm flipH="1">
              <a:off x="10692000" y="2124000"/>
              <a:ext cx="216000"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FD9D4C9B-B567-DCB6-4C91-440728474E13}"/>
                </a:ext>
              </a:extLst>
            </p:cNvPr>
            <p:cNvCxnSpPr>
              <a:cxnSpLocks/>
            </p:cNvCxnSpPr>
            <p:nvPr/>
          </p:nvCxnSpPr>
          <p:spPr>
            <a:xfrm>
              <a:off x="10800000" y="2242876"/>
              <a:ext cx="0" cy="32968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3DF3A95C-06E8-6F04-46B9-CCEE4485A028}"/>
                </a:ext>
              </a:extLst>
            </p:cNvPr>
            <p:cNvCxnSpPr>
              <a:cxnSpLocks/>
            </p:cNvCxnSpPr>
            <p:nvPr/>
          </p:nvCxnSpPr>
          <p:spPr>
            <a:xfrm flipH="1">
              <a:off x="9216000" y="2556000"/>
              <a:ext cx="208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椭圆 39">
              <a:extLst>
                <a:ext uri="{FF2B5EF4-FFF2-40B4-BE49-F238E27FC236}">
                  <a16:creationId xmlns:a16="http://schemas.microsoft.com/office/drawing/2014/main" id="{5AE0FB5D-864C-FB69-8660-89CCDC2E9E56}"/>
                </a:ext>
              </a:extLst>
            </p:cNvPr>
            <p:cNvSpPr/>
            <p:nvPr/>
          </p:nvSpPr>
          <p:spPr>
            <a:xfrm>
              <a:off x="10746000" y="106200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41" name="椭圆 40">
              <a:extLst>
                <a:ext uri="{FF2B5EF4-FFF2-40B4-BE49-F238E27FC236}">
                  <a16:creationId xmlns:a16="http://schemas.microsoft.com/office/drawing/2014/main" id="{D063BDA3-5036-976A-62FB-D924D300FBD5}"/>
                </a:ext>
              </a:extLst>
            </p:cNvPr>
            <p:cNvSpPr/>
            <p:nvPr/>
          </p:nvSpPr>
          <p:spPr>
            <a:xfrm>
              <a:off x="10746000" y="250200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45" name="椭圆 44">
              <a:extLst>
                <a:ext uri="{FF2B5EF4-FFF2-40B4-BE49-F238E27FC236}">
                  <a16:creationId xmlns:a16="http://schemas.microsoft.com/office/drawing/2014/main" id="{802FA33C-510E-9A0D-77FC-F904BDBD6D4F}"/>
                </a:ext>
              </a:extLst>
            </p:cNvPr>
            <p:cNvSpPr/>
            <p:nvPr/>
          </p:nvSpPr>
          <p:spPr>
            <a:xfrm>
              <a:off x="11232000" y="1051200"/>
              <a:ext cx="130981" cy="130981"/>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61" name="椭圆 60">
              <a:extLst>
                <a:ext uri="{FF2B5EF4-FFF2-40B4-BE49-F238E27FC236}">
                  <a16:creationId xmlns:a16="http://schemas.microsoft.com/office/drawing/2014/main" id="{A49E4FC6-3719-5BC3-0E79-58E694B112D7}"/>
                </a:ext>
              </a:extLst>
            </p:cNvPr>
            <p:cNvSpPr/>
            <p:nvPr/>
          </p:nvSpPr>
          <p:spPr>
            <a:xfrm>
              <a:off x="11232000" y="2491200"/>
              <a:ext cx="130981" cy="130981"/>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64" name="Rectangle 8">
                  <a:extLst>
                    <a:ext uri="{FF2B5EF4-FFF2-40B4-BE49-F238E27FC236}">
                      <a16:creationId xmlns:a16="http://schemas.microsoft.com/office/drawing/2014/main" id="{8B04A81B-5893-898C-2C80-27B3063ACFC2}"/>
                    </a:ext>
                  </a:extLst>
                </p:cNvPr>
                <p:cNvSpPr>
                  <a:spLocks noChangeArrowheads="1"/>
                </p:cNvSpPr>
                <p:nvPr/>
              </p:nvSpPr>
              <p:spPr bwMode="auto">
                <a:xfrm>
                  <a:off x="10044000" y="1980000"/>
                  <a:ext cx="576000" cy="36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12 </m:t>
                        </m:r>
                        <m:r>
                          <m:rPr>
                            <m:sty m:val="p"/>
                          </m:rPr>
                          <a:rPr kumimoji="1" lang="en-US" altLang="zh-CN" sz="2000" b="0" i="0" smtClean="0">
                            <a:latin typeface="Cambria Math" panose="02040503050406030204" pitchFamily="18" charset="0"/>
                            <a:ea typeface="微软雅黑" panose="020B0503020204020204" pitchFamily="34" charset="-122"/>
                          </a:rPr>
                          <m:t>V</m:t>
                        </m:r>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64" name="Rectangle 8">
                  <a:extLst>
                    <a:ext uri="{FF2B5EF4-FFF2-40B4-BE49-F238E27FC236}">
                      <a16:creationId xmlns:a16="http://schemas.microsoft.com/office/drawing/2014/main" id="{8B04A81B-5893-898C-2C80-27B3063ACFC2}"/>
                    </a:ext>
                  </a:extLst>
                </p:cNvPr>
                <p:cNvSpPr>
                  <a:spLocks noRot="1" noChangeAspect="1" noMove="1" noResize="1" noEditPoints="1" noAdjustHandles="1" noChangeArrowheads="1" noChangeShapeType="1" noTextEdit="1"/>
                </p:cNvSpPr>
                <p:nvPr/>
              </p:nvSpPr>
              <p:spPr bwMode="auto">
                <a:xfrm>
                  <a:off x="10044000" y="1980000"/>
                  <a:ext cx="576000" cy="360000"/>
                </a:xfrm>
                <a:prstGeom prst="rect">
                  <a:avLst/>
                </a:prstGeom>
                <a:blipFill>
                  <a:blip r:embed="rId7"/>
                  <a:stretch>
                    <a:fillRect l="-14894" r="-1064" b="-508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Rectangle 8">
                  <a:extLst>
                    <a:ext uri="{FF2B5EF4-FFF2-40B4-BE49-F238E27FC236}">
                      <a16:creationId xmlns:a16="http://schemas.microsoft.com/office/drawing/2014/main" id="{6E461473-7680-1C7E-69D9-E1105F9F4F02}"/>
                    </a:ext>
                  </a:extLst>
                </p:cNvPr>
                <p:cNvSpPr>
                  <a:spLocks noChangeArrowheads="1"/>
                </p:cNvSpPr>
                <p:nvPr/>
              </p:nvSpPr>
              <p:spPr bwMode="auto">
                <a:xfrm>
                  <a:off x="10440000" y="1422000"/>
                  <a:ext cx="358524" cy="36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𝑅</m:t>
                        </m:r>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65" name="Rectangle 8">
                  <a:extLst>
                    <a:ext uri="{FF2B5EF4-FFF2-40B4-BE49-F238E27FC236}">
                      <a16:creationId xmlns:a16="http://schemas.microsoft.com/office/drawing/2014/main" id="{6E461473-7680-1C7E-69D9-E1105F9F4F02}"/>
                    </a:ext>
                  </a:extLst>
                </p:cNvPr>
                <p:cNvSpPr>
                  <a:spLocks noRot="1" noChangeAspect="1" noMove="1" noResize="1" noEditPoints="1" noAdjustHandles="1" noChangeArrowheads="1" noChangeShapeType="1" noTextEdit="1"/>
                </p:cNvSpPr>
                <p:nvPr/>
              </p:nvSpPr>
              <p:spPr bwMode="auto">
                <a:xfrm>
                  <a:off x="10440000" y="1422000"/>
                  <a:ext cx="358524" cy="360000"/>
                </a:xfrm>
                <a:prstGeom prst="rect">
                  <a:avLst/>
                </a:prstGeom>
                <a:blipFill>
                  <a:blip r:embed="rId8"/>
                  <a:stretch>
                    <a:fillRect l="-10345" b="-508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Rectangle 8">
                  <a:extLst>
                    <a:ext uri="{FF2B5EF4-FFF2-40B4-BE49-F238E27FC236}">
                      <a16:creationId xmlns:a16="http://schemas.microsoft.com/office/drawing/2014/main" id="{2845BD66-D9EC-0BAA-2BB3-4EE72E219A03}"/>
                    </a:ext>
                  </a:extLst>
                </p:cNvPr>
                <p:cNvSpPr>
                  <a:spLocks noChangeArrowheads="1"/>
                </p:cNvSpPr>
                <p:nvPr/>
              </p:nvSpPr>
              <p:spPr bwMode="auto">
                <a:xfrm>
                  <a:off x="10655769" y="2559116"/>
                  <a:ext cx="358524" cy="36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𝑂</m:t>
                        </m:r>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69" name="Rectangle 8">
                  <a:extLst>
                    <a:ext uri="{FF2B5EF4-FFF2-40B4-BE49-F238E27FC236}">
                      <a16:creationId xmlns:a16="http://schemas.microsoft.com/office/drawing/2014/main" id="{2845BD66-D9EC-0BAA-2BB3-4EE72E219A03}"/>
                    </a:ext>
                  </a:extLst>
                </p:cNvPr>
                <p:cNvSpPr>
                  <a:spLocks noRot="1" noChangeAspect="1" noMove="1" noResize="1" noEditPoints="1" noAdjustHandles="1" noChangeArrowheads="1" noChangeShapeType="1" noTextEdit="1"/>
                </p:cNvSpPr>
                <p:nvPr/>
              </p:nvSpPr>
              <p:spPr bwMode="auto">
                <a:xfrm>
                  <a:off x="10655769" y="2559116"/>
                  <a:ext cx="358524" cy="360000"/>
                </a:xfrm>
                <a:prstGeom prst="rect">
                  <a:avLst/>
                </a:prstGeom>
                <a:blipFill>
                  <a:blip r:embed="rId9"/>
                  <a:stretch>
                    <a:fillRect l="-10169" b="-508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Rectangle 8">
                  <a:extLst>
                    <a:ext uri="{FF2B5EF4-FFF2-40B4-BE49-F238E27FC236}">
                      <a16:creationId xmlns:a16="http://schemas.microsoft.com/office/drawing/2014/main" id="{B7C913C7-1D05-7CD4-77C1-866CFCA4D746}"/>
                    </a:ext>
                  </a:extLst>
                </p:cNvPr>
                <p:cNvSpPr>
                  <a:spLocks noChangeArrowheads="1"/>
                </p:cNvSpPr>
                <p:nvPr/>
              </p:nvSpPr>
              <p:spPr bwMode="auto">
                <a:xfrm>
                  <a:off x="9828000" y="1242000"/>
                  <a:ext cx="396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𝐷</m:t>
                        </m:r>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73" name="Rectangle 8">
                  <a:extLst>
                    <a:ext uri="{FF2B5EF4-FFF2-40B4-BE49-F238E27FC236}">
                      <a16:creationId xmlns:a16="http://schemas.microsoft.com/office/drawing/2014/main" id="{B7C913C7-1D05-7CD4-77C1-866CFCA4D746}"/>
                    </a:ext>
                  </a:extLst>
                </p:cNvPr>
                <p:cNvSpPr>
                  <a:spLocks noRot="1" noChangeAspect="1" noMove="1" noResize="1" noEditPoints="1" noAdjustHandles="1" noChangeArrowheads="1" noChangeShapeType="1" noTextEdit="1"/>
                </p:cNvSpPr>
                <p:nvPr/>
              </p:nvSpPr>
              <p:spPr bwMode="auto">
                <a:xfrm>
                  <a:off x="9828000" y="1242000"/>
                  <a:ext cx="396000" cy="396000"/>
                </a:xfrm>
                <a:prstGeom prst="rect">
                  <a:avLst/>
                </a:prstGeom>
                <a:blipFill>
                  <a:blip r:embed="rId10"/>
                  <a:stretch>
                    <a:fillRect l="-461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Rectangle 8">
                  <a:extLst>
                    <a:ext uri="{FF2B5EF4-FFF2-40B4-BE49-F238E27FC236}">
                      <a16:creationId xmlns:a16="http://schemas.microsoft.com/office/drawing/2014/main" id="{F389E92E-D2B1-4DD7-2851-1F74D0F3E9F4}"/>
                    </a:ext>
                  </a:extLst>
                </p:cNvPr>
                <p:cNvSpPr>
                  <a:spLocks noChangeArrowheads="1"/>
                </p:cNvSpPr>
                <p:nvPr/>
              </p:nvSpPr>
              <p:spPr bwMode="auto">
                <a:xfrm>
                  <a:off x="11376000" y="2196000"/>
                  <a:ext cx="360000" cy="36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0"/>
                    </a:spcAft>
                    <a:buNone/>
                  </a:pPr>
                  <a14:m>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p>
              </p:txBody>
            </p:sp>
          </mc:Choice>
          <mc:Fallback xmlns="">
            <p:sp>
              <p:nvSpPr>
                <p:cNvPr id="7" name="Rectangle 8">
                  <a:extLst>
                    <a:ext uri="{FF2B5EF4-FFF2-40B4-BE49-F238E27FC236}">
                      <a16:creationId xmlns:a16="http://schemas.microsoft.com/office/drawing/2014/main" id="{F389E92E-D2B1-4DD7-2851-1F74D0F3E9F4}"/>
                    </a:ext>
                  </a:extLst>
                </p:cNvPr>
                <p:cNvSpPr>
                  <a:spLocks noRot="1" noChangeAspect="1" noMove="1" noResize="1" noEditPoints="1" noAdjustHandles="1" noChangeArrowheads="1" noChangeShapeType="1" noTextEdit="1"/>
                </p:cNvSpPr>
                <p:nvPr/>
              </p:nvSpPr>
              <p:spPr bwMode="auto">
                <a:xfrm>
                  <a:off x="11376000" y="2196000"/>
                  <a:ext cx="360000" cy="360000"/>
                </a:xfrm>
                <a:prstGeom prst="rect">
                  <a:avLst/>
                </a:prstGeom>
                <a:blipFill>
                  <a:blip r:embed="rId11"/>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Rectangle 8">
                  <a:extLst>
                    <a:ext uri="{FF2B5EF4-FFF2-40B4-BE49-F238E27FC236}">
                      <a16:creationId xmlns:a16="http://schemas.microsoft.com/office/drawing/2014/main" id="{0DBAD947-7303-2F73-9E3F-64FCD2A0716D}"/>
                    </a:ext>
                  </a:extLst>
                </p:cNvPr>
                <p:cNvSpPr>
                  <a:spLocks noChangeArrowheads="1"/>
                </p:cNvSpPr>
                <p:nvPr/>
              </p:nvSpPr>
              <p:spPr bwMode="auto">
                <a:xfrm>
                  <a:off x="11376000" y="1620000"/>
                  <a:ext cx="360000" cy="36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0"/>
                    </a:spcAft>
                    <a:buNone/>
                  </a:pPr>
                  <a14:m>
                    <m:oMath xmlns:m="http://schemas.openxmlformats.org/officeDocument/2006/math">
                      <m:sSub>
                        <m:sSubPr>
                          <m:ctrlPr>
                            <a:rPr kumimoji="1" lang="en-US" altLang="zh-CN" sz="2000" b="0" i="1">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𝑉</m:t>
                          </m:r>
                        </m:e>
                        <m:sub>
                          <m:r>
                            <m:rPr>
                              <m:sty m:val="p"/>
                            </m:rPr>
                            <a:rPr kumimoji="1" lang="en-US" altLang="zh-CN" sz="2000" b="0" i="0" smtClean="0">
                              <a:latin typeface="Cambria Math" panose="02040503050406030204" pitchFamily="18" charset="0"/>
                              <a:ea typeface="微软雅黑" panose="020B0503020204020204" pitchFamily="34" charset="-122"/>
                            </a:rPr>
                            <m:t>O</m:t>
                          </m:r>
                        </m:sub>
                      </m:sSub>
                    </m:oMath>
                  </a14:m>
                  <a:r>
                    <a:rPr kumimoji="1" lang="zh-CN" altLang="en-US" sz="2000" b="0" dirty="0">
                      <a:latin typeface="微软雅黑" panose="020B0503020204020204" pitchFamily="34" charset="-122"/>
                      <a:ea typeface="微软雅黑" panose="020B0503020204020204" pitchFamily="34" charset="-122"/>
                    </a:rPr>
                    <a:t>    </a:t>
                  </a:r>
                </a:p>
              </p:txBody>
            </p:sp>
          </mc:Choice>
          <mc:Fallback xmlns="">
            <p:sp>
              <p:nvSpPr>
                <p:cNvPr id="8" name="Rectangle 8">
                  <a:extLst>
                    <a:ext uri="{FF2B5EF4-FFF2-40B4-BE49-F238E27FC236}">
                      <a16:creationId xmlns:a16="http://schemas.microsoft.com/office/drawing/2014/main" id="{0DBAD947-7303-2F73-9E3F-64FCD2A0716D}"/>
                    </a:ext>
                  </a:extLst>
                </p:cNvPr>
                <p:cNvSpPr>
                  <a:spLocks noRot="1" noChangeAspect="1" noMove="1" noResize="1" noEditPoints="1" noAdjustHandles="1" noChangeArrowheads="1" noChangeShapeType="1" noTextEdit="1"/>
                </p:cNvSpPr>
                <p:nvPr/>
              </p:nvSpPr>
              <p:spPr bwMode="auto">
                <a:xfrm>
                  <a:off x="11376000" y="1620000"/>
                  <a:ext cx="360000" cy="360000"/>
                </a:xfrm>
                <a:prstGeom prst="rect">
                  <a:avLst/>
                </a:prstGeom>
                <a:blipFill>
                  <a:blip r:embed="rId12"/>
                  <a:stretch>
                    <a:fillRect l="-11864" r="-1695" b="-13559"/>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spTree>
    <p:extLst>
      <p:ext uri="{BB962C8B-B14F-4D97-AF65-F5344CB8AC3E}">
        <p14:creationId xmlns:p14="http://schemas.microsoft.com/office/powerpoint/2010/main" val="7830854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78A62-6CDB-607A-02D2-377212A3BA3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6B4282A4-3742-A028-EB07-3267BC7B0D47}"/>
                  </a:ext>
                </a:extLst>
              </p:cNvPr>
              <p:cNvSpPr txBox="1"/>
              <p:nvPr/>
            </p:nvSpPr>
            <p:spPr>
              <a:xfrm>
                <a:off x="360000" y="828000"/>
                <a:ext cx="6469861" cy="1159613"/>
              </a:xfrm>
              <a:prstGeom prst="rect">
                <a:avLst/>
              </a:prstGeom>
              <a:noFill/>
            </p:spPr>
            <p:txBody>
              <a:bodyPr wrap="square">
                <a:spAutoFit/>
              </a:bodyPr>
              <a:lstStyle/>
              <a:p>
                <a:pPr>
                  <a:lnSpc>
                    <a:spcPct val="120000"/>
                  </a:lnSpc>
                  <a:spcAft>
                    <a:spcPts val="600"/>
                  </a:spcAft>
                </a:pPr>
                <a:r>
                  <a:rPr kumimoji="1" lang="zh-CN" altLang="en-US" sz="2800" dirty="0">
                    <a:solidFill>
                      <a:srgbClr val="002060"/>
                    </a:solidFill>
                    <a:latin typeface="微软雅黑" panose="020B0503020204020204" pitchFamily="34" charset="-122"/>
                    <a:ea typeface="微软雅黑" panose="020B0503020204020204" pitchFamily="34" charset="-122"/>
                  </a:rPr>
                  <a:t>示例三：</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lvl="1">
                  <a:lnSpc>
                    <a:spcPct val="120000"/>
                  </a:lnSpc>
                  <a:spcAft>
                    <a:spcPts val="600"/>
                  </a:spcAft>
                </a:pPr>
                <a:r>
                  <a:rPr kumimoji="1" lang="zh-CN" altLang="en-US" sz="2800" dirty="0">
                    <a:solidFill>
                      <a:srgbClr val="002060"/>
                    </a:solidFill>
                    <a:latin typeface="微软雅黑" panose="020B0503020204020204" pitchFamily="34" charset="-122"/>
                    <a:ea typeface="微软雅黑" panose="020B0503020204020204" pitchFamily="34" charset="-122"/>
                  </a:rPr>
                  <a:t>右图中的二极管为理想型，求 </a:t>
                </a:r>
                <a14:m>
                  <m:oMath xmlns:m="http://schemas.openxmlformats.org/officeDocument/2006/math">
                    <m:sSub>
                      <m:sSubPr>
                        <m:ctrlPr>
                          <a:rPr kumimoji="1" lang="en-US" altLang="zh-CN" sz="2800" i="1">
                            <a:solidFill>
                              <a:srgbClr val="002060"/>
                            </a:solidFill>
                            <a:latin typeface="Cambria Math" panose="02040503050406030204" pitchFamily="18" charset="0"/>
                            <a:ea typeface="微软雅黑" panose="020B0503020204020204" pitchFamily="34" charset="-122"/>
                          </a:rPr>
                        </m:ctrlPr>
                      </m:sSubPr>
                      <m:e>
                        <m:r>
                          <a:rPr kumimoji="1" lang="en-US" altLang="zh-CN" sz="2800" b="0" i="1" smtClean="0">
                            <a:solidFill>
                              <a:srgbClr val="002060"/>
                            </a:solidFill>
                            <a:latin typeface="Cambria Math" panose="02040503050406030204" pitchFamily="18" charset="0"/>
                            <a:ea typeface="微软雅黑" panose="020B0503020204020204" pitchFamily="34" charset="-122"/>
                          </a:rPr>
                          <m:t>𝑉</m:t>
                        </m:r>
                      </m:e>
                      <m:sub>
                        <m:r>
                          <m:rPr>
                            <m:sty m:val="p"/>
                          </m:rPr>
                          <a:rPr kumimoji="1" lang="en-US" altLang="zh-CN" sz="2800" b="0" i="0" smtClean="0">
                            <a:solidFill>
                              <a:srgbClr val="002060"/>
                            </a:solidFill>
                            <a:latin typeface="Cambria Math" panose="02040503050406030204" pitchFamily="18" charset="0"/>
                            <a:ea typeface="微软雅黑" panose="020B0503020204020204" pitchFamily="34" charset="-122"/>
                          </a:rPr>
                          <m:t>O</m:t>
                        </m:r>
                      </m:sub>
                    </m:sSub>
                  </m:oMath>
                </a14:m>
                <a:endParaRPr kumimoji="1" lang="en-US" altLang="zh-CN" sz="2800" dirty="0">
                  <a:solidFill>
                    <a:srgbClr val="002060"/>
                  </a:solidFill>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6B4282A4-3742-A028-EB07-3267BC7B0D47}"/>
                  </a:ext>
                </a:extLst>
              </p:cNvPr>
              <p:cNvSpPr txBox="1">
                <a:spLocks noRot="1" noChangeAspect="1" noMove="1" noResize="1" noEditPoints="1" noAdjustHandles="1" noChangeArrowheads="1" noChangeShapeType="1" noTextEdit="1"/>
              </p:cNvSpPr>
              <p:nvPr/>
            </p:nvSpPr>
            <p:spPr>
              <a:xfrm>
                <a:off x="360000" y="828000"/>
                <a:ext cx="6469861" cy="1159613"/>
              </a:xfrm>
              <a:prstGeom prst="rect">
                <a:avLst/>
              </a:prstGeom>
              <a:blipFill>
                <a:blip r:embed="rId3"/>
                <a:stretch>
                  <a:fillRect l="-1885" t="-2105" b="-142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6" name="文本框 75">
                <a:extLst>
                  <a:ext uri="{FF2B5EF4-FFF2-40B4-BE49-F238E27FC236}">
                    <a16:creationId xmlns:a16="http://schemas.microsoft.com/office/drawing/2014/main" id="{EA55220E-67E0-04C0-1CC9-A45A26140D0A}"/>
                  </a:ext>
                </a:extLst>
              </p:cNvPr>
              <p:cNvSpPr txBox="1"/>
              <p:nvPr/>
            </p:nvSpPr>
            <p:spPr>
              <a:xfrm>
                <a:off x="360000" y="2520000"/>
                <a:ext cx="8511983" cy="3618811"/>
              </a:xfrm>
              <a:prstGeom prst="rect">
                <a:avLst/>
              </a:prstGeom>
              <a:noFill/>
            </p:spPr>
            <p:txBody>
              <a:bodyPr wrap="square">
                <a:spAutoFit/>
              </a:bodyPr>
              <a:lstStyle/>
              <a:p>
                <a:pPr>
                  <a:lnSpc>
                    <a:spcPct val="120000"/>
                  </a:lnSpc>
                  <a:spcAft>
                    <a:spcPts val="600"/>
                  </a:spcAft>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将 </a:t>
                </a:r>
                <a14:m>
                  <m:oMath xmlns:m="http://schemas.openxmlformats.org/officeDocument/2006/math">
                    <m:sSub>
                      <m:sSubPr>
                        <m:ctrlP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𝐷</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1</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和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𝐷</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2</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断开，以 </a:t>
                </a:r>
                <a14:m>
                  <m:oMath xmlns:m="http://schemas.openxmlformats.org/officeDocument/2006/math">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𝑂</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为基准电位（即 </a:t>
                </a:r>
                <a14:m>
                  <m:oMath xmlns:m="http://schemas.openxmlformats.org/officeDocument/2006/math">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𝑂</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点为 </a:t>
                </a:r>
                <a14:m>
                  <m:oMath xmlns:m="http://schemas.openxmlformats.org/officeDocument/2006/math">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0 </m:t>
                    </m:r>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V</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），则</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a:lnSpc>
                    <a:spcPct val="120000"/>
                  </a:lnSpc>
                  <a:spcAft>
                    <a:spcPts val="600"/>
                  </a:spcAft>
                </a:pP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𝐷</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1</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的阳极电位为 </a:t>
                </a:r>
                <a14:m>
                  <m:oMath xmlns:m="http://schemas.openxmlformats.org/officeDocument/2006/math">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0 </m:t>
                    </m:r>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V</m:t>
                    </m:r>
                    <m:r>
                      <a:rPr kumimoji="1" lang="zh-CN" altLang="en-US" sz="2400" i="1">
                        <a:solidFill>
                          <a:schemeClr val="accent5">
                            <a:lumMod val="75000"/>
                          </a:schemeClr>
                        </a:solidFill>
                        <a:latin typeface="Cambria Math" panose="02040503050406030204" pitchFamily="18" charset="0"/>
                        <a:ea typeface="微软雅黑" panose="020B0503020204020204" pitchFamily="34" charset="-122"/>
                      </a:rPr>
                      <m:t>，</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阴极电位为 </a:t>
                </a:r>
                <a14:m>
                  <m:oMath xmlns:m="http://schemas.openxmlformats.org/officeDocument/2006/math">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−12 </m:t>
                    </m:r>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V</m:t>
                    </m:r>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a:lnSpc>
                    <a:spcPct val="120000"/>
                  </a:lnSpc>
                  <a:spcAft>
                    <a:spcPts val="600"/>
                  </a:spcAft>
                </a:pP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𝐷</m:t>
                        </m:r>
                      </m:e>
                      <m:sub>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2</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的阳极电位为 </a:t>
                </a:r>
                <a14:m>
                  <m:oMath xmlns:m="http://schemas.openxmlformats.org/officeDocument/2006/math">
                    <m:r>
                      <a:rPr kumimoji="1" lang="en-US" altLang="zh-CN" sz="2400" b="0" i="0" dirty="0" smtClean="0">
                        <a:solidFill>
                          <a:schemeClr val="accent5">
                            <a:lumMod val="75000"/>
                          </a:schemeClr>
                        </a:solidFill>
                        <a:latin typeface="Cambria Math" panose="02040503050406030204" pitchFamily="18" charset="0"/>
                        <a:ea typeface="微软雅黑" panose="020B0503020204020204" pitchFamily="34" charset="-122"/>
                      </a:rPr>
                      <m:t>−15</m:t>
                    </m:r>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 </m:t>
                    </m:r>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V</m:t>
                    </m:r>
                    <m:r>
                      <a:rPr kumimoji="1" lang="zh-CN" altLang="en-US" sz="2400" i="1">
                        <a:solidFill>
                          <a:schemeClr val="accent5">
                            <a:lumMod val="75000"/>
                          </a:schemeClr>
                        </a:solidFill>
                        <a:latin typeface="Cambria Math" panose="02040503050406030204" pitchFamily="18" charset="0"/>
                        <a:ea typeface="微软雅黑" panose="020B0503020204020204" pitchFamily="34" charset="-122"/>
                      </a:rPr>
                      <m:t>，</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阴极电位为 </a:t>
                </a:r>
                <a14:m>
                  <m:oMath xmlns:m="http://schemas.openxmlformats.org/officeDocument/2006/math">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−12 </m:t>
                    </m:r>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V</m:t>
                    </m:r>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a:lnSpc>
                    <a:spcPct val="120000"/>
                  </a:lnSpc>
                  <a:spcAft>
                    <a:spcPts val="600"/>
                  </a:spcAft>
                </a:pP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𝐷</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1</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和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𝐷</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2</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接入时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𝐷</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1</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导通，</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𝐷</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2</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截止</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a:lnSpc>
                    <a:spcPct val="120000"/>
                  </a:lnSpc>
                  <a:spcAft>
                    <a:spcPts val="600"/>
                  </a:spcAft>
                </a:pP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𝐷</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1</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导通后，节点 </a:t>
                </a:r>
                <a14:m>
                  <m:oMath xmlns:m="http://schemas.openxmlformats.org/officeDocument/2006/math">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𝐴</m:t>
                    </m:r>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的电位为 </a:t>
                </a:r>
                <a14:m>
                  <m:oMath xmlns:m="http://schemas.openxmlformats.org/officeDocument/2006/math">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0 </m:t>
                    </m:r>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V</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，仍高于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𝐷</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2</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阳极的 </a:t>
                </a:r>
                <a14:m>
                  <m:oMath xmlns:m="http://schemas.openxmlformats.org/officeDocument/2006/math">
                    <m:r>
                      <a:rPr kumimoji="1" lang="en-US" altLang="zh-CN" sz="2400" dirty="0">
                        <a:solidFill>
                          <a:schemeClr val="accent5">
                            <a:lumMod val="75000"/>
                          </a:schemeClr>
                        </a:solidFill>
                        <a:latin typeface="Cambria Math" panose="02040503050406030204" pitchFamily="18" charset="0"/>
                        <a:ea typeface="微软雅黑" panose="020B0503020204020204" pitchFamily="34" charset="-122"/>
                      </a:rPr>
                      <m:t>−15</m:t>
                    </m:r>
                    <m:r>
                      <a:rPr kumimoji="1" lang="en-US" altLang="zh-CN" sz="2400" i="1" dirty="0">
                        <a:solidFill>
                          <a:schemeClr val="accent5">
                            <a:lumMod val="75000"/>
                          </a:schemeClr>
                        </a:solidFill>
                        <a:latin typeface="Cambria Math" panose="02040503050406030204" pitchFamily="18" charset="0"/>
                        <a:ea typeface="微软雅黑" panose="020B0503020204020204" pitchFamily="34" charset="-122"/>
                      </a:rPr>
                      <m:t> </m:t>
                    </m:r>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V</m:t>
                    </m:r>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a:lnSpc>
                    <a:spcPct val="120000"/>
                  </a:lnSpc>
                  <a:spcAft>
                    <a:spcPts val="600"/>
                  </a:spcAft>
                </a:pP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𝐷</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2</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仍然截止</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a:lnSpc>
                    <a:spcPct val="120000"/>
                  </a:lnSpc>
                  <a:spcAft>
                    <a:spcPts val="600"/>
                  </a:spcAft>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所以，</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O</m:t>
                        </m:r>
                      </m:sub>
                    </m:s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=0 </m:t>
                    </m:r>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V</m:t>
                    </m:r>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76" name="文本框 75">
                <a:extLst>
                  <a:ext uri="{FF2B5EF4-FFF2-40B4-BE49-F238E27FC236}">
                    <a16:creationId xmlns:a16="http://schemas.microsoft.com/office/drawing/2014/main" id="{EA55220E-67E0-04C0-1CC9-A45A26140D0A}"/>
                  </a:ext>
                </a:extLst>
              </p:cNvPr>
              <p:cNvSpPr txBox="1">
                <a:spLocks noRot="1" noChangeAspect="1" noMove="1" noResize="1" noEditPoints="1" noAdjustHandles="1" noChangeArrowheads="1" noChangeShapeType="1" noTextEdit="1"/>
              </p:cNvSpPr>
              <p:nvPr/>
            </p:nvSpPr>
            <p:spPr>
              <a:xfrm>
                <a:off x="360000" y="2520000"/>
                <a:ext cx="8511983" cy="3618811"/>
              </a:xfrm>
              <a:prstGeom prst="rect">
                <a:avLst/>
              </a:prstGeom>
              <a:blipFill>
                <a:blip r:embed="rId4"/>
                <a:stretch>
                  <a:fillRect l="-1074" t="-337" b="-2862"/>
                </a:stretch>
              </a:blipFill>
            </p:spPr>
            <p:txBody>
              <a:bodyPr/>
              <a:lstStyle/>
              <a:p>
                <a:r>
                  <a:rPr lang="zh-CN" altLang="en-US">
                    <a:noFill/>
                  </a:rPr>
                  <a:t> </a:t>
                </a:r>
              </a:p>
            </p:txBody>
          </p:sp>
        </mc:Fallback>
      </mc:AlternateContent>
      <p:grpSp>
        <p:nvGrpSpPr>
          <p:cNvPr id="9" name="组合 8">
            <a:extLst>
              <a:ext uri="{FF2B5EF4-FFF2-40B4-BE49-F238E27FC236}">
                <a16:creationId xmlns:a16="http://schemas.microsoft.com/office/drawing/2014/main" id="{304A6FE3-B97B-65DD-5829-7D8EAB32373B}"/>
              </a:ext>
            </a:extLst>
          </p:cNvPr>
          <p:cNvGrpSpPr/>
          <p:nvPr/>
        </p:nvGrpSpPr>
        <p:grpSpPr>
          <a:xfrm>
            <a:off x="11449269" y="6198682"/>
            <a:ext cx="786273" cy="548639"/>
            <a:chOff x="11454918" y="5839511"/>
            <a:chExt cx="786273" cy="548639"/>
          </a:xfrm>
        </p:grpSpPr>
        <p:grpSp>
          <p:nvGrpSpPr>
            <p:cNvPr id="10" name="组合 9">
              <a:extLst>
                <a:ext uri="{FF2B5EF4-FFF2-40B4-BE49-F238E27FC236}">
                  <a16:creationId xmlns:a16="http://schemas.microsoft.com/office/drawing/2014/main" id="{1A122E96-14EA-F445-3613-7329BD3E4188}"/>
                </a:ext>
              </a:extLst>
            </p:cNvPr>
            <p:cNvGrpSpPr/>
            <p:nvPr/>
          </p:nvGrpSpPr>
          <p:grpSpPr>
            <a:xfrm>
              <a:off x="11454918" y="5867450"/>
              <a:ext cx="737081" cy="520700"/>
              <a:chOff x="11454918" y="5867450"/>
              <a:chExt cx="737081" cy="520700"/>
            </a:xfrm>
          </p:grpSpPr>
          <p:sp>
            <p:nvSpPr>
              <p:cNvPr id="13" name="箭头: 五边形 12">
                <a:extLst>
                  <a:ext uri="{FF2B5EF4-FFF2-40B4-BE49-F238E27FC236}">
                    <a16:creationId xmlns:a16="http://schemas.microsoft.com/office/drawing/2014/main" id="{6372096B-14FB-4039-EAE0-644A0154A67F}"/>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箭头: V 形 15">
                <a:extLst>
                  <a:ext uri="{FF2B5EF4-FFF2-40B4-BE49-F238E27FC236}">
                    <a16:creationId xmlns:a16="http://schemas.microsoft.com/office/drawing/2014/main" id="{9F8C02F7-972E-BBF0-9848-A27833100BDB}"/>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1" name="灯片编号占位符 3">
              <a:extLst>
                <a:ext uri="{FF2B5EF4-FFF2-40B4-BE49-F238E27FC236}">
                  <a16:creationId xmlns:a16="http://schemas.microsoft.com/office/drawing/2014/main" id="{EA575034-5B57-630A-315A-C11D03D25046}"/>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19</a:t>
              </a:fld>
              <a:endParaRPr lang="zh-CN" altLang="en-US" sz="3200" dirty="0">
                <a:solidFill>
                  <a:schemeClr val="bg1"/>
                </a:solidFill>
                <a:latin typeface="Candara"/>
                <a:ea typeface="微软雅黑"/>
              </a:endParaRPr>
            </a:p>
          </p:txBody>
        </p:sp>
      </p:grpSp>
      <p:sp>
        <p:nvSpPr>
          <p:cNvPr id="4" name="标题 1">
            <a:extLst>
              <a:ext uri="{FF2B5EF4-FFF2-40B4-BE49-F238E27FC236}">
                <a16:creationId xmlns:a16="http://schemas.microsoft.com/office/drawing/2014/main" id="{B8AC0E88-9A20-7BFA-229D-1B615D9B847C}"/>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二极管及其应用 </a:t>
            </a:r>
            <a:r>
              <a:rPr lang="en-US" altLang="zh-CN" sz="3000" dirty="0"/>
              <a:t>—— </a:t>
            </a:r>
            <a:r>
              <a:rPr lang="zh-CN" altLang="en-US" sz="3000" dirty="0">
                <a:solidFill>
                  <a:srgbClr val="FFFF00"/>
                </a:solidFill>
              </a:rPr>
              <a:t>计算示例</a:t>
            </a:r>
            <a:endParaRPr lang="en-US" altLang="zh-CN" sz="3000" dirty="0"/>
          </a:p>
        </p:txBody>
      </p:sp>
      <p:grpSp>
        <p:nvGrpSpPr>
          <p:cNvPr id="49" name="组合 48">
            <a:extLst>
              <a:ext uri="{FF2B5EF4-FFF2-40B4-BE49-F238E27FC236}">
                <a16:creationId xmlns:a16="http://schemas.microsoft.com/office/drawing/2014/main" id="{42194FE9-B0F1-678E-7F57-44A2253ECB68}"/>
              </a:ext>
            </a:extLst>
          </p:cNvPr>
          <p:cNvGrpSpPr/>
          <p:nvPr/>
        </p:nvGrpSpPr>
        <p:grpSpPr>
          <a:xfrm>
            <a:off x="8856000" y="576000"/>
            <a:ext cx="2880000" cy="3009116"/>
            <a:chOff x="8856000" y="468000"/>
            <a:chExt cx="2880000" cy="3009116"/>
          </a:xfrm>
        </p:grpSpPr>
        <p:sp>
          <p:nvSpPr>
            <p:cNvPr id="5" name="等腰三角形 4">
              <a:extLst>
                <a:ext uri="{FF2B5EF4-FFF2-40B4-BE49-F238E27FC236}">
                  <a16:creationId xmlns:a16="http://schemas.microsoft.com/office/drawing/2014/main" id="{B71FA8F3-FC6D-9B46-1D6E-F2C4D37A5D82}"/>
                </a:ext>
              </a:extLst>
            </p:cNvPr>
            <p:cNvSpPr/>
            <p:nvPr/>
          </p:nvSpPr>
          <p:spPr>
            <a:xfrm rot="5400000">
              <a:off x="9792000" y="1530000"/>
              <a:ext cx="432000" cy="288000"/>
            </a:xfrm>
            <a:prstGeom prst="triangl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cxnSp>
          <p:nvCxnSpPr>
            <p:cNvPr id="6" name="直接连接符 5">
              <a:extLst>
                <a:ext uri="{FF2B5EF4-FFF2-40B4-BE49-F238E27FC236}">
                  <a16:creationId xmlns:a16="http://schemas.microsoft.com/office/drawing/2014/main" id="{8C14A55C-EBBD-4435-0DC7-23EA7FDBB7A4}"/>
                </a:ext>
              </a:extLst>
            </p:cNvPr>
            <p:cNvCxnSpPr>
              <a:cxnSpLocks/>
            </p:cNvCxnSpPr>
            <p:nvPr/>
          </p:nvCxnSpPr>
          <p:spPr>
            <a:xfrm>
              <a:off x="10152000" y="1440000"/>
              <a:ext cx="0" cy="46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Rectangle 8">
                  <a:extLst>
                    <a:ext uri="{FF2B5EF4-FFF2-40B4-BE49-F238E27FC236}">
                      <a16:creationId xmlns:a16="http://schemas.microsoft.com/office/drawing/2014/main" id="{EC37680C-1817-01FC-C199-EBF4A97294B5}"/>
                    </a:ext>
                  </a:extLst>
                </p:cNvPr>
                <p:cNvSpPr>
                  <a:spLocks noChangeArrowheads="1"/>
                </p:cNvSpPr>
                <p:nvPr/>
              </p:nvSpPr>
              <p:spPr bwMode="auto">
                <a:xfrm>
                  <a:off x="11374524" y="1602000"/>
                  <a:ext cx="360000" cy="36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0"/>
                    </a:spcAft>
                    <a:buNone/>
                  </a:pPr>
                  <a14:m>
                    <m:oMathPara xmlns:m="http://schemas.openxmlformats.org/officeDocument/2006/math">
                      <m:oMathParaPr>
                        <m:jc m:val="center"/>
                      </m:oMathParaPr>
                      <m:oMath xmlns:m="http://schemas.openxmlformats.org/officeDocument/2006/math">
                        <m:r>
                          <a:rPr kumimoji="1" lang="pt-BR" altLang="zh-CN" sz="2000" b="0" i="1" smtClean="0">
                            <a:latin typeface="Cambria Math" panose="02040503050406030204" pitchFamily="18" charset="0"/>
                            <a:ea typeface="微软雅黑" panose="020B0503020204020204" pitchFamily="34" charset="-122"/>
                          </a:rPr>
                          <m:t>+</m:t>
                        </m:r>
                      </m:oMath>
                    </m:oMathPara>
                  </a14:m>
                  <a:endParaRPr kumimoji="1" lang="en-US" altLang="zh-CN" sz="2000" b="0" dirty="0">
                    <a:latin typeface="微软雅黑" panose="020B0503020204020204" pitchFamily="34" charset="-122"/>
                    <a:ea typeface="微软雅黑" panose="020B0503020204020204" pitchFamily="34" charset="-122"/>
                  </a:endParaRPr>
                </a:p>
              </p:txBody>
            </p:sp>
          </mc:Choice>
          <mc:Fallback xmlns="">
            <p:sp>
              <p:nvSpPr>
                <p:cNvPr id="7" name="Rectangle 8">
                  <a:extLst>
                    <a:ext uri="{FF2B5EF4-FFF2-40B4-BE49-F238E27FC236}">
                      <a16:creationId xmlns:a16="http://schemas.microsoft.com/office/drawing/2014/main" id="{EC37680C-1817-01FC-C199-EBF4A97294B5}"/>
                    </a:ext>
                  </a:extLst>
                </p:cNvPr>
                <p:cNvSpPr>
                  <a:spLocks noRot="1" noChangeAspect="1" noMove="1" noResize="1" noEditPoints="1" noAdjustHandles="1" noChangeArrowheads="1" noChangeShapeType="1" noTextEdit="1"/>
                </p:cNvSpPr>
                <p:nvPr/>
              </p:nvSpPr>
              <p:spPr bwMode="auto">
                <a:xfrm>
                  <a:off x="11374524" y="1602000"/>
                  <a:ext cx="360000" cy="360000"/>
                </a:xfrm>
                <a:prstGeom prst="rect">
                  <a:avLst/>
                </a:prstGeom>
                <a:blipFill>
                  <a:blip r:embed="rId5"/>
                  <a:stretch>
                    <a:fillRect l="-10169" b="-508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8" name="直接连接符 7">
              <a:extLst>
                <a:ext uri="{FF2B5EF4-FFF2-40B4-BE49-F238E27FC236}">
                  <a16:creationId xmlns:a16="http://schemas.microsoft.com/office/drawing/2014/main" id="{E0C9400C-0980-B378-54C7-8444667FF51B}"/>
                </a:ext>
              </a:extLst>
            </p:cNvPr>
            <p:cNvCxnSpPr>
              <a:cxnSpLocks/>
            </p:cNvCxnSpPr>
            <p:nvPr/>
          </p:nvCxnSpPr>
          <p:spPr>
            <a:xfrm flipH="1">
              <a:off x="9216000" y="1674000"/>
              <a:ext cx="208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2F4107FF-C92B-25D3-B273-2AD7C10C67F0}"/>
                </a:ext>
              </a:extLst>
            </p:cNvPr>
            <p:cNvCxnSpPr>
              <a:cxnSpLocks/>
            </p:cNvCxnSpPr>
            <p:nvPr/>
          </p:nvCxnSpPr>
          <p:spPr>
            <a:xfrm>
              <a:off x="10800000" y="1080000"/>
              <a:ext cx="0" cy="1584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E7405F00-89A9-0AF2-EC47-A049D461C30A}"/>
                </a:ext>
              </a:extLst>
            </p:cNvPr>
            <p:cNvCxnSpPr>
              <a:cxnSpLocks/>
            </p:cNvCxnSpPr>
            <p:nvPr/>
          </p:nvCxnSpPr>
          <p:spPr>
            <a:xfrm flipH="1">
              <a:off x="9000000" y="2430000"/>
              <a:ext cx="43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6D003403-8B14-FF27-ED16-3D35141F530B}"/>
                </a:ext>
              </a:extLst>
            </p:cNvPr>
            <p:cNvCxnSpPr>
              <a:cxnSpLocks/>
            </p:cNvCxnSpPr>
            <p:nvPr/>
          </p:nvCxnSpPr>
          <p:spPr>
            <a:xfrm flipH="1">
              <a:off x="9108000" y="2322000"/>
              <a:ext cx="216000"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矩形 16">
              <a:extLst>
                <a:ext uri="{FF2B5EF4-FFF2-40B4-BE49-F238E27FC236}">
                  <a16:creationId xmlns:a16="http://schemas.microsoft.com/office/drawing/2014/main" id="{3E9C2E4D-3370-DA7B-8D81-3C2625C8D5B2}"/>
                </a:ext>
              </a:extLst>
            </p:cNvPr>
            <p:cNvSpPr/>
            <p:nvPr/>
          </p:nvSpPr>
          <p:spPr>
            <a:xfrm>
              <a:off x="10728000" y="1944000"/>
              <a:ext cx="144000" cy="504000"/>
            </a:xfrm>
            <a:prstGeom prst="rect">
              <a:avLst/>
            </a:prstGeom>
            <a:solidFill>
              <a:schemeClr val="bg1">
                <a:alpha val="99000"/>
              </a:schemeClr>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18" name="直接连接符 17">
              <a:extLst>
                <a:ext uri="{FF2B5EF4-FFF2-40B4-BE49-F238E27FC236}">
                  <a16:creationId xmlns:a16="http://schemas.microsoft.com/office/drawing/2014/main" id="{67A00AB0-EDC6-81B0-31B1-7344B5B24BD0}"/>
                </a:ext>
              </a:extLst>
            </p:cNvPr>
            <p:cNvCxnSpPr>
              <a:cxnSpLocks/>
            </p:cNvCxnSpPr>
            <p:nvPr/>
          </p:nvCxnSpPr>
          <p:spPr>
            <a:xfrm>
              <a:off x="9216000" y="1674000"/>
              <a:ext cx="0" cy="64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Rectangle 8">
                  <a:extLst>
                    <a:ext uri="{FF2B5EF4-FFF2-40B4-BE49-F238E27FC236}">
                      <a16:creationId xmlns:a16="http://schemas.microsoft.com/office/drawing/2014/main" id="{2F49D0E7-BD54-8378-6492-4652261E2247}"/>
                    </a:ext>
                  </a:extLst>
                </p:cNvPr>
                <p:cNvSpPr>
                  <a:spLocks noChangeArrowheads="1"/>
                </p:cNvSpPr>
                <p:nvPr/>
              </p:nvSpPr>
              <p:spPr bwMode="auto">
                <a:xfrm>
                  <a:off x="9468000" y="2178000"/>
                  <a:ext cx="504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15 </m:t>
                        </m:r>
                        <m:r>
                          <m:rPr>
                            <m:sty m:val="p"/>
                          </m:rPr>
                          <a:rPr kumimoji="1" lang="en-US" altLang="zh-CN" sz="2000" b="0" i="0" smtClean="0">
                            <a:latin typeface="Cambria Math" panose="02040503050406030204" pitchFamily="18" charset="0"/>
                            <a:ea typeface="微软雅黑" panose="020B0503020204020204" pitchFamily="34" charset="-122"/>
                          </a:rPr>
                          <m:t>V</m:t>
                        </m:r>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19" name="Rectangle 8">
                  <a:extLst>
                    <a:ext uri="{FF2B5EF4-FFF2-40B4-BE49-F238E27FC236}">
                      <a16:creationId xmlns:a16="http://schemas.microsoft.com/office/drawing/2014/main" id="{2F49D0E7-BD54-8378-6492-4652261E2247}"/>
                    </a:ext>
                  </a:extLst>
                </p:cNvPr>
                <p:cNvSpPr>
                  <a:spLocks noRot="1" noChangeAspect="1" noMove="1" noResize="1" noEditPoints="1" noAdjustHandles="1" noChangeArrowheads="1" noChangeShapeType="1" noTextEdit="1"/>
                </p:cNvSpPr>
                <p:nvPr/>
              </p:nvSpPr>
              <p:spPr bwMode="auto">
                <a:xfrm>
                  <a:off x="9468000" y="2178000"/>
                  <a:ext cx="504000" cy="432000"/>
                </a:xfrm>
                <a:prstGeom prst="rect">
                  <a:avLst/>
                </a:prstGeom>
                <a:blipFill>
                  <a:blip r:embed="rId6"/>
                  <a:stretch>
                    <a:fillRect l="-24096" r="-8434"/>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20" name="直接连接符 19">
              <a:extLst>
                <a:ext uri="{FF2B5EF4-FFF2-40B4-BE49-F238E27FC236}">
                  <a16:creationId xmlns:a16="http://schemas.microsoft.com/office/drawing/2014/main" id="{7493D169-ECCB-592E-92D6-1AB7D2C202C7}"/>
                </a:ext>
              </a:extLst>
            </p:cNvPr>
            <p:cNvCxnSpPr>
              <a:cxnSpLocks/>
            </p:cNvCxnSpPr>
            <p:nvPr/>
          </p:nvCxnSpPr>
          <p:spPr>
            <a:xfrm>
              <a:off x="9216000" y="2430000"/>
              <a:ext cx="0" cy="684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BBFD73E2-9D8D-9687-F255-CE46DD98573A}"/>
                </a:ext>
              </a:extLst>
            </p:cNvPr>
            <p:cNvCxnSpPr>
              <a:cxnSpLocks/>
            </p:cNvCxnSpPr>
            <p:nvPr/>
          </p:nvCxnSpPr>
          <p:spPr>
            <a:xfrm flipH="1">
              <a:off x="10584000" y="2790000"/>
              <a:ext cx="43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C1A05AD7-71F4-9B02-899D-3DF686200878}"/>
                </a:ext>
              </a:extLst>
            </p:cNvPr>
            <p:cNvCxnSpPr>
              <a:cxnSpLocks/>
            </p:cNvCxnSpPr>
            <p:nvPr/>
          </p:nvCxnSpPr>
          <p:spPr>
            <a:xfrm flipH="1">
              <a:off x="10692000" y="2682000"/>
              <a:ext cx="216000"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C707ACE9-BFA9-3D39-EB0D-4E422750B1BC}"/>
                </a:ext>
              </a:extLst>
            </p:cNvPr>
            <p:cNvCxnSpPr>
              <a:cxnSpLocks/>
            </p:cNvCxnSpPr>
            <p:nvPr/>
          </p:nvCxnSpPr>
          <p:spPr>
            <a:xfrm>
              <a:off x="10800000" y="2800876"/>
              <a:ext cx="0" cy="329689"/>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82E68969-A2D5-CDB1-24EA-BA2B0AEEE52D}"/>
                </a:ext>
              </a:extLst>
            </p:cNvPr>
            <p:cNvCxnSpPr>
              <a:cxnSpLocks/>
            </p:cNvCxnSpPr>
            <p:nvPr/>
          </p:nvCxnSpPr>
          <p:spPr>
            <a:xfrm flipH="1">
              <a:off x="8856000" y="3114000"/>
              <a:ext cx="244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椭圆 24">
              <a:extLst>
                <a:ext uri="{FF2B5EF4-FFF2-40B4-BE49-F238E27FC236}">
                  <a16:creationId xmlns:a16="http://schemas.microsoft.com/office/drawing/2014/main" id="{CB3762F6-ABD8-3E27-B1F1-FC756EE741B3}"/>
                </a:ext>
              </a:extLst>
            </p:cNvPr>
            <p:cNvSpPr/>
            <p:nvPr/>
          </p:nvSpPr>
          <p:spPr>
            <a:xfrm>
              <a:off x="10746000" y="162000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26" name="椭圆 25">
              <a:extLst>
                <a:ext uri="{FF2B5EF4-FFF2-40B4-BE49-F238E27FC236}">
                  <a16:creationId xmlns:a16="http://schemas.microsoft.com/office/drawing/2014/main" id="{4EF3C3E7-ADAF-F80E-0DD2-1610AD973F8F}"/>
                </a:ext>
              </a:extLst>
            </p:cNvPr>
            <p:cNvSpPr/>
            <p:nvPr/>
          </p:nvSpPr>
          <p:spPr>
            <a:xfrm>
              <a:off x="10746000" y="306000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27" name="椭圆 26">
              <a:extLst>
                <a:ext uri="{FF2B5EF4-FFF2-40B4-BE49-F238E27FC236}">
                  <a16:creationId xmlns:a16="http://schemas.microsoft.com/office/drawing/2014/main" id="{2881D37E-3245-F9E7-2A94-B5F0E36F7078}"/>
                </a:ext>
              </a:extLst>
            </p:cNvPr>
            <p:cNvSpPr/>
            <p:nvPr/>
          </p:nvSpPr>
          <p:spPr>
            <a:xfrm>
              <a:off x="11232000" y="1609200"/>
              <a:ext cx="130981" cy="130981"/>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28" name="椭圆 27">
              <a:extLst>
                <a:ext uri="{FF2B5EF4-FFF2-40B4-BE49-F238E27FC236}">
                  <a16:creationId xmlns:a16="http://schemas.microsoft.com/office/drawing/2014/main" id="{B726018D-547D-1CAC-8EF8-1997AD7F0564}"/>
                </a:ext>
              </a:extLst>
            </p:cNvPr>
            <p:cNvSpPr/>
            <p:nvPr/>
          </p:nvSpPr>
          <p:spPr>
            <a:xfrm>
              <a:off x="11232000" y="3049200"/>
              <a:ext cx="130981" cy="130981"/>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29" name="Rectangle 8">
                  <a:extLst>
                    <a:ext uri="{FF2B5EF4-FFF2-40B4-BE49-F238E27FC236}">
                      <a16:creationId xmlns:a16="http://schemas.microsoft.com/office/drawing/2014/main" id="{8E997505-1AFE-17DA-B4BD-A0FFA835DA82}"/>
                    </a:ext>
                  </a:extLst>
                </p:cNvPr>
                <p:cNvSpPr>
                  <a:spLocks noChangeArrowheads="1"/>
                </p:cNvSpPr>
                <p:nvPr/>
              </p:nvSpPr>
              <p:spPr bwMode="auto">
                <a:xfrm>
                  <a:off x="10044000" y="2538000"/>
                  <a:ext cx="576000" cy="36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12 </m:t>
                        </m:r>
                        <m:r>
                          <m:rPr>
                            <m:sty m:val="p"/>
                          </m:rPr>
                          <a:rPr kumimoji="1" lang="en-US" altLang="zh-CN" sz="2000" b="0" i="0" smtClean="0">
                            <a:latin typeface="Cambria Math" panose="02040503050406030204" pitchFamily="18" charset="0"/>
                            <a:ea typeface="微软雅黑" panose="020B0503020204020204" pitchFamily="34" charset="-122"/>
                          </a:rPr>
                          <m:t>V</m:t>
                        </m:r>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29" name="Rectangle 8">
                  <a:extLst>
                    <a:ext uri="{FF2B5EF4-FFF2-40B4-BE49-F238E27FC236}">
                      <a16:creationId xmlns:a16="http://schemas.microsoft.com/office/drawing/2014/main" id="{8E997505-1AFE-17DA-B4BD-A0FFA835DA82}"/>
                    </a:ext>
                  </a:extLst>
                </p:cNvPr>
                <p:cNvSpPr>
                  <a:spLocks noRot="1" noChangeAspect="1" noMove="1" noResize="1" noEditPoints="1" noAdjustHandles="1" noChangeArrowheads="1" noChangeShapeType="1" noTextEdit="1"/>
                </p:cNvSpPr>
                <p:nvPr/>
              </p:nvSpPr>
              <p:spPr bwMode="auto">
                <a:xfrm>
                  <a:off x="10044000" y="2538000"/>
                  <a:ext cx="576000" cy="360000"/>
                </a:xfrm>
                <a:prstGeom prst="rect">
                  <a:avLst/>
                </a:prstGeom>
                <a:blipFill>
                  <a:blip r:embed="rId7"/>
                  <a:stretch>
                    <a:fillRect l="-14894" r="-1064" b="-508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Rectangle 8">
                  <a:extLst>
                    <a:ext uri="{FF2B5EF4-FFF2-40B4-BE49-F238E27FC236}">
                      <a16:creationId xmlns:a16="http://schemas.microsoft.com/office/drawing/2014/main" id="{D8FA723B-4BF2-8356-7FD3-BAD04BFDD4E6}"/>
                    </a:ext>
                  </a:extLst>
                </p:cNvPr>
                <p:cNvSpPr>
                  <a:spLocks noChangeArrowheads="1"/>
                </p:cNvSpPr>
                <p:nvPr/>
              </p:nvSpPr>
              <p:spPr bwMode="auto">
                <a:xfrm>
                  <a:off x="10440000" y="1980000"/>
                  <a:ext cx="358524" cy="36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𝑅</m:t>
                        </m:r>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30" name="Rectangle 8">
                  <a:extLst>
                    <a:ext uri="{FF2B5EF4-FFF2-40B4-BE49-F238E27FC236}">
                      <a16:creationId xmlns:a16="http://schemas.microsoft.com/office/drawing/2014/main" id="{D8FA723B-4BF2-8356-7FD3-BAD04BFDD4E6}"/>
                    </a:ext>
                  </a:extLst>
                </p:cNvPr>
                <p:cNvSpPr>
                  <a:spLocks noRot="1" noChangeAspect="1" noMove="1" noResize="1" noEditPoints="1" noAdjustHandles="1" noChangeArrowheads="1" noChangeShapeType="1" noTextEdit="1"/>
                </p:cNvSpPr>
                <p:nvPr/>
              </p:nvSpPr>
              <p:spPr bwMode="auto">
                <a:xfrm>
                  <a:off x="10440000" y="1980000"/>
                  <a:ext cx="358524" cy="360000"/>
                </a:xfrm>
                <a:prstGeom prst="rect">
                  <a:avLst/>
                </a:prstGeom>
                <a:blipFill>
                  <a:blip r:embed="rId8"/>
                  <a:stretch>
                    <a:fillRect l="-10345" b="-508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Rectangle 8">
                  <a:extLst>
                    <a:ext uri="{FF2B5EF4-FFF2-40B4-BE49-F238E27FC236}">
                      <a16:creationId xmlns:a16="http://schemas.microsoft.com/office/drawing/2014/main" id="{C95218B2-6C82-C688-298D-B2CB7CEB5903}"/>
                    </a:ext>
                  </a:extLst>
                </p:cNvPr>
                <p:cNvSpPr>
                  <a:spLocks noChangeArrowheads="1"/>
                </p:cNvSpPr>
                <p:nvPr/>
              </p:nvSpPr>
              <p:spPr bwMode="auto">
                <a:xfrm>
                  <a:off x="10655769" y="3117116"/>
                  <a:ext cx="358524" cy="36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𝑂</m:t>
                        </m:r>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31" name="Rectangle 8">
                  <a:extLst>
                    <a:ext uri="{FF2B5EF4-FFF2-40B4-BE49-F238E27FC236}">
                      <a16:creationId xmlns:a16="http://schemas.microsoft.com/office/drawing/2014/main" id="{C95218B2-6C82-C688-298D-B2CB7CEB5903}"/>
                    </a:ext>
                  </a:extLst>
                </p:cNvPr>
                <p:cNvSpPr>
                  <a:spLocks noRot="1" noChangeAspect="1" noMove="1" noResize="1" noEditPoints="1" noAdjustHandles="1" noChangeArrowheads="1" noChangeShapeType="1" noTextEdit="1"/>
                </p:cNvSpPr>
                <p:nvPr/>
              </p:nvSpPr>
              <p:spPr bwMode="auto">
                <a:xfrm>
                  <a:off x="10655769" y="3117116"/>
                  <a:ext cx="358524" cy="360000"/>
                </a:xfrm>
                <a:prstGeom prst="rect">
                  <a:avLst/>
                </a:prstGeom>
                <a:blipFill>
                  <a:blip r:embed="rId9"/>
                  <a:stretch>
                    <a:fillRect l="-10169" b="-508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2" name="Rectangle 8">
                  <a:extLst>
                    <a:ext uri="{FF2B5EF4-FFF2-40B4-BE49-F238E27FC236}">
                      <a16:creationId xmlns:a16="http://schemas.microsoft.com/office/drawing/2014/main" id="{EF22E26A-1C9E-0EE5-58A2-8D0744C83271}"/>
                    </a:ext>
                  </a:extLst>
                </p:cNvPr>
                <p:cNvSpPr>
                  <a:spLocks noChangeArrowheads="1"/>
                </p:cNvSpPr>
                <p:nvPr/>
              </p:nvSpPr>
              <p:spPr bwMode="auto">
                <a:xfrm>
                  <a:off x="9864000" y="1800000"/>
                  <a:ext cx="396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a:latin typeface="Cambria Math" panose="02040503050406030204" pitchFamily="18" charset="0"/>
                                <a:ea typeface="微软雅黑" panose="020B0503020204020204" pitchFamily="34" charset="-122"/>
                              </a:rPr>
                            </m:ctrlPr>
                          </m:sSubPr>
                          <m:e>
                            <m:r>
                              <a:rPr kumimoji="1" lang="en-US" altLang="zh-CN" sz="2000" b="0" i="1">
                                <a:latin typeface="Cambria Math" panose="02040503050406030204" pitchFamily="18" charset="0"/>
                                <a:ea typeface="微软雅黑" panose="020B0503020204020204" pitchFamily="34" charset="-122"/>
                              </a:rPr>
                              <m:t>𝐷</m:t>
                            </m:r>
                          </m:e>
                          <m:sub>
                            <m:r>
                              <a:rPr kumimoji="1" lang="en-US" altLang="zh-CN" sz="2000" b="0" i="1">
                                <a:latin typeface="Cambria Math" panose="02040503050406030204" pitchFamily="18" charset="0"/>
                                <a:ea typeface="微软雅黑" panose="020B0503020204020204" pitchFamily="34" charset="-122"/>
                              </a:rPr>
                              <m:t>2</m:t>
                            </m:r>
                          </m:sub>
                        </m:sSub>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p:sp>
              <p:nvSpPr>
                <p:cNvPr id="32" name="Rectangle 8">
                  <a:extLst>
                    <a:ext uri="{FF2B5EF4-FFF2-40B4-BE49-F238E27FC236}">
                      <a16:creationId xmlns:a16="http://schemas.microsoft.com/office/drawing/2014/main" id="{EF22E26A-1C9E-0EE5-58A2-8D0744C83271}"/>
                    </a:ext>
                  </a:extLst>
                </p:cNvPr>
                <p:cNvSpPr>
                  <a:spLocks noRot="1" noChangeAspect="1" noMove="1" noResize="1" noEditPoints="1" noAdjustHandles="1" noChangeArrowheads="1" noChangeShapeType="1" noTextEdit="1"/>
                </p:cNvSpPr>
                <p:nvPr/>
              </p:nvSpPr>
              <p:spPr bwMode="auto">
                <a:xfrm>
                  <a:off x="9864000" y="1800000"/>
                  <a:ext cx="396000" cy="396000"/>
                </a:xfrm>
                <a:prstGeom prst="rect">
                  <a:avLst/>
                </a:prstGeom>
                <a:blipFill>
                  <a:blip r:embed="rId10"/>
                  <a:stretch>
                    <a:fillRect l="-16923" b="-1538"/>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Rectangle 8">
                  <a:extLst>
                    <a:ext uri="{FF2B5EF4-FFF2-40B4-BE49-F238E27FC236}">
                      <a16:creationId xmlns:a16="http://schemas.microsoft.com/office/drawing/2014/main" id="{4382BA64-44F0-49F5-F8A6-F04E4F4F3A77}"/>
                    </a:ext>
                  </a:extLst>
                </p:cNvPr>
                <p:cNvSpPr>
                  <a:spLocks noChangeArrowheads="1"/>
                </p:cNvSpPr>
                <p:nvPr/>
              </p:nvSpPr>
              <p:spPr bwMode="auto">
                <a:xfrm>
                  <a:off x="11376000" y="2754000"/>
                  <a:ext cx="360000" cy="36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0"/>
                    </a:spcAft>
                    <a:buNone/>
                  </a:pPr>
                  <a14:m>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p>
              </p:txBody>
            </p:sp>
          </mc:Choice>
          <mc:Fallback xmlns="">
            <p:sp>
              <p:nvSpPr>
                <p:cNvPr id="33" name="Rectangle 8">
                  <a:extLst>
                    <a:ext uri="{FF2B5EF4-FFF2-40B4-BE49-F238E27FC236}">
                      <a16:creationId xmlns:a16="http://schemas.microsoft.com/office/drawing/2014/main" id="{4382BA64-44F0-49F5-F8A6-F04E4F4F3A77}"/>
                    </a:ext>
                  </a:extLst>
                </p:cNvPr>
                <p:cNvSpPr>
                  <a:spLocks noRot="1" noChangeAspect="1" noMove="1" noResize="1" noEditPoints="1" noAdjustHandles="1" noChangeArrowheads="1" noChangeShapeType="1" noTextEdit="1"/>
                </p:cNvSpPr>
                <p:nvPr/>
              </p:nvSpPr>
              <p:spPr bwMode="auto">
                <a:xfrm>
                  <a:off x="11376000" y="2754000"/>
                  <a:ext cx="360000" cy="360000"/>
                </a:xfrm>
                <a:prstGeom prst="rect">
                  <a:avLst/>
                </a:prstGeom>
                <a:blipFill>
                  <a:blip r:embed="rId11"/>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Rectangle 8">
                  <a:extLst>
                    <a:ext uri="{FF2B5EF4-FFF2-40B4-BE49-F238E27FC236}">
                      <a16:creationId xmlns:a16="http://schemas.microsoft.com/office/drawing/2014/main" id="{6F6866BF-BE2B-E3FE-7D4E-FB6541515D84}"/>
                    </a:ext>
                  </a:extLst>
                </p:cNvPr>
                <p:cNvSpPr>
                  <a:spLocks noChangeArrowheads="1"/>
                </p:cNvSpPr>
                <p:nvPr/>
              </p:nvSpPr>
              <p:spPr bwMode="auto">
                <a:xfrm>
                  <a:off x="11376000" y="2178000"/>
                  <a:ext cx="360000" cy="36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0"/>
                    </a:spcAft>
                    <a:buNone/>
                  </a:pPr>
                  <a14:m>
                    <m:oMath xmlns:m="http://schemas.openxmlformats.org/officeDocument/2006/math">
                      <m:sSub>
                        <m:sSubPr>
                          <m:ctrlPr>
                            <a:rPr kumimoji="1" lang="en-US" altLang="zh-CN" sz="2000" b="0" i="1">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𝑉</m:t>
                          </m:r>
                        </m:e>
                        <m:sub>
                          <m:r>
                            <m:rPr>
                              <m:sty m:val="p"/>
                            </m:rPr>
                            <a:rPr kumimoji="1" lang="en-US" altLang="zh-CN" sz="2000" b="0" i="0" smtClean="0">
                              <a:latin typeface="Cambria Math" panose="02040503050406030204" pitchFamily="18" charset="0"/>
                              <a:ea typeface="微软雅黑" panose="020B0503020204020204" pitchFamily="34" charset="-122"/>
                            </a:rPr>
                            <m:t>O</m:t>
                          </m:r>
                        </m:sub>
                      </m:sSub>
                    </m:oMath>
                  </a14:m>
                  <a:r>
                    <a:rPr kumimoji="1" lang="zh-CN" altLang="en-US" sz="2000" b="0" dirty="0">
                      <a:latin typeface="微软雅黑" panose="020B0503020204020204" pitchFamily="34" charset="-122"/>
                      <a:ea typeface="微软雅黑" panose="020B0503020204020204" pitchFamily="34" charset="-122"/>
                    </a:rPr>
                    <a:t>    </a:t>
                  </a:r>
                </a:p>
              </p:txBody>
            </p:sp>
          </mc:Choice>
          <mc:Fallback xmlns="">
            <p:sp>
              <p:nvSpPr>
                <p:cNvPr id="34" name="Rectangle 8">
                  <a:extLst>
                    <a:ext uri="{FF2B5EF4-FFF2-40B4-BE49-F238E27FC236}">
                      <a16:creationId xmlns:a16="http://schemas.microsoft.com/office/drawing/2014/main" id="{6F6866BF-BE2B-E3FE-7D4E-FB6541515D84}"/>
                    </a:ext>
                  </a:extLst>
                </p:cNvPr>
                <p:cNvSpPr>
                  <a:spLocks noRot="1" noChangeAspect="1" noMove="1" noResize="1" noEditPoints="1" noAdjustHandles="1" noChangeArrowheads="1" noChangeShapeType="1" noTextEdit="1"/>
                </p:cNvSpPr>
                <p:nvPr/>
              </p:nvSpPr>
              <p:spPr bwMode="auto">
                <a:xfrm>
                  <a:off x="11376000" y="2178000"/>
                  <a:ext cx="360000" cy="360000"/>
                </a:xfrm>
                <a:prstGeom prst="rect">
                  <a:avLst/>
                </a:prstGeom>
                <a:blipFill>
                  <a:blip r:embed="rId12"/>
                  <a:stretch>
                    <a:fillRect l="-11864" r="-1695" b="-13559"/>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5" name="椭圆 34">
              <a:extLst>
                <a:ext uri="{FF2B5EF4-FFF2-40B4-BE49-F238E27FC236}">
                  <a16:creationId xmlns:a16="http://schemas.microsoft.com/office/drawing/2014/main" id="{DE7F5FA9-EF0E-2A40-76AF-1141C3C2043C}"/>
                </a:ext>
              </a:extLst>
            </p:cNvPr>
            <p:cNvSpPr/>
            <p:nvPr/>
          </p:nvSpPr>
          <p:spPr>
            <a:xfrm>
              <a:off x="9162000" y="306000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37" name="直接连接符 36">
              <a:extLst>
                <a:ext uri="{FF2B5EF4-FFF2-40B4-BE49-F238E27FC236}">
                  <a16:creationId xmlns:a16="http://schemas.microsoft.com/office/drawing/2014/main" id="{65A95E8D-D9DE-B268-1332-6CFB39F2418D}"/>
                </a:ext>
              </a:extLst>
            </p:cNvPr>
            <p:cNvCxnSpPr>
              <a:cxnSpLocks/>
            </p:cNvCxnSpPr>
            <p:nvPr/>
          </p:nvCxnSpPr>
          <p:spPr>
            <a:xfrm>
              <a:off x="8856000" y="1080000"/>
              <a:ext cx="0" cy="201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1" name="组合 40">
              <a:extLst>
                <a:ext uri="{FF2B5EF4-FFF2-40B4-BE49-F238E27FC236}">
                  <a16:creationId xmlns:a16="http://schemas.microsoft.com/office/drawing/2014/main" id="{F7FD2A27-BE4A-CB95-7908-5D33EC1250E3}"/>
                </a:ext>
              </a:extLst>
            </p:cNvPr>
            <p:cNvGrpSpPr/>
            <p:nvPr/>
          </p:nvGrpSpPr>
          <p:grpSpPr>
            <a:xfrm>
              <a:off x="9864000" y="846000"/>
              <a:ext cx="288000" cy="468000"/>
              <a:chOff x="9864000" y="819000"/>
              <a:chExt cx="288000" cy="468000"/>
            </a:xfrm>
          </p:grpSpPr>
          <p:sp>
            <p:nvSpPr>
              <p:cNvPr id="39" name="等腰三角形 38">
                <a:extLst>
                  <a:ext uri="{FF2B5EF4-FFF2-40B4-BE49-F238E27FC236}">
                    <a16:creationId xmlns:a16="http://schemas.microsoft.com/office/drawing/2014/main" id="{4C0D7150-96A6-51CF-8F24-B7CACBAEAA02}"/>
                  </a:ext>
                </a:extLst>
              </p:cNvPr>
              <p:cNvSpPr/>
              <p:nvPr/>
            </p:nvSpPr>
            <p:spPr>
              <a:xfrm rot="5400000">
                <a:off x="9792000" y="909000"/>
                <a:ext cx="432000" cy="288000"/>
              </a:xfrm>
              <a:prstGeom prst="triangl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cxnSp>
            <p:nvCxnSpPr>
              <p:cNvPr id="40" name="直接连接符 39">
                <a:extLst>
                  <a:ext uri="{FF2B5EF4-FFF2-40B4-BE49-F238E27FC236}">
                    <a16:creationId xmlns:a16="http://schemas.microsoft.com/office/drawing/2014/main" id="{F716A60C-4461-74F4-B069-ACCF572DC37B}"/>
                  </a:ext>
                </a:extLst>
              </p:cNvPr>
              <p:cNvCxnSpPr>
                <a:cxnSpLocks/>
              </p:cNvCxnSpPr>
              <p:nvPr/>
            </p:nvCxnSpPr>
            <p:spPr>
              <a:xfrm>
                <a:off x="10152000" y="819000"/>
                <a:ext cx="0" cy="46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2" name="直接连接符 41">
              <a:extLst>
                <a:ext uri="{FF2B5EF4-FFF2-40B4-BE49-F238E27FC236}">
                  <a16:creationId xmlns:a16="http://schemas.microsoft.com/office/drawing/2014/main" id="{14C9D7E0-5FBA-5617-59EF-20457CD8032E}"/>
                </a:ext>
              </a:extLst>
            </p:cNvPr>
            <p:cNvCxnSpPr>
              <a:cxnSpLocks/>
            </p:cNvCxnSpPr>
            <p:nvPr/>
          </p:nvCxnSpPr>
          <p:spPr>
            <a:xfrm flipH="1">
              <a:off x="8856000" y="1080000"/>
              <a:ext cx="194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7" name="Rectangle 8">
                  <a:extLst>
                    <a:ext uri="{FF2B5EF4-FFF2-40B4-BE49-F238E27FC236}">
                      <a16:creationId xmlns:a16="http://schemas.microsoft.com/office/drawing/2014/main" id="{99173F12-4E92-6E2C-635B-A2D476C8895D}"/>
                    </a:ext>
                  </a:extLst>
                </p:cNvPr>
                <p:cNvSpPr>
                  <a:spLocks noChangeArrowheads="1"/>
                </p:cNvSpPr>
                <p:nvPr/>
              </p:nvSpPr>
              <p:spPr bwMode="auto">
                <a:xfrm>
                  <a:off x="9864000" y="468000"/>
                  <a:ext cx="396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a:latin typeface="Cambria Math" panose="02040503050406030204" pitchFamily="18" charset="0"/>
                                <a:ea typeface="微软雅黑" panose="020B0503020204020204" pitchFamily="34" charset="-122"/>
                              </a:rPr>
                              <m:t>𝐷</m:t>
                            </m:r>
                          </m:e>
                          <m:sub>
                            <m:r>
                              <a:rPr kumimoji="1" lang="en-US" altLang="zh-CN" sz="2000" b="0" i="1" smtClean="0">
                                <a:latin typeface="Cambria Math" panose="02040503050406030204" pitchFamily="18" charset="0"/>
                                <a:ea typeface="微软雅黑" panose="020B0503020204020204" pitchFamily="34" charset="-122"/>
                              </a:rPr>
                              <m:t>1</m:t>
                            </m:r>
                          </m:sub>
                        </m:sSub>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p:sp>
              <p:nvSpPr>
                <p:cNvPr id="47" name="Rectangle 8">
                  <a:extLst>
                    <a:ext uri="{FF2B5EF4-FFF2-40B4-BE49-F238E27FC236}">
                      <a16:creationId xmlns:a16="http://schemas.microsoft.com/office/drawing/2014/main" id="{99173F12-4E92-6E2C-635B-A2D476C8895D}"/>
                    </a:ext>
                  </a:extLst>
                </p:cNvPr>
                <p:cNvSpPr>
                  <a:spLocks noRot="1" noChangeAspect="1" noMove="1" noResize="1" noEditPoints="1" noAdjustHandles="1" noChangeArrowheads="1" noChangeShapeType="1" noTextEdit="1"/>
                </p:cNvSpPr>
                <p:nvPr/>
              </p:nvSpPr>
              <p:spPr bwMode="auto">
                <a:xfrm>
                  <a:off x="9864000" y="468000"/>
                  <a:ext cx="396000" cy="396000"/>
                </a:xfrm>
                <a:prstGeom prst="rect">
                  <a:avLst/>
                </a:prstGeom>
                <a:blipFill>
                  <a:blip r:embed="rId13"/>
                  <a:stretch>
                    <a:fillRect l="-15385" b="-307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Rectangle 8">
                  <a:extLst>
                    <a:ext uri="{FF2B5EF4-FFF2-40B4-BE49-F238E27FC236}">
                      <a16:creationId xmlns:a16="http://schemas.microsoft.com/office/drawing/2014/main" id="{D6038B19-C628-81AB-3383-40C421930BB5}"/>
                    </a:ext>
                  </a:extLst>
                </p:cNvPr>
                <p:cNvSpPr>
                  <a:spLocks noChangeArrowheads="1"/>
                </p:cNvSpPr>
                <p:nvPr/>
              </p:nvSpPr>
              <p:spPr bwMode="auto">
                <a:xfrm>
                  <a:off x="10800000" y="1296000"/>
                  <a:ext cx="358524" cy="36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𝐴</m:t>
                        </m:r>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48" name="Rectangle 8">
                  <a:extLst>
                    <a:ext uri="{FF2B5EF4-FFF2-40B4-BE49-F238E27FC236}">
                      <a16:creationId xmlns:a16="http://schemas.microsoft.com/office/drawing/2014/main" id="{D6038B19-C628-81AB-3383-40C421930BB5}"/>
                    </a:ext>
                  </a:extLst>
                </p:cNvPr>
                <p:cNvSpPr>
                  <a:spLocks noRot="1" noChangeAspect="1" noMove="1" noResize="1" noEditPoints="1" noAdjustHandles="1" noChangeArrowheads="1" noChangeShapeType="1" noTextEdit="1"/>
                </p:cNvSpPr>
                <p:nvPr/>
              </p:nvSpPr>
              <p:spPr bwMode="auto">
                <a:xfrm>
                  <a:off x="10800000" y="1296000"/>
                  <a:ext cx="358524" cy="360000"/>
                </a:xfrm>
                <a:prstGeom prst="rect">
                  <a:avLst/>
                </a:prstGeom>
                <a:blipFill>
                  <a:blip r:embed="rId14"/>
                  <a:stretch>
                    <a:fillRect l="-8621" b="-508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spTree>
    <p:extLst>
      <p:ext uri="{BB962C8B-B14F-4D97-AF65-F5344CB8AC3E}">
        <p14:creationId xmlns:p14="http://schemas.microsoft.com/office/powerpoint/2010/main" val="26651246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E4FF4-B161-F7A2-81BA-9F4666B72B5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95" name="文本框 194">
                <a:extLst>
                  <a:ext uri="{FF2B5EF4-FFF2-40B4-BE49-F238E27FC236}">
                    <a16:creationId xmlns:a16="http://schemas.microsoft.com/office/drawing/2014/main" id="{52D8A2DD-8FD7-B96A-2588-4DE3F2C71F2C}"/>
                  </a:ext>
                </a:extLst>
              </p:cNvPr>
              <p:cNvSpPr txBox="1"/>
              <p:nvPr/>
            </p:nvSpPr>
            <p:spPr>
              <a:xfrm>
                <a:off x="3240000" y="2375999"/>
                <a:ext cx="1296000" cy="792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4400" b="1" i="0" smtClean="0">
                          <a:solidFill>
                            <a:schemeClr val="accent5">
                              <a:lumMod val="75000"/>
                            </a:schemeClr>
                          </a:solidFill>
                          <a:latin typeface="Cambria Math" panose="02040503050406030204" pitchFamily="18" charset="0"/>
                          <a:ea typeface="微软雅黑" panose="020B0503020204020204" pitchFamily="34" charset="-122"/>
                        </a:rPr>
                        <m:t>=</m:t>
                      </m:r>
                    </m:oMath>
                  </m:oMathPara>
                </a14:m>
                <a:endParaRPr lang="zh-CN" altLang="en-US" sz="4400" b="1" dirty="0">
                  <a:solidFill>
                    <a:schemeClr val="accent5">
                      <a:lumMod val="75000"/>
                    </a:schemeClr>
                  </a:solidFill>
                </a:endParaRPr>
              </a:p>
            </p:txBody>
          </p:sp>
        </mc:Choice>
        <mc:Fallback xmlns="">
          <p:sp>
            <p:nvSpPr>
              <p:cNvPr id="195" name="文本框 194">
                <a:extLst>
                  <a:ext uri="{FF2B5EF4-FFF2-40B4-BE49-F238E27FC236}">
                    <a16:creationId xmlns:a16="http://schemas.microsoft.com/office/drawing/2014/main" id="{52D8A2DD-8FD7-B96A-2588-4DE3F2C71F2C}"/>
                  </a:ext>
                </a:extLst>
              </p:cNvPr>
              <p:cNvSpPr txBox="1">
                <a:spLocks noRot="1" noChangeAspect="1" noMove="1" noResize="1" noEditPoints="1" noAdjustHandles="1" noChangeArrowheads="1" noChangeShapeType="1" noTextEdit="1"/>
              </p:cNvSpPr>
              <p:nvPr/>
            </p:nvSpPr>
            <p:spPr>
              <a:xfrm>
                <a:off x="3240000" y="2375999"/>
                <a:ext cx="1296000" cy="79200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5FD17830-6207-8C37-6EA2-FC21DB44F23D}"/>
                  </a:ext>
                </a:extLst>
              </p:cNvPr>
              <p:cNvSpPr txBox="1"/>
              <p:nvPr/>
            </p:nvSpPr>
            <p:spPr>
              <a:xfrm>
                <a:off x="359999" y="828000"/>
                <a:ext cx="11520000" cy="1091966"/>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二极管的简化模型</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小信号模型：仅考虑电压</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电流小幅波动时所建立的模型（用于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𝑣</m:t>
                        </m:r>
                      </m:e>
                      <m:sub>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sz="2400" i="1">
                        <a:solidFill>
                          <a:schemeClr val="accent5">
                            <a:lumMod val="75000"/>
                          </a:schemeClr>
                        </a:solidFill>
                        <a:latin typeface="Cambria Math" panose="02040503050406030204" pitchFamily="18" charset="0"/>
                        <a:ea typeface="Cambria Math" panose="02040503050406030204" pitchFamily="18" charset="0"/>
                      </a:rPr>
                      <m:t>≫</m:t>
                    </m:r>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th</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时）</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9" name="文本框 8">
                <a:extLst>
                  <a:ext uri="{FF2B5EF4-FFF2-40B4-BE49-F238E27FC236}">
                    <a16:creationId xmlns:a16="http://schemas.microsoft.com/office/drawing/2014/main" id="{5FD17830-6207-8C37-6EA2-FC21DB44F23D}"/>
                  </a:ext>
                </a:extLst>
              </p:cNvPr>
              <p:cNvSpPr txBox="1">
                <a:spLocks noRot="1" noChangeAspect="1" noMove="1" noResize="1" noEditPoints="1" noAdjustHandles="1" noChangeArrowheads="1" noChangeShapeType="1" noTextEdit="1"/>
              </p:cNvSpPr>
              <p:nvPr/>
            </p:nvSpPr>
            <p:spPr>
              <a:xfrm>
                <a:off x="359999" y="828000"/>
                <a:ext cx="11520000" cy="1091966"/>
              </a:xfrm>
              <a:prstGeom prst="rect">
                <a:avLst/>
              </a:prstGeom>
              <a:blipFill>
                <a:blip r:embed="rId4"/>
                <a:stretch>
                  <a:fillRect l="-952" t="-2235" b="-122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66688C5E-2F76-65A9-4F8D-BE64801D74A3}"/>
                  </a:ext>
                </a:extLst>
              </p:cNvPr>
              <p:cNvSpPr txBox="1"/>
              <p:nvPr/>
            </p:nvSpPr>
            <p:spPr>
              <a:xfrm>
                <a:off x="576000" y="3816000"/>
                <a:ext cx="3009476" cy="400110"/>
              </a:xfrm>
              <a:prstGeom prst="rect">
                <a:avLst/>
              </a:prstGeom>
              <a:noFill/>
            </p:spPr>
            <p:txBody>
              <a:bodyPr wrap="square">
                <a:spAutoFit/>
              </a:bodyPr>
              <a:lstStyle/>
              <a:p>
                <a14:m>
                  <m:oMath xmlns:m="http://schemas.openxmlformats.org/officeDocument/2006/math">
                    <m:sSub>
                      <m:sSubPr>
                        <m:ctrlPr>
                          <a:rPr kumimoji="1" lang="en-US" altLang="zh-CN" sz="200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i="1">
                            <a:solidFill>
                              <a:schemeClr val="accent5">
                                <a:lumMod val="75000"/>
                              </a:schemeClr>
                            </a:solidFill>
                            <a:latin typeface="Cambria Math" panose="02040503050406030204" pitchFamily="18" charset="0"/>
                            <a:ea typeface="微软雅黑" panose="020B0503020204020204" pitchFamily="34" charset="-122"/>
                          </a:rPr>
                          <m:t>𝑣</m:t>
                        </m:r>
                      </m:e>
                      <m:sub>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s</m:t>
                        </m:r>
                      </m:sub>
                    </m:sSub>
                    <m:r>
                      <a:rPr kumimoji="1" lang="en-US" altLang="zh-CN" sz="2000" i="1" smtClean="0">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sz="200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m</m:t>
                        </m:r>
                      </m:sub>
                    </m:sSub>
                    <m:func>
                      <m:funcPr>
                        <m:ctrlP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ctrlPr>
                      </m:funcPr>
                      <m:fName>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sin</m:t>
                        </m:r>
                      </m:fName>
                      <m:e>
                        <m:r>
                          <a:rPr kumimoji="1" lang="zh-CN" altLang="en-US" sz="2000" b="0" i="1" smtClean="0">
                            <a:solidFill>
                              <a:schemeClr val="accent5">
                                <a:lumMod val="75000"/>
                              </a:schemeClr>
                            </a:solidFill>
                            <a:latin typeface="Cambria Math" panose="02040503050406030204" pitchFamily="18" charset="0"/>
                            <a:ea typeface="微软雅黑" panose="020B0503020204020204" pitchFamily="34" charset="-122"/>
                          </a:rPr>
                          <m:t>𝜔</m:t>
                        </m:r>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𝑡</m:t>
                        </m:r>
                      </m:e>
                    </m:func>
                  </m:oMath>
                </a14:m>
                <a:r>
                  <a:rPr lang="zh-CN" altLang="en-US" sz="2000" dirty="0">
                    <a:solidFill>
                      <a:schemeClr val="accent5">
                        <a:lumMod val="75000"/>
                      </a:schemeClr>
                    </a:solidFill>
                    <a:latin typeface="微软雅黑" panose="020B0503020204020204" pitchFamily="34" charset="-122"/>
                    <a:ea typeface="微软雅黑" panose="020B0503020204020204" pitchFamily="34" charset="-122"/>
                  </a:rPr>
                  <a:t>，</a:t>
                </a:r>
                <a14:m>
                  <m:oMath xmlns:m="http://schemas.openxmlformats.org/officeDocument/2006/math">
                    <m:sSub>
                      <m:sSubPr>
                        <m:ctrlPr>
                          <a:rPr kumimoji="1" lang="en-US" altLang="zh-CN"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b="0" i="0" smtClean="0">
                            <a:solidFill>
                              <a:schemeClr val="accent5">
                                <a:lumMod val="75000"/>
                              </a:schemeClr>
                            </a:solidFill>
                            <a:latin typeface="Cambria Math" panose="02040503050406030204" pitchFamily="18" charset="0"/>
                            <a:ea typeface="微软雅黑" panose="020B0503020204020204" pitchFamily="34" charset="-122"/>
                          </a:rPr>
                          <m:t>m</m:t>
                        </m:r>
                      </m:sub>
                    </m:sSub>
                    <m:r>
                      <a:rPr kumimoji="1" lang="en-US" altLang="zh-CN" i="1" smtClean="0">
                        <a:solidFill>
                          <a:schemeClr val="accent5">
                            <a:lumMod val="75000"/>
                          </a:schemeClr>
                        </a:solidFill>
                        <a:latin typeface="Cambria Math" panose="02040503050406030204" pitchFamily="18" charset="0"/>
                        <a:ea typeface="Cambria Math" panose="02040503050406030204" pitchFamily="18" charset="0"/>
                      </a:rPr>
                      <m:t>≪</m:t>
                    </m:r>
                    <m:sSub>
                      <m:sSubPr>
                        <m:ctrlPr>
                          <a:rPr kumimoji="1" lang="en-US" altLang="zh-CN"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b="0" i="0" smtClean="0">
                            <a:solidFill>
                              <a:schemeClr val="accent5">
                                <a:lumMod val="75000"/>
                              </a:schemeClr>
                            </a:solidFill>
                            <a:latin typeface="Cambria Math" panose="02040503050406030204" pitchFamily="18" charset="0"/>
                            <a:ea typeface="微软雅黑" panose="020B0503020204020204" pitchFamily="34" charset="-122"/>
                          </a:rPr>
                          <m:t>DD</m:t>
                        </m:r>
                      </m:sub>
                    </m:sSub>
                  </m:oMath>
                </a14:m>
                <a:endParaRPr lang="en-US" altLang="zh-CN"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60" name="文本框 59">
                <a:extLst>
                  <a:ext uri="{FF2B5EF4-FFF2-40B4-BE49-F238E27FC236}">
                    <a16:creationId xmlns:a16="http://schemas.microsoft.com/office/drawing/2014/main" id="{66688C5E-2F76-65A9-4F8D-BE64801D74A3}"/>
                  </a:ext>
                </a:extLst>
              </p:cNvPr>
              <p:cNvSpPr txBox="1">
                <a:spLocks noRot="1" noChangeAspect="1" noMove="1" noResize="1" noEditPoints="1" noAdjustHandles="1" noChangeArrowheads="1" noChangeShapeType="1" noTextEdit="1"/>
              </p:cNvSpPr>
              <p:nvPr/>
            </p:nvSpPr>
            <p:spPr>
              <a:xfrm>
                <a:off x="576000" y="3816000"/>
                <a:ext cx="3009476" cy="400110"/>
              </a:xfrm>
              <a:prstGeom prst="rect">
                <a:avLst/>
              </a:prstGeom>
              <a:blipFill>
                <a:blip r:embed="rId5"/>
                <a:stretch>
                  <a:fillRect t="-9091" b="-257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6" name="文本框 195">
                <a:extLst>
                  <a:ext uri="{FF2B5EF4-FFF2-40B4-BE49-F238E27FC236}">
                    <a16:creationId xmlns:a16="http://schemas.microsoft.com/office/drawing/2014/main" id="{778BE1AF-F450-6FA9-B2E0-989238DC9E00}"/>
                  </a:ext>
                </a:extLst>
              </p:cNvPr>
              <p:cNvSpPr txBox="1"/>
              <p:nvPr/>
            </p:nvSpPr>
            <p:spPr>
              <a:xfrm>
                <a:off x="7020000" y="2375999"/>
                <a:ext cx="1296000" cy="7920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1" lang="en-US" altLang="zh-CN" sz="4400" b="1" i="1" smtClean="0">
                          <a:solidFill>
                            <a:schemeClr val="accent5">
                              <a:lumMod val="75000"/>
                            </a:schemeClr>
                          </a:solidFill>
                          <a:latin typeface="Cambria Math" panose="02040503050406030204" pitchFamily="18" charset="0"/>
                          <a:ea typeface="微软雅黑" panose="020B0503020204020204" pitchFamily="34" charset="-122"/>
                        </a:rPr>
                        <m:t>+</m:t>
                      </m:r>
                    </m:oMath>
                  </m:oMathPara>
                </a14:m>
                <a:endParaRPr lang="zh-CN" altLang="en-US" sz="4400" b="1" dirty="0">
                  <a:solidFill>
                    <a:schemeClr val="accent5">
                      <a:lumMod val="75000"/>
                    </a:schemeClr>
                  </a:solidFill>
                </a:endParaRPr>
              </a:p>
            </p:txBody>
          </p:sp>
        </mc:Choice>
        <mc:Fallback xmlns="">
          <p:sp>
            <p:nvSpPr>
              <p:cNvPr id="196" name="文本框 195">
                <a:extLst>
                  <a:ext uri="{FF2B5EF4-FFF2-40B4-BE49-F238E27FC236}">
                    <a16:creationId xmlns:a16="http://schemas.microsoft.com/office/drawing/2014/main" id="{778BE1AF-F450-6FA9-B2E0-989238DC9E00}"/>
                  </a:ext>
                </a:extLst>
              </p:cNvPr>
              <p:cNvSpPr txBox="1">
                <a:spLocks noRot="1" noChangeAspect="1" noMove="1" noResize="1" noEditPoints="1" noAdjustHandles="1" noChangeArrowheads="1" noChangeShapeType="1" noTextEdit="1"/>
              </p:cNvSpPr>
              <p:nvPr/>
            </p:nvSpPr>
            <p:spPr>
              <a:xfrm>
                <a:off x="7020000" y="2375999"/>
                <a:ext cx="1296000" cy="79200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7" name="文本框 196">
                <a:extLst>
                  <a:ext uri="{FF2B5EF4-FFF2-40B4-BE49-F238E27FC236}">
                    <a16:creationId xmlns:a16="http://schemas.microsoft.com/office/drawing/2014/main" id="{36515522-1F80-8FBE-DD1B-75DCE48F73EE}"/>
                  </a:ext>
                </a:extLst>
              </p:cNvPr>
              <p:cNvSpPr txBox="1"/>
              <p:nvPr/>
            </p:nvSpPr>
            <p:spPr>
              <a:xfrm>
                <a:off x="7919999" y="3816000"/>
                <a:ext cx="3934541" cy="400110"/>
              </a:xfrm>
              <a:prstGeom prst="rect">
                <a:avLst/>
              </a:prstGeom>
              <a:noFill/>
            </p:spPr>
            <p:txBody>
              <a:bodyPr wrap="square">
                <a:spAutoFit/>
              </a:bodyPr>
              <a:lstStyle/>
              <a:p>
                <a14:m>
                  <m:oMath xmlns:m="http://schemas.openxmlformats.org/officeDocument/2006/math">
                    <m:sSub>
                      <m:sSubPr>
                        <m:ctrlPr>
                          <a:rPr kumimoji="1" lang="en-US" altLang="zh-CN" sz="2000" i="1" smtClean="0">
                            <a:solidFill>
                              <a:srgbClr val="002060"/>
                            </a:solidFill>
                            <a:latin typeface="Cambria Math" panose="02040503050406030204" pitchFamily="18" charset="0"/>
                            <a:ea typeface="微软雅黑" panose="020B0503020204020204" pitchFamily="34" charset="-122"/>
                          </a:rPr>
                        </m:ctrlPr>
                      </m:sSubPr>
                      <m:e>
                        <m:r>
                          <a:rPr kumimoji="1" lang="en-US" altLang="zh-CN" sz="2000" i="1">
                            <a:solidFill>
                              <a:srgbClr val="002060"/>
                            </a:solidFill>
                            <a:latin typeface="Cambria Math" panose="02040503050406030204" pitchFamily="18" charset="0"/>
                            <a:ea typeface="微软雅黑" panose="020B0503020204020204" pitchFamily="34" charset="-122"/>
                          </a:rPr>
                          <m:t>𝑉</m:t>
                        </m:r>
                      </m:e>
                      <m:sub>
                        <m:r>
                          <m:rPr>
                            <m:sty m:val="p"/>
                          </m:rPr>
                          <a:rPr kumimoji="1" lang="en-US" altLang="zh-CN" sz="2000" b="0" i="0" smtClean="0">
                            <a:solidFill>
                              <a:srgbClr val="002060"/>
                            </a:solidFill>
                            <a:latin typeface="Cambria Math" panose="02040503050406030204" pitchFamily="18" charset="0"/>
                            <a:ea typeface="微软雅黑" panose="020B0503020204020204" pitchFamily="34" charset="-122"/>
                          </a:rPr>
                          <m:t>DD</m:t>
                        </m:r>
                      </m:sub>
                    </m:sSub>
                    <m:r>
                      <a:rPr kumimoji="1" lang="en-US" altLang="zh-CN" sz="2000" i="1">
                        <a:solidFill>
                          <a:srgbClr val="002060"/>
                        </a:solidFill>
                        <a:latin typeface="Cambria Math" panose="02040503050406030204" pitchFamily="18" charset="0"/>
                        <a:ea typeface="微软雅黑" panose="020B0503020204020204" pitchFamily="34" charset="-122"/>
                      </a:rPr>
                      <m:t>=0</m:t>
                    </m:r>
                  </m:oMath>
                </a14:m>
                <a:r>
                  <a:rPr lang="zh-CN" altLang="en-US" sz="2000" dirty="0">
                    <a:solidFill>
                      <a:srgbClr val="002060"/>
                    </a:solidFill>
                    <a:latin typeface="微软雅黑" panose="020B0503020204020204" pitchFamily="34" charset="-122"/>
                    <a:ea typeface="微软雅黑" panose="020B0503020204020204" pitchFamily="34" charset="-122"/>
                  </a:rPr>
                  <a:t>，可得交流通路（动态）</a:t>
                </a:r>
                <a:endParaRPr lang="en-US" altLang="zh-CN" sz="2000" dirty="0">
                  <a:solidFill>
                    <a:srgbClr val="002060"/>
                  </a:solidFill>
                  <a:latin typeface="微软雅黑" panose="020B0503020204020204" pitchFamily="34" charset="-122"/>
                  <a:ea typeface="微软雅黑" panose="020B0503020204020204" pitchFamily="34" charset="-122"/>
                </a:endParaRPr>
              </a:p>
            </p:txBody>
          </p:sp>
        </mc:Choice>
        <mc:Fallback xmlns="">
          <p:sp>
            <p:nvSpPr>
              <p:cNvPr id="197" name="文本框 196">
                <a:extLst>
                  <a:ext uri="{FF2B5EF4-FFF2-40B4-BE49-F238E27FC236}">
                    <a16:creationId xmlns:a16="http://schemas.microsoft.com/office/drawing/2014/main" id="{14C04800-0CB1-7E0A-8AD0-7478B1F6725C}"/>
                  </a:ext>
                </a:extLst>
              </p:cNvPr>
              <p:cNvSpPr txBox="1">
                <a:spLocks noRot="1" noChangeAspect="1" noMove="1" noResize="1" noEditPoints="1" noAdjustHandles="1" noChangeArrowheads="1" noChangeShapeType="1" noTextEdit="1"/>
              </p:cNvSpPr>
              <p:nvPr/>
            </p:nvSpPr>
            <p:spPr>
              <a:xfrm>
                <a:off x="7919999" y="3816000"/>
                <a:ext cx="3934541" cy="400110"/>
              </a:xfrm>
              <a:prstGeom prst="rect">
                <a:avLst/>
              </a:prstGeom>
              <a:blipFill>
                <a:blip r:embed="rId24"/>
                <a:stretch>
                  <a:fillRect t="-9091" r="-155" b="-257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9" name="文本框 198">
                <a:extLst>
                  <a:ext uri="{FF2B5EF4-FFF2-40B4-BE49-F238E27FC236}">
                    <a16:creationId xmlns:a16="http://schemas.microsoft.com/office/drawing/2014/main" id="{38146FF9-75B2-6F5D-062B-189700D32FCA}"/>
                  </a:ext>
                </a:extLst>
              </p:cNvPr>
              <p:cNvSpPr txBox="1"/>
              <p:nvPr/>
            </p:nvSpPr>
            <p:spPr>
              <a:xfrm>
                <a:off x="4284000" y="4212000"/>
                <a:ext cx="2244218" cy="66652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00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𝐼</m:t>
                          </m:r>
                        </m:e>
                        <m:sub>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sz="2000" i="1" smtClean="0">
                          <a:solidFill>
                            <a:schemeClr val="accent5">
                              <a:lumMod val="75000"/>
                            </a:schemeClr>
                          </a:solidFill>
                          <a:latin typeface="Cambria Math" panose="02040503050406030204" pitchFamily="18" charset="0"/>
                          <a:ea typeface="微软雅黑" panose="020B0503020204020204" pitchFamily="34" charset="-122"/>
                        </a:rPr>
                        <m:t>=</m:t>
                      </m:r>
                      <m:f>
                        <m:fPr>
                          <m:ctrlPr>
                            <a:rPr kumimoji="1" lang="en-US" altLang="zh-CN" sz="2000" i="1" smtClean="0">
                              <a:solidFill>
                                <a:schemeClr val="accent5">
                                  <a:lumMod val="75000"/>
                                </a:schemeClr>
                              </a:solidFill>
                              <a:latin typeface="Cambria Math" panose="02040503050406030204" pitchFamily="18" charset="0"/>
                              <a:ea typeface="微软雅黑" panose="020B0503020204020204" pitchFamily="34" charset="-122"/>
                            </a:rPr>
                          </m:ctrlPr>
                        </m:fPr>
                        <m:num>
                          <m:sSub>
                            <m:sSubPr>
                              <m:ctrlPr>
                                <a:rPr kumimoji="1" lang="en-US" altLang="zh-CN" sz="20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000" i="0">
                                  <a:solidFill>
                                    <a:schemeClr val="accent5">
                                      <a:lumMod val="75000"/>
                                    </a:schemeClr>
                                  </a:solidFill>
                                  <a:latin typeface="Cambria Math" panose="02040503050406030204" pitchFamily="18" charset="0"/>
                                  <a:ea typeface="微软雅黑" panose="020B0503020204020204" pitchFamily="34" charset="-122"/>
                                </a:rPr>
                                <m:t>DD</m:t>
                              </m:r>
                            </m:sub>
                          </m:sSub>
                          <m:r>
                            <a:rPr kumimoji="1" lang="en-US" altLang="zh-CN" sz="2000" i="1">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sz="20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D</m:t>
                              </m:r>
                            </m:sub>
                          </m:sSub>
                        </m:num>
                        <m:den>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𝑅</m:t>
                          </m:r>
                        </m:den>
                      </m:f>
                    </m:oMath>
                  </m:oMathPara>
                </a14:m>
                <a:endParaRPr lang="en-US" altLang="zh-CN" sz="2000" dirty="0">
                  <a:latin typeface="微软雅黑" panose="020B0503020204020204" pitchFamily="34" charset="-122"/>
                  <a:ea typeface="微软雅黑" panose="020B0503020204020204" pitchFamily="34" charset="-122"/>
                </a:endParaRPr>
              </a:p>
            </p:txBody>
          </p:sp>
        </mc:Choice>
        <mc:Fallback xmlns="">
          <p:sp>
            <p:nvSpPr>
              <p:cNvPr id="199" name="文本框 198">
                <a:extLst>
                  <a:ext uri="{FF2B5EF4-FFF2-40B4-BE49-F238E27FC236}">
                    <a16:creationId xmlns:a16="http://schemas.microsoft.com/office/drawing/2014/main" id="{547B7851-C83C-9D88-370B-5C02585EDB23}"/>
                  </a:ext>
                </a:extLst>
              </p:cNvPr>
              <p:cNvSpPr txBox="1">
                <a:spLocks noRot="1" noChangeAspect="1" noMove="1" noResize="1" noEditPoints="1" noAdjustHandles="1" noChangeArrowheads="1" noChangeShapeType="1" noTextEdit="1"/>
              </p:cNvSpPr>
              <p:nvPr/>
            </p:nvSpPr>
            <p:spPr>
              <a:xfrm>
                <a:off x="4284000" y="4212000"/>
                <a:ext cx="2244218" cy="666529"/>
              </a:xfrm>
              <a:prstGeom prst="rect">
                <a:avLst/>
              </a:prstGeom>
              <a:blipFill>
                <a:blip r:embed="rId2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0" name="文本框 199">
                <a:extLst>
                  <a:ext uri="{FF2B5EF4-FFF2-40B4-BE49-F238E27FC236}">
                    <a16:creationId xmlns:a16="http://schemas.microsoft.com/office/drawing/2014/main" id="{5746F816-6F89-98E2-7F1C-0999E307036A}"/>
                  </a:ext>
                </a:extLst>
              </p:cNvPr>
              <p:cNvSpPr txBox="1"/>
              <p:nvPr/>
            </p:nvSpPr>
            <p:spPr>
              <a:xfrm>
                <a:off x="3852000" y="3816000"/>
                <a:ext cx="3708783" cy="400110"/>
              </a:xfrm>
              <a:prstGeom prst="rect">
                <a:avLst/>
              </a:prstGeom>
              <a:noFill/>
            </p:spPr>
            <p:txBody>
              <a:bodyPr wrap="square">
                <a:spAutoFit/>
              </a:bodyPr>
              <a:lstStyle/>
              <a:p>
                <a14:m>
                  <m:oMath xmlns:m="http://schemas.openxmlformats.org/officeDocument/2006/math">
                    <m:sSub>
                      <m:sSubPr>
                        <m:ctrlPr>
                          <a:rPr kumimoji="1" lang="en-US" altLang="zh-CN" sz="2000" i="1" smtClean="0">
                            <a:solidFill>
                              <a:srgbClr val="002060"/>
                            </a:solidFill>
                            <a:latin typeface="Cambria Math" panose="02040503050406030204" pitchFamily="18" charset="0"/>
                            <a:ea typeface="微软雅黑" panose="020B0503020204020204" pitchFamily="34" charset="-122"/>
                          </a:rPr>
                        </m:ctrlPr>
                      </m:sSubPr>
                      <m:e>
                        <m:r>
                          <a:rPr kumimoji="1" lang="en-US" altLang="zh-CN" sz="2000" i="1">
                            <a:solidFill>
                              <a:srgbClr val="002060"/>
                            </a:solidFill>
                            <a:latin typeface="Cambria Math" panose="02040503050406030204" pitchFamily="18" charset="0"/>
                            <a:ea typeface="微软雅黑" panose="020B0503020204020204" pitchFamily="34" charset="-122"/>
                          </a:rPr>
                          <m:t>𝑣</m:t>
                        </m:r>
                      </m:e>
                      <m:sub>
                        <m:r>
                          <m:rPr>
                            <m:sty m:val="p"/>
                          </m:rPr>
                          <a:rPr kumimoji="1" lang="en-US" altLang="zh-CN" sz="2000" b="0" i="0" smtClean="0">
                            <a:solidFill>
                              <a:srgbClr val="002060"/>
                            </a:solidFill>
                            <a:latin typeface="Cambria Math" panose="02040503050406030204" pitchFamily="18" charset="0"/>
                            <a:ea typeface="微软雅黑" panose="020B0503020204020204" pitchFamily="34" charset="-122"/>
                          </a:rPr>
                          <m:t>s</m:t>
                        </m:r>
                      </m:sub>
                    </m:sSub>
                    <m:r>
                      <a:rPr kumimoji="1" lang="en-US" altLang="zh-CN" sz="2000" i="1">
                        <a:solidFill>
                          <a:srgbClr val="002060"/>
                        </a:solidFill>
                        <a:latin typeface="Cambria Math" panose="02040503050406030204" pitchFamily="18" charset="0"/>
                        <a:ea typeface="微软雅黑" panose="020B0503020204020204" pitchFamily="34" charset="-122"/>
                      </a:rPr>
                      <m:t>=0</m:t>
                    </m:r>
                  </m:oMath>
                </a14:m>
                <a:r>
                  <a:rPr lang="zh-CN" altLang="en-US" sz="2000" dirty="0">
                    <a:solidFill>
                      <a:srgbClr val="002060"/>
                    </a:solidFill>
                    <a:latin typeface="微软雅黑" panose="020B0503020204020204" pitchFamily="34" charset="-122"/>
                    <a:ea typeface="微软雅黑" panose="020B0503020204020204" pitchFamily="34" charset="-122"/>
                  </a:rPr>
                  <a:t>，可得直流通路（静态）</a:t>
                </a:r>
                <a:endParaRPr lang="en-US" altLang="zh-CN" sz="2000" dirty="0">
                  <a:solidFill>
                    <a:srgbClr val="002060"/>
                  </a:solidFill>
                  <a:latin typeface="微软雅黑" panose="020B0503020204020204" pitchFamily="34" charset="-122"/>
                  <a:ea typeface="微软雅黑" panose="020B0503020204020204" pitchFamily="34" charset="-122"/>
                </a:endParaRPr>
              </a:p>
            </p:txBody>
          </p:sp>
        </mc:Choice>
        <mc:Fallback xmlns="">
          <p:sp>
            <p:nvSpPr>
              <p:cNvPr id="200" name="文本框 199">
                <a:extLst>
                  <a:ext uri="{FF2B5EF4-FFF2-40B4-BE49-F238E27FC236}">
                    <a16:creationId xmlns:a16="http://schemas.microsoft.com/office/drawing/2014/main" id="{D9E2E12B-E2EE-1A4C-0F88-B80C871B02E2}"/>
                  </a:ext>
                </a:extLst>
              </p:cNvPr>
              <p:cNvSpPr txBox="1">
                <a:spLocks noRot="1" noChangeAspect="1" noMove="1" noResize="1" noEditPoints="1" noAdjustHandles="1" noChangeArrowheads="1" noChangeShapeType="1" noTextEdit="1"/>
              </p:cNvSpPr>
              <p:nvPr/>
            </p:nvSpPr>
            <p:spPr>
              <a:xfrm>
                <a:off x="3852000" y="3816000"/>
                <a:ext cx="3708783" cy="400110"/>
              </a:xfrm>
              <a:prstGeom prst="rect">
                <a:avLst/>
              </a:prstGeom>
              <a:blipFill>
                <a:blip r:embed="rId26"/>
                <a:stretch>
                  <a:fillRect t="-9091" r="-1151" b="-257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1" name="Rectangle 8">
                <a:extLst>
                  <a:ext uri="{FF2B5EF4-FFF2-40B4-BE49-F238E27FC236}">
                    <a16:creationId xmlns:a16="http://schemas.microsoft.com/office/drawing/2014/main" id="{165283D3-3B21-7D53-54DE-ADEEB3C075AD}"/>
                  </a:ext>
                </a:extLst>
              </p:cNvPr>
              <p:cNvSpPr>
                <a:spLocks noChangeArrowheads="1"/>
              </p:cNvSpPr>
              <p:nvPr/>
            </p:nvSpPr>
            <p:spPr bwMode="auto">
              <a:xfrm>
                <a:off x="8172000" y="4212000"/>
                <a:ext cx="2452520" cy="720838"/>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𝑟</m:t>
                          </m:r>
                        </m:e>
                        <m:sub>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t>=</m:t>
                      </m:r>
                      <m:f>
                        <m:fPr>
                          <m:ctrlP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ctrlPr>
                        </m:fPr>
                        <m:num>
                          <m:r>
                            <m:rPr>
                              <m:sty m:val="p"/>
                            </m:rPr>
                            <a:rPr kumimoji="1" lang="el-GR" altLang="zh-CN" sz="2000" b="0" i="1" smtClean="0">
                              <a:solidFill>
                                <a:schemeClr val="accent5">
                                  <a:lumMod val="75000"/>
                                </a:schemeClr>
                              </a:solidFill>
                              <a:latin typeface="Cambria Math" panose="02040503050406030204" pitchFamily="18" charset="0"/>
                              <a:ea typeface="Cambria Math" panose="02040503050406030204" pitchFamily="18" charset="0"/>
                            </a:rPr>
                            <m:t>Δ</m:t>
                          </m:r>
                          <m:sSub>
                            <m:sSubPr>
                              <m:ctrlP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t>𝑣</m:t>
                              </m:r>
                            </m:e>
                            <m:sub>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D</m:t>
                              </m:r>
                            </m:sub>
                          </m:sSub>
                        </m:num>
                        <m:den>
                          <m:r>
                            <m:rPr>
                              <m:sty m:val="p"/>
                            </m:rPr>
                            <a:rPr kumimoji="1" lang="el-GR" altLang="zh-CN" sz="2000" b="0" i="1">
                              <a:solidFill>
                                <a:schemeClr val="accent5">
                                  <a:lumMod val="75000"/>
                                </a:schemeClr>
                              </a:solidFill>
                              <a:latin typeface="Cambria Math" panose="02040503050406030204" pitchFamily="18" charset="0"/>
                              <a:ea typeface="Cambria Math" panose="02040503050406030204" pitchFamily="18" charset="0"/>
                            </a:rPr>
                            <m:t>Δ</m:t>
                          </m:r>
                          <m:sSub>
                            <m:sSubPr>
                              <m:ctrlP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𝑖</m:t>
                              </m:r>
                            </m:e>
                            <m:sub>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D</m:t>
                              </m:r>
                            </m:sub>
                          </m:sSub>
                        </m:den>
                      </m:f>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m:t>
                      </m:r>
                      <m:f>
                        <m:fPr>
                          <m:ctrlP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ctrlPr>
                        </m:fPr>
                        <m:num>
                          <m:sSub>
                            <m:sSubPr>
                              <m:ctrlP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T</m:t>
                              </m:r>
                            </m:sub>
                          </m:sSub>
                        </m:num>
                        <m:den>
                          <m:sSub>
                            <m:sSubPr>
                              <m:ctrlPr>
                                <a:rPr kumimoji="1" lang="en-US" altLang="zh-CN" sz="20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t>𝐼</m:t>
                              </m:r>
                            </m:e>
                            <m:sub>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D</m:t>
                              </m:r>
                            </m:sub>
                          </m:sSub>
                        </m:den>
                      </m:f>
                    </m:oMath>
                  </m:oMathPara>
                </a14:m>
                <a:endParaRPr kumimoji="1" lang="zh-CN" altLang="en-US" sz="2000" b="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201" name="Rectangle 8">
                <a:extLst>
                  <a:ext uri="{FF2B5EF4-FFF2-40B4-BE49-F238E27FC236}">
                    <a16:creationId xmlns:a16="http://schemas.microsoft.com/office/drawing/2014/main" id="{C25F5BD4-0D05-73A2-8A13-C28DC3411A30}"/>
                  </a:ext>
                </a:extLst>
              </p:cNvPr>
              <p:cNvSpPr>
                <a:spLocks noRot="1" noChangeAspect="1" noMove="1" noResize="1" noEditPoints="1" noAdjustHandles="1" noChangeArrowheads="1" noChangeShapeType="1" noTextEdit="1"/>
              </p:cNvSpPr>
              <p:nvPr/>
            </p:nvSpPr>
            <p:spPr bwMode="auto">
              <a:xfrm>
                <a:off x="8172000" y="4212000"/>
                <a:ext cx="2452520" cy="720838"/>
              </a:xfrm>
              <a:prstGeom prst="rect">
                <a:avLst/>
              </a:prstGeom>
              <a:blipFill>
                <a:blip r:embed="rId27"/>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3" name="文本框 202">
                <a:extLst>
                  <a:ext uri="{FF2B5EF4-FFF2-40B4-BE49-F238E27FC236}">
                    <a16:creationId xmlns:a16="http://schemas.microsoft.com/office/drawing/2014/main" id="{97D3A2BF-C0FB-2F9E-7E66-E0DCBD6DD536}"/>
                  </a:ext>
                </a:extLst>
              </p:cNvPr>
              <p:cNvSpPr txBox="1"/>
              <p:nvPr/>
            </p:nvSpPr>
            <p:spPr>
              <a:xfrm>
                <a:off x="7920000" y="4932000"/>
                <a:ext cx="4158929" cy="923330"/>
              </a:xfrm>
              <a:prstGeom prst="rect">
                <a:avLst/>
              </a:prstGeom>
              <a:noFill/>
            </p:spPr>
            <p:txBody>
              <a:bodyPr wrap="square">
                <a:spAutoFit/>
              </a:bodyPr>
              <a:lstStyle/>
              <a:p>
                <a:r>
                  <a:rPr kumimoji="1" lang="zh-CN" altLang="en-US" b="0" dirty="0">
                    <a:solidFill>
                      <a:srgbClr val="002060"/>
                    </a:solidFill>
                    <a:ea typeface="微软雅黑" panose="020B0503020204020204" pitchFamily="34" charset="-122"/>
                  </a:rPr>
                  <a:t>其中 </a:t>
                </a:r>
                <a14:m>
                  <m:oMath xmlns:m="http://schemas.openxmlformats.org/officeDocument/2006/math">
                    <m:sSub>
                      <m:sSubPr>
                        <m:ctrlPr>
                          <a:rPr kumimoji="1" lang="en-US" altLang="zh-CN" i="1">
                            <a:solidFill>
                              <a:srgbClr val="002060"/>
                            </a:solidFill>
                            <a:latin typeface="Cambria Math" panose="02040503050406030204" pitchFamily="18" charset="0"/>
                            <a:ea typeface="微软雅黑" panose="020B0503020204020204" pitchFamily="34" charset="-122"/>
                          </a:rPr>
                        </m:ctrlPr>
                      </m:sSubPr>
                      <m:e>
                        <m:r>
                          <a:rPr kumimoji="1" lang="en-US" altLang="zh-CN" i="1">
                            <a:solidFill>
                              <a:srgbClr val="002060"/>
                            </a:solidFill>
                            <a:latin typeface="Cambria Math" panose="02040503050406030204" pitchFamily="18" charset="0"/>
                            <a:ea typeface="微软雅黑" panose="020B0503020204020204" pitchFamily="34" charset="-122"/>
                          </a:rPr>
                          <m:t>𝑟</m:t>
                        </m:r>
                      </m:e>
                      <m:sub>
                        <m:r>
                          <m:rPr>
                            <m:sty m:val="p"/>
                          </m:rPr>
                          <a:rPr kumimoji="1" lang="en-US" altLang="zh-CN" b="0" i="0" smtClean="0">
                            <a:solidFill>
                              <a:srgbClr val="002060"/>
                            </a:solidFill>
                            <a:latin typeface="Cambria Math" panose="02040503050406030204" pitchFamily="18" charset="0"/>
                            <a:ea typeface="微软雅黑" panose="020B0503020204020204" pitchFamily="34" charset="-122"/>
                          </a:rPr>
                          <m:t>d</m:t>
                        </m:r>
                      </m:sub>
                    </m:sSub>
                  </m:oMath>
                </a14:m>
                <a:r>
                  <a:rPr kumimoji="1" lang="zh-CN" altLang="en-US" b="0" dirty="0">
                    <a:solidFill>
                      <a:srgbClr val="002060"/>
                    </a:solidFill>
                    <a:ea typeface="微软雅黑" panose="020B0503020204020204" pitchFamily="34" charset="-122"/>
                  </a:rPr>
                  <a:t> 是微变电阻，</a:t>
                </a:r>
                <a14:m>
                  <m:oMath xmlns:m="http://schemas.openxmlformats.org/officeDocument/2006/math">
                    <m:sSub>
                      <m:sSubPr>
                        <m:ctrlPr>
                          <a:rPr kumimoji="1" lang="en-US" altLang="zh-CN" b="0" i="1" smtClean="0">
                            <a:solidFill>
                              <a:srgbClr val="002060"/>
                            </a:solidFill>
                            <a:latin typeface="Cambria Math" panose="02040503050406030204" pitchFamily="18" charset="0"/>
                            <a:ea typeface="微软雅黑" panose="020B0503020204020204" pitchFamily="34" charset="-122"/>
                          </a:rPr>
                        </m:ctrlPr>
                      </m:sSubPr>
                      <m:e>
                        <m:r>
                          <a:rPr kumimoji="1" lang="en-US" altLang="zh-CN" b="0" i="1" smtClean="0">
                            <a:solidFill>
                              <a:srgbClr val="002060"/>
                            </a:solidFill>
                            <a:latin typeface="Cambria Math" panose="02040503050406030204" pitchFamily="18" charset="0"/>
                            <a:ea typeface="微软雅黑" panose="020B0503020204020204" pitchFamily="34" charset="-122"/>
                          </a:rPr>
                          <m:t>𝑉</m:t>
                        </m:r>
                      </m:e>
                      <m:sub>
                        <m:r>
                          <m:rPr>
                            <m:sty m:val="p"/>
                          </m:rPr>
                          <a:rPr kumimoji="1" lang="en-US" altLang="zh-CN" b="0" i="0" smtClean="0">
                            <a:solidFill>
                              <a:srgbClr val="002060"/>
                            </a:solidFill>
                            <a:latin typeface="Cambria Math" panose="02040503050406030204" pitchFamily="18" charset="0"/>
                            <a:ea typeface="微软雅黑" panose="020B0503020204020204" pitchFamily="34" charset="-122"/>
                          </a:rPr>
                          <m:t>T</m:t>
                        </m:r>
                      </m:sub>
                    </m:sSub>
                  </m:oMath>
                </a14:m>
                <a:r>
                  <a:rPr lang="zh-CN" altLang="en-US" dirty="0">
                    <a:solidFill>
                      <a:srgbClr val="002060"/>
                    </a:solidFill>
                    <a:latin typeface="微软雅黑" panose="020B0503020204020204" pitchFamily="34" charset="-122"/>
                    <a:ea typeface="微软雅黑" panose="020B0503020204020204" pitchFamily="34" charset="-122"/>
                  </a:rPr>
                  <a:t> 是温度的电压当量，常温（</a:t>
                </a:r>
                <a14:m>
                  <m:oMath xmlns:m="http://schemas.openxmlformats.org/officeDocument/2006/math">
                    <m:r>
                      <a:rPr kumimoji="1" lang="en-US" altLang="zh-CN" i="1" dirty="0" smtClean="0">
                        <a:solidFill>
                          <a:srgbClr val="002060"/>
                        </a:solidFill>
                        <a:latin typeface="Cambria Math" panose="02040503050406030204" pitchFamily="18" charset="0"/>
                        <a:ea typeface="微软雅黑" panose="020B0503020204020204" pitchFamily="34" charset="-122"/>
                      </a:rPr>
                      <m:t>3</m:t>
                    </m:r>
                    <m:r>
                      <a:rPr kumimoji="1" lang="en-US" altLang="zh-CN" i="1" dirty="0">
                        <a:solidFill>
                          <a:srgbClr val="002060"/>
                        </a:solidFill>
                        <a:latin typeface="Cambria Math" panose="02040503050406030204" pitchFamily="18" charset="0"/>
                        <a:ea typeface="微软雅黑" panose="020B0503020204020204" pitchFamily="34" charset="-122"/>
                      </a:rPr>
                      <m:t>0</m:t>
                    </m:r>
                    <m:r>
                      <a:rPr kumimoji="1" lang="en-US" altLang="zh-CN" i="1" dirty="0" smtClean="0">
                        <a:solidFill>
                          <a:srgbClr val="002060"/>
                        </a:solidFill>
                        <a:latin typeface="Cambria Math" panose="02040503050406030204" pitchFamily="18" charset="0"/>
                        <a:ea typeface="微软雅黑" panose="020B0503020204020204" pitchFamily="34" charset="-122"/>
                      </a:rPr>
                      <m:t>0</m:t>
                    </m:r>
                    <m:r>
                      <a:rPr kumimoji="1" lang="en-US" altLang="zh-CN" b="0" i="1" dirty="0" smtClean="0">
                        <a:solidFill>
                          <a:srgbClr val="002060"/>
                        </a:solidFill>
                        <a:latin typeface="Cambria Math" panose="02040503050406030204" pitchFamily="18" charset="0"/>
                        <a:ea typeface="微软雅黑" panose="020B0503020204020204" pitchFamily="34" charset="-122"/>
                      </a:rPr>
                      <m:t> </m:t>
                    </m:r>
                    <m:r>
                      <m:rPr>
                        <m:sty m:val="p"/>
                      </m:rPr>
                      <a:rPr kumimoji="1" lang="en-US" altLang="zh-CN" b="0" i="0" dirty="0" smtClean="0">
                        <a:solidFill>
                          <a:srgbClr val="002060"/>
                        </a:solidFill>
                        <a:latin typeface="Cambria Math" panose="02040503050406030204" pitchFamily="18" charset="0"/>
                        <a:ea typeface="微软雅黑" panose="020B0503020204020204" pitchFamily="34" charset="-122"/>
                      </a:rPr>
                      <m:t>K</m:t>
                    </m:r>
                  </m:oMath>
                </a14:m>
                <a:r>
                  <a:rPr lang="zh-CN" altLang="en-US" dirty="0">
                    <a:solidFill>
                      <a:srgbClr val="002060"/>
                    </a:solidFill>
                    <a:latin typeface="微软雅黑" panose="020B0503020204020204" pitchFamily="34" charset="-122"/>
                    <a:ea typeface="微软雅黑" panose="020B0503020204020204" pitchFamily="34" charset="-122"/>
                  </a:rPr>
                  <a:t>）下</a:t>
                </a:r>
                <a:r>
                  <a:rPr kumimoji="1" lang="en-US" altLang="zh-CN" dirty="0">
                    <a:solidFill>
                      <a:srgbClr val="002060"/>
                    </a:solidFill>
                    <a:ea typeface="微软雅黑" panose="020B0503020204020204" pitchFamily="34" charset="-122"/>
                  </a:rPr>
                  <a:t> </a:t>
                </a:r>
                <a14:m>
                  <m:oMath xmlns:m="http://schemas.openxmlformats.org/officeDocument/2006/math">
                    <m:sSub>
                      <m:sSubPr>
                        <m:ctrlPr>
                          <a:rPr kumimoji="1" lang="en-US" altLang="zh-CN" i="1">
                            <a:solidFill>
                              <a:srgbClr val="002060"/>
                            </a:solidFill>
                            <a:latin typeface="Cambria Math" panose="02040503050406030204" pitchFamily="18" charset="0"/>
                            <a:ea typeface="微软雅黑" panose="020B0503020204020204" pitchFamily="34" charset="-122"/>
                          </a:rPr>
                        </m:ctrlPr>
                      </m:sSubPr>
                      <m:e>
                        <m:r>
                          <a:rPr kumimoji="1" lang="en-US" altLang="zh-CN" i="1">
                            <a:solidFill>
                              <a:srgbClr val="002060"/>
                            </a:solidFill>
                            <a:latin typeface="Cambria Math" panose="02040503050406030204" pitchFamily="18" charset="0"/>
                            <a:ea typeface="微软雅黑" panose="020B0503020204020204" pitchFamily="34" charset="-122"/>
                          </a:rPr>
                          <m:t>𝑉</m:t>
                        </m:r>
                      </m:e>
                      <m:sub>
                        <m:r>
                          <m:rPr>
                            <m:sty m:val="p"/>
                          </m:rPr>
                          <a:rPr kumimoji="1" lang="en-US" altLang="zh-CN" b="0" i="0" smtClean="0">
                            <a:solidFill>
                              <a:srgbClr val="002060"/>
                            </a:solidFill>
                            <a:latin typeface="Cambria Math" panose="02040503050406030204" pitchFamily="18" charset="0"/>
                            <a:ea typeface="微软雅黑" panose="020B0503020204020204" pitchFamily="34" charset="-122"/>
                          </a:rPr>
                          <m:t>T</m:t>
                        </m:r>
                      </m:sub>
                    </m:sSub>
                    <m:r>
                      <a:rPr kumimoji="1" lang="en-US" altLang="zh-CN" i="1" smtClean="0">
                        <a:solidFill>
                          <a:srgbClr val="002060"/>
                        </a:solidFill>
                        <a:latin typeface="Cambria Math" panose="02040503050406030204" pitchFamily="18" charset="0"/>
                        <a:ea typeface="微软雅黑" panose="020B0503020204020204" pitchFamily="34" charset="-122"/>
                      </a:rPr>
                      <m:t>=</m:t>
                    </m:r>
                    <m:r>
                      <a:rPr kumimoji="1" lang="en-US" altLang="zh-CN" b="0" i="1" smtClean="0">
                        <a:solidFill>
                          <a:srgbClr val="002060"/>
                        </a:solidFill>
                        <a:latin typeface="Cambria Math" panose="02040503050406030204" pitchFamily="18" charset="0"/>
                        <a:ea typeface="微软雅黑" panose="020B0503020204020204" pitchFamily="34" charset="-122"/>
                      </a:rPr>
                      <m:t>0.026 </m:t>
                    </m:r>
                    <m:r>
                      <m:rPr>
                        <m:sty m:val="p"/>
                      </m:rPr>
                      <a:rPr kumimoji="1" lang="en-US" altLang="zh-CN" b="0" i="0" smtClean="0">
                        <a:solidFill>
                          <a:srgbClr val="002060"/>
                        </a:solidFill>
                        <a:latin typeface="Cambria Math" panose="02040503050406030204" pitchFamily="18" charset="0"/>
                        <a:ea typeface="微软雅黑" panose="020B0503020204020204" pitchFamily="34" charset="-122"/>
                      </a:rPr>
                      <m:t>V</m:t>
                    </m:r>
                  </m:oMath>
                </a14:m>
                <a:r>
                  <a:rPr lang="zh-CN" altLang="en-US" dirty="0">
                    <a:solidFill>
                      <a:srgbClr val="002060"/>
                    </a:solidFill>
                    <a:latin typeface="微软雅黑" panose="020B0503020204020204" pitchFamily="34" charset="-122"/>
                    <a:ea typeface="微软雅黑" panose="020B0503020204020204" pitchFamily="34" charset="-122"/>
                  </a:rPr>
                  <a:t>，</a:t>
                </a:r>
                <a:r>
                  <a:rPr lang="zh-CN" altLang="en-US" dirty="0">
                    <a:solidFill>
                      <a:schemeClr val="accent5">
                        <a:lumMod val="75000"/>
                      </a:schemeClr>
                    </a:solidFill>
                    <a:latin typeface="微软雅黑" panose="020B0503020204020204" pitchFamily="34" charset="-122"/>
                    <a:ea typeface="微软雅黑" panose="020B0503020204020204" pitchFamily="34" charset="-122"/>
                  </a:rPr>
                  <a:t>见模电 </a:t>
                </a:r>
                <a:r>
                  <a:rPr lang="en-US" altLang="zh-CN" dirty="0">
                    <a:solidFill>
                      <a:schemeClr val="accent5">
                        <a:lumMod val="75000"/>
                      </a:schemeClr>
                    </a:solidFill>
                    <a:latin typeface="微软雅黑" panose="020B0503020204020204" pitchFamily="34" charset="-122"/>
                    <a:ea typeface="微软雅黑" panose="020B0503020204020204" pitchFamily="34" charset="-122"/>
                  </a:rPr>
                  <a:t>P59</a:t>
                </a:r>
                <a:r>
                  <a:rPr lang="zh-CN" altLang="en-US" dirty="0">
                    <a:solidFill>
                      <a:schemeClr val="accent5">
                        <a:lumMod val="75000"/>
                      </a:schemeClr>
                    </a:solidFill>
                    <a:latin typeface="微软雅黑" panose="020B0503020204020204" pitchFamily="34" charset="-122"/>
                    <a:ea typeface="微软雅黑" panose="020B0503020204020204" pitchFamily="34" charset="-122"/>
                  </a:rPr>
                  <a:t> 和 </a:t>
                </a:r>
                <a:r>
                  <a:rPr lang="en-US" altLang="zh-CN" dirty="0">
                    <a:solidFill>
                      <a:schemeClr val="accent5">
                        <a:lumMod val="75000"/>
                      </a:schemeClr>
                    </a:solidFill>
                    <a:latin typeface="微软雅黑" panose="020B0503020204020204" pitchFamily="34" charset="-122"/>
                    <a:ea typeface="微软雅黑" panose="020B0503020204020204" pitchFamily="34" charset="-122"/>
                  </a:rPr>
                  <a:t>P69</a:t>
                </a:r>
                <a:endParaRPr lang="zh-CN" altLang="en-US"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203" name="文本框 202">
                <a:extLst>
                  <a:ext uri="{FF2B5EF4-FFF2-40B4-BE49-F238E27FC236}">
                    <a16:creationId xmlns:a16="http://schemas.microsoft.com/office/drawing/2014/main" id="{680B25F3-1007-D082-6904-EE3747D2D0EB}"/>
                  </a:ext>
                </a:extLst>
              </p:cNvPr>
              <p:cNvSpPr txBox="1">
                <a:spLocks noRot="1" noChangeAspect="1" noMove="1" noResize="1" noEditPoints="1" noAdjustHandles="1" noChangeArrowheads="1" noChangeShapeType="1" noTextEdit="1"/>
              </p:cNvSpPr>
              <p:nvPr/>
            </p:nvSpPr>
            <p:spPr>
              <a:xfrm>
                <a:off x="7920000" y="4932000"/>
                <a:ext cx="4158929" cy="923330"/>
              </a:xfrm>
              <a:prstGeom prst="rect">
                <a:avLst/>
              </a:prstGeom>
              <a:blipFill>
                <a:blip r:embed="rId28"/>
                <a:stretch>
                  <a:fillRect l="-1173" t="-3947" r="-1320" b="-92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7" name="文本框 206">
                <a:extLst>
                  <a:ext uri="{FF2B5EF4-FFF2-40B4-BE49-F238E27FC236}">
                    <a16:creationId xmlns:a16="http://schemas.microsoft.com/office/drawing/2014/main" id="{76ACB4F4-010D-9851-1BB0-FDFB6AAB2779}"/>
                  </a:ext>
                </a:extLst>
              </p:cNvPr>
              <p:cNvSpPr txBox="1"/>
              <p:nvPr/>
            </p:nvSpPr>
            <p:spPr>
              <a:xfrm>
                <a:off x="720000" y="5040000"/>
                <a:ext cx="4814521" cy="1554272"/>
              </a:xfrm>
              <a:prstGeom prst="rect">
                <a:avLst/>
              </a:prstGeom>
              <a:noFill/>
            </p:spPr>
            <p:txBody>
              <a:bodyPr wrap="square">
                <a:spAutoFit/>
              </a:bodyPr>
              <a:lstStyle/>
              <a:p>
                <a:pPr>
                  <a:spcAft>
                    <a:spcPts val="600"/>
                  </a:spcAft>
                </a:pPr>
                <a14:m>
                  <m:oMathPara xmlns:m="http://schemas.openxmlformats.org/officeDocument/2006/math">
                    <m:oMathParaPr>
                      <m:jc m:val="left"/>
                    </m:oMathParaPr>
                    <m:oMath xmlns:m="http://schemas.openxmlformats.org/officeDocument/2006/math">
                      <m:sSub>
                        <m:sSubPr>
                          <m:ctrlPr>
                            <a:rPr kumimoji="1" lang="en-US" altLang="zh-CN" sz="2000" b="0" i="1" smtClean="0">
                              <a:solidFill>
                                <a:srgbClr val="0000FF"/>
                              </a:solidFill>
                              <a:latin typeface="Cambria Math" panose="02040503050406030204" pitchFamily="18" charset="0"/>
                              <a:ea typeface="微软雅黑" panose="020B0503020204020204" pitchFamily="34" charset="-122"/>
                            </a:rPr>
                          </m:ctrlPr>
                        </m:sSubPr>
                        <m:e>
                          <m:r>
                            <a:rPr kumimoji="1" lang="en-US" altLang="zh-CN" sz="2000" b="0" i="1" smtClean="0">
                              <a:solidFill>
                                <a:srgbClr val="0000FF"/>
                              </a:solidFill>
                              <a:latin typeface="Cambria Math" panose="02040503050406030204" pitchFamily="18" charset="0"/>
                              <a:ea typeface="微软雅黑" panose="020B0503020204020204" pitchFamily="34" charset="-122"/>
                            </a:rPr>
                            <m:t>𝑖</m:t>
                          </m:r>
                        </m:e>
                        <m:sub>
                          <m:r>
                            <m:rPr>
                              <m:sty m:val="p"/>
                            </m:rPr>
                            <a:rPr kumimoji="1" lang="en-US" altLang="zh-CN" sz="2000" b="0" i="0" smtClean="0">
                              <a:solidFill>
                                <a:srgbClr val="0000FF"/>
                              </a:solidFill>
                              <a:latin typeface="Cambria Math" panose="02040503050406030204" pitchFamily="18" charset="0"/>
                              <a:ea typeface="微软雅黑" panose="020B0503020204020204" pitchFamily="34" charset="-122"/>
                            </a:rPr>
                            <m:t>D</m:t>
                          </m:r>
                        </m:sub>
                      </m:sSub>
                      <m:r>
                        <a:rPr kumimoji="1" lang="en-US" altLang="zh-CN" sz="2000" b="0" i="1" smtClean="0">
                          <a:solidFill>
                            <a:srgbClr val="0000FF"/>
                          </a:solidFill>
                          <a:latin typeface="Cambria Math" panose="02040503050406030204" pitchFamily="18" charset="0"/>
                          <a:ea typeface="微软雅黑" panose="020B0503020204020204" pitchFamily="34" charset="-122"/>
                        </a:rPr>
                        <m:t> </m:t>
                      </m:r>
                      <m:r>
                        <a:rPr kumimoji="1" lang="en-US" altLang="zh-CN" sz="2000" i="1">
                          <a:solidFill>
                            <a:srgbClr val="0000FF"/>
                          </a:solidFill>
                          <a:latin typeface="Cambria Math" panose="02040503050406030204" pitchFamily="18" charset="0"/>
                          <a:ea typeface="微软雅黑" panose="020B0503020204020204" pitchFamily="34" charset="-122"/>
                        </a:rPr>
                        <m:t>=</m:t>
                      </m:r>
                      <m:sSub>
                        <m:sSubPr>
                          <m:ctrlPr>
                            <a:rPr kumimoji="1" lang="en-US" altLang="zh-CN" sz="2000" i="1">
                              <a:solidFill>
                                <a:srgbClr val="0000FF"/>
                              </a:solidFill>
                              <a:latin typeface="Cambria Math" panose="02040503050406030204" pitchFamily="18" charset="0"/>
                              <a:ea typeface="微软雅黑" panose="020B0503020204020204" pitchFamily="34" charset="-122"/>
                            </a:rPr>
                          </m:ctrlPr>
                        </m:sSubPr>
                        <m:e>
                          <m:r>
                            <a:rPr kumimoji="1" lang="en-US" altLang="zh-CN" sz="2000" i="1">
                              <a:solidFill>
                                <a:srgbClr val="0000FF"/>
                              </a:solidFill>
                              <a:latin typeface="Cambria Math" panose="02040503050406030204" pitchFamily="18" charset="0"/>
                              <a:ea typeface="微软雅黑" panose="020B0503020204020204" pitchFamily="34" charset="-122"/>
                            </a:rPr>
                            <m:t>𝐼</m:t>
                          </m:r>
                        </m:e>
                        <m:sub>
                          <m:r>
                            <m:rPr>
                              <m:sty m:val="p"/>
                            </m:rPr>
                            <a:rPr kumimoji="1" lang="en-US" altLang="zh-CN" sz="2000" b="0" i="0" smtClean="0">
                              <a:solidFill>
                                <a:srgbClr val="0000FF"/>
                              </a:solidFill>
                              <a:latin typeface="Cambria Math" panose="02040503050406030204" pitchFamily="18" charset="0"/>
                              <a:ea typeface="微软雅黑" panose="020B0503020204020204" pitchFamily="34" charset="-122"/>
                            </a:rPr>
                            <m:t>D</m:t>
                          </m:r>
                        </m:sub>
                      </m:sSub>
                      <m:r>
                        <a:rPr kumimoji="1" lang="en-US" altLang="zh-CN" sz="2000" i="1" smtClean="0">
                          <a:solidFill>
                            <a:srgbClr val="0000FF"/>
                          </a:solidFill>
                          <a:latin typeface="Cambria Math" panose="02040503050406030204" pitchFamily="18" charset="0"/>
                          <a:ea typeface="微软雅黑" panose="020B0503020204020204" pitchFamily="34" charset="-122"/>
                        </a:rPr>
                        <m:t>+</m:t>
                      </m:r>
                      <m:sSub>
                        <m:sSubPr>
                          <m:ctrlPr>
                            <a:rPr kumimoji="1" lang="en-US" altLang="zh-CN" sz="2000" i="1">
                              <a:solidFill>
                                <a:srgbClr val="0000FF"/>
                              </a:solidFill>
                              <a:latin typeface="Cambria Math" panose="02040503050406030204" pitchFamily="18" charset="0"/>
                              <a:ea typeface="微软雅黑" panose="020B0503020204020204" pitchFamily="34" charset="-122"/>
                            </a:rPr>
                          </m:ctrlPr>
                        </m:sSubPr>
                        <m:e>
                          <m:r>
                            <a:rPr kumimoji="1" lang="en-US" altLang="zh-CN" sz="2000" i="1">
                              <a:solidFill>
                                <a:srgbClr val="0000FF"/>
                              </a:solidFill>
                              <a:latin typeface="Cambria Math" panose="02040503050406030204" pitchFamily="18" charset="0"/>
                              <a:ea typeface="微软雅黑" panose="020B0503020204020204" pitchFamily="34" charset="-122"/>
                            </a:rPr>
                            <m:t>𝑖</m:t>
                          </m:r>
                        </m:e>
                        <m:sub>
                          <m:r>
                            <m:rPr>
                              <m:sty m:val="p"/>
                            </m:rPr>
                            <a:rPr kumimoji="1" lang="en-US" altLang="zh-CN" sz="2000" b="0" i="0" smtClean="0">
                              <a:solidFill>
                                <a:srgbClr val="0000FF"/>
                              </a:solidFill>
                              <a:latin typeface="Cambria Math" panose="02040503050406030204" pitchFamily="18" charset="0"/>
                              <a:ea typeface="微软雅黑" panose="020B0503020204020204" pitchFamily="34" charset="-122"/>
                            </a:rPr>
                            <m:t>d</m:t>
                          </m:r>
                        </m:sub>
                      </m:sSub>
                    </m:oMath>
                  </m:oMathPara>
                </a14:m>
                <a:endParaRPr lang="en-US" altLang="zh-CN" sz="2000" dirty="0">
                  <a:solidFill>
                    <a:srgbClr val="0000FF"/>
                  </a:solidFill>
                  <a:latin typeface="微软雅黑" panose="020B0503020204020204" pitchFamily="34" charset="-122"/>
                  <a:ea typeface="微软雅黑" panose="020B0503020204020204" pitchFamily="34" charset="-122"/>
                </a:endParaRPr>
              </a:p>
              <a:p>
                <a:pPr>
                  <a:spcAft>
                    <a:spcPts val="600"/>
                  </a:spcAft>
                </a:pPr>
                <a14:m>
                  <m:oMathPara xmlns:m="http://schemas.openxmlformats.org/officeDocument/2006/math">
                    <m:oMathParaPr>
                      <m:jc m:val="left"/>
                    </m:oMathParaPr>
                    <m:oMath xmlns:m="http://schemas.openxmlformats.org/officeDocument/2006/math">
                      <m:sSub>
                        <m:sSubPr>
                          <m:ctrlPr>
                            <a:rPr kumimoji="1" lang="en-US" altLang="zh-CN" sz="2000" i="1">
                              <a:solidFill>
                                <a:srgbClr val="0000FF"/>
                              </a:solidFill>
                              <a:latin typeface="Cambria Math" panose="02040503050406030204" pitchFamily="18" charset="0"/>
                              <a:ea typeface="微软雅黑" panose="020B0503020204020204" pitchFamily="34" charset="-122"/>
                            </a:rPr>
                          </m:ctrlPr>
                        </m:sSubPr>
                        <m:e>
                          <m:r>
                            <a:rPr kumimoji="1" lang="en-US" altLang="zh-CN" sz="2000" b="0" i="1" smtClean="0">
                              <a:solidFill>
                                <a:srgbClr val="0000FF"/>
                              </a:solidFill>
                              <a:latin typeface="Cambria Math" panose="02040503050406030204" pitchFamily="18" charset="0"/>
                              <a:ea typeface="微软雅黑" panose="020B0503020204020204" pitchFamily="34" charset="-122"/>
                            </a:rPr>
                            <m:t>𝑣</m:t>
                          </m:r>
                        </m:e>
                        <m:sub>
                          <m:r>
                            <m:rPr>
                              <m:sty m:val="p"/>
                            </m:rPr>
                            <a:rPr kumimoji="1" lang="en-US" altLang="zh-CN" sz="2000" b="0" i="0" smtClean="0">
                              <a:solidFill>
                                <a:srgbClr val="0000FF"/>
                              </a:solidFill>
                              <a:latin typeface="Cambria Math" panose="02040503050406030204" pitchFamily="18" charset="0"/>
                              <a:ea typeface="微软雅黑" panose="020B0503020204020204" pitchFamily="34" charset="-122"/>
                            </a:rPr>
                            <m:t>D</m:t>
                          </m:r>
                        </m:sub>
                      </m:sSub>
                      <m:r>
                        <a:rPr kumimoji="1" lang="en-US" altLang="zh-CN" sz="2000" i="1">
                          <a:solidFill>
                            <a:srgbClr val="0000FF"/>
                          </a:solidFill>
                          <a:latin typeface="Cambria Math" panose="02040503050406030204" pitchFamily="18" charset="0"/>
                          <a:ea typeface="微软雅黑" panose="020B0503020204020204" pitchFamily="34" charset="-122"/>
                        </a:rPr>
                        <m:t>=</m:t>
                      </m:r>
                      <m:sSub>
                        <m:sSubPr>
                          <m:ctrlPr>
                            <a:rPr kumimoji="1" lang="en-US" altLang="zh-CN" sz="2000" i="1">
                              <a:solidFill>
                                <a:srgbClr val="0000FF"/>
                              </a:solidFill>
                              <a:latin typeface="Cambria Math" panose="02040503050406030204" pitchFamily="18" charset="0"/>
                              <a:ea typeface="微软雅黑" panose="020B0503020204020204" pitchFamily="34" charset="-122"/>
                            </a:rPr>
                          </m:ctrlPr>
                        </m:sSubPr>
                        <m:e>
                          <m:r>
                            <a:rPr kumimoji="1" lang="en-US" altLang="zh-CN" sz="2000" b="0" i="1" smtClean="0">
                              <a:solidFill>
                                <a:srgbClr val="0000FF"/>
                              </a:solidFill>
                              <a:latin typeface="Cambria Math" panose="02040503050406030204" pitchFamily="18" charset="0"/>
                              <a:ea typeface="微软雅黑" panose="020B0503020204020204" pitchFamily="34" charset="-122"/>
                            </a:rPr>
                            <m:t>𝑉</m:t>
                          </m:r>
                        </m:e>
                        <m:sub>
                          <m:r>
                            <m:rPr>
                              <m:sty m:val="p"/>
                            </m:rPr>
                            <a:rPr kumimoji="1" lang="en-US" altLang="zh-CN" sz="2000" b="0" i="0" smtClean="0">
                              <a:solidFill>
                                <a:srgbClr val="0000FF"/>
                              </a:solidFill>
                              <a:latin typeface="Cambria Math" panose="02040503050406030204" pitchFamily="18" charset="0"/>
                              <a:ea typeface="微软雅黑" panose="020B0503020204020204" pitchFamily="34" charset="-122"/>
                            </a:rPr>
                            <m:t>D</m:t>
                          </m:r>
                        </m:sub>
                      </m:sSub>
                      <m:r>
                        <a:rPr kumimoji="1" lang="en-US" altLang="zh-CN" sz="2000" b="0" i="1" smtClean="0">
                          <a:solidFill>
                            <a:srgbClr val="0000FF"/>
                          </a:solidFill>
                          <a:latin typeface="Cambria Math" panose="02040503050406030204" pitchFamily="18" charset="0"/>
                          <a:ea typeface="微软雅黑" panose="020B0503020204020204" pitchFamily="34" charset="-122"/>
                        </a:rPr>
                        <m:t>+</m:t>
                      </m:r>
                      <m:sSub>
                        <m:sSubPr>
                          <m:ctrlPr>
                            <a:rPr kumimoji="1" lang="en-US" altLang="zh-CN" sz="2000" i="1">
                              <a:solidFill>
                                <a:srgbClr val="0000FF"/>
                              </a:solidFill>
                              <a:latin typeface="Cambria Math" panose="02040503050406030204" pitchFamily="18" charset="0"/>
                              <a:ea typeface="微软雅黑" panose="020B0503020204020204" pitchFamily="34" charset="-122"/>
                            </a:rPr>
                          </m:ctrlPr>
                        </m:sSubPr>
                        <m:e>
                          <m:r>
                            <a:rPr kumimoji="1" lang="en-US" altLang="zh-CN" sz="2000" i="1">
                              <a:solidFill>
                                <a:srgbClr val="0000FF"/>
                              </a:solidFill>
                              <a:latin typeface="Cambria Math" panose="02040503050406030204" pitchFamily="18" charset="0"/>
                              <a:ea typeface="微软雅黑" panose="020B0503020204020204" pitchFamily="34" charset="-122"/>
                            </a:rPr>
                            <m:t>𝑣</m:t>
                          </m:r>
                        </m:e>
                        <m:sub>
                          <m:r>
                            <m:rPr>
                              <m:sty m:val="p"/>
                            </m:rPr>
                            <a:rPr kumimoji="1" lang="en-US" altLang="zh-CN" sz="2000" b="0" i="0" smtClean="0">
                              <a:solidFill>
                                <a:srgbClr val="0000FF"/>
                              </a:solidFill>
                              <a:latin typeface="Cambria Math" panose="02040503050406030204" pitchFamily="18" charset="0"/>
                              <a:ea typeface="微软雅黑" panose="020B0503020204020204" pitchFamily="34" charset="-122"/>
                            </a:rPr>
                            <m:t>d</m:t>
                          </m:r>
                        </m:sub>
                      </m:sSub>
                    </m:oMath>
                  </m:oMathPara>
                </a14:m>
                <a:endParaRPr lang="en-US" altLang="zh-CN" sz="2000" dirty="0">
                  <a:solidFill>
                    <a:srgbClr val="0000FF"/>
                  </a:solidFill>
                  <a:latin typeface="微软雅黑" panose="020B0503020204020204" pitchFamily="34" charset="-122"/>
                  <a:ea typeface="微软雅黑" panose="020B0503020204020204" pitchFamily="34" charset="-122"/>
                </a:endParaRPr>
              </a:p>
              <a:p>
                <a:pPr>
                  <a:spcAft>
                    <a:spcPts val="600"/>
                  </a:spcAft>
                </a:pPr>
                <a:r>
                  <a:rPr lang="zh-CN" altLang="en-US" sz="2000" dirty="0">
                    <a:solidFill>
                      <a:srgbClr val="0000FF"/>
                    </a:solidFill>
                    <a:latin typeface="微软雅黑" panose="020B0503020204020204" pitchFamily="34" charset="-122"/>
                    <a:ea typeface="微软雅黑" panose="020B0503020204020204" pitchFamily="34" charset="-122"/>
                  </a:rPr>
                  <a:t>静态和动态等效电路中的二极管模型不同</a:t>
                </a:r>
                <a:endParaRPr lang="en-US" altLang="zh-CN" sz="2000" dirty="0">
                  <a:solidFill>
                    <a:srgbClr val="0000FF"/>
                  </a:solidFill>
                  <a:latin typeface="微软雅黑" panose="020B0503020204020204" pitchFamily="34" charset="-122"/>
                  <a:ea typeface="微软雅黑" panose="020B0503020204020204" pitchFamily="34" charset="-122"/>
                </a:endParaRPr>
              </a:p>
              <a:p>
                <a:pPr>
                  <a:spcAft>
                    <a:spcPts val="600"/>
                  </a:spcAft>
                </a:pPr>
                <a14:m>
                  <m:oMath xmlns:m="http://schemas.openxmlformats.org/officeDocument/2006/math">
                    <m:sSub>
                      <m:sSubPr>
                        <m:ctrlPr>
                          <a:rPr kumimoji="1" lang="en-US" altLang="zh-CN" sz="2000" i="1">
                            <a:solidFill>
                              <a:srgbClr val="0000FF"/>
                            </a:solidFill>
                            <a:latin typeface="Cambria Math" panose="02040503050406030204" pitchFamily="18" charset="0"/>
                            <a:ea typeface="微软雅黑" panose="020B0503020204020204" pitchFamily="34" charset="-122"/>
                          </a:rPr>
                        </m:ctrlPr>
                      </m:sSubPr>
                      <m:e>
                        <m:r>
                          <a:rPr kumimoji="1" lang="en-US" altLang="zh-CN" sz="2000" b="0" i="1" smtClean="0">
                            <a:solidFill>
                              <a:srgbClr val="0000FF"/>
                            </a:solidFill>
                            <a:latin typeface="Cambria Math" panose="02040503050406030204" pitchFamily="18" charset="0"/>
                            <a:ea typeface="微软雅黑" panose="020B0503020204020204" pitchFamily="34" charset="-122"/>
                          </a:rPr>
                          <m:t>𝑟</m:t>
                        </m:r>
                      </m:e>
                      <m:sub>
                        <m:r>
                          <m:rPr>
                            <m:sty m:val="p"/>
                          </m:rPr>
                          <a:rPr kumimoji="1" lang="en-US" altLang="zh-CN" sz="2000" b="0" i="0" smtClean="0">
                            <a:solidFill>
                              <a:srgbClr val="0000FF"/>
                            </a:solidFill>
                            <a:latin typeface="Cambria Math" panose="02040503050406030204" pitchFamily="18" charset="0"/>
                            <a:ea typeface="微软雅黑" panose="020B0503020204020204" pitchFamily="34" charset="-122"/>
                          </a:rPr>
                          <m:t>d</m:t>
                        </m:r>
                      </m:sub>
                    </m:sSub>
                  </m:oMath>
                </a14:m>
                <a:r>
                  <a:rPr lang="en-US" altLang="zh-CN" sz="2000" dirty="0">
                    <a:solidFill>
                      <a:srgbClr val="0000FF"/>
                    </a:solidFill>
                    <a:latin typeface="微软雅黑" panose="020B0503020204020204" pitchFamily="34" charset="-122"/>
                    <a:ea typeface="微软雅黑" panose="020B0503020204020204" pitchFamily="34" charset="-122"/>
                  </a:rPr>
                  <a:t> </a:t>
                </a:r>
                <a:r>
                  <a:rPr lang="zh-CN" altLang="en-US" sz="2000" dirty="0">
                    <a:solidFill>
                      <a:srgbClr val="0000FF"/>
                    </a:solidFill>
                    <a:latin typeface="微软雅黑" panose="020B0503020204020204" pitchFamily="34" charset="-122"/>
                    <a:ea typeface="微软雅黑" panose="020B0503020204020204" pitchFamily="34" charset="-122"/>
                  </a:rPr>
                  <a:t>随着静态工作点的变化而变化</a:t>
                </a:r>
                <a:endParaRPr lang="en-US" altLang="zh-CN" sz="2000" dirty="0">
                  <a:solidFill>
                    <a:srgbClr val="0000FF"/>
                  </a:solidFill>
                  <a:latin typeface="微软雅黑" panose="020B0503020204020204" pitchFamily="34" charset="-122"/>
                  <a:ea typeface="微软雅黑" panose="020B0503020204020204" pitchFamily="34" charset="-122"/>
                </a:endParaRPr>
              </a:p>
            </p:txBody>
          </p:sp>
        </mc:Choice>
        <mc:Fallback xmlns="">
          <p:sp>
            <p:nvSpPr>
              <p:cNvPr id="207" name="文本框 206">
                <a:extLst>
                  <a:ext uri="{FF2B5EF4-FFF2-40B4-BE49-F238E27FC236}">
                    <a16:creationId xmlns:a16="http://schemas.microsoft.com/office/drawing/2014/main" id="{267B4A9C-B0E6-CE00-56B7-90D77B27D16B}"/>
                  </a:ext>
                </a:extLst>
              </p:cNvPr>
              <p:cNvSpPr txBox="1">
                <a:spLocks noRot="1" noChangeAspect="1" noMove="1" noResize="1" noEditPoints="1" noAdjustHandles="1" noChangeArrowheads="1" noChangeShapeType="1" noTextEdit="1"/>
              </p:cNvSpPr>
              <p:nvPr/>
            </p:nvSpPr>
            <p:spPr>
              <a:xfrm>
                <a:off x="720000" y="5040000"/>
                <a:ext cx="4814521" cy="1554272"/>
              </a:xfrm>
              <a:prstGeom prst="rect">
                <a:avLst/>
              </a:prstGeom>
              <a:blipFill>
                <a:blip r:embed="rId29"/>
                <a:stretch>
                  <a:fillRect l="-1266" r="-506" b="-62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9" name="文本框 208">
                <a:extLst>
                  <a:ext uri="{FF2B5EF4-FFF2-40B4-BE49-F238E27FC236}">
                    <a16:creationId xmlns:a16="http://schemas.microsoft.com/office/drawing/2014/main" id="{5270E398-BA15-1E8A-E967-B4A592FECBF2}"/>
                  </a:ext>
                </a:extLst>
              </p:cNvPr>
              <p:cNvSpPr txBox="1"/>
              <p:nvPr/>
            </p:nvSpPr>
            <p:spPr>
              <a:xfrm>
                <a:off x="8404564" y="5868000"/>
                <a:ext cx="3009366" cy="6719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t>𝑖</m:t>
                          </m:r>
                        </m:e>
                        <m:sub>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t>=</m:t>
                      </m:r>
                      <m:f>
                        <m:fPr>
                          <m:ctrlP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ctrlPr>
                        </m:fPr>
                        <m:num>
                          <m:sSub>
                            <m:sSubPr>
                              <m:ctrlP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t>𝑣</m:t>
                              </m:r>
                            </m:e>
                            <m:sub>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s</m:t>
                              </m:r>
                            </m:sub>
                          </m:sSub>
                        </m:num>
                        <m:den>
                          <m: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t>𝑅</m:t>
                          </m:r>
                          <m: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t>𝑟</m:t>
                              </m:r>
                            </m:e>
                            <m:sub>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d</m:t>
                              </m:r>
                            </m:sub>
                          </m:sSub>
                        </m:den>
                      </m:f>
                      <m:r>
                        <a:rPr kumimoji="1" lang="zh-CN" altLang="en-US" sz="2000" b="0" i="1">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t>𝑣</m:t>
                          </m:r>
                        </m:e>
                        <m:sub>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t>𝑖</m:t>
                          </m:r>
                        </m:e>
                        <m:sub>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sz="2000" b="0" i="1">
                          <a:solidFill>
                            <a:schemeClr val="accent5">
                              <a:lumMod val="75000"/>
                            </a:schemeClr>
                          </a:solidFill>
                          <a:latin typeface="Cambria Math" panose="02040503050406030204" pitchFamily="18" charset="0"/>
                          <a:ea typeface="Cambria Math" panose="02040503050406030204" pitchFamily="18" charset="0"/>
                        </a:rPr>
                        <m:t>∙</m:t>
                      </m:r>
                      <m:sSub>
                        <m:sSubPr>
                          <m:ctrlP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t>𝑟</m:t>
                          </m:r>
                        </m:e>
                        <m:sub>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d</m:t>
                          </m:r>
                        </m:sub>
                      </m:sSub>
                    </m:oMath>
                  </m:oMathPara>
                </a14:m>
                <a:endParaRPr lang="zh-CN" altLang="en-US" sz="2000" dirty="0"/>
              </a:p>
            </p:txBody>
          </p:sp>
        </mc:Choice>
        <mc:Fallback xmlns="">
          <p:sp>
            <p:nvSpPr>
              <p:cNvPr id="209" name="文本框 208">
                <a:extLst>
                  <a:ext uri="{FF2B5EF4-FFF2-40B4-BE49-F238E27FC236}">
                    <a16:creationId xmlns:a16="http://schemas.microsoft.com/office/drawing/2014/main" id="{B3FEBC19-86E7-345A-FF4C-0E1758FCA175}"/>
                  </a:ext>
                </a:extLst>
              </p:cNvPr>
              <p:cNvSpPr txBox="1">
                <a:spLocks noRot="1" noChangeAspect="1" noMove="1" noResize="1" noEditPoints="1" noAdjustHandles="1" noChangeArrowheads="1" noChangeShapeType="1" noTextEdit="1"/>
              </p:cNvSpPr>
              <p:nvPr/>
            </p:nvSpPr>
            <p:spPr>
              <a:xfrm>
                <a:off x="8404564" y="5868000"/>
                <a:ext cx="3009366" cy="671915"/>
              </a:xfrm>
              <a:prstGeom prst="rect">
                <a:avLst/>
              </a:prstGeom>
              <a:blipFill>
                <a:blip r:embed="rId3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1" name="文本框 210">
                <a:extLst>
                  <a:ext uri="{FF2B5EF4-FFF2-40B4-BE49-F238E27FC236}">
                    <a16:creationId xmlns:a16="http://schemas.microsoft.com/office/drawing/2014/main" id="{4EDB194B-7761-7C53-07CA-F1D8416D5917}"/>
                  </a:ext>
                </a:extLst>
              </p:cNvPr>
              <p:cNvSpPr txBox="1"/>
              <p:nvPr/>
            </p:nvSpPr>
            <p:spPr>
              <a:xfrm>
                <a:off x="576000" y="4212000"/>
                <a:ext cx="2587628" cy="666529"/>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kumimoji="1" lang="en-US" altLang="zh-CN" sz="200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𝑖</m:t>
                          </m:r>
                        </m:e>
                        <m:sub>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sz="2000" i="1" smtClean="0">
                          <a:solidFill>
                            <a:schemeClr val="accent5">
                              <a:lumMod val="75000"/>
                            </a:schemeClr>
                          </a:solidFill>
                          <a:latin typeface="Cambria Math" panose="02040503050406030204" pitchFamily="18" charset="0"/>
                          <a:ea typeface="微软雅黑" panose="020B0503020204020204" pitchFamily="34" charset="-122"/>
                        </a:rPr>
                        <m:t>=</m:t>
                      </m:r>
                      <m:f>
                        <m:fPr>
                          <m:ctrlPr>
                            <a:rPr kumimoji="1" lang="en-US" altLang="zh-CN" sz="2000" i="1" smtClean="0">
                              <a:solidFill>
                                <a:schemeClr val="accent5">
                                  <a:lumMod val="75000"/>
                                </a:schemeClr>
                              </a:solidFill>
                              <a:latin typeface="Cambria Math" panose="02040503050406030204" pitchFamily="18" charset="0"/>
                              <a:ea typeface="微软雅黑" panose="020B0503020204020204" pitchFamily="34" charset="-122"/>
                            </a:rPr>
                          </m:ctrlPr>
                        </m:fPr>
                        <m:num>
                          <m:sSub>
                            <m:sSubPr>
                              <m:ctrlPr>
                                <a:rPr kumimoji="1" lang="en-US" altLang="zh-CN" sz="20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000" i="0">
                                  <a:solidFill>
                                    <a:schemeClr val="accent5">
                                      <a:lumMod val="75000"/>
                                    </a:schemeClr>
                                  </a:solidFill>
                                  <a:latin typeface="Cambria Math" panose="02040503050406030204" pitchFamily="18" charset="0"/>
                                  <a:ea typeface="微软雅黑" panose="020B0503020204020204" pitchFamily="34" charset="-122"/>
                                </a:rPr>
                                <m:t>DD</m:t>
                              </m:r>
                            </m:sub>
                          </m:sSub>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sz="20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i="1">
                                  <a:solidFill>
                                    <a:schemeClr val="accent5">
                                      <a:lumMod val="75000"/>
                                    </a:schemeClr>
                                  </a:solidFill>
                                  <a:latin typeface="Cambria Math" panose="02040503050406030204" pitchFamily="18" charset="0"/>
                                  <a:ea typeface="微软雅黑" panose="020B0503020204020204" pitchFamily="34" charset="-122"/>
                                </a:rPr>
                                <m:t>𝑣</m:t>
                              </m:r>
                            </m:e>
                            <m:sub>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s</m:t>
                              </m:r>
                            </m:sub>
                          </m:sSub>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sz="20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i="1">
                                  <a:solidFill>
                                    <a:schemeClr val="accent5">
                                      <a:lumMod val="75000"/>
                                    </a:schemeClr>
                                  </a:solidFill>
                                  <a:latin typeface="Cambria Math" panose="02040503050406030204" pitchFamily="18" charset="0"/>
                                  <a:ea typeface="微软雅黑" panose="020B0503020204020204" pitchFamily="34" charset="-122"/>
                                </a:rPr>
                                <m:t>𝑣</m:t>
                              </m:r>
                            </m:e>
                            <m:sub>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D</m:t>
                              </m:r>
                            </m:sub>
                          </m:sSub>
                        </m:num>
                        <m:den>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𝑅</m:t>
                          </m:r>
                        </m:den>
                      </m:f>
                    </m:oMath>
                  </m:oMathPara>
                </a14:m>
                <a:endParaRPr lang="zh-CN" altLang="en-US" sz="2000" dirty="0"/>
              </a:p>
            </p:txBody>
          </p:sp>
        </mc:Choice>
        <mc:Fallback xmlns="">
          <p:sp>
            <p:nvSpPr>
              <p:cNvPr id="211" name="文本框 210">
                <a:extLst>
                  <a:ext uri="{FF2B5EF4-FFF2-40B4-BE49-F238E27FC236}">
                    <a16:creationId xmlns:a16="http://schemas.microsoft.com/office/drawing/2014/main" id="{140792BF-B0E7-1448-2C47-1EF13BCAFB04}"/>
                  </a:ext>
                </a:extLst>
              </p:cNvPr>
              <p:cNvSpPr txBox="1">
                <a:spLocks noRot="1" noChangeAspect="1" noMove="1" noResize="1" noEditPoints="1" noAdjustHandles="1" noChangeArrowheads="1" noChangeShapeType="1" noTextEdit="1"/>
              </p:cNvSpPr>
              <p:nvPr/>
            </p:nvSpPr>
            <p:spPr>
              <a:xfrm>
                <a:off x="576000" y="4212000"/>
                <a:ext cx="2587628" cy="666529"/>
              </a:xfrm>
              <a:prstGeom prst="rect">
                <a:avLst/>
              </a:prstGeom>
              <a:blipFill>
                <a:blip r:embed="rId31"/>
                <a:stretch>
                  <a:fillRect/>
                </a:stretch>
              </a:blipFill>
            </p:spPr>
            <p:txBody>
              <a:bodyPr/>
              <a:lstStyle/>
              <a:p>
                <a:r>
                  <a:rPr lang="zh-CN" altLang="en-US">
                    <a:noFill/>
                  </a:rPr>
                  <a:t> </a:t>
                </a:r>
              </a:p>
            </p:txBody>
          </p:sp>
        </mc:Fallback>
      </mc:AlternateContent>
      <p:grpSp>
        <p:nvGrpSpPr>
          <p:cNvPr id="213" name="组合 212">
            <a:extLst>
              <a:ext uri="{FF2B5EF4-FFF2-40B4-BE49-F238E27FC236}">
                <a16:creationId xmlns:a16="http://schemas.microsoft.com/office/drawing/2014/main" id="{F42C3A29-4C53-F8C3-E1B8-330C8756A42C}"/>
              </a:ext>
            </a:extLst>
          </p:cNvPr>
          <p:cNvGrpSpPr/>
          <p:nvPr/>
        </p:nvGrpSpPr>
        <p:grpSpPr>
          <a:xfrm>
            <a:off x="11449269" y="6198682"/>
            <a:ext cx="786273" cy="548639"/>
            <a:chOff x="11454918" y="5839511"/>
            <a:chExt cx="786273" cy="548639"/>
          </a:xfrm>
        </p:grpSpPr>
        <p:grpSp>
          <p:nvGrpSpPr>
            <p:cNvPr id="214" name="组合 213">
              <a:extLst>
                <a:ext uri="{FF2B5EF4-FFF2-40B4-BE49-F238E27FC236}">
                  <a16:creationId xmlns:a16="http://schemas.microsoft.com/office/drawing/2014/main" id="{58E0F42E-453E-D901-6027-70D3945DDAEB}"/>
                </a:ext>
              </a:extLst>
            </p:cNvPr>
            <p:cNvGrpSpPr/>
            <p:nvPr/>
          </p:nvGrpSpPr>
          <p:grpSpPr>
            <a:xfrm>
              <a:off x="11454918" y="5867450"/>
              <a:ext cx="737081" cy="520700"/>
              <a:chOff x="11454918" y="5867450"/>
              <a:chExt cx="737081" cy="520700"/>
            </a:xfrm>
          </p:grpSpPr>
          <p:sp>
            <p:nvSpPr>
              <p:cNvPr id="216" name="箭头: 五边形 215">
                <a:extLst>
                  <a:ext uri="{FF2B5EF4-FFF2-40B4-BE49-F238E27FC236}">
                    <a16:creationId xmlns:a16="http://schemas.microsoft.com/office/drawing/2014/main" id="{13188EDB-68FD-CD1B-DF8C-7EBEEF7AD8DC}"/>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7" name="箭头: V 形 216">
                <a:extLst>
                  <a:ext uri="{FF2B5EF4-FFF2-40B4-BE49-F238E27FC236}">
                    <a16:creationId xmlns:a16="http://schemas.microsoft.com/office/drawing/2014/main" id="{C041EDD4-8627-091C-231E-ED7DA46B5D53}"/>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215" name="灯片编号占位符 3">
              <a:extLst>
                <a:ext uri="{FF2B5EF4-FFF2-40B4-BE49-F238E27FC236}">
                  <a16:creationId xmlns:a16="http://schemas.microsoft.com/office/drawing/2014/main" id="{9FAFA5EA-5303-689C-8FB4-958A456B4047}"/>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20</a:t>
              </a:fld>
              <a:endParaRPr lang="zh-CN" altLang="en-US" sz="3200" dirty="0">
                <a:solidFill>
                  <a:schemeClr val="bg1"/>
                </a:solidFill>
                <a:latin typeface="Candara"/>
                <a:ea typeface="微软雅黑"/>
              </a:endParaRPr>
            </a:p>
          </p:txBody>
        </p:sp>
      </p:grpSp>
      <p:sp>
        <p:nvSpPr>
          <p:cNvPr id="3" name="标题 1">
            <a:extLst>
              <a:ext uri="{FF2B5EF4-FFF2-40B4-BE49-F238E27FC236}">
                <a16:creationId xmlns:a16="http://schemas.microsoft.com/office/drawing/2014/main" id="{6F862BFE-235D-F1D3-586D-96512D1BD2AB}"/>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二极管及其应用</a:t>
            </a:r>
            <a:endParaRPr lang="en-US" altLang="zh-CN" sz="3000" dirty="0"/>
          </a:p>
        </p:txBody>
      </p:sp>
      <p:grpSp>
        <p:nvGrpSpPr>
          <p:cNvPr id="29" name="组合 28">
            <a:extLst>
              <a:ext uri="{FF2B5EF4-FFF2-40B4-BE49-F238E27FC236}">
                <a16:creationId xmlns:a16="http://schemas.microsoft.com/office/drawing/2014/main" id="{4CA6AD2B-5402-526F-B9EA-8D18C8CE3045}"/>
              </a:ext>
            </a:extLst>
          </p:cNvPr>
          <p:cNvGrpSpPr/>
          <p:nvPr/>
        </p:nvGrpSpPr>
        <p:grpSpPr>
          <a:xfrm>
            <a:off x="648000" y="2052000"/>
            <a:ext cx="2628000" cy="1620000"/>
            <a:chOff x="648000" y="2052000"/>
            <a:chExt cx="2628000" cy="1620000"/>
          </a:xfrm>
        </p:grpSpPr>
        <p:sp>
          <p:nvSpPr>
            <p:cNvPr id="2" name="矩形 1">
              <a:extLst>
                <a:ext uri="{FF2B5EF4-FFF2-40B4-BE49-F238E27FC236}">
                  <a16:creationId xmlns:a16="http://schemas.microsoft.com/office/drawing/2014/main" id="{B79E12AD-901B-474A-8FF8-D077C36AAC4F}"/>
                </a:ext>
              </a:extLst>
            </p:cNvPr>
            <p:cNvSpPr/>
            <p:nvPr/>
          </p:nvSpPr>
          <p:spPr>
            <a:xfrm>
              <a:off x="1188000" y="2160000"/>
              <a:ext cx="1872000" cy="129600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309B2707-0CBC-4EA3-F7F5-EBCAC23F586C}"/>
                </a:ext>
              </a:extLst>
            </p:cNvPr>
            <p:cNvSpPr/>
            <p:nvPr/>
          </p:nvSpPr>
          <p:spPr>
            <a:xfrm>
              <a:off x="1440000" y="2088000"/>
              <a:ext cx="504000" cy="144000"/>
            </a:xfrm>
            <a:prstGeom prst="rect">
              <a:avLst/>
            </a:prstGeom>
            <a:solidFill>
              <a:schemeClr val="bg1">
                <a:alpha val="99000"/>
              </a:schemeClr>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030AEC6A-7D57-697D-2024-1F4DBA07904D}"/>
                </a:ext>
              </a:extLst>
            </p:cNvPr>
            <p:cNvSpPr/>
            <p:nvPr/>
          </p:nvSpPr>
          <p:spPr>
            <a:xfrm>
              <a:off x="1008000" y="2376000"/>
              <a:ext cx="360000" cy="360000"/>
            </a:xfrm>
            <a:prstGeom prst="ellipse">
              <a:avLst/>
            </a:prstGeom>
            <a:noFill/>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61F9675F-95FF-8F55-F054-2C8FD3FB5D99}"/>
                </a:ext>
              </a:extLst>
            </p:cNvPr>
            <p:cNvSpPr/>
            <p:nvPr/>
          </p:nvSpPr>
          <p:spPr>
            <a:xfrm>
              <a:off x="1116000" y="3024000"/>
              <a:ext cx="144000" cy="108000"/>
            </a:xfrm>
            <a:prstGeom prst="rect">
              <a:avLst/>
            </a:prstGeom>
            <a:solidFill>
              <a:schemeClr val="bg1">
                <a:alpha val="99000"/>
              </a:schemeClr>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7" name="直接连接符 6">
              <a:extLst>
                <a:ext uri="{FF2B5EF4-FFF2-40B4-BE49-F238E27FC236}">
                  <a16:creationId xmlns:a16="http://schemas.microsoft.com/office/drawing/2014/main" id="{0F87E1A0-B65D-68B3-A3E9-75FB24312814}"/>
                </a:ext>
              </a:extLst>
            </p:cNvPr>
            <p:cNvCxnSpPr>
              <a:cxnSpLocks/>
            </p:cNvCxnSpPr>
            <p:nvPr/>
          </p:nvCxnSpPr>
          <p:spPr>
            <a:xfrm flipH="1">
              <a:off x="972000" y="3024000"/>
              <a:ext cx="43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A385047C-0EDF-7E0A-3DA5-AE5883137FFC}"/>
                </a:ext>
              </a:extLst>
            </p:cNvPr>
            <p:cNvCxnSpPr>
              <a:cxnSpLocks/>
            </p:cNvCxnSpPr>
            <p:nvPr/>
          </p:nvCxnSpPr>
          <p:spPr>
            <a:xfrm flipH="1">
              <a:off x="1080000" y="3132000"/>
              <a:ext cx="216000"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Rectangle 8">
                  <a:extLst>
                    <a:ext uri="{FF2B5EF4-FFF2-40B4-BE49-F238E27FC236}">
                      <a16:creationId xmlns:a16="http://schemas.microsoft.com/office/drawing/2014/main" id="{C8F711F0-8ABC-FC8F-13B8-4CAC13CABA7C}"/>
                    </a:ext>
                  </a:extLst>
                </p:cNvPr>
                <p:cNvSpPr>
                  <a:spLocks noChangeArrowheads="1"/>
                </p:cNvSpPr>
                <p:nvPr/>
              </p:nvSpPr>
              <p:spPr bwMode="auto">
                <a:xfrm>
                  <a:off x="1548000" y="2160000"/>
                  <a:ext cx="360000" cy="36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𝑅</m:t>
                        </m:r>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10" name="Rectangle 8">
                  <a:extLst>
                    <a:ext uri="{FF2B5EF4-FFF2-40B4-BE49-F238E27FC236}">
                      <a16:creationId xmlns:a16="http://schemas.microsoft.com/office/drawing/2014/main" id="{C8F711F0-8ABC-FC8F-13B8-4CAC13CABA7C}"/>
                    </a:ext>
                  </a:extLst>
                </p:cNvPr>
                <p:cNvSpPr>
                  <a:spLocks noRot="1" noChangeAspect="1" noMove="1" noResize="1" noEditPoints="1" noAdjustHandles="1" noChangeArrowheads="1" noChangeShapeType="1" noTextEdit="1"/>
                </p:cNvSpPr>
                <p:nvPr/>
              </p:nvSpPr>
              <p:spPr bwMode="auto">
                <a:xfrm>
                  <a:off x="1548000" y="2160000"/>
                  <a:ext cx="360000" cy="360000"/>
                </a:xfrm>
                <a:prstGeom prst="rect">
                  <a:avLst/>
                </a:prstGeom>
                <a:blipFill>
                  <a:blip r:embed="rId32"/>
                  <a:stretch>
                    <a:fillRect l="-8475" b="-508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Rectangle 8">
                  <a:extLst>
                    <a:ext uri="{FF2B5EF4-FFF2-40B4-BE49-F238E27FC236}">
                      <a16:creationId xmlns:a16="http://schemas.microsoft.com/office/drawing/2014/main" id="{1ED3D14C-5FE8-6D2F-E949-E7039108BDBD}"/>
                    </a:ext>
                  </a:extLst>
                </p:cNvPr>
                <p:cNvSpPr>
                  <a:spLocks noChangeArrowheads="1"/>
                </p:cNvSpPr>
                <p:nvPr/>
              </p:nvSpPr>
              <p:spPr bwMode="auto">
                <a:xfrm>
                  <a:off x="1404000" y="2880000"/>
                  <a:ext cx="540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𝑉</m:t>
                            </m:r>
                          </m:e>
                          <m:sub>
                            <m:r>
                              <m:rPr>
                                <m:sty m:val="p"/>
                              </m:rPr>
                              <a:rPr kumimoji="1" lang="en-US" altLang="zh-CN" sz="2000" b="0" i="0" smtClean="0">
                                <a:latin typeface="Cambria Math" panose="02040503050406030204" pitchFamily="18" charset="0"/>
                                <a:ea typeface="微软雅黑" panose="020B0503020204020204" pitchFamily="34" charset="-122"/>
                              </a:rPr>
                              <m:t>DD</m:t>
                            </m:r>
                          </m:sub>
                        </m:sSub>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12" name="Rectangle 8">
                  <a:extLst>
                    <a:ext uri="{FF2B5EF4-FFF2-40B4-BE49-F238E27FC236}">
                      <a16:creationId xmlns:a16="http://schemas.microsoft.com/office/drawing/2014/main" id="{1ED3D14C-5FE8-6D2F-E949-E7039108BDBD}"/>
                    </a:ext>
                  </a:extLst>
                </p:cNvPr>
                <p:cNvSpPr>
                  <a:spLocks noRot="1" noChangeAspect="1" noMove="1" noResize="1" noEditPoints="1" noAdjustHandles="1" noChangeArrowheads="1" noChangeShapeType="1" noTextEdit="1"/>
                </p:cNvSpPr>
                <p:nvPr/>
              </p:nvSpPr>
              <p:spPr bwMode="auto">
                <a:xfrm>
                  <a:off x="1404000" y="2880000"/>
                  <a:ext cx="540000" cy="396000"/>
                </a:xfrm>
                <a:prstGeom prst="rect">
                  <a:avLst/>
                </a:prstGeom>
                <a:blipFill>
                  <a:blip r:embed="rId33"/>
                  <a:stretch>
                    <a:fillRect l="-11236" b="-307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Rectangle 8">
                  <a:extLst>
                    <a:ext uri="{FF2B5EF4-FFF2-40B4-BE49-F238E27FC236}">
                      <a16:creationId xmlns:a16="http://schemas.microsoft.com/office/drawing/2014/main" id="{CA2CA290-ED31-E2A6-64B0-7EF8C31ECB25}"/>
                    </a:ext>
                  </a:extLst>
                </p:cNvPr>
                <p:cNvSpPr>
                  <a:spLocks noChangeArrowheads="1"/>
                </p:cNvSpPr>
                <p:nvPr/>
              </p:nvSpPr>
              <p:spPr bwMode="auto">
                <a:xfrm>
                  <a:off x="648000" y="2052000"/>
                  <a:ext cx="360000" cy="1008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Group"/>
                      </m:oMathParaPr>
                      <m:oMath xmlns:m="http://schemas.openxmlformats.org/officeDocument/2006/math">
                        <m:r>
                          <a:rPr kumimoji="1" lang="pt-BR" altLang="zh-CN" sz="2000" b="0" i="1" smtClean="0">
                            <a:latin typeface="Cambria Math" panose="02040503050406030204" pitchFamily="18" charset="0"/>
                            <a:ea typeface="微软雅黑" panose="020B0503020204020204" pitchFamily="34" charset="-122"/>
                          </a:rPr>
                          <m:t>+</m:t>
                        </m:r>
                      </m:oMath>
                    </m:oMathPara>
                  </a14:m>
                  <a:endParaRPr kumimoji="1" lang="en-US" altLang="zh-CN" sz="2000" b="0" dirty="0">
                    <a:latin typeface="微软雅黑" panose="020B0503020204020204" pitchFamily="34" charset="-122"/>
                    <a:ea typeface="微软雅黑" panose="020B0503020204020204" pitchFamily="34" charset="-122"/>
                  </a:endParaRPr>
                </a:p>
                <a:p>
                  <a:pPr algn="ctr">
                    <a:spcAft>
                      <a:spcPct val="0"/>
                    </a:spcAft>
                    <a:buNone/>
                  </a:pPr>
                  <a14:m>
                    <m:oMath xmlns:m="http://schemas.openxmlformats.org/officeDocument/2006/math">
                      <m:sSub>
                        <m:sSubPr>
                          <m:ctrlPr>
                            <a:rPr kumimoji="1" lang="en-US" altLang="zh-CN" sz="2000" b="0" i="1">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𝑣</m:t>
                          </m:r>
                        </m:e>
                        <m:sub>
                          <m:r>
                            <m:rPr>
                              <m:sty m:val="p"/>
                            </m:rPr>
                            <a:rPr kumimoji="1" lang="en-US" altLang="zh-CN" sz="2000" b="0" i="0" smtClean="0">
                              <a:latin typeface="Cambria Math" panose="02040503050406030204" pitchFamily="18" charset="0"/>
                              <a:ea typeface="微软雅黑" panose="020B0503020204020204" pitchFamily="34" charset="-122"/>
                            </a:rPr>
                            <m:t>s</m:t>
                          </m:r>
                        </m:sub>
                      </m:sSub>
                    </m:oMath>
                  </a14:m>
                  <a:r>
                    <a:rPr kumimoji="1" lang="zh-CN" altLang="en-US" sz="2000" b="0" dirty="0">
                      <a:latin typeface="微软雅黑" panose="020B0503020204020204" pitchFamily="34" charset="-122"/>
                      <a:ea typeface="微软雅黑" panose="020B0503020204020204" pitchFamily="34" charset="-122"/>
                    </a:rPr>
                    <a:t>    </a:t>
                  </a:r>
                  <a:endParaRPr kumimoji="1" lang="en-US" altLang="zh-CN" sz="2000" b="0" dirty="0">
                    <a:latin typeface="微软雅黑" panose="020B0503020204020204" pitchFamily="34" charset="-122"/>
                    <a:ea typeface="微软雅黑" panose="020B0503020204020204" pitchFamily="34" charset="-122"/>
                  </a:endParaRPr>
                </a:p>
                <a:p>
                  <a:pPr algn="ctr">
                    <a:spcAft>
                      <a:spcPct val="0"/>
                    </a:spcAft>
                    <a:buNone/>
                  </a:pPr>
                  <a14:m>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p>
              </p:txBody>
            </p:sp>
          </mc:Choice>
          <mc:Fallback xmlns="">
            <p:sp>
              <p:nvSpPr>
                <p:cNvPr id="14" name="Rectangle 8">
                  <a:extLst>
                    <a:ext uri="{FF2B5EF4-FFF2-40B4-BE49-F238E27FC236}">
                      <a16:creationId xmlns:a16="http://schemas.microsoft.com/office/drawing/2014/main" id="{CA2CA290-ED31-E2A6-64B0-7EF8C31ECB25}"/>
                    </a:ext>
                  </a:extLst>
                </p:cNvPr>
                <p:cNvSpPr>
                  <a:spLocks noRot="1" noChangeAspect="1" noMove="1" noResize="1" noEditPoints="1" noAdjustHandles="1" noChangeArrowheads="1" noChangeShapeType="1" noTextEdit="1"/>
                </p:cNvSpPr>
                <p:nvPr/>
              </p:nvSpPr>
              <p:spPr bwMode="auto">
                <a:xfrm>
                  <a:off x="648000" y="2052000"/>
                  <a:ext cx="360000" cy="1008000"/>
                </a:xfrm>
                <a:prstGeom prst="rect">
                  <a:avLst/>
                </a:prstGeom>
                <a:blipFill>
                  <a:blip r:embed="rId34"/>
                  <a:stretch>
                    <a:fillRect r="-169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5" name="等腰三角形 14">
              <a:extLst>
                <a:ext uri="{FF2B5EF4-FFF2-40B4-BE49-F238E27FC236}">
                  <a16:creationId xmlns:a16="http://schemas.microsoft.com/office/drawing/2014/main" id="{CAD677F8-EA60-E2A4-4804-F28CDC10470F}"/>
                </a:ext>
              </a:extLst>
            </p:cNvPr>
            <p:cNvSpPr/>
            <p:nvPr/>
          </p:nvSpPr>
          <p:spPr>
            <a:xfrm rot="10800000">
              <a:off x="2862000" y="2664000"/>
              <a:ext cx="396000" cy="288000"/>
            </a:xfrm>
            <a:prstGeom prst="triangl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cxnSp>
          <p:nvCxnSpPr>
            <p:cNvPr id="17" name="直接连接符 16">
              <a:extLst>
                <a:ext uri="{FF2B5EF4-FFF2-40B4-BE49-F238E27FC236}">
                  <a16:creationId xmlns:a16="http://schemas.microsoft.com/office/drawing/2014/main" id="{DBEF34CF-E2ED-7EBF-BF9B-7EE8C2CF2D98}"/>
                </a:ext>
              </a:extLst>
            </p:cNvPr>
            <p:cNvCxnSpPr>
              <a:cxnSpLocks/>
            </p:cNvCxnSpPr>
            <p:nvPr/>
          </p:nvCxnSpPr>
          <p:spPr>
            <a:xfrm rot="5400000">
              <a:off x="3060000" y="2736000"/>
              <a:ext cx="0" cy="432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Rectangle 8">
                  <a:extLst>
                    <a:ext uri="{FF2B5EF4-FFF2-40B4-BE49-F238E27FC236}">
                      <a16:creationId xmlns:a16="http://schemas.microsoft.com/office/drawing/2014/main" id="{94DDA651-6245-A5CC-DA88-5BD9F102217D}"/>
                    </a:ext>
                  </a:extLst>
                </p:cNvPr>
                <p:cNvSpPr>
                  <a:spLocks noChangeArrowheads="1"/>
                </p:cNvSpPr>
                <p:nvPr/>
              </p:nvSpPr>
              <p:spPr bwMode="auto">
                <a:xfrm>
                  <a:off x="2484000" y="2268000"/>
                  <a:ext cx="360000" cy="1008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Group"/>
                      </m:oMathParaPr>
                      <m:oMath xmlns:m="http://schemas.openxmlformats.org/officeDocument/2006/math">
                        <m:r>
                          <a:rPr kumimoji="1" lang="pt-BR" altLang="zh-CN" sz="2000" b="0" i="1" smtClean="0">
                            <a:latin typeface="Cambria Math" panose="02040503050406030204" pitchFamily="18" charset="0"/>
                            <a:ea typeface="微软雅黑" panose="020B0503020204020204" pitchFamily="34" charset="-122"/>
                          </a:rPr>
                          <m:t>+</m:t>
                        </m:r>
                      </m:oMath>
                    </m:oMathPara>
                  </a14:m>
                  <a:endParaRPr kumimoji="1" lang="en-US" altLang="zh-CN" sz="2000" b="0" dirty="0">
                    <a:latin typeface="微软雅黑" panose="020B0503020204020204" pitchFamily="34" charset="-122"/>
                    <a:ea typeface="微软雅黑" panose="020B0503020204020204" pitchFamily="34" charset="-122"/>
                  </a:endParaRPr>
                </a:p>
                <a:p>
                  <a:pPr algn="ctr">
                    <a:spcAft>
                      <a:spcPct val="0"/>
                    </a:spcAft>
                    <a:buNone/>
                  </a:pPr>
                  <a14:m>
                    <m:oMath xmlns:m="http://schemas.openxmlformats.org/officeDocument/2006/math">
                      <m:sSub>
                        <m:sSubPr>
                          <m:ctrlPr>
                            <a:rPr kumimoji="1" lang="en-US" altLang="zh-CN" sz="2000" b="0" i="1">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𝑣</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a14:m>
                  <a:r>
                    <a:rPr kumimoji="1" lang="zh-CN" altLang="en-US" sz="2000" b="0" dirty="0">
                      <a:latin typeface="微软雅黑" panose="020B0503020204020204" pitchFamily="34" charset="-122"/>
                      <a:ea typeface="微软雅黑" panose="020B0503020204020204" pitchFamily="34" charset="-122"/>
                    </a:rPr>
                    <a:t>    </a:t>
                  </a:r>
                  <a:endParaRPr kumimoji="1" lang="en-US" altLang="zh-CN" sz="2000" b="0" dirty="0">
                    <a:latin typeface="微软雅黑" panose="020B0503020204020204" pitchFamily="34" charset="-122"/>
                    <a:ea typeface="微软雅黑" panose="020B0503020204020204" pitchFamily="34" charset="-122"/>
                  </a:endParaRPr>
                </a:p>
                <a:p>
                  <a:pPr algn="ctr">
                    <a:spcAft>
                      <a:spcPct val="0"/>
                    </a:spcAft>
                    <a:buNone/>
                  </a:pPr>
                  <a14:m>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p>
              </p:txBody>
            </p:sp>
          </mc:Choice>
          <mc:Fallback xmlns="">
            <p:sp>
              <p:nvSpPr>
                <p:cNvPr id="18" name="Rectangle 8">
                  <a:extLst>
                    <a:ext uri="{FF2B5EF4-FFF2-40B4-BE49-F238E27FC236}">
                      <a16:creationId xmlns:a16="http://schemas.microsoft.com/office/drawing/2014/main" id="{94DDA651-6245-A5CC-DA88-5BD9F102217D}"/>
                    </a:ext>
                  </a:extLst>
                </p:cNvPr>
                <p:cNvSpPr>
                  <a:spLocks noRot="1" noChangeAspect="1" noMove="1" noResize="1" noEditPoints="1" noAdjustHandles="1" noChangeArrowheads="1" noChangeShapeType="1" noTextEdit="1"/>
                </p:cNvSpPr>
                <p:nvPr/>
              </p:nvSpPr>
              <p:spPr bwMode="auto">
                <a:xfrm>
                  <a:off x="2484000" y="2268000"/>
                  <a:ext cx="360000" cy="1008000"/>
                </a:xfrm>
                <a:prstGeom prst="rect">
                  <a:avLst/>
                </a:prstGeom>
                <a:blipFill>
                  <a:blip r:embed="rId35"/>
                  <a:stretch>
                    <a:fillRect r="-18333"/>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Rectangle 8">
                  <a:extLst>
                    <a:ext uri="{FF2B5EF4-FFF2-40B4-BE49-F238E27FC236}">
                      <a16:creationId xmlns:a16="http://schemas.microsoft.com/office/drawing/2014/main" id="{45B6492B-282B-A4F3-65C7-4822BA9205B9}"/>
                    </a:ext>
                  </a:extLst>
                </p:cNvPr>
                <p:cNvSpPr>
                  <a:spLocks noChangeArrowheads="1"/>
                </p:cNvSpPr>
                <p:nvPr/>
              </p:nvSpPr>
              <p:spPr bwMode="auto">
                <a:xfrm>
                  <a:off x="2124000" y="2227890"/>
                  <a:ext cx="360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𝑖</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19" name="Rectangle 8">
                  <a:extLst>
                    <a:ext uri="{FF2B5EF4-FFF2-40B4-BE49-F238E27FC236}">
                      <a16:creationId xmlns:a16="http://schemas.microsoft.com/office/drawing/2014/main" id="{45B6492B-282B-A4F3-65C7-4822BA9205B9}"/>
                    </a:ext>
                  </a:extLst>
                </p:cNvPr>
                <p:cNvSpPr>
                  <a:spLocks noRot="1" noChangeAspect="1" noMove="1" noResize="1" noEditPoints="1" noAdjustHandles="1" noChangeArrowheads="1" noChangeShapeType="1" noTextEdit="1"/>
                </p:cNvSpPr>
                <p:nvPr/>
              </p:nvSpPr>
              <p:spPr bwMode="auto">
                <a:xfrm>
                  <a:off x="2124000" y="2227890"/>
                  <a:ext cx="360000" cy="396000"/>
                </a:xfrm>
                <a:prstGeom prst="rect">
                  <a:avLst/>
                </a:prstGeom>
                <a:blipFill>
                  <a:blip r:embed="rId36"/>
                  <a:stretch>
                    <a:fillRect l="-15254" b="-307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20" name="直接箭头连接符 19">
              <a:extLst>
                <a:ext uri="{FF2B5EF4-FFF2-40B4-BE49-F238E27FC236}">
                  <a16:creationId xmlns:a16="http://schemas.microsoft.com/office/drawing/2014/main" id="{A411BC93-F894-E1B7-FAA0-C9FF773D6E6D}"/>
                </a:ext>
              </a:extLst>
            </p:cNvPr>
            <p:cNvCxnSpPr>
              <a:cxnSpLocks/>
            </p:cNvCxnSpPr>
            <p:nvPr/>
          </p:nvCxnSpPr>
          <p:spPr>
            <a:xfrm>
              <a:off x="2088000" y="2268000"/>
              <a:ext cx="360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25" name="椭圆 24">
              <a:extLst>
                <a:ext uri="{FF2B5EF4-FFF2-40B4-BE49-F238E27FC236}">
                  <a16:creationId xmlns:a16="http://schemas.microsoft.com/office/drawing/2014/main" id="{BE74BECB-FE62-F248-1DEF-835F53100909}"/>
                </a:ext>
              </a:extLst>
            </p:cNvPr>
            <p:cNvSpPr/>
            <p:nvPr/>
          </p:nvSpPr>
          <p:spPr>
            <a:xfrm>
              <a:off x="2052000" y="3384000"/>
              <a:ext cx="144000" cy="144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26" name="直接连接符 25">
              <a:extLst>
                <a:ext uri="{FF2B5EF4-FFF2-40B4-BE49-F238E27FC236}">
                  <a16:creationId xmlns:a16="http://schemas.microsoft.com/office/drawing/2014/main" id="{EBC6F67E-203F-8879-6264-9F22FC7F3D76}"/>
                </a:ext>
              </a:extLst>
            </p:cNvPr>
            <p:cNvCxnSpPr>
              <a:cxnSpLocks/>
            </p:cNvCxnSpPr>
            <p:nvPr/>
          </p:nvCxnSpPr>
          <p:spPr>
            <a:xfrm>
              <a:off x="2124000" y="3456000"/>
              <a:ext cx="0" cy="21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B50F1F77-3DEF-42FA-95B0-318B3DE99F26}"/>
                </a:ext>
              </a:extLst>
            </p:cNvPr>
            <p:cNvCxnSpPr>
              <a:cxnSpLocks/>
            </p:cNvCxnSpPr>
            <p:nvPr/>
          </p:nvCxnSpPr>
          <p:spPr>
            <a:xfrm flipH="1">
              <a:off x="1944000" y="3672000"/>
              <a:ext cx="3600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1" name="组合 70">
            <a:extLst>
              <a:ext uri="{FF2B5EF4-FFF2-40B4-BE49-F238E27FC236}">
                <a16:creationId xmlns:a16="http://schemas.microsoft.com/office/drawing/2014/main" id="{73855E0F-D086-C646-4B8C-FB59ADB74CA0}"/>
              </a:ext>
            </a:extLst>
          </p:cNvPr>
          <p:cNvGrpSpPr/>
          <p:nvPr/>
        </p:nvGrpSpPr>
        <p:grpSpPr>
          <a:xfrm>
            <a:off x="4392000" y="2052000"/>
            <a:ext cx="2304000" cy="1584000"/>
            <a:chOff x="5076000" y="-1908000"/>
            <a:chExt cx="2304000" cy="1584000"/>
          </a:xfrm>
        </p:grpSpPr>
        <p:sp>
          <p:nvSpPr>
            <p:cNvPr id="31" name="矩形 30">
              <a:extLst>
                <a:ext uri="{FF2B5EF4-FFF2-40B4-BE49-F238E27FC236}">
                  <a16:creationId xmlns:a16="http://schemas.microsoft.com/office/drawing/2014/main" id="{B75D7D7F-C4D0-B758-F6AB-70D1DDC247CE}"/>
                </a:ext>
              </a:extLst>
            </p:cNvPr>
            <p:cNvSpPr/>
            <p:nvPr/>
          </p:nvSpPr>
          <p:spPr>
            <a:xfrm>
              <a:off x="5292000" y="-1836000"/>
              <a:ext cx="1872000" cy="129600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a:extLst>
                <a:ext uri="{FF2B5EF4-FFF2-40B4-BE49-F238E27FC236}">
                  <a16:creationId xmlns:a16="http://schemas.microsoft.com/office/drawing/2014/main" id="{F98DAD36-CE1C-E51B-828F-76109CD07026}"/>
                </a:ext>
              </a:extLst>
            </p:cNvPr>
            <p:cNvSpPr/>
            <p:nvPr/>
          </p:nvSpPr>
          <p:spPr>
            <a:xfrm>
              <a:off x="5544000" y="-1908000"/>
              <a:ext cx="504000" cy="144000"/>
            </a:xfrm>
            <a:prstGeom prst="rect">
              <a:avLst/>
            </a:prstGeom>
            <a:solidFill>
              <a:schemeClr val="bg1">
                <a:alpha val="99000"/>
              </a:schemeClr>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0" name="Rectangle 8">
                  <a:extLst>
                    <a:ext uri="{FF2B5EF4-FFF2-40B4-BE49-F238E27FC236}">
                      <a16:creationId xmlns:a16="http://schemas.microsoft.com/office/drawing/2014/main" id="{12B90711-C4CA-6770-F87B-7EAABDF21F21}"/>
                    </a:ext>
                  </a:extLst>
                </p:cNvPr>
                <p:cNvSpPr>
                  <a:spLocks noChangeArrowheads="1"/>
                </p:cNvSpPr>
                <p:nvPr/>
              </p:nvSpPr>
              <p:spPr bwMode="auto">
                <a:xfrm>
                  <a:off x="5652000" y="-1836000"/>
                  <a:ext cx="360000" cy="36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𝑅</m:t>
                        </m:r>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40" name="Rectangle 8">
                  <a:extLst>
                    <a:ext uri="{FF2B5EF4-FFF2-40B4-BE49-F238E27FC236}">
                      <a16:creationId xmlns:a16="http://schemas.microsoft.com/office/drawing/2014/main" id="{12B90711-C4CA-6770-F87B-7EAABDF21F21}"/>
                    </a:ext>
                  </a:extLst>
                </p:cNvPr>
                <p:cNvSpPr>
                  <a:spLocks noRot="1" noChangeAspect="1" noMove="1" noResize="1" noEditPoints="1" noAdjustHandles="1" noChangeArrowheads="1" noChangeShapeType="1" noTextEdit="1"/>
                </p:cNvSpPr>
                <p:nvPr/>
              </p:nvSpPr>
              <p:spPr bwMode="auto">
                <a:xfrm>
                  <a:off x="5652000" y="-1836000"/>
                  <a:ext cx="360000" cy="360000"/>
                </a:xfrm>
                <a:prstGeom prst="rect">
                  <a:avLst/>
                </a:prstGeom>
                <a:blipFill>
                  <a:blip r:embed="rId37"/>
                  <a:stretch>
                    <a:fillRect l="-8475" b="-508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5" name="矩形 34">
              <a:extLst>
                <a:ext uri="{FF2B5EF4-FFF2-40B4-BE49-F238E27FC236}">
                  <a16:creationId xmlns:a16="http://schemas.microsoft.com/office/drawing/2014/main" id="{5BEDCE89-B968-B45B-BAE5-E5B95F8F6591}"/>
                </a:ext>
              </a:extLst>
            </p:cNvPr>
            <p:cNvSpPr/>
            <p:nvPr/>
          </p:nvSpPr>
          <p:spPr>
            <a:xfrm>
              <a:off x="5220000" y="-1188000"/>
              <a:ext cx="144000" cy="108000"/>
            </a:xfrm>
            <a:prstGeom prst="rect">
              <a:avLst/>
            </a:prstGeom>
            <a:solidFill>
              <a:schemeClr val="bg1">
                <a:alpha val="99000"/>
              </a:schemeClr>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36" name="直接连接符 35">
              <a:extLst>
                <a:ext uri="{FF2B5EF4-FFF2-40B4-BE49-F238E27FC236}">
                  <a16:creationId xmlns:a16="http://schemas.microsoft.com/office/drawing/2014/main" id="{2598CE4A-0098-44AF-CE54-4194C9F8F417}"/>
                </a:ext>
              </a:extLst>
            </p:cNvPr>
            <p:cNvCxnSpPr>
              <a:cxnSpLocks/>
            </p:cNvCxnSpPr>
            <p:nvPr/>
          </p:nvCxnSpPr>
          <p:spPr>
            <a:xfrm flipH="1">
              <a:off x="5076000" y="-1188000"/>
              <a:ext cx="43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D377580F-4BB5-FB0F-5EAB-4055835522D7}"/>
                </a:ext>
              </a:extLst>
            </p:cNvPr>
            <p:cNvCxnSpPr>
              <a:cxnSpLocks/>
            </p:cNvCxnSpPr>
            <p:nvPr/>
          </p:nvCxnSpPr>
          <p:spPr>
            <a:xfrm flipH="1">
              <a:off x="5184000" y="-1080000"/>
              <a:ext cx="216000"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1" name="Rectangle 8">
                  <a:extLst>
                    <a:ext uri="{FF2B5EF4-FFF2-40B4-BE49-F238E27FC236}">
                      <a16:creationId xmlns:a16="http://schemas.microsoft.com/office/drawing/2014/main" id="{0C472627-162A-6CB3-61DB-5CCDF929D60B}"/>
                    </a:ext>
                  </a:extLst>
                </p:cNvPr>
                <p:cNvSpPr>
                  <a:spLocks noChangeArrowheads="1"/>
                </p:cNvSpPr>
                <p:nvPr/>
              </p:nvSpPr>
              <p:spPr bwMode="auto">
                <a:xfrm>
                  <a:off x="5508000" y="-1332000"/>
                  <a:ext cx="540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𝑉</m:t>
                            </m:r>
                          </m:e>
                          <m:sub>
                            <m:r>
                              <m:rPr>
                                <m:sty m:val="p"/>
                              </m:rPr>
                              <a:rPr kumimoji="1" lang="en-US" altLang="zh-CN" sz="2000" b="0" i="0" smtClean="0">
                                <a:latin typeface="Cambria Math" panose="02040503050406030204" pitchFamily="18" charset="0"/>
                                <a:ea typeface="微软雅黑" panose="020B0503020204020204" pitchFamily="34" charset="-122"/>
                              </a:rPr>
                              <m:t>DD</m:t>
                            </m:r>
                          </m:sub>
                        </m:sSub>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41" name="Rectangle 8">
                  <a:extLst>
                    <a:ext uri="{FF2B5EF4-FFF2-40B4-BE49-F238E27FC236}">
                      <a16:creationId xmlns:a16="http://schemas.microsoft.com/office/drawing/2014/main" id="{0C472627-162A-6CB3-61DB-5CCDF929D60B}"/>
                    </a:ext>
                  </a:extLst>
                </p:cNvPr>
                <p:cNvSpPr>
                  <a:spLocks noRot="1" noChangeAspect="1" noMove="1" noResize="1" noEditPoints="1" noAdjustHandles="1" noChangeArrowheads="1" noChangeShapeType="1" noTextEdit="1"/>
                </p:cNvSpPr>
                <p:nvPr/>
              </p:nvSpPr>
              <p:spPr bwMode="auto">
                <a:xfrm>
                  <a:off x="5508000" y="-1332000"/>
                  <a:ext cx="540000" cy="396000"/>
                </a:xfrm>
                <a:prstGeom prst="rect">
                  <a:avLst/>
                </a:prstGeom>
                <a:blipFill>
                  <a:blip r:embed="rId38"/>
                  <a:stretch>
                    <a:fillRect l="-11236" b="-307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47" name="等腰三角形 46">
              <a:extLst>
                <a:ext uri="{FF2B5EF4-FFF2-40B4-BE49-F238E27FC236}">
                  <a16:creationId xmlns:a16="http://schemas.microsoft.com/office/drawing/2014/main" id="{205904DF-7E63-CF65-0994-1EC40E8257F7}"/>
                </a:ext>
              </a:extLst>
            </p:cNvPr>
            <p:cNvSpPr/>
            <p:nvPr/>
          </p:nvSpPr>
          <p:spPr>
            <a:xfrm rot="10800000">
              <a:off x="6966000" y="-1512000"/>
              <a:ext cx="396000" cy="288000"/>
            </a:xfrm>
            <a:prstGeom prst="triangle">
              <a:avLst/>
            </a:prstGeom>
            <a:solidFill>
              <a:schemeClr val="tx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cxnSp>
          <p:nvCxnSpPr>
            <p:cNvPr id="52" name="直接连接符 51">
              <a:extLst>
                <a:ext uri="{FF2B5EF4-FFF2-40B4-BE49-F238E27FC236}">
                  <a16:creationId xmlns:a16="http://schemas.microsoft.com/office/drawing/2014/main" id="{08ADD7C6-8169-CB24-6D2C-C03DF6C39E19}"/>
                </a:ext>
              </a:extLst>
            </p:cNvPr>
            <p:cNvCxnSpPr>
              <a:cxnSpLocks/>
            </p:cNvCxnSpPr>
            <p:nvPr/>
          </p:nvCxnSpPr>
          <p:spPr>
            <a:xfrm rot="5400000">
              <a:off x="7164000" y="-1440000"/>
              <a:ext cx="0" cy="432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Rectangle 8">
                  <a:extLst>
                    <a:ext uri="{FF2B5EF4-FFF2-40B4-BE49-F238E27FC236}">
                      <a16:creationId xmlns:a16="http://schemas.microsoft.com/office/drawing/2014/main" id="{37C4B86F-BF8B-2F8C-6287-F1A21C6859C6}"/>
                    </a:ext>
                  </a:extLst>
                </p:cNvPr>
                <p:cNvSpPr>
                  <a:spLocks noChangeArrowheads="1"/>
                </p:cNvSpPr>
                <p:nvPr/>
              </p:nvSpPr>
              <p:spPr bwMode="auto">
                <a:xfrm>
                  <a:off x="6228000" y="-1768110"/>
                  <a:ext cx="360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𝐼</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58" name="Rectangle 8">
                  <a:extLst>
                    <a:ext uri="{FF2B5EF4-FFF2-40B4-BE49-F238E27FC236}">
                      <a16:creationId xmlns:a16="http://schemas.microsoft.com/office/drawing/2014/main" id="{37C4B86F-BF8B-2F8C-6287-F1A21C6859C6}"/>
                    </a:ext>
                  </a:extLst>
                </p:cNvPr>
                <p:cNvSpPr>
                  <a:spLocks noRot="1" noChangeAspect="1" noMove="1" noResize="1" noEditPoints="1" noAdjustHandles="1" noChangeArrowheads="1" noChangeShapeType="1" noTextEdit="1"/>
                </p:cNvSpPr>
                <p:nvPr/>
              </p:nvSpPr>
              <p:spPr bwMode="auto">
                <a:xfrm>
                  <a:off x="6228000" y="-1768110"/>
                  <a:ext cx="360000" cy="396000"/>
                </a:xfrm>
                <a:prstGeom prst="rect">
                  <a:avLst/>
                </a:prstGeom>
                <a:blipFill>
                  <a:blip r:embed="rId39"/>
                  <a:stretch>
                    <a:fillRect l="-15000" b="-307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59" name="直接箭头连接符 58">
              <a:extLst>
                <a:ext uri="{FF2B5EF4-FFF2-40B4-BE49-F238E27FC236}">
                  <a16:creationId xmlns:a16="http://schemas.microsoft.com/office/drawing/2014/main" id="{2E095D09-FEC1-058E-63ED-C89C51058903}"/>
                </a:ext>
              </a:extLst>
            </p:cNvPr>
            <p:cNvCxnSpPr>
              <a:cxnSpLocks/>
            </p:cNvCxnSpPr>
            <p:nvPr/>
          </p:nvCxnSpPr>
          <p:spPr>
            <a:xfrm>
              <a:off x="6192000" y="-1728000"/>
              <a:ext cx="360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61" name="椭圆 60">
              <a:extLst>
                <a:ext uri="{FF2B5EF4-FFF2-40B4-BE49-F238E27FC236}">
                  <a16:creationId xmlns:a16="http://schemas.microsoft.com/office/drawing/2014/main" id="{E6B4285B-88A2-9B67-A51F-6CC808BC762A}"/>
                </a:ext>
              </a:extLst>
            </p:cNvPr>
            <p:cNvSpPr/>
            <p:nvPr/>
          </p:nvSpPr>
          <p:spPr>
            <a:xfrm>
              <a:off x="6156000" y="-612000"/>
              <a:ext cx="144000" cy="144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62" name="直接连接符 61">
              <a:extLst>
                <a:ext uri="{FF2B5EF4-FFF2-40B4-BE49-F238E27FC236}">
                  <a16:creationId xmlns:a16="http://schemas.microsoft.com/office/drawing/2014/main" id="{62741F4D-B08E-36CB-F528-A5295F9891E9}"/>
                </a:ext>
              </a:extLst>
            </p:cNvPr>
            <p:cNvCxnSpPr>
              <a:cxnSpLocks/>
            </p:cNvCxnSpPr>
            <p:nvPr/>
          </p:nvCxnSpPr>
          <p:spPr>
            <a:xfrm>
              <a:off x="6228000" y="-540000"/>
              <a:ext cx="0" cy="21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98E36AFE-C63D-0F62-1A4E-F70C2EED6724}"/>
                </a:ext>
              </a:extLst>
            </p:cNvPr>
            <p:cNvCxnSpPr>
              <a:cxnSpLocks/>
            </p:cNvCxnSpPr>
            <p:nvPr/>
          </p:nvCxnSpPr>
          <p:spPr>
            <a:xfrm flipH="1">
              <a:off x="6048000" y="-324000"/>
              <a:ext cx="3600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矩形 65">
              <a:extLst>
                <a:ext uri="{FF2B5EF4-FFF2-40B4-BE49-F238E27FC236}">
                  <a16:creationId xmlns:a16="http://schemas.microsoft.com/office/drawing/2014/main" id="{BF16D9A8-2890-8198-CA32-C2D58D72A4B7}"/>
                </a:ext>
              </a:extLst>
            </p:cNvPr>
            <p:cNvSpPr/>
            <p:nvPr/>
          </p:nvSpPr>
          <p:spPr>
            <a:xfrm>
              <a:off x="7092000" y="-972000"/>
              <a:ext cx="144000" cy="108000"/>
            </a:xfrm>
            <a:prstGeom prst="rect">
              <a:avLst/>
            </a:prstGeom>
            <a:solidFill>
              <a:schemeClr val="bg1">
                <a:alpha val="99000"/>
              </a:schemeClr>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67" name="直接连接符 66">
              <a:extLst>
                <a:ext uri="{FF2B5EF4-FFF2-40B4-BE49-F238E27FC236}">
                  <a16:creationId xmlns:a16="http://schemas.microsoft.com/office/drawing/2014/main" id="{CED852CD-284E-1DBF-3CC7-89380149399F}"/>
                </a:ext>
              </a:extLst>
            </p:cNvPr>
            <p:cNvCxnSpPr>
              <a:cxnSpLocks/>
            </p:cNvCxnSpPr>
            <p:nvPr/>
          </p:nvCxnSpPr>
          <p:spPr>
            <a:xfrm flipH="1">
              <a:off x="6948000" y="-972000"/>
              <a:ext cx="43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3E2E1FE9-7F81-9D9B-6DB9-65F44CAE1CB5}"/>
                </a:ext>
              </a:extLst>
            </p:cNvPr>
            <p:cNvCxnSpPr>
              <a:cxnSpLocks/>
            </p:cNvCxnSpPr>
            <p:nvPr/>
          </p:nvCxnSpPr>
          <p:spPr>
            <a:xfrm flipH="1">
              <a:off x="7056000" y="-864000"/>
              <a:ext cx="216000"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0" name="Rectangle 8">
                  <a:extLst>
                    <a:ext uri="{FF2B5EF4-FFF2-40B4-BE49-F238E27FC236}">
                      <a16:creationId xmlns:a16="http://schemas.microsoft.com/office/drawing/2014/main" id="{E5472C43-03B9-2002-553F-CA6F607C2759}"/>
                    </a:ext>
                  </a:extLst>
                </p:cNvPr>
                <p:cNvSpPr>
                  <a:spLocks noChangeArrowheads="1"/>
                </p:cNvSpPr>
                <p:nvPr/>
              </p:nvSpPr>
              <p:spPr bwMode="auto">
                <a:xfrm>
                  <a:off x="6624000" y="-1116000"/>
                  <a:ext cx="504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𝑉</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70" name="Rectangle 8">
                  <a:extLst>
                    <a:ext uri="{FF2B5EF4-FFF2-40B4-BE49-F238E27FC236}">
                      <a16:creationId xmlns:a16="http://schemas.microsoft.com/office/drawing/2014/main" id="{E5472C43-03B9-2002-553F-CA6F607C2759}"/>
                    </a:ext>
                  </a:extLst>
                </p:cNvPr>
                <p:cNvSpPr>
                  <a:spLocks noRot="1" noChangeAspect="1" noMove="1" noResize="1" noEditPoints="1" noAdjustHandles="1" noChangeArrowheads="1" noChangeShapeType="1" noTextEdit="1"/>
                </p:cNvSpPr>
                <p:nvPr/>
              </p:nvSpPr>
              <p:spPr bwMode="auto">
                <a:xfrm>
                  <a:off x="6624000" y="-1116000"/>
                  <a:ext cx="504000" cy="396000"/>
                </a:xfrm>
                <a:prstGeom prst="rect">
                  <a:avLst/>
                </a:prstGeom>
                <a:blipFill>
                  <a:blip r:embed="rId40"/>
                  <a:stretch>
                    <a:fillRect l="-1205" b="-4688"/>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grpSp>
        <p:nvGrpSpPr>
          <p:cNvPr id="95" name="组合 94">
            <a:extLst>
              <a:ext uri="{FF2B5EF4-FFF2-40B4-BE49-F238E27FC236}">
                <a16:creationId xmlns:a16="http://schemas.microsoft.com/office/drawing/2014/main" id="{EC2FBDB4-1430-FB75-88B4-D907E3B0EFDA}"/>
              </a:ext>
            </a:extLst>
          </p:cNvPr>
          <p:cNvGrpSpPr/>
          <p:nvPr/>
        </p:nvGrpSpPr>
        <p:grpSpPr>
          <a:xfrm>
            <a:off x="8280000" y="2052000"/>
            <a:ext cx="2880000" cy="1584000"/>
            <a:chOff x="7308000" y="-1728000"/>
            <a:chExt cx="2880000" cy="1584000"/>
          </a:xfrm>
        </p:grpSpPr>
        <p:sp>
          <p:nvSpPr>
            <p:cNvPr id="73" name="矩形 72">
              <a:extLst>
                <a:ext uri="{FF2B5EF4-FFF2-40B4-BE49-F238E27FC236}">
                  <a16:creationId xmlns:a16="http://schemas.microsoft.com/office/drawing/2014/main" id="{0C0849E4-A6F6-77C7-587D-841F1CF3A79E}"/>
                </a:ext>
              </a:extLst>
            </p:cNvPr>
            <p:cNvSpPr/>
            <p:nvPr/>
          </p:nvSpPr>
          <p:spPr>
            <a:xfrm>
              <a:off x="7848000" y="-1656000"/>
              <a:ext cx="1872000" cy="1296000"/>
            </a:xfrm>
            <a:prstGeom prst="rect">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73">
              <a:extLst>
                <a:ext uri="{FF2B5EF4-FFF2-40B4-BE49-F238E27FC236}">
                  <a16:creationId xmlns:a16="http://schemas.microsoft.com/office/drawing/2014/main" id="{6D57FEF7-7F68-697E-0D48-B51F68F0441E}"/>
                </a:ext>
              </a:extLst>
            </p:cNvPr>
            <p:cNvSpPr/>
            <p:nvPr/>
          </p:nvSpPr>
          <p:spPr>
            <a:xfrm>
              <a:off x="8100000" y="-1728000"/>
              <a:ext cx="504000" cy="144000"/>
            </a:xfrm>
            <a:prstGeom prst="rect">
              <a:avLst/>
            </a:prstGeom>
            <a:solidFill>
              <a:schemeClr val="bg1">
                <a:alpha val="99000"/>
              </a:schemeClr>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79" name="Rectangle 8">
                  <a:extLst>
                    <a:ext uri="{FF2B5EF4-FFF2-40B4-BE49-F238E27FC236}">
                      <a16:creationId xmlns:a16="http://schemas.microsoft.com/office/drawing/2014/main" id="{5A94724B-C344-CD83-E146-A17A14AC75AE}"/>
                    </a:ext>
                  </a:extLst>
                </p:cNvPr>
                <p:cNvSpPr>
                  <a:spLocks noChangeArrowheads="1"/>
                </p:cNvSpPr>
                <p:nvPr/>
              </p:nvSpPr>
              <p:spPr bwMode="auto">
                <a:xfrm>
                  <a:off x="8208000" y="-1656000"/>
                  <a:ext cx="360000" cy="36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𝑅</m:t>
                        </m:r>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79" name="Rectangle 8">
                  <a:extLst>
                    <a:ext uri="{FF2B5EF4-FFF2-40B4-BE49-F238E27FC236}">
                      <a16:creationId xmlns:a16="http://schemas.microsoft.com/office/drawing/2014/main" id="{5A94724B-C344-CD83-E146-A17A14AC75AE}"/>
                    </a:ext>
                  </a:extLst>
                </p:cNvPr>
                <p:cNvSpPr>
                  <a:spLocks noRot="1" noChangeAspect="1" noMove="1" noResize="1" noEditPoints="1" noAdjustHandles="1" noChangeArrowheads="1" noChangeShapeType="1" noTextEdit="1"/>
                </p:cNvSpPr>
                <p:nvPr/>
              </p:nvSpPr>
              <p:spPr bwMode="auto">
                <a:xfrm>
                  <a:off x="8208000" y="-1656000"/>
                  <a:ext cx="360000" cy="360000"/>
                </a:xfrm>
                <a:prstGeom prst="rect">
                  <a:avLst/>
                </a:prstGeom>
                <a:blipFill>
                  <a:blip r:embed="rId41"/>
                  <a:stretch>
                    <a:fillRect l="-8475" b="-508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92" name="组合 91">
              <a:extLst>
                <a:ext uri="{FF2B5EF4-FFF2-40B4-BE49-F238E27FC236}">
                  <a16:creationId xmlns:a16="http://schemas.microsoft.com/office/drawing/2014/main" id="{3C7CB3B8-5A01-E8B5-860C-DC8901903699}"/>
                </a:ext>
              </a:extLst>
            </p:cNvPr>
            <p:cNvGrpSpPr/>
            <p:nvPr/>
          </p:nvGrpSpPr>
          <p:grpSpPr>
            <a:xfrm>
              <a:off x="7308000" y="-1512000"/>
              <a:ext cx="720000" cy="1008000"/>
              <a:chOff x="7308000" y="-1764000"/>
              <a:chExt cx="720000" cy="1008000"/>
            </a:xfrm>
          </p:grpSpPr>
          <p:sp>
            <p:nvSpPr>
              <p:cNvPr id="75" name="椭圆 74">
                <a:extLst>
                  <a:ext uri="{FF2B5EF4-FFF2-40B4-BE49-F238E27FC236}">
                    <a16:creationId xmlns:a16="http://schemas.microsoft.com/office/drawing/2014/main" id="{B4EE78AB-7ED5-59CD-01EC-189796FBE987}"/>
                  </a:ext>
                </a:extLst>
              </p:cNvPr>
              <p:cNvSpPr/>
              <p:nvPr/>
            </p:nvSpPr>
            <p:spPr>
              <a:xfrm>
                <a:off x="7668000" y="-1440000"/>
                <a:ext cx="360000" cy="360000"/>
              </a:xfrm>
              <a:prstGeom prst="ellipse">
                <a:avLst/>
              </a:prstGeom>
              <a:noFill/>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81" name="Rectangle 8">
                    <a:extLst>
                      <a:ext uri="{FF2B5EF4-FFF2-40B4-BE49-F238E27FC236}">
                        <a16:creationId xmlns:a16="http://schemas.microsoft.com/office/drawing/2014/main" id="{E600D97F-BE33-8CD3-0583-B84A910BB667}"/>
                      </a:ext>
                    </a:extLst>
                  </p:cNvPr>
                  <p:cNvSpPr>
                    <a:spLocks noChangeArrowheads="1"/>
                  </p:cNvSpPr>
                  <p:nvPr/>
                </p:nvSpPr>
                <p:spPr bwMode="auto">
                  <a:xfrm>
                    <a:off x="7308000" y="-1764000"/>
                    <a:ext cx="360000" cy="1008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Group"/>
                        </m:oMathParaPr>
                        <m:oMath xmlns:m="http://schemas.openxmlformats.org/officeDocument/2006/math">
                          <m:r>
                            <a:rPr kumimoji="1" lang="pt-BR" altLang="zh-CN" sz="2000" b="0" i="1" smtClean="0">
                              <a:latin typeface="Cambria Math" panose="02040503050406030204" pitchFamily="18" charset="0"/>
                              <a:ea typeface="微软雅黑" panose="020B0503020204020204" pitchFamily="34" charset="-122"/>
                            </a:rPr>
                            <m:t>+</m:t>
                          </m:r>
                        </m:oMath>
                      </m:oMathPara>
                    </a14:m>
                    <a:endParaRPr kumimoji="1" lang="en-US" altLang="zh-CN" sz="2000" b="0" dirty="0">
                      <a:latin typeface="微软雅黑" panose="020B0503020204020204" pitchFamily="34" charset="-122"/>
                      <a:ea typeface="微软雅黑" panose="020B0503020204020204" pitchFamily="34" charset="-122"/>
                    </a:endParaRPr>
                  </a:p>
                  <a:p>
                    <a:pPr algn="ctr">
                      <a:spcAft>
                        <a:spcPct val="0"/>
                      </a:spcAft>
                      <a:buNone/>
                    </a:pPr>
                    <a14:m>
                      <m:oMath xmlns:m="http://schemas.openxmlformats.org/officeDocument/2006/math">
                        <m:sSub>
                          <m:sSubPr>
                            <m:ctrlPr>
                              <a:rPr kumimoji="1" lang="en-US" altLang="zh-CN" sz="2000" b="0" i="1">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𝑣</m:t>
                            </m:r>
                          </m:e>
                          <m:sub>
                            <m:r>
                              <m:rPr>
                                <m:sty m:val="p"/>
                              </m:rPr>
                              <a:rPr kumimoji="1" lang="en-US" altLang="zh-CN" sz="2000" b="0" i="0" smtClean="0">
                                <a:latin typeface="Cambria Math" panose="02040503050406030204" pitchFamily="18" charset="0"/>
                                <a:ea typeface="微软雅黑" panose="020B0503020204020204" pitchFamily="34" charset="-122"/>
                              </a:rPr>
                              <m:t>s</m:t>
                            </m:r>
                          </m:sub>
                        </m:sSub>
                      </m:oMath>
                    </a14:m>
                    <a:r>
                      <a:rPr kumimoji="1" lang="zh-CN" altLang="en-US" sz="2000" b="0" dirty="0">
                        <a:latin typeface="微软雅黑" panose="020B0503020204020204" pitchFamily="34" charset="-122"/>
                        <a:ea typeface="微软雅黑" panose="020B0503020204020204" pitchFamily="34" charset="-122"/>
                      </a:rPr>
                      <a:t>    </a:t>
                    </a:r>
                    <a:endParaRPr kumimoji="1" lang="en-US" altLang="zh-CN" sz="2000" b="0" dirty="0">
                      <a:latin typeface="微软雅黑" panose="020B0503020204020204" pitchFamily="34" charset="-122"/>
                      <a:ea typeface="微软雅黑" panose="020B0503020204020204" pitchFamily="34" charset="-122"/>
                    </a:endParaRPr>
                  </a:p>
                  <a:p>
                    <a:pPr algn="ctr">
                      <a:spcAft>
                        <a:spcPct val="0"/>
                      </a:spcAft>
                      <a:buNone/>
                    </a:pPr>
                    <a14:m>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p>
                </p:txBody>
              </p:sp>
            </mc:Choice>
            <mc:Fallback xmlns="">
              <p:sp>
                <p:nvSpPr>
                  <p:cNvPr id="81" name="Rectangle 8">
                    <a:extLst>
                      <a:ext uri="{FF2B5EF4-FFF2-40B4-BE49-F238E27FC236}">
                        <a16:creationId xmlns:a16="http://schemas.microsoft.com/office/drawing/2014/main" id="{E600D97F-BE33-8CD3-0583-B84A910BB667}"/>
                      </a:ext>
                    </a:extLst>
                  </p:cNvPr>
                  <p:cNvSpPr>
                    <a:spLocks noRot="1" noChangeAspect="1" noMove="1" noResize="1" noEditPoints="1" noAdjustHandles="1" noChangeArrowheads="1" noChangeShapeType="1" noTextEdit="1"/>
                  </p:cNvSpPr>
                  <p:nvPr/>
                </p:nvSpPr>
                <p:spPr bwMode="auto">
                  <a:xfrm>
                    <a:off x="7308000" y="-1764000"/>
                    <a:ext cx="360000" cy="1008000"/>
                  </a:xfrm>
                  <a:prstGeom prst="rect">
                    <a:avLst/>
                  </a:prstGeom>
                  <a:blipFill>
                    <a:blip r:embed="rId42"/>
                    <a:stretch>
                      <a:fillRect r="-169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84" name="Rectangle 8">
                  <a:extLst>
                    <a:ext uri="{FF2B5EF4-FFF2-40B4-BE49-F238E27FC236}">
                      <a16:creationId xmlns:a16="http://schemas.microsoft.com/office/drawing/2014/main" id="{91217902-BE86-A0F6-20C0-D78DA7036AB0}"/>
                    </a:ext>
                  </a:extLst>
                </p:cNvPr>
                <p:cNvSpPr>
                  <a:spLocks noChangeArrowheads="1"/>
                </p:cNvSpPr>
                <p:nvPr/>
              </p:nvSpPr>
              <p:spPr bwMode="auto">
                <a:xfrm>
                  <a:off x="9252000" y="-1548000"/>
                  <a:ext cx="360000" cy="1008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Group"/>
                      </m:oMathParaPr>
                      <m:oMath xmlns:m="http://schemas.openxmlformats.org/officeDocument/2006/math">
                        <m:r>
                          <a:rPr kumimoji="1" lang="pt-BR" altLang="zh-CN" sz="2000" b="0" i="1" smtClean="0">
                            <a:latin typeface="Cambria Math" panose="02040503050406030204" pitchFamily="18" charset="0"/>
                            <a:ea typeface="微软雅黑" panose="020B0503020204020204" pitchFamily="34" charset="-122"/>
                          </a:rPr>
                          <m:t>+</m:t>
                        </m:r>
                      </m:oMath>
                    </m:oMathPara>
                  </a14:m>
                  <a:endParaRPr kumimoji="1" lang="en-US" altLang="zh-CN" sz="2000" b="0" dirty="0">
                    <a:latin typeface="微软雅黑" panose="020B0503020204020204" pitchFamily="34" charset="-122"/>
                    <a:ea typeface="微软雅黑" panose="020B0503020204020204" pitchFamily="34" charset="-122"/>
                  </a:endParaRPr>
                </a:p>
                <a:p>
                  <a:pPr algn="ctr">
                    <a:spcAft>
                      <a:spcPct val="0"/>
                    </a:spcAft>
                    <a:buNone/>
                  </a:pPr>
                  <a14:m>
                    <m:oMath xmlns:m="http://schemas.openxmlformats.org/officeDocument/2006/math">
                      <m:sSub>
                        <m:sSubPr>
                          <m:ctrlPr>
                            <a:rPr kumimoji="1" lang="en-US" altLang="zh-CN" sz="2000" b="0" i="1">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𝑣</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a14:m>
                  <a:r>
                    <a:rPr kumimoji="1" lang="zh-CN" altLang="en-US" sz="2000" b="0" dirty="0">
                      <a:latin typeface="微软雅黑" panose="020B0503020204020204" pitchFamily="34" charset="-122"/>
                      <a:ea typeface="微软雅黑" panose="020B0503020204020204" pitchFamily="34" charset="-122"/>
                    </a:rPr>
                    <a:t>    </a:t>
                  </a:r>
                  <a:endParaRPr kumimoji="1" lang="en-US" altLang="zh-CN" sz="2000" b="0" dirty="0">
                    <a:latin typeface="微软雅黑" panose="020B0503020204020204" pitchFamily="34" charset="-122"/>
                    <a:ea typeface="微软雅黑" panose="020B0503020204020204" pitchFamily="34" charset="-122"/>
                  </a:endParaRPr>
                </a:p>
                <a:p>
                  <a:pPr algn="ctr">
                    <a:spcAft>
                      <a:spcPct val="0"/>
                    </a:spcAft>
                    <a:buNone/>
                  </a:pPr>
                  <a14:m>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p>
              </p:txBody>
            </p:sp>
          </mc:Choice>
          <mc:Fallback xmlns="">
            <p:sp>
              <p:nvSpPr>
                <p:cNvPr id="84" name="Rectangle 8">
                  <a:extLst>
                    <a:ext uri="{FF2B5EF4-FFF2-40B4-BE49-F238E27FC236}">
                      <a16:creationId xmlns:a16="http://schemas.microsoft.com/office/drawing/2014/main" id="{91217902-BE86-A0F6-20C0-D78DA7036AB0}"/>
                    </a:ext>
                  </a:extLst>
                </p:cNvPr>
                <p:cNvSpPr>
                  <a:spLocks noRot="1" noChangeAspect="1" noMove="1" noResize="1" noEditPoints="1" noAdjustHandles="1" noChangeArrowheads="1" noChangeShapeType="1" noTextEdit="1"/>
                </p:cNvSpPr>
                <p:nvPr/>
              </p:nvSpPr>
              <p:spPr bwMode="auto">
                <a:xfrm>
                  <a:off x="9252000" y="-1548000"/>
                  <a:ext cx="360000" cy="1008000"/>
                </a:xfrm>
                <a:prstGeom prst="rect">
                  <a:avLst/>
                </a:prstGeom>
                <a:blipFill>
                  <a:blip r:embed="rId43"/>
                  <a:stretch>
                    <a:fillRect r="-15254"/>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5" name="Rectangle 8">
                  <a:extLst>
                    <a:ext uri="{FF2B5EF4-FFF2-40B4-BE49-F238E27FC236}">
                      <a16:creationId xmlns:a16="http://schemas.microsoft.com/office/drawing/2014/main" id="{B36AE49A-3929-CE67-7715-DB33E607C86A}"/>
                    </a:ext>
                  </a:extLst>
                </p:cNvPr>
                <p:cNvSpPr>
                  <a:spLocks noChangeArrowheads="1"/>
                </p:cNvSpPr>
                <p:nvPr/>
              </p:nvSpPr>
              <p:spPr bwMode="auto">
                <a:xfrm>
                  <a:off x="8784000" y="-1588110"/>
                  <a:ext cx="360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𝑖</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85" name="Rectangle 8">
                  <a:extLst>
                    <a:ext uri="{FF2B5EF4-FFF2-40B4-BE49-F238E27FC236}">
                      <a16:creationId xmlns:a16="http://schemas.microsoft.com/office/drawing/2014/main" id="{B36AE49A-3929-CE67-7715-DB33E607C86A}"/>
                    </a:ext>
                  </a:extLst>
                </p:cNvPr>
                <p:cNvSpPr>
                  <a:spLocks noRot="1" noChangeAspect="1" noMove="1" noResize="1" noEditPoints="1" noAdjustHandles="1" noChangeArrowheads="1" noChangeShapeType="1" noTextEdit="1"/>
                </p:cNvSpPr>
                <p:nvPr/>
              </p:nvSpPr>
              <p:spPr bwMode="auto">
                <a:xfrm>
                  <a:off x="8784000" y="-1588110"/>
                  <a:ext cx="360000" cy="396000"/>
                </a:xfrm>
                <a:prstGeom prst="rect">
                  <a:avLst/>
                </a:prstGeom>
                <a:blipFill>
                  <a:blip r:embed="rId44"/>
                  <a:stretch>
                    <a:fillRect l="-13559" b="-307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86" name="直接箭头连接符 85">
              <a:extLst>
                <a:ext uri="{FF2B5EF4-FFF2-40B4-BE49-F238E27FC236}">
                  <a16:creationId xmlns:a16="http://schemas.microsoft.com/office/drawing/2014/main" id="{FF8DE46F-B634-4DF8-55E0-A3DFC8BC1362}"/>
                </a:ext>
              </a:extLst>
            </p:cNvPr>
            <p:cNvCxnSpPr>
              <a:cxnSpLocks/>
            </p:cNvCxnSpPr>
            <p:nvPr/>
          </p:nvCxnSpPr>
          <p:spPr>
            <a:xfrm>
              <a:off x="8748000" y="-1548000"/>
              <a:ext cx="360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87" name="椭圆 86">
              <a:extLst>
                <a:ext uri="{FF2B5EF4-FFF2-40B4-BE49-F238E27FC236}">
                  <a16:creationId xmlns:a16="http://schemas.microsoft.com/office/drawing/2014/main" id="{B5BA5F24-3FD4-96F1-E9B3-DE597DA39E3A}"/>
                </a:ext>
              </a:extLst>
            </p:cNvPr>
            <p:cNvSpPr/>
            <p:nvPr/>
          </p:nvSpPr>
          <p:spPr>
            <a:xfrm>
              <a:off x="8712000" y="-432000"/>
              <a:ext cx="144000" cy="144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88" name="直接连接符 87">
              <a:extLst>
                <a:ext uri="{FF2B5EF4-FFF2-40B4-BE49-F238E27FC236}">
                  <a16:creationId xmlns:a16="http://schemas.microsoft.com/office/drawing/2014/main" id="{5A145D33-42D2-5659-6F6A-2B1F7FB27109}"/>
                </a:ext>
              </a:extLst>
            </p:cNvPr>
            <p:cNvCxnSpPr>
              <a:cxnSpLocks/>
            </p:cNvCxnSpPr>
            <p:nvPr/>
          </p:nvCxnSpPr>
          <p:spPr>
            <a:xfrm>
              <a:off x="8784000" y="-360000"/>
              <a:ext cx="0" cy="21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A88259BD-9FAB-FDCF-9FD8-A2BF0B7A6CF8}"/>
                </a:ext>
              </a:extLst>
            </p:cNvPr>
            <p:cNvCxnSpPr>
              <a:cxnSpLocks/>
            </p:cNvCxnSpPr>
            <p:nvPr/>
          </p:nvCxnSpPr>
          <p:spPr>
            <a:xfrm flipH="1">
              <a:off x="8604000" y="-144000"/>
              <a:ext cx="3600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93" name="矩形 92">
              <a:extLst>
                <a:ext uri="{FF2B5EF4-FFF2-40B4-BE49-F238E27FC236}">
                  <a16:creationId xmlns:a16="http://schemas.microsoft.com/office/drawing/2014/main" id="{1E539A84-E6AB-DF1D-EAAF-071884C40745}"/>
                </a:ext>
              </a:extLst>
            </p:cNvPr>
            <p:cNvSpPr/>
            <p:nvPr/>
          </p:nvSpPr>
          <p:spPr>
            <a:xfrm>
              <a:off x="9648000" y="-1260000"/>
              <a:ext cx="144000" cy="504000"/>
            </a:xfrm>
            <a:prstGeom prst="rect">
              <a:avLst/>
            </a:prstGeom>
            <a:solidFill>
              <a:schemeClr val="bg1">
                <a:alpha val="99000"/>
              </a:schemeClr>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94" name="Rectangle 8">
                  <a:extLst>
                    <a:ext uri="{FF2B5EF4-FFF2-40B4-BE49-F238E27FC236}">
                      <a16:creationId xmlns:a16="http://schemas.microsoft.com/office/drawing/2014/main" id="{53B40C78-31D9-30E9-7F6B-0AE3B84FA11B}"/>
                    </a:ext>
                  </a:extLst>
                </p:cNvPr>
                <p:cNvSpPr>
                  <a:spLocks noChangeArrowheads="1"/>
                </p:cNvSpPr>
                <p:nvPr/>
              </p:nvSpPr>
              <p:spPr bwMode="auto">
                <a:xfrm>
                  <a:off x="9828000" y="-1224000"/>
                  <a:ext cx="360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𝑟</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94" name="Rectangle 8">
                  <a:extLst>
                    <a:ext uri="{FF2B5EF4-FFF2-40B4-BE49-F238E27FC236}">
                      <a16:creationId xmlns:a16="http://schemas.microsoft.com/office/drawing/2014/main" id="{53B40C78-31D9-30E9-7F6B-0AE3B84FA11B}"/>
                    </a:ext>
                  </a:extLst>
                </p:cNvPr>
                <p:cNvSpPr>
                  <a:spLocks noRot="1" noChangeAspect="1" noMove="1" noResize="1" noEditPoints="1" noAdjustHandles="1" noChangeArrowheads="1" noChangeShapeType="1" noTextEdit="1"/>
                </p:cNvSpPr>
                <p:nvPr/>
              </p:nvSpPr>
              <p:spPr bwMode="auto">
                <a:xfrm>
                  <a:off x="9828000" y="-1224000"/>
                  <a:ext cx="360000" cy="396000"/>
                </a:xfrm>
                <a:prstGeom prst="rect">
                  <a:avLst/>
                </a:prstGeom>
                <a:blipFill>
                  <a:blip r:embed="rId45"/>
                  <a:stretch>
                    <a:fillRect l="-8475" b="-461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spTree>
    <p:extLst>
      <p:ext uri="{BB962C8B-B14F-4D97-AF65-F5344CB8AC3E}">
        <p14:creationId xmlns:p14="http://schemas.microsoft.com/office/powerpoint/2010/main" val="1900348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95"/>
                                        </p:tgtEl>
                                        <p:attrNameLst>
                                          <p:attrName>style.visibility</p:attrName>
                                        </p:attrNameLst>
                                      </p:cBhvr>
                                      <p:to>
                                        <p:strVal val="visible"/>
                                      </p:to>
                                    </p:set>
                                    <p:animEffect transition="in" filter="randombar(horizontal)">
                                      <p:cBhvr>
                                        <p:cTn id="7" dur="500"/>
                                        <p:tgtEl>
                                          <p:spTgt spid="195"/>
                                        </p:tgtEl>
                                      </p:cBhvr>
                                    </p:animEffect>
                                  </p:childTnLst>
                                </p:cTn>
                              </p:par>
                              <p:par>
                                <p:cTn id="8" presetID="14" presetClass="entr" presetSubtype="10" fill="hold" nodeType="withEffect">
                                  <p:stCondLst>
                                    <p:cond delay="0"/>
                                  </p:stCondLst>
                                  <p:childTnLst>
                                    <p:set>
                                      <p:cBhvr>
                                        <p:cTn id="9" dur="1" fill="hold">
                                          <p:stCondLst>
                                            <p:cond delay="0"/>
                                          </p:stCondLst>
                                        </p:cTn>
                                        <p:tgtEl>
                                          <p:spTgt spid="71"/>
                                        </p:tgtEl>
                                        <p:attrNameLst>
                                          <p:attrName>style.visibility</p:attrName>
                                        </p:attrNameLst>
                                      </p:cBhvr>
                                      <p:to>
                                        <p:strVal val="visible"/>
                                      </p:to>
                                    </p:set>
                                    <p:animEffect transition="in" filter="randombar(horizontal)">
                                      <p:cBhvr>
                                        <p:cTn id="10" dur="500"/>
                                        <p:tgtEl>
                                          <p:spTgt spid="71"/>
                                        </p:tgtEl>
                                      </p:cBhvr>
                                    </p:animEffect>
                                  </p:childTnLst>
                                </p:cTn>
                              </p:par>
                              <p:par>
                                <p:cTn id="11" presetID="14" presetClass="entr" presetSubtype="10" fill="hold" grpId="0" nodeType="withEffect">
                                  <p:stCondLst>
                                    <p:cond delay="0"/>
                                  </p:stCondLst>
                                  <p:childTnLst>
                                    <p:set>
                                      <p:cBhvr>
                                        <p:cTn id="12" dur="1" fill="hold">
                                          <p:stCondLst>
                                            <p:cond delay="0"/>
                                          </p:stCondLst>
                                        </p:cTn>
                                        <p:tgtEl>
                                          <p:spTgt spid="196"/>
                                        </p:tgtEl>
                                        <p:attrNameLst>
                                          <p:attrName>style.visibility</p:attrName>
                                        </p:attrNameLst>
                                      </p:cBhvr>
                                      <p:to>
                                        <p:strVal val="visible"/>
                                      </p:to>
                                    </p:set>
                                    <p:animEffect transition="in" filter="randombar(horizontal)">
                                      <p:cBhvr>
                                        <p:cTn id="13" dur="500"/>
                                        <p:tgtEl>
                                          <p:spTgt spid="196"/>
                                        </p:tgtEl>
                                      </p:cBhvr>
                                    </p:animEffect>
                                  </p:childTnLst>
                                </p:cTn>
                              </p:par>
                              <p:par>
                                <p:cTn id="14" presetID="14" presetClass="entr" presetSubtype="10" fill="hold" nodeType="withEffect">
                                  <p:stCondLst>
                                    <p:cond delay="0"/>
                                  </p:stCondLst>
                                  <p:childTnLst>
                                    <p:set>
                                      <p:cBhvr>
                                        <p:cTn id="15" dur="1" fill="hold">
                                          <p:stCondLst>
                                            <p:cond delay="0"/>
                                          </p:stCondLst>
                                        </p:cTn>
                                        <p:tgtEl>
                                          <p:spTgt spid="95"/>
                                        </p:tgtEl>
                                        <p:attrNameLst>
                                          <p:attrName>style.visibility</p:attrName>
                                        </p:attrNameLst>
                                      </p:cBhvr>
                                      <p:to>
                                        <p:strVal val="visible"/>
                                      </p:to>
                                    </p:set>
                                    <p:animEffect transition="in" filter="randombar(horizontal)">
                                      <p:cBhvr>
                                        <p:cTn id="16" dur="500"/>
                                        <p:tgtEl>
                                          <p:spTgt spid="95"/>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grpId="0" nodeType="clickEffect">
                                  <p:stCondLst>
                                    <p:cond delay="0"/>
                                  </p:stCondLst>
                                  <p:childTnLst>
                                    <p:set>
                                      <p:cBhvr>
                                        <p:cTn id="20" dur="1" fill="hold">
                                          <p:stCondLst>
                                            <p:cond delay="0"/>
                                          </p:stCondLst>
                                        </p:cTn>
                                        <p:tgtEl>
                                          <p:spTgt spid="199"/>
                                        </p:tgtEl>
                                        <p:attrNameLst>
                                          <p:attrName>style.visibility</p:attrName>
                                        </p:attrNameLst>
                                      </p:cBhvr>
                                      <p:to>
                                        <p:strVal val="visible"/>
                                      </p:to>
                                    </p:set>
                                    <p:animEffect transition="in" filter="randombar(horizontal)">
                                      <p:cBhvr>
                                        <p:cTn id="21" dur="500"/>
                                        <p:tgtEl>
                                          <p:spTgt spid="199"/>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200"/>
                                        </p:tgtEl>
                                        <p:attrNameLst>
                                          <p:attrName>style.visibility</p:attrName>
                                        </p:attrNameLst>
                                      </p:cBhvr>
                                      <p:to>
                                        <p:strVal val="visible"/>
                                      </p:to>
                                    </p:set>
                                    <p:animEffect transition="in" filter="randombar(horizontal)">
                                      <p:cBhvr>
                                        <p:cTn id="24" dur="500"/>
                                        <p:tgtEl>
                                          <p:spTgt spid="200"/>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grpId="0" nodeType="clickEffect">
                                  <p:stCondLst>
                                    <p:cond delay="0"/>
                                  </p:stCondLst>
                                  <p:childTnLst>
                                    <p:set>
                                      <p:cBhvr>
                                        <p:cTn id="28" dur="1" fill="hold">
                                          <p:stCondLst>
                                            <p:cond delay="0"/>
                                          </p:stCondLst>
                                        </p:cTn>
                                        <p:tgtEl>
                                          <p:spTgt spid="197"/>
                                        </p:tgtEl>
                                        <p:attrNameLst>
                                          <p:attrName>style.visibility</p:attrName>
                                        </p:attrNameLst>
                                      </p:cBhvr>
                                      <p:to>
                                        <p:strVal val="visible"/>
                                      </p:to>
                                    </p:set>
                                    <p:animEffect transition="in" filter="randombar(horizontal)">
                                      <p:cBhvr>
                                        <p:cTn id="29" dur="500"/>
                                        <p:tgtEl>
                                          <p:spTgt spid="197"/>
                                        </p:tgtEl>
                                      </p:cBhvr>
                                    </p:animEffect>
                                  </p:childTnLst>
                                </p:cTn>
                              </p:par>
                              <p:par>
                                <p:cTn id="30" presetID="14" presetClass="entr" presetSubtype="10" fill="hold" grpId="0" nodeType="withEffect">
                                  <p:stCondLst>
                                    <p:cond delay="0"/>
                                  </p:stCondLst>
                                  <p:childTnLst>
                                    <p:set>
                                      <p:cBhvr>
                                        <p:cTn id="31" dur="1" fill="hold">
                                          <p:stCondLst>
                                            <p:cond delay="0"/>
                                          </p:stCondLst>
                                        </p:cTn>
                                        <p:tgtEl>
                                          <p:spTgt spid="201"/>
                                        </p:tgtEl>
                                        <p:attrNameLst>
                                          <p:attrName>style.visibility</p:attrName>
                                        </p:attrNameLst>
                                      </p:cBhvr>
                                      <p:to>
                                        <p:strVal val="visible"/>
                                      </p:to>
                                    </p:set>
                                    <p:animEffect transition="in" filter="randombar(horizontal)">
                                      <p:cBhvr>
                                        <p:cTn id="32" dur="500"/>
                                        <p:tgtEl>
                                          <p:spTgt spid="201"/>
                                        </p:tgtEl>
                                      </p:cBhvr>
                                    </p:animEffect>
                                  </p:childTnLst>
                                </p:cTn>
                              </p:par>
                              <p:par>
                                <p:cTn id="33" presetID="14" presetClass="entr" presetSubtype="10" fill="hold" grpId="0" nodeType="withEffect">
                                  <p:stCondLst>
                                    <p:cond delay="0"/>
                                  </p:stCondLst>
                                  <p:childTnLst>
                                    <p:set>
                                      <p:cBhvr>
                                        <p:cTn id="34" dur="1" fill="hold">
                                          <p:stCondLst>
                                            <p:cond delay="0"/>
                                          </p:stCondLst>
                                        </p:cTn>
                                        <p:tgtEl>
                                          <p:spTgt spid="203"/>
                                        </p:tgtEl>
                                        <p:attrNameLst>
                                          <p:attrName>style.visibility</p:attrName>
                                        </p:attrNameLst>
                                      </p:cBhvr>
                                      <p:to>
                                        <p:strVal val="visible"/>
                                      </p:to>
                                    </p:set>
                                    <p:animEffect transition="in" filter="randombar(horizontal)">
                                      <p:cBhvr>
                                        <p:cTn id="35" dur="500"/>
                                        <p:tgtEl>
                                          <p:spTgt spid="203"/>
                                        </p:tgtEl>
                                      </p:cBhvr>
                                    </p:animEffect>
                                  </p:childTnLst>
                                </p:cTn>
                              </p:par>
                              <p:par>
                                <p:cTn id="36" presetID="14" presetClass="entr" presetSubtype="10" fill="hold" grpId="0" nodeType="withEffect">
                                  <p:stCondLst>
                                    <p:cond delay="0"/>
                                  </p:stCondLst>
                                  <p:childTnLst>
                                    <p:set>
                                      <p:cBhvr>
                                        <p:cTn id="37" dur="1" fill="hold">
                                          <p:stCondLst>
                                            <p:cond delay="0"/>
                                          </p:stCondLst>
                                        </p:cTn>
                                        <p:tgtEl>
                                          <p:spTgt spid="209"/>
                                        </p:tgtEl>
                                        <p:attrNameLst>
                                          <p:attrName>style.visibility</p:attrName>
                                        </p:attrNameLst>
                                      </p:cBhvr>
                                      <p:to>
                                        <p:strVal val="visible"/>
                                      </p:to>
                                    </p:set>
                                    <p:animEffect transition="in" filter="randombar(horizontal)">
                                      <p:cBhvr>
                                        <p:cTn id="38" dur="500"/>
                                        <p:tgtEl>
                                          <p:spTgt spid="209"/>
                                        </p:tgtEl>
                                      </p:cBhvr>
                                    </p:animEffect>
                                  </p:childTnLst>
                                </p:cTn>
                              </p:par>
                            </p:childTnLst>
                          </p:cTn>
                        </p:par>
                      </p:childTnLst>
                    </p:cTn>
                  </p:par>
                  <p:par>
                    <p:cTn id="39" fill="hold">
                      <p:stCondLst>
                        <p:cond delay="indefinite"/>
                      </p:stCondLst>
                      <p:childTnLst>
                        <p:par>
                          <p:cTn id="40" fill="hold">
                            <p:stCondLst>
                              <p:cond delay="0"/>
                            </p:stCondLst>
                            <p:childTnLst>
                              <p:par>
                                <p:cTn id="41" presetID="14" presetClass="entr" presetSubtype="10" fill="hold" grpId="0" nodeType="clickEffect">
                                  <p:stCondLst>
                                    <p:cond delay="0"/>
                                  </p:stCondLst>
                                  <p:childTnLst>
                                    <p:set>
                                      <p:cBhvr>
                                        <p:cTn id="42" dur="1" fill="hold">
                                          <p:stCondLst>
                                            <p:cond delay="0"/>
                                          </p:stCondLst>
                                        </p:cTn>
                                        <p:tgtEl>
                                          <p:spTgt spid="207"/>
                                        </p:tgtEl>
                                        <p:attrNameLst>
                                          <p:attrName>style.visibility</p:attrName>
                                        </p:attrNameLst>
                                      </p:cBhvr>
                                      <p:to>
                                        <p:strVal val="visible"/>
                                      </p:to>
                                    </p:set>
                                    <p:animEffect transition="in" filter="randombar(horizontal)">
                                      <p:cBhvr>
                                        <p:cTn id="43" dur="500"/>
                                        <p:tgtEl>
                                          <p:spTgt spid="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 grpId="0"/>
      <p:bldP spid="196" grpId="0"/>
      <p:bldP spid="197" grpId="0"/>
      <p:bldP spid="199" grpId="0"/>
      <p:bldP spid="200" grpId="0"/>
      <p:bldP spid="201" grpId="0"/>
      <p:bldP spid="203" grpId="0"/>
      <p:bldP spid="207" grpId="0"/>
      <p:bldP spid="20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4BF76-896E-9F45-DA45-23B51BDB4EA7}"/>
            </a:ext>
          </a:extLst>
        </p:cNvPr>
        <p:cNvGrpSpPr/>
        <p:nvPr/>
      </p:nvGrpSpPr>
      <p:grpSpPr>
        <a:xfrm>
          <a:off x="0" y="0"/>
          <a:ext cx="0" cy="0"/>
          <a:chOff x="0" y="0"/>
          <a:chExt cx="0" cy="0"/>
        </a:xfrm>
      </p:grpSpPr>
      <p:sp>
        <p:nvSpPr>
          <p:cNvPr id="9" name="文本框 8">
            <a:extLst>
              <a:ext uri="{FF2B5EF4-FFF2-40B4-BE49-F238E27FC236}">
                <a16:creationId xmlns:a16="http://schemas.microsoft.com/office/drawing/2014/main" id="{6AC98445-FDDD-CD0F-8B92-1C0CA700324D}"/>
              </a:ext>
            </a:extLst>
          </p:cNvPr>
          <p:cNvSpPr txBox="1"/>
          <p:nvPr/>
        </p:nvSpPr>
        <p:spPr>
          <a:xfrm>
            <a:off x="360000" y="828000"/>
            <a:ext cx="3294758" cy="565604"/>
          </a:xfrm>
          <a:prstGeom prst="rect">
            <a:avLst/>
          </a:prstGeom>
          <a:noFill/>
        </p:spPr>
        <p:txBody>
          <a:bodyPr wrap="square">
            <a:spAutoFit/>
          </a:bodyPr>
          <a:lstStyle/>
          <a:p>
            <a:pPr>
              <a:lnSpc>
                <a:spcPct val="120000"/>
              </a:lnSpc>
              <a:spcAft>
                <a:spcPts val="600"/>
              </a:spcAft>
            </a:pPr>
            <a:r>
              <a:rPr kumimoji="1" lang="zh-CN" altLang="en-US" sz="2800" dirty="0">
                <a:solidFill>
                  <a:srgbClr val="002060"/>
                </a:solidFill>
                <a:latin typeface="微软雅黑" panose="020B0503020204020204" pitchFamily="34" charset="-122"/>
                <a:ea typeface="微软雅黑" panose="020B0503020204020204" pitchFamily="34" charset="-122"/>
              </a:rPr>
              <a:t>小信号模型示例</a:t>
            </a:r>
            <a:endParaRPr kumimoji="1" lang="en-US" altLang="zh-CN" sz="2800" dirty="0">
              <a:solidFill>
                <a:srgbClr val="00206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373ADA14-02BE-6A40-2446-3DEC8CA1FDF6}"/>
                  </a:ext>
                </a:extLst>
              </p:cNvPr>
              <p:cNvSpPr txBox="1"/>
              <p:nvPr/>
            </p:nvSpPr>
            <p:spPr>
              <a:xfrm>
                <a:off x="360000" y="1440000"/>
                <a:ext cx="8540281" cy="1018099"/>
              </a:xfrm>
              <a:prstGeom prst="rect">
                <a:avLst/>
              </a:prstGeom>
              <a:noFill/>
            </p:spPr>
            <p:txBody>
              <a:bodyPr wrap="square">
                <a:spAutoFit/>
              </a:bodyPr>
              <a:lstStyle/>
              <a:p>
                <a:pPr>
                  <a:lnSpc>
                    <a:spcPct val="120000"/>
                  </a:lnSpc>
                  <a:spcAft>
                    <a:spcPts val="600"/>
                  </a:spcAft>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右图二极管使用恒压降模型（</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t>=</m:t>
                    </m:r>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0.7 </m:t>
                    </m:r>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V</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𝑣</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s</m:t>
                        </m:r>
                      </m:sub>
                    </m:sSub>
                    <m: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t>=</m:t>
                    </m:r>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0</m:t>
                    </m:r>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.1</m:t>
                    </m:r>
                    <m:func>
                      <m:funcPr>
                        <m:ctrlP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ctrlPr>
                      </m:funcPr>
                      <m:fName>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sin</m:t>
                        </m:r>
                      </m:fName>
                      <m:e>
                        <m:r>
                          <a:rPr kumimoji="1" lang="zh-CN" altLang="en-US" sz="2400" b="0" i="1" smtClean="0">
                            <a:solidFill>
                              <a:schemeClr val="accent5">
                                <a:lumMod val="75000"/>
                              </a:schemeClr>
                            </a:solidFill>
                            <a:latin typeface="Cambria Math" panose="02040503050406030204" pitchFamily="18" charset="0"/>
                            <a:ea typeface="微软雅黑" panose="020B0503020204020204" pitchFamily="34" charset="-122"/>
                          </a:rPr>
                          <m:t>𝜔</m:t>
                        </m:r>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𝑡</m:t>
                        </m:r>
                      </m:e>
                    </m:func>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 </m:t>
                    </m:r>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V</m:t>
                    </m:r>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a:lnSpc>
                    <a:spcPct val="120000"/>
                  </a:lnSpc>
                  <a:spcAft>
                    <a:spcPts val="600"/>
                  </a:spcAft>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1</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）求输出电压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𝑣</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O</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的表达式；（</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2</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）绘出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𝑣</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O</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的波形</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373ADA14-02BE-6A40-2446-3DEC8CA1FDF6}"/>
                  </a:ext>
                </a:extLst>
              </p:cNvPr>
              <p:cNvSpPr txBox="1">
                <a:spLocks noRot="1" noChangeAspect="1" noMove="1" noResize="1" noEditPoints="1" noAdjustHandles="1" noChangeArrowheads="1" noChangeShapeType="1" noTextEdit="1"/>
              </p:cNvSpPr>
              <p:nvPr/>
            </p:nvSpPr>
            <p:spPr>
              <a:xfrm>
                <a:off x="360000" y="1440000"/>
                <a:ext cx="8540281" cy="1018099"/>
              </a:xfrm>
              <a:prstGeom prst="rect">
                <a:avLst/>
              </a:prstGeom>
              <a:blipFill>
                <a:blip r:embed="rId3"/>
                <a:stretch>
                  <a:fillRect l="-1071" t="-1198" b="-13174"/>
                </a:stretch>
              </a:blipFill>
            </p:spPr>
            <p:txBody>
              <a:bodyPr/>
              <a:lstStyle/>
              <a:p>
                <a:r>
                  <a:rPr lang="zh-CN" altLang="en-US">
                    <a:noFill/>
                  </a:rPr>
                  <a:t> </a:t>
                </a:r>
              </a:p>
            </p:txBody>
          </p:sp>
        </mc:Fallback>
      </mc:AlternateContent>
      <p:grpSp>
        <p:nvGrpSpPr>
          <p:cNvPr id="10" name="组合 9">
            <a:extLst>
              <a:ext uri="{FF2B5EF4-FFF2-40B4-BE49-F238E27FC236}">
                <a16:creationId xmlns:a16="http://schemas.microsoft.com/office/drawing/2014/main" id="{E554DE0A-41EE-A75A-EC69-CC3A61463AB7}"/>
              </a:ext>
            </a:extLst>
          </p:cNvPr>
          <p:cNvGrpSpPr/>
          <p:nvPr/>
        </p:nvGrpSpPr>
        <p:grpSpPr>
          <a:xfrm>
            <a:off x="9000000" y="720000"/>
            <a:ext cx="2988000" cy="2124000"/>
            <a:chOff x="4480397" y="3708060"/>
            <a:chExt cx="2988000" cy="2124000"/>
          </a:xfrm>
        </p:grpSpPr>
        <p:sp>
          <p:nvSpPr>
            <p:cNvPr id="12" name="椭圆 11">
              <a:extLst>
                <a:ext uri="{FF2B5EF4-FFF2-40B4-BE49-F238E27FC236}">
                  <a16:creationId xmlns:a16="http://schemas.microsoft.com/office/drawing/2014/main" id="{70ABFA95-838E-7DCD-793B-586E92906F55}"/>
                </a:ext>
              </a:extLst>
            </p:cNvPr>
            <p:cNvSpPr/>
            <p:nvPr/>
          </p:nvSpPr>
          <p:spPr>
            <a:xfrm>
              <a:off x="4768397" y="4572060"/>
              <a:ext cx="432000" cy="432000"/>
            </a:xfrm>
            <a:prstGeom prst="ellipse">
              <a:avLst/>
            </a:prstGeom>
            <a:noFill/>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14" name="等腰三角形 13">
              <a:extLst>
                <a:ext uri="{FF2B5EF4-FFF2-40B4-BE49-F238E27FC236}">
                  <a16:creationId xmlns:a16="http://schemas.microsoft.com/office/drawing/2014/main" id="{06817F4A-45E8-1CCB-54CC-5830A54E3646}"/>
                </a:ext>
              </a:extLst>
            </p:cNvPr>
            <p:cNvSpPr/>
            <p:nvPr/>
          </p:nvSpPr>
          <p:spPr>
            <a:xfrm rot="5400000">
              <a:off x="5542397" y="4176060"/>
              <a:ext cx="360000" cy="288000"/>
            </a:xfrm>
            <a:prstGeom prst="triangl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cxnSp>
          <p:nvCxnSpPr>
            <p:cNvPr id="15" name="直接连接符 14">
              <a:extLst>
                <a:ext uri="{FF2B5EF4-FFF2-40B4-BE49-F238E27FC236}">
                  <a16:creationId xmlns:a16="http://schemas.microsoft.com/office/drawing/2014/main" id="{5654BF56-C986-2F18-4BB2-0BBC1A2474D8}"/>
                </a:ext>
              </a:extLst>
            </p:cNvPr>
            <p:cNvCxnSpPr>
              <a:cxnSpLocks/>
            </p:cNvCxnSpPr>
            <p:nvPr/>
          </p:nvCxnSpPr>
          <p:spPr>
            <a:xfrm>
              <a:off x="5884397" y="4104060"/>
              <a:ext cx="0" cy="432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C1D1B6B3-D246-8858-26D1-C4DA5C4D2622}"/>
                </a:ext>
              </a:extLst>
            </p:cNvPr>
            <p:cNvCxnSpPr>
              <a:cxnSpLocks/>
            </p:cNvCxnSpPr>
            <p:nvPr/>
          </p:nvCxnSpPr>
          <p:spPr>
            <a:xfrm flipH="1">
              <a:off x="4984397" y="4320060"/>
              <a:ext cx="230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3978C87F-4294-71FA-A82D-DA2DF7E211A0}"/>
                </a:ext>
              </a:extLst>
            </p:cNvPr>
            <p:cNvCxnSpPr>
              <a:cxnSpLocks/>
            </p:cNvCxnSpPr>
            <p:nvPr/>
          </p:nvCxnSpPr>
          <p:spPr>
            <a:xfrm>
              <a:off x="6856397" y="4320060"/>
              <a:ext cx="0" cy="144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26">
              <a:extLst>
                <a:ext uri="{FF2B5EF4-FFF2-40B4-BE49-F238E27FC236}">
                  <a16:creationId xmlns:a16="http://schemas.microsoft.com/office/drawing/2014/main" id="{6E119F89-5803-0551-4BF1-537EBCC6DAF9}"/>
                </a:ext>
              </a:extLst>
            </p:cNvPr>
            <p:cNvCxnSpPr>
              <a:cxnSpLocks/>
            </p:cNvCxnSpPr>
            <p:nvPr/>
          </p:nvCxnSpPr>
          <p:spPr>
            <a:xfrm flipH="1">
              <a:off x="4768397" y="5328060"/>
              <a:ext cx="43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34F1238A-D4CF-3C82-DB7A-2F623AB93EBC}"/>
                </a:ext>
              </a:extLst>
            </p:cNvPr>
            <p:cNvCxnSpPr>
              <a:cxnSpLocks/>
            </p:cNvCxnSpPr>
            <p:nvPr/>
          </p:nvCxnSpPr>
          <p:spPr>
            <a:xfrm flipH="1">
              <a:off x="4876397" y="5436060"/>
              <a:ext cx="2160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9E660C6D-A388-DC3E-748E-65475925F8AB}"/>
                </a:ext>
              </a:extLst>
            </p:cNvPr>
            <p:cNvSpPr/>
            <p:nvPr/>
          </p:nvSpPr>
          <p:spPr>
            <a:xfrm>
              <a:off x="6784397" y="4788060"/>
              <a:ext cx="144000" cy="504000"/>
            </a:xfrm>
            <a:prstGeom prst="rect">
              <a:avLst/>
            </a:prstGeom>
            <a:solidFill>
              <a:schemeClr val="bg1">
                <a:alpha val="99000"/>
              </a:schemeClr>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31" name="直接连接符 30">
              <a:extLst>
                <a:ext uri="{FF2B5EF4-FFF2-40B4-BE49-F238E27FC236}">
                  <a16:creationId xmlns:a16="http://schemas.microsoft.com/office/drawing/2014/main" id="{AA916C3C-D53C-D314-E3D7-B852D60F5EE5}"/>
                </a:ext>
              </a:extLst>
            </p:cNvPr>
            <p:cNvCxnSpPr>
              <a:cxnSpLocks/>
            </p:cNvCxnSpPr>
            <p:nvPr/>
          </p:nvCxnSpPr>
          <p:spPr>
            <a:xfrm>
              <a:off x="4984397" y="4321138"/>
              <a:ext cx="0" cy="99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A99C66F2-DD4C-C79C-2ECF-6C2495A414DF}"/>
                </a:ext>
              </a:extLst>
            </p:cNvPr>
            <p:cNvCxnSpPr>
              <a:cxnSpLocks/>
            </p:cNvCxnSpPr>
            <p:nvPr/>
          </p:nvCxnSpPr>
          <p:spPr>
            <a:xfrm>
              <a:off x="4984397" y="5436059"/>
              <a:ext cx="0" cy="324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6866EAE0-6265-3C27-4661-344A93C76B82}"/>
                </a:ext>
              </a:extLst>
            </p:cNvPr>
            <p:cNvCxnSpPr>
              <a:cxnSpLocks/>
            </p:cNvCxnSpPr>
            <p:nvPr/>
          </p:nvCxnSpPr>
          <p:spPr>
            <a:xfrm flipH="1">
              <a:off x="4984397" y="5760060"/>
              <a:ext cx="230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椭圆 35">
              <a:extLst>
                <a:ext uri="{FF2B5EF4-FFF2-40B4-BE49-F238E27FC236}">
                  <a16:creationId xmlns:a16="http://schemas.microsoft.com/office/drawing/2014/main" id="{856DCCD9-A1E0-F366-66F6-D987E14331CF}"/>
                </a:ext>
              </a:extLst>
            </p:cNvPr>
            <p:cNvSpPr/>
            <p:nvPr/>
          </p:nvSpPr>
          <p:spPr>
            <a:xfrm>
              <a:off x="6784397" y="4248060"/>
              <a:ext cx="144000" cy="144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38" name="Rectangle 8">
                  <a:extLst>
                    <a:ext uri="{FF2B5EF4-FFF2-40B4-BE49-F238E27FC236}">
                      <a16:creationId xmlns:a16="http://schemas.microsoft.com/office/drawing/2014/main" id="{542C4035-D781-A149-673F-E5F0CE45415E}"/>
                    </a:ext>
                  </a:extLst>
                </p:cNvPr>
                <p:cNvSpPr>
                  <a:spLocks noChangeArrowheads="1"/>
                </p:cNvSpPr>
                <p:nvPr/>
              </p:nvSpPr>
              <p:spPr bwMode="auto">
                <a:xfrm>
                  <a:off x="5668397" y="4824060"/>
                  <a:ext cx="1188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right"/>
                      </m:oMathParaPr>
                      <m:oMath xmlns:m="http://schemas.openxmlformats.org/officeDocument/2006/math">
                        <m:r>
                          <a:rPr kumimoji="1" lang="en-US" altLang="zh-CN" sz="2000" b="0" i="1" smtClean="0">
                            <a:solidFill>
                              <a:schemeClr val="tx1"/>
                            </a:solidFill>
                            <a:latin typeface="Cambria Math" panose="02040503050406030204" pitchFamily="18" charset="0"/>
                            <a:ea typeface="微软雅黑" panose="020B0503020204020204" pitchFamily="34" charset="-122"/>
                          </a:rPr>
                          <m:t>𝑅</m:t>
                        </m:r>
                        <m:r>
                          <a:rPr kumimoji="1" lang="en-US" altLang="zh-CN" sz="2000" b="0" i="1">
                            <a:solidFill>
                              <a:schemeClr val="tx1"/>
                            </a:solidFill>
                            <a:latin typeface="Cambria Math" panose="02040503050406030204" pitchFamily="18" charset="0"/>
                            <a:ea typeface="微软雅黑" panose="020B0503020204020204" pitchFamily="34" charset="-122"/>
                          </a:rPr>
                          <m:t>=</m:t>
                        </m:r>
                        <m:r>
                          <a:rPr kumimoji="1" lang="en-US" altLang="zh-CN" sz="2000" i="1">
                            <a:solidFill>
                              <a:schemeClr val="tx1"/>
                            </a:solidFill>
                            <a:latin typeface="Cambria Math" panose="02040503050406030204" pitchFamily="18" charset="0"/>
                            <a:ea typeface="微软雅黑" panose="020B0503020204020204" pitchFamily="34" charset="-122"/>
                          </a:rPr>
                          <m:t>5 </m:t>
                        </m:r>
                        <m:r>
                          <m:rPr>
                            <m:sty m:val="p"/>
                          </m:rPr>
                          <a:rPr kumimoji="1" lang="en-US" altLang="zh-CN" sz="2000">
                            <a:solidFill>
                              <a:schemeClr val="tx1"/>
                            </a:solidFill>
                            <a:latin typeface="Cambria Math" panose="02040503050406030204" pitchFamily="18" charset="0"/>
                            <a:ea typeface="微软雅黑" panose="020B0503020204020204" pitchFamily="34" charset="-122"/>
                          </a:rPr>
                          <m:t>k</m:t>
                        </m:r>
                        <m:r>
                          <m:rPr>
                            <m:sty m:val="p"/>
                          </m:rPr>
                          <a:rPr kumimoji="1" lang="el-GR" altLang="zh-CN" sz="2000" i="1">
                            <a:solidFill>
                              <a:schemeClr val="tx1"/>
                            </a:solidFill>
                            <a:latin typeface="Cambria Math" panose="02040503050406030204" pitchFamily="18" charset="0"/>
                            <a:ea typeface="Cambria Math" panose="02040503050406030204" pitchFamily="18" charset="0"/>
                          </a:rPr>
                          <m:t>Ω</m:t>
                        </m:r>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38" name="Rectangle 8">
                  <a:extLst>
                    <a:ext uri="{FF2B5EF4-FFF2-40B4-BE49-F238E27FC236}">
                      <a16:creationId xmlns:a16="http://schemas.microsoft.com/office/drawing/2014/main" id="{542C4035-D781-A149-673F-E5F0CE45415E}"/>
                    </a:ext>
                  </a:extLst>
                </p:cNvPr>
                <p:cNvSpPr>
                  <a:spLocks noRot="1" noChangeAspect="1" noMove="1" noResize="1" noEditPoints="1" noAdjustHandles="1" noChangeArrowheads="1" noChangeShapeType="1" noTextEdit="1"/>
                </p:cNvSpPr>
                <p:nvPr/>
              </p:nvSpPr>
              <p:spPr bwMode="auto">
                <a:xfrm>
                  <a:off x="5668397" y="4824060"/>
                  <a:ext cx="1188000" cy="396000"/>
                </a:xfrm>
                <a:prstGeom prst="rect">
                  <a:avLst/>
                </a:prstGeom>
                <a:blipFill>
                  <a:blip r:embed="rId4"/>
                  <a:stretch>
                    <a:fillRect r="-513"/>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41" name="椭圆 40">
              <a:extLst>
                <a:ext uri="{FF2B5EF4-FFF2-40B4-BE49-F238E27FC236}">
                  <a16:creationId xmlns:a16="http://schemas.microsoft.com/office/drawing/2014/main" id="{7CA73BFC-B10B-D572-EBFE-932A2BEFF591}"/>
                </a:ext>
              </a:extLst>
            </p:cNvPr>
            <p:cNvSpPr/>
            <p:nvPr/>
          </p:nvSpPr>
          <p:spPr>
            <a:xfrm>
              <a:off x="6784397" y="5688060"/>
              <a:ext cx="144000" cy="144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47" name="Rectangle 8">
                  <a:extLst>
                    <a:ext uri="{FF2B5EF4-FFF2-40B4-BE49-F238E27FC236}">
                      <a16:creationId xmlns:a16="http://schemas.microsoft.com/office/drawing/2014/main" id="{EFAE3F00-2081-5430-5DBB-3F40FDC6B453}"/>
                    </a:ext>
                  </a:extLst>
                </p:cNvPr>
                <p:cNvSpPr>
                  <a:spLocks noChangeArrowheads="1"/>
                </p:cNvSpPr>
                <p:nvPr/>
              </p:nvSpPr>
              <p:spPr bwMode="auto">
                <a:xfrm>
                  <a:off x="5164397" y="5184060"/>
                  <a:ext cx="1296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ts val="0"/>
                    </a:spcAft>
                    <a:buNone/>
                  </a:pPr>
                  <a14:m>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𝑉</m:t>
                          </m:r>
                        </m:e>
                        <m:sub>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DD</m:t>
                          </m:r>
                        </m:sub>
                      </m:sSub>
                      <m:r>
                        <a:rPr kumimoji="1" lang="en-US" altLang="zh-CN" sz="2000" b="0" i="1">
                          <a:solidFill>
                            <a:schemeClr val="tx1"/>
                          </a:solidFill>
                          <a:latin typeface="Cambria Math" panose="02040503050406030204" pitchFamily="18" charset="0"/>
                          <a:ea typeface="微软雅黑" panose="020B0503020204020204" pitchFamily="34" charset="-122"/>
                        </a:rPr>
                        <m:t>=</m:t>
                      </m:r>
                    </m:oMath>
                  </a14:m>
                  <a:r>
                    <a:rPr kumimoji="1" lang="en-US" altLang="zh-CN" sz="2000" b="0" dirty="0">
                      <a:solidFill>
                        <a:schemeClr val="tx1"/>
                      </a:solidFill>
                      <a:ea typeface="微软雅黑" panose="020B0503020204020204" pitchFamily="34" charset="-122"/>
                    </a:rPr>
                    <a:t> </a:t>
                  </a:r>
                  <a14:m>
                    <m:oMath xmlns:m="http://schemas.openxmlformats.org/officeDocument/2006/math">
                      <m:r>
                        <a:rPr kumimoji="1" lang="en-US" altLang="zh-CN" sz="2000" b="0" i="1">
                          <a:solidFill>
                            <a:schemeClr val="tx1"/>
                          </a:solidFill>
                          <a:latin typeface="Cambria Math" panose="02040503050406030204" pitchFamily="18" charset="0"/>
                          <a:ea typeface="微软雅黑" panose="020B0503020204020204" pitchFamily="34" charset="-122"/>
                        </a:rPr>
                        <m:t>5</m:t>
                      </m:r>
                      <m:r>
                        <a:rPr kumimoji="1" lang="en-US" altLang="zh-CN" sz="2000" i="1">
                          <a:solidFill>
                            <a:schemeClr val="tx1"/>
                          </a:solidFill>
                          <a:latin typeface="Cambria Math" panose="02040503050406030204" pitchFamily="18" charset="0"/>
                          <a:ea typeface="微软雅黑" panose="020B0503020204020204" pitchFamily="34" charset="-122"/>
                        </a:rPr>
                        <m:t> </m:t>
                      </m:r>
                      <m:r>
                        <m:rPr>
                          <m:sty m:val="p"/>
                        </m:rPr>
                        <a:rPr kumimoji="1" lang="en-US" altLang="zh-CN" sz="2000">
                          <a:solidFill>
                            <a:schemeClr val="tx1"/>
                          </a:solidFill>
                          <a:latin typeface="Cambria Math" panose="02040503050406030204" pitchFamily="18" charset="0"/>
                          <a:ea typeface="微软雅黑" panose="020B0503020204020204" pitchFamily="34" charset="-122"/>
                        </a:rPr>
                        <m:t>V</m:t>
                      </m:r>
                    </m:oMath>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47" name="Rectangle 8">
                  <a:extLst>
                    <a:ext uri="{FF2B5EF4-FFF2-40B4-BE49-F238E27FC236}">
                      <a16:creationId xmlns:a16="http://schemas.microsoft.com/office/drawing/2014/main" id="{EFAE3F00-2081-5430-5DBB-3F40FDC6B453}"/>
                    </a:ext>
                  </a:extLst>
                </p:cNvPr>
                <p:cNvSpPr>
                  <a:spLocks noRot="1" noChangeAspect="1" noMove="1" noResize="1" noEditPoints="1" noAdjustHandles="1" noChangeArrowheads="1" noChangeShapeType="1" noTextEdit="1"/>
                </p:cNvSpPr>
                <p:nvPr/>
              </p:nvSpPr>
              <p:spPr bwMode="auto">
                <a:xfrm>
                  <a:off x="5164397" y="5184060"/>
                  <a:ext cx="1296000" cy="432000"/>
                </a:xfrm>
                <a:prstGeom prst="rect">
                  <a:avLst/>
                </a:prstGeom>
                <a:blipFill>
                  <a:blip r:embed="rId5"/>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Rectangle 8">
                  <a:extLst>
                    <a:ext uri="{FF2B5EF4-FFF2-40B4-BE49-F238E27FC236}">
                      <a16:creationId xmlns:a16="http://schemas.microsoft.com/office/drawing/2014/main" id="{DFB1A102-BDB7-5DF5-8B78-F740AA7F6468}"/>
                    </a:ext>
                  </a:extLst>
                </p:cNvPr>
                <p:cNvSpPr>
                  <a:spLocks noChangeArrowheads="1"/>
                </p:cNvSpPr>
                <p:nvPr/>
              </p:nvSpPr>
              <p:spPr bwMode="auto">
                <a:xfrm>
                  <a:off x="4480397" y="4536060"/>
                  <a:ext cx="360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0"/>
                    </a:spcAft>
                    <a:buNone/>
                  </a:pPr>
                  <a14:m>
                    <m:oMathPara xmlns:m="http://schemas.openxmlformats.org/officeDocument/2006/math">
                      <m:oMathParaPr>
                        <m:jc m:val="centerGroup"/>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𝑣</m:t>
                            </m:r>
                          </m:e>
                          <m:sub>
                            <m:r>
                              <m:rPr>
                                <m:sty m:val="p"/>
                              </m:rPr>
                              <a:rPr kumimoji="1" lang="en-US" altLang="zh-CN" sz="2000" b="0" i="0" smtClean="0">
                                <a:latin typeface="Cambria Math" panose="02040503050406030204" pitchFamily="18" charset="0"/>
                                <a:ea typeface="微软雅黑" panose="020B0503020204020204" pitchFamily="34" charset="-122"/>
                              </a:rPr>
                              <m:t>s</m:t>
                            </m:r>
                          </m:sub>
                        </m:sSub>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52" name="Rectangle 8">
                  <a:extLst>
                    <a:ext uri="{FF2B5EF4-FFF2-40B4-BE49-F238E27FC236}">
                      <a16:creationId xmlns:a16="http://schemas.microsoft.com/office/drawing/2014/main" id="{DFB1A102-BDB7-5DF5-8B78-F740AA7F6468}"/>
                    </a:ext>
                  </a:extLst>
                </p:cNvPr>
                <p:cNvSpPr>
                  <a:spLocks noRot="1" noChangeAspect="1" noMove="1" noResize="1" noEditPoints="1" noAdjustHandles="1" noChangeArrowheads="1" noChangeShapeType="1" noTextEdit="1"/>
                </p:cNvSpPr>
                <p:nvPr/>
              </p:nvSpPr>
              <p:spPr bwMode="auto">
                <a:xfrm>
                  <a:off x="4480397" y="4536060"/>
                  <a:ext cx="360000" cy="432000"/>
                </a:xfrm>
                <a:prstGeom prst="rect">
                  <a:avLst/>
                </a:prstGeom>
                <a:blipFill>
                  <a:blip r:embed="rId6"/>
                  <a:stretch>
                    <a:fillRect l="-8333"/>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Rectangle 8">
                  <a:extLst>
                    <a:ext uri="{FF2B5EF4-FFF2-40B4-BE49-F238E27FC236}">
                      <a16:creationId xmlns:a16="http://schemas.microsoft.com/office/drawing/2014/main" id="{7069CE8D-F912-277C-162F-4911A427BC37}"/>
                    </a:ext>
                  </a:extLst>
                </p:cNvPr>
                <p:cNvSpPr>
                  <a:spLocks noChangeArrowheads="1"/>
                </p:cNvSpPr>
                <p:nvPr/>
              </p:nvSpPr>
              <p:spPr bwMode="auto">
                <a:xfrm>
                  <a:off x="4552397" y="4320060"/>
                  <a:ext cx="360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0"/>
                    </a:spcAft>
                    <a:buNone/>
                  </a:pPr>
                  <a14:m>
                    <m:oMathPara xmlns:m="http://schemas.openxmlformats.org/officeDocument/2006/math">
                      <m:oMathParaPr>
                        <m:jc m:val="centerGroup"/>
                      </m:oMathParaPr>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53" name="Rectangle 8">
                  <a:extLst>
                    <a:ext uri="{FF2B5EF4-FFF2-40B4-BE49-F238E27FC236}">
                      <a16:creationId xmlns:a16="http://schemas.microsoft.com/office/drawing/2014/main" id="{7069CE8D-F912-277C-162F-4911A427BC37}"/>
                    </a:ext>
                  </a:extLst>
                </p:cNvPr>
                <p:cNvSpPr>
                  <a:spLocks noRot="1" noChangeAspect="1" noMove="1" noResize="1" noEditPoints="1" noAdjustHandles="1" noChangeArrowheads="1" noChangeShapeType="1" noTextEdit="1"/>
                </p:cNvSpPr>
                <p:nvPr/>
              </p:nvSpPr>
              <p:spPr bwMode="auto">
                <a:xfrm>
                  <a:off x="4552397" y="4320060"/>
                  <a:ext cx="360000" cy="396000"/>
                </a:xfrm>
                <a:prstGeom prst="rect">
                  <a:avLst/>
                </a:prstGeom>
                <a:blipFill>
                  <a:blip r:embed="rId7"/>
                  <a:stretch>
                    <a:fillRect l="-10169"/>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Rectangle 8">
                  <a:extLst>
                    <a:ext uri="{FF2B5EF4-FFF2-40B4-BE49-F238E27FC236}">
                      <a16:creationId xmlns:a16="http://schemas.microsoft.com/office/drawing/2014/main" id="{6111AF8E-31F0-9449-7538-1C70416F2202}"/>
                    </a:ext>
                  </a:extLst>
                </p:cNvPr>
                <p:cNvSpPr>
                  <a:spLocks noChangeArrowheads="1"/>
                </p:cNvSpPr>
                <p:nvPr/>
              </p:nvSpPr>
              <p:spPr bwMode="auto">
                <a:xfrm>
                  <a:off x="4552397" y="4824060"/>
                  <a:ext cx="360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0"/>
                    </a:spcAft>
                    <a:buNone/>
                  </a:pPr>
                  <a14:m>
                    <m:oMathPara xmlns:m="http://schemas.openxmlformats.org/officeDocument/2006/math">
                      <m:oMathParaPr>
                        <m:jc m:val="centerGroup"/>
                      </m:oMathParaPr>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58" name="Rectangle 8">
                  <a:extLst>
                    <a:ext uri="{FF2B5EF4-FFF2-40B4-BE49-F238E27FC236}">
                      <a16:creationId xmlns:a16="http://schemas.microsoft.com/office/drawing/2014/main" id="{6111AF8E-31F0-9449-7538-1C70416F2202}"/>
                    </a:ext>
                  </a:extLst>
                </p:cNvPr>
                <p:cNvSpPr>
                  <a:spLocks noRot="1" noChangeAspect="1" noMove="1" noResize="1" noEditPoints="1" noAdjustHandles="1" noChangeArrowheads="1" noChangeShapeType="1" noTextEdit="1"/>
                </p:cNvSpPr>
                <p:nvPr/>
              </p:nvSpPr>
              <p:spPr bwMode="auto">
                <a:xfrm>
                  <a:off x="4552397" y="4824060"/>
                  <a:ext cx="360000" cy="396000"/>
                </a:xfrm>
                <a:prstGeom prst="rect">
                  <a:avLst/>
                </a:prstGeom>
                <a:blipFill>
                  <a:blip r:embed="rId8"/>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9" name="Rectangle 8">
                  <a:extLst>
                    <a:ext uri="{FF2B5EF4-FFF2-40B4-BE49-F238E27FC236}">
                      <a16:creationId xmlns:a16="http://schemas.microsoft.com/office/drawing/2014/main" id="{449732B7-F120-A18D-C92A-1F668108546B}"/>
                    </a:ext>
                  </a:extLst>
                </p:cNvPr>
                <p:cNvSpPr>
                  <a:spLocks noChangeArrowheads="1"/>
                </p:cNvSpPr>
                <p:nvPr/>
              </p:nvSpPr>
              <p:spPr bwMode="auto">
                <a:xfrm>
                  <a:off x="5128397" y="3708060"/>
                  <a:ext cx="1188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0"/>
                    </a:spcAft>
                    <a:buNone/>
                  </a:pPr>
                  <a14:m>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14:m>
                    <m:oMath xmlns:m="http://schemas.openxmlformats.org/officeDocument/2006/math">
                      <m:sSub>
                        <m:sSubPr>
                          <m:ctrlPr>
                            <a:rPr kumimoji="1" lang="en-US" altLang="zh-CN" sz="2000" b="0" i="1">
                              <a:latin typeface="Cambria Math" panose="02040503050406030204" pitchFamily="18" charset="0"/>
                              <a:ea typeface="微软雅黑" panose="020B0503020204020204" pitchFamily="34" charset="-122"/>
                            </a:rPr>
                          </m:ctrlPr>
                        </m:sSubPr>
                        <m:e>
                          <m:r>
                            <a:rPr kumimoji="1" lang="en-US" altLang="zh-CN" sz="2000" b="0" i="1">
                              <a:latin typeface="Cambria Math" panose="02040503050406030204" pitchFamily="18" charset="0"/>
                              <a:ea typeface="微软雅黑" panose="020B0503020204020204" pitchFamily="34" charset="-122"/>
                            </a:rPr>
                            <m:t>𝑣</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a14:m>
                  <a:r>
                    <a:rPr kumimoji="1" lang="zh-CN" altLang="en-US" sz="2000" b="0" dirty="0">
                      <a:latin typeface="微软雅黑" panose="020B0503020204020204" pitchFamily="34" charset="-122"/>
                      <a:ea typeface="微软雅黑" panose="020B0503020204020204" pitchFamily="34" charset="-122"/>
                    </a:rPr>
                    <a:t>  </a:t>
                  </a:r>
                  <a14:m>
                    <m:oMath xmlns:m="http://schemas.openxmlformats.org/officeDocument/2006/math">
                      <m:r>
                        <a:rPr kumimoji="1" lang="en-US" altLang="zh-CN" sz="2000" b="0" i="0"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p>
              </p:txBody>
            </p:sp>
          </mc:Choice>
          <mc:Fallback xmlns="">
            <p:sp>
              <p:nvSpPr>
                <p:cNvPr id="59" name="Rectangle 8">
                  <a:extLst>
                    <a:ext uri="{FF2B5EF4-FFF2-40B4-BE49-F238E27FC236}">
                      <a16:creationId xmlns:a16="http://schemas.microsoft.com/office/drawing/2014/main" id="{449732B7-F120-A18D-C92A-1F668108546B}"/>
                    </a:ext>
                  </a:extLst>
                </p:cNvPr>
                <p:cNvSpPr>
                  <a:spLocks noRot="1" noChangeAspect="1" noMove="1" noResize="1" noEditPoints="1" noAdjustHandles="1" noChangeArrowheads="1" noChangeShapeType="1" noTextEdit="1"/>
                </p:cNvSpPr>
                <p:nvPr/>
              </p:nvSpPr>
              <p:spPr bwMode="auto">
                <a:xfrm>
                  <a:off x="5128397" y="3708060"/>
                  <a:ext cx="1188000" cy="432000"/>
                </a:xfrm>
                <a:prstGeom prst="rect">
                  <a:avLst/>
                </a:prstGeom>
                <a:blipFill>
                  <a:blip r:embed="rId9"/>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Rectangle 8">
                  <a:extLst>
                    <a:ext uri="{FF2B5EF4-FFF2-40B4-BE49-F238E27FC236}">
                      <a16:creationId xmlns:a16="http://schemas.microsoft.com/office/drawing/2014/main" id="{A9742095-97A8-DC5B-2C7A-81BA09FF6F82}"/>
                    </a:ext>
                  </a:extLst>
                </p:cNvPr>
                <p:cNvSpPr>
                  <a:spLocks noChangeArrowheads="1"/>
                </p:cNvSpPr>
                <p:nvPr/>
              </p:nvSpPr>
              <p:spPr bwMode="auto">
                <a:xfrm>
                  <a:off x="7108397" y="4428060"/>
                  <a:ext cx="360000" cy="115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1200"/>
                    </a:spcAft>
                    <a:buNone/>
                  </a:pPr>
                  <a14:m>
                    <m:oMathPara xmlns:m="http://schemas.openxmlformats.org/officeDocument/2006/math">
                      <m:oMathParaPr>
                        <m:jc m:val="centerGroup"/>
                      </m:oMathParaPr>
                      <m:oMath xmlns:m="http://schemas.openxmlformats.org/officeDocument/2006/math">
                        <m:r>
                          <a:rPr kumimoji="1" lang="pt-BR" altLang="zh-CN" sz="2000" b="0" i="1" smtClean="0">
                            <a:latin typeface="Cambria Math" panose="02040503050406030204" pitchFamily="18" charset="0"/>
                            <a:ea typeface="微软雅黑" panose="020B0503020204020204" pitchFamily="34" charset="-122"/>
                          </a:rPr>
                          <m:t>+</m:t>
                        </m:r>
                      </m:oMath>
                    </m:oMathPara>
                  </a14:m>
                  <a:endParaRPr kumimoji="1" lang="en-US" altLang="zh-CN" sz="2000" b="0" dirty="0">
                    <a:latin typeface="微软雅黑" panose="020B0503020204020204" pitchFamily="34" charset="-122"/>
                    <a:ea typeface="微软雅黑" panose="020B0503020204020204" pitchFamily="34" charset="-122"/>
                  </a:endParaRPr>
                </a:p>
                <a:p>
                  <a:pPr algn="ctr">
                    <a:spcAft>
                      <a:spcPts val="1200"/>
                    </a:spcAft>
                    <a:buNone/>
                  </a:pPr>
                  <a14:m>
                    <m:oMathPara xmlns:m="http://schemas.openxmlformats.org/officeDocument/2006/math">
                      <m:oMathParaPr>
                        <m:jc m:val="centerGroup"/>
                      </m:oMathParaPr>
                      <m:oMath xmlns:m="http://schemas.openxmlformats.org/officeDocument/2006/math">
                        <m:sSub>
                          <m:sSubPr>
                            <m:ctrlPr>
                              <a:rPr kumimoji="1" lang="en-US" altLang="zh-CN" sz="2000" b="0" i="1">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𝑣</m:t>
                            </m:r>
                          </m:e>
                          <m:sub>
                            <m:r>
                              <m:rPr>
                                <m:sty m:val="p"/>
                              </m:rPr>
                              <a:rPr kumimoji="1" lang="en-US" altLang="zh-CN" sz="2000" b="0" i="0" smtClean="0">
                                <a:latin typeface="Cambria Math" panose="02040503050406030204" pitchFamily="18" charset="0"/>
                                <a:ea typeface="微软雅黑" panose="020B0503020204020204" pitchFamily="34" charset="-122"/>
                              </a:rPr>
                              <m:t>O</m:t>
                            </m:r>
                          </m:sub>
                        </m:sSub>
                      </m:oMath>
                    </m:oMathPara>
                  </a14:m>
                  <a:endParaRPr kumimoji="1" lang="en-US" altLang="zh-CN" sz="2000" b="0" dirty="0">
                    <a:latin typeface="微软雅黑" panose="020B0503020204020204" pitchFamily="34" charset="-122"/>
                    <a:ea typeface="微软雅黑" panose="020B0503020204020204" pitchFamily="34" charset="-122"/>
                  </a:endParaRPr>
                </a:p>
                <a:p>
                  <a:pPr algn="ctr">
                    <a:spcAft>
                      <a:spcPts val="1200"/>
                    </a:spcAft>
                    <a:buNone/>
                  </a:pPr>
                  <a14:m>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p>
              </p:txBody>
            </p:sp>
          </mc:Choice>
          <mc:Fallback xmlns="">
            <p:sp>
              <p:nvSpPr>
                <p:cNvPr id="61" name="Rectangle 8">
                  <a:extLst>
                    <a:ext uri="{FF2B5EF4-FFF2-40B4-BE49-F238E27FC236}">
                      <a16:creationId xmlns:a16="http://schemas.microsoft.com/office/drawing/2014/main" id="{A9742095-97A8-DC5B-2C7A-81BA09FF6F82}"/>
                    </a:ext>
                  </a:extLst>
                </p:cNvPr>
                <p:cNvSpPr>
                  <a:spLocks noRot="1" noChangeAspect="1" noMove="1" noResize="1" noEditPoints="1" noAdjustHandles="1" noChangeArrowheads="1" noChangeShapeType="1" noTextEdit="1"/>
                </p:cNvSpPr>
                <p:nvPr/>
              </p:nvSpPr>
              <p:spPr bwMode="auto">
                <a:xfrm>
                  <a:off x="7108397" y="4428060"/>
                  <a:ext cx="360000" cy="1152000"/>
                </a:xfrm>
                <a:prstGeom prst="rect">
                  <a:avLst/>
                </a:prstGeom>
                <a:blipFill>
                  <a:blip r:embed="rId10"/>
                  <a:stretch>
                    <a:fillRect r="-18644"/>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62" name="椭圆 61">
              <a:extLst>
                <a:ext uri="{FF2B5EF4-FFF2-40B4-BE49-F238E27FC236}">
                  <a16:creationId xmlns:a16="http://schemas.microsoft.com/office/drawing/2014/main" id="{1BC3CA05-FDAD-54EE-EC57-3C73C2A1332D}"/>
                </a:ext>
              </a:extLst>
            </p:cNvPr>
            <p:cNvSpPr/>
            <p:nvPr/>
          </p:nvSpPr>
          <p:spPr>
            <a:xfrm>
              <a:off x="7216396" y="4248060"/>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63" name="椭圆 62">
              <a:extLst>
                <a:ext uri="{FF2B5EF4-FFF2-40B4-BE49-F238E27FC236}">
                  <a16:creationId xmlns:a16="http://schemas.microsoft.com/office/drawing/2014/main" id="{8A45D5A7-1076-5FE5-AC87-CE29D587679C}"/>
                </a:ext>
              </a:extLst>
            </p:cNvPr>
            <p:cNvSpPr/>
            <p:nvPr/>
          </p:nvSpPr>
          <p:spPr>
            <a:xfrm>
              <a:off x="7216396" y="5688060"/>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64" name="直接箭头连接符 63">
              <a:extLst>
                <a:ext uri="{FF2B5EF4-FFF2-40B4-BE49-F238E27FC236}">
                  <a16:creationId xmlns:a16="http://schemas.microsoft.com/office/drawing/2014/main" id="{708D787E-7B2C-0DD9-A18B-23F439A49BB7}"/>
                </a:ext>
              </a:extLst>
            </p:cNvPr>
            <p:cNvCxnSpPr>
              <a:cxnSpLocks/>
            </p:cNvCxnSpPr>
            <p:nvPr/>
          </p:nvCxnSpPr>
          <p:spPr>
            <a:xfrm>
              <a:off x="6136397" y="4428060"/>
              <a:ext cx="432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5" name="Rectangle 8">
                  <a:extLst>
                    <a:ext uri="{FF2B5EF4-FFF2-40B4-BE49-F238E27FC236}">
                      <a16:creationId xmlns:a16="http://schemas.microsoft.com/office/drawing/2014/main" id="{F69558A0-1664-9900-495B-7D51B065CC35}"/>
                    </a:ext>
                  </a:extLst>
                </p:cNvPr>
                <p:cNvSpPr>
                  <a:spLocks noChangeArrowheads="1"/>
                </p:cNvSpPr>
                <p:nvPr/>
              </p:nvSpPr>
              <p:spPr bwMode="auto">
                <a:xfrm>
                  <a:off x="6208397" y="4356060"/>
                  <a:ext cx="325306" cy="40011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𝑖</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65" name="Rectangle 8">
                  <a:extLst>
                    <a:ext uri="{FF2B5EF4-FFF2-40B4-BE49-F238E27FC236}">
                      <a16:creationId xmlns:a16="http://schemas.microsoft.com/office/drawing/2014/main" id="{F69558A0-1664-9900-495B-7D51B065CC35}"/>
                    </a:ext>
                  </a:extLst>
                </p:cNvPr>
                <p:cNvSpPr>
                  <a:spLocks noRot="1" noChangeAspect="1" noMove="1" noResize="1" noEditPoints="1" noAdjustHandles="1" noChangeArrowheads="1" noChangeShapeType="1" noTextEdit="1"/>
                </p:cNvSpPr>
                <p:nvPr/>
              </p:nvSpPr>
              <p:spPr bwMode="auto">
                <a:xfrm>
                  <a:off x="6208397" y="4356060"/>
                  <a:ext cx="325306" cy="400110"/>
                </a:xfrm>
                <a:prstGeom prst="rect">
                  <a:avLst/>
                </a:prstGeom>
                <a:blipFill>
                  <a:blip r:embed="rId11"/>
                  <a:stretch>
                    <a:fillRect l="-24528" b="-151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grpSp>
        <p:nvGrpSpPr>
          <p:cNvPr id="18" name="组合 17">
            <a:extLst>
              <a:ext uri="{FF2B5EF4-FFF2-40B4-BE49-F238E27FC236}">
                <a16:creationId xmlns:a16="http://schemas.microsoft.com/office/drawing/2014/main" id="{4F7CF1C2-C712-721B-2DDC-6232375BA8C8}"/>
              </a:ext>
            </a:extLst>
          </p:cNvPr>
          <p:cNvGrpSpPr/>
          <p:nvPr/>
        </p:nvGrpSpPr>
        <p:grpSpPr>
          <a:xfrm>
            <a:off x="360000" y="2628000"/>
            <a:ext cx="2664001" cy="1728000"/>
            <a:chOff x="359999" y="2628000"/>
            <a:chExt cx="2664001" cy="1728000"/>
          </a:xfrm>
        </p:grpSpPr>
        <p:sp>
          <p:nvSpPr>
            <p:cNvPr id="68" name="等腰三角形 67">
              <a:extLst>
                <a:ext uri="{FF2B5EF4-FFF2-40B4-BE49-F238E27FC236}">
                  <a16:creationId xmlns:a16="http://schemas.microsoft.com/office/drawing/2014/main" id="{FE6FB712-289B-E36D-2219-C21E9B568561}"/>
                </a:ext>
              </a:extLst>
            </p:cNvPr>
            <p:cNvSpPr/>
            <p:nvPr/>
          </p:nvSpPr>
          <p:spPr>
            <a:xfrm rot="5400000">
              <a:off x="864000" y="2700000"/>
              <a:ext cx="360000" cy="288000"/>
            </a:xfrm>
            <a:prstGeom prst="triangle">
              <a:avLst/>
            </a:prstGeom>
            <a:solidFill>
              <a:schemeClr val="tx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cxnSp>
          <p:nvCxnSpPr>
            <p:cNvPr id="70" name="直接连接符 69">
              <a:extLst>
                <a:ext uri="{FF2B5EF4-FFF2-40B4-BE49-F238E27FC236}">
                  <a16:creationId xmlns:a16="http://schemas.microsoft.com/office/drawing/2014/main" id="{D01846A7-80E3-2782-E2B0-E1FC17D6EE31}"/>
                </a:ext>
              </a:extLst>
            </p:cNvPr>
            <p:cNvCxnSpPr>
              <a:cxnSpLocks/>
            </p:cNvCxnSpPr>
            <p:nvPr/>
          </p:nvCxnSpPr>
          <p:spPr>
            <a:xfrm>
              <a:off x="1188000" y="2628000"/>
              <a:ext cx="0" cy="432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C894BE81-BAEA-84DA-44CC-AC8A100ACABB}"/>
                </a:ext>
              </a:extLst>
            </p:cNvPr>
            <p:cNvCxnSpPr>
              <a:cxnSpLocks/>
            </p:cNvCxnSpPr>
            <p:nvPr/>
          </p:nvCxnSpPr>
          <p:spPr>
            <a:xfrm flipH="1">
              <a:off x="1548000" y="2844000"/>
              <a:ext cx="126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F97ECBEC-F164-B94C-6A5C-0809FA85DEF5}"/>
                </a:ext>
              </a:extLst>
            </p:cNvPr>
            <p:cNvCxnSpPr>
              <a:cxnSpLocks/>
            </p:cNvCxnSpPr>
            <p:nvPr/>
          </p:nvCxnSpPr>
          <p:spPr>
            <a:xfrm>
              <a:off x="2376000" y="2844000"/>
              <a:ext cx="0" cy="143298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5BAAD43C-69BB-C44A-8FD9-7B00DF269D81}"/>
                </a:ext>
              </a:extLst>
            </p:cNvPr>
            <p:cNvCxnSpPr>
              <a:cxnSpLocks/>
            </p:cNvCxnSpPr>
            <p:nvPr/>
          </p:nvCxnSpPr>
          <p:spPr>
            <a:xfrm flipH="1">
              <a:off x="359999" y="3528000"/>
              <a:ext cx="43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D677ADB7-2A44-3B6B-591C-C7201F0B065F}"/>
                </a:ext>
              </a:extLst>
            </p:cNvPr>
            <p:cNvCxnSpPr>
              <a:cxnSpLocks/>
            </p:cNvCxnSpPr>
            <p:nvPr/>
          </p:nvCxnSpPr>
          <p:spPr>
            <a:xfrm flipH="1">
              <a:off x="450000" y="3636000"/>
              <a:ext cx="2520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矩形 74">
              <a:extLst>
                <a:ext uri="{FF2B5EF4-FFF2-40B4-BE49-F238E27FC236}">
                  <a16:creationId xmlns:a16="http://schemas.microsoft.com/office/drawing/2014/main" id="{8FA25346-A188-255A-0ADA-96E9610B1949}"/>
                </a:ext>
              </a:extLst>
            </p:cNvPr>
            <p:cNvSpPr/>
            <p:nvPr/>
          </p:nvSpPr>
          <p:spPr>
            <a:xfrm>
              <a:off x="2304000" y="3312000"/>
              <a:ext cx="144000" cy="504000"/>
            </a:xfrm>
            <a:prstGeom prst="rect">
              <a:avLst/>
            </a:prstGeom>
            <a:solidFill>
              <a:schemeClr val="bg1">
                <a:alpha val="99000"/>
              </a:schemeClr>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76" name="直接连接符 75">
              <a:extLst>
                <a:ext uri="{FF2B5EF4-FFF2-40B4-BE49-F238E27FC236}">
                  <a16:creationId xmlns:a16="http://schemas.microsoft.com/office/drawing/2014/main" id="{6E4193F6-218D-7FDF-A34A-DD98AA84E062}"/>
                </a:ext>
              </a:extLst>
            </p:cNvPr>
            <p:cNvCxnSpPr>
              <a:cxnSpLocks/>
            </p:cNvCxnSpPr>
            <p:nvPr/>
          </p:nvCxnSpPr>
          <p:spPr>
            <a:xfrm>
              <a:off x="576000" y="2844000"/>
              <a:ext cx="0" cy="684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D60B00F8-9B11-C306-3590-57AF480C9BD6}"/>
                </a:ext>
              </a:extLst>
            </p:cNvPr>
            <p:cNvCxnSpPr>
              <a:cxnSpLocks/>
            </p:cNvCxnSpPr>
            <p:nvPr/>
          </p:nvCxnSpPr>
          <p:spPr>
            <a:xfrm>
              <a:off x="576000" y="3636000"/>
              <a:ext cx="0" cy="64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1730F422-6E81-89E2-C7FF-6EAEEAC9CFCA}"/>
                </a:ext>
              </a:extLst>
            </p:cNvPr>
            <p:cNvCxnSpPr>
              <a:cxnSpLocks/>
            </p:cNvCxnSpPr>
            <p:nvPr/>
          </p:nvCxnSpPr>
          <p:spPr>
            <a:xfrm flipH="1">
              <a:off x="575999" y="4284000"/>
              <a:ext cx="223416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椭圆 79">
              <a:extLst>
                <a:ext uri="{FF2B5EF4-FFF2-40B4-BE49-F238E27FC236}">
                  <a16:creationId xmlns:a16="http://schemas.microsoft.com/office/drawing/2014/main" id="{209EA3F2-E8FC-0D7B-41FF-319129381763}"/>
                </a:ext>
              </a:extLst>
            </p:cNvPr>
            <p:cNvSpPr/>
            <p:nvPr/>
          </p:nvSpPr>
          <p:spPr>
            <a:xfrm>
              <a:off x="2304000" y="2772000"/>
              <a:ext cx="144000" cy="144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81" name="Rectangle 8">
                  <a:extLst>
                    <a:ext uri="{FF2B5EF4-FFF2-40B4-BE49-F238E27FC236}">
                      <a16:creationId xmlns:a16="http://schemas.microsoft.com/office/drawing/2014/main" id="{FBBEAE0F-EF9B-D136-09A9-AA83D3093157}"/>
                    </a:ext>
                  </a:extLst>
                </p:cNvPr>
                <p:cNvSpPr>
                  <a:spLocks noChangeArrowheads="1"/>
                </p:cNvSpPr>
                <p:nvPr/>
              </p:nvSpPr>
              <p:spPr bwMode="auto">
                <a:xfrm>
                  <a:off x="2016000" y="3348000"/>
                  <a:ext cx="358524" cy="36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𝑅</m:t>
                        </m:r>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81" name="Rectangle 8">
                  <a:extLst>
                    <a:ext uri="{FF2B5EF4-FFF2-40B4-BE49-F238E27FC236}">
                      <a16:creationId xmlns:a16="http://schemas.microsoft.com/office/drawing/2014/main" id="{FBBEAE0F-EF9B-D136-09A9-AA83D3093157}"/>
                    </a:ext>
                  </a:extLst>
                </p:cNvPr>
                <p:cNvSpPr>
                  <a:spLocks noRot="1" noChangeAspect="1" noMove="1" noResize="1" noEditPoints="1" noAdjustHandles="1" noChangeArrowheads="1" noChangeShapeType="1" noTextEdit="1"/>
                </p:cNvSpPr>
                <p:nvPr/>
              </p:nvSpPr>
              <p:spPr bwMode="auto">
                <a:xfrm>
                  <a:off x="2016000" y="3348000"/>
                  <a:ext cx="358524" cy="360000"/>
                </a:xfrm>
                <a:prstGeom prst="rect">
                  <a:avLst/>
                </a:prstGeom>
                <a:blipFill>
                  <a:blip r:embed="rId14"/>
                  <a:stretch>
                    <a:fillRect l="-10169" b="-508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83" name="椭圆 82">
              <a:extLst>
                <a:ext uri="{FF2B5EF4-FFF2-40B4-BE49-F238E27FC236}">
                  <a16:creationId xmlns:a16="http://schemas.microsoft.com/office/drawing/2014/main" id="{5BE4FBD2-F912-4FEC-67A3-49758BBFDFF3}"/>
                </a:ext>
              </a:extLst>
            </p:cNvPr>
            <p:cNvSpPr/>
            <p:nvPr/>
          </p:nvSpPr>
          <p:spPr>
            <a:xfrm>
              <a:off x="2304000" y="4212000"/>
              <a:ext cx="144000" cy="144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85" name="Rectangle 8">
                  <a:extLst>
                    <a:ext uri="{FF2B5EF4-FFF2-40B4-BE49-F238E27FC236}">
                      <a16:creationId xmlns:a16="http://schemas.microsoft.com/office/drawing/2014/main" id="{F342F2E9-6954-DB07-4E14-2FE3C31245C1}"/>
                    </a:ext>
                  </a:extLst>
                </p:cNvPr>
                <p:cNvSpPr>
                  <a:spLocks noChangeArrowheads="1"/>
                </p:cNvSpPr>
                <p:nvPr/>
              </p:nvSpPr>
              <p:spPr bwMode="auto">
                <a:xfrm>
                  <a:off x="826365" y="3384000"/>
                  <a:ext cx="504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0"/>
                    </a:spcAft>
                    <a:buNone/>
                  </a:pPr>
                  <a14:m>
                    <m:oMathPara xmlns:m="http://schemas.openxmlformats.org/officeDocument/2006/math">
                      <m:oMathParaPr>
                        <m:jc m:val="centerGroup"/>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𝑉</m:t>
                            </m:r>
                          </m:e>
                          <m:sub>
                            <m:r>
                              <m:rPr>
                                <m:sty m:val="p"/>
                              </m:rPr>
                              <a:rPr kumimoji="1" lang="en-US" altLang="zh-CN" sz="2000" b="0" i="0" smtClean="0">
                                <a:latin typeface="Cambria Math" panose="02040503050406030204" pitchFamily="18" charset="0"/>
                                <a:ea typeface="微软雅黑" panose="020B0503020204020204" pitchFamily="34" charset="-122"/>
                              </a:rPr>
                              <m:t>DD</m:t>
                            </m:r>
                          </m:sub>
                        </m:sSub>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85" name="Rectangle 8">
                  <a:extLst>
                    <a:ext uri="{FF2B5EF4-FFF2-40B4-BE49-F238E27FC236}">
                      <a16:creationId xmlns:a16="http://schemas.microsoft.com/office/drawing/2014/main" id="{F342F2E9-6954-DB07-4E14-2FE3C31245C1}"/>
                    </a:ext>
                  </a:extLst>
                </p:cNvPr>
                <p:cNvSpPr>
                  <a:spLocks noRot="1" noChangeAspect="1" noMove="1" noResize="1" noEditPoints="1" noAdjustHandles="1" noChangeArrowheads="1" noChangeShapeType="1" noTextEdit="1"/>
                </p:cNvSpPr>
                <p:nvPr/>
              </p:nvSpPr>
              <p:spPr bwMode="auto">
                <a:xfrm>
                  <a:off x="826365" y="3384000"/>
                  <a:ext cx="504000" cy="432000"/>
                </a:xfrm>
                <a:prstGeom prst="rect">
                  <a:avLst/>
                </a:prstGeom>
                <a:blipFill>
                  <a:blip r:embed="rId15"/>
                  <a:stretch>
                    <a:fillRect l="-15854"/>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0" name="Rectangle 8">
                  <a:extLst>
                    <a:ext uri="{FF2B5EF4-FFF2-40B4-BE49-F238E27FC236}">
                      <a16:creationId xmlns:a16="http://schemas.microsoft.com/office/drawing/2014/main" id="{6CBF874F-C7A9-5667-FF8B-900F577491A3}"/>
                    </a:ext>
                  </a:extLst>
                </p:cNvPr>
                <p:cNvSpPr>
                  <a:spLocks noChangeArrowheads="1"/>
                </p:cNvSpPr>
                <p:nvPr/>
              </p:nvSpPr>
              <p:spPr bwMode="auto">
                <a:xfrm>
                  <a:off x="1368000" y="3024000"/>
                  <a:ext cx="432000" cy="40011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0"/>
                    </a:spcAft>
                    <a:buNone/>
                  </a:pPr>
                  <a14:m>
                    <m:oMathPara xmlns:m="http://schemas.openxmlformats.org/officeDocument/2006/math">
                      <m:oMathParaPr>
                        <m:jc m:val="centerGroup"/>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𝑉</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90" name="Rectangle 8">
                  <a:extLst>
                    <a:ext uri="{FF2B5EF4-FFF2-40B4-BE49-F238E27FC236}">
                      <a16:creationId xmlns:a16="http://schemas.microsoft.com/office/drawing/2014/main" id="{6CBF874F-C7A9-5667-FF8B-900F577491A3}"/>
                    </a:ext>
                  </a:extLst>
                </p:cNvPr>
                <p:cNvSpPr>
                  <a:spLocks noRot="1" noChangeAspect="1" noMove="1" noResize="1" noEditPoints="1" noAdjustHandles="1" noChangeArrowheads="1" noChangeShapeType="1" noTextEdit="1"/>
                </p:cNvSpPr>
                <p:nvPr/>
              </p:nvSpPr>
              <p:spPr bwMode="auto">
                <a:xfrm>
                  <a:off x="1368000" y="3024000"/>
                  <a:ext cx="432000" cy="400110"/>
                </a:xfrm>
                <a:prstGeom prst="rect">
                  <a:avLst/>
                </a:prstGeom>
                <a:blipFill>
                  <a:blip r:embed="rId16"/>
                  <a:stretch>
                    <a:fillRect l="-9859" b="-151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2" name="Rectangle 8">
                  <a:extLst>
                    <a:ext uri="{FF2B5EF4-FFF2-40B4-BE49-F238E27FC236}">
                      <a16:creationId xmlns:a16="http://schemas.microsoft.com/office/drawing/2014/main" id="{0F834794-FEE9-8F3B-D90C-82AFA6B6AF5D}"/>
                    </a:ext>
                  </a:extLst>
                </p:cNvPr>
                <p:cNvSpPr>
                  <a:spLocks noChangeArrowheads="1"/>
                </p:cNvSpPr>
                <p:nvPr/>
              </p:nvSpPr>
              <p:spPr bwMode="auto">
                <a:xfrm>
                  <a:off x="2664000" y="2952000"/>
                  <a:ext cx="360000" cy="115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1200"/>
                    </a:spcAft>
                    <a:buNone/>
                  </a:pPr>
                  <a14:m>
                    <m:oMathPara xmlns:m="http://schemas.openxmlformats.org/officeDocument/2006/math">
                      <m:oMathParaPr>
                        <m:jc m:val="centerGroup"/>
                      </m:oMathParaPr>
                      <m:oMath xmlns:m="http://schemas.openxmlformats.org/officeDocument/2006/math">
                        <m:r>
                          <a:rPr kumimoji="1" lang="pt-BR" altLang="zh-CN" sz="2000" b="0" i="1" smtClean="0">
                            <a:latin typeface="Cambria Math" panose="02040503050406030204" pitchFamily="18" charset="0"/>
                            <a:ea typeface="微软雅黑" panose="020B0503020204020204" pitchFamily="34" charset="-122"/>
                          </a:rPr>
                          <m:t>+</m:t>
                        </m:r>
                      </m:oMath>
                    </m:oMathPara>
                  </a14:m>
                  <a:endParaRPr kumimoji="1" lang="en-US" altLang="zh-CN" sz="2000" b="0" dirty="0">
                    <a:latin typeface="微软雅黑" panose="020B0503020204020204" pitchFamily="34" charset="-122"/>
                    <a:ea typeface="微软雅黑" panose="020B0503020204020204" pitchFamily="34" charset="-122"/>
                  </a:endParaRPr>
                </a:p>
                <a:p>
                  <a:pPr algn="ctr">
                    <a:spcAft>
                      <a:spcPts val="1200"/>
                    </a:spcAft>
                    <a:buNone/>
                  </a:pPr>
                  <a14:m>
                    <m:oMathPara xmlns:m="http://schemas.openxmlformats.org/officeDocument/2006/math">
                      <m:oMathParaPr>
                        <m:jc m:val="centerGroup"/>
                      </m:oMathParaPr>
                      <m:oMath xmlns:m="http://schemas.openxmlformats.org/officeDocument/2006/math">
                        <m:sSub>
                          <m:sSubPr>
                            <m:ctrlPr>
                              <a:rPr kumimoji="1" lang="en-US" altLang="zh-CN" sz="2000" b="0" i="1">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𝑉</m:t>
                            </m:r>
                          </m:e>
                          <m:sub>
                            <m:r>
                              <m:rPr>
                                <m:sty m:val="p"/>
                              </m:rPr>
                              <a:rPr kumimoji="1" lang="en-US" altLang="zh-CN" sz="2000" b="0" i="0" smtClean="0">
                                <a:latin typeface="Cambria Math" panose="02040503050406030204" pitchFamily="18" charset="0"/>
                                <a:ea typeface="微软雅黑" panose="020B0503020204020204" pitchFamily="34" charset="-122"/>
                              </a:rPr>
                              <m:t>O</m:t>
                            </m:r>
                          </m:sub>
                        </m:sSub>
                      </m:oMath>
                    </m:oMathPara>
                  </a14:m>
                  <a:endParaRPr kumimoji="1" lang="en-US" altLang="zh-CN" sz="2000" b="0" dirty="0">
                    <a:latin typeface="微软雅黑" panose="020B0503020204020204" pitchFamily="34" charset="-122"/>
                    <a:ea typeface="微软雅黑" panose="020B0503020204020204" pitchFamily="34" charset="-122"/>
                  </a:endParaRPr>
                </a:p>
                <a:p>
                  <a:pPr algn="ctr">
                    <a:spcAft>
                      <a:spcPts val="1200"/>
                    </a:spcAft>
                    <a:buNone/>
                  </a:pPr>
                  <a14:m>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p>
              </p:txBody>
            </p:sp>
          </mc:Choice>
          <mc:Fallback xmlns="">
            <p:sp>
              <p:nvSpPr>
                <p:cNvPr id="92" name="Rectangle 8">
                  <a:extLst>
                    <a:ext uri="{FF2B5EF4-FFF2-40B4-BE49-F238E27FC236}">
                      <a16:creationId xmlns:a16="http://schemas.microsoft.com/office/drawing/2014/main" id="{0F834794-FEE9-8F3B-D90C-82AFA6B6AF5D}"/>
                    </a:ext>
                  </a:extLst>
                </p:cNvPr>
                <p:cNvSpPr>
                  <a:spLocks noRot="1" noChangeAspect="1" noMove="1" noResize="1" noEditPoints="1" noAdjustHandles="1" noChangeArrowheads="1" noChangeShapeType="1" noTextEdit="1"/>
                </p:cNvSpPr>
                <p:nvPr/>
              </p:nvSpPr>
              <p:spPr bwMode="auto">
                <a:xfrm>
                  <a:off x="2664000" y="2952000"/>
                  <a:ext cx="360000" cy="1152000"/>
                </a:xfrm>
                <a:prstGeom prst="rect">
                  <a:avLst/>
                </a:prstGeom>
                <a:blipFill>
                  <a:blip r:embed="rId17"/>
                  <a:stretch>
                    <a:fillRect r="-15254"/>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93" name="椭圆 92">
              <a:extLst>
                <a:ext uri="{FF2B5EF4-FFF2-40B4-BE49-F238E27FC236}">
                  <a16:creationId xmlns:a16="http://schemas.microsoft.com/office/drawing/2014/main" id="{FC87ACF3-71ED-85D3-694D-DA23C0DF14D1}"/>
                </a:ext>
              </a:extLst>
            </p:cNvPr>
            <p:cNvSpPr/>
            <p:nvPr/>
          </p:nvSpPr>
          <p:spPr>
            <a:xfrm>
              <a:off x="2736000" y="2772000"/>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94" name="椭圆 93">
              <a:extLst>
                <a:ext uri="{FF2B5EF4-FFF2-40B4-BE49-F238E27FC236}">
                  <a16:creationId xmlns:a16="http://schemas.microsoft.com/office/drawing/2014/main" id="{A77FE81C-D590-CD17-FD58-AF2055A0E19E}"/>
                </a:ext>
              </a:extLst>
            </p:cNvPr>
            <p:cNvSpPr/>
            <p:nvPr/>
          </p:nvSpPr>
          <p:spPr>
            <a:xfrm>
              <a:off x="2736000" y="4212000"/>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95" name="直接箭头连接符 94">
              <a:extLst>
                <a:ext uri="{FF2B5EF4-FFF2-40B4-BE49-F238E27FC236}">
                  <a16:creationId xmlns:a16="http://schemas.microsoft.com/office/drawing/2014/main" id="{26E2E159-1DBA-11C0-28AE-CE2087BABE94}"/>
                </a:ext>
              </a:extLst>
            </p:cNvPr>
            <p:cNvCxnSpPr>
              <a:cxnSpLocks/>
            </p:cNvCxnSpPr>
            <p:nvPr/>
          </p:nvCxnSpPr>
          <p:spPr>
            <a:xfrm>
              <a:off x="1764000" y="2952000"/>
              <a:ext cx="432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6" name="Rectangle 8">
                  <a:extLst>
                    <a:ext uri="{FF2B5EF4-FFF2-40B4-BE49-F238E27FC236}">
                      <a16:creationId xmlns:a16="http://schemas.microsoft.com/office/drawing/2014/main" id="{F6689BCF-34D5-4013-2206-19F00AFDB37A}"/>
                    </a:ext>
                  </a:extLst>
                </p:cNvPr>
                <p:cNvSpPr>
                  <a:spLocks noChangeArrowheads="1"/>
                </p:cNvSpPr>
                <p:nvPr/>
              </p:nvSpPr>
              <p:spPr bwMode="auto">
                <a:xfrm>
                  <a:off x="1836000" y="2916000"/>
                  <a:ext cx="360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𝐼</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96" name="Rectangle 8">
                  <a:extLst>
                    <a:ext uri="{FF2B5EF4-FFF2-40B4-BE49-F238E27FC236}">
                      <a16:creationId xmlns:a16="http://schemas.microsoft.com/office/drawing/2014/main" id="{F6689BCF-34D5-4013-2206-19F00AFDB37A}"/>
                    </a:ext>
                  </a:extLst>
                </p:cNvPr>
                <p:cNvSpPr>
                  <a:spLocks noRot="1" noChangeAspect="1" noMove="1" noResize="1" noEditPoints="1" noAdjustHandles="1" noChangeArrowheads="1" noChangeShapeType="1" noTextEdit="1"/>
                </p:cNvSpPr>
                <p:nvPr/>
              </p:nvSpPr>
              <p:spPr bwMode="auto">
                <a:xfrm>
                  <a:off x="1836000" y="2916000"/>
                  <a:ext cx="360000" cy="432000"/>
                </a:xfrm>
                <a:prstGeom prst="rect">
                  <a:avLst/>
                </a:prstGeom>
                <a:blipFill>
                  <a:blip r:embed="rId18"/>
                  <a:stretch>
                    <a:fillRect l="-16949"/>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101" name="组合 100">
              <a:extLst>
                <a:ext uri="{FF2B5EF4-FFF2-40B4-BE49-F238E27FC236}">
                  <a16:creationId xmlns:a16="http://schemas.microsoft.com/office/drawing/2014/main" id="{2A03E0D3-E67C-E89A-F06F-21316DD0F7A4}"/>
                </a:ext>
              </a:extLst>
            </p:cNvPr>
            <p:cNvGrpSpPr/>
            <p:nvPr/>
          </p:nvGrpSpPr>
          <p:grpSpPr>
            <a:xfrm rot="16200000">
              <a:off x="1286574" y="2781428"/>
              <a:ext cx="432000" cy="125144"/>
              <a:chOff x="4670871" y="3983664"/>
              <a:chExt cx="432000" cy="125144"/>
            </a:xfrm>
          </p:grpSpPr>
          <p:cxnSp>
            <p:nvCxnSpPr>
              <p:cNvPr id="99" name="直接连接符 98">
                <a:extLst>
                  <a:ext uri="{FF2B5EF4-FFF2-40B4-BE49-F238E27FC236}">
                    <a16:creationId xmlns:a16="http://schemas.microsoft.com/office/drawing/2014/main" id="{1824B5F4-0364-D51F-5FFC-8AC23EC3E81F}"/>
                  </a:ext>
                </a:extLst>
              </p:cNvPr>
              <p:cNvCxnSpPr>
                <a:cxnSpLocks/>
              </p:cNvCxnSpPr>
              <p:nvPr/>
            </p:nvCxnSpPr>
            <p:spPr>
              <a:xfrm rot="5400000" flipV="1">
                <a:off x="4886871" y="3767664"/>
                <a:ext cx="0" cy="432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7D4DADA2-EECC-3210-2F3B-F10D1B7A4AD3}"/>
                  </a:ext>
                </a:extLst>
              </p:cNvPr>
              <p:cNvCxnSpPr>
                <a:cxnSpLocks/>
              </p:cNvCxnSpPr>
              <p:nvPr/>
            </p:nvCxnSpPr>
            <p:spPr>
              <a:xfrm rot="5400000" flipH="1" flipV="1">
                <a:off x="4886867" y="3982808"/>
                <a:ext cx="0" cy="25200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3" name="直接连接符 102">
              <a:extLst>
                <a:ext uri="{FF2B5EF4-FFF2-40B4-BE49-F238E27FC236}">
                  <a16:creationId xmlns:a16="http://schemas.microsoft.com/office/drawing/2014/main" id="{10E7CB4C-4A4E-DE7D-F347-B7302DC702E7}"/>
                </a:ext>
              </a:extLst>
            </p:cNvPr>
            <p:cNvCxnSpPr>
              <a:cxnSpLocks/>
            </p:cNvCxnSpPr>
            <p:nvPr/>
          </p:nvCxnSpPr>
          <p:spPr>
            <a:xfrm flipH="1">
              <a:off x="576000" y="2844000"/>
              <a:ext cx="86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61" name="文本框 160">
                <a:extLst>
                  <a:ext uri="{FF2B5EF4-FFF2-40B4-BE49-F238E27FC236}">
                    <a16:creationId xmlns:a16="http://schemas.microsoft.com/office/drawing/2014/main" id="{5D92D511-B9D6-2422-9BDA-3BB8EC6AFFFC}"/>
                  </a:ext>
                </a:extLst>
              </p:cNvPr>
              <p:cNvSpPr txBox="1"/>
              <p:nvPr/>
            </p:nvSpPr>
            <p:spPr>
              <a:xfrm>
                <a:off x="3168000" y="2808000"/>
                <a:ext cx="3413619" cy="1397627"/>
              </a:xfrm>
              <a:prstGeom prst="rect">
                <a:avLst/>
              </a:prstGeom>
              <a:noFill/>
            </p:spPr>
            <p:txBody>
              <a:bodyPr wrap="square">
                <a:spAutoFit/>
              </a:bodyPr>
              <a:lstStyle/>
              <a:p>
                <a:pPr>
                  <a:spcAft>
                    <a:spcPts val="600"/>
                  </a:spcAft>
                </a:pPr>
                <a:r>
                  <a:rPr kumimoji="1" lang="zh-CN" altLang="en-US" dirty="0">
                    <a:solidFill>
                      <a:schemeClr val="accent5">
                        <a:lumMod val="75000"/>
                      </a:schemeClr>
                    </a:solidFill>
                    <a:latin typeface="微软雅黑" panose="020B0503020204020204" pitchFamily="34" charset="-122"/>
                    <a:ea typeface="微软雅黑" panose="020B0503020204020204" pitchFamily="34" charset="-122"/>
                  </a:rPr>
                  <a:t>直流通路（静态）：</a:t>
                </a:r>
                <a:endParaRPr kumimoji="1" lang="en-US" altLang="zh-CN" dirty="0">
                  <a:solidFill>
                    <a:schemeClr val="accent5">
                      <a:lumMod val="75000"/>
                    </a:schemeClr>
                  </a:solidFill>
                  <a:latin typeface="微软雅黑" panose="020B0503020204020204" pitchFamily="34" charset="-122"/>
                  <a:ea typeface="微软雅黑" panose="020B0503020204020204" pitchFamily="34" charset="-122"/>
                </a:endParaRPr>
              </a:p>
              <a:p>
                <a:pPr>
                  <a:spcAft>
                    <a:spcPts val="600"/>
                  </a:spcAft>
                </a:pPr>
                <a14:m>
                  <m:oMath xmlns:m="http://schemas.openxmlformats.org/officeDocument/2006/math">
                    <m:sSub>
                      <m:sSubPr>
                        <m:ctrlPr>
                          <a:rPr kumimoji="1" lang="en-US" altLang="zh-CN"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b="0" i="0" smtClean="0">
                            <a:solidFill>
                              <a:schemeClr val="accent5">
                                <a:lumMod val="75000"/>
                              </a:schemeClr>
                            </a:solidFill>
                            <a:latin typeface="Cambria Math" panose="02040503050406030204" pitchFamily="18" charset="0"/>
                            <a:ea typeface="微软雅黑" panose="020B0503020204020204" pitchFamily="34" charset="-122"/>
                          </a:rPr>
                          <m:t>O</m:t>
                        </m:r>
                      </m:sub>
                    </m:sSub>
                    <m:r>
                      <a:rPr kumimoji="1" lang="en-US" altLang="zh-CN" i="1">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i="0">
                            <a:solidFill>
                              <a:schemeClr val="accent5">
                                <a:lumMod val="75000"/>
                              </a:schemeClr>
                            </a:solidFill>
                            <a:latin typeface="Cambria Math" panose="02040503050406030204" pitchFamily="18" charset="0"/>
                            <a:ea typeface="微软雅黑" panose="020B0503020204020204" pitchFamily="34" charset="-122"/>
                          </a:rPr>
                          <m:t>DD</m:t>
                        </m:r>
                      </m:sub>
                    </m:sSub>
                    <m:r>
                      <a:rPr kumimoji="1" lang="en-US" altLang="zh-CN" b="0" i="1" smtClean="0">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b="0" i="0" smtClean="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b="0" i="1" smtClean="0">
                        <a:solidFill>
                          <a:schemeClr val="accent5">
                            <a:lumMod val="75000"/>
                          </a:schemeClr>
                        </a:solidFill>
                        <a:latin typeface="Cambria Math" panose="02040503050406030204" pitchFamily="18" charset="0"/>
                        <a:ea typeface="微软雅黑" panose="020B0503020204020204" pitchFamily="34" charset="-122"/>
                      </a:rPr>
                      <m:t>=5−0.7=4.3 </m:t>
                    </m:r>
                    <m:r>
                      <m:rPr>
                        <m:sty m:val="p"/>
                      </m:rPr>
                      <a:rPr kumimoji="1" lang="en-US" altLang="zh-CN" b="0" i="0" smtClean="0">
                        <a:solidFill>
                          <a:schemeClr val="accent5">
                            <a:lumMod val="75000"/>
                          </a:schemeClr>
                        </a:solidFill>
                        <a:latin typeface="Cambria Math" panose="02040503050406030204" pitchFamily="18" charset="0"/>
                        <a:ea typeface="微软雅黑" panose="020B0503020204020204" pitchFamily="34" charset="-122"/>
                      </a:rPr>
                      <m:t>V</m:t>
                    </m:r>
                  </m:oMath>
                </a14:m>
                <a:r>
                  <a:rPr lang="en-US" altLang="zh-CN" dirty="0">
                    <a:solidFill>
                      <a:schemeClr val="accent5">
                        <a:lumMod val="75000"/>
                      </a:schemeClr>
                    </a:solidFill>
                  </a:rPr>
                  <a:t>  </a:t>
                </a:r>
              </a:p>
              <a:p>
                <a:pPr>
                  <a:spcAft>
                    <a:spcPts val="600"/>
                  </a:spcAft>
                </a:pPr>
                <a14:m>
                  <m:oMathPara xmlns:m="http://schemas.openxmlformats.org/officeDocument/2006/math">
                    <m:oMathParaPr>
                      <m:jc m:val="left"/>
                    </m:oMathParaPr>
                    <m:oMath xmlns:m="http://schemas.openxmlformats.org/officeDocument/2006/math">
                      <m:sSub>
                        <m:sSubPr>
                          <m:ctrlPr>
                            <a:rPr kumimoji="1" lang="en-US" altLang="zh-CN"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i="1">
                              <a:solidFill>
                                <a:schemeClr val="accent5">
                                  <a:lumMod val="75000"/>
                                </a:schemeClr>
                              </a:solidFill>
                              <a:latin typeface="Cambria Math" panose="02040503050406030204" pitchFamily="18" charset="0"/>
                              <a:ea typeface="微软雅黑" panose="020B0503020204020204" pitchFamily="34" charset="-122"/>
                            </a:rPr>
                            <m:t>𝐼</m:t>
                          </m:r>
                        </m:e>
                        <m:sub>
                          <m:r>
                            <m:rPr>
                              <m:sty m:val="p"/>
                            </m:rPr>
                            <a:rPr kumimoji="1" lang="en-US" altLang="zh-CN" b="0" i="0" smtClean="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b="0" i="1" smtClean="0">
                          <a:solidFill>
                            <a:schemeClr val="accent5">
                              <a:lumMod val="75000"/>
                            </a:schemeClr>
                          </a:solidFill>
                          <a:latin typeface="Cambria Math" panose="02040503050406030204" pitchFamily="18" charset="0"/>
                          <a:ea typeface="微软雅黑" panose="020B0503020204020204" pitchFamily="34" charset="-122"/>
                        </a:rPr>
                        <m:t>=</m:t>
                      </m:r>
                      <m:f>
                        <m:fPr>
                          <m:ctrlPr>
                            <a:rPr kumimoji="1" lang="en-US" altLang="zh-CN" b="0" i="1" smtClean="0">
                              <a:solidFill>
                                <a:schemeClr val="accent5">
                                  <a:lumMod val="75000"/>
                                </a:schemeClr>
                              </a:solidFill>
                              <a:latin typeface="Cambria Math" panose="02040503050406030204" pitchFamily="18" charset="0"/>
                              <a:ea typeface="微软雅黑" panose="020B0503020204020204" pitchFamily="34" charset="-122"/>
                            </a:rPr>
                          </m:ctrlPr>
                        </m:fPr>
                        <m:num>
                          <m:sSub>
                            <m:sSubPr>
                              <m:ctrlPr>
                                <a:rPr kumimoji="1" lang="en-US" altLang="zh-CN"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b="0" i="0" smtClean="0">
                                  <a:solidFill>
                                    <a:schemeClr val="accent5">
                                      <a:lumMod val="75000"/>
                                    </a:schemeClr>
                                  </a:solidFill>
                                  <a:latin typeface="Cambria Math" panose="02040503050406030204" pitchFamily="18" charset="0"/>
                                  <a:ea typeface="微软雅黑" panose="020B0503020204020204" pitchFamily="34" charset="-122"/>
                                </a:rPr>
                                <m:t>O</m:t>
                              </m:r>
                            </m:sub>
                          </m:sSub>
                        </m:num>
                        <m:den>
                          <m:r>
                            <a:rPr kumimoji="1" lang="en-US" altLang="zh-CN" b="0" i="1" smtClean="0">
                              <a:solidFill>
                                <a:schemeClr val="accent5">
                                  <a:lumMod val="75000"/>
                                </a:schemeClr>
                              </a:solidFill>
                              <a:latin typeface="Cambria Math" panose="02040503050406030204" pitchFamily="18" charset="0"/>
                              <a:ea typeface="微软雅黑" panose="020B0503020204020204" pitchFamily="34" charset="-122"/>
                            </a:rPr>
                            <m:t>𝑅</m:t>
                          </m:r>
                        </m:den>
                      </m:f>
                      <m:r>
                        <a:rPr kumimoji="1" lang="en-US" altLang="zh-CN" b="0" i="1" smtClean="0">
                          <a:solidFill>
                            <a:schemeClr val="accent5">
                              <a:lumMod val="75000"/>
                            </a:schemeClr>
                          </a:solidFill>
                          <a:latin typeface="Cambria Math" panose="02040503050406030204" pitchFamily="18" charset="0"/>
                          <a:ea typeface="微软雅黑" panose="020B0503020204020204" pitchFamily="34" charset="-122"/>
                        </a:rPr>
                        <m:t>=</m:t>
                      </m:r>
                      <m:f>
                        <m:fPr>
                          <m:ctrlPr>
                            <a:rPr kumimoji="1" lang="en-US" altLang="zh-CN" b="0" i="1" smtClean="0">
                              <a:solidFill>
                                <a:schemeClr val="accent5">
                                  <a:lumMod val="75000"/>
                                </a:schemeClr>
                              </a:solidFill>
                              <a:latin typeface="Cambria Math" panose="02040503050406030204" pitchFamily="18" charset="0"/>
                              <a:ea typeface="微软雅黑" panose="020B0503020204020204" pitchFamily="34" charset="-122"/>
                            </a:rPr>
                          </m:ctrlPr>
                        </m:fPr>
                        <m:num>
                          <m:r>
                            <a:rPr kumimoji="1" lang="en-US" altLang="zh-CN" i="1">
                              <a:solidFill>
                                <a:schemeClr val="accent5">
                                  <a:lumMod val="75000"/>
                                </a:schemeClr>
                              </a:solidFill>
                              <a:latin typeface="Cambria Math" panose="02040503050406030204" pitchFamily="18" charset="0"/>
                              <a:ea typeface="微软雅黑" panose="020B0503020204020204" pitchFamily="34" charset="-122"/>
                            </a:rPr>
                            <m:t>4.3 </m:t>
                          </m:r>
                          <m:r>
                            <m:rPr>
                              <m:sty m:val="p"/>
                            </m:rPr>
                            <a:rPr kumimoji="1" lang="en-US" altLang="zh-CN">
                              <a:solidFill>
                                <a:schemeClr val="accent5">
                                  <a:lumMod val="75000"/>
                                </a:schemeClr>
                              </a:solidFill>
                              <a:latin typeface="Cambria Math" panose="02040503050406030204" pitchFamily="18" charset="0"/>
                              <a:ea typeface="微软雅黑" panose="020B0503020204020204" pitchFamily="34" charset="-122"/>
                            </a:rPr>
                            <m:t>V</m:t>
                          </m:r>
                        </m:num>
                        <m:den>
                          <m:r>
                            <a:rPr kumimoji="1" lang="en-US" altLang="zh-CN" i="1">
                              <a:solidFill>
                                <a:schemeClr val="accent5">
                                  <a:lumMod val="75000"/>
                                </a:schemeClr>
                              </a:solidFill>
                              <a:latin typeface="Cambria Math" panose="02040503050406030204" pitchFamily="18" charset="0"/>
                              <a:ea typeface="微软雅黑" panose="020B0503020204020204" pitchFamily="34" charset="-122"/>
                            </a:rPr>
                            <m:t>5 </m:t>
                          </m:r>
                          <m:r>
                            <m:rPr>
                              <m:sty m:val="p"/>
                            </m:rPr>
                            <a:rPr kumimoji="1" lang="en-US" altLang="zh-CN">
                              <a:solidFill>
                                <a:schemeClr val="accent5">
                                  <a:lumMod val="75000"/>
                                </a:schemeClr>
                              </a:solidFill>
                              <a:latin typeface="Cambria Math" panose="02040503050406030204" pitchFamily="18" charset="0"/>
                              <a:ea typeface="微软雅黑" panose="020B0503020204020204" pitchFamily="34" charset="-122"/>
                            </a:rPr>
                            <m:t>k</m:t>
                          </m:r>
                          <m:r>
                            <m:rPr>
                              <m:sty m:val="p"/>
                            </m:rPr>
                            <a:rPr kumimoji="1" lang="el-GR" altLang="zh-CN" i="1">
                              <a:solidFill>
                                <a:schemeClr val="accent5">
                                  <a:lumMod val="75000"/>
                                </a:schemeClr>
                              </a:solidFill>
                              <a:latin typeface="Cambria Math" panose="02040503050406030204" pitchFamily="18" charset="0"/>
                              <a:ea typeface="Cambria Math" panose="02040503050406030204" pitchFamily="18" charset="0"/>
                            </a:rPr>
                            <m:t>Ω</m:t>
                          </m:r>
                        </m:den>
                      </m:f>
                      <m:r>
                        <a:rPr kumimoji="1" lang="en-US" altLang="zh-CN" b="0" i="1" smtClean="0">
                          <a:solidFill>
                            <a:schemeClr val="accent5">
                              <a:lumMod val="75000"/>
                            </a:schemeClr>
                          </a:solidFill>
                          <a:latin typeface="Cambria Math" panose="02040503050406030204" pitchFamily="18" charset="0"/>
                          <a:ea typeface="微软雅黑" panose="020B0503020204020204" pitchFamily="34" charset="-122"/>
                        </a:rPr>
                        <m:t> =0.86 </m:t>
                      </m:r>
                      <m:r>
                        <m:rPr>
                          <m:sty m:val="p"/>
                        </m:rPr>
                        <a:rPr kumimoji="1" lang="en-US" altLang="zh-CN" b="0" i="0" smtClean="0">
                          <a:solidFill>
                            <a:schemeClr val="accent5">
                              <a:lumMod val="75000"/>
                            </a:schemeClr>
                          </a:solidFill>
                          <a:latin typeface="Cambria Math" panose="02040503050406030204" pitchFamily="18" charset="0"/>
                          <a:ea typeface="微软雅黑" panose="020B0503020204020204" pitchFamily="34" charset="-122"/>
                        </a:rPr>
                        <m:t>mA</m:t>
                      </m:r>
                    </m:oMath>
                  </m:oMathPara>
                </a14:m>
                <a:endParaRPr lang="zh-CN" altLang="en-US" dirty="0">
                  <a:solidFill>
                    <a:schemeClr val="accent5">
                      <a:lumMod val="75000"/>
                    </a:schemeClr>
                  </a:solidFill>
                </a:endParaRPr>
              </a:p>
            </p:txBody>
          </p:sp>
        </mc:Choice>
        <mc:Fallback xmlns="">
          <p:sp>
            <p:nvSpPr>
              <p:cNvPr id="161" name="文本框 160">
                <a:extLst>
                  <a:ext uri="{FF2B5EF4-FFF2-40B4-BE49-F238E27FC236}">
                    <a16:creationId xmlns:a16="http://schemas.microsoft.com/office/drawing/2014/main" id="{5D92D511-B9D6-2422-9BDA-3BB8EC6AFFFC}"/>
                  </a:ext>
                </a:extLst>
              </p:cNvPr>
              <p:cNvSpPr txBox="1">
                <a:spLocks noRot="1" noChangeAspect="1" noMove="1" noResize="1" noEditPoints="1" noAdjustHandles="1" noChangeArrowheads="1" noChangeShapeType="1" noTextEdit="1"/>
              </p:cNvSpPr>
              <p:nvPr/>
            </p:nvSpPr>
            <p:spPr>
              <a:xfrm>
                <a:off x="3168000" y="2808000"/>
                <a:ext cx="3413619" cy="1397627"/>
              </a:xfrm>
              <a:prstGeom prst="rect">
                <a:avLst/>
              </a:prstGeom>
              <a:blipFill>
                <a:blip r:embed="rId19"/>
                <a:stretch>
                  <a:fillRect l="-1607" t="-262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2" name="文本框 161">
                <a:extLst>
                  <a:ext uri="{FF2B5EF4-FFF2-40B4-BE49-F238E27FC236}">
                    <a16:creationId xmlns:a16="http://schemas.microsoft.com/office/drawing/2014/main" id="{42205E83-B1A6-C493-A1FB-D46EAC124BD9}"/>
                  </a:ext>
                </a:extLst>
              </p:cNvPr>
              <p:cNvSpPr txBox="1"/>
              <p:nvPr/>
            </p:nvSpPr>
            <p:spPr>
              <a:xfrm>
                <a:off x="3168000" y="4968000"/>
                <a:ext cx="3869421" cy="1729769"/>
              </a:xfrm>
              <a:prstGeom prst="rect">
                <a:avLst/>
              </a:prstGeom>
              <a:noFill/>
            </p:spPr>
            <p:txBody>
              <a:bodyPr wrap="square">
                <a:spAutoFit/>
              </a:bodyPr>
              <a:lstStyle/>
              <a:p>
                <a:pPr>
                  <a:spcAft>
                    <a:spcPts val="600"/>
                  </a:spcAft>
                </a:pPr>
                <a:r>
                  <a:rPr kumimoji="1" lang="zh-CN" altLang="en-US" dirty="0">
                    <a:solidFill>
                      <a:schemeClr val="accent5">
                        <a:lumMod val="75000"/>
                      </a:schemeClr>
                    </a:solidFill>
                    <a:latin typeface="微软雅黑" panose="020B0503020204020204" pitchFamily="34" charset="-122"/>
                    <a:ea typeface="微软雅黑" panose="020B0503020204020204" pitchFamily="34" charset="-122"/>
                  </a:rPr>
                  <a:t>小信号交流通路（动态）：</a:t>
                </a:r>
                <a:endParaRPr kumimoji="1" lang="en-US" altLang="zh-CN" dirty="0">
                  <a:solidFill>
                    <a:schemeClr val="accent5">
                      <a:lumMod val="75000"/>
                    </a:schemeClr>
                  </a:solidFill>
                  <a:latin typeface="微软雅黑" panose="020B0503020204020204" pitchFamily="34" charset="-122"/>
                  <a:ea typeface="微软雅黑" panose="020B0503020204020204" pitchFamily="34" charset="-122"/>
                </a:endParaRPr>
              </a:p>
              <a:p>
                <a:pPr algn="ctr">
                  <a:spcAft>
                    <a:spcPts val="600"/>
                  </a:spcAft>
                </a:pPr>
                <a14:m>
                  <m:oMathPara xmlns:m="http://schemas.openxmlformats.org/officeDocument/2006/math">
                    <m:oMathParaPr>
                      <m:jc m:val="left"/>
                    </m:oMathParaPr>
                    <m:oMath xmlns:m="http://schemas.openxmlformats.org/officeDocument/2006/math">
                      <m:sSub>
                        <m:sSubPr>
                          <m:ctrlPr>
                            <a:rPr kumimoji="1" lang="en-US" altLang="zh-CN"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b="0" i="1" smtClean="0">
                              <a:solidFill>
                                <a:schemeClr val="accent5">
                                  <a:lumMod val="75000"/>
                                </a:schemeClr>
                              </a:solidFill>
                              <a:latin typeface="Cambria Math" panose="02040503050406030204" pitchFamily="18" charset="0"/>
                              <a:ea typeface="微软雅黑" panose="020B0503020204020204" pitchFamily="34" charset="-122"/>
                            </a:rPr>
                            <m:t>𝑟</m:t>
                          </m:r>
                        </m:e>
                        <m:sub>
                          <m:r>
                            <m:rPr>
                              <m:sty m:val="p"/>
                            </m:rPr>
                            <a:rPr kumimoji="1" lang="en-US" altLang="zh-CN" b="0" i="0" smtClean="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i="1">
                          <a:solidFill>
                            <a:schemeClr val="accent5">
                              <a:lumMod val="75000"/>
                            </a:schemeClr>
                          </a:solidFill>
                          <a:latin typeface="Cambria Math" panose="02040503050406030204" pitchFamily="18" charset="0"/>
                          <a:ea typeface="微软雅黑" panose="020B0503020204020204" pitchFamily="34" charset="-122"/>
                        </a:rPr>
                        <m:t>=</m:t>
                      </m:r>
                      <m:f>
                        <m:fPr>
                          <m:ctrlPr>
                            <a:rPr kumimoji="1" lang="en-US" altLang="zh-CN" i="1" smtClean="0">
                              <a:solidFill>
                                <a:schemeClr val="accent5">
                                  <a:lumMod val="75000"/>
                                </a:schemeClr>
                              </a:solidFill>
                              <a:latin typeface="Cambria Math" panose="02040503050406030204" pitchFamily="18" charset="0"/>
                              <a:ea typeface="微软雅黑" panose="020B0503020204020204" pitchFamily="34" charset="-122"/>
                            </a:rPr>
                          </m:ctrlPr>
                        </m:fPr>
                        <m:num>
                          <m:sSub>
                            <m:sSubPr>
                              <m:ctrlPr>
                                <a:rPr kumimoji="1" lang="en-US" altLang="zh-CN"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b="0" i="0" smtClean="0">
                                  <a:solidFill>
                                    <a:schemeClr val="accent5">
                                      <a:lumMod val="75000"/>
                                    </a:schemeClr>
                                  </a:solidFill>
                                  <a:latin typeface="Cambria Math" panose="02040503050406030204" pitchFamily="18" charset="0"/>
                                  <a:ea typeface="微软雅黑" panose="020B0503020204020204" pitchFamily="34" charset="-122"/>
                                </a:rPr>
                                <m:t>T</m:t>
                              </m:r>
                            </m:sub>
                          </m:sSub>
                        </m:num>
                        <m:den>
                          <m:sSub>
                            <m:sSubPr>
                              <m:ctrlPr>
                                <a:rPr kumimoji="1" lang="en-US" altLang="zh-CN"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i="1">
                                  <a:solidFill>
                                    <a:schemeClr val="accent5">
                                      <a:lumMod val="75000"/>
                                    </a:schemeClr>
                                  </a:solidFill>
                                  <a:latin typeface="Cambria Math" panose="02040503050406030204" pitchFamily="18" charset="0"/>
                                  <a:ea typeface="微软雅黑" panose="020B0503020204020204" pitchFamily="34" charset="-122"/>
                                </a:rPr>
                                <m:t>𝐼</m:t>
                              </m:r>
                            </m:e>
                            <m:sub>
                              <m:r>
                                <m:rPr>
                                  <m:sty m:val="p"/>
                                </m:rPr>
                                <a:rPr kumimoji="1" lang="en-US" altLang="zh-CN" b="0" i="0" smtClean="0">
                                  <a:solidFill>
                                    <a:schemeClr val="accent5">
                                      <a:lumMod val="75000"/>
                                    </a:schemeClr>
                                  </a:solidFill>
                                  <a:latin typeface="Cambria Math" panose="02040503050406030204" pitchFamily="18" charset="0"/>
                                  <a:ea typeface="微软雅黑" panose="020B0503020204020204" pitchFamily="34" charset="-122"/>
                                </a:rPr>
                                <m:t>D</m:t>
                              </m:r>
                            </m:sub>
                          </m:sSub>
                        </m:den>
                      </m:f>
                      <m:r>
                        <a:rPr kumimoji="1" lang="en-US" altLang="zh-CN" i="1">
                          <a:solidFill>
                            <a:schemeClr val="accent5">
                              <a:lumMod val="75000"/>
                            </a:schemeClr>
                          </a:solidFill>
                          <a:latin typeface="Cambria Math" panose="02040503050406030204" pitchFamily="18" charset="0"/>
                          <a:ea typeface="微软雅黑" panose="020B0503020204020204" pitchFamily="34" charset="-122"/>
                        </a:rPr>
                        <m:t>=</m:t>
                      </m:r>
                      <m:f>
                        <m:fPr>
                          <m:ctrlPr>
                            <a:rPr kumimoji="1" lang="en-US" altLang="zh-CN" i="1" smtClean="0">
                              <a:solidFill>
                                <a:schemeClr val="accent5">
                                  <a:lumMod val="75000"/>
                                </a:schemeClr>
                              </a:solidFill>
                              <a:latin typeface="Cambria Math" panose="02040503050406030204" pitchFamily="18" charset="0"/>
                              <a:ea typeface="微软雅黑" panose="020B0503020204020204" pitchFamily="34" charset="-122"/>
                            </a:rPr>
                          </m:ctrlPr>
                        </m:fPr>
                        <m:num>
                          <m:r>
                            <a:rPr kumimoji="1" lang="en-US" altLang="zh-CN" i="1">
                              <a:solidFill>
                                <a:schemeClr val="accent5">
                                  <a:lumMod val="75000"/>
                                </a:schemeClr>
                              </a:solidFill>
                              <a:latin typeface="Cambria Math" panose="02040503050406030204" pitchFamily="18" charset="0"/>
                              <a:ea typeface="微软雅黑" panose="020B0503020204020204" pitchFamily="34" charset="-122"/>
                            </a:rPr>
                            <m:t>26 </m:t>
                          </m:r>
                          <m:r>
                            <m:rPr>
                              <m:sty m:val="p"/>
                            </m:rPr>
                            <a:rPr kumimoji="1" lang="en-US" altLang="zh-CN" i="1">
                              <a:solidFill>
                                <a:schemeClr val="accent5">
                                  <a:lumMod val="75000"/>
                                </a:schemeClr>
                              </a:solidFill>
                              <a:latin typeface="Cambria Math" panose="02040503050406030204" pitchFamily="18" charset="0"/>
                              <a:ea typeface="微软雅黑" panose="020B0503020204020204" pitchFamily="34" charset="-122"/>
                            </a:rPr>
                            <m:t>mV</m:t>
                          </m:r>
                        </m:num>
                        <m:den>
                          <m:r>
                            <a:rPr kumimoji="1" lang="en-US" altLang="zh-CN" i="1">
                              <a:solidFill>
                                <a:schemeClr val="accent5">
                                  <a:lumMod val="75000"/>
                                </a:schemeClr>
                              </a:solidFill>
                              <a:latin typeface="Cambria Math" panose="02040503050406030204" pitchFamily="18" charset="0"/>
                              <a:ea typeface="微软雅黑" panose="020B0503020204020204" pitchFamily="34" charset="-122"/>
                            </a:rPr>
                            <m:t>0.86 </m:t>
                          </m:r>
                          <m:r>
                            <m:rPr>
                              <m:sty m:val="p"/>
                            </m:rPr>
                            <a:rPr kumimoji="1" lang="en-US" altLang="zh-CN">
                              <a:solidFill>
                                <a:schemeClr val="accent5">
                                  <a:lumMod val="75000"/>
                                </a:schemeClr>
                              </a:solidFill>
                              <a:latin typeface="Cambria Math" panose="02040503050406030204" pitchFamily="18" charset="0"/>
                              <a:ea typeface="微软雅黑" panose="020B0503020204020204" pitchFamily="34" charset="-122"/>
                            </a:rPr>
                            <m:t>m</m:t>
                          </m:r>
                          <m:r>
                            <m:rPr>
                              <m:sty m:val="p"/>
                            </m:rPr>
                            <a:rPr kumimoji="1" lang="en-US" altLang="zh-CN" b="0" i="0" smtClean="0">
                              <a:solidFill>
                                <a:schemeClr val="accent5">
                                  <a:lumMod val="75000"/>
                                </a:schemeClr>
                              </a:solidFill>
                              <a:latin typeface="Cambria Math" panose="02040503050406030204" pitchFamily="18" charset="0"/>
                              <a:ea typeface="微软雅黑" panose="020B0503020204020204" pitchFamily="34" charset="-122"/>
                            </a:rPr>
                            <m:t>A</m:t>
                          </m:r>
                        </m:den>
                      </m:f>
                      <m:r>
                        <a:rPr kumimoji="1" lang="en-US" altLang="zh-CN" b="0" i="1" smtClean="0">
                          <a:solidFill>
                            <a:schemeClr val="accent5">
                              <a:lumMod val="75000"/>
                            </a:schemeClr>
                          </a:solidFill>
                          <a:latin typeface="Cambria Math" panose="02040503050406030204" pitchFamily="18" charset="0"/>
                          <a:ea typeface="Cambria Math" panose="02040503050406030204" pitchFamily="18" charset="0"/>
                        </a:rPr>
                        <m:t>≈30 </m:t>
                      </m:r>
                      <m:r>
                        <m:rPr>
                          <m:sty m:val="p"/>
                        </m:rPr>
                        <a:rPr kumimoji="1" lang="el-GR" altLang="zh-CN" i="1">
                          <a:solidFill>
                            <a:schemeClr val="accent5">
                              <a:lumMod val="75000"/>
                            </a:schemeClr>
                          </a:solidFill>
                          <a:latin typeface="Cambria Math" panose="02040503050406030204" pitchFamily="18" charset="0"/>
                          <a:ea typeface="Cambria Math" panose="02040503050406030204" pitchFamily="18" charset="0"/>
                        </a:rPr>
                        <m:t>Ω</m:t>
                      </m:r>
                      <m:r>
                        <a:rPr kumimoji="1" lang="en-US" altLang="zh-CN" b="0" i="1" smtClean="0">
                          <a:solidFill>
                            <a:schemeClr val="accent5">
                              <a:lumMod val="75000"/>
                            </a:schemeClr>
                          </a:solidFill>
                          <a:latin typeface="Cambria Math" panose="02040503050406030204" pitchFamily="18" charset="0"/>
                          <a:ea typeface="Cambria Math" panose="02040503050406030204" pitchFamily="18" charset="0"/>
                        </a:rPr>
                        <m:t>=0.03 </m:t>
                      </m:r>
                      <m:r>
                        <m:rPr>
                          <m:sty m:val="p"/>
                        </m:rPr>
                        <a:rPr kumimoji="1" lang="en-US" altLang="zh-CN">
                          <a:solidFill>
                            <a:schemeClr val="accent5">
                              <a:lumMod val="75000"/>
                            </a:schemeClr>
                          </a:solidFill>
                          <a:latin typeface="Cambria Math" panose="02040503050406030204" pitchFamily="18" charset="0"/>
                          <a:ea typeface="微软雅黑" panose="020B0503020204020204" pitchFamily="34" charset="-122"/>
                        </a:rPr>
                        <m:t>k</m:t>
                      </m:r>
                      <m:r>
                        <m:rPr>
                          <m:sty m:val="p"/>
                        </m:rPr>
                        <a:rPr kumimoji="1" lang="el-GR" altLang="zh-CN" i="1">
                          <a:solidFill>
                            <a:schemeClr val="accent5">
                              <a:lumMod val="75000"/>
                            </a:schemeClr>
                          </a:solidFill>
                          <a:latin typeface="Cambria Math" panose="02040503050406030204" pitchFamily="18" charset="0"/>
                          <a:ea typeface="Cambria Math" panose="02040503050406030204" pitchFamily="18" charset="0"/>
                        </a:rPr>
                        <m:t>Ω</m:t>
                      </m:r>
                    </m:oMath>
                  </m:oMathPara>
                </a14:m>
                <a:endParaRPr lang="en-US" altLang="zh-CN" dirty="0">
                  <a:solidFill>
                    <a:schemeClr val="accent5">
                      <a:lumMod val="75000"/>
                    </a:schemeClr>
                  </a:solidFill>
                </a:endParaRPr>
              </a:p>
              <a:p>
                <a:pPr>
                  <a:spcAft>
                    <a:spcPts val="600"/>
                  </a:spcAft>
                </a:pPr>
                <a14:m>
                  <m:oMathPara xmlns:m="http://schemas.openxmlformats.org/officeDocument/2006/math">
                    <m:oMathParaPr>
                      <m:jc m:val="left"/>
                    </m:oMathParaPr>
                    <m:oMath xmlns:m="http://schemas.openxmlformats.org/officeDocument/2006/math">
                      <m:sSub>
                        <m:sSubPr>
                          <m:ctrlPr>
                            <a:rPr kumimoji="1" lang="en-US" altLang="zh-CN"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b="0" i="1" smtClean="0">
                              <a:solidFill>
                                <a:schemeClr val="accent5">
                                  <a:lumMod val="75000"/>
                                </a:schemeClr>
                              </a:solidFill>
                              <a:latin typeface="Cambria Math" panose="02040503050406030204" pitchFamily="18" charset="0"/>
                              <a:ea typeface="微软雅黑" panose="020B0503020204020204" pitchFamily="34" charset="-122"/>
                            </a:rPr>
                            <m:t>𝑣</m:t>
                          </m:r>
                        </m:e>
                        <m:sub>
                          <m:r>
                            <m:rPr>
                              <m:sty m:val="p"/>
                            </m:rPr>
                            <a:rPr kumimoji="1" lang="en-US" altLang="zh-CN" b="0" i="0" smtClean="0">
                              <a:solidFill>
                                <a:schemeClr val="accent5">
                                  <a:lumMod val="75000"/>
                                </a:schemeClr>
                              </a:solidFill>
                              <a:latin typeface="Cambria Math" panose="02040503050406030204" pitchFamily="18" charset="0"/>
                              <a:ea typeface="微软雅黑" panose="020B0503020204020204" pitchFamily="34" charset="-122"/>
                            </a:rPr>
                            <m:t>so</m:t>
                          </m:r>
                        </m:sub>
                      </m:sSub>
                      <m:r>
                        <a:rPr kumimoji="1" lang="en-US" altLang="zh-CN" b="0" i="1" smtClean="0">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i="1">
                              <a:solidFill>
                                <a:schemeClr val="accent5">
                                  <a:lumMod val="75000"/>
                                </a:schemeClr>
                              </a:solidFill>
                              <a:latin typeface="Cambria Math" panose="02040503050406030204" pitchFamily="18" charset="0"/>
                              <a:ea typeface="微软雅黑" panose="020B0503020204020204" pitchFamily="34" charset="-122"/>
                            </a:rPr>
                            <m:t>𝑣</m:t>
                          </m:r>
                        </m:e>
                        <m:sub>
                          <m:r>
                            <m:rPr>
                              <m:sty m:val="p"/>
                            </m:rPr>
                            <a:rPr kumimoji="1" lang="en-US" altLang="zh-CN" b="0" i="0" smtClean="0">
                              <a:solidFill>
                                <a:schemeClr val="accent5">
                                  <a:lumMod val="75000"/>
                                </a:schemeClr>
                              </a:solidFill>
                              <a:latin typeface="Cambria Math" panose="02040503050406030204" pitchFamily="18" charset="0"/>
                              <a:ea typeface="微软雅黑" panose="020B0503020204020204" pitchFamily="34" charset="-122"/>
                            </a:rPr>
                            <m:t>s</m:t>
                          </m:r>
                        </m:sub>
                      </m:sSub>
                      <m:r>
                        <a:rPr kumimoji="1" lang="en-US" altLang="zh-CN" i="1">
                          <a:solidFill>
                            <a:schemeClr val="accent5">
                              <a:lumMod val="75000"/>
                            </a:schemeClr>
                          </a:solidFill>
                          <a:latin typeface="Cambria Math" panose="02040503050406030204" pitchFamily="18" charset="0"/>
                          <a:ea typeface="Cambria Math" panose="02040503050406030204" pitchFamily="18" charset="0"/>
                        </a:rPr>
                        <m:t>∙</m:t>
                      </m:r>
                      <m:f>
                        <m:fPr>
                          <m:ctrlPr>
                            <a:rPr kumimoji="1" lang="en-US" altLang="zh-CN" i="1" smtClean="0">
                              <a:solidFill>
                                <a:schemeClr val="accent5">
                                  <a:lumMod val="75000"/>
                                </a:schemeClr>
                              </a:solidFill>
                              <a:latin typeface="Cambria Math" panose="02040503050406030204" pitchFamily="18" charset="0"/>
                              <a:ea typeface="Cambria Math" panose="02040503050406030204" pitchFamily="18" charset="0"/>
                            </a:rPr>
                          </m:ctrlPr>
                        </m:fPr>
                        <m:num>
                          <m:r>
                            <a:rPr kumimoji="1" lang="en-US" altLang="zh-CN" i="1">
                              <a:solidFill>
                                <a:schemeClr val="accent5">
                                  <a:lumMod val="75000"/>
                                </a:schemeClr>
                              </a:solidFill>
                              <a:latin typeface="Cambria Math" panose="02040503050406030204" pitchFamily="18" charset="0"/>
                              <a:ea typeface="Cambria Math" panose="02040503050406030204" pitchFamily="18" charset="0"/>
                            </a:rPr>
                            <m:t>𝑅</m:t>
                          </m:r>
                        </m:num>
                        <m:den>
                          <m:r>
                            <a:rPr kumimoji="1" lang="en-US" altLang="zh-CN" i="1">
                              <a:solidFill>
                                <a:schemeClr val="accent5">
                                  <a:lumMod val="75000"/>
                                </a:schemeClr>
                              </a:solidFill>
                              <a:latin typeface="Cambria Math" panose="02040503050406030204" pitchFamily="18" charset="0"/>
                              <a:ea typeface="微软雅黑" panose="020B0503020204020204" pitchFamily="34" charset="-122"/>
                            </a:rPr>
                            <m:t>𝑅</m:t>
                          </m:r>
                          <m:r>
                            <a:rPr kumimoji="1" lang="en-US" altLang="zh-CN" i="1">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i="1">
                                  <a:solidFill>
                                    <a:schemeClr val="accent5">
                                      <a:lumMod val="75000"/>
                                    </a:schemeClr>
                                  </a:solidFill>
                                  <a:latin typeface="Cambria Math" panose="02040503050406030204" pitchFamily="18" charset="0"/>
                                  <a:ea typeface="微软雅黑" panose="020B0503020204020204" pitchFamily="34" charset="-122"/>
                                </a:rPr>
                                <m:t>𝑟</m:t>
                              </m:r>
                            </m:e>
                            <m:sub>
                              <m:r>
                                <m:rPr>
                                  <m:sty m:val="p"/>
                                </m:rPr>
                                <a:rPr kumimoji="1" lang="en-US" altLang="zh-CN" b="0" i="0" smtClean="0">
                                  <a:solidFill>
                                    <a:schemeClr val="accent5">
                                      <a:lumMod val="75000"/>
                                    </a:schemeClr>
                                  </a:solidFill>
                                  <a:latin typeface="Cambria Math" panose="02040503050406030204" pitchFamily="18" charset="0"/>
                                  <a:ea typeface="微软雅黑" panose="020B0503020204020204" pitchFamily="34" charset="-122"/>
                                </a:rPr>
                                <m:t>d</m:t>
                              </m:r>
                            </m:sub>
                          </m:sSub>
                        </m:den>
                      </m:f>
                      <m:r>
                        <a:rPr kumimoji="1" lang="en-US" altLang="zh-CN" b="0" i="1" smtClean="0">
                          <a:solidFill>
                            <a:schemeClr val="accent5">
                              <a:lumMod val="75000"/>
                            </a:schemeClr>
                          </a:solidFill>
                          <a:latin typeface="Cambria Math" panose="02040503050406030204" pitchFamily="18" charset="0"/>
                          <a:ea typeface="微软雅黑" panose="020B0503020204020204" pitchFamily="34" charset="-122"/>
                        </a:rPr>
                        <m:t>=0. </m:t>
                      </m:r>
                      <m:r>
                        <a:rPr kumimoji="1" lang="en-US" altLang="zh-CN" b="0" i="0" smtClean="0">
                          <a:solidFill>
                            <a:schemeClr val="accent5">
                              <a:lumMod val="75000"/>
                            </a:schemeClr>
                          </a:solidFill>
                          <a:latin typeface="Cambria Math" panose="02040503050406030204" pitchFamily="18" charset="0"/>
                          <a:ea typeface="微软雅黑" panose="020B0503020204020204" pitchFamily="34" charset="-122"/>
                        </a:rPr>
                        <m:t>0994</m:t>
                      </m:r>
                      <m:func>
                        <m:funcPr>
                          <m:ctrlPr>
                            <a:rPr kumimoji="1" lang="en-US" altLang="zh-CN" i="1">
                              <a:solidFill>
                                <a:schemeClr val="accent5">
                                  <a:lumMod val="75000"/>
                                </a:schemeClr>
                              </a:solidFill>
                              <a:latin typeface="Cambria Math" panose="02040503050406030204" pitchFamily="18" charset="0"/>
                              <a:ea typeface="微软雅黑" panose="020B0503020204020204" pitchFamily="34" charset="-122"/>
                            </a:rPr>
                          </m:ctrlPr>
                        </m:funcPr>
                        <m:fName>
                          <m:r>
                            <m:rPr>
                              <m:sty m:val="p"/>
                            </m:rPr>
                            <a:rPr kumimoji="1" lang="en-US" altLang="zh-CN">
                              <a:solidFill>
                                <a:schemeClr val="accent5">
                                  <a:lumMod val="75000"/>
                                </a:schemeClr>
                              </a:solidFill>
                              <a:latin typeface="Cambria Math" panose="02040503050406030204" pitchFamily="18" charset="0"/>
                              <a:ea typeface="微软雅黑" panose="020B0503020204020204" pitchFamily="34" charset="-122"/>
                            </a:rPr>
                            <m:t>sin</m:t>
                          </m:r>
                        </m:fName>
                        <m:e>
                          <m:r>
                            <a:rPr kumimoji="1" lang="zh-CN" altLang="en-US" i="1">
                              <a:solidFill>
                                <a:schemeClr val="accent5">
                                  <a:lumMod val="75000"/>
                                </a:schemeClr>
                              </a:solidFill>
                              <a:latin typeface="Cambria Math" panose="02040503050406030204" pitchFamily="18" charset="0"/>
                              <a:ea typeface="微软雅黑" panose="020B0503020204020204" pitchFamily="34" charset="-122"/>
                            </a:rPr>
                            <m:t>𝜔</m:t>
                          </m:r>
                          <m:r>
                            <a:rPr kumimoji="1" lang="en-US" altLang="zh-CN" i="1">
                              <a:solidFill>
                                <a:schemeClr val="accent5">
                                  <a:lumMod val="75000"/>
                                </a:schemeClr>
                              </a:solidFill>
                              <a:latin typeface="Cambria Math" panose="02040503050406030204" pitchFamily="18" charset="0"/>
                              <a:ea typeface="微软雅黑" panose="020B0503020204020204" pitchFamily="34" charset="-122"/>
                            </a:rPr>
                            <m:t>𝑡</m:t>
                          </m:r>
                        </m:e>
                      </m:func>
                      <m:r>
                        <a:rPr kumimoji="1" lang="en-US" altLang="zh-CN" b="0" i="0" smtClean="0">
                          <a:solidFill>
                            <a:schemeClr val="accent5">
                              <a:lumMod val="75000"/>
                            </a:schemeClr>
                          </a:solidFill>
                          <a:latin typeface="Cambria Math" panose="02040503050406030204" pitchFamily="18" charset="0"/>
                          <a:ea typeface="微软雅黑" panose="020B0503020204020204" pitchFamily="34" charset="-122"/>
                        </a:rPr>
                        <m:t> </m:t>
                      </m:r>
                      <m:r>
                        <m:rPr>
                          <m:sty m:val="p"/>
                        </m:rPr>
                        <a:rPr kumimoji="1" lang="en-US" altLang="zh-CN" b="0" i="0" smtClean="0">
                          <a:solidFill>
                            <a:schemeClr val="accent5">
                              <a:lumMod val="75000"/>
                            </a:schemeClr>
                          </a:solidFill>
                          <a:latin typeface="Cambria Math" panose="02040503050406030204" pitchFamily="18" charset="0"/>
                          <a:ea typeface="微软雅黑" panose="020B0503020204020204" pitchFamily="34" charset="-122"/>
                        </a:rPr>
                        <m:t>V</m:t>
                      </m:r>
                    </m:oMath>
                  </m:oMathPara>
                </a14:m>
                <a:endParaRPr lang="zh-CN" altLang="en-US" dirty="0">
                  <a:solidFill>
                    <a:schemeClr val="accent5">
                      <a:lumMod val="75000"/>
                    </a:schemeClr>
                  </a:solidFill>
                </a:endParaRPr>
              </a:p>
            </p:txBody>
          </p:sp>
        </mc:Choice>
        <mc:Fallback xmlns="">
          <p:sp>
            <p:nvSpPr>
              <p:cNvPr id="162" name="文本框 161">
                <a:extLst>
                  <a:ext uri="{FF2B5EF4-FFF2-40B4-BE49-F238E27FC236}">
                    <a16:creationId xmlns:a16="http://schemas.microsoft.com/office/drawing/2014/main" id="{42205E83-B1A6-C493-A1FB-D46EAC124BD9}"/>
                  </a:ext>
                </a:extLst>
              </p:cNvPr>
              <p:cNvSpPr txBox="1">
                <a:spLocks noRot="1" noChangeAspect="1" noMove="1" noResize="1" noEditPoints="1" noAdjustHandles="1" noChangeArrowheads="1" noChangeShapeType="1" noTextEdit="1"/>
              </p:cNvSpPr>
              <p:nvPr/>
            </p:nvSpPr>
            <p:spPr>
              <a:xfrm>
                <a:off x="3168000" y="4968000"/>
                <a:ext cx="3869421" cy="1729769"/>
              </a:xfrm>
              <a:prstGeom prst="rect">
                <a:avLst/>
              </a:prstGeom>
              <a:blipFill>
                <a:blip r:embed="rId20"/>
                <a:stretch>
                  <a:fillRect l="-1420" t="-21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5" name="文本框 164">
                <a:extLst>
                  <a:ext uri="{FF2B5EF4-FFF2-40B4-BE49-F238E27FC236}">
                    <a16:creationId xmlns:a16="http://schemas.microsoft.com/office/drawing/2014/main" id="{79BD1356-E8B1-F9CB-7DFC-6856716F4F95}"/>
                  </a:ext>
                </a:extLst>
              </p:cNvPr>
              <p:cNvSpPr txBox="1"/>
              <p:nvPr/>
            </p:nvSpPr>
            <p:spPr>
              <a:xfrm>
                <a:off x="7560000" y="3059999"/>
                <a:ext cx="3600000" cy="79200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sSub>
                        <m:sSubPr>
                          <m:ctrlPr>
                            <a:rPr kumimoji="1" lang="en-US" altLang="zh-CN" sz="2200" i="1" smtClean="0">
                              <a:solidFill>
                                <a:srgbClr val="0000FF"/>
                              </a:solidFill>
                              <a:latin typeface="Cambria Math" panose="02040503050406030204" pitchFamily="18" charset="0"/>
                              <a:ea typeface="微软雅黑" panose="020B0503020204020204" pitchFamily="34" charset="-122"/>
                            </a:rPr>
                          </m:ctrlPr>
                        </m:sSubPr>
                        <m:e>
                          <m:r>
                            <a:rPr kumimoji="1" lang="en-US" altLang="zh-CN" sz="2200" b="0" i="1" smtClean="0">
                              <a:solidFill>
                                <a:srgbClr val="0000FF"/>
                              </a:solidFill>
                              <a:latin typeface="Cambria Math" panose="02040503050406030204" pitchFamily="18" charset="0"/>
                              <a:ea typeface="微软雅黑" panose="020B0503020204020204" pitchFamily="34" charset="-122"/>
                            </a:rPr>
                            <m:t>𝑣</m:t>
                          </m:r>
                        </m:e>
                        <m:sub>
                          <m:r>
                            <m:rPr>
                              <m:sty m:val="p"/>
                            </m:rPr>
                            <a:rPr kumimoji="1" lang="en-US" altLang="zh-CN" sz="2200" b="0" i="0" smtClean="0">
                              <a:solidFill>
                                <a:srgbClr val="0000FF"/>
                              </a:solidFill>
                              <a:latin typeface="Cambria Math" panose="02040503050406030204" pitchFamily="18" charset="0"/>
                              <a:ea typeface="微软雅黑" panose="020B0503020204020204" pitchFamily="34" charset="-122"/>
                            </a:rPr>
                            <m:t>O</m:t>
                          </m:r>
                        </m:sub>
                      </m:sSub>
                      <m:r>
                        <a:rPr kumimoji="1" lang="en-US" altLang="zh-CN" sz="2200" i="1">
                          <a:solidFill>
                            <a:srgbClr val="0000FF"/>
                          </a:solidFill>
                          <a:latin typeface="Cambria Math" panose="02040503050406030204" pitchFamily="18" charset="0"/>
                          <a:ea typeface="微软雅黑" panose="020B0503020204020204" pitchFamily="34" charset="-122"/>
                        </a:rPr>
                        <m:t>=</m:t>
                      </m:r>
                      <m:sSub>
                        <m:sSubPr>
                          <m:ctrlPr>
                            <a:rPr kumimoji="1" lang="en-US" altLang="zh-CN" sz="2200" i="1">
                              <a:solidFill>
                                <a:srgbClr val="0000FF"/>
                              </a:solidFill>
                              <a:latin typeface="Cambria Math" panose="02040503050406030204" pitchFamily="18" charset="0"/>
                              <a:ea typeface="微软雅黑" panose="020B0503020204020204" pitchFamily="34" charset="-122"/>
                            </a:rPr>
                          </m:ctrlPr>
                        </m:sSubPr>
                        <m:e>
                          <m:r>
                            <a:rPr kumimoji="1" lang="en-US" altLang="zh-CN" sz="2200" b="0" i="1" smtClean="0">
                              <a:solidFill>
                                <a:srgbClr val="0000FF"/>
                              </a:solidFill>
                              <a:latin typeface="Cambria Math" panose="02040503050406030204" pitchFamily="18" charset="0"/>
                              <a:ea typeface="微软雅黑" panose="020B0503020204020204" pitchFamily="34" charset="-122"/>
                            </a:rPr>
                            <m:t>𝑉</m:t>
                          </m:r>
                        </m:e>
                        <m:sub>
                          <m:r>
                            <m:rPr>
                              <m:sty m:val="p"/>
                            </m:rPr>
                            <a:rPr kumimoji="1" lang="en-US" altLang="zh-CN" sz="2200" b="0" i="0" smtClean="0">
                              <a:solidFill>
                                <a:srgbClr val="0000FF"/>
                              </a:solidFill>
                              <a:latin typeface="Cambria Math" panose="02040503050406030204" pitchFamily="18" charset="0"/>
                              <a:ea typeface="微软雅黑" panose="020B0503020204020204" pitchFamily="34" charset="-122"/>
                            </a:rPr>
                            <m:t>O</m:t>
                          </m:r>
                        </m:sub>
                      </m:sSub>
                      <m:r>
                        <a:rPr kumimoji="1" lang="en-US" altLang="zh-CN" sz="2200" b="0" i="1" smtClean="0">
                          <a:solidFill>
                            <a:srgbClr val="0000FF"/>
                          </a:solidFill>
                          <a:latin typeface="Cambria Math" panose="02040503050406030204" pitchFamily="18" charset="0"/>
                          <a:ea typeface="微软雅黑" panose="020B0503020204020204" pitchFamily="34" charset="-122"/>
                        </a:rPr>
                        <m:t>+</m:t>
                      </m:r>
                      <m:sSub>
                        <m:sSubPr>
                          <m:ctrlPr>
                            <a:rPr kumimoji="1" lang="en-US" altLang="zh-CN" sz="2200" i="1">
                              <a:solidFill>
                                <a:srgbClr val="0000FF"/>
                              </a:solidFill>
                              <a:latin typeface="Cambria Math" panose="02040503050406030204" pitchFamily="18" charset="0"/>
                              <a:ea typeface="微软雅黑" panose="020B0503020204020204" pitchFamily="34" charset="-122"/>
                            </a:rPr>
                          </m:ctrlPr>
                        </m:sSubPr>
                        <m:e>
                          <m:r>
                            <a:rPr kumimoji="1" lang="en-US" altLang="zh-CN" sz="2200" i="1">
                              <a:solidFill>
                                <a:srgbClr val="0000FF"/>
                              </a:solidFill>
                              <a:latin typeface="Cambria Math" panose="02040503050406030204" pitchFamily="18" charset="0"/>
                              <a:ea typeface="微软雅黑" panose="020B0503020204020204" pitchFamily="34" charset="-122"/>
                            </a:rPr>
                            <m:t>𝑣</m:t>
                          </m:r>
                        </m:e>
                        <m:sub>
                          <m:r>
                            <m:rPr>
                              <m:sty m:val="p"/>
                            </m:rPr>
                            <a:rPr kumimoji="1" lang="en-US" altLang="zh-CN" sz="2200" b="0" i="0" smtClean="0">
                              <a:solidFill>
                                <a:srgbClr val="0000FF"/>
                              </a:solidFill>
                              <a:latin typeface="Cambria Math" panose="02040503050406030204" pitchFamily="18" charset="0"/>
                              <a:ea typeface="微软雅黑" panose="020B0503020204020204" pitchFamily="34" charset="-122"/>
                            </a:rPr>
                            <m:t>so</m:t>
                          </m:r>
                        </m:sub>
                      </m:sSub>
                    </m:oMath>
                  </m:oMathPara>
                </a14:m>
                <a:endParaRPr kumimoji="1" lang="en-US" altLang="zh-CN" sz="2200" b="0" i="1" dirty="0">
                  <a:solidFill>
                    <a:srgbClr val="0000FF"/>
                  </a:solidFill>
                  <a:latin typeface="Cambria Math" panose="02040503050406030204" pitchFamily="18" charset="0"/>
                  <a:ea typeface="微软雅黑" panose="020B0503020204020204" pitchFamily="34" charset="-122"/>
                </a:endParaRPr>
              </a:p>
              <a:p>
                <a:pPr/>
                <a14:m>
                  <m:oMathPara xmlns:m="http://schemas.openxmlformats.org/officeDocument/2006/math">
                    <m:oMathParaPr>
                      <m:jc m:val="left"/>
                    </m:oMathParaPr>
                    <m:oMath xmlns:m="http://schemas.openxmlformats.org/officeDocument/2006/math">
                      <m:sSub>
                        <m:sSubPr>
                          <m:ctrlPr>
                            <a:rPr kumimoji="1" lang="en-US" altLang="zh-CN" sz="2200" i="1" smtClean="0">
                              <a:solidFill>
                                <a:schemeClr val="bg1"/>
                              </a:solidFill>
                              <a:latin typeface="Cambria Math" panose="02040503050406030204" pitchFamily="18" charset="0"/>
                              <a:ea typeface="微软雅黑" panose="020B0503020204020204" pitchFamily="34" charset="-122"/>
                            </a:rPr>
                          </m:ctrlPr>
                        </m:sSubPr>
                        <m:e>
                          <m:r>
                            <a:rPr kumimoji="1" lang="en-US" altLang="zh-CN" sz="2200" i="1">
                              <a:solidFill>
                                <a:schemeClr val="bg1"/>
                              </a:solidFill>
                              <a:latin typeface="Cambria Math" panose="02040503050406030204" pitchFamily="18" charset="0"/>
                              <a:ea typeface="微软雅黑" panose="020B0503020204020204" pitchFamily="34" charset="-122"/>
                            </a:rPr>
                            <m:t>𝑣</m:t>
                          </m:r>
                        </m:e>
                        <m:sub>
                          <m:r>
                            <m:rPr>
                              <m:sty m:val="p"/>
                            </m:rPr>
                            <a:rPr kumimoji="1" lang="en-US" altLang="zh-CN" sz="2200">
                              <a:solidFill>
                                <a:schemeClr val="bg1"/>
                              </a:solidFill>
                              <a:latin typeface="Cambria Math" panose="02040503050406030204" pitchFamily="18" charset="0"/>
                              <a:ea typeface="微软雅黑" panose="020B0503020204020204" pitchFamily="34" charset="-122"/>
                            </a:rPr>
                            <m:t>O</m:t>
                          </m:r>
                        </m:sub>
                      </m:sSub>
                      <m:r>
                        <a:rPr kumimoji="1" lang="en-US" altLang="zh-CN" sz="2200" b="0" i="0" smtClean="0">
                          <a:solidFill>
                            <a:srgbClr val="0000FF"/>
                          </a:solidFill>
                          <a:latin typeface="Cambria Math" panose="02040503050406030204" pitchFamily="18" charset="0"/>
                          <a:ea typeface="微软雅黑" panose="020B0503020204020204" pitchFamily="34" charset="-122"/>
                        </a:rPr>
                        <m:t>=4.3+0.0994</m:t>
                      </m:r>
                      <m:func>
                        <m:funcPr>
                          <m:ctrlPr>
                            <a:rPr kumimoji="1" lang="en-US" altLang="zh-CN" sz="2200" i="1">
                              <a:solidFill>
                                <a:srgbClr val="0000FF"/>
                              </a:solidFill>
                              <a:latin typeface="Cambria Math" panose="02040503050406030204" pitchFamily="18" charset="0"/>
                              <a:ea typeface="微软雅黑" panose="020B0503020204020204" pitchFamily="34" charset="-122"/>
                            </a:rPr>
                          </m:ctrlPr>
                        </m:funcPr>
                        <m:fName>
                          <m:r>
                            <m:rPr>
                              <m:sty m:val="p"/>
                            </m:rPr>
                            <a:rPr kumimoji="1" lang="en-US" altLang="zh-CN" sz="2200">
                              <a:solidFill>
                                <a:srgbClr val="0000FF"/>
                              </a:solidFill>
                              <a:latin typeface="Cambria Math" panose="02040503050406030204" pitchFamily="18" charset="0"/>
                              <a:ea typeface="微软雅黑" panose="020B0503020204020204" pitchFamily="34" charset="-122"/>
                            </a:rPr>
                            <m:t>sin</m:t>
                          </m:r>
                        </m:fName>
                        <m:e>
                          <m:r>
                            <a:rPr kumimoji="1" lang="zh-CN" altLang="en-US" sz="2200" i="1">
                              <a:solidFill>
                                <a:srgbClr val="0000FF"/>
                              </a:solidFill>
                              <a:latin typeface="Cambria Math" panose="02040503050406030204" pitchFamily="18" charset="0"/>
                              <a:ea typeface="微软雅黑" panose="020B0503020204020204" pitchFamily="34" charset="-122"/>
                            </a:rPr>
                            <m:t>𝜔</m:t>
                          </m:r>
                          <m:r>
                            <a:rPr kumimoji="1" lang="en-US" altLang="zh-CN" sz="2200" i="1">
                              <a:solidFill>
                                <a:srgbClr val="0000FF"/>
                              </a:solidFill>
                              <a:latin typeface="Cambria Math" panose="02040503050406030204" pitchFamily="18" charset="0"/>
                              <a:ea typeface="微软雅黑" panose="020B0503020204020204" pitchFamily="34" charset="-122"/>
                            </a:rPr>
                            <m:t>𝑡</m:t>
                          </m:r>
                        </m:e>
                      </m:func>
                      <m:r>
                        <a:rPr kumimoji="1" lang="en-US" altLang="zh-CN" sz="2200" b="0" i="1" smtClean="0">
                          <a:solidFill>
                            <a:srgbClr val="0000FF"/>
                          </a:solidFill>
                          <a:latin typeface="Cambria Math" panose="02040503050406030204" pitchFamily="18" charset="0"/>
                          <a:ea typeface="微软雅黑" panose="020B0503020204020204" pitchFamily="34" charset="-122"/>
                        </a:rPr>
                        <m:t> </m:t>
                      </m:r>
                      <m:r>
                        <m:rPr>
                          <m:sty m:val="p"/>
                        </m:rPr>
                        <a:rPr kumimoji="1" lang="en-US" altLang="zh-CN" sz="2200" b="0" i="0" smtClean="0">
                          <a:solidFill>
                            <a:srgbClr val="0000FF"/>
                          </a:solidFill>
                          <a:latin typeface="Cambria Math" panose="02040503050406030204" pitchFamily="18" charset="0"/>
                          <a:ea typeface="微软雅黑" panose="020B0503020204020204" pitchFamily="34" charset="-122"/>
                        </a:rPr>
                        <m:t>V</m:t>
                      </m:r>
                    </m:oMath>
                  </m:oMathPara>
                </a14:m>
                <a:endParaRPr lang="en-US" altLang="zh-CN" sz="2200" dirty="0">
                  <a:solidFill>
                    <a:srgbClr val="0000FF"/>
                  </a:solidFill>
                  <a:latin typeface="微软雅黑" panose="020B0503020204020204" pitchFamily="34" charset="-122"/>
                  <a:ea typeface="微软雅黑" panose="020B0503020204020204" pitchFamily="34" charset="-122"/>
                </a:endParaRPr>
              </a:p>
            </p:txBody>
          </p:sp>
        </mc:Choice>
        <mc:Fallback xmlns="">
          <p:sp>
            <p:nvSpPr>
              <p:cNvPr id="165" name="文本框 164">
                <a:extLst>
                  <a:ext uri="{FF2B5EF4-FFF2-40B4-BE49-F238E27FC236}">
                    <a16:creationId xmlns:a16="http://schemas.microsoft.com/office/drawing/2014/main" id="{79BD1356-E8B1-F9CB-7DFC-6856716F4F95}"/>
                  </a:ext>
                </a:extLst>
              </p:cNvPr>
              <p:cNvSpPr txBox="1">
                <a:spLocks noRot="1" noChangeAspect="1" noMove="1" noResize="1" noEditPoints="1" noAdjustHandles="1" noChangeArrowheads="1" noChangeShapeType="1" noTextEdit="1"/>
              </p:cNvSpPr>
              <p:nvPr/>
            </p:nvSpPr>
            <p:spPr>
              <a:xfrm>
                <a:off x="7560000" y="3059999"/>
                <a:ext cx="3600000" cy="792000"/>
              </a:xfrm>
              <a:prstGeom prst="rect">
                <a:avLst/>
              </a:prstGeom>
              <a:blipFill>
                <a:blip r:embed="rId21"/>
                <a:stretch>
                  <a:fillRect/>
                </a:stretch>
              </a:blipFill>
            </p:spPr>
            <p:txBody>
              <a:bodyPr/>
              <a:lstStyle/>
              <a:p>
                <a:r>
                  <a:rPr lang="zh-CN" altLang="en-US">
                    <a:noFill/>
                  </a:rPr>
                  <a:t> </a:t>
                </a:r>
              </a:p>
            </p:txBody>
          </p:sp>
        </mc:Fallback>
      </mc:AlternateContent>
      <p:sp>
        <p:nvSpPr>
          <p:cNvPr id="166" name="右大括号 165">
            <a:extLst>
              <a:ext uri="{FF2B5EF4-FFF2-40B4-BE49-F238E27FC236}">
                <a16:creationId xmlns:a16="http://schemas.microsoft.com/office/drawing/2014/main" id="{6225CA3D-9DF5-6C47-A36B-42B89C87516F}"/>
              </a:ext>
            </a:extLst>
          </p:cNvPr>
          <p:cNvSpPr/>
          <p:nvPr/>
        </p:nvSpPr>
        <p:spPr>
          <a:xfrm>
            <a:off x="7092000" y="3599999"/>
            <a:ext cx="250054" cy="2016000"/>
          </a:xfrm>
          <a:prstGeom prst="rightBrace">
            <a:avLst>
              <a:gd name="adj1" fmla="val 86914"/>
              <a:gd name="adj2" fmla="val 50000"/>
            </a:avLst>
          </a:prstGeom>
          <a:ln w="254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167" name="对象 166">
            <a:extLst>
              <a:ext uri="{FF2B5EF4-FFF2-40B4-BE49-F238E27FC236}">
                <a16:creationId xmlns:a16="http://schemas.microsoft.com/office/drawing/2014/main" id="{1E156325-95B0-176F-55CF-3928B24E073F}"/>
              </a:ext>
            </a:extLst>
          </p:cNvPr>
          <p:cNvGraphicFramePr>
            <a:graphicFrameLocks/>
          </p:cNvGraphicFramePr>
          <p:nvPr>
            <p:extLst>
              <p:ext uri="{D42A27DB-BD31-4B8C-83A1-F6EECF244321}">
                <p14:modId xmlns:p14="http://schemas.microsoft.com/office/powerpoint/2010/main" val="812488889"/>
              </p:ext>
            </p:extLst>
          </p:nvPr>
        </p:nvGraphicFramePr>
        <p:xfrm>
          <a:off x="7380000" y="3852000"/>
          <a:ext cx="4174895" cy="2520000"/>
        </p:xfrm>
        <a:graphic>
          <a:graphicData uri="http://schemas.openxmlformats.org/presentationml/2006/ole">
            <mc:AlternateContent xmlns:mc="http://schemas.openxmlformats.org/markup-compatibility/2006">
              <mc:Choice xmlns:v="urn:schemas-microsoft-com:vml" Requires="v">
                <p:oleObj name="Picture" r:id="rId22" imgW="2077212" imgH="1257300" progId="Word.Picture.8">
                  <p:embed/>
                </p:oleObj>
              </mc:Choice>
              <mc:Fallback>
                <p:oleObj name="Picture" r:id="rId22" imgW="2077212" imgH="1257300" progId="Word.Picture.8">
                  <p:embed/>
                  <p:pic>
                    <p:nvPicPr>
                      <p:cNvPr id="11" name="对象 10">
                        <a:extLst>
                          <a:ext uri="{FF2B5EF4-FFF2-40B4-BE49-F238E27FC236}">
                            <a16:creationId xmlns:a16="http://schemas.microsoft.com/office/drawing/2014/main" id="{07319547-5BA9-88E0-BF77-4E17A2719870}"/>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380000" y="3852000"/>
                        <a:ext cx="4174895" cy="2520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oleObj>
              </mc:Fallback>
            </mc:AlternateContent>
          </a:graphicData>
        </a:graphic>
      </p:graphicFrame>
      <p:grpSp>
        <p:nvGrpSpPr>
          <p:cNvPr id="168" name="组合 167">
            <a:extLst>
              <a:ext uri="{FF2B5EF4-FFF2-40B4-BE49-F238E27FC236}">
                <a16:creationId xmlns:a16="http://schemas.microsoft.com/office/drawing/2014/main" id="{569D48EF-FD3D-134C-DA2A-80BDC1781B6A}"/>
              </a:ext>
            </a:extLst>
          </p:cNvPr>
          <p:cNvGrpSpPr/>
          <p:nvPr/>
        </p:nvGrpSpPr>
        <p:grpSpPr>
          <a:xfrm>
            <a:off x="11449269" y="6198682"/>
            <a:ext cx="786273" cy="548639"/>
            <a:chOff x="11454918" y="5839511"/>
            <a:chExt cx="786273" cy="548639"/>
          </a:xfrm>
        </p:grpSpPr>
        <p:grpSp>
          <p:nvGrpSpPr>
            <p:cNvPr id="171" name="组合 170">
              <a:extLst>
                <a:ext uri="{FF2B5EF4-FFF2-40B4-BE49-F238E27FC236}">
                  <a16:creationId xmlns:a16="http://schemas.microsoft.com/office/drawing/2014/main" id="{CAA38892-0206-0FD4-F054-6A030DEC8DF4}"/>
                </a:ext>
              </a:extLst>
            </p:cNvPr>
            <p:cNvGrpSpPr/>
            <p:nvPr/>
          </p:nvGrpSpPr>
          <p:grpSpPr>
            <a:xfrm>
              <a:off x="11454918" y="5867450"/>
              <a:ext cx="737081" cy="520700"/>
              <a:chOff x="11454918" y="5867450"/>
              <a:chExt cx="737081" cy="520700"/>
            </a:xfrm>
          </p:grpSpPr>
          <p:sp>
            <p:nvSpPr>
              <p:cNvPr id="181" name="箭头: 五边形 180">
                <a:extLst>
                  <a:ext uri="{FF2B5EF4-FFF2-40B4-BE49-F238E27FC236}">
                    <a16:creationId xmlns:a16="http://schemas.microsoft.com/office/drawing/2014/main" id="{F2C66917-936D-04CE-A406-4ADDC2511012}"/>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2" name="箭头: V 形 181">
                <a:extLst>
                  <a:ext uri="{FF2B5EF4-FFF2-40B4-BE49-F238E27FC236}">
                    <a16:creationId xmlns:a16="http://schemas.microsoft.com/office/drawing/2014/main" id="{76627408-351D-AC5B-B96A-576F5DFA0161}"/>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73" name="灯片编号占位符 3">
              <a:extLst>
                <a:ext uri="{FF2B5EF4-FFF2-40B4-BE49-F238E27FC236}">
                  <a16:creationId xmlns:a16="http://schemas.microsoft.com/office/drawing/2014/main" id="{95079824-5B5A-49A4-FB0E-983EFF1781C7}"/>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21</a:t>
              </a:fld>
              <a:endParaRPr lang="zh-CN" altLang="en-US" sz="3200" dirty="0">
                <a:solidFill>
                  <a:schemeClr val="bg1"/>
                </a:solidFill>
                <a:latin typeface="Candara"/>
                <a:ea typeface="微软雅黑"/>
              </a:endParaRPr>
            </a:p>
          </p:txBody>
        </p:sp>
      </p:grpSp>
      <p:sp>
        <p:nvSpPr>
          <p:cNvPr id="4" name="标题 1">
            <a:extLst>
              <a:ext uri="{FF2B5EF4-FFF2-40B4-BE49-F238E27FC236}">
                <a16:creationId xmlns:a16="http://schemas.microsoft.com/office/drawing/2014/main" id="{831EE266-68FC-1B70-ACD6-1B4CB29C8F7A}"/>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二极管及其应用 </a:t>
            </a:r>
            <a:r>
              <a:rPr lang="en-US" altLang="zh-CN" sz="3000" dirty="0"/>
              <a:t>—— </a:t>
            </a:r>
            <a:r>
              <a:rPr lang="zh-CN" altLang="en-US" sz="3000" dirty="0">
                <a:solidFill>
                  <a:srgbClr val="FFFF00"/>
                </a:solidFill>
              </a:rPr>
              <a:t>计算示例</a:t>
            </a:r>
            <a:endParaRPr lang="en-US" altLang="zh-CN" sz="3000" dirty="0"/>
          </a:p>
        </p:txBody>
      </p:sp>
      <p:grpSp>
        <p:nvGrpSpPr>
          <p:cNvPr id="86" name="组合 85">
            <a:extLst>
              <a:ext uri="{FF2B5EF4-FFF2-40B4-BE49-F238E27FC236}">
                <a16:creationId xmlns:a16="http://schemas.microsoft.com/office/drawing/2014/main" id="{F7E8BE30-5F17-F821-D5CD-E69E35EC1B26}"/>
              </a:ext>
            </a:extLst>
          </p:cNvPr>
          <p:cNvGrpSpPr/>
          <p:nvPr/>
        </p:nvGrpSpPr>
        <p:grpSpPr>
          <a:xfrm>
            <a:off x="360000" y="4932000"/>
            <a:ext cx="2736000" cy="1584000"/>
            <a:chOff x="360000" y="4932000"/>
            <a:chExt cx="2736000" cy="1584000"/>
          </a:xfrm>
        </p:grpSpPr>
        <p:cxnSp>
          <p:nvCxnSpPr>
            <p:cNvPr id="22" name="直接连接符 21">
              <a:extLst>
                <a:ext uri="{FF2B5EF4-FFF2-40B4-BE49-F238E27FC236}">
                  <a16:creationId xmlns:a16="http://schemas.microsoft.com/office/drawing/2014/main" id="{4F802362-C653-17FD-5AA9-44CD2ED98164}"/>
                </a:ext>
              </a:extLst>
            </p:cNvPr>
            <p:cNvCxnSpPr>
              <a:cxnSpLocks/>
            </p:cNvCxnSpPr>
            <p:nvPr/>
          </p:nvCxnSpPr>
          <p:spPr>
            <a:xfrm flipH="1">
              <a:off x="575999" y="5004000"/>
              <a:ext cx="226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19AD49E1-C953-160A-D4CD-98948076DBEE}"/>
                </a:ext>
              </a:extLst>
            </p:cNvPr>
            <p:cNvCxnSpPr>
              <a:cxnSpLocks/>
            </p:cNvCxnSpPr>
            <p:nvPr/>
          </p:nvCxnSpPr>
          <p:spPr>
            <a:xfrm>
              <a:off x="2376001" y="5004000"/>
              <a:ext cx="0" cy="1432981"/>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矩形 31">
              <a:extLst>
                <a:ext uri="{FF2B5EF4-FFF2-40B4-BE49-F238E27FC236}">
                  <a16:creationId xmlns:a16="http://schemas.microsoft.com/office/drawing/2014/main" id="{9BFC8C3C-2B1B-EF90-1A8B-CA09F6C1ADB1}"/>
                </a:ext>
              </a:extLst>
            </p:cNvPr>
            <p:cNvSpPr/>
            <p:nvPr/>
          </p:nvSpPr>
          <p:spPr>
            <a:xfrm>
              <a:off x="2304000" y="5472000"/>
              <a:ext cx="144000" cy="504000"/>
            </a:xfrm>
            <a:prstGeom prst="rect">
              <a:avLst/>
            </a:prstGeom>
            <a:solidFill>
              <a:schemeClr val="bg1">
                <a:alpha val="99000"/>
              </a:schemeClr>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33" name="直接连接符 32">
              <a:extLst>
                <a:ext uri="{FF2B5EF4-FFF2-40B4-BE49-F238E27FC236}">
                  <a16:creationId xmlns:a16="http://schemas.microsoft.com/office/drawing/2014/main" id="{1534EC73-6B4D-5921-FC98-8167BC8F5ABB}"/>
                </a:ext>
              </a:extLst>
            </p:cNvPr>
            <p:cNvCxnSpPr>
              <a:cxnSpLocks/>
            </p:cNvCxnSpPr>
            <p:nvPr/>
          </p:nvCxnSpPr>
          <p:spPr>
            <a:xfrm>
              <a:off x="576001" y="5004000"/>
              <a:ext cx="0" cy="144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0022DB2D-356C-C5DF-FFE6-A5F9ADE586B4}"/>
                </a:ext>
              </a:extLst>
            </p:cNvPr>
            <p:cNvCxnSpPr>
              <a:cxnSpLocks/>
            </p:cNvCxnSpPr>
            <p:nvPr/>
          </p:nvCxnSpPr>
          <p:spPr>
            <a:xfrm flipH="1">
              <a:off x="576000" y="6444000"/>
              <a:ext cx="2234164"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椭圆 39">
              <a:extLst>
                <a:ext uri="{FF2B5EF4-FFF2-40B4-BE49-F238E27FC236}">
                  <a16:creationId xmlns:a16="http://schemas.microsoft.com/office/drawing/2014/main" id="{3C1109D3-5D47-EDC3-AE8C-3EFC60D10EEA}"/>
                </a:ext>
              </a:extLst>
            </p:cNvPr>
            <p:cNvSpPr/>
            <p:nvPr/>
          </p:nvSpPr>
          <p:spPr>
            <a:xfrm>
              <a:off x="2304000" y="4932000"/>
              <a:ext cx="144000" cy="144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42" name="Rectangle 8">
                  <a:extLst>
                    <a:ext uri="{FF2B5EF4-FFF2-40B4-BE49-F238E27FC236}">
                      <a16:creationId xmlns:a16="http://schemas.microsoft.com/office/drawing/2014/main" id="{8371E056-675C-8732-624E-C27BAD6CACAE}"/>
                    </a:ext>
                  </a:extLst>
                </p:cNvPr>
                <p:cNvSpPr>
                  <a:spLocks noChangeArrowheads="1"/>
                </p:cNvSpPr>
                <p:nvPr/>
              </p:nvSpPr>
              <p:spPr bwMode="auto">
                <a:xfrm>
                  <a:off x="2016001" y="5508000"/>
                  <a:ext cx="358524" cy="36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𝑅</m:t>
                        </m:r>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42" name="Rectangle 8">
                  <a:extLst>
                    <a:ext uri="{FF2B5EF4-FFF2-40B4-BE49-F238E27FC236}">
                      <a16:creationId xmlns:a16="http://schemas.microsoft.com/office/drawing/2014/main" id="{8371E056-675C-8732-624E-C27BAD6CACAE}"/>
                    </a:ext>
                  </a:extLst>
                </p:cNvPr>
                <p:cNvSpPr>
                  <a:spLocks noRot="1" noChangeAspect="1" noMove="1" noResize="1" noEditPoints="1" noAdjustHandles="1" noChangeArrowheads="1" noChangeShapeType="1" noTextEdit="1"/>
                </p:cNvSpPr>
                <p:nvPr/>
              </p:nvSpPr>
              <p:spPr bwMode="auto">
                <a:xfrm>
                  <a:off x="2016001" y="5508000"/>
                  <a:ext cx="358524" cy="360000"/>
                </a:xfrm>
                <a:prstGeom prst="rect">
                  <a:avLst/>
                </a:prstGeom>
                <a:blipFill>
                  <a:blip r:embed="rId24"/>
                  <a:stretch>
                    <a:fillRect l="-10169" b="-508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43" name="椭圆 42">
              <a:extLst>
                <a:ext uri="{FF2B5EF4-FFF2-40B4-BE49-F238E27FC236}">
                  <a16:creationId xmlns:a16="http://schemas.microsoft.com/office/drawing/2014/main" id="{96103894-CA36-D1E6-2936-04E8402B49A1}"/>
                </a:ext>
              </a:extLst>
            </p:cNvPr>
            <p:cNvSpPr/>
            <p:nvPr/>
          </p:nvSpPr>
          <p:spPr>
            <a:xfrm>
              <a:off x="2304000" y="6372000"/>
              <a:ext cx="144000" cy="144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46" name="Rectangle 8">
                  <a:extLst>
                    <a:ext uri="{FF2B5EF4-FFF2-40B4-BE49-F238E27FC236}">
                      <a16:creationId xmlns:a16="http://schemas.microsoft.com/office/drawing/2014/main" id="{B20AF457-4067-65EA-8A3D-B6C0EA5F6E59}"/>
                    </a:ext>
                  </a:extLst>
                </p:cNvPr>
                <p:cNvSpPr>
                  <a:spLocks noChangeArrowheads="1"/>
                </p:cNvSpPr>
                <p:nvPr/>
              </p:nvSpPr>
              <p:spPr bwMode="auto">
                <a:xfrm>
                  <a:off x="2664000" y="5112000"/>
                  <a:ext cx="432000" cy="115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1200"/>
                    </a:spcAft>
                    <a:buNone/>
                  </a:pPr>
                  <a14:m>
                    <m:oMathPara xmlns:m="http://schemas.openxmlformats.org/officeDocument/2006/math">
                      <m:oMathParaPr>
                        <m:jc m:val="centerGroup"/>
                      </m:oMathParaPr>
                      <m:oMath xmlns:m="http://schemas.openxmlformats.org/officeDocument/2006/math">
                        <m:r>
                          <a:rPr kumimoji="1" lang="pt-BR" altLang="zh-CN" sz="2000" b="0" i="1" smtClean="0">
                            <a:latin typeface="Cambria Math" panose="02040503050406030204" pitchFamily="18" charset="0"/>
                            <a:ea typeface="微软雅黑" panose="020B0503020204020204" pitchFamily="34" charset="-122"/>
                          </a:rPr>
                          <m:t>+</m:t>
                        </m:r>
                      </m:oMath>
                    </m:oMathPara>
                  </a14:m>
                  <a:endParaRPr kumimoji="1" lang="en-US" altLang="zh-CN" sz="2000" b="0" dirty="0">
                    <a:latin typeface="微软雅黑" panose="020B0503020204020204" pitchFamily="34" charset="-122"/>
                    <a:ea typeface="微软雅黑" panose="020B0503020204020204" pitchFamily="34" charset="-122"/>
                  </a:endParaRPr>
                </a:p>
                <a:p>
                  <a:pPr algn="ctr">
                    <a:spcAft>
                      <a:spcPts val="1200"/>
                    </a:spcAft>
                    <a:buNone/>
                  </a:pPr>
                  <a14:m>
                    <m:oMathPara xmlns:m="http://schemas.openxmlformats.org/officeDocument/2006/math">
                      <m:oMathParaPr>
                        <m:jc m:val="centerGroup"/>
                      </m:oMathParaPr>
                      <m:oMath xmlns:m="http://schemas.openxmlformats.org/officeDocument/2006/math">
                        <m:sSub>
                          <m:sSubPr>
                            <m:ctrlPr>
                              <a:rPr kumimoji="1" lang="en-US" altLang="zh-CN" sz="2000" b="0" i="1">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𝑣</m:t>
                            </m:r>
                          </m:e>
                          <m:sub>
                            <m:r>
                              <m:rPr>
                                <m:sty m:val="p"/>
                              </m:rPr>
                              <a:rPr kumimoji="1" lang="en-US" altLang="zh-CN" sz="2000" b="0" i="0" smtClean="0">
                                <a:latin typeface="Cambria Math" panose="02040503050406030204" pitchFamily="18" charset="0"/>
                                <a:ea typeface="微软雅黑" panose="020B0503020204020204" pitchFamily="34" charset="-122"/>
                              </a:rPr>
                              <m:t>so</m:t>
                            </m:r>
                          </m:sub>
                        </m:sSub>
                      </m:oMath>
                    </m:oMathPara>
                  </a14:m>
                  <a:endParaRPr kumimoji="1" lang="en-US" altLang="zh-CN" sz="2000" b="0" dirty="0">
                    <a:latin typeface="微软雅黑" panose="020B0503020204020204" pitchFamily="34" charset="-122"/>
                    <a:ea typeface="微软雅黑" panose="020B0503020204020204" pitchFamily="34" charset="-122"/>
                  </a:endParaRPr>
                </a:p>
                <a:p>
                  <a:pPr algn="ctr">
                    <a:spcAft>
                      <a:spcPts val="1200"/>
                    </a:spcAft>
                    <a:buNone/>
                  </a:pPr>
                  <a14:m>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p>
              </p:txBody>
            </p:sp>
          </mc:Choice>
          <mc:Fallback xmlns="">
            <p:sp>
              <p:nvSpPr>
                <p:cNvPr id="46" name="Rectangle 8">
                  <a:extLst>
                    <a:ext uri="{FF2B5EF4-FFF2-40B4-BE49-F238E27FC236}">
                      <a16:creationId xmlns:a16="http://schemas.microsoft.com/office/drawing/2014/main" id="{B20AF457-4067-65EA-8A3D-B6C0EA5F6E59}"/>
                    </a:ext>
                  </a:extLst>
                </p:cNvPr>
                <p:cNvSpPr>
                  <a:spLocks noRot="1" noChangeAspect="1" noMove="1" noResize="1" noEditPoints="1" noAdjustHandles="1" noChangeArrowheads="1" noChangeShapeType="1" noTextEdit="1"/>
                </p:cNvSpPr>
                <p:nvPr/>
              </p:nvSpPr>
              <p:spPr bwMode="auto">
                <a:xfrm>
                  <a:off x="2664000" y="5112000"/>
                  <a:ext cx="432000" cy="1152000"/>
                </a:xfrm>
                <a:prstGeom prst="rect">
                  <a:avLst/>
                </a:prstGeom>
                <a:blipFill>
                  <a:blip r:embed="rId25"/>
                  <a:stretch>
                    <a:fillRect b="-8466"/>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48" name="椭圆 47">
              <a:extLst>
                <a:ext uri="{FF2B5EF4-FFF2-40B4-BE49-F238E27FC236}">
                  <a16:creationId xmlns:a16="http://schemas.microsoft.com/office/drawing/2014/main" id="{A98122BC-ED63-6CFC-A2E1-796C87C2EDF2}"/>
                </a:ext>
              </a:extLst>
            </p:cNvPr>
            <p:cNvSpPr/>
            <p:nvPr/>
          </p:nvSpPr>
          <p:spPr>
            <a:xfrm>
              <a:off x="2736000" y="4932000"/>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49" name="椭圆 48">
              <a:extLst>
                <a:ext uri="{FF2B5EF4-FFF2-40B4-BE49-F238E27FC236}">
                  <a16:creationId xmlns:a16="http://schemas.microsoft.com/office/drawing/2014/main" id="{41A4F74D-E705-A7B5-1D5F-497F01956666}"/>
                </a:ext>
              </a:extLst>
            </p:cNvPr>
            <p:cNvSpPr/>
            <p:nvPr/>
          </p:nvSpPr>
          <p:spPr>
            <a:xfrm>
              <a:off x="2736000" y="6372000"/>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50" name="直接箭头连接符 49">
              <a:extLst>
                <a:ext uri="{FF2B5EF4-FFF2-40B4-BE49-F238E27FC236}">
                  <a16:creationId xmlns:a16="http://schemas.microsoft.com/office/drawing/2014/main" id="{4F130459-9648-01AB-B75F-C74398DE33A6}"/>
                </a:ext>
              </a:extLst>
            </p:cNvPr>
            <p:cNvCxnSpPr>
              <a:cxnSpLocks/>
            </p:cNvCxnSpPr>
            <p:nvPr/>
          </p:nvCxnSpPr>
          <p:spPr>
            <a:xfrm>
              <a:off x="1764001" y="5112000"/>
              <a:ext cx="432000" cy="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Rectangle 8">
                  <a:extLst>
                    <a:ext uri="{FF2B5EF4-FFF2-40B4-BE49-F238E27FC236}">
                      <a16:creationId xmlns:a16="http://schemas.microsoft.com/office/drawing/2014/main" id="{2D11B424-3AA2-9E7D-BECF-8CADA85CEF3A}"/>
                    </a:ext>
                  </a:extLst>
                </p:cNvPr>
                <p:cNvSpPr>
                  <a:spLocks noChangeArrowheads="1"/>
                </p:cNvSpPr>
                <p:nvPr/>
              </p:nvSpPr>
              <p:spPr bwMode="auto">
                <a:xfrm>
                  <a:off x="1836001" y="5076000"/>
                  <a:ext cx="360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𝑖</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51" name="Rectangle 8">
                  <a:extLst>
                    <a:ext uri="{FF2B5EF4-FFF2-40B4-BE49-F238E27FC236}">
                      <a16:creationId xmlns:a16="http://schemas.microsoft.com/office/drawing/2014/main" id="{2D11B424-3AA2-9E7D-BECF-8CADA85CEF3A}"/>
                    </a:ext>
                  </a:extLst>
                </p:cNvPr>
                <p:cNvSpPr>
                  <a:spLocks noRot="1" noChangeAspect="1" noMove="1" noResize="1" noEditPoints="1" noAdjustHandles="1" noChangeArrowheads="1" noChangeShapeType="1" noTextEdit="1"/>
                </p:cNvSpPr>
                <p:nvPr/>
              </p:nvSpPr>
              <p:spPr bwMode="auto">
                <a:xfrm>
                  <a:off x="1836001" y="5076000"/>
                  <a:ext cx="360000" cy="432000"/>
                </a:xfrm>
                <a:prstGeom prst="rect">
                  <a:avLst/>
                </a:prstGeom>
                <a:blipFill>
                  <a:blip r:embed="rId26"/>
                  <a:stretch>
                    <a:fillRect l="-13559"/>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67" name="矩形 66">
              <a:extLst>
                <a:ext uri="{FF2B5EF4-FFF2-40B4-BE49-F238E27FC236}">
                  <a16:creationId xmlns:a16="http://schemas.microsoft.com/office/drawing/2014/main" id="{55A01DA4-012B-E19D-3E54-1872C6B0056B}"/>
                </a:ext>
              </a:extLst>
            </p:cNvPr>
            <p:cNvSpPr/>
            <p:nvPr/>
          </p:nvSpPr>
          <p:spPr>
            <a:xfrm>
              <a:off x="936000" y="4932000"/>
              <a:ext cx="504000" cy="144000"/>
            </a:xfrm>
            <a:prstGeom prst="rect">
              <a:avLst/>
            </a:prstGeom>
            <a:solidFill>
              <a:schemeClr val="bg1">
                <a:alpha val="99000"/>
              </a:schemeClr>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69" name="Rectangle 8">
                  <a:extLst>
                    <a:ext uri="{FF2B5EF4-FFF2-40B4-BE49-F238E27FC236}">
                      <a16:creationId xmlns:a16="http://schemas.microsoft.com/office/drawing/2014/main" id="{2180C626-BA5F-34D9-DF43-45D942E6D1F5}"/>
                    </a:ext>
                  </a:extLst>
                </p:cNvPr>
                <p:cNvSpPr>
                  <a:spLocks noChangeArrowheads="1"/>
                </p:cNvSpPr>
                <p:nvPr/>
              </p:nvSpPr>
              <p:spPr bwMode="auto">
                <a:xfrm>
                  <a:off x="1044000" y="5004000"/>
                  <a:ext cx="360000" cy="36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0"/>
                    </a:spcAft>
                    <a:buNone/>
                  </a:pPr>
                  <a14:m>
                    <m:oMathPara xmlns:m="http://schemas.openxmlformats.org/officeDocument/2006/math">
                      <m:oMathParaPr>
                        <m:jc m:val="centerGroup"/>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𝑟</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69" name="Rectangle 8">
                  <a:extLst>
                    <a:ext uri="{FF2B5EF4-FFF2-40B4-BE49-F238E27FC236}">
                      <a16:creationId xmlns:a16="http://schemas.microsoft.com/office/drawing/2014/main" id="{2180C626-BA5F-34D9-DF43-45D942E6D1F5}"/>
                    </a:ext>
                  </a:extLst>
                </p:cNvPr>
                <p:cNvSpPr>
                  <a:spLocks noRot="1" noChangeAspect="1" noMove="1" noResize="1" noEditPoints="1" noAdjustHandles="1" noChangeArrowheads="1" noChangeShapeType="1" noTextEdit="1"/>
                </p:cNvSpPr>
                <p:nvPr/>
              </p:nvSpPr>
              <p:spPr bwMode="auto">
                <a:xfrm>
                  <a:off x="1044000" y="5004000"/>
                  <a:ext cx="360000" cy="360000"/>
                </a:xfrm>
                <a:prstGeom prst="rect">
                  <a:avLst/>
                </a:prstGeom>
                <a:blipFill>
                  <a:blip r:embed="rId27"/>
                  <a:stretch>
                    <a:fillRect l="-8475" b="-13559"/>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82" name="椭圆 81">
              <a:extLst>
                <a:ext uri="{FF2B5EF4-FFF2-40B4-BE49-F238E27FC236}">
                  <a16:creationId xmlns:a16="http://schemas.microsoft.com/office/drawing/2014/main" id="{EE980A8F-8E23-7003-724A-FD885B8223E9}"/>
                </a:ext>
              </a:extLst>
            </p:cNvPr>
            <p:cNvSpPr/>
            <p:nvPr/>
          </p:nvSpPr>
          <p:spPr>
            <a:xfrm>
              <a:off x="360000" y="5544000"/>
              <a:ext cx="432000" cy="432000"/>
            </a:xfrm>
            <a:prstGeom prst="ellipse">
              <a:avLst/>
            </a:prstGeom>
            <a:no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84" name="Rectangle 8">
                  <a:extLst>
                    <a:ext uri="{FF2B5EF4-FFF2-40B4-BE49-F238E27FC236}">
                      <a16:creationId xmlns:a16="http://schemas.microsoft.com/office/drawing/2014/main" id="{28F79EA3-AB76-93DD-D53E-2471DE20C048}"/>
                    </a:ext>
                  </a:extLst>
                </p:cNvPr>
                <p:cNvSpPr>
                  <a:spLocks noChangeArrowheads="1"/>
                </p:cNvSpPr>
                <p:nvPr/>
              </p:nvSpPr>
              <p:spPr bwMode="auto">
                <a:xfrm>
                  <a:off x="756000" y="5364000"/>
                  <a:ext cx="360000" cy="72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lnSpc>
                      <a:spcPct val="80000"/>
                    </a:lnSpc>
                    <a:spcAft>
                      <a:spcPts val="0"/>
                    </a:spcAft>
                    <a:buNone/>
                  </a:pPr>
                  <a14:m>
                    <m:oMathPara xmlns:m="http://schemas.openxmlformats.org/officeDocument/2006/math">
                      <m:oMathParaPr>
                        <m:jc m:val="centerGroup"/>
                      </m:oMathParaPr>
                      <m:oMath xmlns:m="http://schemas.openxmlformats.org/officeDocument/2006/math">
                        <m:r>
                          <a:rPr kumimoji="1" lang="pt-BR" altLang="zh-CN" sz="2000" b="0" i="1" smtClean="0">
                            <a:latin typeface="Cambria Math" panose="02040503050406030204" pitchFamily="18" charset="0"/>
                            <a:ea typeface="微软雅黑" panose="020B0503020204020204" pitchFamily="34" charset="-122"/>
                          </a:rPr>
                          <m:t>+</m:t>
                        </m:r>
                      </m:oMath>
                    </m:oMathPara>
                  </a14:m>
                  <a:endParaRPr kumimoji="1" lang="en-US" altLang="zh-CN" sz="2000" b="0" dirty="0">
                    <a:latin typeface="微软雅黑" panose="020B0503020204020204" pitchFamily="34" charset="-122"/>
                    <a:ea typeface="微软雅黑" panose="020B0503020204020204" pitchFamily="34" charset="-122"/>
                  </a:endParaRPr>
                </a:p>
                <a:p>
                  <a:pPr algn="ctr">
                    <a:lnSpc>
                      <a:spcPct val="80000"/>
                    </a:lnSpc>
                    <a:spcAft>
                      <a:spcPts val="0"/>
                    </a:spcAft>
                    <a:buNone/>
                  </a:pPr>
                  <a14:m>
                    <m:oMathPara xmlns:m="http://schemas.openxmlformats.org/officeDocument/2006/math">
                      <m:oMathParaPr>
                        <m:jc m:val="centerGroup"/>
                      </m:oMathParaPr>
                      <m:oMath xmlns:m="http://schemas.openxmlformats.org/officeDocument/2006/math">
                        <m:sSub>
                          <m:sSubPr>
                            <m:ctrlPr>
                              <a:rPr kumimoji="1" lang="en-US" altLang="zh-CN" sz="2000" b="0" i="1">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𝑣</m:t>
                            </m:r>
                          </m:e>
                          <m:sub>
                            <m:r>
                              <m:rPr>
                                <m:sty m:val="p"/>
                              </m:rPr>
                              <a:rPr kumimoji="1" lang="en-US" altLang="zh-CN" sz="2000" b="0" i="0" smtClean="0">
                                <a:latin typeface="Cambria Math" panose="02040503050406030204" pitchFamily="18" charset="0"/>
                                <a:ea typeface="微软雅黑" panose="020B0503020204020204" pitchFamily="34" charset="-122"/>
                              </a:rPr>
                              <m:t>s</m:t>
                            </m:r>
                          </m:sub>
                        </m:sSub>
                      </m:oMath>
                    </m:oMathPara>
                  </a14:m>
                  <a:endParaRPr kumimoji="1" lang="en-US" altLang="zh-CN" sz="2000" b="0" dirty="0">
                    <a:latin typeface="微软雅黑" panose="020B0503020204020204" pitchFamily="34" charset="-122"/>
                    <a:ea typeface="微软雅黑" panose="020B0503020204020204" pitchFamily="34" charset="-122"/>
                  </a:endParaRPr>
                </a:p>
                <a:p>
                  <a:pPr algn="ctr">
                    <a:lnSpc>
                      <a:spcPct val="80000"/>
                    </a:lnSpc>
                    <a:spcAft>
                      <a:spcPts val="0"/>
                    </a:spcAft>
                    <a:buNone/>
                  </a:pPr>
                  <a14:m>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p>
              </p:txBody>
            </p:sp>
          </mc:Choice>
          <mc:Fallback xmlns="">
            <p:sp>
              <p:nvSpPr>
                <p:cNvPr id="84" name="Rectangle 8">
                  <a:extLst>
                    <a:ext uri="{FF2B5EF4-FFF2-40B4-BE49-F238E27FC236}">
                      <a16:creationId xmlns:a16="http://schemas.microsoft.com/office/drawing/2014/main" id="{28F79EA3-AB76-93DD-D53E-2471DE20C048}"/>
                    </a:ext>
                  </a:extLst>
                </p:cNvPr>
                <p:cNvSpPr>
                  <a:spLocks noRot="1" noChangeAspect="1" noMove="1" noResize="1" noEditPoints="1" noAdjustHandles="1" noChangeArrowheads="1" noChangeShapeType="1" noTextEdit="1"/>
                </p:cNvSpPr>
                <p:nvPr/>
              </p:nvSpPr>
              <p:spPr bwMode="auto">
                <a:xfrm>
                  <a:off x="756000" y="5364000"/>
                  <a:ext cx="360000" cy="720000"/>
                </a:xfrm>
                <a:prstGeom prst="rect">
                  <a:avLst/>
                </a:prstGeom>
                <a:blipFill>
                  <a:blip r:embed="rId28"/>
                  <a:stretch>
                    <a:fillRect r="-1695" b="-5932"/>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spTree>
    <p:extLst>
      <p:ext uri="{BB962C8B-B14F-4D97-AF65-F5344CB8AC3E}">
        <p14:creationId xmlns:p14="http://schemas.microsoft.com/office/powerpoint/2010/main" val="638478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randombar(horizontal)">
                                      <p:cBhvr>
                                        <p:cTn id="7" dur="500"/>
                                        <p:tgtEl>
                                          <p:spTgt spid="18"/>
                                        </p:tgtEl>
                                      </p:cBhvr>
                                    </p:animEffect>
                                  </p:childTnLst>
                                </p:cTn>
                              </p:par>
                              <p:par>
                                <p:cTn id="8" presetID="14" presetClass="entr" presetSubtype="10" fill="hold" grpId="0" nodeType="withEffect">
                                  <p:stCondLst>
                                    <p:cond delay="0"/>
                                  </p:stCondLst>
                                  <p:childTnLst>
                                    <p:set>
                                      <p:cBhvr>
                                        <p:cTn id="9" dur="1" fill="hold">
                                          <p:stCondLst>
                                            <p:cond delay="0"/>
                                          </p:stCondLst>
                                        </p:cTn>
                                        <p:tgtEl>
                                          <p:spTgt spid="161"/>
                                        </p:tgtEl>
                                        <p:attrNameLst>
                                          <p:attrName>style.visibility</p:attrName>
                                        </p:attrNameLst>
                                      </p:cBhvr>
                                      <p:to>
                                        <p:strVal val="visible"/>
                                      </p:to>
                                    </p:set>
                                    <p:animEffect transition="in" filter="randombar(horizontal)">
                                      <p:cBhvr>
                                        <p:cTn id="10" dur="500"/>
                                        <p:tgtEl>
                                          <p:spTgt spid="161"/>
                                        </p:tgtEl>
                                      </p:cBhvr>
                                    </p:animEffect>
                                  </p:childTnLst>
                                </p:cTn>
                              </p:par>
                              <p:par>
                                <p:cTn id="11" presetID="14" presetClass="entr" presetSubtype="10" fill="hold" nodeType="withEffect">
                                  <p:stCondLst>
                                    <p:cond delay="0"/>
                                  </p:stCondLst>
                                  <p:childTnLst>
                                    <p:set>
                                      <p:cBhvr>
                                        <p:cTn id="12" dur="1" fill="hold">
                                          <p:stCondLst>
                                            <p:cond delay="0"/>
                                          </p:stCondLst>
                                        </p:cTn>
                                        <p:tgtEl>
                                          <p:spTgt spid="86"/>
                                        </p:tgtEl>
                                        <p:attrNameLst>
                                          <p:attrName>style.visibility</p:attrName>
                                        </p:attrNameLst>
                                      </p:cBhvr>
                                      <p:to>
                                        <p:strVal val="visible"/>
                                      </p:to>
                                    </p:set>
                                    <p:animEffect transition="in" filter="randombar(horizontal)">
                                      <p:cBhvr>
                                        <p:cTn id="13" dur="500"/>
                                        <p:tgtEl>
                                          <p:spTgt spid="86"/>
                                        </p:tgtEl>
                                      </p:cBhvr>
                                    </p:animEffect>
                                  </p:childTnLst>
                                </p:cTn>
                              </p:par>
                              <p:par>
                                <p:cTn id="14" presetID="14" presetClass="entr" presetSubtype="10" fill="hold" grpId="0" nodeType="withEffect">
                                  <p:stCondLst>
                                    <p:cond delay="0"/>
                                  </p:stCondLst>
                                  <p:childTnLst>
                                    <p:set>
                                      <p:cBhvr>
                                        <p:cTn id="15" dur="1" fill="hold">
                                          <p:stCondLst>
                                            <p:cond delay="0"/>
                                          </p:stCondLst>
                                        </p:cTn>
                                        <p:tgtEl>
                                          <p:spTgt spid="162"/>
                                        </p:tgtEl>
                                        <p:attrNameLst>
                                          <p:attrName>style.visibility</p:attrName>
                                        </p:attrNameLst>
                                      </p:cBhvr>
                                      <p:to>
                                        <p:strVal val="visible"/>
                                      </p:to>
                                    </p:set>
                                    <p:animEffect transition="in" filter="randombar(horizontal)">
                                      <p:cBhvr>
                                        <p:cTn id="16" dur="500"/>
                                        <p:tgtEl>
                                          <p:spTgt spid="162"/>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grpId="0" nodeType="clickEffect">
                                  <p:stCondLst>
                                    <p:cond delay="0"/>
                                  </p:stCondLst>
                                  <p:childTnLst>
                                    <p:set>
                                      <p:cBhvr>
                                        <p:cTn id="20" dur="1" fill="hold">
                                          <p:stCondLst>
                                            <p:cond delay="0"/>
                                          </p:stCondLst>
                                        </p:cTn>
                                        <p:tgtEl>
                                          <p:spTgt spid="166"/>
                                        </p:tgtEl>
                                        <p:attrNameLst>
                                          <p:attrName>style.visibility</p:attrName>
                                        </p:attrNameLst>
                                      </p:cBhvr>
                                      <p:to>
                                        <p:strVal val="visible"/>
                                      </p:to>
                                    </p:set>
                                    <p:animEffect transition="in" filter="randombar(horizontal)">
                                      <p:cBhvr>
                                        <p:cTn id="21" dur="500"/>
                                        <p:tgtEl>
                                          <p:spTgt spid="166"/>
                                        </p:tgtEl>
                                      </p:cBhvr>
                                    </p:animEffect>
                                  </p:childTnLst>
                                </p:cTn>
                              </p:par>
                              <p:par>
                                <p:cTn id="22" presetID="14" presetClass="entr" presetSubtype="10" fill="hold" grpId="0" nodeType="withEffect">
                                  <p:stCondLst>
                                    <p:cond delay="0"/>
                                  </p:stCondLst>
                                  <p:childTnLst>
                                    <p:set>
                                      <p:cBhvr>
                                        <p:cTn id="23" dur="1" fill="hold">
                                          <p:stCondLst>
                                            <p:cond delay="0"/>
                                          </p:stCondLst>
                                        </p:cTn>
                                        <p:tgtEl>
                                          <p:spTgt spid="165"/>
                                        </p:tgtEl>
                                        <p:attrNameLst>
                                          <p:attrName>style.visibility</p:attrName>
                                        </p:attrNameLst>
                                      </p:cBhvr>
                                      <p:to>
                                        <p:strVal val="visible"/>
                                      </p:to>
                                    </p:set>
                                    <p:animEffect transition="in" filter="randombar(horizontal)">
                                      <p:cBhvr>
                                        <p:cTn id="24" dur="500"/>
                                        <p:tgtEl>
                                          <p:spTgt spid="165"/>
                                        </p:tgtEl>
                                      </p:cBhvr>
                                    </p:animEffect>
                                  </p:childTnLst>
                                </p:cTn>
                              </p:par>
                              <p:par>
                                <p:cTn id="25" presetID="14" presetClass="entr" presetSubtype="10" fill="hold" nodeType="withEffect">
                                  <p:stCondLst>
                                    <p:cond delay="0"/>
                                  </p:stCondLst>
                                  <p:childTnLst>
                                    <p:set>
                                      <p:cBhvr>
                                        <p:cTn id="26" dur="1" fill="hold">
                                          <p:stCondLst>
                                            <p:cond delay="0"/>
                                          </p:stCondLst>
                                        </p:cTn>
                                        <p:tgtEl>
                                          <p:spTgt spid="167"/>
                                        </p:tgtEl>
                                        <p:attrNameLst>
                                          <p:attrName>style.visibility</p:attrName>
                                        </p:attrNameLst>
                                      </p:cBhvr>
                                      <p:to>
                                        <p:strVal val="visible"/>
                                      </p:to>
                                    </p:set>
                                    <p:animEffect transition="in" filter="randombar(horizontal)">
                                      <p:cBhvr>
                                        <p:cTn id="27" dur="500"/>
                                        <p:tgtEl>
                                          <p:spTgt spid="1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 grpId="0"/>
      <p:bldP spid="162" grpId="0"/>
      <p:bldP spid="165" grpId="0"/>
      <p:bldP spid="16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B1CBBA67-2C71-3DF6-73A3-1925CCC67E18}"/>
              </a:ext>
            </a:extLst>
          </p:cNvPr>
          <p:cNvSpPr txBox="1"/>
          <p:nvPr/>
        </p:nvSpPr>
        <p:spPr>
          <a:xfrm>
            <a:off x="360000" y="828000"/>
            <a:ext cx="3050758" cy="5317674"/>
          </a:xfrm>
          <a:prstGeom prst="rect">
            <a:avLst/>
          </a:prstGeom>
          <a:noFill/>
        </p:spPr>
        <p:txBody>
          <a:bodyPr wrap="square">
            <a:spAutoFit/>
          </a:bodyPr>
          <a:lstStyle/>
          <a:p>
            <a:pPr>
              <a:lnSpc>
                <a:spcPct val="120000"/>
              </a:lnSpc>
              <a:spcAft>
                <a:spcPts val="600"/>
              </a:spcAft>
            </a:pPr>
            <a:r>
              <a:rPr kumimoji="1" lang="zh-CN" altLang="en-US" sz="2800" dirty="0">
                <a:solidFill>
                  <a:srgbClr val="002060"/>
                </a:solidFill>
                <a:latin typeface="微软雅黑" panose="020B0503020204020204" pitchFamily="34" charset="-122"/>
                <a:ea typeface="微软雅黑" panose="020B0503020204020204" pitchFamily="34" charset="-122"/>
              </a:rPr>
              <a:t>二极管的主要应用</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整流</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限幅</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开关</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a:lnSpc>
                <a:spcPct val="120000"/>
              </a:lnSpc>
              <a:spcAft>
                <a:spcPts val="600"/>
              </a:spcAft>
            </a:pP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a:lnSpc>
                <a:spcPct val="120000"/>
              </a:lnSpc>
              <a:spcAft>
                <a:spcPts val="600"/>
              </a:spcAft>
            </a:pPr>
            <a:r>
              <a:rPr kumimoji="1" lang="zh-CN" altLang="en-US" sz="2800" dirty="0">
                <a:solidFill>
                  <a:srgbClr val="002060"/>
                </a:solidFill>
                <a:latin typeface="微软雅黑" panose="020B0503020204020204" pitchFamily="34" charset="-122"/>
                <a:ea typeface="微软雅黑" panose="020B0503020204020204" pitchFamily="34" charset="-122"/>
              </a:rPr>
              <a:t>一些特殊二极管</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稳压二极管</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发光二极管</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光电二极管</a:t>
            </a:r>
            <a:endParaRPr kumimoji="1" lang="en-US" altLang="zh-CN" sz="2800" dirty="0">
              <a:solidFill>
                <a:srgbClr val="002060"/>
              </a:solidFill>
              <a:latin typeface="微软雅黑" panose="020B0503020204020204" pitchFamily="34" charset="-122"/>
              <a:ea typeface="微软雅黑" panose="020B0503020204020204" pitchFamily="34" charset="-122"/>
            </a:endParaRPr>
          </a:p>
        </p:txBody>
      </p:sp>
      <p:grpSp>
        <p:nvGrpSpPr>
          <p:cNvPr id="14" name="组合 13">
            <a:extLst>
              <a:ext uri="{FF2B5EF4-FFF2-40B4-BE49-F238E27FC236}">
                <a16:creationId xmlns:a16="http://schemas.microsoft.com/office/drawing/2014/main" id="{C35C40D7-C446-A91E-583D-C00B8F321A45}"/>
              </a:ext>
            </a:extLst>
          </p:cNvPr>
          <p:cNvGrpSpPr/>
          <p:nvPr/>
        </p:nvGrpSpPr>
        <p:grpSpPr>
          <a:xfrm>
            <a:off x="11449269" y="6198682"/>
            <a:ext cx="786273" cy="548639"/>
            <a:chOff x="11454918" y="5839511"/>
            <a:chExt cx="786273" cy="548639"/>
          </a:xfrm>
        </p:grpSpPr>
        <p:grpSp>
          <p:nvGrpSpPr>
            <p:cNvPr id="15" name="组合 14">
              <a:extLst>
                <a:ext uri="{FF2B5EF4-FFF2-40B4-BE49-F238E27FC236}">
                  <a16:creationId xmlns:a16="http://schemas.microsoft.com/office/drawing/2014/main" id="{7D0FC09E-18AE-905A-45E4-B09DBF9940CA}"/>
                </a:ext>
              </a:extLst>
            </p:cNvPr>
            <p:cNvGrpSpPr/>
            <p:nvPr/>
          </p:nvGrpSpPr>
          <p:grpSpPr>
            <a:xfrm>
              <a:off x="11454918" y="5867450"/>
              <a:ext cx="737081" cy="520700"/>
              <a:chOff x="11454918" y="5867450"/>
              <a:chExt cx="737081" cy="520700"/>
            </a:xfrm>
          </p:grpSpPr>
          <p:sp>
            <p:nvSpPr>
              <p:cNvPr id="17" name="箭头: 五边形 16">
                <a:extLst>
                  <a:ext uri="{FF2B5EF4-FFF2-40B4-BE49-F238E27FC236}">
                    <a16:creationId xmlns:a16="http://schemas.microsoft.com/office/drawing/2014/main" id="{846D3A7A-DF83-EF7E-E79F-F9A9E3E5462C}"/>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箭头: V 形 17">
                <a:extLst>
                  <a:ext uri="{FF2B5EF4-FFF2-40B4-BE49-F238E27FC236}">
                    <a16:creationId xmlns:a16="http://schemas.microsoft.com/office/drawing/2014/main" id="{55387DFD-068F-A847-C65D-DC23BF8B13EE}"/>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6" name="灯片编号占位符 3">
              <a:extLst>
                <a:ext uri="{FF2B5EF4-FFF2-40B4-BE49-F238E27FC236}">
                  <a16:creationId xmlns:a16="http://schemas.microsoft.com/office/drawing/2014/main" id="{2A5415F9-C6B1-A5CC-BB44-B33DB18260A8}"/>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22</a:t>
              </a:fld>
              <a:endParaRPr lang="zh-CN" altLang="en-US" sz="3200" dirty="0">
                <a:solidFill>
                  <a:schemeClr val="bg1"/>
                </a:solidFill>
                <a:latin typeface="Candara"/>
                <a:ea typeface="微软雅黑"/>
              </a:endParaRPr>
            </a:p>
          </p:txBody>
        </p:sp>
      </p:grpSp>
      <p:sp>
        <p:nvSpPr>
          <p:cNvPr id="19" name="Rectangle 4">
            <a:extLst>
              <a:ext uri="{FF2B5EF4-FFF2-40B4-BE49-F238E27FC236}">
                <a16:creationId xmlns:a16="http://schemas.microsoft.com/office/drawing/2014/main" id="{5FAE14A3-3483-4B83-2C55-ECFF333A0D6F}"/>
              </a:ext>
            </a:extLst>
          </p:cNvPr>
          <p:cNvSpPr>
            <a:spLocks noChangeArrowheads="1"/>
          </p:cNvSpPr>
          <p:nvPr/>
        </p:nvSpPr>
        <p:spPr bwMode="auto">
          <a:xfrm>
            <a:off x="4680000" y="4680000"/>
            <a:ext cx="1475084"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b="0" dirty="0">
                <a:solidFill>
                  <a:schemeClr val="accent5">
                    <a:lumMod val="75000"/>
                  </a:schemeClr>
                </a:solidFill>
                <a:latin typeface="微软雅黑" panose="020B0503020204020204" pitchFamily="34" charset="-122"/>
                <a:ea typeface="微软雅黑" panose="020B0503020204020204" pitchFamily="34" charset="-122"/>
              </a:rPr>
              <a:t>稳压二极管</a:t>
            </a:r>
          </a:p>
        </p:txBody>
      </p:sp>
      <p:sp>
        <p:nvSpPr>
          <p:cNvPr id="20" name="Rectangle 5">
            <a:extLst>
              <a:ext uri="{FF2B5EF4-FFF2-40B4-BE49-F238E27FC236}">
                <a16:creationId xmlns:a16="http://schemas.microsoft.com/office/drawing/2014/main" id="{3508168E-272D-5E5E-3852-5A9D2EC58CA4}"/>
              </a:ext>
            </a:extLst>
          </p:cNvPr>
          <p:cNvSpPr>
            <a:spLocks noChangeArrowheads="1"/>
          </p:cNvSpPr>
          <p:nvPr/>
        </p:nvSpPr>
        <p:spPr bwMode="auto">
          <a:xfrm>
            <a:off x="7200000" y="4680000"/>
            <a:ext cx="1475084"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b="0" dirty="0">
                <a:solidFill>
                  <a:schemeClr val="accent5">
                    <a:lumMod val="75000"/>
                  </a:schemeClr>
                </a:solidFill>
                <a:latin typeface="微软雅黑" panose="020B0503020204020204" pitchFamily="34" charset="-122"/>
                <a:ea typeface="微软雅黑" panose="020B0503020204020204" pitchFamily="34" charset="-122"/>
              </a:rPr>
              <a:t>发光二极管</a:t>
            </a:r>
          </a:p>
        </p:txBody>
      </p:sp>
      <p:sp>
        <p:nvSpPr>
          <p:cNvPr id="21" name="Rectangle 6">
            <a:extLst>
              <a:ext uri="{FF2B5EF4-FFF2-40B4-BE49-F238E27FC236}">
                <a16:creationId xmlns:a16="http://schemas.microsoft.com/office/drawing/2014/main" id="{5D195F63-1EEC-60C5-B0D6-8CA47C5F906C}"/>
              </a:ext>
            </a:extLst>
          </p:cNvPr>
          <p:cNvSpPr>
            <a:spLocks noChangeArrowheads="1"/>
          </p:cNvSpPr>
          <p:nvPr/>
        </p:nvSpPr>
        <p:spPr bwMode="auto">
          <a:xfrm>
            <a:off x="9360000" y="4680000"/>
            <a:ext cx="1475084"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b="0" dirty="0">
                <a:solidFill>
                  <a:schemeClr val="accent5">
                    <a:lumMod val="75000"/>
                  </a:schemeClr>
                </a:solidFill>
                <a:latin typeface="微软雅黑" panose="020B0503020204020204" pitchFamily="34" charset="-122"/>
                <a:ea typeface="微软雅黑" panose="020B0503020204020204" pitchFamily="34" charset="-122"/>
              </a:rPr>
              <a:t>光电二极管</a:t>
            </a:r>
          </a:p>
        </p:txBody>
      </p:sp>
      <p:grpSp>
        <p:nvGrpSpPr>
          <p:cNvPr id="2" name="组合 1">
            <a:extLst>
              <a:ext uri="{FF2B5EF4-FFF2-40B4-BE49-F238E27FC236}">
                <a16:creationId xmlns:a16="http://schemas.microsoft.com/office/drawing/2014/main" id="{6C8D079B-26D5-08F7-7B96-32581D74CAED}"/>
              </a:ext>
            </a:extLst>
          </p:cNvPr>
          <p:cNvGrpSpPr/>
          <p:nvPr/>
        </p:nvGrpSpPr>
        <p:grpSpPr>
          <a:xfrm>
            <a:off x="4860000" y="4068000"/>
            <a:ext cx="1080000" cy="504000"/>
            <a:chOff x="4860000" y="4068000"/>
            <a:chExt cx="1080000" cy="504000"/>
          </a:xfrm>
        </p:grpSpPr>
        <p:sp>
          <p:nvSpPr>
            <p:cNvPr id="22" name="AutoShape 7">
              <a:extLst>
                <a:ext uri="{FF2B5EF4-FFF2-40B4-BE49-F238E27FC236}">
                  <a16:creationId xmlns:a16="http://schemas.microsoft.com/office/drawing/2014/main" id="{1ACEB1C9-CC0C-C016-EB24-F059AA18BBFE}"/>
                </a:ext>
              </a:extLst>
            </p:cNvPr>
            <p:cNvSpPr>
              <a:spLocks noChangeArrowheads="1"/>
            </p:cNvSpPr>
            <p:nvPr/>
          </p:nvSpPr>
          <p:spPr bwMode="auto">
            <a:xfrm rot="16200000" flipV="1">
              <a:off x="5148000" y="4140000"/>
              <a:ext cx="432000" cy="360000"/>
            </a:xfrm>
            <a:prstGeom prst="triangle">
              <a:avLst>
                <a:gd name="adj" fmla="val 50000"/>
              </a:avLst>
            </a:prstGeom>
            <a:noFill/>
            <a:ln w="381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2000" b="0">
                <a:solidFill>
                  <a:schemeClr val="accent5">
                    <a:lumMod val="75000"/>
                  </a:schemeClr>
                </a:solidFill>
                <a:latin typeface="微软雅黑" panose="020B0503020204020204" pitchFamily="34" charset="-122"/>
                <a:ea typeface="微软雅黑" panose="020B0503020204020204" pitchFamily="34" charset="-122"/>
              </a:endParaRPr>
            </a:p>
          </p:txBody>
        </p:sp>
        <p:sp>
          <p:nvSpPr>
            <p:cNvPr id="23" name="Line 8">
              <a:extLst>
                <a:ext uri="{FF2B5EF4-FFF2-40B4-BE49-F238E27FC236}">
                  <a16:creationId xmlns:a16="http://schemas.microsoft.com/office/drawing/2014/main" id="{43E9EBD7-D7F4-7426-C752-0E1F8F3D92BD}"/>
                </a:ext>
              </a:extLst>
            </p:cNvPr>
            <p:cNvSpPr>
              <a:spLocks noChangeShapeType="1"/>
            </p:cNvSpPr>
            <p:nvPr/>
          </p:nvSpPr>
          <p:spPr bwMode="auto">
            <a:xfrm>
              <a:off x="4860000" y="4320000"/>
              <a:ext cx="1080000"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sz="2000">
                <a:solidFill>
                  <a:schemeClr val="accent5">
                    <a:lumMod val="75000"/>
                  </a:schemeClr>
                </a:solidFill>
                <a:latin typeface="微软雅黑" panose="020B0503020204020204" pitchFamily="34" charset="-122"/>
                <a:ea typeface="微软雅黑" panose="020B0503020204020204" pitchFamily="34" charset="-122"/>
              </a:endParaRPr>
            </a:p>
          </p:txBody>
        </p:sp>
        <p:sp>
          <p:nvSpPr>
            <p:cNvPr id="24" name="Line 9">
              <a:extLst>
                <a:ext uri="{FF2B5EF4-FFF2-40B4-BE49-F238E27FC236}">
                  <a16:creationId xmlns:a16="http://schemas.microsoft.com/office/drawing/2014/main" id="{F5AE052D-3BCA-3594-881D-BA50E211A7CF}"/>
                </a:ext>
              </a:extLst>
            </p:cNvPr>
            <p:cNvSpPr>
              <a:spLocks noChangeShapeType="1"/>
            </p:cNvSpPr>
            <p:nvPr/>
          </p:nvSpPr>
          <p:spPr bwMode="auto">
            <a:xfrm flipV="1">
              <a:off x="5562000" y="4068000"/>
              <a:ext cx="0" cy="50400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sz="2000">
                <a:solidFill>
                  <a:schemeClr val="accent5">
                    <a:lumMod val="75000"/>
                  </a:schemeClr>
                </a:solidFill>
                <a:latin typeface="微软雅黑" panose="020B0503020204020204" pitchFamily="34" charset="-122"/>
                <a:ea typeface="微软雅黑" panose="020B0503020204020204" pitchFamily="34" charset="-122"/>
              </a:endParaRPr>
            </a:p>
          </p:txBody>
        </p:sp>
        <p:sp>
          <p:nvSpPr>
            <p:cNvPr id="25" name="Line 10">
              <a:extLst>
                <a:ext uri="{FF2B5EF4-FFF2-40B4-BE49-F238E27FC236}">
                  <a16:creationId xmlns:a16="http://schemas.microsoft.com/office/drawing/2014/main" id="{81DC00B6-CE2E-276B-EC9D-30EE9FB532E8}"/>
                </a:ext>
              </a:extLst>
            </p:cNvPr>
            <p:cNvSpPr>
              <a:spLocks noChangeShapeType="1"/>
            </p:cNvSpPr>
            <p:nvPr/>
          </p:nvSpPr>
          <p:spPr bwMode="auto">
            <a:xfrm flipH="1">
              <a:off x="5400000" y="4572000"/>
              <a:ext cx="180975" cy="0"/>
            </a:xfrm>
            <a:prstGeom prst="line">
              <a:avLst/>
            </a:prstGeom>
            <a:noFill/>
            <a:ln w="28575">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sz="2000" dirty="0">
                <a:solidFill>
                  <a:schemeClr val="accent5">
                    <a:lumMod val="75000"/>
                  </a:schemeClr>
                </a:solidFill>
                <a:latin typeface="微软雅黑" panose="020B0503020204020204" pitchFamily="34" charset="-122"/>
                <a:ea typeface="微软雅黑" panose="020B0503020204020204" pitchFamily="34" charset="-122"/>
              </a:endParaRPr>
            </a:p>
          </p:txBody>
        </p:sp>
      </p:grpSp>
      <p:sp>
        <p:nvSpPr>
          <p:cNvPr id="4" name="标题 1">
            <a:extLst>
              <a:ext uri="{FF2B5EF4-FFF2-40B4-BE49-F238E27FC236}">
                <a16:creationId xmlns:a16="http://schemas.microsoft.com/office/drawing/2014/main" id="{9315E225-2A39-2C87-5B81-51BEDE2C68D2}"/>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二极管及其应用</a:t>
            </a:r>
            <a:endParaRPr lang="en-US" altLang="zh-CN" sz="3000" dirty="0"/>
          </a:p>
        </p:txBody>
      </p:sp>
      <p:grpSp>
        <p:nvGrpSpPr>
          <p:cNvPr id="40" name="组合 39">
            <a:extLst>
              <a:ext uri="{FF2B5EF4-FFF2-40B4-BE49-F238E27FC236}">
                <a16:creationId xmlns:a16="http://schemas.microsoft.com/office/drawing/2014/main" id="{7EDC8F76-8F9A-B68D-88B3-9749A34C78C1}"/>
              </a:ext>
            </a:extLst>
          </p:cNvPr>
          <p:cNvGrpSpPr/>
          <p:nvPr/>
        </p:nvGrpSpPr>
        <p:grpSpPr>
          <a:xfrm>
            <a:off x="7380000" y="3744000"/>
            <a:ext cx="1080000" cy="828000"/>
            <a:chOff x="7380000" y="3744000"/>
            <a:chExt cx="1080000" cy="828000"/>
          </a:xfrm>
        </p:grpSpPr>
        <p:sp>
          <p:nvSpPr>
            <p:cNvPr id="30" name="Line 15">
              <a:extLst>
                <a:ext uri="{FF2B5EF4-FFF2-40B4-BE49-F238E27FC236}">
                  <a16:creationId xmlns:a16="http://schemas.microsoft.com/office/drawing/2014/main" id="{ED0A71F6-1D19-7554-9494-BAA8C0803F62}"/>
                </a:ext>
              </a:extLst>
            </p:cNvPr>
            <p:cNvSpPr>
              <a:spLocks noChangeShapeType="1"/>
            </p:cNvSpPr>
            <p:nvPr/>
          </p:nvSpPr>
          <p:spPr bwMode="auto">
            <a:xfrm flipV="1">
              <a:off x="7812000" y="3744000"/>
              <a:ext cx="323850" cy="179387"/>
            </a:xfrm>
            <a:prstGeom prst="line">
              <a:avLst/>
            </a:prstGeom>
            <a:noFill/>
            <a:ln w="25400">
              <a:solidFill>
                <a:schemeClr val="tx1"/>
              </a:solidFill>
              <a:round/>
              <a:headEnd/>
              <a:tailEnd type="triangle" w="lg" len="lg"/>
            </a:ln>
            <a:extLst>
              <a:ext uri="{909E8E84-426E-40dd-AFC4-6F175D3DCCD1}">
                <a14:hiddenFill xmlns="" xmlns:a14="http://schemas.microsoft.com/office/drawing/2010/main">
                  <a:noFill/>
                </a14:hiddenFill>
              </a:ext>
            </a:extLst>
          </p:spPr>
          <p:txBody>
            <a:bodyPr/>
            <a:lstStyle/>
            <a:p>
              <a:endParaRPr lang="zh-CN" altLang="en-US" sz="2000">
                <a:solidFill>
                  <a:schemeClr val="accent5">
                    <a:lumMod val="75000"/>
                  </a:schemeClr>
                </a:solidFill>
                <a:latin typeface="微软雅黑" panose="020B0503020204020204" pitchFamily="34" charset="-122"/>
                <a:ea typeface="微软雅黑" panose="020B0503020204020204" pitchFamily="34" charset="-122"/>
              </a:endParaRPr>
            </a:p>
          </p:txBody>
        </p:sp>
        <p:sp>
          <p:nvSpPr>
            <p:cNvPr id="31" name="Line 16">
              <a:extLst>
                <a:ext uri="{FF2B5EF4-FFF2-40B4-BE49-F238E27FC236}">
                  <a16:creationId xmlns:a16="http://schemas.microsoft.com/office/drawing/2014/main" id="{D4D3D811-CEFF-1A2B-79AE-39B7538E8D16}"/>
                </a:ext>
              </a:extLst>
            </p:cNvPr>
            <p:cNvSpPr>
              <a:spLocks noChangeShapeType="1"/>
            </p:cNvSpPr>
            <p:nvPr/>
          </p:nvSpPr>
          <p:spPr bwMode="auto">
            <a:xfrm flipV="1">
              <a:off x="7920000" y="3852000"/>
              <a:ext cx="323850" cy="179387"/>
            </a:xfrm>
            <a:prstGeom prst="line">
              <a:avLst/>
            </a:prstGeom>
            <a:noFill/>
            <a:ln w="25400">
              <a:solidFill>
                <a:schemeClr val="tx1"/>
              </a:solidFill>
              <a:round/>
              <a:headEnd/>
              <a:tailEnd type="triangle" w="lg" len="lg"/>
            </a:ln>
            <a:extLst>
              <a:ext uri="{909E8E84-426E-40dd-AFC4-6F175D3DCCD1}">
                <a14:hiddenFill xmlns="" xmlns:a14="http://schemas.microsoft.com/office/drawing/2010/main">
                  <a:noFill/>
                </a14:hiddenFill>
              </a:ext>
            </a:extLst>
          </p:spPr>
          <p:txBody>
            <a:bodyPr/>
            <a:lstStyle/>
            <a:p>
              <a:endParaRPr lang="zh-CN" altLang="en-US" sz="2000">
                <a:solidFill>
                  <a:schemeClr val="accent5">
                    <a:lumMod val="75000"/>
                  </a:schemeClr>
                </a:solidFill>
                <a:latin typeface="微软雅黑" panose="020B0503020204020204" pitchFamily="34" charset="-122"/>
                <a:ea typeface="微软雅黑" panose="020B0503020204020204" pitchFamily="34" charset="-122"/>
              </a:endParaRPr>
            </a:p>
          </p:txBody>
        </p:sp>
        <p:sp>
          <p:nvSpPr>
            <p:cNvPr id="9" name="AutoShape 7">
              <a:extLst>
                <a:ext uri="{FF2B5EF4-FFF2-40B4-BE49-F238E27FC236}">
                  <a16:creationId xmlns:a16="http://schemas.microsoft.com/office/drawing/2014/main" id="{7A0E8E0C-139F-AA56-90C5-1FD7A322C4AD}"/>
                </a:ext>
              </a:extLst>
            </p:cNvPr>
            <p:cNvSpPr>
              <a:spLocks noChangeArrowheads="1"/>
            </p:cNvSpPr>
            <p:nvPr/>
          </p:nvSpPr>
          <p:spPr bwMode="auto">
            <a:xfrm rot="16200000" flipV="1">
              <a:off x="7668000" y="4140000"/>
              <a:ext cx="432000" cy="360000"/>
            </a:xfrm>
            <a:prstGeom prst="triangle">
              <a:avLst>
                <a:gd name="adj" fmla="val 50000"/>
              </a:avLst>
            </a:prstGeom>
            <a:noFill/>
            <a:ln w="381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2000" b="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10" name="Line 8">
              <a:extLst>
                <a:ext uri="{FF2B5EF4-FFF2-40B4-BE49-F238E27FC236}">
                  <a16:creationId xmlns:a16="http://schemas.microsoft.com/office/drawing/2014/main" id="{D5E738BE-7E4F-A3C4-64FF-21D99DD605AB}"/>
                </a:ext>
              </a:extLst>
            </p:cNvPr>
            <p:cNvSpPr>
              <a:spLocks noChangeShapeType="1"/>
            </p:cNvSpPr>
            <p:nvPr/>
          </p:nvSpPr>
          <p:spPr bwMode="auto">
            <a:xfrm>
              <a:off x="7380000" y="4320000"/>
              <a:ext cx="1080000"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sz="2000">
                <a:solidFill>
                  <a:schemeClr val="accent5">
                    <a:lumMod val="75000"/>
                  </a:schemeClr>
                </a:solidFill>
                <a:latin typeface="微软雅黑" panose="020B0503020204020204" pitchFamily="34" charset="-122"/>
                <a:ea typeface="微软雅黑" panose="020B0503020204020204" pitchFamily="34" charset="-122"/>
              </a:endParaRPr>
            </a:p>
          </p:txBody>
        </p:sp>
        <p:sp>
          <p:nvSpPr>
            <p:cNvPr id="11" name="Line 9">
              <a:extLst>
                <a:ext uri="{FF2B5EF4-FFF2-40B4-BE49-F238E27FC236}">
                  <a16:creationId xmlns:a16="http://schemas.microsoft.com/office/drawing/2014/main" id="{DE88C431-39DF-2FDC-CF03-7712F9810A77}"/>
                </a:ext>
              </a:extLst>
            </p:cNvPr>
            <p:cNvSpPr>
              <a:spLocks noChangeShapeType="1"/>
            </p:cNvSpPr>
            <p:nvPr/>
          </p:nvSpPr>
          <p:spPr bwMode="auto">
            <a:xfrm flipV="1">
              <a:off x="8082000" y="4068000"/>
              <a:ext cx="0" cy="50400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sz="2000">
                <a:solidFill>
                  <a:schemeClr val="accent5">
                    <a:lumMod val="75000"/>
                  </a:schemeClr>
                </a:solidFill>
                <a:latin typeface="微软雅黑" panose="020B0503020204020204" pitchFamily="34" charset="-122"/>
                <a:ea typeface="微软雅黑" panose="020B0503020204020204" pitchFamily="34" charset="-122"/>
              </a:endParaRPr>
            </a:p>
          </p:txBody>
        </p:sp>
      </p:grpSp>
      <p:grpSp>
        <p:nvGrpSpPr>
          <p:cNvPr id="41" name="组合 40">
            <a:extLst>
              <a:ext uri="{FF2B5EF4-FFF2-40B4-BE49-F238E27FC236}">
                <a16:creationId xmlns:a16="http://schemas.microsoft.com/office/drawing/2014/main" id="{B1F6D9B5-3924-3383-8C59-16BE26AFA667}"/>
              </a:ext>
            </a:extLst>
          </p:cNvPr>
          <p:cNvGrpSpPr/>
          <p:nvPr/>
        </p:nvGrpSpPr>
        <p:grpSpPr>
          <a:xfrm>
            <a:off x="9540000" y="3744000"/>
            <a:ext cx="1080000" cy="828000"/>
            <a:chOff x="7380000" y="3744000"/>
            <a:chExt cx="1080000" cy="828000"/>
          </a:xfrm>
        </p:grpSpPr>
        <p:sp>
          <p:nvSpPr>
            <p:cNvPr id="42" name="Line 15">
              <a:extLst>
                <a:ext uri="{FF2B5EF4-FFF2-40B4-BE49-F238E27FC236}">
                  <a16:creationId xmlns:a16="http://schemas.microsoft.com/office/drawing/2014/main" id="{B5BEE334-753A-D1A8-5B7A-DC1F39235ECF}"/>
                </a:ext>
              </a:extLst>
            </p:cNvPr>
            <p:cNvSpPr>
              <a:spLocks noChangeShapeType="1"/>
            </p:cNvSpPr>
            <p:nvPr/>
          </p:nvSpPr>
          <p:spPr bwMode="auto">
            <a:xfrm flipV="1">
              <a:off x="7812000" y="3744000"/>
              <a:ext cx="323850" cy="179387"/>
            </a:xfrm>
            <a:prstGeom prst="line">
              <a:avLst/>
            </a:prstGeom>
            <a:noFill/>
            <a:ln w="25400">
              <a:solidFill>
                <a:schemeClr val="tx1"/>
              </a:solidFill>
              <a:round/>
              <a:headEnd type="triangle" w="lg" len="lg"/>
              <a:tailEnd type="none" w="lg" len="lg"/>
            </a:ln>
            <a:extLst>
              <a:ext uri="{909E8E84-426E-40dd-AFC4-6F175D3DCCD1}">
                <a14:hiddenFill xmlns="" xmlns:a14="http://schemas.microsoft.com/office/drawing/2010/main">
                  <a:noFill/>
                </a14:hiddenFill>
              </a:ext>
            </a:extLst>
          </p:spPr>
          <p:txBody>
            <a:bodyPr/>
            <a:lstStyle/>
            <a:p>
              <a:endParaRPr lang="zh-CN" altLang="en-US" sz="2000" dirty="0">
                <a:solidFill>
                  <a:schemeClr val="accent5">
                    <a:lumMod val="75000"/>
                  </a:schemeClr>
                </a:solidFill>
                <a:latin typeface="微软雅黑" panose="020B0503020204020204" pitchFamily="34" charset="-122"/>
                <a:ea typeface="微软雅黑" panose="020B0503020204020204" pitchFamily="34" charset="-122"/>
              </a:endParaRPr>
            </a:p>
          </p:txBody>
        </p:sp>
        <p:sp>
          <p:nvSpPr>
            <p:cNvPr id="43" name="Line 16">
              <a:extLst>
                <a:ext uri="{FF2B5EF4-FFF2-40B4-BE49-F238E27FC236}">
                  <a16:creationId xmlns:a16="http://schemas.microsoft.com/office/drawing/2014/main" id="{C6FBD5C6-6F4C-20E1-3C3C-FDD8076191A5}"/>
                </a:ext>
              </a:extLst>
            </p:cNvPr>
            <p:cNvSpPr>
              <a:spLocks noChangeShapeType="1"/>
            </p:cNvSpPr>
            <p:nvPr/>
          </p:nvSpPr>
          <p:spPr bwMode="auto">
            <a:xfrm flipV="1">
              <a:off x="7920000" y="3852000"/>
              <a:ext cx="323850" cy="179387"/>
            </a:xfrm>
            <a:prstGeom prst="line">
              <a:avLst/>
            </a:prstGeom>
            <a:noFill/>
            <a:ln w="25400">
              <a:solidFill>
                <a:schemeClr val="tx1"/>
              </a:solidFill>
              <a:round/>
              <a:headEnd type="triangle" w="lg" len="lg"/>
              <a:tailEnd type="none" w="lg" len="lg"/>
            </a:ln>
            <a:extLst>
              <a:ext uri="{909E8E84-426E-40dd-AFC4-6F175D3DCCD1}">
                <a14:hiddenFill xmlns="" xmlns:a14="http://schemas.microsoft.com/office/drawing/2010/main">
                  <a:noFill/>
                </a14:hiddenFill>
              </a:ext>
            </a:extLst>
          </p:spPr>
          <p:txBody>
            <a:bodyPr/>
            <a:lstStyle/>
            <a:p>
              <a:endParaRPr lang="zh-CN" altLang="en-US" sz="2000">
                <a:solidFill>
                  <a:schemeClr val="accent5">
                    <a:lumMod val="75000"/>
                  </a:schemeClr>
                </a:solidFill>
                <a:latin typeface="微软雅黑" panose="020B0503020204020204" pitchFamily="34" charset="-122"/>
                <a:ea typeface="微软雅黑" panose="020B0503020204020204" pitchFamily="34" charset="-122"/>
              </a:endParaRPr>
            </a:p>
          </p:txBody>
        </p:sp>
        <p:sp>
          <p:nvSpPr>
            <p:cNvPr id="44" name="AutoShape 7">
              <a:extLst>
                <a:ext uri="{FF2B5EF4-FFF2-40B4-BE49-F238E27FC236}">
                  <a16:creationId xmlns:a16="http://schemas.microsoft.com/office/drawing/2014/main" id="{FC1127FC-E9B8-421A-38EE-3C6A877921D4}"/>
                </a:ext>
              </a:extLst>
            </p:cNvPr>
            <p:cNvSpPr>
              <a:spLocks noChangeArrowheads="1"/>
            </p:cNvSpPr>
            <p:nvPr/>
          </p:nvSpPr>
          <p:spPr bwMode="auto">
            <a:xfrm rot="16200000" flipV="1">
              <a:off x="7668000" y="4140000"/>
              <a:ext cx="432000" cy="360000"/>
            </a:xfrm>
            <a:prstGeom prst="triangle">
              <a:avLst>
                <a:gd name="adj" fmla="val 50000"/>
              </a:avLst>
            </a:prstGeom>
            <a:noFill/>
            <a:ln w="38100">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2000" b="0">
                <a:solidFill>
                  <a:schemeClr val="accent5">
                    <a:lumMod val="75000"/>
                  </a:schemeClr>
                </a:solidFill>
                <a:latin typeface="微软雅黑" panose="020B0503020204020204" pitchFamily="34" charset="-122"/>
                <a:ea typeface="微软雅黑" panose="020B0503020204020204" pitchFamily="34" charset="-122"/>
              </a:endParaRPr>
            </a:p>
          </p:txBody>
        </p:sp>
        <p:sp>
          <p:nvSpPr>
            <p:cNvPr id="45" name="Line 8">
              <a:extLst>
                <a:ext uri="{FF2B5EF4-FFF2-40B4-BE49-F238E27FC236}">
                  <a16:creationId xmlns:a16="http://schemas.microsoft.com/office/drawing/2014/main" id="{A4BB3A6D-B7EB-599D-CF66-BEB05983A476}"/>
                </a:ext>
              </a:extLst>
            </p:cNvPr>
            <p:cNvSpPr>
              <a:spLocks noChangeShapeType="1"/>
            </p:cNvSpPr>
            <p:nvPr/>
          </p:nvSpPr>
          <p:spPr bwMode="auto">
            <a:xfrm>
              <a:off x="7380000" y="4320000"/>
              <a:ext cx="1080000" cy="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sz="2000">
                <a:solidFill>
                  <a:schemeClr val="accent5">
                    <a:lumMod val="75000"/>
                  </a:schemeClr>
                </a:solidFill>
                <a:latin typeface="微软雅黑" panose="020B0503020204020204" pitchFamily="34" charset="-122"/>
                <a:ea typeface="微软雅黑" panose="020B0503020204020204" pitchFamily="34" charset="-122"/>
              </a:endParaRPr>
            </a:p>
          </p:txBody>
        </p:sp>
        <p:sp>
          <p:nvSpPr>
            <p:cNvPr id="46" name="Line 9">
              <a:extLst>
                <a:ext uri="{FF2B5EF4-FFF2-40B4-BE49-F238E27FC236}">
                  <a16:creationId xmlns:a16="http://schemas.microsoft.com/office/drawing/2014/main" id="{76625750-BED8-169F-7DAD-7C86575B4049}"/>
                </a:ext>
              </a:extLst>
            </p:cNvPr>
            <p:cNvSpPr>
              <a:spLocks noChangeShapeType="1"/>
            </p:cNvSpPr>
            <p:nvPr/>
          </p:nvSpPr>
          <p:spPr bwMode="auto">
            <a:xfrm flipV="1">
              <a:off x="8081999" y="4068000"/>
              <a:ext cx="0" cy="504000"/>
            </a:xfrm>
            <a:prstGeom prst="line">
              <a:avLst/>
            </a:prstGeom>
            <a:noFill/>
            <a:ln w="38100">
              <a:solidFill>
                <a:schemeClr val="tx1"/>
              </a:solidFill>
              <a:round/>
              <a:headEnd/>
              <a:tailEnd/>
            </a:ln>
            <a:extLst>
              <a:ext uri="{909E8E84-426E-40dd-AFC4-6F175D3DCCD1}">
                <a14:hiddenFill xmlns="" xmlns:a14="http://schemas.microsoft.com/office/drawing/2010/main">
                  <a:noFill/>
                </a14:hiddenFill>
              </a:ext>
            </a:extLst>
          </p:spPr>
          <p:txBody>
            <a:bodyPr/>
            <a:lstStyle/>
            <a:p>
              <a:endParaRPr lang="zh-CN" altLang="en-US" sz="2000">
                <a:solidFill>
                  <a:schemeClr val="accent5">
                    <a:lumMod val="75000"/>
                  </a:schemeClr>
                </a:solidFill>
                <a:latin typeface="微软雅黑" panose="020B0503020204020204" pitchFamily="34" charset="-122"/>
                <a:ea typeface="微软雅黑" panose="020B0503020204020204" pitchFamily="34" charset="-122"/>
              </a:endParaRPr>
            </a:p>
          </p:txBody>
        </p:sp>
      </p:grpSp>
    </p:spTree>
    <p:extLst>
      <p:ext uri="{BB962C8B-B14F-4D97-AF65-F5344CB8AC3E}">
        <p14:creationId xmlns:p14="http://schemas.microsoft.com/office/powerpoint/2010/main" val="26404358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6BA1A-0277-4066-6D16-ADB41951E097}"/>
            </a:ext>
          </a:extLst>
        </p:cNvPr>
        <p:cNvGrpSpPr/>
        <p:nvPr/>
      </p:nvGrpSpPr>
      <p:grpSpPr>
        <a:xfrm>
          <a:off x="0" y="0"/>
          <a:ext cx="0" cy="0"/>
          <a:chOff x="0" y="0"/>
          <a:chExt cx="0" cy="0"/>
        </a:xfrm>
      </p:grpSpPr>
      <p:grpSp>
        <p:nvGrpSpPr>
          <p:cNvPr id="13" name="组合 12">
            <a:extLst>
              <a:ext uri="{FF2B5EF4-FFF2-40B4-BE49-F238E27FC236}">
                <a16:creationId xmlns:a16="http://schemas.microsoft.com/office/drawing/2014/main" id="{A7E98E88-8201-A93B-F22B-03CD0FC59A5F}"/>
              </a:ext>
            </a:extLst>
          </p:cNvPr>
          <p:cNvGrpSpPr/>
          <p:nvPr/>
        </p:nvGrpSpPr>
        <p:grpSpPr>
          <a:xfrm>
            <a:off x="11449269" y="6198682"/>
            <a:ext cx="786273" cy="548639"/>
            <a:chOff x="11454918" y="5839511"/>
            <a:chExt cx="786273" cy="548639"/>
          </a:xfrm>
        </p:grpSpPr>
        <p:grpSp>
          <p:nvGrpSpPr>
            <p:cNvPr id="14" name="组合 13">
              <a:extLst>
                <a:ext uri="{FF2B5EF4-FFF2-40B4-BE49-F238E27FC236}">
                  <a16:creationId xmlns:a16="http://schemas.microsoft.com/office/drawing/2014/main" id="{1864BC9F-B20F-0334-23F4-779C0F18621F}"/>
                </a:ext>
              </a:extLst>
            </p:cNvPr>
            <p:cNvGrpSpPr/>
            <p:nvPr/>
          </p:nvGrpSpPr>
          <p:grpSpPr>
            <a:xfrm>
              <a:off x="11454918" y="5867450"/>
              <a:ext cx="737081" cy="520700"/>
              <a:chOff x="11454918" y="5867450"/>
              <a:chExt cx="737081" cy="520700"/>
            </a:xfrm>
          </p:grpSpPr>
          <p:sp>
            <p:nvSpPr>
              <p:cNvPr id="16" name="箭头: 五边形 15">
                <a:extLst>
                  <a:ext uri="{FF2B5EF4-FFF2-40B4-BE49-F238E27FC236}">
                    <a16:creationId xmlns:a16="http://schemas.microsoft.com/office/drawing/2014/main" id="{D90581C8-E0D9-6C17-7581-D122779A687D}"/>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箭头: V 形 16">
                <a:extLst>
                  <a:ext uri="{FF2B5EF4-FFF2-40B4-BE49-F238E27FC236}">
                    <a16:creationId xmlns:a16="http://schemas.microsoft.com/office/drawing/2014/main" id="{BCCC5A1B-2304-EB4C-ABEC-E95789611971}"/>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5" name="灯片编号占位符 3">
              <a:extLst>
                <a:ext uri="{FF2B5EF4-FFF2-40B4-BE49-F238E27FC236}">
                  <a16:creationId xmlns:a16="http://schemas.microsoft.com/office/drawing/2014/main" id="{9C40D224-783F-CFE0-13A8-0A790C19228C}"/>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23</a:t>
              </a:fld>
              <a:endParaRPr lang="zh-CN" altLang="en-US" sz="3200" dirty="0">
                <a:solidFill>
                  <a:schemeClr val="bg1"/>
                </a:solidFill>
                <a:latin typeface="Candara"/>
                <a:ea typeface="微软雅黑"/>
              </a:endParaRPr>
            </a:p>
          </p:txBody>
        </p:sp>
      </p:grpSp>
      <p:sp>
        <p:nvSpPr>
          <p:cNvPr id="19" name="文本框 18">
            <a:extLst>
              <a:ext uri="{FF2B5EF4-FFF2-40B4-BE49-F238E27FC236}">
                <a16:creationId xmlns:a16="http://schemas.microsoft.com/office/drawing/2014/main" id="{8D0457D7-8188-EEF3-C1B8-2E3D6A5C2FAB}"/>
              </a:ext>
            </a:extLst>
          </p:cNvPr>
          <p:cNvSpPr txBox="1"/>
          <p:nvPr/>
        </p:nvSpPr>
        <p:spPr>
          <a:xfrm>
            <a:off x="360000" y="828000"/>
            <a:ext cx="9501299" cy="1159613"/>
          </a:xfrm>
          <a:prstGeom prst="rect">
            <a:avLst/>
          </a:prstGeom>
          <a:noFill/>
        </p:spPr>
        <p:txBody>
          <a:bodyPr wrap="square">
            <a:spAutoFit/>
          </a:bodyPr>
          <a:lstStyle/>
          <a:p>
            <a:pPr>
              <a:lnSpc>
                <a:spcPct val="120000"/>
              </a:lnSpc>
              <a:spcAft>
                <a:spcPts val="600"/>
              </a:spcAft>
            </a:pPr>
            <a:r>
              <a:rPr kumimoji="1" lang="zh-CN" altLang="en-US" sz="2800" dirty="0">
                <a:solidFill>
                  <a:srgbClr val="002060"/>
                </a:solidFill>
                <a:latin typeface="微软雅黑" panose="020B0503020204020204" pitchFamily="34" charset="-122"/>
                <a:ea typeface="微软雅黑" panose="020B0503020204020204" pitchFamily="34" charset="-122"/>
              </a:rPr>
              <a:t>二极管的主要应用</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整流：将双极性电压（电流）变为单极性电压（电流）</a:t>
            </a:r>
            <a:endParaRPr kumimoji="1" lang="en-US" altLang="zh-CN" sz="2800" dirty="0">
              <a:solidFill>
                <a:srgbClr val="002060"/>
              </a:solidFill>
              <a:latin typeface="微软雅黑" panose="020B0503020204020204" pitchFamily="34" charset="-122"/>
              <a:ea typeface="微软雅黑" panose="020B0503020204020204" pitchFamily="34" charset="-122"/>
            </a:endParaRPr>
          </a:p>
        </p:txBody>
      </p:sp>
      <p:grpSp>
        <p:nvGrpSpPr>
          <p:cNvPr id="2" name="组合 1">
            <a:extLst>
              <a:ext uri="{FF2B5EF4-FFF2-40B4-BE49-F238E27FC236}">
                <a16:creationId xmlns:a16="http://schemas.microsoft.com/office/drawing/2014/main" id="{9A18D8BE-F4BC-62FD-8F46-1B5F6CC77127}"/>
              </a:ext>
            </a:extLst>
          </p:cNvPr>
          <p:cNvGrpSpPr/>
          <p:nvPr/>
        </p:nvGrpSpPr>
        <p:grpSpPr>
          <a:xfrm>
            <a:off x="1080000" y="2376000"/>
            <a:ext cx="3024000" cy="1728001"/>
            <a:chOff x="1224000" y="2519999"/>
            <a:chExt cx="3024000" cy="1728001"/>
          </a:xfrm>
        </p:grpSpPr>
        <p:sp>
          <p:nvSpPr>
            <p:cNvPr id="21" name="椭圆 20">
              <a:extLst>
                <a:ext uri="{FF2B5EF4-FFF2-40B4-BE49-F238E27FC236}">
                  <a16:creationId xmlns:a16="http://schemas.microsoft.com/office/drawing/2014/main" id="{609DEF83-BC58-1742-7274-2FB51CF6615D}"/>
                </a:ext>
              </a:extLst>
            </p:cNvPr>
            <p:cNvSpPr/>
            <p:nvPr/>
          </p:nvSpPr>
          <p:spPr>
            <a:xfrm>
              <a:off x="1548000" y="3240000"/>
              <a:ext cx="432000" cy="432000"/>
            </a:xfrm>
            <a:prstGeom prst="ellipse">
              <a:avLst/>
            </a:prstGeom>
            <a:noFill/>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22" name="等腰三角形 21">
              <a:extLst>
                <a:ext uri="{FF2B5EF4-FFF2-40B4-BE49-F238E27FC236}">
                  <a16:creationId xmlns:a16="http://schemas.microsoft.com/office/drawing/2014/main" id="{FE96E5F1-3555-BAEC-F5D8-FE3995625361}"/>
                </a:ext>
              </a:extLst>
            </p:cNvPr>
            <p:cNvSpPr/>
            <p:nvPr/>
          </p:nvSpPr>
          <p:spPr>
            <a:xfrm rot="5400000">
              <a:off x="2304000" y="2592000"/>
              <a:ext cx="396000" cy="288000"/>
            </a:xfrm>
            <a:prstGeom prst="triangl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cxnSp>
          <p:nvCxnSpPr>
            <p:cNvPr id="23" name="直接连接符 22">
              <a:extLst>
                <a:ext uri="{FF2B5EF4-FFF2-40B4-BE49-F238E27FC236}">
                  <a16:creationId xmlns:a16="http://schemas.microsoft.com/office/drawing/2014/main" id="{1CB1B44C-50C4-DDEF-67BA-4F612F20CB79}"/>
                </a:ext>
              </a:extLst>
            </p:cNvPr>
            <p:cNvCxnSpPr>
              <a:cxnSpLocks/>
            </p:cNvCxnSpPr>
            <p:nvPr/>
          </p:nvCxnSpPr>
          <p:spPr>
            <a:xfrm>
              <a:off x="2646000" y="2519999"/>
              <a:ext cx="0" cy="432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3B9EA1BB-878A-3D9F-841D-AA0A441D67BA}"/>
                </a:ext>
              </a:extLst>
            </p:cNvPr>
            <p:cNvCxnSpPr>
              <a:cxnSpLocks/>
            </p:cNvCxnSpPr>
            <p:nvPr/>
          </p:nvCxnSpPr>
          <p:spPr>
            <a:xfrm flipH="1">
              <a:off x="1764000" y="2736000"/>
              <a:ext cx="223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3117C030-51A2-D501-3E03-AEC9241A9F38}"/>
                </a:ext>
              </a:extLst>
            </p:cNvPr>
            <p:cNvCxnSpPr>
              <a:cxnSpLocks/>
            </p:cNvCxnSpPr>
            <p:nvPr/>
          </p:nvCxnSpPr>
          <p:spPr>
            <a:xfrm>
              <a:off x="3528000" y="2736000"/>
              <a:ext cx="0" cy="144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FB347EC9-992B-40A1-5A41-28B7BC68124D}"/>
                </a:ext>
              </a:extLst>
            </p:cNvPr>
            <p:cNvSpPr/>
            <p:nvPr/>
          </p:nvSpPr>
          <p:spPr>
            <a:xfrm>
              <a:off x="3456000" y="3240000"/>
              <a:ext cx="144000" cy="504000"/>
            </a:xfrm>
            <a:prstGeom prst="rect">
              <a:avLst/>
            </a:prstGeom>
            <a:solidFill>
              <a:schemeClr val="bg1">
                <a:alpha val="99000"/>
              </a:schemeClr>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29" name="直接连接符 28">
              <a:extLst>
                <a:ext uri="{FF2B5EF4-FFF2-40B4-BE49-F238E27FC236}">
                  <a16:creationId xmlns:a16="http://schemas.microsoft.com/office/drawing/2014/main" id="{8D3D5D84-EAE4-EA6B-BAFC-F9472DA89D65}"/>
                </a:ext>
              </a:extLst>
            </p:cNvPr>
            <p:cNvCxnSpPr>
              <a:cxnSpLocks/>
            </p:cNvCxnSpPr>
            <p:nvPr/>
          </p:nvCxnSpPr>
          <p:spPr>
            <a:xfrm>
              <a:off x="1764000" y="2736000"/>
              <a:ext cx="0" cy="144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6533E5ED-285C-ECEC-FCB5-BDC64FEB487C}"/>
                </a:ext>
              </a:extLst>
            </p:cNvPr>
            <p:cNvCxnSpPr>
              <a:cxnSpLocks/>
            </p:cNvCxnSpPr>
            <p:nvPr/>
          </p:nvCxnSpPr>
          <p:spPr>
            <a:xfrm flipH="1">
              <a:off x="1764000" y="4176000"/>
              <a:ext cx="223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椭圆 31">
              <a:extLst>
                <a:ext uri="{FF2B5EF4-FFF2-40B4-BE49-F238E27FC236}">
                  <a16:creationId xmlns:a16="http://schemas.microsoft.com/office/drawing/2014/main" id="{DB7E5D30-897C-C400-6B9E-C30D32642F34}"/>
                </a:ext>
              </a:extLst>
            </p:cNvPr>
            <p:cNvSpPr/>
            <p:nvPr/>
          </p:nvSpPr>
          <p:spPr>
            <a:xfrm>
              <a:off x="3456000" y="2664000"/>
              <a:ext cx="144000" cy="144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33" name="Rectangle 8">
                  <a:extLst>
                    <a:ext uri="{FF2B5EF4-FFF2-40B4-BE49-F238E27FC236}">
                      <a16:creationId xmlns:a16="http://schemas.microsoft.com/office/drawing/2014/main" id="{51A18A19-3B2A-E504-C5AC-DE33E15FA7AE}"/>
                    </a:ext>
                  </a:extLst>
                </p:cNvPr>
                <p:cNvSpPr>
                  <a:spLocks noChangeArrowheads="1"/>
                </p:cNvSpPr>
                <p:nvPr/>
              </p:nvSpPr>
              <p:spPr bwMode="auto">
                <a:xfrm>
                  <a:off x="3168000" y="3312000"/>
                  <a:ext cx="360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right"/>
                      </m:oMathParaPr>
                      <m:oMath xmlns:m="http://schemas.openxmlformats.org/officeDocument/2006/math">
                        <m:r>
                          <a:rPr kumimoji="1" lang="en-US" altLang="zh-CN" sz="2000" b="0" i="1" smtClean="0">
                            <a:solidFill>
                              <a:schemeClr val="tx1"/>
                            </a:solidFill>
                            <a:latin typeface="Cambria Math" panose="02040503050406030204" pitchFamily="18" charset="0"/>
                            <a:ea typeface="微软雅黑" panose="020B0503020204020204" pitchFamily="34" charset="-122"/>
                          </a:rPr>
                          <m:t>𝑅</m:t>
                        </m:r>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33" name="Rectangle 8">
                  <a:extLst>
                    <a:ext uri="{FF2B5EF4-FFF2-40B4-BE49-F238E27FC236}">
                      <a16:creationId xmlns:a16="http://schemas.microsoft.com/office/drawing/2014/main" id="{51A18A19-3B2A-E504-C5AC-DE33E15FA7AE}"/>
                    </a:ext>
                  </a:extLst>
                </p:cNvPr>
                <p:cNvSpPr>
                  <a:spLocks noRot="1" noChangeAspect="1" noMove="1" noResize="1" noEditPoints="1" noAdjustHandles="1" noChangeArrowheads="1" noChangeShapeType="1" noTextEdit="1"/>
                </p:cNvSpPr>
                <p:nvPr/>
              </p:nvSpPr>
              <p:spPr bwMode="auto">
                <a:xfrm>
                  <a:off x="3168000" y="3312000"/>
                  <a:ext cx="360000" cy="396000"/>
                </a:xfrm>
                <a:prstGeom prst="rect">
                  <a:avLst/>
                </a:prstGeom>
                <a:blipFill>
                  <a:blip r:embed="rId2"/>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4" name="椭圆 33">
              <a:extLst>
                <a:ext uri="{FF2B5EF4-FFF2-40B4-BE49-F238E27FC236}">
                  <a16:creationId xmlns:a16="http://schemas.microsoft.com/office/drawing/2014/main" id="{83A53CE0-BDF3-0C97-0D40-A39B6CB26C24}"/>
                </a:ext>
              </a:extLst>
            </p:cNvPr>
            <p:cNvSpPr/>
            <p:nvPr/>
          </p:nvSpPr>
          <p:spPr>
            <a:xfrm>
              <a:off x="3456000" y="4104000"/>
              <a:ext cx="144000" cy="144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36" name="Rectangle 8">
                  <a:extLst>
                    <a:ext uri="{FF2B5EF4-FFF2-40B4-BE49-F238E27FC236}">
                      <a16:creationId xmlns:a16="http://schemas.microsoft.com/office/drawing/2014/main" id="{195B50F6-B9A2-28F0-1711-05347236B252}"/>
                    </a:ext>
                  </a:extLst>
                </p:cNvPr>
                <p:cNvSpPr>
                  <a:spLocks noChangeArrowheads="1"/>
                </p:cNvSpPr>
                <p:nvPr/>
              </p:nvSpPr>
              <p:spPr bwMode="auto">
                <a:xfrm>
                  <a:off x="1224000" y="2952000"/>
                  <a:ext cx="360000" cy="1044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0"/>
                    </a:spcAft>
                    <a:buNone/>
                  </a:pPr>
                  <a14:m>
                    <m:oMathPara xmlns:m="http://schemas.openxmlformats.org/officeDocument/2006/math">
                      <m:oMathParaPr>
                        <m:jc m:val="centerGroup"/>
                      </m:oMathParaPr>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m:oMathPara>
                  </a14:m>
                  <a:endParaRPr kumimoji="1" lang="en-US" altLang="zh-CN" sz="2000" b="0" i="1" dirty="0">
                    <a:latin typeface="Cambria Math" panose="02040503050406030204" pitchFamily="18" charset="0"/>
                    <a:ea typeface="微软雅黑" panose="020B0503020204020204" pitchFamily="34" charset="-122"/>
                  </a:endParaRPr>
                </a:p>
                <a:p>
                  <a:pPr algn="ctr">
                    <a:spcAft>
                      <a:spcPts val="0"/>
                    </a:spcAft>
                    <a:buNone/>
                  </a:pPr>
                  <a14:m>
                    <m:oMathPara xmlns:m="http://schemas.openxmlformats.org/officeDocument/2006/math">
                      <m:oMathParaPr>
                        <m:jc m:val="centerGroup"/>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𝑣</m:t>
                            </m:r>
                          </m:e>
                          <m:sub>
                            <m:r>
                              <m:rPr>
                                <m:sty m:val="p"/>
                              </m:rPr>
                              <a:rPr kumimoji="1" lang="en-US" altLang="zh-CN" sz="2000" b="0" i="0" smtClean="0">
                                <a:latin typeface="Cambria Math" panose="02040503050406030204" pitchFamily="18" charset="0"/>
                                <a:ea typeface="微软雅黑" panose="020B0503020204020204" pitchFamily="34" charset="-122"/>
                              </a:rPr>
                              <m:t>s</m:t>
                            </m:r>
                          </m:sub>
                        </m:sSub>
                      </m:oMath>
                    </m:oMathPara>
                  </a14:m>
                  <a:endParaRPr kumimoji="1" lang="en-US" altLang="zh-CN" sz="2000" b="0" dirty="0">
                    <a:latin typeface="微软雅黑" panose="020B0503020204020204" pitchFamily="34" charset="-122"/>
                    <a:ea typeface="微软雅黑" panose="020B0503020204020204" pitchFamily="34" charset="-122"/>
                  </a:endParaRPr>
                </a:p>
                <a:p>
                  <a:pPr algn="ctr">
                    <a:spcAft>
                      <a:spcPts val="0"/>
                    </a:spcAft>
                    <a:buNone/>
                  </a:pPr>
                  <a14:m>
                    <m:oMathPara xmlns:m="http://schemas.openxmlformats.org/officeDocument/2006/math">
                      <m:oMathParaPr>
                        <m:jc m:val="centerGroup"/>
                      </m:oMathParaPr>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36" name="Rectangle 8">
                  <a:extLst>
                    <a:ext uri="{FF2B5EF4-FFF2-40B4-BE49-F238E27FC236}">
                      <a16:creationId xmlns:a16="http://schemas.microsoft.com/office/drawing/2014/main" id="{195B50F6-B9A2-28F0-1711-05347236B252}"/>
                    </a:ext>
                  </a:extLst>
                </p:cNvPr>
                <p:cNvSpPr>
                  <a:spLocks noRot="1" noChangeAspect="1" noMove="1" noResize="1" noEditPoints="1" noAdjustHandles="1" noChangeArrowheads="1" noChangeShapeType="1" noTextEdit="1"/>
                </p:cNvSpPr>
                <p:nvPr/>
              </p:nvSpPr>
              <p:spPr bwMode="auto">
                <a:xfrm>
                  <a:off x="1224000" y="2952000"/>
                  <a:ext cx="360000" cy="1044000"/>
                </a:xfrm>
                <a:prstGeom prst="rect">
                  <a:avLst/>
                </a:prstGeom>
                <a:blipFill>
                  <a:blip r:embed="rId3"/>
                  <a:stretch>
                    <a:fillRect l="-15254"/>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Rectangle 8">
                  <a:extLst>
                    <a:ext uri="{FF2B5EF4-FFF2-40B4-BE49-F238E27FC236}">
                      <a16:creationId xmlns:a16="http://schemas.microsoft.com/office/drawing/2014/main" id="{F2BD0D93-0B8F-A210-1705-23FA74E1BCFD}"/>
                    </a:ext>
                  </a:extLst>
                </p:cNvPr>
                <p:cNvSpPr>
                  <a:spLocks noChangeArrowheads="1"/>
                </p:cNvSpPr>
                <p:nvPr/>
              </p:nvSpPr>
              <p:spPr bwMode="auto">
                <a:xfrm>
                  <a:off x="3888000" y="2952000"/>
                  <a:ext cx="360000" cy="1044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0"/>
                    </a:spcAft>
                    <a:buNone/>
                  </a:pPr>
                  <a14:m>
                    <m:oMathPara xmlns:m="http://schemas.openxmlformats.org/officeDocument/2006/math">
                      <m:oMathParaPr>
                        <m:jc m:val="centerGroup"/>
                      </m:oMathParaPr>
                      <m:oMath xmlns:m="http://schemas.openxmlformats.org/officeDocument/2006/math">
                        <m:r>
                          <a:rPr kumimoji="1" lang="pt-BR" altLang="zh-CN" sz="2000" b="0" i="1" smtClean="0">
                            <a:latin typeface="Cambria Math" panose="02040503050406030204" pitchFamily="18" charset="0"/>
                            <a:ea typeface="微软雅黑" panose="020B0503020204020204" pitchFamily="34" charset="-122"/>
                          </a:rPr>
                          <m:t>+</m:t>
                        </m:r>
                      </m:oMath>
                    </m:oMathPara>
                  </a14:m>
                  <a:endParaRPr kumimoji="1" lang="en-US" altLang="zh-CN" sz="2000" b="0" dirty="0">
                    <a:latin typeface="微软雅黑" panose="020B0503020204020204" pitchFamily="34" charset="-122"/>
                    <a:ea typeface="微软雅黑" panose="020B0503020204020204" pitchFamily="34" charset="-122"/>
                  </a:endParaRPr>
                </a:p>
                <a:p>
                  <a:pPr algn="ctr">
                    <a:spcAft>
                      <a:spcPts val="0"/>
                    </a:spcAft>
                    <a:buNone/>
                  </a:pPr>
                  <a14:m>
                    <m:oMathPara xmlns:m="http://schemas.openxmlformats.org/officeDocument/2006/math">
                      <m:oMathParaPr>
                        <m:jc m:val="centerGroup"/>
                      </m:oMathParaPr>
                      <m:oMath xmlns:m="http://schemas.openxmlformats.org/officeDocument/2006/math">
                        <m:sSub>
                          <m:sSubPr>
                            <m:ctrlPr>
                              <a:rPr kumimoji="1" lang="en-US" altLang="zh-CN" sz="2000" b="0" i="1">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𝑣</m:t>
                            </m:r>
                          </m:e>
                          <m:sub>
                            <m:r>
                              <m:rPr>
                                <m:sty m:val="p"/>
                              </m:rPr>
                              <a:rPr kumimoji="1" lang="en-US" altLang="zh-CN" sz="2000" b="0" i="0" smtClean="0">
                                <a:latin typeface="Cambria Math" panose="02040503050406030204" pitchFamily="18" charset="0"/>
                                <a:ea typeface="微软雅黑" panose="020B0503020204020204" pitchFamily="34" charset="-122"/>
                              </a:rPr>
                              <m:t>o</m:t>
                            </m:r>
                          </m:sub>
                        </m:sSub>
                      </m:oMath>
                    </m:oMathPara>
                  </a14:m>
                  <a:endParaRPr kumimoji="1" lang="en-US" altLang="zh-CN" sz="2000" b="0" i="1" dirty="0">
                    <a:latin typeface="Cambria Math" panose="02040503050406030204" pitchFamily="18" charset="0"/>
                    <a:ea typeface="微软雅黑" panose="020B0503020204020204" pitchFamily="34" charset="-122"/>
                  </a:endParaRPr>
                </a:p>
                <a:p>
                  <a:pPr algn="ctr">
                    <a:spcAft>
                      <a:spcPts val="0"/>
                    </a:spcAft>
                    <a:buNone/>
                  </a:pPr>
                  <a14:m>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p>
              </p:txBody>
            </p:sp>
          </mc:Choice>
          <mc:Fallback xmlns="">
            <p:sp>
              <p:nvSpPr>
                <p:cNvPr id="40" name="Rectangle 8">
                  <a:extLst>
                    <a:ext uri="{FF2B5EF4-FFF2-40B4-BE49-F238E27FC236}">
                      <a16:creationId xmlns:a16="http://schemas.microsoft.com/office/drawing/2014/main" id="{F2BD0D93-0B8F-A210-1705-23FA74E1BCFD}"/>
                    </a:ext>
                  </a:extLst>
                </p:cNvPr>
                <p:cNvSpPr>
                  <a:spLocks noRot="1" noChangeAspect="1" noMove="1" noResize="1" noEditPoints="1" noAdjustHandles="1" noChangeArrowheads="1" noChangeShapeType="1" noTextEdit="1"/>
                </p:cNvSpPr>
                <p:nvPr/>
              </p:nvSpPr>
              <p:spPr bwMode="auto">
                <a:xfrm>
                  <a:off x="3888000" y="2952000"/>
                  <a:ext cx="360000" cy="1044000"/>
                </a:xfrm>
                <a:prstGeom prst="rect">
                  <a:avLst/>
                </a:prstGeom>
                <a:blipFill>
                  <a:blip r:embed="rId4"/>
                  <a:stretch>
                    <a:fillRect l="-15254"/>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41" name="椭圆 40">
              <a:extLst>
                <a:ext uri="{FF2B5EF4-FFF2-40B4-BE49-F238E27FC236}">
                  <a16:creationId xmlns:a16="http://schemas.microsoft.com/office/drawing/2014/main" id="{5592B5D3-F018-9A4C-8823-2BC1E00A17E7}"/>
                </a:ext>
              </a:extLst>
            </p:cNvPr>
            <p:cNvSpPr/>
            <p:nvPr/>
          </p:nvSpPr>
          <p:spPr>
            <a:xfrm>
              <a:off x="3924000" y="2664000"/>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42" name="椭圆 41">
              <a:extLst>
                <a:ext uri="{FF2B5EF4-FFF2-40B4-BE49-F238E27FC236}">
                  <a16:creationId xmlns:a16="http://schemas.microsoft.com/office/drawing/2014/main" id="{D25F7427-9E2C-F874-849B-C5B9E89003F6}"/>
                </a:ext>
              </a:extLst>
            </p:cNvPr>
            <p:cNvSpPr/>
            <p:nvPr/>
          </p:nvSpPr>
          <p:spPr>
            <a:xfrm>
              <a:off x="3924000" y="4104000"/>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p:grpSp>
        <p:nvGrpSpPr>
          <p:cNvPr id="92" name="组合 91">
            <a:extLst>
              <a:ext uri="{FF2B5EF4-FFF2-40B4-BE49-F238E27FC236}">
                <a16:creationId xmlns:a16="http://schemas.microsoft.com/office/drawing/2014/main" id="{AF3F5F8F-9BAA-B4F8-4BDA-F632AE63EFF2}"/>
              </a:ext>
            </a:extLst>
          </p:cNvPr>
          <p:cNvGrpSpPr/>
          <p:nvPr/>
        </p:nvGrpSpPr>
        <p:grpSpPr>
          <a:xfrm>
            <a:off x="5976000" y="2016000"/>
            <a:ext cx="5434850" cy="1980000"/>
            <a:chOff x="5531020" y="2778037"/>
            <a:chExt cx="5434850" cy="1980000"/>
          </a:xfrm>
        </p:grpSpPr>
        <p:cxnSp>
          <p:nvCxnSpPr>
            <p:cNvPr id="67" name="直接连接符 66">
              <a:extLst>
                <a:ext uri="{FF2B5EF4-FFF2-40B4-BE49-F238E27FC236}">
                  <a16:creationId xmlns:a16="http://schemas.microsoft.com/office/drawing/2014/main" id="{372D7B2E-A3B2-ABD4-5706-B04C78C09A24}"/>
                </a:ext>
              </a:extLst>
            </p:cNvPr>
            <p:cNvCxnSpPr>
              <a:cxnSpLocks/>
            </p:cNvCxnSpPr>
            <p:nvPr/>
          </p:nvCxnSpPr>
          <p:spPr>
            <a:xfrm>
              <a:off x="5531020" y="3966037"/>
              <a:ext cx="4877737" cy="0"/>
            </a:xfrm>
            <a:prstGeom prst="line">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40362A52-CE0E-D74F-9B0C-B50AB24E2182}"/>
                </a:ext>
              </a:extLst>
            </p:cNvPr>
            <p:cNvCxnSpPr>
              <a:cxnSpLocks/>
            </p:cNvCxnSpPr>
            <p:nvPr/>
          </p:nvCxnSpPr>
          <p:spPr>
            <a:xfrm flipV="1">
              <a:off x="5927020" y="2958037"/>
              <a:ext cx="0" cy="1800000"/>
            </a:xfrm>
            <a:prstGeom prst="line">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9" name="Text Box 8">
                  <a:extLst>
                    <a:ext uri="{FF2B5EF4-FFF2-40B4-BE49-F238E27FC236}">
                      <a16:creationId xmlns:a16="http://schemas.microsoft.com/office/drawing/2014/main" id="{7449740A-D837-0AAE-F284-7728882A8255}"/>
                    </a:ext>
                  </a:extLst>
                </p:cNvPr>
                <p:cNvSpPr txBox="1">
                  <a:spLocks noChangeArrowheads="1"/>
                </p:cNvSpPr>
                <p:nvPr/>
              </p:nvSpPr>
              <p:spPr bwMode="auto">
                <a:xfrm>
                  <a:off x="5567020" y="2778037"/>
                  <a:ext cx="432000" cy="468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ea typeface="微软雅黑" panose="020B0503020204020204" pitchFamily="34" charset="-122"/>
                              </a:rPr>
                            </m:ctrlPr>
                          </m:sSubPr>
                          <m:e>
                            <m:r>
                              <a:rPr kumimoji="1" lang="en-US" altLang="zh-CN" sz="2400" b="0" i="1" smtClean="0">
                                <a:latin typeface="Cambria Math" panose="02040503050406030204" pitchFamily="18" charset="0"/>
                                <a:ea typeface="微软雅黑" panose="020B0503020204020204" pitchFamily="34" charset="-122"/>
                              </a:rPr>
                              <m:t>𝑣</m:t>
                            </m:r>
                          </m:e>
                          <m:sub>
                            <m:r>
                              <m:rPr>
                                <m:sty m:val="p"/>
                              </m:rPr>
                              <a:rPr kumimoji="1" lang="en-US" altLang="zh-CN" sz="2400" b="0" i="0" smtClean="0">
                                <a:latin typeface="Cambria Math" panose="02040503050406030204" pitchFamily="18" charset="0"/>
                                <a:ea typeface="微软雅黑" panose="020B0503020204020204" pitchFamily="34" charset="-122"/>
                              </a:rPr>
                              <m:t>s</m:t>
                            </m:r>
                          </m:sub>
                        </m:sSub>
                      </m:oMath>
                    </m:oMathPara>
                  </a14:m>
                  <a:endParaRPr kumimoji="1" lang="en-US" altLang="zh-CN" sz="2400" i="1" dirty="0">
                    <a:ea typeface="楷体_GB2312" pitchFamily="49" charset="-122"/>
                  </a:endParaRPr>
                </a:p>
              </p:txBody>
            </p:sp>
          </mc:Choice>
          <mc:Fallback xmlns="">
            <p:sp>
              <p:nvSpPr>
                <p:cNvPr id="69" name="Text Box 8">
                  <a:extLst>
                    <a:ext uri="{FF2B5EF4-FFF2-40B4-BE49-F238E27FC236}">
                      <a16:creationId xmlns:a16="http://schemas.microsoft.com/office/drawing/2014/main" id="{7449740A-D837-0AAE-F284-7728882A8255}"/>
                    </a:ext>
                  </a:extLst>
                </p:cNvPr>
                <p:cNvSpPr txBox="1">
                  <a:spLocks noRot="1" noChangeAspect="1" noMove="1" noResize="1" noEditPoints="1" noAdjustHandles="1" noChangeArrowheads="1" noChangeShapeType="1" noTextEdit="1"/>
                </p:cNvSpPr>
                <p:nvPr/>
              </p:nvSpPr>
              <p:spPr bwMode="auto">
                <a:xfrm>
                  <a:off x="5567020" y="2778037"/>
                  <a:ext cx="432000" cy="468000"/>
                </a:xfrm>
                <a:prstGeom prst="rect">
                  <a:avLst/>
                </a:prstGeom>
                <a:blipFill>
                  <a:blip r:embed="rId5"/>
                  <a:stretch>
                    <a:fillRect l="-8451"/>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Text Box 8">
                  <a:extLst>
                    <a:ext uri="{FF2B5EF4-FFF2-40B4-BE49-F238E27FC236}">
                      <a16:creationId xmlns:a16="http://schemas.microsoft.com/office/drawing/2014/main" id="{27EFC853-27E9-6B10-8841-F69137E94148}"/>
                    </a:ext>
                  </a:extLst>
                </p:cNvPr>
                <p:cNvSpPr txBox="1">
                  <a:spLocks noChangeArrowheads="1"/>
                </p:cNvSpPr>
                <p:nvPr/>
              </p:nvSpPr>
              <p:spPr bwMode="auto">
                <a:xfrm>
                  <a:off x="10355020" y="3677885"/>
                  <a:ext cx="610850" cy="468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r>
                          <a:rPr kumimoji="1" lang="zh-CN" altLang="en-US" sz="2400" b="0" i="1" smtClean="0">
                            <a:latin typeface="Cambria Math" panose="02040503050406030204" pitchFamily="18" charset="0"/>
                            <a:ea typeface="微软雅黑" panose="020B0503020204020204" pitchFamily="34" charset="-122"/>
                          </a:rPr>
                          <m:t>𝜔</m:t>
                        </m:r>
                        <m:r>
                          <a:rPr kumimoji="1" lang="en-US" altLang="zh-CN" sz="2400" b="0" i="1" smtClean="0">
                            <a:latin typeface="Cambria Math" panose="02040503050406030204" pitchFamily="18" charset="0"/>
                            <a:ea typeface="微软雅黑" panose="020B0503020204020204" pitchFamily="34" charset="-122"/>
                          </a:rPr>
                          <m:t>𝑡</m:t>
                        </m:r>
                      </m:oMath>
                    </m:oMathPara>
                  </a14:m>
                  <a:endParaRPr kumimoji="1" lang="en-US" altLang="zh-CN" sz="2400" i="1" dirty="0">
                    <a:ea typeface="楷体_GB2312" pitchFamily="49" charset="-122"/>
                  </a:endParaRPr>
                </a:p>
              </p:txBody>
            </p:sp>
          </mc:Choice>
          <mc:Fallback xmlns="">
            <p:sp>
              <p:nvSpPr>
                <p:cNvPr id="70" name="Text Box 8">
                  <a:extLst>
                    <a:ext uri="{FF2B5EF4-FFF2-40B4-BE49-F238E27FC236}">
                      <a16:creationId xmlns:a16="http://schemas.microsoft.com/office/drawing/2014/main" id="{27EFC853-27E9-6B10-8841-F69137E94148}"/>
                    </a:ext>
                  </a:extLst>
                </p:cNvPr>
                <p:cNvSpPr txBox="1">
                  <a:spLocks noRot="1" noChangeAspect="1" noMove="1" noResize="1" noEditPoints="1" noAdjustHandles="1" noChangeArrowheads="1" noChangeShapeType="1" noTextEdit="1"/>
                </p:cNvSpPr>
                <p:nvPr/>
              </p:nvSpPr>
              <p:spPr bwMode="auto">
                <a:xfrm>
                  <a:off x="10355020" y="3677885"/>
                  <a:ext cx="610850" cy="468000"/>
                </a:xfrm>
                <a:prstGeom prst="rect">
                  <a:avLst/>
                </a:prstGeom>
                <a:blipFill>
                  <a:blip r:embed="rId6"/>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p:sp>
          <p:nvSpPr>
            <p:cNvPr id="74" name="文本框 73">
              <a:extLst>
                <a:ext uri="{FF2B5EF4-FFF2-40B4-BE49-F238E27FC236}">
                  <a16:creationId xmlns:a16="http://schemas.microsoft.com/office/drawing/2014/main" id="{CBA5DCE2-F05B-1450-7F10-79C5C5BBCA2F}"/>
                </a:ext>
              </a:extLst>
            </p:cNvPr>
            <p:cNvSpPr txBox="1"/>
            <p:nvPr/>
          </p:nvSpPr>
          <p:spPr>
            <a:xfrm>
              <a:off x="5603020" y="3930037"/>
              <a:ext cx="396000" cy="504000"/>
            </a:xfrm>
            <a:prstGeom prst="rect">
              <a:avLst/>
            </a:prstGeom>
            <a:noFill/>
          </p:spPr>
          <p:txBody>
            <a:bodyPr wrap="square">
              <a:spAutoFit/>
            </a:bodyPr>
            <a:lstStyle/>
            <a:p>
              <a:pPr algn="ctr"/>
              <a:r>
                <a:rPr kumimoji="1" lang="en-US" altLang="zh-CN" sz="2400" b="0" dirty="0">
                  <a:latin typeface="微软雅黑" panose="020B0503020204020204" pitchFamily="34" charset="-122"/>
                  <a:ea typeface="微软雅黑" panose="020B0503020204020204" pitchFamily="34" charset="-122"/>
                </a:rPr>
                <a:t>0</a:t>
              </a:r>
              <a:endParaRPr lang="zh-CN" altLang="en-US" sz="2400" dirty="0"/>
            </a:p>
          </p:txBody>
        </p:sp>
        <p:grpSp>
          <p:nvGrpSpPr>
            <p:cNvPr id="83" name="组合 82">
              <a:extLst>
                <a:ext uri="{FF2B5EF4-FFF2-40B4-BE49-F238E27FC236}">
                  <a16:creationId xmlns:a16="http://schemas.microsoft.com/office/drawing/2014/main" id="{FE707938-AE30-A6B2-5FA3-133EBEB0ECFA}"/>
                </a:ext>
              </a:extLst>
            </p:cNvPr>
            <p:cNvGrpSpPr/>
            <p:nvPr/>
          </p:nvGrpSpPr>
          <p:grpSpPr>
            <a:xfrm>
              <a:off x="5927020" y="3246037"/>
              <a:ext cx="3744001" cy="1440000"/>
              <a:chOff x="5923177" y="3246037"/>
              <a:chExt cx="4584789" cy="1440000"/>
            </a:xfrm>
          </p:grpSpPr>
          <p:sp>
            <p:nvSpPr>
              <p:cNvPr id="63" name="任意多边形: 形状 62">
                <a:extLst>
                  <a:ext uri="{FF2B5EF4-FFF2-40B4-BE49-F238E27FC236}">
                    <a16:creationId xmlns:a16="http://schemas.microsoft.com/office/drawing/2014/main" id="{0749149B-96D0-2706-8028-372C30345509}"/>
                  </a:ext>
                </a:extLst>
              </p:cNvPr>
              <p:cNvSpPr/>
              <p:nvPr/>
            </p:nvSpPr>
            <p:spPr>
              <a:xfrm>
                <a:off x="5923177" y="3246037"/>
                <a:ext cx="1146197" cy="720000"/>
              </a:xfrm>
              <a:custGeom>
                <a:avLst/>
                <a:gdLst>
                  <a:gd name="connsiteX0" fmla="*/ 0 w 2110333"/>
                  <a:gd name="connsiteY0" fmla="*/ 1298309 h 1298309"/>
                  <a:gd name="connsiteX1" fmla="*/ 1056330 w 2110333"/>
                  <a:gd name="connsiteY1" fmla="*/ 0 h 1298309"/>
                  <a:gd name="connsiteX2" fmla="*/ 2110333 w 2110333"/>
                  <a:gd name="connsiteY2" fmla="*/ 1295982 h 1298309"/>
                </a:gdLst>
                <a:ahLst/>
                <a:cxnLst>
                  <a:cxn ang="0">
                    <a:pos x="connsiteX0" y="connsiteY0"/>
                  </a:cxn>
                  <a:cxn ang="0">
                    <a:pos x="connsiteX1" y="connsiteY1"/>
                  </a:cxn>
                  <a:cxn ang="0">
                    <a:pos x="connsiteX2" y="connsiteY2"/>
                  </a:cxn>
                </a:cxnLst>
                <a:rect l="l" t="t" r="r" b="b"/>
                <a:pathLst>
                  <a:path w="2110333" h="1298309">
                    <a:moveTo>
                      <a:pt x="0" y="1298309"/>
                    </a:moveTo>
                    <a:cubicBezTo>
                      <a:pt x="352304" y="649348"/>
                      <a:pt x="704608" y="388"/>
                      <a:pt x="1056330" y="0"/>
                    </a:cubicBezTo>
                    <a:cubicBezTo>
                      <a:pt x="1408052" y="-388"/>
                      <a:pt x="1759192" y="647797"/>
                      <a:pt x="2110333" y="1295982"/>
                    </a:cubicBezTo>
                  </a:path>
                </a:pathLst>
              </a:cu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任意多边形: 形状 63">
                <a:extLst>
                  <a:ext uri="{FF2B5EF4-FFF2-40B4-BE49-F238E27FC236}">
                    <a16:creationId xmlns:a16="http://schemas.microsoft.com/office/drawing/2014/main" id="{D449283C-8E56-279A-9FF3-4015515FE057}"/>
                  </a:ext>
                </a:extLst>
              </p:cNvPr>
              <p:cNvSpPr/>
              <p:nvPr/>
            </p:nvSpPr>
            <p:spPr>
              <a:xfrm flipV="1">
                <a:off x="7069374" y="3966037"/>
                <a:ext cx="1146197" cy="720000"/>
              </a:xfrm>
              <a:custGeom>
                <a:avLst/>
                <a:gdLst>
                  <a:gd name="connsiteX0" fmla="*/ 0 w 2110333"/>
                  <a:gd name="connsiteY0" fmla="*/ 1298309 h 1298309"/>
                  <a:gd name="connsiteX1" fmla="*/ 1056330 w 2110333"/>
                  <a:gd name="connsiteY1" fmla="*/ 0 h 1298309"/>
                  <a:gd name="connsiteX2" fmla="*/ 2110333 w 2110333"/>
                  <a:gd name="connsiteY2" fmla="*/ 1295982 h 1298309"/>
                </a:gdLst>
                <a:ahLst/>
                <a:cxnLst>
                  <a:cxn ang="0">
                    <a:pos x="connsiteX0" y="connsiteY0"/>
                  </a:cxn>
                  <a:cxn ang="0">
                    <a:pos x="connsiteX1" y="connsiteY1"/>
                  </a:cxn>
                  <a:cxn ang="0">
                    <a:pos x="connsiteX2" y="connsiteY2"/>
                  </a:cxn>
                </a:cxnLst>
                <a:rect l="l" t="t" r="r" b="b"/>
                <a:pathLst>
                  <a:path w="2110333" h="1298309">
                    <a:moveTo>
                      <a:pt x="0" y="1298309"/>
                    </a:moveTo>
                    <a:cubicBezTo>
                      <a:pt x="352304" y="649348"/>
                      <a:pt x="704608" y="388"/>
                      <a:pt x="1056330" y="0"/>
                    </a:cubicBezTo>
                    <a:cubicBezTo>
                      <a:pt x="1408052" y="-388"/>
                      <a:pt x="1759192" y="647797"/>
                      <a:pt x="2110333" y="1295982"/>
                    </a:cubicBezTo>
                  </a:path>
                </a:pathLst>
              </a:cu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任意多边形: 形状 79">
                <a:extLst>
                  <a:ext uri="{FF2B5EF4-FFF2-40B4-BE49-F238E27FC236}">
                    <a16:creationId xmlns:a16="http://schemas.microsoft.com/office/drawing/2014/main" id="{B52E9E66-3E04-8670-65B7-E62A0B0F5D09}"/>
                  </a:ext>
                </a:extLst>
              </p:cNvPr>
              <p:cNvSpPr/>
              <p:nvPr/>
            </p:nvSpPr>
            <p:spPr>
              <a:xfrm>
                <a:off x="8215571" y="3246037"/>
                <a:ext cx="1146197" cy="720000"/>
              </a:xfrm>
              <a:custGeom>
                <a:avLst/>
                <a:gdLst>
                  <a:gd name="connsiteX0" fmla="*/ 0 w 2110333"/>
                  <a:gd name="connsiteY0" fmla="*/ 1298309 h 1298309"/>
                  <a:gd name="connsiteX1" fmla="*/ 1056330 w 2110333"/>
                  <a:gd name="connsiteY1" fmla="*/ 0 h 1298309"/>
                  <a:gd name="connsiteX2" fmla="*/ 2110333 w 2110333"/>
                  <a:gd name="connsiteY2" fmla="*/ 1295982 h 1298309"/>
                </a:gdLst>
                <a:ahLst/>
                <a:cxnLst>
                  <a:cxn ang="0">
                    <a:pos x="connsiteX0" y="connsiteY0"/>
                  </a:cxn>
                  <a:cxn ang="0">
                    <a:pos x="connsiteX1" y="connsiteY1"/>
                  </a:cxn>
                  <a:cxn ang="0">
                    <a:pos x="connsiteX2" y="connsiteY2"/>
                  </a:cxn>
                </a:cxnLst>
                <a:rect l="l" t="t" r="r" b="b"/>
                <a:pathLst>
                  <a:path w="2110333" h="1298309">
                    <a:moveTo>
                      <a:pt x="0" y="1298309"/>
                    </a:moveTo>
                    <a:cubicBezTo>
                      <a:pt x="352304" y="649348"/>
                      <a:pt x="704608" y="388"/>
                      <a:pt x="1056330" y="0"/>
                    </a:cubicBezTo>
                    <a:cubicBezTo>
                      <a:pt x="1408052" y="-388"/>
                      <a:pt x="1759192" y="647797"/>
                      <a:pt x="2110333" y="1295982"/>
                    </a:cubicBezTo>
                  </a:path>
                </a:pathLst>
              </a:cu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任意多边形: 形状 80">
                <a:extLst>
                  <a:ext uri="{FF2B5EF4-FFF2-40B4-BE49-F238E27FC236}">
                    <a16:creationId xmlns:a16="http://schemas.microsoft.com/office/drawing/2014/main" id="{FAE757FE-47E9-2187-9AD7-7DDBD2E4ED7F}"/>
                  </a:ext>
                </a:extLst>
              </p:cNvPr>
              <p:cNvSpPr/>
              <p:nvPr/>
            </p:nvSpPr>
            <p:spPr>
              <a:xfrm flipV="1">
                <a:off x="9361769" y="3966037"/>
                <a:ext cx="1146197" cy="720000"/>
              </a:xfrm>
              <a:custGeom>
                <a:avLst/>
                <a:gdLst>
                  <a:gd name="connsiteX0" fmla="*/ 0 w 2110333"/>
                  <a:gd name="connsiteY0" fmla="*/ 1298309 h 1298309"/>
                  <a:gd name="connsiteX1" fmla="*/ 1056330 w 2110333"/>
                  <a:gd name="connsiteY1" fmla="*/ 0 h 1298309"/>
                  <a:gd name="connsiteX2" fmla="*/ 2110333 w 2110333"/>
                  <a:gd name="connsiteY2" fmla="*/ 1295982 h 1298309"/>
                </a:gdLst>
                <a:ahLst/>
                <a:cxnLst>
                  <a:cxn ang="0">
                    <a:pos x="connsiteX0" y="connsiteY0"/>
                  </a:cxn>
                  <a:cxn ang="0">
                    <a:pos x="connsiteX1" y="connsiteY1"/>
                  </a:cxn>
                  <a:cxn ang="0">
                    <a:pos x="connsiteX2" y="connsiteY2"/>
                  </a:cxn>
                </a:cxnLst>
                <a:rect l="l" t="t" r="r" b="b"/>
                <a:pathLst>
                  <a:path w="2110333" h="1298309">
                    <a:moveTo>
                      <a:pt x="0" y="1298309"/>
                    </a:moveTo>
                    <a:cubicBezTo>
                      <a:pt x="352304" y="649348"/>
                      <a:pt x="704608" y="388"/>
                      <a:pt x="1056330" y="0"/>
                    </a:cubicBezTo>
                    <a:cubicBezTo>
                      <a:pt x="1408052" y="-388"/>
                      <a:pt x="1759192" y="647797"/>
                      <a:pt x="2110333" y="1295982"/>
                    </a:cubicBezTo>
                  </a:path>
                </a:pathLst>
              </a:cu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86" name="Text Box 8">
                  <a:extLst>
                    <a:ext uri="{FF2B5EF4-FFF2-40B4-BE49-F238E27FC236}">
                      <a16:creationId xmlns:a16="http://schemas.microsoft.com/office/drawing/2014/main" id="{0F0E1109-6F6B-DC21-A990-44DAFE9991F9}"/>
                    </a:ext>
                  </a:extLst>
                </p:cNvPr>
                <p:cNvSpPr txBox="1">
                  <a:spLocks noChangeArrowheads="1"/>
                </p:cNvSpPr>
                <p:nvPr/>
              </p:nvSpPr>
              <p:spPr bwMode="auto">
                <a:xfrm>
                  <a:off x="6539020" y="3858037"/>
                  <a:ext cx="540000" cy="504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r>
                          <a:rPr kumimoji="1" lang="zh-CN" altLang="en-US" sz="2400" b="0" i="1" smtClean="0">
                            <a:latin typeface="Cambria Math" panose="02040503050406030204" pitchFamily="18" charset="0"/>
                            <a:ea typeface="微软雅黑" panose="020B0503020204020204" pitchFamily="34" charset="-122"/>
                          </a:rPr>
                          <m:t>𝜋</m:t>
                        </m:r>
                      </m:oMath>
                    </m:oMathPara>
                  </a14:m>
                  <a:endParaRPr kumimoji="1" lang="en-US" altLang="zh-CN" sz="2400" i="1" dirty="0">
                    <a:ea typeface="楷体_GB2312" pitchFamily="49" charset="-122"/>
                  </a:endParaRPr>
                </a:p>
              </p:txBody>
            </p:sp>
          </mc:Choice>
          <mc:Fallback xmlns="">
            <p:sp>
              <p:nvSpPr>
                <p:cNvPr id="86" name="Text Box 8">
                  <a:extLst>
                    <a:ext uri="{FF2B5EF4-FFF2-40B4-BE49-F238E27FC236}">
                      <a16:creationId xmlns:a16="http://schemas.microsoft.com/office/drawing/2014/main" id="{0F0E1109-6F6B-DC21-A990-44DAFE9991F9}"/>
                    </a:ext>
                  </a:extLst>
                </p:cNvPr>
                <p:cNvSpPr txBox="1">
                  <a:spLocks noRot="1" noChangeAspect="1" noMove="1" noResize="1" noEditPoints="1" noAdjustHandles="1" noChangeArrowheads="1" noChangeShapeType="1" noTextEdit="1"/>
                </p:cNvSpPr>
                <p:nvPr/>
              </p:nvSpPr>
              <p:spPr bwMode="auto">
                <a:xfrm>
                  <a:off x="6539020" y="3858037"/>
                  <a:ext cx="540000" cy="504000"/>
                </a:xfrm>
                <a:prstGeom prst="rect">
                  <a:avLst/>
                </a:prstGeom>
                <a:blipFill>
                  <a:blip r:embed="rId7"/>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7" name="Text Box 8">
                  <a:extLst>
                    <a:ext uri="{FF2B5EF4-FFF2-40B4-BE49-F238E27FC236}">
                      <a16:creationId xmlns:a16="http://schemas.microsoft.com/office/drawing/2014/main" id="{FBDCD061-0DD6-C26A-67A5-F351BF448284}"/>
                    </a:ext>
                  </a:extLst>
                </p:cNvPr>
                <p:cNvSpPr txBox="1">
                  <a:spLocks noChangeArrowheads="1"/>
                </p:cNvSpPr>
                <p:nvPr/>
              </p:nvSpPr>
              <p:spPr bwMode="auto">
                <a:xfrm>
                  <a:off x="7727020" y="3858037"/>
                  <a:ext cx="540000" cy="504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r>
                          <a:rPr kumimoji="1" lang="en-US" altLang="zh-CN" sz="2400" b="0" i="1">
                            <a:latin typeface="Cambria Math" panose="02040503050406030204" pitchFamily="18" charset="0"/>
                            <a:ea typeface="微软雅黑" panose="020B0503020204020204" pitchFamily="34" charset="-122"/>
                          </a:rPr>
                          <m:t>2</m:t>
                        </m:r>
                        <m:r>
                          <a:rPr kumimoji="1" lang="zh-CN" altLang="en-US" sz="2400" b="0" i="1" smtClean="0">
                            <a:latin typeface="Cambria Math" panose="02040503050406030204" pitchFamily="18" charset="0"/>
                            <a:ea typeface="微软雅黑" panose="020B0503020204020204" pitchFamily="34" charset="-122"/>
                          </a:rPr>
                          <m:t>𝜋</m:t>
                        </m:r>
                      </m:oMath>
                    </m:oMathPara>
                  </a14:m>
                  <a:endParaRPr kumimoji="1" lang="en-US" altLang="zh-CN" sz="2400" i="1" dirty="0">
                    <a:ea typeface="楷体_GB2312" pitchFamily="49" charset="-122"/>
                  </a:endParaRPr>
                </a:p>
              </p:txBody>
            </p:sp>
          </mc:Choice>
          <mc:Fallback xmlns="">
            <p:sp>
              <p:nvSpPr>
                <p:cNvPr id="87" name="Text Box 8">
                  <a:extLst>
                    <a:ext uri="{FF2B5EF4-FFF2-40B4-BE49-F238E27FC236}">
                      <a16:creationId xmlns:a16="http://schemas.microsoft.com/office/drawing/2014/main" id="{FBDCD061-0DD6-C26A-67A5-F351BF448284}"/>
                    </a:ext>
                  </a:extLst>
                </p:cNvPr>
                <p:cNvSpPr txBox="1">
                  <a:spLocks noRot="1" noChangeAspect="1" noMove="1" noResize="1" noEditPoints="1" noAdjustHandles="1" noChangeArrowheads="1" noChangeShapeType="1" noTextEdit="1"/>
                </p:cNvSpPr>
                <p:nvPr/>
              </p:nvSpPr>
              <p:spPr bwMode="auto">
                <a:xfrm>
                  <a:off x="7727020" y="3858037"/>
                  <a:ext cx="540000" cy="504000"/>
                </a:xfrm>
                <a:prstGeom prst="rect">
                  <a:avLst/>
                </a:prstGeom>
                <a:blipFill>
                  <a:blip r:embed="rId8"/>
                  <a:stretch>
                    <a:fillRect l="-1022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8" name="Text Box 8">
                  <a:extLst>
                    <a:ext uri="{FF2B5EF4-FFF2-40B4-BE49-F238E27FC236}">
                      <a16:creationId xmlns:a16="http://schemas.microsoft.com/office/drawing/2014/main" id="{AE7BC023-E52C-AA44-B057-BBF49B65E5F4}"/>
                    </a:ext>
                  </a:extLst>
                </p:cNvPr>
                <p:cNvSpPr txBox="1">
                  <a:spLocks noChangeArrowheads="1"/>
                </p:cNvSpPr>
                <p:nvPr/>
              </p:nvSpPr>
              <p:spPr bwMode="auto">
                <a:xfrm>
                  <a:off x="8339020" y="3858037"/>
                  <a:ext cx="540000" cy="504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r>
                          <a:rPr kumimoji="1" lang="en-US" altLang="zh-CN" sz="2400" b="0" i="1" smtClean="0">
                            <a:latin typeface="Cambria Math" panose="02040503050406030204" pitchFamily="18" charset="0"/>
                            <a:ea typeface="微软雅黑" panose="020B0503020204020204" pitchFamily="34" charset="-122"/>
                          </a:rPr>
                          <m:t>3</m:t>
                        </m:r>
                        <m:r>
                          <a:rPr kumimoji="1" lang="zh-CN" altLang="en-US" sz="2400" b="0" i="1" smtClean="0">
                            <a:latin typeface="Cambria Math" panose="02040503050406030204" pitchFamily="18" charset="0"/>
                            <a:ea typeface="微软雅黑" panose="020B0503020204020204" pitchFamily="34" charset="-122"/>
                          </a:rPr>
                          <m:t>𝜋</m:t>
                        </m:r>
                      </m:oMath>
                    </m:oMathPara>
                  </a14:m>
                  <a:endParaRPr kumimoji="1" lang="en-US" altLang="zh-CN" sz="2400" i="1" dirty="0">
                    <a:ea typeface="楷体_GB2312" pitchFamily="49" charset="-122"/>
                  </a:endParaRPr>
                </a:p>
              </p:txBody>
            </p:sp>
          </mc:Choice>
          <mc:Fallback xmlns="">
            <p:sp>
              <p:nvSpPr>
                <p:cNvPr id="88" name="Text Box 8">
                  <a:extLst>
                    <a:ext uri="{FF2B5EF4-FFF2-40B4-BE49-F238E27FC236}">
                      <a16:creationId xmlns:a16="http://schemas.microsoft.com/office/drawing/2014/main" id="{AE7BC023-E52C-AA44-B057-BBF49B65E5F4}"/>
                    </a:ext>
                  </a:extLst>
                </p:cNvPr>
                <p:cNvSpPr txBox="1">
                  <a:spLocks noRot="1" noChangeAspect="1" noMove="1" noResize="1" noEditPoints="1" noAdjustHandles="1" noChangeArrowheads="1" noChangeShapeType="1" noTextEdit="1"/>
                </p:cNvSpPr>
                <p:nvPr/>
              </p:nvSpPr>
              <p:spPr bwMode="auto">
                <a:xfrm>
                  <a:off x="8339020" y="3858037"/>
                  <a:ext cx="540000" cy="504000"/>
                </a:xfrm>
                <a:prstGeom prst="rect">
                  <a:avLst/>
                </a:prstGeom>
                <a:blipFill>
                  <a:blip r:embed="rId9"/>
                  <a:stretch>
                    <a:fillRect l="-10112"/>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9" name="Text Box 8">
                  <a:extLst>
                    <a:ext uri="{FF2B5EF4-FFF2-40B4-BE49-F238E27FC236}">
                      <a16:creationId xmlns:a16="http://schemas.microsoft.com/office/drawing/2014/main" id="{E6B44986-F573-1DCF-31BD-C765B075D0EA}"/>
                    </a:ext>
                  </a:extLst>
                </p:cNvPr>
                <p:cNvSpPr txBox="1">
                  <a:spLocks noChangeArrowheads="1"/>
                </p:cNvSpPr>
                <p:nvPr/>
              </p:nvSpPr>
              <p:spPr bwMode="auto">
                <a:xfrm>
                  <a:off x="9599020" y="3858037"/>
                  <a:ext cx="540000" cy="504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r>
                          <a:rPr kumimoji="1" lang="en-US" altLang="zh-CN" sz="2400" b="0" i="1">
                            <a:latin typeface="Cambria Math" panose="02040503050406030204" pitchFamily="18" charset="0"/>
                            <a:ea typeface="微软雅黑" panose="020B0503020204020204" pitchFamily="34" charset="-122"/>
                          </a:rPr>
                          <m:t>4</m:t>
                        </m:r>
                        <m:r>
                          <a:rPr kumimoji="1" lang="zh-CN" altLang="en-US" sz="2400" b="0" i="1" smtClean="0">
                            <a:latin typeface="Cambria Math" panose="02040503050406030204" pitchFamily="18" charset="0"/>
                            <a:ea typeface="微软雅黑" panose="020B0503020204020204" pitchFamily="34" charset="-122"/>
                          </a:rPr>
                          <m:t>𝜋</m:t>
                        </m:r>
                      </m:oMath>
                    </m:oMathPara>
                  </a14:m>
                  <a:endParaRPr kumimoji="1" lang="en-US" altLang="zh-CN" sz="2400" i="1" dirty="0">
                    <a:ea typeface="楷体_GB2312" pitchFamily="49" charset="-122"/>
                  </a:endParaRPr>
                </a:p>
              </p:txBody>
            </p:sp>
          </mc:Choice>
          <mc:Fallback xmlns="">
            <p:sp>
              <p:nvSpPr>
                <p:cNvPr id="89" name="Text Box 8">
                  <a:extLst>
                    <a:ext uri="{FF2B5EF4-FFF2-40B4-BE49-F238E27FC236}">
                      <a16:creationId xmlns:a16="http://schemas.microsoft.com/office/drawing/2014/main" id="{E6B44986-F573-1DCF-31BD-C765B075D0EA}"/>
                    </a:ext>
                  </a:extLst>
                </p:cNvPr>
                <p:cNvSpPr txBox="1">
                  <a:spLocks noRot="1" noChangeAspect="1" noMove="1" noResize="1" noEditPoints="1" noAdjustHandles="1" noChangeArrowheads="1" noChangeShapeType="1" noTextEdit="1"/>
                </p:cNvSpPr>
                <p:nvPr/>
              </p:nvSpPr>
              <p:spPr bwMode="auto">
                <a:xfrm>
                  <a:off x="9599020" y="3858037"/>
                  <a:ext cx="540000" cy="504000"/>
                </a:xfrm>
                <a:prstGeom prst="rect">
                  <a:avLst/>
                </a:prstGeom>
                <a:blipFill>
                  <a:blip r:embed="rId10"/>
                  <a:stretch>
                    <a:fillRect l="-1022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111" name="文本框 110">
                <a:extLst>
                  <a:ext uri="{FF2B5EF4-FFF2-40B4-BE49-F238E27FC236}">
                    <a16:creationId xmlns:a16="http://schemas.microsoft.com/office/drawing/2014/main" id="{C0073223-B79B-54FC-A841-185F2A0A79CC}"/>
                  </a:ext>
                </a:extLst>
              </p:cNvPr>
              <p:cNvSpPr txBox="1"/>
              <p:nvPr/>
            </p:nvSpPr>
            <p:spPr>
              <a:xfrm>
                <a:off x="360000" y="4608000"/>
                <a:ext cx="5214940" cy="1545295"/>
              </a:xfrm>
              <a:prstGeom prst="rect">
                <a:avLst/>
              </a:prstGeom>
              <a:noFill/>
            </p:spPr>
            <p:txBody>
              <a:bodyPr wrap="square">
                <a:spAutoFit/>
              </a:bodyPr>
              <a:lstStyle/>
              <a:p>
                <a:pPr>
                  <a:lnSpc>
                    <a:spcPct val="120000"/>
                  </a:lnSpc>
                  <a:spcAft>
                    <a:spcPts val="600"/>
                  </a:spcAft>
                </a:pPr>
                <a14:m>
                  <m:oMath xmlns:m="http://schemas.openxmlformats.org/officeDocument/2006/math">
                    <m:sSub>
                      <m:sSubPr>
                        <m:ctrlP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𝑣</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s</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为正弦波，二极管使用理想模型：</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lvl="1">
                  <a:lnSpc>
                    <a:spcPct val="120000"/>
                  </a:lnSpc>
                  <a:spcAft>
                    <a:spcPts val="600"/>
                  </a:spcAft>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在正半周，二极管导通，</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𝑣</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o</m:t>
                        </m:r>
                      </m:sub>
                    </m:sSub>
                    <m: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𝑣</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s</m:t>
                        </m:r>
                      </m:sub>
                    </m:sSub>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lvl="1">
                  <a:lnSpc>
                    <a:spcPct val="120000"/>
                  </a:lnSpc>
                  <a:spcAft>
                    <a:spcPts val="600"/>
                  </a:spcAft>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在负半周，二极管截止，</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𝑣</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o</m:t>
                        </m:r>
                      </m:sub>
                    </m:s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m:t>
                    </m:r>
                    <m: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t>0</m:t>
                    </m:r>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111" name="文本框 110">
                <a:extLst>
                  <a:ext uri="{FF2B5EF4-FFF2-40B4-BE49-F238E27FC236}">
                    <a16:creationId xmlns:a16="http://schemas.microsoft.com/office/drawing/2014/main" id="{C0073223-B79B-54FC-A841-185F2A0A79CC}"/>
                  </a:ext>
                </a:extLst>
              </p:cNvPr>
              <p:cNvSpPr txBox="1">
                <a:spLocks noRot="1" noChangeAspect="1" noMove="1" noResize="1" noEditPoints="1" noAdjustHandles="1" noChangeArrowheads="1" noChangeShapeType="1" noTextEdit="1"/>
              </p:cNvSpPr>
              <p:nvPr/>
            </p:nvSpPr>
            <p:spPr>
              <a:xfrm>
                <a:off x="360000" y="4608000"/>
                <a:ext cx="5214940" cy="1545295"/>
              </a:xfrm>
              <a:prstGeom prst="rect">
                <a:avLst/>
              </a:prstGeom>
              <a:blipFill>
                <a:blip r:embed="rId17"/>
                <a:stretch>
                  <a:fillRect t="-791" b="-79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494D02E-2CD5-113F-D33A-C7B7889CB29A}"/>
                  </a:ext>
                </a:extLst>
              </p:cNvPr>
              <p:cNvSpPr txBox="1"/>
              <p:nvPr/>
            </p:nvSpPr>
            <p:spPr>
              <a:xfrm>
                <a:off x="7200000" y="6120000"/>
                <a:ext cx="2700000" cy="504000"/>
              </a:xfrm>
              <a:prstGeom prst="rect">
                <a:avLst/>
              </a:prstGeom>
              <a:noFill/>
            </p:spPr>
            <p:txBody>
              <a:bodyPr wrap="square">
                <a:spAutoFit/>
              </a:bodyPr>
              <a:lstStyle/>
              <a:p>
                <a:pPr algn="ctr">
                  <a:lnSpc>
                    <a:spcPct val="120000"/>
                  </a:lnSpc>
                  <a:spcAft>
                    <a:spcPts val="600"/>
                  </a:spcAft>
                </a:pPr>
                <a14:m>
                  <m:oMath xmlns:m="http://schemas.openxmlformats.org/officeDocument/2006/math">
                    <m:r>
                      <a:rPr kumimoji="1" lang="zh-CN" altLang="en-US" sz="2400" i="1" smtClean="0">
                        <a:solidFill>
                          <a:srgbClr val="002060"/>
                        </a:solidFill>
                        <a:latin typeface="Cambria Math" panose="02040503050406030204" pitchFamily="18" charset="0"/>
                        <a:ea typeface="微软雅黑" panose="020B0503020204020204" pitchFamily="34" charset="-122"/>
                      </a:rPr>
                      <m:t>半</m:t>
                    </m:r>
                  </m:oMath>
                </a14:m>
                <a:r>
                  <a:rPr kumimoji="1" lang="zh-CN" altLang="en-US" sz="2400" dirty="0">
                    <a:solidFill>
                      <a:srgbClr val="002060"/>
                    </a:solidFill>
                    <a:latin typeface="微软雅黑" panose="020B0503020204020204" pitchFamily="34" charset="-122"/>
                    <a:ea typeface="微软雅黑" panose="020B0503020204020204" pitchFamily="34" charset="-122"/>
                  </a:rPr>
                  <a:t>波整流</a:t>
                </a:r>
                <a:endParaRPr kumimoji="1" lang="en-US" altLang="zh-CN" sz="2400" dirty="0">
                  <a:solidFill>
                    <a:srgbClr val="002060"/>
                  </a:solidFill>
                  <a:latin typeface="微软雅黑" panose="020B0503020204020204" pitchFamily="34" charset="-122"/>
                  <a:ea typeface="微软雅黑" panose="020B0503020204020204" pitchFamily="34" charset="-122"/>
                </a:endParaRPr>
              </a:p>
            </p:txBody>
          </p:sp>
        </mc:Choice>
        <mc:Fallback xmlns="">
          <p:sp>
            <p:nvSpPr>
              <p:cNvPr id="3" name="文本框 2">
                <a:extLst>
                  <a:ext uri="{FF2B5EF4-FFF2-40B4-BE49-F238E27FC236}">
                    <a16:creationId xmlns:a16="http://schemas.microsoft.com/office/drawing/2014/main" id="{0494D02E-2CD5-113F-D33A-C7B7889CB29A}"/>
                  </a:ext>
                </a:extLst>
              </p:cNvPr>
              <p:cNvSpPr txBox="1">
                <a:spLocks noRot="1" noChangeAspect="1" noMove="1" noResize="1" noEditPoints="1" noAdjustHandles="1" noChangeArrowheads="1" noChangeShapeType="1" noTextEdit="1"/>
              </p:cNvSpPr>
              <p:nvPr/>
            </p:nvSpPr>
            <p:spPr>
              <a:xfrm>
                <a:off x="7200000" y="6120000"/>
                <a:ext cx="2700000" cy="504000"/>
              </a:xfrm>
              <a:prstGeom prst="rect">
                <a:avLst/>
              </a:prstGeom>
              <a:blipFill>
                <a:blip r:embed="rId18"/>
                <a:stretch>
                  <a:fillRect t="-2410" b="-25301"/>
                </a:stretch>
              </a:blipFill>
            </p:spPr>
            <p:txBody>
              <a:bodyPr/>
              <a:lstStyle/>
              <a:p>
                <a:r>
                  <a:rPr lang="zh-CN" altLang="en-US">
                    <a:noFill/>
                  </a:rPr>
                  <a:t> </a:t>
                </a:r>
              </a:p>
            </p:txBody>
          </p:sp>
        </mc:Fallback>
      </mc:AlternateContent>
      <p:sp>
        <p:nvSpPr>
          <p:cNvPr id="4" name="标题 1">
            <a:extLst>
              <a:ext uri="{FF2B5EF4-FFF2-40B4-BE49-F238E27FC236}">
                <a16:creationId xmlns:a16="http://schemas.microsoft.com/office/drawing/2014/main" id="{481AB5F1-AE92-82EB-FEFC-535D4B49428E}"/>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二极管及其应用</a:t>
            </a:r>
            <a:endParaRPr lang="en-US" altLang="zh-CN" sz="3000" dirty="0"/>
          </a:p>
        </p:txBody>
      </p:sp>
      <p:grpSp>
        <p:nvGrpSpPr>
          <p:cNvPr id="5" name="组合 4">
            <a:extLst>
              <a:ext uri="{FF2B5EF4-FFF2-40B4-BE49-F238E27FC236}">
                <a16:creationId xmlns:a16="http://schemas.microsoft.com/office/drawing/2014/main" id="{33D51866-8C52-DC25-D724-8E4FEFA01E87}"/>
              </a:ext>
            </a:extLst>
          </p:cNvPr>
          <p:cNvGrpSpPr/>
          <p:nvPr/>
        </p:nvGrpSpPr>
        <p:grpSpPr>
          <a:xfrm>
            <a:off x="5950595" y="4070077"/>
            <a:ext cx="5460255" cy="1977923"/>
            <a:chOff x="5505615" y="2780114"/>
            <a:chExt cx="5460255" cy="1977923"/>
          </a:xfrm>
        </p:grpSpPr>
        <p:cxnSp>
          <p:nvCxnSpPr>
            <p:cNvPr id="6" name="直接连接符 5">
              <a:extLst>
                <a:ext uri="{FF2B5EF4-FFF2-40B4-BE49-F238E27FC236}">
                  <a16:creationId xmlns:a16="http://schemas.microsoft.com/office/drawing/2014/main" id="{5A932EB2-D4CD-0589-0640-33C1082C26BD}"/>
                </a:ext>
              </a:extLst>
            </p:cNvPr>
            <p:cNvCxnSpPr>
              <a:cxnSpLocks/>
            </p:cNvCxnSpPr>
            <p:nvPr/>
          </p:nvCxnSpPr>
          <p:spPr>
            <a:xfrm>
              <a:off x="5531020" y="3966037"/>
              <a:ext cx="4877737" cy="0"/>
            </a:xfrm>
            <a:prstGeom prst="line">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2332C239-3176-AAB4-063E-C277F4271FE4}"/>
                </a:ext>
              </a:extLst>
            </p:cNvPr>
            <p:cNvCxnSpPr>
              <a:cxnSpLocks/>
            </p:cNvCxnSpPr>
            <p:nvPr/>
          </p:nvCxnSpPr>
          <p:spPr>
            <a:xfrm flipV="1">
              <a:off x="5927020" y="2958037"/>
              <a:ext cx="0" cy="1800000"/>
            </a:xfrm>
            <a:prstGeom prst="line">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 Box 8">
                  <a:extLst>
                    <a:ext uri="{FF2B5EF4-FFF2-40B4-BE49-F238E27FC236}">
                      <a16:creationId xmlns:a16="http://schemas.microsoft.com/office/drawing/2014/main" id="{A7BBB8B6-DD78-E112-6DCD-0A2A984B0C6C}"/>
                    </a:ext>
                  </a:extLst>
                </p:cNvPr>
                <p:cNvSpPr txBox="1">
                  <a:spLocks noChangeArrowheads="1"/>
                </p:cNvSpPr>
                <p:nvPr/>
              </p:nvSpPr>
              <p:spPr bwMode="auto">
                <a:xfrm>
                  <a:off x="5505615" y="2780114"/>
                  <a:ext cx="540000" cy="468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ea typeface="微软雅黑" panose="020B0503020204020204" pitchFamily="34" charset="-122"/>
                              </a:rPr>
                            </m:ctrlPr>
                          </m:sSubPr>
                          <m:e>
                            <m:r>
                              <a:rPr kumimoji="1" lang="en-US" altLang="zh-CN" sz="2400" b="0" i="1" smtClean="0">
                                <a:latin typeface="Cambria Math" panose="02040503050406030204" pitchFamily="18" charset="0"/>
                                <a:ea typeface="微软雅黑" panose="020B0503020204020204" pitchFamily="34" charset="-122"/>
                              </a:rPr>
                              <m:t>𝑣</m:t>
                            </m:r>
                          </m:e>
                          <m:sub>
                            <m:r>
                              <m:rPr>
                                <m:sty m:val="p"/>
                              </m:rPr>
                              <a:rPr kumimoji="1" lang="en-US" altLang="zh-CN" sz="2400" b="0" i="1">
                                <a:latin typeface="Cambria Math" panose="02040503050406030204" pitchFamily="18" charset="0"/>
                                <a:ea typeface="微软雅黑" panose="020B0503020204020204" pitchFamily="34" charset="-122"/>
                              </a:rPr>
                              <m:t>o</m:t>
                            </m:r>
                          </m:sub>
                        </m:sSub>
                      </m:oMath>
                    </m:oMathPara>
                  </a14:m>
                  <a:endParaRPr kumimoji="1" lang="en-US" altLang="zh-CN" sz="2400" i="1" dirty="0">
                    <a:ea typeface="楷体_GB2312" pitchFamily="49" charset="-122"/>
                  </a:endParaRPr>
                </a:p>
              </p:txBody>
            </p:sp>
          </mc:Choice>
          <mc:Fallback xmlns="">
            <p:sp>
              <p:nvSpPr>
                <p:cNvPr id="8" name="Text Box 8">
                  <a:extLst>
                    <a:ext uri="{FF2B5EF4-FFF2-40B4-BE49-F238E27FC236}">
                      <a16:creationId xmlns:a16="http://schemas.microsoft.com/office/drawing/2014/main" id="{A7BBB8B6-DD78-E112-6DCD-0A2A984B0C6C}"/>
                    </a:ext>
                  </a:extLst>
                </p:cNvPr>
                <p:cNvSpPr txBox="1">
                  <a:spLocks noRot="1" noChangeAspect="1" noMove="1" noResize="1" noEditPoints="1" noAdjustHandles="1" noChangeArrowheads="1" noChangeShapeType="1" noTextEdit="1"/>
                </p:cNvSpPr>
                <p:nvPr/>
              </p:nvSpPr>
              <p:spPr bwMode="auto">
                <a:xfrm>
                  <a:off x="5505615" y="2780114"/>
                  <a:ext cx="540000" cy="468000"/>
                </a:xfrm>
                <a:prstGeom prst="rect">
                  <a:avLst/>
                </a:prstGeom>
                <a:blipFill>
                  <a:blip r:embed="rId19"/>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Text Box 8">
                  <a:extLst>
                    <a:ext uri="{FF2B5EF4-FFF2-40B4-BE49-F238E27FC236}">
                      <a16:creationId xmlns:a16="http://schemas.microsoft.com/office/drawing/2014/main" id="{66BEE0FF-6201-E709-BBF7-A3D7B68E01DB}"/>
                    </a:ext>
                  </a:extLst>
                </p:cNvPr>
                <p:cNvSpPr txBox="1">
                  <a:spLocks noChangeArrowheads="1"/>
                </p:cNvSpPr>
                <p:nvPr/>
              </p:nvSpPr>
              <p:spPr bwMode="auto">
                <a:xfrm>
                  <a:off x="10355020" y="3677885"/>
                  <a:ext cx="610850" cy="468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r>
                          <a:rPr kumimoji="1" lang="zh-CN" altLang="en-US" sz="2400" b="0" i="1" smtClean="0">
                            <a:latin typeface="Cambria Math" panose="02040503050406030204" pitchFamily="18" charset="0"/>
                            <a:ea typeface="微软雅黑" panose="020B0503020204020204" pitchFamily="34" charset="-122"/>
                          </a:rPr>
                          <m:t>𝜔</m:t>
                        </m:r>
                        <m:r>
                          <a:rPr kumimoji="1" lang="en-US" altLang="zh-CN" sz="2400" b="0" i="1" smtClean="0">
                            <a:latin typeface="Cambria Math" panose="02040503050406030204" pitchFamily="18" charset="0"/>
                            <a:ea typeface="微软雅黑" panose="020B0503020204020204" pitchFamily="34" charset="-122"/>
                          </a:rPr>
                          <m:t>𝑡</m:t>
                        </m:r>
                      </m:oMath>
                    </m:oMathPara>
                  </a14:m>
                  <a:endParaRPr kumimoji="1" lang="en-US" altLang="zh-CN" sz="2400" i="1" dirty="0">
                    <a:ea typeface="楷体_GB2312" pitchFamily="49" charset="-122"/>
                  </a:endParaRPr>
                </a:p>
              </p:txBody>
            </p:sp>
          </mc:Choice>
          <mc:Fallback xmlns="">
            <p:sp>
              <p:nvSpPr>
                <p:cNvPr id="9" name="Text Box 8">
                  <a:extLst>
                    <a:ext uri="{FF2B5EF4-FFF2-40B4-BE49-F238E27FC236}">
                      <a16:creationId xmlns:a16="http://schemas.microsoft.com/office/drawing/2014/main" id="{66BEE0FF-6201-E709-BBF7-A3D7B68E01DB}"/>
                    </a:ext>
                  </a:extLst>
                </p:cNvPr>
                <p:cNvSpPr txBox="1">
                  <a:spLocks noRot="1" noChangeAspect="1" noMove="1" noResize="1" noEditPoints="1" noAdjustHandles="1" noChangeArrowheads="1" noChangeShapeType="1" noTextEdit="1"/>
                </p:cNvSpPr>
                <p:nvPr/>
              </p:nvSpPr>
              <p:spPr bwMode="auto">
                <a:xfrm>
                  <a:off x="10355020" y="3677885"/>
                  <a:ext cx="610850" cy="468000"/>
                </a:xfrm>
                <a:prstGeom prst="rect">
                  <a:avLst/>
                </a:prstGeom>
                <a:blipFill>
                  <a:blip r:embed="rId20"/>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470F8C6A-DD2F-2E0D-0072-0E4515780888}"/>
                </a:ext>
              </a:extLst>
            </p:cNvPr>
            <p:cNvSpPr txBox="1"/>
            <p:nvPr/>
          </p:nvSpPr>
          <p:spPr>
            <a:xfrm>
              <a:off x="5603020" y="3930037"/>
              <a:ext cx="396000" cy="504000"/>
            </a:xfrm>
            <a:prstGeom prst="rect">
              <a:avLst/>
            </a:prstGeom>
            <a:noFill/>
          </p:spPr>
          <p:txBody>
            <a:bodyPr wrap="square">
              <a:spAutoFit/>
            </a:bodyPr>
            <a:lstStyle/>
            <a:p>
              <a:pPr algn="ctr"/>
              <a:r>
                <a:rPr kumimoji="1" lang="en-US" altLang="zh-CN" sz="2400" b="0" dirty="0">
                  <a:latin typeface="微软雅黑" panose="020B0503020204020204" pitchFamily="34" charset="-122"/>
                  <a:ea typeface="微软雅黑" panose="020B0503020204020204" pitchFamily="34" charset="-122"/>
                </a:rPr>
                <a:t>0</a:t>
              </a:r>
              <a:endParaRPr lang="zh-CN" altLang="en-US" sz="2400" dirty="0"/>
            </a:p>
          </p:txBody>
        </p:sp>
        <p:grpSp>
          <p:nvGrpSpPr>
            <p:cNvPr id="11" name="组合 10">
              <a:extLst>
                <a:ext uri="{FF2B5EF4-FFF2-40B4-BE49-F238E27FC236}">
                  <a16:creationId xmlns:a16="http://schemas.microsoft.com/office/drawing/2014/main" id="{BE68A33F-A0C8-B956-DB31-4766A30FCFB7}"/>
                </a:ext>
              </a:extLst>
            </p:cNvPr>
            <p:cNvGrpSpPr/>
            <p:nvPr/>
          </p:nvGrpSpPr>
          <p:grpSpPr>
            <a:xfrm>
              <a:off x="5927020" y="3246037"/>
              <a:ext cx="2808000" cy="720000"/>
              <a:chOff x="5923177" y="3246037"/>
              <a:chExt cx="3438591" cy="720000"/>
            </a:xfrm>
          </p:grpSpPr>
          <p:sp>
            <p:nvSpPr>
              <p:cNvPr id="27" name="任意多边形: 形状 26">
                <a:extLst>
                  <a:ext uri="{FF2B5EF4-FFF2-40B4-BE49-F238E27FC236}">
                    <a16:creationId xmlns:a16="http://schemas.microsoft.com/office/drawing/2014/main" id="{1494E0BD-4B20-BAC2-A04F-93FF55FB11F6}"/>
                  </a:ext>
                </a:extLst>
              </p:cNvPr>
              <p:cNvSpPr/>
              <p:nvPr/>
            </p:nvSpPr>
            <p:spPr>
              <a:xfrm>
                <a:off x="5923177" y="3246037"/>
                <a:ext cx="1146197" cy="720000"/>
              </a:xfrm>
              <a:custGeom>
                <a:avLst/>
                <a:gdLst>
                  <a:gd name="connsiteX0" fmla="*/ 0 w 2110333"/>
                  <a:gd name="connsiteY0" fmla="*/ 1298309 h 1298309"/>
                  <a:gd name="connsiteX1" fmla="*/ 1056330 w 2110333"/>
                  <a:gd name="connsiteY1" fmla="*/ 0 h 1298309"/>
                  <a:gd name="connsiteX2" fmla="*/ 2110333 w 2110333"/>
                  <a:gd name="connsiteY2" fmla="*/ 1295982 h 1298309"/>
                </a:gdLst>
                <a:ahLst/>
                <a:cxnLst>
                  <a:cxn ang="0">
                    <a:pos x="connsiteX0" y="connsiteY0"/>
                  </a:cxn>
                  <a:cxn ang="0">
                    <a:pos x="connsiteX1" y="connsiteY1"/>
                  </a:cxn>
                  <a:cxn ang="0">
                    <a:pos x="connsiteX2" y="connsiteY2"/>
                  </a:cxn>
                </a:cxnLst>
                <a:rect l="l" t="t" r="r" b="b"/>
                <a:pathLst>
                  <a:path w="2110333" h="1298309">
                    <a:moveTo>
                      <a:pt x="0" y="1298309"/>
                    </a:moveTo>
                    <a:cubicBezTo>
                      <a:pt x="352304" y="649348"/>
                      <a:pt x="704608" y="388"/>
                      <a:pt x="1056330" y="0"/>
                    </a:cubicBezTo>
                    <a:cubicBezTo>
                      <a:pt x="1408052" y="-388"/>
                      <a:pt x="1759192" y="647797"/>
                      <a:pt x="2110333" y="1295982"/>
                    </a:cubicBezTo>
                  </a:path>
                </a:pathLst>
              </a:cu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任意多边形: 形状 34">
                <a:extLst>
                  <a:ext uri="{FF2B5EF4-FFF2-40B4-BE49-F238E27FC236}">
                    <a16:creationId xmlns:a16="http://schemas.microsoft.com/office/drawing/2014/main" id="{2850B8F1-1892-A002-76CB-83D52F92519A}"/>
                  </a:ext>
                </a:extLst>
              </p:cNvPr>
              <p:cNvSpPr/>
              <p:nvPr/>
            </p:nvSpPr>
            <p:spPr>
              <a:xfrm>
                <a:off x="8215571" y="3246037"/>
                <a:ext cx="1146197" cy="720000"/>
              </a:xfrm>
              <a:custGeom>
                <a:avLst/>
                <a:gdLst>
                  <a:gd name="connsiteX0" fmla="*/ 0 w 2110333"/>
                  <a:gd name="connsiteY0" fmla="*/ 1298309 h 1298309"/>
                  <a:gd name="connsiteX1" fmla="*/ 1056330 w 2110333"/>
                  <a:gd name="connsiteY1" fmla="*/ 0 h 1298309"/>
                  <a:gd name="connsiteX2" fmla="*/ 2110333 w 2110333"/>
                  <a:gd name="connsiteY2" fmla="*/ 1295982 h 1298309"/>
                </a:gdLst>
                <a:ahLst/>
                <a:cxnLst>
                  <a:cxn ang="0">
                    <a:pos x="connsiteX0" y="connsiteY0"/>
                  </a:cxn>
                  <a:cxn ang="0">
                    <a:pos x="connsiteX1" y="connsiteY1"/>
                  </a:cxn>
                  <a:cxn ang="0">
                    <a:pos x="connsiteX2" y="connsiteY2"/>
                  </a:cxn>
                </a:cxnLst>
                <a:rect l="l" t="t" r="r" b="b"/>
                <a:pathLst>
                  <a:path w="2110333" h="1298309">
                    <a:moveTo>
                      <a:pt x="0" y="1298309"/>
                    </a:moveTo>
                    <a:cubicBezTo>
                      <a:pt x="352304" y="649348"/>
                      <a:pt x="704608" y="388"/>
                      <a:pt x="1056330" y="0"/>
                    </a:cubicBezTo>
                    <a:cubicBezTo>
                      <a:pt x="1408052" y="-388"/>
                      <a:pt x="1759192" y="647797"/>
                      <a:pt x="2110333" y="1295982"/>
                    </a:cubicBezTo>
                  </a:path>
                </a:pathLst>
              </a:cu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12" name="Text Box 8">
                  <a:extLst>
                    <a:ext uri="{FF2B5EF4-FFF2-40B4-BE49-F238E27FC236}">
                      <a16:creationId xmlns:a16="http://schemas.microsoft.com/office/drawing/2014/main" id="{4F4BD7C3-50D2-04FE-CD47-C1AD78A0600B}"/>
                    </a:ext>
                  </a:extLst>
                </p:cNvPr>
                <p:cNvSpPr txBox="1">
                  <a:spLocks noChangeArrowheads="1"/>
                </p:cNvSpPr>
                <p:nvPr/>
              </p:nvSpPr>
              <p:spPr bwMode="auto">
                <a:xfrm>
                  <a:off x="6539020" y="3858037"/>
                  <a:ext cx="540000" cy="504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r>
                          <a:rPr kumimoji="1" lang="zh-CN" altLang="en-US" sz="2400" b="0" i="1" smtClean="0">
                            <a:latin typeface="Cambria Math" panose="02040503050406030204" pitchFamily="18" charset="0"/>
                            <a:ea typeface="微软雅黑" panose="020B0503020204020204" pitchFamily="34" charset="-122"/>
                          </a:rPr>
                          <m:t>𝜋</m:t>
                        </m:r>
                      </m:oMath>
                    </m:oMathPara>
                  </a14:m>
                  <a:endParaRPr kumimoji="1" lang="en-US" altLang="zh-CN" sz="2400" i="1" dirty="0">
                    <a:ea typeface="楷体_GB2312" pitchFamily="49" charset="-122"/>
                  </a:endParaRPr>
                </a:p>
              </p:txBody>
            </p:sp>
          </mc:Choice>
          <mc:Fallback xmlns="">
            <p:sp>
              <p:nvSpPr>
                <p:cNvPr id="12" name="Text Box 8">
                  <a:extLst>
                    <a:ext uri="{FF2B5EF4-FFF2-40B4-BE49-F238E27FC236}">
                      <a16:creationId xmlns:a16="http://schemas.microsoft.com/office/drawing/2014/main" id="{4F4BD7C3-50D2-04FE-CD47-C1AD78A0600B}"/>
                    </a:ext>
                  </a:extLst>
                </p:cNvPr>
                <p:cNvSpPr txBox="1">
                  <a:spLocks noRot="1" noChangeAspect="1" noMove="1" noResize="1" noEditPoints="1" noAdjustHandles="1" noChangeArrowheads="1" noChangeShapeType="1" noTextEdit="1"/>
                </p:cNvSpPr>
                <p:nvPr/>
              </p:nvSpPr>
              <p:spPr bwMode="auto">
                <a:xfrm>
                  <a:off x="6539020" y="3858037"/>
                  <a:ext cx="540000" cy="504000"/>
                </a:xfrm>
                <a:prstGeom prst="rect">
                  <a:avLst/>
                </a:prstGeom>
                <a:blipFill>
                  <a:blip r:embed="rId21"/>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Text Box 8">
                  <a:extLst>
                    <a:ext uri="{FF2B5EF4-FFF2-40B4-BE49-F238E27FC236}">
                      <a16:creationId xmlns:a16="http://schemas.microsoft.com/office/drawing/2014/main" id="{DF6D43EC-56D9-9496-F40E-A504942E14FB}"/>
                    </a:ext>
                  </a:extLst>
                </p:cNvPr>
                <p:cNvSpPr txBox="1">
                  <a:spLocks noChangeArrowheads="1"/>
                </p:cNvSpPr>
                <p:nvPr/>
              </p:nvSpPr>
              <p:spPr bwMode="auto">
                <a:xfrm>
                  <a:off x="7727020" y="3858037"/>
                  <a:ext cx="540000" cy="504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r>
                          <a:rPr kumimoji="1" lang="en-US" altLang="zh-CN" sz="2400" b="0" i="1">
                            <a:latin typeface="Cambria Math" panose="02040503050406030204" pitchFamily="18" charset="0"/>
                            <a:ea typeface="微软雅黑" panose="020B0503020204020204" pitchFamily="34" charset="-122"/>
                          </a:rPr>
                          <m:t>2</m:t>
                        </m:r>
                        <m:r>
                          <a:rPr kumimoji="1" lang="zh-CN" altLang="en-US" sz="2400" b="0" i="1" smtClean="0">
                            <a:latin typeface="Cambria Math" panose="02040503050406030204" pitchFamily="18" charset="0"/>
                            <a:ea typeface="微软雅黑" panose="020B0503020204020204" pitchFamily="34" charset="-122"/>
                          </a:rPr>
                          <m:t>𝜋</m:t>
                        </m:r>
                      </m:oMath>
                    </m:oMathPara>
                  </a14:m>
                  <a:endParaRPr kumimoji="1" lang="en-US" altLang="zh-CN" sz="2400" i="1" dirty="0">
                    <a:ea typeface="楷体_GB2312" pitchFamily="49" charset="-122"/>
                  </a:endParaRPr>
                </a:p>
              </p:txBody>
            </p:sp>
          </mc:Choice>
          <mc:Fallback xmlns="">
            <p:sp>
              <p:nvSpPr>
                <p:cNvPr id="18" name="Text Box 8">
                  <a:extLst>
                    <a:ext uri="{FF2B5EF4-FFF2-40B4-BE49-F238E27FC236}">
                      <a16:creationId xmlns:a16="http://schemas.microsoft.com/office/drawing/2014/main" id="{DF6D43EC-56D9-9496-F40E-A504942E14FB}"/>
                    </a:ext>
                  </a:extLst>
                </p:cNvPr>
                <p:cNvSpPr txBox="1">
                  <a:spLocks noRot="1" noChangeAspect="1" noMove="1" noResize="1" noEditPoints="1" noAdjustHandles="1" noChangeArrowheads="1" noChangeShapeType="1" noTextEdit="1"/>
                </p:cNvSpPr>
                <p:nvPr/>
              </p:nvSpPr>
              <p:spPr bwMode="auto">
                <a:xfrm>
                  <a:off x="7727020" y="3858037"/>
                  <a:ext cx="540000" cy="504000"/>
                </a:xfrm>
                <a:prstGeom prst="rect">
                  <a:avLst/>
                </a:prstGeom>
                <a:blipFill>
                  <a:blip r:embed="rId22"/>
                  <a:stretch>
                    <a:fillRect l="-1022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Text Box 8">
                  <a:extLst>
                    <a:ext uri="{FF2B5EF4-FFF2-40B4-BE49-F238E27FC236}">
                      <a16:creationId xmlns:a16="http://schemas.microsoft.com/office/drawing/2014/main" id="{1A7A656C-F4AF-CD63-71A1-13ADBEFB5566}"/>
                    </a:ext>
                  </a:extLst>
                </p:cNvPr>
                <p:cNvSpPr txBox="1">
                  <a:spLocks noChangeArrowheads="1"/>
                </p:cNvSpPr>
                <p:nvPr/>
              </p:nvSpPr>
              <p:spPr bwMode="auto">
                <a:xfrm>
                  <a:off x="8339020" y="3858037"/>
                  <a:ext cx="540000" cy="504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r>
                          <a:rPr kumimoji="1" lang="en-US" altLang="zh-CN" sz="2400" b="0" i="1" smtClean="0">
                            <a:latin typeface="Cambria Math" panose="02040503050406030204" pitchFamily="18" charset="0"/>
                            <a:ea typeface="微软雅黑" panose="020B0503020204020204" pitchFamily="34" charset="-122"/>
                          </a:rPr>
                          <m:t>3</m:t>
                        </m:r>
                        <m:r>
                          <a:rPr kumimoji="1" lang="zh-CN" altLang="en-US" sz="2400" b="0" i="1" smtClean="0">
                            <a:latin typeface="Cambria Math" panose="02040503050406030204" pitchFamily="18" charset="0"/>
                            <a:ea typeface="微软雅黑" panose="020B0503020204020204" pitchFamily="34" charset="-122"/>
                          </a:rPr>
                          <m:t>𝜋</m:t>
                        </m:r>
                      </m:oMath>
                    </m:oMathPara>
                  </a14:m>
                  <a:endParaRPr kumimoji="1" lang="en-US" altLang="zh-CN" sz="2400" i="1" dirty="0">
                    <a:ea typeface="楷体_GB2312" pitchFamily="49" charset="-122"/>
                  </a:endParaRPr>
                </a:p>
              </p:txBody>
            </p:sp>
          </mc:Choice>
          <mc:Fallback xmlns="">
            <p:sp>
              <p:nvSpPr>
                <p:cNvPr id="20" name="Text Box 8">
                  <a:extLst>
                    <a:ext uri="{FF2B5EF4-FFF2-40B4-BE49-F238E27FC236}">
                      <a16:creationId xmlns:a16="http://schemas.microsoft.com/office/drawing/2014/main" id="{1A7A656C-F4AF-CD63-71A1-13ADBEFB5566}"/>
                    </a:ext>
                  </a:extLst>
                </p:cNvPr>
                <p:cNvSpPr txBox="1">
                  <a:spLocks noRot="1" noChangeAspect="1" noMove="1" noResize="1" noEditPoints="1" noAdjustHandles="1" noChangeArrowheads="1" noChangeShapeType="1" noTextEdit="1"/>
                </p:cNvSpPr>
                <p:nvPr/>
              </p:nvSpPr>
              <p:spPr bwMode="auto">
                <a:xfrm>
                  <a:off x="8339020" y="3858037"/>
                  <a:ext cx="540000" cy="504000"/>
                </a:xfrm>
                <a:prstGeom prst="rect">
                  <a:avLst/>
                </a:prstGeom>
                <a:blipFill>
                  <a:blip r:embed="rId23"/>
                  <a:stretch>
                    <a:fillRect l="-10112"/>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Text Box 8">
                  <a:extLst>
                    <a:ext uri="{FF2B5EF4-FFF2-40B4-BE49-F238E27FC236}">
                      <a16:creationId xmlns:a16="http://schemas.microsoft.com/office/drawing/2014/main" id="{F5BB9B6F-A8B3-21A3-99F3-27AF0FDF8951}"/>
                    </a:ext>
                  </a:extLst>
                </p:cNvPr>
                <p:cNvSpPr txBox="1">
                  <a:spLocks noChangeArrowheads="1"/>
                </p:cNvSpPr>
                <p:nvPr/>
              </p:nvSpPr>
              <p:spPr bwMode="auto">
                <a:xfrm>
                  <a:off x="9599020" y="3858037"/>
                  <a:ext cx="540000" cy="504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r>
                          <a:rPr kumimoji="1" lang="en-US" altLang="zh-CN" sz="2400" b="0" i="1">
                            <a:latin typeface="Cambria Math" panose="02040503050406030204" pitchFamily="18" charset="0"/>
                            <a:ea typeface="微软雅黑" panose="020B0503020204020204" pitchFamily="34" charset="-122"/>
                          </a:rPr>
                          <m:t>4</m:t>
                        </m:r>
                        <m:r>
                          <a:rPr kumimoji="1" lang="zh-CN" altLang="en-US" sz="2400" b="0" i="1" smtClean="0">
                            <a:latin typeface="Cambria Math" panose="02040503050406030204" pitchFamily="18" charset="0"/>
                            <a:ea typeface="微软雅黑" panose="020B0503020204020204" pitchFamily="34" charset="-122"/>
                          </a:rPr>
                          <m:t>𝜋</m:t>
                        </m:r>
                      </m:oMath>
                    </m:oMathPara>
                  </a14:m>
                  <a:endParaRPr kumimoji="1" lang="en-US" altLang="zh-CN" sz="2400" i="1" dirty="0">
                    <a:ea typeface="楷体_GB2312" pitchFamily="49" charset="-122"/>
                  </a:endParaRPr>
                </a:p>
              </p:txBody>
            </p:sp>
          </mc:Choice>
          <mc:Fallback xmlns="">
            <p:sp>
              <p:nvSpPr>
                <p:cNvPr id="26" name="Text Box 8">
                  <a:extLst>
                    <a:ext uri="{FF2B5EF4-FFF2-40B4-BE49-F238E27FC236}">
                      <a16:creationId xmlns:a16="http://schemas.microsoft.com/office/drawing/2014/main" id="{F5BB9B6F-A8B3-21A3-99F3-27AF0FDF8951}"/>
                    </a:ext>
                  </a:extLst>
                </p:cNvPr>
                <p:cNvSpPr txBox="1">
                  <a:spLocks noRot="1" noChangeAspect="1" noMove="1" noResize="1" noEditPoints="1" noAdjustHandles="1" noChangeArrowheads="1" noChangeShapeType="1" noTextEdit="1"/>
                </p:cNvSpPr>
                <p:nvPr/>
              </p:nvSpPr>
              <p:spPr bwMode="auto">
                <a:xfrm>
                  <a:off x="9599020" y="3858037"/>
                  <a:ext cx="540000" cy="504000"/>
                </a:xfrm>
                <a:prstGeom prst="rect">
                  <a:avLst/>
                </a:prstGeom>
                <a:blipFill>
                  <a:blip r:embed="rId24"/>
                  <a:stretch>
                    <a:fillRect l="-1022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p:grpSp>
    </p:spTree>
    <p:extLst>
      <p:ext uri="{BB962C8B-B14F-4D97-AF65-F5344CB8AC3E}">
        <p14:creationId xmlns:p14="http://schemas.microsoft.com/office/powerpoint/2010/main" val="36999163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D885D-0DB0-3839-B30E-6011D5BC2546}"/>
            </a:ext>
          </a:extLst>
        </p:cNvPr>
        <p:cNvGrpSpPr/>
        <p:nvPr/>
      </p:nvGrpSpPr>
      <p:grpSpPr>
        <a:xfrm>
          <a:off x="0" y="0"/>
          <a:ext cx="0" cy="0"/>
          <a:chOff x="0" y="0"/>
          <a:chExt cx="0" cy="0"/>
        </a:xfrm>
      </p:grpSpPr>
      <p:grpSp>
        <p:nvGrpSpPr>
          <p:cNvPr id="13" name="组合 12">
            <a:extLst>
              <a:ext uri="{FF2B5EF4-FFF2-40B4-BE49-F238E27FC236}">
                <a16:creationId xmlns:a16="http://schemas.microsoft.com/office/drawing/2014/main" id="{EB421859-52A0-BA88-21DE-5F7C09B3E455}"/>
              </a:ext>
            </a:extLst>
          </p:cNvPr>
          <p:cNvGrpSpPr/>
          <p:nvPr/>
        </p:nvGrpSpPr>
        <p:grpSpPr>
          <a:xfrm>
            <a:off x="11449269" y="6198682"/>
            <a:ext cx="786273" cy="548639"/>
            <a:chOff x="11454918" y="5839511"/>
            <a:chExt cx="786273" cy="548639"/>
          </a:xfrm>
        </p:grpSpPr>
        <p:grpSp>
          <p:nvGrpSpPr>
            <p:cNvPr id="14" name="组合 13">
              <a:extLst>
                <a:ext uri="{FF2B5EF4-FFF2-40B4-BE49-F238E27FC236}">
                  <a16:creationId xmlns:a16="http://schemas.microsoft.com/office/drawing/2014/main" id="{0EA43C3F-8B15-2396-539B-86E4D8F58107}"/>
                </a:ext>
              </a:extLst>
            </p:cNvPr>
            <p:cNvGrpSpPr/>
            <p:nvPr/>
          </p:nvGrpSpPr>
          <p:grpSpPr>
            <a:xfrm>
              <a:off x="11454918" y="5867450"/>
              <a:ext cx="737081" cy="520700"/>
              <a:chOff x="11454918" y="5867450"/>
              <a:chExt cx="737081" cy="520700"/>
            </a:xfrm>
          </p:grpSpPr>
          <p:sp>
            <p:nvSpPr>
              <p:cNvPr id="16" name="箭头: 五边形 15">
                <a:extLst>
                  <a:ext uri="{FF2B5EF4-FFF2-40B4-BE49-F238E27FC236}">
                    <a16:creationId xmlns:a16="http://schemas.microsoft.com/office/drawing/2014/main" id="{F7820936-6300-CBFE-E0D0-4E2528C1A91B}"/>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箭头: V 形 16">
                <a:extLst>
                  <a:ext uri="{FF2B5EF4-FFF2-40B4-BE49-F238E27FC236}">
                    <a16:creationId xmlns:a16="http://schemas.microsoft.com/office/drawing/2014/main" id="{5E67C508-CE83-59CA-64BB-7B13609C4AD7}"/>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5" name="灯片编号占位符 3">
              <a:extLst>
                <a:ext uri="{FF2B5EF4-FFF2-40B4-BE49-F238E27FC236}">
                  <a16:creationId xmlns:a16="http://schemas.microsoft.com/office/drawing/2014/main" id="{3E8908C8-C1D2-F7DD-756A-73AFE6235B64}"/>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24</a:t>
              </a:fld>
              <a:endParaRPr lang="zh-CN" altLang="en-US" sz="3200" dirty="0">
                <a:solidFill>
                  <a:schemeClr val="bg1"/>
                </a:solidFill>
                <a:latin typeface="Candara"/>
                <a:ea typeface="微软雅黑"/>
              </a:endParaRPr>
            </a:p>
          </p:txBody>
        </p:sp>
      </p:grpSp>
      <p:sp>
        <p:nvSpPr>
          <p:cNvPr id="19" name="文本框 18">
            <a:extLst>
              <a:ext uri="{FF2B5EF4-FFF2-40B4-BE49-F238E27FC236}">
                <a16:creationId xmlns:a16="http://schemas.microsoft.com/office/drawing/2014/main" id="{308E7955-CEB2-5648-28AD-706D515D96CD}"/>
              </a:ext>
            </a:extLst>
          </p:cNvPr>
          <p:cNvSpPr txBox="1"/>
          <p:nvPr/>
        </p:nvSpPr>
        <p:spPr>
          <a:xfrm>
            <a:off x="360000" y="828000"/>
            <a:ext cx="9501299" cy="565604"/>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整流：将双极性电压（电流）变为单极性电压（电流）</a:t>
            </a:r>
            <a:endParaRPr kumimoji="1" lang="en-US" altLang="zh-CN" sz="2800" dirty="0">
              <a:solidFill>
                <a:srgbClr val="002060"/>
              </a:solidFill>
              <a:latin typeface="微软雅黑" panose="020B0503020204020204" pitchFamily="34" charset="-122"/>
              <a:ea typeface="微软雅黑" panose="020B0503020204020204" pitchFamily="34" charset="-122"/>
            </a:endParaRPr>
          </a:p>
        </p:txBody>
      </p:sp>
      <p:sp>
        <p:nvSpPr>
          <p:cNvPr id="285" name="箭头: 下 284">
            <a:extLst>
              <a:ext uri="{FF2B5EF4-FFF2-40B4-BE49-F238E27FC236}">
                <a16:creationId xmlns:a16="http://schemas.microsoft.com/office/drawing/2014/main" id="{4569718A-6949-A268-CCED-E7AC27C48C36}"/>
              </a:ext>
            </a:extLst>
          </p:cNvPr>
          <p:cNvSpPr/>
          <p:nvPr/>
        </p:nvSpPr>
        <p:spPr>
          <a:xfrm>
            <a:off x="2505751" y="3846986"/>
            <a:ext cx="360000" cy="396000"/>
          </a:xfrm>
          <a:prstGeom prst="downArrow">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7" name="文本框 286">
            <a:extLst>
              <a:ext uri="{FF2B5EF4-FFF2-40B4-BE49-F238E27FC236}">
                <a16:creationId xmlns:a16="http://schemas.microsoft.com/office/drawing/2014/main" id="{771FB4E2-2F28-3552-427B-0B43CD31BDC0}"/>
              </a:ext>
            </a:extLst>
          </p:cNvPr>
          <p:cNvSpPr txBox="1"/>
          <p:nvPr/>
        </p:nvSpPr>
        <p:spPr>
          <a:xfrm>
            <a:off x="2880000" y="3852000"/>
            <a:ext cx="1188000" cy="360000"/>
          </a:xfrm>
          <a:prstGeom prst="rect">
            <a:avLst/>
          </a:prstGeom>
          <a:noFill/>
        </p:spPr>
        <p:txBody>
          <a:bodyPr wrap="square">
            <a:spAutoFit/>
          </a:bodyPr>
          <a:lstStyle/>
          <a:p>
            <a:r>
              <a:rPr lang="zh-CN" altLang="en-US" dirty="0">
                <a:solidFill>
                  <a:srgbClr val="00B0F0"/>
                </a:solidFill>
                <a:latin typeface="微软雅黑" panose="020B0503020204020204" pitchFamily="34" charset="-122"/>
                <a:ea typeface="微软雅黑" panose="020B0503020204020204" pitchFamily="34" charset="-122"/>
              </a:rPr>
              <a:t>简化表达</a:t>
            </a:r>
          </a:p>
        </p:txBody>
      </p:sp>
      <p:sp>
        <p:nvSpPr>
          <p:cNvPr id="3" name="标题 1">
            <a:extLst>
              <a:ext uri="{FF2B5EF4-FFF2-40B4-BE49-F238E27FC236}">
                <a16:creationId xmlns:a16="http://schemas.microsoft.com/office/drawing/2014/main" id="{9EB8CF87-6739-8EAA-4E55-34D659DD3B69}"/>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二极管及其应用</a:t>
            </a:r>
            <a:endParaRPr lang="en-US" altLang="zh-CN" sz="3000" dirty="0"/>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42F54D99-E07A-4B55-FAD8-240BD2EFE6E7}"/>
                  </a:ext>
                </a:extLst>
              </p:cNvPr>
              <p:cNvSpPr txBox="1"/>
              <p:nvPr/>
            </p:nvSpPr>
            <p:spPr>
              <a:xfrm>
                <a:off x="7200000" y="6120000"/>
                <a:ext cx="2700000" cy="497957"/>
              </a:xfrm>
              <a:prstGeom prst="rect">
                <a:avLst/>
              </a:prstGeom>
              <a:noFill/>
            </p:spPr>
            <p:txBody>
              <a:bodyPr wrap="square">
                <a:spAutoFit/>
              </a:bodyPr>
              <a:lstStyle/>
              <a:p>
                <a:pPr algn="ctr">
                  <a:lnSpc>
                    <a:spcPct val="120000"/>
                  </a:lnSpc>
                  <a:spcAft>
                    <a:spcPts val="600"/>
                  </a:spcAft>
                </a:pPr>
                <a14:m>
                  <m:oMath xmlns:m="http://schemas.openxmlformats.org/officeDocument/2006/math">
                    <m:r>
                      <a:rPr kumimoji="1" lang="zh-CN" altLang="en-US" sz="2400" i="1">
                        <a:solidFill>
                          <a:srgbClr val="002060"/>
                        </a:solidFill>
                        <a:latin typeface="Cambria Math" panose="02040503050406030204" pitchFamily="18" charset="0"/>
                        <a:ea typeface="微软雅黑" panose="020B0503020204020204" pitchFamily="34" charset="-122"/>
                      </a:rPr>
                      <m:t>全</m:t>
                    </m:r>
                  </m:oMath>
                </a14:m>
                <a:r>
                  <a:rPr kumimoji="1" lang="zh-CN" altLang="en-US" sz="2400" dirty="0">
                    <a:solidFill>
                      <a:srgbClr val="002060"/>
                    </a:solidFill>
                    <a:latin typeface="微软雅黑" panose="020B0503020204020204" pitchFamily="34" charset="-122"/>
                    <a:ea typeface="微软雅黑" panose="020B0503020204020204" pitchFamily="34" charset="-122"/>
                  </a:rPr>
                  <a:t>波整流</a:t>
                </a:r>
                <a:endParaRPr kumimoji="1" lang="en-US" altLang="zh-CN" sz="2400" dirty="0">
                  <a:solidFill>
                    <a:srgbClr val="002060"/>
                  </a:solidFill>
                  <a:latin typeface="微软雅黑" panose="020B0503020204020204" pitchFamily="34" charset="-122"/>
                  <a:ea typeface="微软雅黑" panose="020B0503020204020204" pitchFamily="34" charset="-122"/>
                </a:endParaRPr>
              </a:p>
            </p:txBody>
          </p:sp>
        </mc:Choice>
        <mc:Fallback xmlns="">
          <p:sp>
            <p:nvSpPr>
              <p:cNvPr id="2" name="文本框 1">
                <a:extLst>
                  <a:ext uri="{FF2B5EF4-FFF2-40B4-BE49-F238E27FC236}">
                    <a16:creationId xmlns:a16="http://schemas.microsoft.com/office/drawing/2014/main" id="{42F54D99-E07A-4B55-FAD8-240BD2EFE6E7}"/>
                  </a:ext>
                </a:extLst>
              </p:cNvPr>
              <p:cNvSpPr txBox="1">
                <a:spLocks noRot="1" noChangeAspect="1" noMove="1" noResize="1" noEditPoints="1" noAdjustHandles="1" noChangeArrowheads="1" noChangeShapeType="1" noTextEdit="1"/>
              </p:cNvSpPr>
              <p:nvPr/>
            </p:nvSpPr>
            <p:spPr>
              <a:xfrm>
                <a:off x="7200000" y="6120000"/>
                <a:ext cx="2700000" cy="497957"/>
              </a:xfrm>
              <a:prstGeom prst="rect">
                <a:avLst/>
              </a:prstGeom>
              <a:blipFill>
                <a:blip r:embed="rId23"/>
                <a:stretch>
                  <a:fillRect t="-2439" b="-26829"/>
                </a:stretch>
              </a:blipFill>
            </p:spPr>
            <p:txBody>
              <a:bodyPr/>
              <a:lstStyle/>
              <a:p>
                <a:r>
                  <a:rPr lang="zh-CN" altLang="en-US">
                    <a:noFill/>
                  </a:rPr>
                  <a:t> </a:t>
                </a:r>
              </a:p>
            </p:txBody>
          </p:sp>
        </mc:Fallback>
      </mc:AlternateContent>
      <p:sp>
        <p:nvSpPr>
          <p:cNvPr id="115" name="椭圆 114">
            <a:extLst>
              <a:ext uri="{FF2B5EF4-FFF2-40B4-BE49-F238E27FC236}">
                <a16:creationId xmlns:a16="http://schemas.microsoft.com/office/drawing/2014/main" id="{9F5060DA-80D6-7E9E-FD12-E2ED3A051706}"/>
              </a:ext>
            </a:extLst>
          </p:cNvPr>
          <p:cNvSpPr/>
          <p:nvPr/>
        </p:nvSpPr>
        <p:spPr>
          <a:xfrm>
            <a:off x="1044000" y="2268000"/>
            <a:ext cx="432000" cy="432000"/>
          </a:xfrm>
          <a:prstGeom prst="ellipse">
            <a:avLst/>
          </a:prstGeom>
          <a:noFill/>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118" name="直接连接符 117">
            <a:extLst>
              <a:ext uri="{FF2B5EF4-FFF2-40B4-BE49-F238E27FC236}">
                <a16:creationId xmlns:a16="http://schemas.microsoft.com/office/drawing/2014/main" id="{377B6A0B-9B36-976D-0C95-6F00F45CCF1E}"/>
              </a:ext>
            </a:extLst>
          </p:cNvPr>
          <p:cNvCxnSpPr>
            <a:cxnSpLocks/>
          </p:cNvCxnSpPr>
          <p:nvPr/>
        </p:nvCxnSpPr>
        <p:spPr>
          <a:xfrm flipH="1">
            <a:off x="1260000" y="1656000"/>
            <a:ext cx="180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9B92A068-65FE-86ED-282A-BD34F6BEA416}"/>
              </a:ext>
            </a:extLst>
          </p:cNvPr>
          <p:cNvCxnSpPr>
            <a:cxnSpLocks/>
          </p:cNvCxnSpPr>
          <p:nvPr/>
        </p:nvCxnSpPr>
        <p:spPr>
          <a:xfrm>
            <a:off x="4608000" y="1656000"/>
            <a:ext cx="0" cy="189852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0" name="矩形 119">
            <a:extLst>
              <a:ext uri="{FF2B5EF4-FFF2-40B4-BE49-F238E27FC236}">
                <a16:creationId xmlns:a16="http://schemas.microsoft.com/office/drawing/2014/main" id="{C2F84DF4-5E51-FCBA-1AD4-B051FEA92896}"/>
              </a:ext>
            </a:extLst>
          </p:cNvPr>
          <p:cNvSpPr/>
          <p:nvPr/>
        </p:nvSpPr>
        <p:spPr>
          <a:xfrm>
            <a:off x="4518000" y="2340000"/>
            <a:ext cx="180000" cy="540000"/>
          </a:xfrm>
          <a:prstGeom prst="rect">
            <a:avLst/>
          </a:prstGeom>
          <a:solidFill>
            <a:schemeClr val="bg1">
              <a:alpha val="99000"/>
            </a:schemeClr>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121" name="直接连接符 120">
            <a:extLst>
              <a:ext uri="{FF2B5EF4-FFF2-40B4-BE49-F238E27FC236}">
                <a16:creationId xmlns:a16="http://schemas.microsoft.com/office/drawing/2014/main" id="{B69AFFA1-4D92-2998-2835-12AE03C46578}"/>
              </a:ext>
            </a:extLst>
          </p:cNvPr>
          <p:cNvCxnSpPr>
            <a:cxnSpLocks/>
          </p:cNvCxnSpPr>
          <p:nvPr/>
        </p:nvCxnSpPr>
        <p:spPr>
          <a:xfrm>
            <a:off x="1260000" y="1656000"/>
            <a:ext cx="0" cy="165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7C6E148B-6768-71CB-1582-03F22FDA92FD}"/>
              </a:ext>
            </a:extLst>
          </p:cNvPr>
          <p:cNvCxnSpPr>
            <a:cxnSpLocks/>
          </p:cNvCxnSpPr>
          <p:nvPr/>
        </p:nvCxnSpPr>
        <p:spPr>
          <a:xfrm flipH="1">
            <a:off x="1259999" y="3312000"/>
            <a:ext cx="180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3" name="椭圆 122">
            <a:extLst>
              <a:ext uri="{FF2B5EF4-FFF2-40B4-BE49-F238E27FC236}">
                <a16:creationId xmlns:a16="http://schemas.microsoft.com/office/drawing/2014/main" id="{CCA13F65-DDD4-8A1D-CAF0-84166479DF28}"/>
              </a:ext>
            </a:extLst>
          </p:cNvPr>
          <p:cNvSpPr/>
          <p:nvPr/>
        </p:nvSpPr>
        <p:spPr>
          <a:xfrm>
            <a:off x="2988000" y="1584000"/>
            <a:ext cx="144000" cy="144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124" name="Rectangle 8">
                <a:extLst>
                  <a:ext uri="{FF2B5EF4-FFF2-40B4-BE49-F238E27FC236}">
                    <a16:creationId xmlns:a16="http://schemas.microsoft.com/office/drawing/2014/main" id="{05BDD97C-F324-B9B8-128F-2ACB43AF84B8}"/>
                  </a:ext>
                </a:extLst>
              </p:cNvPr>
              <p:cNvSpPr>
                <a:spLocks noChangeArrowheads="1"/>
              </p:cNvSpPr>
              <p:nvPr/>
            </p:nvSpPr>
            <p:spPr bwMode="auto">
              <a:xfrm>
                <a:off x="4212000" y="2412000"/>
                <a:ext cx="360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right"/>
                    </m:oMathParaPr>
                    <m:oMath xmlns:m="http://schemas.openxmlformats.org/officeDocument/2006/math">
                      <m:r>
                        <a:rPr kumimoji="1" lang="en-US" altLang="zh-CN" sz="2000" b="0" i="1" smtClean="0">
                          <a:solidFill>
                            <a:schemeClr val="tx1"/>
                          </a:solidFill>
                          <a:latin typeface="Cambria Math" panose="02040503050406030204" pitchFamily="18" charset="0"/>
                          <a:ea typeface="微软雅黑" panose="020B0503020204020204" pitchFamily="34" charset="-122"/>
                        </a:rPr>
                        <m:t>𝑅</m:t>
                      </m:r>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24" name="Rectangle 8">
                <a:extLst>
                  <a:ext uri="{FF2B5EF4-FFF2-40B4-BE49-F238E27FC236}">
                    <a16:creationId xmlns:a16="http://schemas.microsoft.com/office/drawing/2014/main" id="{05BDD97C-F324-B9B8-128F-2ACB43AF84B8}"/>
                  </a:ext>
                </a:extLst>
              </p:cNvPr>
              <p:cNvSpPr>
                <a:spLocks noRot="1" noChangeAspect="1" noMove="1" noResize="1" noEditPoints="1" noAdjustHandles="1" noChangeArrowheads="1" noChangeShapeType="1" noTextEdit="1"/>
              </p:cNvSpPr>
              <p:nvPr/>
            </p:nvSpPr>
            <p:spPr bwMode="auto">
              <a:xfrm>
                <a:off x="4212000" y="2412000"/>
                <a:ext cx="360000" cy="396000"/>
              </a:xfrm>
              <a:prstGeom prst="rect">
                <a:avLst/>
              </a:prstGeom>
              <a:blipFill>
                <a:blip r:embed="rId24"/>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25" name="椭圆 124">
            <a:extLst>
              <a:ext uri="{FF2B5EF4-FFF2-40B4-BE49-F238E27FC236}">
                <a16:creationId xmlns:a16="http://schemas.microsoft.com/office/drawing/2014/main" id="{81783CBF-FCFF-78D8-4E14-9A7752A645E8}"/>
              </a:ext>
            </a:extLst>
          </p:cNvPr>
          <p:cNvSpPr/>
          <p:nvPr/>
        </p:nvSpPr>
        <p:spPr>
          <a:xfrm>
            <a:off x="2160000" y="2412000"/>
            <a:ext cx="144000" cy="144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126" name="Rectangle 8">
                <a:extLst>
                  <a:ext uri="{FF2B5EF4-FFF2-40B4-BE49-F238E27FC236}">
                    <a16:creationId xmlns:a16="http://schemas.microsoft.com/office/drawing/2014/main" id="{05408ABA-A41D-ACAB-C2E8-694B9A470843}"/>
                  </a:ext>
                </a:extLst>
              </p:cNvPr>
              <p:cNvSpPr>
                <a:spLocks noChangeArrowheads="1"/>
              </p:cNvSpPr>
              <p:nvPr/>
            </p:nvSpPr>
            <p:spPr bwMode="auto">
              <a:xfrm>
                <a:off x="720000" y="1980000"/>
                <a:ext cx="360000" cy="1044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0"/>
                  </a:spcAft>
                  <a:buNone/>
                </a:pPr>
                <a14:m>
                  <m:oMathPara xmlns:m="http://schemas.openxmlformats.org/officeDocument/2006/math">
                    <m:oMathParaPr>
                      <m:jc m:val="centerGroup"/>
                    </m:oMathParaPr>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m:oMathPara>
                </a14:m>
                <a:endParaRPr kumimoji="1" lang="en-US" altLang="zh-CN" sz="2000" b="0" i="1" dirty="0">
                  <a:latin typeface="Cambria Math" panose="02040503050406030204" pitchFamily="18" charset="0"/>
                  <a:ea typeface="微软雅黑" panose="020B0503020204020204" pitchFamily="34" charset="-122"/>
                </a:endParaRPr>
              </a:p>
              <a:p>
                <a:pPr algn="ctr">
                  <a:spcAft>
                    <a:spcPts val="0"/>
                  </a:spcAft>
                  <a:buNone/>
                </a:pPr>
                <a14:m>
                  <m:oMathPara xmlns:m="http://schemas.openxmlformats.org/officeDocument/2006/math">
                    <m:oMathParaPr>
                      <m:jc m:val="centerGroup"/>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𝑣</m:t>
                          </m:r>
                        </m:e>
                        <m:sub>
                          <m:r>
                            <m:rPr>
                              <m:sty m:val="p"/>
                            </m:rPr>
                            <a:rPr kumimoji="1" lang="en-US" altLang="zh-CN" sz="2000" b="0" i="0" smtClean="0">
                              <a:latin typeface="Cambria Math" panose="02040503050406030204" pitchFamily="18" charset="0"/>
                              <a:ea typeface="微软雅黑" panose="020B0503020204020204" pitchFamily="34" charset="-122"/>
                            </a:rPr>
                            <m:t>s</m:t>
                          </m:r>
                        </m:sub>
                      </m:sSub>
                    </m:oMath>
                  </m:oMathPara>
                </a14:m>
                <a:endParaRPr kumimoji="1" lang="en-US" altLang="zh-CN" sz="2000" b="0" dirty="0">
                  <a:latin typeface="微软雅黑" panose="020B0503020204020204" pitchFamily="34" charset="-122"/>
                  <a:ea typeface="微软雅黑" panose="020B0503020204020204" pitchFamily="34" charset="-122"/>
                </a:endParaRPr>
              </a:p>
              <a:p>
                <a:pPr algn="ctr">
                  <a:spcAft>
                    <a:spcPts val="0"/>
                  </a:spcAft>
                  <a:buNone/>
                </a:pPr>
                <a14:m>
                  <m:oMathPara xmlns:m="http://schemas.openxmlformats.org/officeDocument/2006/math">
                    <m:oMathParaPr>
                      <m:jc m:val="centerGroup"/>
                    </m:oMathParaPr>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126" name="Rectangle 8">
                <a:extLst>
                  <a:ext uri="{FF2B5EF4-FFF2-40B4-BE49-F238E27FC236}">
                    <a16:creationId xmlns:a16="http://schemas.microsoft.com/office/drawing/2014/main" id="{05408ABA-A41D-ACAB-C2E8-694B9A470843}"/>
                  </a:ext>
                </a:extLst>
              </p:cNvPr>
              <p:cNvSpPr>
                <a:spLocks noRot="1" noChangeAspect="1" noMove="1" noResize="1" noEditPoints="1" noAdjustHandles="1" noChangeArrowheads="1" noChangeShapeType="1" noTextEdit="1"/>
              </p:cNvSpPr>
              <p:nvPr/>
            </p:nvSpPr>
            <p:spPr bwMode="auto">
              <a:xfrm>
                <a:off x="720000" y="1980000"/>
                <a:ext cx="360000" cy="1044000"/>
              </a:xfrm>
              <a:prstGeom prst="rect">
                <a:avLst/>
              </a:prstGeom>
              <a:blipFill>
                <a:blip r:embed="rId25"/>
                <a:stretch>
                  <a:fillRect l="-15254"/>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7" name="Rectangle 8">
                <a:extLst>
                  <a:ext uri="{FF2B5EF4-FFF2-40B4-BE49-F238E27FC236}">
                    <a16:creationId xmlns:a16="http://schemas.microsoft.com/office/drawing/2014/main" id="{11712E3F-39BB-3605-62C8-8A7D5DD864A8}"/>
                  </a:ext>
                </a:extLst>
              </p:cNvPr>
              <p:cNvSpPr>
                <a:spLocks noChangeArrowheads="1"/>
              </p:cNvSpPr>
              <p:nvPr/>
            </p:nvSpPr>
            <p:spPr bwMode="auto">
              <a:xfrm>
                <a:off x="4752000" y="2124000"/>
                <a:ext cx="360000" cy="1044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0"/>
                  </a:spcAft>
                  <a:buNone/>
                </a:pPr>
                <a14:m>
                  <m:oMathPara xmlns:m="http://schemas.openxmlformats.org/officeDocument/2006/math">
                    <m:oMathParaPr>
                      <m:jc m:val="centerGroup"/>
                    </m:oMathParaPr>
                    <m:oMath xmlns:m="http://schemas.openxmlformats.org/officeDocument/2006/math">
                      <m:r>
                        <a:rPr kumimoji="1" lang="pt-BR" altLang="zh-CN" sz="2000" b="0" i="1" smtClean="0">
                          <a:latin typeface="Cambria Math" panose="02040503050406030204" pitchFamily="18" charset="0"/>
                          <a:ea typeface="微软雅黑" panose="020B0503020204020204" pitchFamily="34" charset="-122"/>
                        </a:rPr>
                        <m:t>+</m:t>
                      </m:r>
                    </m:oMath>
                  </m:oMathPara>
                </a14:m>
                <a:endParaRPr kumimoji="1" lang="en-US" altLang="zh-CN" sz="2000" b="0" dirty="0">
                  <a:latin typeface="微软雅黑" panose="020B0503020204020204" pitchFamily="34" charset="-122"/>
                  <a:ea typeface="微软雅黑" panose="020B0503020204020204" pitchFamily="34" charset="-122"/>
                </a:endParaRPr>
              </a:p>
              <a:p>
                <a:pPr algn="ctr">
                  <a:spcAft>
                    <a:spcPts val="0"/>
                  </a:spcAft>
                  <a:buNone/>
                </a:pPr>
                <a14:m>
                  <m:oMathPara xmlns:m="http://schemas.openxmlformats.org/officeDocument/2006/math">
                    <m:oMathParaPr>
                      <m:jc m:val="centerGroup"/>
                    </m:oMathParaPr>
                    <m:oMath xmlns:m="http://schemas.openxmlformats.org/officeDocument/2006/math">
                      <m:sSub>
                        <m:sSubPr>
                          <m:ctrlPr>
                            <a:rPr kumimoji="1" lang="en-US" altLang="zh-CN" sz="2000" b="0" i="1">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𝑣</m:t>
                          </m:r>
                        </m:e>
                        <m:sub>
                          <m:r>
                            <m:rPr>
                              <m:sty m:val="p"/>
                            </m:rPr>
                            <a:rPr kumimoji="1" lang="en-US" altLang="zh-CN" sz="2000" b="0" i="0" smtClean="0">
                              <a:latin typeface="Cambria Math" panose="02040503050406030204" pitchFamily="18" charset="0"/>
                              <a:ea typeface="微软雅黑" panose="020B0503020204020204" pitchFamily="34" charset="-122"/>
                            </a:rPr>
                            <m:t>o</m:t>
                          </m:r>
                        </m:sub>
                      </m:sSub>
                    </m:oMath>
                  </m:oMathPara>
                </a14:m>
                <a:endParaRPr kumimoji="1" lang="en-US" altLang="zh-CN" sz="2000" b="0" dirty="0">
                  <a:latin typeface="微软雅黑" panose="020B0503020204020204" pitchFamily="34" charset="-122"/>
                  <a:ea typeface="微软雅黑" panose="020B0503020204020204" pitchFamily="34" charset="-122"/>
                </a:endParaRPr>
              </a:p>
              <a:p>
                <a:pPr algn="ctr">
                  <a:spcAft>
                    <a:spcPts val="0"/>
                  </a:spcAft>
                  <a:buNone/>
                </a:pPr>
                <a14:m>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p>
            </p:txBody>
          </p:sp>
        </mc:Choice>
        <mc:Fallback xmlns="">
          <p:sp>
            <p:nvSpPr>
              <p:cNvPr id="127" name="Rectangle 8">
                <a:extLst>
                  <a:ext uri="{FF2B5EF4-FFF2-40B4-BE49-F238E27FC236}">
                    <a16:creationId xmlns:a16="http://schemas.microsoft.com/office/drawing/2014/main" id="{11712E3F-39BB-3605-62C8-8A7D5DD864A8}"/>
                  </a:ext>
                </a:extLst>
              </p:cNvPr>
              <p:cNvSpPr>
                <a:spLocks noRot="1" noChangeAspect="1" noMove="1" noResize="1" noEditPoints="1" noAdjustHandles="1" noChangeArrowheads="1" noChangeShapeType="1" noTextEdit="1"/>
              </p:cNvSpPr>
              <p:nvPr/>
            </p:nvSpPr>
            <p:spPr bwMode="auto">
              <a:xfrm>
                <a:off x="4752000" y="2124000"/>
                <a:ext cx="360000" cy="1044000"/>
              </a:xfrm>
              <a:prstGeom prst="rect">
                <a:avLst/>
              </a:prstGeom>
              <a:blipFill>
                <a:blip r:embed="rId26"/>
                <a:stretch>
                  <a:fillRect r="-508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139" name="直接连接符 138">
            <a:extLst>
              <a:ext uri="{FF2B5EF4-FFF2-40B4-BE49-F238E27FC236}">
                <a16:creationId xmlns:a16="http://schemas.microsoft.com/office/drawing/2014/main" id="{7350CF3F-6764-FE85-AF36-0C8719003271}"/>
              </a:ext>
            </a:extLst>
          </p:cNvPr>
          <p:cNvCxnSpPr>
            <a:cxnSpLocks/>
          </p:cNvCxnSpPr>
          <p:nvPr/>
        </p:nvCxnSpPr>
        <p:spPr>
          <a:xfrm>
            <a:off x="3060000" y="1656000"/>
            <a:ext cx="828000" cy="82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直接连接符 153">
            <a:extLst>
              <a:ext uri="{FF2B5EF4-FFF2-40B4-BE49-F238E27FC236}">
                <a16:creationId xmlns:a16="http://schemas.microsoft.com/office/drawing/2014/main" id="{497F6BD6-3A4F-7AFB-D36A-833E17F46B97}"/>
              </a:ext>
            </a:extLst>
          </p:cNvPr>
          <p:cNvCxnSpPr>
            <a:cxnSpLocks/>
          </p:cNvCxnSpPr>
          <p:nvPr/>
        </p:nvCxnSpPr>
        <p:spPr>
          <a:xfrm flipV="1">
            <a:off x="2232000" y="1656000"/>
            <a:ext cx="828000" cy="82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7" name="椭圆 176">
            <a:extLst>
              <a:ext uri="{FF2B5EF4-FFF2-40B4-BE49-F238E27FC236}">
                <a16:creationId xmlns:a16="http://schemas.microsoft.com/office/drawing/2014/main" id="{1726D815-EA93-5ECB-AEFD-9B398C5B5280}"/>
              </a:ext>
            </a:extLst>
          </p:cNvPr>
          <p:cNvSpPr/>
          <p:nvPr/>
        </p:nvSpPr>
        <p:spPr>
          <a:xfrm>
            <a:off x="2988000" y="3240000"/>
            <a:ext cx="144000" cy="144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78" name="椭圆 177">
            <a:extLst>
              <a:ext uri="{FF2B5EF4-FFF2-40B4-BE49-F238E27FC236}">
                <a16:creationId xmlns:a16="http://schemas.microsoft.com/office/drawing/2014/main" id="{4DC8ACBB-1627-CCED-D5B0-A3FF5F1613AD}"/>
              </a:ext>
            </a:extLst>
          </p:cNvPr>
          <p:cNvSpPr/>
          <p:nvPr/>
        </p:nvSpPr>
        <p:spPr>
          <a:xfrm>
            <a:off x="3816000" y="2412000"/>
            <a:ext cx="144000" cy="144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179" name="直接连接符 178">
            <a:extLst>
              <a:ext uri="{FF2B5EF4-FFF2-40B4-BE49-F238E27FC236}">
                <a16:creationId xmlns:a16="http://schemas.microsoft.com/office/drawing/2014/main" id="{1CE7A03F-69F5-7D4C-1381-2E0C39F052A6}"/>
              </a:ext>
            </a:extLst>
          </p:cNvPr>
          <p:cNvCxnSpPr>
            <a:cxnSpLocks/>
          </p:cNvCxnSpPr>
          <p:nvPr/>
        </p:nvCxnSpPr>
        <p:spPr>
          <a:xfrm>
            <a:off x="3888000" y="1658666"/>
            <a:ext cx="0" cy="8184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直接连接符 180">
            <a:extLst>
              <a:ext uri="{FF2B5EF4-FFF2-40B4-BE49-F238E27FC236}">
                <a16:creationId xmlns:a16="http://schemas.microsoft.com/office/drawing/2014/main" id="{450E7FA9-4465-ABD6-3170-5A44AB671DDD}"/>
              </a:ext>
            </a:extLst>
          </p:cNvPr>
          <p:cNvCxnSpPr>
            <a:cxnSpLocks/>
          </p:cNvCxnSpPr>
          <p:nvPr/>
        </p:nvCxnSpPr>
        <p:spPr>
          <a:xfrm flipH="1">
            <a:off x="3888000" y="1656000"/>
            <a:ext cx="72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3" name="直接连接符 182">
            <a:extLst>
              <a:ext uri="{FF2B5EF4-FFF2-40B4-BE49-F238E27FC236}">
                <a16:creationId xmlns:a16="http://schemas.microsoft.com/office/drawing/2014/main" id="{A12670F2-3D9A-4D7A-1C42-6720BE4827F1}"/>
              </a:ext>
            </a:extLst>
          </p:cNvPr>
          <p:cNvCxnSpPr>
            <a:cxnSpLocks/>
          </p:cNvCxnSpPr>
          <p:nvPr/>
        </p:nvCxnSpPr>
        <p:spPr>
          <a:xfrm>
            <a:off x="2232000" y="2484000"/>
            <a:ext cx="0" cy="10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直接连接符 185">
            <a:extLst>
              <a:ext uri="{FF2B5EF4-FFF2-40B4-BE49-F238E27FC236}">
                <a16:creationId xmlns:a16="http://schemas.microsoft.com/office/drawing/2014/main" id="{D42586EA-3B68-3F14-95EE-EB8D566B637D}"/>
              </a:ext>
            </a:extLst>
          </p:cNvPr>
          <p:cNvCxnSpPr>
            <a:cxnSpLocks/>
          </p:cNvCxnSpPr>
          <p:nvPr/>
        </p:nvCxnSpPr>
        <p:spPr>
          <a:xfrm flipH="1">
            <a:off x="2232000" y="3564000"/>
            <a:ext cx="2376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2" name="直接箭头连接符 191">
            <a:extLst>
              <a:ext uri="{FF2B5EF4-FFF2-40B4-BE49-F238E27FC236}">
                <a16:creationId xmlns:a16="http://schemas.microsoft.com/office/drawing/2014/main" id="{890E4494-4E03-F6D4-CAE1-9646307947B7}"/>
              </a:ext>
            </a:extLst>
          </p:cNvPr>
          <p:cNvCxnSpPr>
            <a:cxnSpLocks/>
          </p:cNvCxnSpPr>
          <p:nvPr/>
        </p:nvCxnSpPr>
        <p:spPr>
          <a:xfrm>
            <a:off x="1620000" y="1548000"/>
            <a:ext cx="432000" cy="0"/>
          </a:xfrm>
          <a:prstGeom prst="straightConnector1">
            <a:avLst/>
          </a:prstGeom>
          <a:ln w="19050">
            <a:solidFill>
              <a:srgbClr val="00B05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93" name="直接箭头连接符 192">
            <a:extLst>
              <a:ext uri="{FF2B5EF4-FFF2-40B4-BE49-F238E27FC236}">
                <a16:creationId xmlns:a16="http://schemas.microsoft.com/office/drawing/2014/main" id="{CA0949D5-5A72-3286-FD69-78572FE4D1DF}"/>
              </a:ext>
            </a:extLst>
          </p:cNvPr>
          <p:cNvCxnSpPr>
            <a:cxnSpLocks/>
          </p:cNvCxnSpPr>
          <p:nvPr/>
        </p:nvCxnSpPr>
        <p:spPr>
          <a:xfrm rot="2700000">
            <a:off x="3456000" y="1872000"/>
            <a:ext cx="432000" cy="0"/>
          </a:xfrm>
          <a:prstGeom prst="straightConnector1">
            <a:avLst/>
          </a:prstGeom>
          <a:ln w="19050">
            <a:solidFill>
              <a:srgbClr val="00B05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94" name="直接箭头连接符 193">
            <a:extLst>
              <a:ext uri="{FF2B5EF4-FFF2-40B4-BE49-F238E27FC236}">
                <a16:creationId xmlns:a16="http://schemas.microsoft.com/office/drawing/2014/main" id="{51D912A7-5204-CE68-1487-7B690CF8E5B1}"/>
              </a:ext>
            </a:extLst>
          </p:cNvPr>
          <p:cNvCxnSpPr>
            <a:cxnSpLocks/>
          </p:cNvCxnSpPr>
          <p:nvPr/>
        </p:nvCxnSpPr>
        <p:spPr>
          <a:xfrm>
            <a:off x="4032000" y="1548000"/>
            <a:ext cx="432000" cy="0"/>
          </a:xfrm>
          <a:prstGeom prst="straightConnector1">
            <a:avLst/>
          </a:prstGeom>
          <a:ln w="19050">
            <a:solidFill>
              <a:srgbClr val="00B05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95" name="直接箭头连接符 194">
            <a:extLst>
              <a:ext uri="{FF2B5EF4-FFF2-40B4-BE49-F238E27FC236}">
                <a16:creationId xmlns:a16="http://schemas.microsoft.com/office/drawing/2014/main" id="{BF708B2C-5914-B55F-60D0-440C39EF0216}"/>
              </a:ext>
            </a:extLst>
          </p:cNvPr>
          <p:cNvCxnSpPr>
            <a:cxnSpLocks/>
          </p:cNvCxnSpPr>
          <p:nvPr/>
        </p:nvCxnSpPr>
        <p:spPr>
          <a:xfrm flipH="1">
            <a:off x="4032000" y="3672000"/>
            <a:ext cx="432000" cy="0"/>
          </a:xfrm>
          <a:prstGeom prst="straightConnector1">
            <a:avLst/>
          </a:prstGeom>
          <a:ln w="19050">
            <a:solidFill>
              <a:srgbClr val="00B05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96" name="直接箭头连接符 195">
            <a:extLst>
              <a:ext uri="{FF2B5EF4-FFF2-40B4-BE49-F238E27FC236}">
                <a16:creationId xmlns:a16="http://schemas.microsoft.com/office/drawing/2014/main" id="{773EA2F8-6DDF-0FBA-4DA5-3E163237246D}"/>
              </a:ext>
            </a:extLst>
          </p:cNvPr>
          <p:cNvCxnSpPr>
            <a:cxnSpLocks/>
          </p:cNvCxnSpPr>
          <p:nvPr/>
        </p:nvCxnSpPr>
        <p:spPr>
          <a:xfrm rot="2700000">
            <a:off x="2628000" y="2664000"/>
            <a:ext cx="432000" cy="0"/>
          </a:xfrm>
          <a:prstGeom prst="straightConnector1">
            <a:avLst/>
          </a:prstGeom>
          <a:ln w="19050">
            <a:solidFill>
              <a:srgbClr val="00B05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98" name="直接箭头连接符 197">
            <a:extLst>
              <a:ext uri="{FF2B5EF4-FFF2-40B4-BE49-F238E27FC236}">
                <a16:creationId xmlns:a16="http://schemas.microsoft.com/office/drawing/2014/main" id="{A27BD67E-C6C0-31EB-432A-0F6DF287E4EE}"/>
              </a:ext>
            </a:extLst>
          </p:cNvPr>
          <p:cNvCxnSpPr>
            <a:cxnSpLocks/>
          </p:cNvCxnSpPr>
          <p:nvPr/>
        </p:nvCxnSpPr>
        <p:spPr>
          <a:xfrm flipH="1">
            <a:off x="1620000" y="3420000"/>
            <a:ext cx="432000" cy="0"/>
          </a:xfrm>
          <a:prstGeom prst="straightConnector1">
            <a:avLst/>
          </a:prstGeom>
          <a:ln w="19050">
            <a:solidFill>
              <a:srgbClr val="00B05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99" name="直接箭头连接符 198">
            <a:extLst>
              <a:ext uri="{FF2B5EF4-FFF2-40B4-BE49-F238E27FC236}">
                <a16:creationId xmlns:a16="http://schemas.microsoft.com/office/drawing/2014/main" id="{9DD11ADC-E13C-6840-F9FF-40EE34C47C23}"/>
              </a:ext>
            </a:extLst>
          </p:cNvPr>
          <p:cNvCxnSpPr>
            <a:cxnSpLocks/>
          </p:cNvCxnSpPr>
          <p:nvPr/>
        </p:nvCxnSpPr>
        <p:spPr>
          <a:xfrm>
            <a:off x="1620000" y="3204000"/>
            <a:ext cx="432000" cy="0"/>
          </a:xfrm>
          <a:prstGeom prst="straightConnector1">
            <a:avLst/>
          </a:prstGeom>
          <a:ln w="19050">
            <a:solidFill>
              <a:srgbClr val="FF0000"/>
            </a:solidFill>
            <a:prstDash val="sysDash"/>
            <a:tailEnd type="triangle" w="med" len="lg"/>
          </a:ln>
        </p:spPr>
        <p:style>
          <a:lnRef idx="1">
            <a:schemeClr val="accent1"/>
          </a:lnRef>
          <a:fillRef idx="0">
            <a:schemeClr val="accent1"/>
          </a:fillRef>
          <a:effectRef idx="0">
            <a:schemeClr val="accent1"/>
          </a:effectRef>
          <a:fontRef idx="minor">
            <a:schemeClr val="tx1"/>
          </a:fontRef>
        </p:style>
      </p:cxnSp>
      <p:cxnSp>
        <p:nvCxnSpPr>
          <p:cNvPr id="201" name="直接箭头连接符 200">
            <a:extLst>
              <a:ext uri="{FF2B5EF4-FFF2-40B4-BE49-F238E27FC236}">
                <a16:creationId xmlns:a16="http://schemas.microsoft.com/office/drawing/2014/main" id="{9FBADA82-14EC-A060-F275-BF900F4A565D}"/>
              </a:ext>
            </a:extLst>
          </p:cNvPr>
          <p:cNvCxnSpPr>
            <a:cxnSpLocks/>
          </p:cNvCxnSpPr>
          <p:nvPr/>
        </p:nvCxnSpPr>
        <p:spPr>
          <a:xfrm rot="18900000">
            <a:off x="3060000" y="2664000"/>
            <a:ext cx="432000" cy="0"/>
          </a:xfrm>
          <a:prstGeom prst="straightConnector1">
            <a:avLst/>
          </a:prstGeom>
          <a:ln w="19050">
            <a:solidFill>
              <a:srgbClr val="FF0000"/>
            </a:solidFill>
            <a:prstDash val="sysDash"/>
            <a:tailEnd type="triangle" w="med" len="lg"/>
          </a:ln>
        </p:spPr>
        <p:style>
          <a:lnRef idx="1">
            <a:schemeClr val="accent1"/>
          </a:lnRef>
          <a:fillRef idx="0">
            <a:schemeClr val="accent1"/>
          </a:fillRef>
          <a:effectRef idx="0">
            <a:schemeClr val="accent1"/>
          </a:effectRef>
          <a:fontRef idx="minor">
            <a:schemeClr val="tx1"/>
          </a:fontRef>
        </p:style>
      </p:cxnSp>
      <p:cxnSp>
        <p:nvCxnSpPr>
          <p:cNvPr id="202" name="直接箭头连接符 201">
            <a:extLst>
              <a:ext uri="{FF2B5EF4-FFF2-40B4-BE49-F238E27FC236}">
                <a16:creationId xmlns:a16="http://schemas.microsoft.com/office/drawing/2014/main" id="{0F9D25CB-A81B-4E20-C9A7-F54BE5B68A88}"/>
              </a:ext>
            </a:extLst>
          </p:cNvPr>
          <p:cNvCxnSpPr>
            <a:cxnSpLocks/>
          </p:cNvCxnSpPr>
          <p:nvPr/>
        </p:nvCxnSpPr>
        <p:spPr>
          <a:xfrm rot="18900000" flipV="1">
            <a:off x="2196000" y="1872000"/>
            <a:ext cx="432000" cy="0"/>
          </a:xfrm>
          <a:prstGeom prst="straightConnector1">
            <a:avLst/>
          </a:prstGeom>
          <a:ln w="19050">
            <a:solidFill>
              <a:srgbClr val="FF0000"/>
            </a:solidFill>
            <a:prstDash val="sysDash"/>
            <a:tailEnd type="triangle" w="med" len="lg"/>
          </a:ln>
        </p:spPr>
        <p:style>
          <a:lnRef idx="1">
            <a:schemeClr val="accent1"/>
          </a:lnRef>
          <a:fillRef idx="0">
            <a:schemeClr val="accent1"/>
          </a:fillRef>
          <a:effectRef idx="0">
            <a:schemeClr val="accent1"/>
          </a:effectRef>
          <a:fontRef idx="minor">
            <a:schemeClr val="tx1"/>
          </a:fontRef>
        </p:style>
      </p:cxnSp>
      <p:cxnSp>
        <p:nvCxnSpPr>
          <p:cNvPr id="203" name="直接箭头连接符 202">
            <a:extLst>
              <a:ext uri="{FF2B5EF4-FFF2-40B4-BE49-F238E27FC236}">
                <a16:creationId xmlns:a16="http://schemas.microsoft.com/office/drawing/2014/main" id="{1F033721-F8AA-9F8F-D2C3-A713566F5787}"/>
              </a:ext>
            </a:extLst>
          </p:cNvPr>
          <p:cNvCxnSpPr>
            <a:cxnSpLocks/>
          </p:cNvCxnSpPr>
          <p:nvPr/>
        </p:nvCxnSpPr>
        <p:spPr>
          <a:xfrm>
            <a:off x="4032000" y="1764000"/>
            <a:ext cx="432000" cy="0"/>
          </a:xfrm>
          <a:prstGeom prst="straightConnector1">
            <a:avLst/>
          </a:prstGeom>
          <a:ln w="19050">
            <a:solidFill>
              <a:srgbClr val="FF0000"/>
            </a:solidFill>
            <a:prstDash val="sysDash"/>
            <a:tailEnd type="triangle" w="med" len="lg"/>
          </a:ln>
        </p:spPr>
        <p:style>
          <a:lnRef idx="1">
            <a:schemeClr val="accent1"/>
          </a:lnRef>
          <a:fillRef idx="0">
            <a:schemeClr val="accent1"/>
          </a:fillRef>
          <a:effectRef idx="0">
            <a:schemeClr val="accent1"/>
          </a:effectRef>
          <a:fontRef idx="minor">
            <a:schemeClr val="tx1"/>
          </a:fontRef>
        </p:style>
      </p:cxnSp>
      <p:cxnSp>
        <p:nvCxnSpPr>
          <p:cNvPr id="204" name="直接箭头连接符 203">
            <a:extLst>
              <a:ext uri="{FF2B5EF4-FFF2-40B4-BE49-F238E27FC236}">
                <a16:creationId xmlns:a16="http://schemas.microsoft.com/office/drawing/2014/main" id="{89B38C14-B6ED-76AC-8455-952EE0CA3657}"/>
              </a:ext>
            </a:extLst>
          </p:cNvPr>
          <p:cNvCxnSpPr>
            <a:cxnSpLocks/>
          </p:cNvCxnSpPr>
          <p:nvPr/>
        </p:nvCxnSpPr>
        <p:spPr>
          <a:xfrm flipH="1">
            <a:off x="4032000" y="3456000"/>
            <a:ext cx="432000" cy="0"/>
          </a:xfrm>
          <a:prstGeom prst="straightConnector1">
            <a:avLst/>
          </a:prstGeom>
          <a:ln w="19050">
            <a:solidFill>
              <a:srgbClr val="FF0000"/>
            </a:solidFill>
            <a:prstDash val="sysDash"/>
            <a:tailEnd type="triangle" w="med" len="lg"/>
          </a:ln>
        </p:spPr>
        <p:style>
          <a:lnRef idx="1">
            <a:schemeClr val="accent1"/>
          </a:lnRef>
          <a:fillRef idx="0">
            <a:schemeClr val="accent1"/>
          </a:fillRef>
          <a:effectRef idx="0">
            <a:schemeClr val="accent1"/>
          </a:effectRef>
          <a:fontRef idx="minor">
            <a:schemeClr val="tx1"/>
          </a:fontRef>
        </p:style>
      </p:cxnSp>
      <p:cxnSp>
        <p:nvCxnSpPr>
          <p:cNvPr id="205" name="直接箭头连接符 204">
            <a:extLst>
              <a:ext uri="{FF2B5EF4-FFF2-40B4-BE49-F238E27FC236}">
                <a16:creationId xmlns:a16="http://schemas.microsoft.com/office/drawing/2014/main" id="{81BDFFDA-02EF-34C0-99A0-0076A3FA2E87}"/>
              </a:ext>
            </a:extLst>
          </p:cNvPr>
          <p:cNvCxnSpPr>
            <a:cxnSpLocks/>
          </p:cNvCxnSpPr>
          <p:nvPr/>
        </p:nvCxnSpPr>
        <p:spPr>
          <a:xfrm flipH="1">
            <a:off x="1620000" y="1764000"/>
            <a:ext cx="432000" cy="0"/>
          </a:xfrm>
          <a:prstGeom prst="straightConnector1">
            <a:avLst/>
          </a:prstGeom>
          <a:ln w="19050">
            <a:solidFill>
              <a:srgbClr val="FF0000"/>
            </a:solidFill>
            <a:prstDash val="sysDash"/>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3" name="Rectangle 8">
                <a:extLst>
                  <a:ext uri="{FF2B5EF4-FFF2-40B4-BE49-F238E27FC236}">
                    <a16:creationId xmlns:a16="http://schemas.microsoft.com/office/drawing/2014/main" id="{87236736-D188-048A-29CB-083FD59161E2}"/>
                  </a:ext>
                </a:extLst>
              </p:cNvPr>
              <p:cNvSpPr>
                <a:spLocks noChangeArrowheads="1"/>
              </p:cNvSpPr>
              <p:nvPr/>
            </p:nvSpPr>
            <p:spPr bwMode="auto">
              <a:xfrm>
                <a:off x="3060000" y="2088000"/>
                <a:ext cx="468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right"/>
                    </m:oMathParaPr>
                    <m:oMath xmlns:m="http://schemas.openxmlformats.org/officeDocument/2006/math">
                      <m:sSub>
                        <m:sSubPr>
                          <m:ctrlP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𝐷</m:t>
                          </m:r>
                        </m:e>
                        <m:sub>
                          <m: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t>1</m:t>
                          </m:r>
                        </m:sub>
                      </m:sSub>
                    </m:oMath>
                  </m:oMathPara>
                </a14:m>
                <a:endParaRPr kumimoji="1" lang="zh-CN" altLang="en-US" sz="2000" b="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223" name="Rectangle 8">
                <a:extLst>
                  <a:ext uri="{FF2B5EF4-FFF2-40B4-BE49-F238E27FC236}">
                    <a16:creationId xmlns:a16="http://schemas.microsoft.com/office/drawing/2014/main" id="{87236736-D188-048A-29CB-083FD59161E2}"/>
                  </a:ext>
                </a:extLst>
              </p:cNvPr>
              <p:cNvSpPr>
                <a:spLocks noRot="1" noChangeAspect="1" noMove="1" noResize="1" noEditPoints="1" noAdjustHandles="1" noChangeArrowheads="1" noChangeShapeType="1" noTextEdit="1"/>
              </p:cNvSpPr>
              <p:nvPr/>
            </p:nvSpPr>
            <p:spPr bwMode="auto">
              <a:xfrm>
                <a:off x="3060000" y="2088000"/>
                <a:ext cx="468000" cy="396000"/>
              </a:xfrm>
              <a:prstGeom prst="rect">
                <a:avLst/>
              </a:prstGeom>
              <a:blipFill>
                <a:blip r:embed="rId27"/>
                <a:stretch>
                  <a:fillRect b="-312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4" name="Rectangle 8">
                <a:extLst>
                  <a:ext uri="{FF2B5EF4-FFF2-40B4-BE49-F238E27FC236}">
                    <a16:creationId xmlns:a16="http://schemas.microsoft.com/office/drawing/2014/main" id="{7BAB7B01-4B10-D80F-6B74-3D30EDC012B6}"/>
                  </a:ext>
                </a:extLst>
              </p:cNvPr>
              <p:cNvSpPr>
                <a:spLocks noChangeArrowheads="1"/>
              </p:cNvSpPr>
              <p:nvPr/>
            </p:nvSpPr>
            <p:spPr bwMode="auto">
              <a:xfrm>
                <a:off x="2628000" y="2088000"/>
                <a:ext cx="468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right"/>
                    </m:oMathParaPr>
                    <m:oMath xmlns:m="http://schemas.openxmlformats.org/officeDocument/2006/math">
                      <m:sSub>
                        <m:sSubPr>
                          <m:ctrlP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𝐷</m:t>
                          </m:r>
                        </m:e>
                        <m:sub>
                          <m: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t>4</m:t>
                          </m:r>
                        </m:sub>
                      </m:sSub>
                    </m:oMath>
                  </m:oMathPara>
                </a14:m>
                <a:endParaRPr kumimoji="1" lang="zh-CN" altLang="en-US" sz="2000" b="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224" name="Rectangle 8">
                <a:extLst>
                  <a:ext uri="{FF2B5EF4-FFF2-40B4-BE49-F238E27FC236}">
                    <a16:creationId xmlns:a16="http://schemas.microsoft.com/office/drawing/2014/main" id="{7BAB7B01-4B10-D80F-6B74-3D30EDC012B6}"/>
                  </a:ext>
                </a:extLst>
              </p:cNvPr>
              <p:cNvSpPr>
                <a:spLocks noRot="1" noChangeAspect="1" noMove="1" noResize="1" noEditPoints="1" noAdjustHandles="1" noChangeArrowheads="1" noChangeShapeType="1" noTextEdit="1"/>
              </p:cNvSpPr>
              <p:nvPr/>
            </p:nvSpPr>
            <p:spPr bwMode="auto">
              <a:xfrm>
                <a:off x="2628000" y="2088000"/>
                <a:ext cx="468000" cy="396000"/>
              </a:xfrm>
              <a:prstGeom prst="rect">
                <a:avLst/>
              </a:prstGeom>
              <a:blipFill>
                <a:blip r:embed="rId28"/>
                <a:stretch>
                  <a:fillRect b="-312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5" name="Rectangle 8">
                <a:extLst>
                  <a:ext uri="{FF2B5EF4-FFF2-40B4-BE49-F238E27FC236}">
                    <a16:creationId xmlns:a16="http://schemas.microsoft.com/office/drawing/2014/main" id="{BCCA9B35-CB15-3F14-1321-3B4ABD491171}"/>
                  </a:ext>
                </a:extLst>
              </p:cNvPr>
              <p:cNvSpPr>
                <a:spLocks noChangeArrowheads="1"/>
              </p:cNvSpPr>
              <p:nvPr/>
            </p:nvSpPr>
            <p:spPr bwMode="auto">
              <a:xfrm>
                <a:off x="2196000" y="2880000"/>
                <a:ext cx="468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right"/>
                    </m:oMathParaPr>
                    <m:oMath xmlns:m="http://schemas.openxmlformats.org/officeDocument/2006/math">
                      <m:sSub>
                        <m:sSubPr>
                          <m:ctrlP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𝐷</m:t>
                          </m:r>
                        </m:e>
                        <m:sub>
                          <m: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t>3</m:t>
                          </m:r>
                        </m:sub>
                      </m:sSub>
                    </m:oMath>
                  </m:oMathPara>
                </a14:m>
                <a:endParaRPr kumimoji="1" lang="zh-CN" altLang="en-US" sz="2000" b="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225" name="Rectangle 8">
                <a:extLst>
                  <a:ext uri="{FF2B5EF4-FFF2-40B4-BE49-F238E27FC236}">
                    <a16:creationId xmlns:a16="http://schemas.microsoft.com/office/drawing/2014/main" id="{BCCA9B35-CB15-3F14-1321-3B4ABD491171}"/>
                  </a:ext>
                </a:extLst>
              </p:cNvPr>
              <p:cNvSpPr>
                <a:spLocks noRot="1" noChangeAspect="1" noMove="1" noResize="1" noEditPoints="1" noAdjustHandles="1" noChangeArrowheads="1" noChangeShapeType="1" noTextEdit="1"/>
              </p:cNvSpPr>
              <p:nvPr/>
            </p:nvSpPr>
            <p:spPr bwMode="auto">
              <a:xfrm>
                <a:off x="2196000" y="2880000"/>
                <a:ext cx="468000" cy="396000"/>
              </a:xfrm>
              <a:prstGeom prst="rect">
                <a:avLst/>
              </a:prstGeom>
              <a:blipFill>
                <a:blip r:embed="rId29"/>
                <a:stretch>
                  <a:fillRect b="-307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6" name="Rectangle 8">
                <a:extLst>
                  <a:ext uri="{FF2B5EF4-FFF2-40B4-BE49-F238E27FC236}">
                    <a16:creationId xmlns:a16="http://schemas.microsoft.com/office/drawing/2014/main" id="{0ACD1AEF-466B-BFE0-7D35-147802E13B6A}"/>
                  </a:ext>
                </a:extLst>
              </p:cNvPr>
              <p:cNvSpPr>
                <a:spLocks noChangeArrowheads="1"/>
              </p:cNvSpPr>
              <p:nvPr/>
            </p:nvSpPr>
            <p:spPr bwMode="auto">
              <a:xfrm>
                <a:off x="3492000" y="2880000"/>
                <a:ext cx="468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right"/>
                    </m:oMathParaPr>
                    <m:oMath xmlns:m="http://schemas.openxmlformats.org/officeDocument/2006/math">
                      <m:sSub>
                        <m:sSubPr>
                          <m:ctrlP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𝐷</m:t>
                          </m:r>
                        </m:e>
                        <m:sub>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2</m:t>
                          </m:r>
                        </m:sub>
                      </m:sSub>
                    </m:oMath>
                  </m:oMathPara>
                </a14:m>
                <a:endParaRPr kumimoji="1" lang="zh-CN" altLang="en-US" sz="2000" b="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226" name="Rectangle 8">
                <a:extLst>
                  <a:ext uri="{FF2B5EF4-FFF2-40B4-BE49-F238E27FC236}">
                    <a16:creationId xmlns:a16="http://schemas.microsoft.com/office/drawing/2014/main" id="{0ACD1AEF-466B-BFE0-7D35-147802E13B6A}"/>
                  </a:ext>
                </a:extLst>
              </p:cNvPr>
              <p:cNvSpPr>
                <a:spLocks noRot="1" noChangeAspect="1" noMove="1" noResize="1" noEditPoints="1" noAdjustHandles="1" noChangeArrowheads="1" noChangeShapeType="1" noTextEdit="1"/>
              </p:cNvSpPr>
              <p:nvPr/>
            </p:nvSpPr>
            <p:spPr bwMode="auto">
              <a:xfrm>
                <a:off x="3492000" y="2880000"/>
                <a:ext cx="468000" cy="396000"/>
              </a:xfrm>
              <a:prstGeom prst="rect">
                <a:avLst/>
              </a:prstGeom>
              <a:blipFill>
                <a:blip r:embed="rId30"/>
                <a:stretch>
                  <a:fillRect b="-307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303" name="直接箭头连接符 302">
            <a:extLst>
              <a:ext uri="{FF2B5EF4-FFF2-40B4-BE49-F238E27FC236}">
                <a16:creationId xmlns:a16="http://schemas.microsoft.com/office/drawing/2014/main" id="{B1032E31-BBD7-7699-8B94-6ED7C87985B0}"/>
              </a:ext>
            </a:extLst>
          </p:cNvPr>
          <p:cNvCxnSpPr>
            <a:cxnSpLocks/>
          </p:cNvCxnSpPr>
          <p:nvPr/>
        </p:nvCxnSpPr>
        <p:spPr>
          <a:xfrm rot="16200000" flipH="1">
            <a:off x="4032000" y="2628000"/>
            <a:ext cx="432000" cy="0"/>
          </a:xfrm>
          <a:prstGeom prst="straightConnector1">
            <a:avLst/>
          </a:prstGeom>
          <a:ln w="19050">
            <a:solidFill>
              <a:srgbClr val="00B05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04" name="直接箭头连接符 303">
            <a:extLst>
              <a:ext uri="{FF2B5EF4-FFF2-40B4-BE49-F238E27FC236}">
                <a16:creationId xmlns:a16="http://schemas.microsoft.com/office/drawing/2014/main" id="{20108946-74E4-2707-5937-26EE36F9E109}"/>
              </a:ext>
            </a:extLst>
          </p:cNvPr>
          <p:cNvCxnSpPr>
            <a:cxnSpLocks/>
          </p:cNvCxnSpPr>
          <p:nvPr/>
        </p:nvCxnSpPr>
        <p:spPr>
          <a:xfrm rot="5400000">
            <a:off x="3924000" y="2628000"/>
            <a:ext cx="432000" cy="0"/>
          </a:xfrm>
          <a:prstGeom prst="straightConnector1">
            <a:avLst/>
          </a:prstGeom>
          <a:ln w="19050">
            <a:solidFill>
              <a:srgbClr val="FF0000"/>
            </a:solidFill>
            <a:prstDash val="sysDash"/>
            <a:tailEnd type="triangle" w="med" len="lg"/>
          </a:ln>
        </p:spPr>
        <p:style>
          <a:lnRef idx="1">
            <a:schemeClr val="accent1"/>
          </a:lnRef>
          <a:fillRef idx="0">
            <a:schemeClr val="accent1"/>
          </a:fillRef>
          <a:effectRef idx="0">
            <a:schemeClr val="accent1"/>
          </a:effectRef>
          <a:fontRef idx="minor">
            <a:schemeClr val="tx1"/>
          </a:fontRef>
        </p:style>
      </p:cxnSp>
      <p:grpSp>
        <p:nvGrpSpPr>
          <p:cNvPr id="7" name="组合 6">
            <a:extLst>
              <a:ext uri="{FF2B5EF4-FFF2-40B4-BE49-F238E27FC236}">
                <a16:creationId xmlns:a16="http://schemas.microsoft.com/office/drawing/2014/main" id="{086B9325-0EB8-44AD-7C71-723BF5EA3BC4}"/>
              </a:ext>
            </a:extLst>
          </p:cNvPr>
          <p:cNvGrpSpPr/>
          <p:nvPr/>
        </p:nvGrpSpPr>
        <p:grpSpPr>
          <a:xfrm rot="18900000">
            <a:off x="2484000" y="1872000"/>
            <a:ext cx="288000" cy="432000"/>
            <a:chOff x="655207" y="1680689"/>
            <a:chExt cx="288000" cy="432000"/>
          </a:xfrm>
        </p:grpSpPr>
        <p:sp>
          <p:nvSpPr>
            <p:cNvPr id="5" name="等腰三角形 4">
              <a:extLst>
                <a:ext uri="{FF2B5EF4-FFF2-40B4-BE49-F238E27FC236}">
                  <a16:creationId xmlns:a16="http://schemas.microsoft.com/office/drawing/2014/main" id="{068F0067-2EB2-83BF-EEB8-23CAD0A442EB}"/>
                </a:ext>
              </a:extLst>
            </p:cNvPr>
            <p:cNvSpPr/>
            <p:nvPr/>
          </p:nvSpPr>
          <p:spPr>
            <a:xfrm rot="5400000">
              <a:off x="601207" y="1752690"/>
              <a:ext cx="396000" cy="288000"/>
            </a:xfrm>
            <a:prstGeom prst="triangl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cxnSp>
          <p:nvCxnSpPr>
            <p:cNvPr id="6" name="直接连接符 5">
              <a:extLst>
                <a:ext uri="{FF2B5EF4-FFF2-40B4-BE49-F238E27FC236}">
                  <a16:creationId xmlns:a16="http://schemas.microsoft.com/office/drawing/2014/main" id="{CB0DC47C-FB6B-4DFB-722D-8AF08B3B9CC9}"/>
                </a:ext>
              </a:extLst>
            </p:cNvPr>
            <p:cNvCxnSpPr>
              <a:cxnSpLocks/>
            </p:cNvCxnSpPr>
            <p:nvPr/>
          </p:nvCxnSpPr>
          <p:spPr>
            <a:xfrm>
              <a:off x="943207" y="1680689"/>
              <a:ext cx="0" cy="432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组合 10">
            <a:extLst>
              <a:ext uri="{FF2B5EF4-FFF2-40B4-BE49-F238E27FC236}">
                <a16:creationId xmlns:a16="http://schemas.microsoft.com/office/drawing/2014/main" id="{601C775A-C9B9-1CD1-EA93-032096688A86}"/>
              </a:ext>
            </a:extLst>
          </p:cNvPr>
          <p:cNvGrpSpPr/>
          <p:nvPr/>
        </p:nvGrpSpPr>
        <p:grpSpPr>
          <a:xfrm rot="2700000">
            <a:off x="3348000" y="1872000"/>
            <a:ext cx="288000" cy="432000"/>
            <a:chOff x="655207" y="1680689"/>
            <a:chExt cx="288000" cy="432000"/>
          </a:xfrm>
        </p:grpSpPr>
        <p:sp>
          <p:nvSpPr>
            <p:cNvPr id="12" name="等腰三角形 11">
              <a:extLst>
                <a:ext uri="{FF2B5EF4-FFF2-40B4-BE49-F238E27FC236}">
                  <a16:creationId xmlns:a16="http://schemas.microsoft.com/office/drawing/2014/main" id="{6D16DFED-9A99-C1F8-A117-BF0164FE807B}"/>
                </a:ext>
              </a:extLst>
            </p:cNvPr>
            <p:cNvSpPr/>
            <p:nvPr/>
          </p:nvSpPr>
          <p:spPr>
            <a:xfrm rot="5400000">
              <a:off x="601207" y="1752690"/>
              <a:ext cx="396000" cy="288000"/>
            </a:xfrm>
            <a:prstGeom prst="triangl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cxnSp>
          <p:nvCxnSpPr>
            <p:cNvPr id="18" name="直接连接符 17">
              <a:extLst>
                <a:ext uri="{FF2B5EF4-FFF2-40B4-BE49-F238E27FC236}">
                  <a16:creationId xmlns:a16="http://schemas.microsoft.com/office/drawing/2014/main" id="{51469C8E-A451-FE26-DB5F-A519C018221C}"/>
                </a:ext>
              </a:extLst>
            </p:cNvPr>
            <p:cNvCxnSpPr>
              <a:cxnSpLocks/>
            </p:cNvCxnSpPr>
            <p:nvPr/>
          </p:nvCxnSpPr>
          <p:spPr>
            <a:xfrm>
              <a:off x="943207" y="1680689"/>
              <a:ext cx="0" cy="432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0" name="直接连接符 19">
            <a:extLst>
              <a:ext uri="{FF2B5EF4-FFF2-40B4-BE49-F238E27FC236}">
                <a16:creationId xmlns:a16="http://schemas.microsoft.com/office/drawing/2014/main" id="{4A493ABC-482C-4E80-CBC0-CC81453BC09D}"/>
              </a:ext>
            </a:extLst>
          </p:cNvPr>
          <p:cNvCxnSpPr>
            <a:cxnSpLocks/>
          </p:cNvCxnSpPr>
          <p:nvPr/>
        </p:nvCxnSpPr>
        <p:spPr>
          <a:xfrm>
            <a:off x="2232000" y="2484000"/>
            <a:ext cx="828000" cy="82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24A21186-B457-8FA7-BE57-07877BE9450C}"/>
              </a:ext>
            </a:extLst>
          </p:cNvPr>
          <p:cNvCxnSpPr>
            <a:cxnSpLocks/>
          </p:cNvCxnSpPr>
          <p:nvPr/>
        </p:nvCxnSpPr>
        <p:spPr>
          <a:xfrm flipV="1">
            <a:off x="3060000" y="2484000"/>
            <a:ext cx="828000" cy="82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 name="组合 21">
            <a:extLst>
              <a:ext uri="{FF2B5EF4-FFF2-40B4-BE49-F238E27FC236}">
                <a16:creationId xmlns:a16="http://schemas.microsoft.com/office/drawing/2014/main" id="{1505A53E-C0BF-911A-C53B-EBF0AADFF788}"/>
              </a:ext>
            </a:extLst>
          </p:cNvPr>
          <p:cNvGrpSpPr/>
          <p:nvPr/>
        </p:nvGrpSpPr>
        <p:grpSpPr>
          <a:xfrm rot="2700000">
            <a:off x="2484000" y="2664000"/>
            <a:ext cx="288000" cy="432000"/>
            <a:chOff x="655207" y="1680689"/>
            <a:chExt cx="288000" cy="432000"/>
          </a:xfrm>
        </p:grpSpPr>
        <p:sp>
          <p:nvSpPr>
            <p:cNvPr id="23" name="等腰三角形 22">
              <a:extLst>
                <a:ext uri="{FF2B5EF4-FFF2-40B4-BE49-F238E27FC236}">
                  <a16:creationId xmlns:a16="http://schemas.microsoft.com/office/drawing/2014/main" id="{DA42C63A-6FD5-C428-AB90-29315E3DD898}"/>
                </a:ext>
              </a:extLst>
            </p:cNvPr>
            <p:cNvSpPr/>
            <p:nvPr/>
          </p:nvSpPr>
          <p:spPr>
            <a:xfrm rot="5400000">
              <a:off x="601207" y="1752690"/>
              <a:ext cx="396000" cy="288000"/>
            </a:xfrm>
            <a:prstGeom prst="triangl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cxnSp>
          <p:nvCxnSpPr>
            <p:cNvPr id="24" name="直接连接符 23">
              <a:extLst>
                <a:ext uri="{FF2B5EF4-FFF2-40B4-BE49-F238E27FC236}">
                  <a16:creationId xmlns:a16="http://schemas.microsoft.com/office/drawing/2014/main" id="{FA7FE2EE-32FB-6780-301A-F0CF0270BCBD}"/>
                </a:ext>
              </a:extLst>
            </p:cNvPr>
            <p:cNvCxnSpPr>
              <a:cxnSpLocks/>
            </p:cNvCxnSpPr>
            <p:nvPr/>
          </p:nvCxnSpPr>
          <p:spPr>
            <a:xfrm>
              <a:off x="943207" y="1680689"/>
              <a:ext cx="0" cy="432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组合 24">
            <a:extLst>
              <a:ext uri="{FF2B5EF4-FFF2-40B4-BE49-F238E27FC236}">
                <a16:creationId xmlns:a16="http://schemas.microsoft.com/office/drawing/2014/main" id="{36E2486B-6F68-A14D-99D8-94526643A77C}"/>
              </a:ext>
            </a:extLst>
          </p:cNvPr>
          <p:cNvGrpSpPr/>
          <p:nvPr/>
        </p:nvGrpSpPr>
        <p:grpSpPr>
          <a:xfrm rot="18900000">
            <a:off x="3348000" y="2664000"/>
            <a:ext cx="288000" cy="432000"/>
            <a:chOff x="655207" y="1680689"/>
            <a:chExt cx="288000" cy="432000"/>
          </a:xfrm>
        </p:grpSpPr>
        <p:sp>
          <p:nvSpPr>
            <p:cNvPr id="26" name="等腰三角形 25">
              <a:extLst>
                <a:ext uri="{FF2B5EF4-FFF2-40B4-BE49-F238E27FC236}">
                  <a16:creationId xmlns:a16="http://schemas.microsoft.com/office/drawing/2014/main" id="{33A2F10E-EBA4-B98E-6979-99549E8ABA93}"/>
                </a:ext>
              </a:extLst>
            </p:cNvPr>
            <p:cNvSpPr/>
            <p:nvPr/>
          </p:nvSpPr>
          <p:spPr>
            <a:xfrm rot="5400000">
              <a:off x="601207" y="1752690"/>
              <a:ext cx="396000" cy="288000"/>
            </a:xfrm>
            <a:prstGeom prst="triangl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cxnSp>
          <p:nvCxnSpPr>
            <p:cNvPr id="27" name="直接连接符 26">
              <a:extLst>
                <a:ext uri="{FF2B5EF4-FFF2-40B4-BE49-F238E27FC236}">
                  <a16:creationId xmlns:a16="http://schemas.microsoft.com/office/drawing/2014/main" id="{9E114BB5-FB2E-68D3-85C8-237B3D96B909}"/>
                </a:ext>
              </a:extLst>
            </p:cNvPr>
            <p:cNvCxnSpPr>
              <a:cxnSpLocks/>
            </p:cNvCxnSpPr>
            <p:nvPr/>
          </p:nvCxnSpPr>
          <p:spPr>
            <a:xfrm>
              <a:off x="943207" y="1680689"/>
              <a:ext cx="0" cy="432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6" name="组合 85">
            <a:extLst>
              <a:ext uri="{FF2B5EF4-FFF2-40B4-BE49-F238E27FC236}">
                <a16:creationId xmlns:a16="http://schemas.microsoft.com/office/drawing/2014/main" id="{FB0F1D9E-3AA7-26BE-E462-9B1785E46065}"/>
              </a:ext>
            </a:extLst>
          </p:cNvPr>
          <p:cNvGrpSpPr/>
          <p:nvPr/>
        </p:nvGrpSpPr>
        <p:grpSpPr>
          <a:xfrm>
            <a:off x="720000" y="4320000"/>
            <a:ext cx="4392000" cy="2340000"/>
            <a:chOff x="720000" y="4176000"/>
            <a:chExt cx="4392000" cy="2340000"/>
          </a:xfrm>
        </p:grpSpPr>
        <p:sp>
          <p:nvSpPr>
            <p:cNvPr id="30" name="椭圆 29">
              <a:extLst>
                <a:ext uri="{FF2B5EF4-FFF2-40B4-BE49-F238E27FC236}">
                  <a16:creationId xmlns:a16="http://schemas.microsoft.com/office/drawing/2014/main" id="{B1F4214E-017E-F565-6979-BA9B356F9F62}"/>
                </a:ext>
              </a:extLst>
            </p:cNvPr>
            <p:cNvSpPr/>
            <p:nvPr/>
          </p:nvSpPr>
          <p:spPr>
            <a:xfrm>
              <a:off x="1044000" y="5220000"/>
              <a:ext cx="432000" cy="432000"/>
            </a:xfrm>
            <a:prstGeom prst="ellipse">
              <a:avLst/>
            </a:prstGeom>
            <a:noFill/>
            <a:ln w="381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31" name="直接连接符 30">
              <a:extLst>
                <a:ext uri="{FF2B5EF4-FFF2-40B4-BE49-F238E27FC236}">
                  <a16:creationId xmlns:a16="http://schemas.microsoft.com/office/drawing/2014/main" id="{34031A8E-5A37-6C0C-0FA4-00BDD49EB5EF}"/>
                </a:ext>
              </a:extLst>
            </p:cNvPr>
            <p:cNvCxnSpPr>
              <a:cxnSpLocks/>
            </p:cNvCxnSpPr>
            <p:nvPr/>
          </p:nvCxnSpPr>
          <p:spPr>
            <a:xfrm flipH="1">
              <a:off x="1260000" y="4608000"/>
              <a:ext cx="180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B68DA7D9-19B6-E1CF-537E-8F9BCF80B491}"/>
                </a:ext>
              </a:extLst>
            </p:cNvPr>
            <p:cNvCxnSpPr>
              <a:cxnSpLocks/>
            </p:cNvCxnSpPr>
            <p:nvPr/>
          </p:nvCxnSpPr>
          <p:spPr>
            <a:xfrm>
              <a:off x="4608000" y="4608000"/>
              <a:ext cx="0" cy="189852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矩形 32">
              <a:extLst>
                <a:ext uri="{FF2B5EF4-FFF2-40B4-BE49-F238E27FC236}">
                  <a16:creationId xmlns:a16="http://schemas.microsoft.com/office/drawing/2014/main" id="{047C8D5A-F199-F11D-FF33-B4C148E55BDC}"/>
                </a:ext>
              </a:extLst>
            </p:cNvPr>
            <p:cNvSpPr/>
            <p:nvPr/>
          </p:nvSpPr>
          <p:spPr>
            <a:xfrm>
              <a:off x="4518000" y="5292000"/>
              <a:ext cx="180000" cy="540000"/>
            </a:xfrm>
            <a:prstGeom prst="rect">
              <a:avLst/>
            </a:prstGeom>
            <a:solidFill>
              <a:schemeClr val="bg1">
                <a:alpha val="99000"/>
              </a:schemeClr>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34" name="直接连接符 33">
              <a:extLst>
                <a:ext uri="{FF2B5EF4-FFF2-40B4-BE49-F238E27FC236}">
                  <a16:creationId xmlns:a16="http://schemas.microsoft.com/office/drawing/2014/main" id="{70EFDD5F-1772-4D0E-07DA-78D797FD8CC4}"/>
                </a:ext>
              </a:extLst>
            </p:cNvPr>
            <p:cNvCxnSpPr>
              <a:cxnSpLocks/>
            </p:cNvCxnSpPr>
            <p:nvPr/>
          </p:nvCxnSpPr>
          <p:spPr>
            <a:xfrm>
              <a:off x="1260000" y="4608000"/>
              <a:ext cx="0" cy="165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4D52D510-DDAB-CCBB-FACA-21C18114278F}"/>
                </a:ext>
              </a:extLst>
            </p:cNvPr>
            <p:cNvCxnSpPr>
              <a:cxnSpLocks/>
            </p:cNvCxnSpPr>
            <p:nvPr/>
          </p:nvCxnSpPr>
          <p:spPr>
            <a:xfrm flipH="1">
              <a:off x="1259999" y="6264000"/>
              <a:ext cx="180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椭圆 35">
              <a:extLst>
                <a:ext uri="{FF2B5EF4-FFF2-40B4-BE49-F238E27FC236}">
                  <a16:creationId xmlns:a16="http://schemas.microsoft.com/office/drawing/2014/main" id="{F31278A7-F12F-711F-54F1-9F99691492D1}"/>
                </a:ext>
              </a:extLst>
            </p:cNvPr>
            <p:cNvSpPr/>
            <p:nvPr/>
          </p:nvSpPr>
          <p:spPr>
            <a:xfrm>
              <a:off x="2988000" y="4536000"/>
              <a:ext cx="144000" cy="144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37" name="Rectangle 8">
                  <a:extLst>
                    <a:ext uri="{FF2B5EF4-FFF2-40B4-BE49-F238E27FC236}">
                      <a16:creationId xmlns:a16="http://schemas.microsoft.com/office/drawing/2014/main" id="{30D062D7-960B-1F04-71E0-CA4D13C31E41}"/>
                    </a:ext>
                  </a:extLst>
                </p:cNvPr>
                <p:cNvSpPr>
                  <a:spLocks noChangeArrowheads="1"/>
                </p:cNvSpPr>
                <p:nvPr/>
              </p:nvSpPr>
              <p:spPr bwMode="auto">
                <a:xfrm>
                  <a:off x="4212000" y="5364000"/>
                  <a:ext cx="360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right"/>
                      </m:oMathParaPr>
                      <m:oMath xmlns:m="http://schemas.openxmlformats.org/officeDocument/2006/math">
                        <m:r>
                          <a:rPr kumimoji="1" lang="en-US" altLang="zh-CN" sz="2000" b="0" i="1" smtClean="0">
                            <a:solidFill>
                              <a:schemeClr val="tx1"/>
                            </a:solidFill>
                            <a:latin typeface="Cambria Math" panose="02040503050406030204" pitchFamily="18" charset="0"/>
                            <a:ea typeface="微软雅黑" panose="020B0503020204020204" pitchFamily="34" charset="-122"/>
                          </a:rPr>
                          <m:t>𝑅</m:t>
                        </m:r>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37" name="Rectangle 8">
                  <a:extLst>
                    <a:ext uri="{FF2B5EF4-FFF2-40B4-BE49-F238E27FC236}">
                      <a16:creationId xmlns:a16="http://schemas.microsoft.com/office/drawing/2014/main" id="{30D062D7-960B-1F04-71E0-CA4D13C31E41}"/>
                    </a:ext>
                  </a:extLst>
                </p:cNvPr>
                <p:cNvSpPr>
                  <a:spLocks noRot="1" noChangeAspect="1" noMove="1" noResize="1" noEditPoints="1" noAdjustHandles="1" noChangeArrowheads="1" noChangeShapeType="1" noTextEdit="1"/>
                </p:cNvSpPr>
                <p:nvPr/>
              </p:nvSpPr>
              <p:spPr bwMode="auto">
                <a:xfrm>
                  <a:off x="4212000" y="5364000"/>
                  <a:ext cx="360000" cy="396000"/>
                </a:xfrm>
                <a:prstGeom prst="rect">
                  <a:avLst/>
                </a:prstGeom>
                <a:blipFill>
                  <a:blip r:embed="rId31"/>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8" name="椭圆 37">
              <a:extLst>
                <a:ext uri="{FF2B5EF4-FFF2-40B4-BE49-F238E27FC236}">
                  <a16:creationId xmlns:a16="http://schemas.microsoft.com/office/drawing/2014/main" id="{8E30D004-175B-76BB-BE8D-E30670EDD32F}"/>
                </a:ext>
              </a:extLst>
            </p:cNvPr>
            <p:cNvSpPr/>
            <p:nvPr/>
          </p:nvSpPr>
          <p:spPr>
            <a:xfrm>
              <a:off x="2160000" y="5364000"/>
              <a:ext cx="144000" cy="144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39" name="Rectangle 8">
                  <a:extLst>
                    <a:ext uri="{FF2B5EF4-FFF2-40B4-BE49-F238E27FC236}">
                      <a16:creationId xmlns:a16="http://schemas.microsoft.com/office/drawing/2014/main" id="{48EB7D6A-A438-B366-B87E-5AF862A4D053}"/>
                    </a:ext>
                  </a:extLst>
                </p:cNvPr>
                <p:cNvSpPr>
                  <a:spLocks noChangeArrowheads="1"/>
                </p:cNvSpPr>
                <p:nvPr/>
              </p:nvSpPr>
              <p:spPr bwMode="auto">
                <a:xfrm>
                  <a:off x="720000" y="4932000"/>
                  <a:ext cx="360000" cy="1044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0"/>
                    </a:spcAft>
                    <a:buNone/>
                  </a:pPr>
                  <a14:m>
                    <m:oMathPara xmlns:m="http://schemas.openxmlformats.org/officeDocument/2006/math">
                      <m:oMathParaPr>
                        <m:jc m:val="centerGroup"/>
                      </m:oMathParaPr>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m:oMathPara>
                  </a14:m>
                  <a:endParaRPr kumimoji="1" lang="en-US" altLang="zh-CN" sz="2000" b="0" i="1" dirty="0">
                    <a:latin typeface="Cambria Math" panose="02040503050406030204" pitchFamily="18" charset="0"/>
                    <a:ea typeface="微软雅黑" panose="020B0503020204020204" pitchFamily="34" charset="-122"/>
                  </a:endParaRPr>
                </a:p>
                <a:p>
                  <a:pPr algn="ctr">
                    <a:spcAft>
                      <a:spcPts val="0"/>
                    </a:spcAft>
                    <a:buNone/>
                  </a:pPr>
                  <a14:m>
                    <m:oMathPara xmlns:m="http://schemas.openxmlformats.org/officeDocument/2006/math">
                      <m:oMathParaPr>
                        <m:jc m:val="centerGroup"/>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𝑣</m:t>
                            </m:r>
                          </m:e>
                          <m:sub>
                            <m:r>
                              <m:rPr>
                                <m:sty m:val="p"/>
                              </m:rPr>
                              <a:rPr kumimoji="1" lang="en-US" altLang="zh-CN" sz="2000" b="0" i="0" smtClean="0">
                                <a:latin typeface="Cambria Math" panose="02040503050406030204" pitchFamily="18" charset="0"/>
                                <a:ea typeface="微软雅黑" panose="020B0503020204020204" pitchFamily="34" charset="-122"/>
                              </a:rPr>
                              <m:t>s</m:t>
                            </m:r>
                          </m:sub>
                        </m:sSub>
                      </m:oMath>
                    </m:oMathPara>
                  </a14:m>
                  <a:endParaRPr kumimoji="1" lang="en-US" altLang="zh-CN" sz="2000" b="0" dirty="0">
                    <a:latin typeface="微软雅黑" panose="020B0503020204020204" pitchFamily="34" charset="-122"/>
                    <a:ea typeface="微软雅黑" panose="020B0503020204020204" pitchFamily="34" charset="-122"/>
                  </a:endParaRPr>
                </a:p>
                <a:p>
                  <a:pPr algn="ctr">
                    <a:spcAft>
                      <a:spcPts val="0"/>
                    </a:spcAft>
                    <a:buNone/>
                  </a:pPr>
                  <a14:m>
                    <m:oMathPara xmlns:m="http://schemas.openxmlformats.org/officeDocument/2006/math">
                      <m:oMathParaPr>
                        <m:jc m:val="centerGroup"/>
                      </m:oMathParaPr>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m:oMathPara>
                  </a14:m>
                  <a:endParaRPr kumimoji="1" lang="zh-CN" altLang="en-US" sz="2000" b="0" dirty="0">
                    <a:latin typeface="微软雅黑" panose="020B0503020204020204" pitchFamily="34" charset="-122"/>
                    <a:ea typeface="微软雅黑" panose="020B0503020204020204" pitchFamily="34" charset="-122"/>
                  </a:endParaRPr>
                </a:p>
              </p:txBody>
            </p:sp>
          </mc:Choice>
          <mc:Fallback xmlns="">
            <p:sp>
              <p:nvSpPr>
                <p:cNvPr id="39" name="Rectangle 8">
                  <a:extLst>
                    <a:ext uri="{FF2B5EF4-FFF2-40B4-BE49-F238E27FC236}">
                      <a16:creationId xmlns:a16="http://schemas.microsoft.com/office/drawing/2014/main" id="{48EB7D6A-A438-B366-B87E-5AF862A4D053}"/>
                    </a:ext>
                  </a:extLst>
                </p:cNvPr>
                <p:cNvSpPr>
                  <a:spLocks noRot="1" noChangeAspect="1" noMove="1" noResize="1" noEditPoints="1" noAdjustHandles="1" noChangeArrowheads="1" noChangeShapeType="1" noTextEdit="1"/>
                </p:cNvSpPr>
                <p:nvPr/>
              </p:nvSpPr>
              <p:spPr bwMode="auto">
                <a:xfrm>
                  <a:off x="720000" y="4932000"/>
                  <a:ext cx="360000" cy="1044000"/>
                </a:xfrm>
                <a:prstGeom prst="rect">
                  <a:avLst/>
                </a:prstGeom>
                <a:blipFill>
                  <a:blip r:embed="rId32"/>
                  <a:stretch>
                    <a:fillRect l="-15254"/>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Rectangle 8">
                  <a:extLst>
                    <a:ext uri="{FF2B5EF4-FFF2-40B4-BE49-F238E27FC236}">
                      <a16:creationId xmlns:a16="http://schemas.microsoft.com/office/drawing/2014/main" id="{4159D438-E658-17D4-160D-1D6C30A6E45A}"/>
                    </a:ext>
                  </a:extLst>
                </p:cNvPr>
                <p:cNvSpPr>
                  <a:spLocks noChangeArrowheads="1"/>
                </p:cNvSpPr>
                <p:nvPr/>
              </p:nvSpPr>
              <p:spPr bwMode="auto">
                <a:xfrm>
                  <a:off x="4752000" y="5076000"/>
                  <a:ext cx="360000" cy="1044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0"/>
                    </a:spcAft>
                    <a:buNone/>
                  </a:pPr>
                  <a14:m>
                    <m:oMathPara xmlns:m="http://schemas.openxmlformats.org/officeDocument/2006/math">
                      <m:oMathParaPr>
                        <m:jc m:val="centerGroup"/>
                      </m:oMathParaPr>
                      <m:oMath xmlns:m="http://schemas.openxmlformats.org/officeDocument/2006/math">
                        <m:r>
                          <a:rPr kumimoji="1" lang="pt-BR" altLang="zh-CN" sz="2000" b="0" i="1" smtClean="0">
                            <a:latin typeface="Cambria Math" panose="02040503050406030204" pitchFamily="18" charset="0"/>
                            <a:ea typeface="微软雅黑" panose="020B0503020204020204" pitchFamily="34" charset="-122"/>
                          </a:rPr>
                          <m:t>+</m:t>
                        </m:r>
                      </m:oMath>
                    </m:oMathPara>
                  </a14:m>
                  <a:endParaRPr kumimoji="1" lang="en-US" altLang="zh-CN" sz="2000" b="0" dirty="0">
                    <a:latin typeface="微软雅黑" panose="020B0503020204020204" pitchFamily="34" charset="-122"/>
                    <a:ea typeface="微软雅黑" panose="020B0503020204020204" pitchFamily="34" charset="-122"/>
                  </a:endParaRPr>
                </a:p>
                <a:p>
                  <a:pPr algn="ctr">
                    <a:spcAft>
                      <a:spcPts val="0"/>
                    </a:spcAft>
                    <a:buNone/>
                  </a:pPr>
                  <a14:m>
                    <m:oMathPara xmlns:m="http://schemas.openxmlformats.org/officeDocument/2006/math">
                      <m:oMathParaPr>
                        <m:jc m:val="centerGroup"/>
                      </m:oMathParaPr>
                      <m:oMath xmlns:m="http://schemas.openxmlformats.org/officeDocument/2006/math">
                        <m:sSub>
                          <m:sSubPr>
                            <m:ctrlPr>
                              <a:rPr kumimoji="1" lang="en-US" altLang="zh-CN" sz="2000" b="0" i="1">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𝑣</m:t>
                            </m:r>
                          </m:e>
                          <m:sub>
                            <m:r>
                              <m:rPr>
                                <m:sty m:val="p"/>
                              </m:rPr>
                              <a:rPr kumimoji="1" lang="en-US" altLang="zh-CN" sz="2000" b="0" i="0" smtClean="0">
                                <a:latin typeface="Cambria Math" panose="02040503050406030204" pitchFamily="18" charset="0"/>
                                <a:ea typeface="微软雅黑" panose="020B0503020204020204" pitchFamily="34" charset="-122"/>
                              </a:rPr>
                              <m:t>o</m:t>
                            </m:r>
                          </m:sub>
                        </m:sSub>
                      </m:oMath>
                    </m:oMathPara>
                  </a14:m>
                  <a:endParaRPr kumimoji="1" lang="en-US" altLang="zh-CN" sz="2000" b="0" dirty="0">
                    <a:latin typeface="微软雅黑" panose="020B0503020204020204" pitchFamily="34" charset="-122"/>
                    <a:ea typeface="微软雅黑" panose="020B0503020204020204" pitchFamily="34" charset="-122"/>
                  </a:endParaRPr>
                </a:p>
                <a:p>
                  <a:pPr algn="ctr">
                    <a:spcAft>
                      <a:spcPts val="0"/>
                    </a:spcAft>
                    <a:buNone/>
                  </a:pPr>
                  <a14:m>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p>
              </p:txBody>
            </p:sp>
          </mc:Choice>
          <mc:Fallback xmlns="">
            <p:sp>
              <p:nvSpPr>
                <p:cNvPr id="40" name="Rectangle 8">
                  <a:extLst>
                    <a:ext uri="{FF2B5EF4-FFF2-40B4-BE49-F238E27FC236}">
                      <a16:creationId xmlns:a16="http://schemas.microsoft.com/office/drawing/2014/main" id="{4159D438-E658-17D4-160D-1D6C30A6E45A}"/>
                    </a:ext>
                  </a:extLst>
                </p:cNvPr>
                <p:cNvSpPr>
                  <a:spLocks noRot="1" noChangeAspect="1" noMove="1" noResize="1" noEditPoints="1" noAdjustHandles="1" noChangeArrowheads="1" noChangeShapeType="1" noTextEdit="1"/>
                </p:cNvSpPr>
                <p:nvPr/>
              </p:nvSpPr>
              <p:spPr bwMode="auto">
                <a:xfrm>
                  <a:off x="4752000" y="5076000"/>
                  <a:ext cx="360000" cy="1044000"/>
                </a:xfrm>
                <a:prstGeom prst="rect">
                  <a:avLst/>
                </a:prstGeom>
                <a:blipFill>
                  <a:blip r:embed="rId33"/>
                  <a:stretch>
                    <a:fillRect r="-508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41" name="直接连接符 40">
              <a:extLst>
                <a:ext uri="{FF2B5EF4-FFF2-40B4-BE49-F238E27FC236}">
                  <a16:creationId xmlns:a16="http://schemas.microsoft.com/office/drawing/2014/main" id="{46CACAEE-11BB-5076-020A-0EE0BB0FFA9F}"/>
                </a:ext>
              </a:extLst>
            </p:cNvPr>
            <p:cNvCxnSpPr>
              <a:cxnSpLocks/>
            </p:cNvCxnSpPr>
            <p:nvPr/>
          </p:nvCxnSpPr>
          <p:spPr>
            <a:xfrm>
              <a:off x="3060000" y="4608000"/>
              <a:ext cx="828000" cy="82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313D7BBC-5E1C-378C-0AD6-82B139B8CBA5}"/>
                </a:ext>
              </a:extLst>
            </p:cNvPr>
            <p:cNvCxnSpPr>
              <a:cxnSpLocks/>
            </p:cNvCxnSpPr>
            <p:nvPr/>
          </p:nvCxnSpPr>
          <p:spPr>
            <a:xfrm flipV="1">
              <a:off x="2232000" y="4608000"/>
              <a:ext cx="828000" cy="82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3" name="椭圆 42">
              <a:extLst>
                <a:ext uri="{FF2B5EF4-FFF2-40B4-BE49-F238E27FC236}">
                  <a16:creationId xmlns:a16="http://schemas.microsoft.com/office/drawing/2014/main" id="{2AE40008-38E8-D44A-C110-EF4E227AD355}"/>
                </a:ext>
              </a:extLst>
            </p:cNvPr>
            <p:cNvSpPr/>
            <p:nvPr/>
          </p:nvSpPr>
          <p:spPr>
            <a:xfrm>
              <a:off x="2988000" y="6192000"/>
              <a:ext cx="144000" cy="144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44" name="椭圆 43">
              <a:extLst>
                <a:ext uri="{FF2B5EF4-FFF2-40B4-BE49-F238E27FC236}">
                  <a16:creationId xmlns:a16="http://schemas.microsoft.com/office/drawing/2014/main" id="{F8B91A5D-4A1D-412B-9D58-F82C8988AD9F}"/>
                </a:ext>
              </a:extLst>
            </p:cNvPr>
            <p:cNvSpPr/>
            <p:nvPr/>
          </p:nvSpPr>
          <p:spPr>
            <a:xfrm>
              <a:off x="3816000" y="5364000"/>
              <a:ext cx="144000" cy="144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45" name="直接连接符 44">
              <a:extLst>
                <a:ext uri="{FF2B5EF4-FFF2-40B4-BE49-F238E27FC236}">
                  <a16:creationId xmlns:a16="http://schemas.microsoft.com/office/drawing/2014/main" id="{B943E8A2-8B34-733B-92BD-567C7EDB8182}"/>
                </a:ext>
              </a:extLst>
            </p:cNvPr>
            <p:cNvCxnSpPr>
              <a:cxnSpLocks/>
            </p:cNvCxnSpPr>
            <p:nvPr/>
          </p:nvCxnSpPr>
          <p:spPr>
            <a:xfrm>
              <a:off x="3888000" y="4610666"/>
              <a:ext cx="0" cy="818464"/>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EC8316C5-CBB2-568C-49DB-5DE922BCF801}"/>
                </a:ext>
              </a:extLst>
            </p:cNvPr>
            <p:cNvCxnSpPr>
              <a:cxnSpLocks/>
            </p:cNvCxnSpPr>
            <p:nvPr/>
          </p:nvCxnSpPr>
          <p:spPr>
            <a:xfrm flipH="1">
              <a:off x="3888000" y="4608000"/>
              <a:ext cx="72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65E0B1DC-FE96-4148-8EB4-8A54A843B86B}"/>
                </a:ext>
              </a:extLst>
            </p:cNvPr>
            <p:cNvCxnSpPr>
              <a:cxnSpLocks/>
            </p:cNvCxnSpPr>
            <p:nvPr/>
          </p:nvCxnSpPr>
          <p:spPr>
            <a:xfrm>
              <a:off x="2232000" y="5436000"/>
              <a:ext cx="0" cy="10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CFE7AD8E-8C4D-6ECB-E39E-A11563365C9E}"/>
                </a:ext>
              </a:extLst>
            </p:cNvPr>
            <p:cNvCxnSpPr>
              <a:cxnSpLocks/>
            </p:cNvCxnSpPr>
            <p:nvPr/>
          </p:nvCxnSpPr>
          <p:spPr>
            <a:xfrm flipH="1">
              <a:off x="2232000" y="6516000"/>
              <a:ext cx="2376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7" name="组合 66">
              <a:extLst>
                <a:ext uri="{FF2B5EF4-FFF2-40B4-BE49-F238E27FC236}">
                  <a16:creationId xmlns:a16="http://schemas.microsoft.com/office/drawing/2014/main" id="{8784C85D-0565-117B-6D38-A8A2BF7F46BB}"/>
                </a:ext>
              </a:extLst>
            </p:cNvPr>
            <p:cNvGrpSpPr/>
            <p:nvPr/>
          </p:nvGrpSpPr>
          <p:grpSpPr>
            <a:xfrm>
              <a:off x="2916000" y="5220000"/>
              <a:ext cx="288000" cy="432000"/>
              <a:chOff x="655207" y="1680689"/>
              <a:chExt cx="288000" cy="432000"/>
            </a:xfrm>
          </p:grpSpPr>
          <p:sp>
            <p:nvSpPr>
              <p:cNvPr id="68" name="等腰三角形 67">
                <a:extLst>
                  <a:ext uri="{FF2B5EF4-FFF2-40B4-BE49-F238E27FC236}">
                    <a16:creationId xmlns:a16="http://schemas.microsoft.com/office/drawing/2014/main" id="{74DE0CB0-B8A9-528A-FFF5-2A57C3DBB43D}"/>
                  </a:ext>
                </a:extLst>
              </p:cNvPr>
              <p:cNvSpPr/>
              <p:nvPr/>
            </p:nvSpPr>
            <p:spPr>
              <a:xfrm rot="5400000">
                <a:off x="601207" y="1752690"/>
                <a:ext cx="396000" cy="288000"/>
              </a:xfrm>
              <a:prstGeom prst="triangl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cxnSp>
            <p:nvCxnSpPr>
              <p:cNvPr id="69" name="直接连接符 68">
                <a:extLst>
                  <a:ext uri="{FF2B5EF4-FFF2-40B4-BE49-F238E27FC236}">
                    <a16:creationId xmlns:a16="http://schemas.microsoft.com/office/drawing/2014/main" id="{4405FC86-5FB0-4015-A2C0-4DD122604D29}"/>
                  </a:ext>
                </a:extLst>
              </p:cNvPr>
              <p:cNvCxnSpPr>
                <a:cxnSpLocks/>
              </p:cNvCxnSpPr>
              <p:nvPr/>
            </p:nvCxnSpPr>
            <p:spPr>
              <a:xfrm>
                <a:off x="943207" y="1680689"/>
                <a:ext cx="0" cy="432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73" name="直接连接符 72">
              <a:extLst>
                <a:ext uri="{FF2B5EF4-FFF2-40B4-BE49-F238E27FC236}">
                  <a16:creationId xmlns:a16="http://schemas.microsoft.com/office/drawing/2014/main" id="{3DBD7CCF-6EA0-2CBF-B1EA-E3B8696E07BE}"/>
                </a:ext>
              </a:extLst>
            </p:cNvPr>
            <p:cNvCxnSpPr>
              <a:cxnSpLocks/>
            </p:cNvCxnSpPr>
            <p:nvPr/>
          </p:nvCxnSpPr>
          <p:spPr>
            <a:xfrm>
              <a:off x="2232000" y="5436000"/>
              <a:ext cx="828000" cy="82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A72350D3-A1A6-A63B-2529-8B800BBF2561}"/>
                </a:ext>
              </a:extLst>
            </p:cNvPr>
            <p:cNvCxnSpPr>
              <a:cxnSpLocks/>
            </p:cNvCxnSpPr>
            <p:nvPr/>
          </p:nvCxnSpPr>
          <p:spPr>
            <a:xfrm flipV="1">
              <a:off x="3060000" y="5436000"/>
              <a:ext cx="828000" cy="82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2867DADA-CCED-4F93-9FDC-6E83614D2756}"/>
                </a:ext>
              </a:extLst>
            </p:cNvPr>
            <p:cNvCxnSpPr>
              <a:cxnSpLocks/>
            </p:cNvCxnSpPr>
            <p:nvPr/>
          </p:nvCxnSpPr>
          <p:spPr>
            <a:xfrm flipH="1">
              <a:off x="2700000" y="5436000"/>
              <a:ext cx="72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5" name="Rectangle 8">
                  <a:extLst>
                    <a:ext uri="{FF2B5EF4-FFF2-40B4-BE49-F238E27FC236}">
                      <a16:creationId xmlns:a16="http://schemas.microsoft.com/office/drawing/2014/main" id="{0E9D138C-3F59-4549-29B0-279922A52956}"/>
                    </a:ext>
                  </a:extLst>
                </p:cNvPr>
                <p:cNvSpPr>
                  <a:spLocks noChangeArrowheads="1"/>
                </p:cNvSpPr>
                <p:nvPr/>
              </p:nvSpPr>
              <p:spPr bwMode="auto">
                <a:xfrm>
                  <a:off x="2556000" y="4176000"/>
                  <a:ext cx="1116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𝐷</m:t>
                            </m:r>
                          </m:e>
                          <m:sub>
                            <m: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t>1</m:t>
                            </m:r>
                          </m:sub>
                        </m:sSub>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 ~ </m:t>
                        </m:r>
                        <m:sSub>
                          <m:sSubPr>
                            <m:ctrlP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t>𝐷</m:t>
                            </m:r>
                          </m:e>
                          <m:sub>
                            <m:r>
                              <a:rPr kumimoji="1" lang="en-US" altLang="zh-CN" sz="2000" b="0" i="1">
                                <a:solidFill>
                                  <a:schemeClr val="accent5">
                                    <a:lumMod val="75000"/>
                                  </a:schemeClr>
                                </a:solidFill>
                                <a:latin typeface="Cambria Math" panose="02040503050406030204" pitchFamily="18" charset="0"/>
                                <a:ea typeface="微软雅黑" panose="020B0503020204020204" pitchFamily="34" charset="-122"/>
                              </a:rPr>
                              <m:t>4</m:t>
                            </m:r>
                          </m:sub>
                        </m:sSub>
                      </m:oMath>
                    </m:oMathPara>
                  </a14:m>
                  <a:endParaRPr kumimoji="1" lang="zh-CN" altLang="en-US" sz="2000" b="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85" name="Rectangle 8">
                  <a:extLst>
                    <a:ext uri="{FF2B5EF4-FFF2-40B4-BE49-F238E27FC236}">
                      <a16:creationId xmlns:a16="http://schemas.microsoft.com/office/drawing/2014/main" id="{0E9D138C-3F59-4549-29B0-279922A52956}"/>
                    </a:ext>
                  </a:extLst>
                </p:cNvPr>
                <p:cNvSpPr>
                  <a:spLocks noRot="1" noChangeAspect="1" noMove="1" noResize="1" noEditPoints="1" noAdjustHandles="1" noChangeArrowheads="1" noChangeShapeType="1" noTextEdit="1"/>
                </p:cNvSpPr>
                <p:nvPr/>
              </p:nvSpPr>
              <p:spPr bwMode="auto">
                <a:xfrm>
                  <a:off x="2556000" y="4176000"/>
                  <a:ext cx="1116000" cy="432000"/>
                </a:xfrm>
                <a:prstGeom prst="rect">
                  <a:avLst/>
                </a:prstGeom>
                <a:blipFill>
                  <a:blip r:embed="rId34"/>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grpSp>
        <p:nvGrpSpPr>
          <p:cNvPr id="87" name="组合 86">
            <a:extLst>
              <a:ext uri="{FF2B5EF4-FFF2-40B4-BE49-F238E27FC236}">
                <a16:creationId xmlns:a16="http://schemas.microsoft.com/office/drawing/2014/main" id="{86EEC1BD-5154-F1D2-FB11-C4B8B40B6CFA}"/>
              </a:ext>
            </a:extLst>
          </p:cNvPr>
          <p:cNvGrpSpPr/>
          <p:nvPr/>
        </p:nvGrpSpPr>
        <p:grpSpPr>
          <a:xfrm>
            <a:off x="5976000" y="1548000"/>
            <a:ext cx="5434850" cy="1980000"/>
            <a:chOff x="5531020" y="2778037"/>
            <a:chExt cx="5434850" cy="1980000"/>
          </a:xfrm>
        </p:grpSpPr>
        <p:cxnSp>
          <p:nvCxnSpPr>
            <p:cNvPr id="88" name="直接连接符 87">
              <a:extLst>
                <a:ext uri="{FF2B5EF4-FFF2-40B4-BE49-F238E27FC236}">
                  <a16:creationId xmlns:a16="http://schemas.microsoft.com/office/drawing/2014/main" id="{29C57EC2-AFFC-2414-EDB5-73C596D44DCA}"/>
                </a:ext>
              </a:extLst>
            </p:cNvPr>
            <p:cNvCxnSpPr>
              <a:cxnSpLocks/>
            </p:cNvCxnSpPr>
            <p:nvPr/>
          </p:nvCxnSpPr>
          <p:spPr>
            <a:xfrm>
              <a:off x="5531020" y="3966037"/>
              <a:ext cx="4877737" cy="0"/>
            </a:xfrm>
            <a:prstGeom prst="line">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0E0E8050-2B1E-4529-5AFB-42682E775537}"/>
                </a:ext>
              </a:extLst>
            </p:cNvPr>
            <p:cNvCxnSpPr>
              <a:cxnSpLocks/>
            </p:cNvCxnSpPr>
            <p:nvPr/>
          </p:nvCxnSpPr>
          <p:spPr>
            <a:xfrm flipV="1">
              <a:off x="5927020" y="2958037"/>
              <a:ext cx="0" cy="1800000"/>
            </a:xfrm>
            <a:prstGeom prst="line">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0" name="Text Box 8">
                  <a:extLst>
                    <a:ext uri="{FF2B5EF4-FFF2-40B4-BE49-F238E27FC236}">
                      <a16:creationId xmlns:a16="http://schemas.microsoft.com/office/drawing/2014/main" id="{6784142F-454C-4BB6-B88C-9A0CE27ECC51}"/>
                    </a:ext>
                  </a:extLst>
                </p:cNvPr>
                <p:cNvSpPr txBox="1">
                  <a:spLocks noChangeArrowheads="1"/>
                </p:cNvSpPr>
                <p:nvPr/>
              </p:nvSpPr>
              <p:spPr bwMode="auto">
                <a:xfrm>
                  <a:off x="5567020" y="2778037"/>
                  <a:ext cx="432000" cy="468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ea typeface="微软雅黑" panose="020B0503020204020204" pitchFamily="34" charset="-122"/>
                              </a:rPr>
                            </m:ctrlPr>
                          </m:sSubPr>
                          <m:e>
                            <m:r>
                              <a:rPr kumimoji="1" lang="en-US" altLang="zh-CN" sz="2400" b="0" i="1" smtClean="0">
                                <a:latin typeface="Cambria Math" panose="02040503050406030204" pitchFamily="18" charset="0"/>
                                <a:ea typeface="微软雅黑" panose="020B0503020204020204" pitchFamily="34" charset="-122"/>
                              </a:rPr>
                              <m:t>𝑣</m:t>
                            </m:r>
                          </m:e>
                          <m:sub>
                            <m:r>
                              <m:rPr>
                                <m:sty m:val="p"/>
                              </m:rPr>
                              <a:rPr kumimoji="1" lang="en-US" altLang="zh-CN" sz="2400" b="0" i="0" smtClean="0">
                                <a:latin typeface="Cambria Math" panose="02040503050406030204" pitchFamily="18" charset="0"/>
                                <a:ea typeface="微软雅黑" panose="020B0503020204020204" pitchFamily="34" charset="-122"/>
                              </a:rPr>
                              <m:t>s</m:t>
                            </m:r>
                          </m:sub>
                        </m:sSub>
                      </m:oMath>
                    </m:oMathPara>
                  </a14:m>
                  <a:endParaRPr kumimoji="1" lang="en-US" altLang="zh-CN" sz="2400" i="1" dirty="0">
                    <a:ea typeface="楷体_GB2312" pitchFamily="49" charset="-122"/>
                  </a:endParaRPr>
                </a:p>
              </p:txBody>
            </p:sp>
          </mc:Choice>
          <mc:Fallback xmlns="">
            <p:sp>
              <p:nvSpPr>
                <p:cNvPr id="90" name="Text Box 8">
                  <a:extLst>
                    <a:ext uri="{FF2B5EF4-FFF2-40B4-BE49-F238E27FC236}">
                      <a16:creationId xmlns:a16="http://schemas.microsoft.com/office/drawing/2014/main" id="{6784142F-454C-4BB6-B88C-9A0CE27ECC51}"/>
                    </a:ext>
                  </a:extLst>
                </p:cNvPr>
                <p:cNvSpPr txBox="1">
                  <a:spLocks noRot="1" noChangeAspect="1" noMove="1" noResize="1" noEditPoints="1" noAdjustHandles="1" noChangeArrowheads="1" noChangeShapeType="1" noTextEdit="1"/>
                </p:cNvSpPr>
                <p:nvPr/>
              </p:nvSpPr>
              <p:spPr bwMode="auto">
                <a:xfrm>
                  <a:off x="5567020" y="2778037"/>
                  <a:ext cx="432000" cy="468000"/>
                </a:xfrm>
                <a:prstGeom prst="rect">
                  <a:avLst/>
                </a:prstGeom>
                <a:blipFill>
                  <a:blip r:embed="rId35"/>
                  <a:stretch>
                    <a:fillRect l="-8451"/>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1" name="Text Box 8">
                  <a:extLst>
                    <a:ext uri="{FF2B5EF4-FFF2-40B4-BE49-F238E27FC236}">
                      <a16:creationId xmlns:a16="http://schemas.microsoft.com/office/drawing/2014/main" id="{729C5623-ADCB-674E-BD92-A15FBF69B203}"/>
                    </a:ext>
                  </a:extLst>
                </p:cNvPr>
                <p:cNvSpPr txBox="1">
                  <a:spLocks noChangeArrowheads="1"/>
                </p:cNvSpPr>
                <p:nvPr/>
              </p:nvSpPr>
              <p:spPr bwMode="auto">
                <a:xfrm>
                  <a:off x="10355020" y="3677885"/>
                  <a:ext cx="610850" cy="468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r>
                          <a:rPr kumimoji="1" lang="zh-CN" altLang="en-US" sz="2400" b="0" i="1" smtClean="0">
                            <a:latin typeface="Cambria Math" panose="02040503050406030204" pitchFamily="18" charset="0"/>
                            <a:ea typeface="微软雅黑" panose="020B0503020204020204" pitchFamily="34" charset="-122"/>
                          </a:rPr>
                          <m:t>𝜔</m:t>
                        </m:r>
                        <m:r>
                          <a:rPr kumimoji="1" lang="en-US" altLang="zh-CN" sz="2400" b="0" i="1" smtClean="0">
                            <a:latin typeface="Cambria Math" panose="02040503050406030204" pitchFamily="18" charset="0"/>
                            <a:ea typeface="微软雅黑" panose="020B0503020204020204" pitchFamily="34" charset="-122"/>
                          </a:rPr>
                          <m:t>𝑡</m:t>
                        </m:r>
                      </m:oMath>
                    </m:oMathPara>
                  </a14:m>
                  <a:endParaRPr kumimoji="1" lang="en-US" altLang="zh-CN" sz="2400" i="1" dirty="0">
                    <a:ea typeface="楷体_GB2312" pitchFamily="49" charset="-122"/>
                  </a:endParaRPr>
                </a:p>
              </p:txBody>
            </p:sp>
          </mc:Choice>
          <mc:Fallback xmlns="">
            <p:sp>
              <p:nvSpPr>
                <p:cNvPr id="91" name="Text Box 8">
                  <a:extLst>
                    <a:ext uri="{FF2B5EF4-FFF2-40B4-BE49-F238E27FC236}">
                      <a16:creationId xmlns:a16="http://schemas.microsoft.com/office/drawing/2014/main" id="{729C5623-ADCB-674E-BD92-A15FBF69B203}"/>
                    </a:ext>
                  </a:extLst>
                </p:cNvPr>
                <p:cNvSpPr txBox="1">
                  <a:spLocks noRot="1" noChangeAspect="1" noMove="1" noResize="1" noEditPoints="1" noAdjustHandles="1" noChangeArrowheads="1" noChangeShapeType="1" noTextEdit="1"/>
                </p:cNvSpPr>
                <p:nvPr/>
              </p:nvSpPr>
              <p:spPr bwMode="auto">
                <a:xfrm>
                  <a:off x="10355020" y="3677885"/>
                  <a:ext cx="610850" cy="468000"/>
                </a:xfrm>
                <a:prstGeom prst="rect">
                  <a:avLst/>
                </a:prstGeom>
                <a:blipFill>
                  <a:blip r:embed="rId36"/>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p:sp>
          <p:nvSpPr>
            <p:cNvPr id="92" name="文本框 91">
              <a:extLst>
                <a:ext uri="{FF2B5EF4-FFF2-40B4-BE49-F238E27FC236}">
                  <a16:creationId xmlns:a16="http://schemas.microsoft.com/office/drawing/2014/main" id="{B60D7A35-7816-F948-11BA-D9063C1747BA}"/>
                </a:ext>
              </a:extLst>
            </p:cNvPr>
            <p:cNvSpPr txBox="1"/>
            <p:nvPr/>
          </p:nvSpPr>
          <p:spPr>
            <a:xfrm>
              <a:off x="5603020" y="3930037"/>
              <a:ext cx="396000" cy="504000"/>
            </a:xfrm>
            <a:prstGeom prst="rect">
              <a:avLst/>
            </a:prstGeom>
            <a:noFill/>
          </p:spPr>
          <p:txBody>
            <a:bodyPr wrap="square">
              <a:spAutoFit/>
            </a:bodyPr>
            <a:lstStyle/>
            <a:p>
              <a:pPr algn="ctr"/>
              <a:r>
                <a:rPr kumimoji="1" lang="en-US" altLang="zh-CN" sz="2400" b="0" dirty="0">
                  <a:latin typeface="微软雅黑" panose="020B0503020204020204" pitchFamily="34" charset="-122"/>
                  <a:ea typeface="微软雅黑" panose="020B0503020204020204" pitchFamily="34" charset="-122"/>
                </a:rPr>
                <a:t>0</a:t>
              </a:r>
              <a:endParaRPr lang="zh-CN" altLang="en-US" sz="2400" dirty="0"/>
            </a:p>
          </p:txBody>
        </p:sp>
        <p:grpSp>
          <p:nvGrpSpPr>
            <p:cNvPr id="93" name="组合 92">
              <a:extLst>
                <a:ext uri="{FF2B5EF4-FFF2-40B4-BE49-F238E27FC236}">
                  <a16:creationId xmlns:a16="http://schemas.microsoft.com/office/drawing/2014/main" id="{54A3BBA4-568D-501B-9218-A51A47FAEABB}"/>
                </a:ext>
              </a:extLst>
            </p:cNvPr>
            <p:cNvGrpSpPr/>
            <p:nvPr/>
          </p:nvGrpSpPr>
          <p:grpSpPr>
            <a:xfrm>
              <a:off x="5927020" y="3246037"/>
              <a:ext cx="3744001" cy="1440000"/>
              <a:chOff x="5923177" y="3246037"/>
              <a:chExt cx="4584789" cy="1440000"/>
            </a:xfrm>
          </p:grpSpPr>
          <p:sp>
            <p:nvSpPr>
              <p:cNvPr id="98" name="任意多边形: 形状 97">
                <a:extLst>
                  <a:ext uri="{FF2B5EF4-FFF2-40B4-BE49-F238E27FC236}">
                    <a16:creationId xmlns:a16="http://schemas.microsoft.com/office/drawing/2014/main" id="{678F0449-DAAE-4D1E-A379-51DD04DDAAFC}"/>
                  </a:ext>
                </a:extLst>
              </p:cNvPr>
              <p:cNvSpPr/>
              <p:nvPr/>
            </p:nvSpPr>
            <p:spPr>
              <a:xfrm>
                <a:off x="5923177" y="3246037"/>
                <a:ext cx="1146197" cy="720000"/>
              </a:xfrm>
              <a:custGeom>
                <a:avLst/>
                <a:gdLst>
                  <a:gd name="connsiteX0" fmla="*/ 0 w 2110333"/>
                  <a:gd name="connsiteY0" fmla="*/ 1298309 h 1298309"/>
                  <a:gd name="connsiteX1" fmla="*/ 1056330 w 2110333"/>
                  <a:gd name="connsiteY1" fmla="*/ 0 h 1298309"/>
                  <a:gd name="connsiteX2" fmla="*/ 2110333 w 2110333"/>
                  <a:gd name="connsiteY2" fmla="*/ 1295982 h 1298309"/>
                </a:gdLst>
                <a:ahLst/>
                <a:cxnLst>
                  <a:cxn ang="0">
                    <a:pos x="connsiteX0" y="connsiteY0"/>
                  </a:cxn>
                  <a:cxn ang="0">
                    <a:pos x="connsiteX1" y="connsiteY1"/>
                  </a:cxn>
                  <a:cxn ang="0">
                    <a:pos x="connsiteX2" y="connsiteY2"/>
                  </a:cxn>
                </a:cxnLst>
                <a:rect l="l" t="t" r="r" b="b"/>
                <a:pathLst>
                  <a:path w="2110333" h="1298309">
                    <a:moveTo>
                      <a:pt x="0" y="1298309"/>
                    </a:moveTo>
                    <a:cubicBezTo>
                      <a:pt x="352304" y="649348"/>
                      <a:pt x="704608" y="388"/>
                      <a:pt x="1056330" y="0"/>
                    </a:cubicBezTo>
                    <a:cubicBezTo>
                      <a:pt x="1408052" y="-388"/>
                      <a:pt x="1759192" y="647797"/>
                      <a:pt x="2110333" y="1295982"/>
                    </a:cubicBezTo>
                  </a:path>
                </a:pathLst>
              </a:cu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任意多边形: 形状 98">
                <a:extLst>
                  <a:ext uri="{FF2B5EF4-FFF2-40B4-BE49-F238E27FC236}">
                    <a16:creationId xmlns:a16="http://schemas.microsoft.com/office/drawing/2014/main" id="{8D8C504A-5030-3ACA-F1AA-C91836D2CCA2}"/>
                  </a:ext>
                </a:extLst>
              </p:cNvPr>
              <p:cNvSpPr/>
              <p:nvPr/>
            </p:nvSpPr>
            <p:spPr>
              <a:xfrm flipV="1">
                <a:off x="7069374" y="3966037"/>
                <a:ext cx="1146197" cy="720000"/>
              </a:xfrm>
              <a:custGeom>
                <a:avLst/>
                <a:gdLst>
                  <a:gd name="connsiteX0" fmla="*/ 0 w 2110333"/>
                  <a:gd name="connsiteY0" fmla="*/ 1298309 h 1298309"/>
                  <a:gd name="connsiteX1" fmla="*/ 1056330 w 2110333"/>
                  <a:gd name="connsiteY1" fmla="*/ 0 h 1298309"/>
                  <a:gd name="connsiteX2" fmla="*/ 2110333 w 2110333"/>
                  <a:gd name="connsiteY2" fmla="*/ 1295982 h 1298309"/>
                </a:gdLst>
                <a:ahLst/>
                <a:cxnLst>
                  <a:cxn ang="0">
                    <a:pos x="connsiteX0" y="connsiteY0"/>
                  </a:cxn>
                  <a:cxn ang="0">
                    <a:pos x="connsiteX1" y="connsiteY1"/>
                  </a:cxn>
                  <a:cxn ang="0">
                    <a:pos x="connsiteX2" y="connsiteY2"/>
                  </a:cxn>
                </a:cxnLst>
                <a:rect l="l" t="t" r="r" b="b"/>
                <a:pathLst>
                  <a:path w="2110333" h="1298309">
                    <a:moveTo>
                      <a:pt x="0" y="1298309"/>
                    </a:moveTo>
                    <a:cubicBezTo>
                      <a:pt x="352304" y="649348"/>
                      <a:pt x="704608" y="388"/>
                      <a:pt x="1056330" y="0"/>
                    </a:cubicBezTo>
                    <a:cubicBezTo>
                      <a:pt x="1408052" y="-388"/>
                      <a:pt x="1759192" y="647797"/>
                      <a:pt x="2110333" y="1295982"/>
                    </a:cubicBezTo>
                  </a:path>
                </a:pathLst>
              </a:cu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任意多边形: 形状 99">
                <a:extLst>
                  <a:ext uri="{FF2B5EF4-FFF2-40B4-BE49-F238E27FC236}">
                    <a16:creationId xmlns:a16="http://schemas.microsoft.com/office/drawing/2014/main" id="{6EF9E156-FB4D-4111-A299-FA82BD45A986}"/>
                  </a:ext>
                </a:extLst>
              </p:cNvPr>
              <p:cNvSpPr/>
              <p:nvPr/>
            </p:nvSpPr>
            <p:spPr>
              <a:xfrm>
                <a:off x="8215571" y="3246037"/>
                <a:ext cx="1146197" cy="720000"/>
              </a:xfrm>
              <a:custGeom>
                <a:avLst/>
                <a:gdLst>
                  <a:gd name="connsiteX0" fmla="*/ 0 w 2110333"/>
                  <a:gd name="connsiteY0" fmla="*/ 1298309 h 1298309"/>
                  <a:gd name="connsiteX1" fmla="*/ 1056330 w 2110333"/>
                  <a:gd name="connsiteY1" fmla="*/ 0 h 1298309"/>
                  <a:gd name="connsiteX2" fmla="*/ 2110333 w 2110333"/>
                  <a:gd name="connsiteY2" fmla="*/ 1295982 h 1298309"/>
                </a:gdLst>
                <a:ahLst/>
                <a:cxnLst>
                  <a:cxn ang="0">
                    <a:pos x="connsiteX0" y="connsiteY0"/>
                  </a:cxn>
                  <a:cxn ang="0">
                    <a:pos x="connsiteX1" y="connsiteY1"/>
                  </a:cxn>
                  <a:cxn ang="0">
                    <a:pos x="connsiteX2" y="connsiteY2"/>
                  </a:cxn>
                </a:cxnLst>
                <a:rect l="l" t="t" r="r" b="b"/>
                <a:pathLst>
                  <a:path w="2110333" h="1298309">
                    <a:moveTo>
                      <a:pt x="0" y="1298309"/>
                    </a:moveTo>
                    <a:cubicBezTo>
                      <a:pt x="352304" y="649348"/>
                      <a:pt x="704608" y="388"/>
                      <a:pt x="1056330" y="0"/>
                    </a:cubicBezTo>
                    <a:cubicBezTo>
                      <a:pt x="1408052" y="-388"/>
                      <a:pt x="1759192" y="647797"/>
                      <a:pt x="2110333" y="1295982"/>
                    </a:cubicBezTo>
                  </a:path>
                </a:pathLst>
              </a:cu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任意多边形: 形状 100">
                <a:extLst>
                  <a:ext uri="{FF2B5EF4-FFF2-40B4-BE49-F238E27FC236}">
                    <a16:creationId xmlns:a16="http://schemas.microsoft.com/office/drawing/2014/main" id="{8D0E136F-AB91-2ED4-72FA-C4532E6F90FA}"/>
                  </a:ext>
                </a:extLst>
              </p:cNvPr>
              <p:cNvSpPr/>
              <p:nvPr/>
            </p:nvSpPr>
            <p:spPr>
              <a:xfrm flipV="1">
                <a:off x="9361769" y="3966037"/>
                <a:ext cx="1146197" cy="720000"/>
              </a:xfrm>
              <a:custGeom>
                <a:avLst/>
                <a:gdLst>
                  <a:gd name="connsiteX0" fmla="*/ 0 w 2110333"/>
                  <a:gd name="connsiteY0" fmla="*/ 1298309 h 1298309"/>
                  <a:gd name="connsiteX1" fmla="*/ 1056330 w 2110333"/>
                  <a:gd name="connsiteY1" fmla="*/ 0 h 1298309"/>
                  <a:gd name="connsiteX2" fmla="*/ 2110333 w 2110333"/>
                  <a:gd name="connsiteY2" fmla="*/ 1295982 h 1298309"/>
                </a:gdLst>
                <a:ahLst/>
                <a:cxnLst>
                  <a:cxn ang="0">
                    <a:pos x="connsiteX0" y="connsiteY0"/>
                  </a:cxn>
                  <a:cxn ang="0">
                    <a:pos x="connsiteX1" y="connsiteY1"/>
                  </a:cxn>
                  <a:cxn ang="0">
                    <a:pos x="connsiteX2" y="connsiteY2"/>
                  </a:cxn>
                </a:cxnLst>
                <a:rect l="l" t="t" r="r" b="b"/>
                <a:pathLst>
                  <a:path w="2110333" h="1298309">
                    <a:moveTo>
                      <a:pt x="0" y="1298309"/>
                    </a:moveTo>
                    <a:cubicBezTo>
                      <a:pt x="352304" y="649348"/>
                      <a:pt x="704608" y="388"/>
                      <a:pt x="1056330" y="0"/>
                    </a:cubicBezTo>
                    <a:cubicBezTo>
                      <a:pt x="1408052" y="-388"/>
                      <a:pt x="1759192" y="647797"/>
                      <a:pt x="2110333" y="1295982"/>
                    </a:cubicBezTo>
                  </a:path>
                </a:pathLst>
              </a:cu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94" name="Text Box 8">
                  <a:extLst>
                    <a:ext uri="{FF2B5EF4-FFF2-40B4-BE49-F238E27FC236}">
                      <a16:creationId xmlns:a16="http://schemas.microsoft.com/office/drawing/2014/main" id="{77BABEA8-F406-11AD-5C47-4BA6353E0071}"/>
                    </a:ext>
                  </a:extLst>
                </p:cNvPr>
                <p:cNvSpPr txBox="1">
                  <a:spLocks noChangeArrowheads="1"/>
                </p:cNvSpPr>
                <p:nvPr/>
              </p:nvSpPr>
              <p:spPr bwMode="auto">
                <a:xfrm>
                  <a:off x="6539020" y="3858037"/>
                  <a:ext cx="540000" cy="504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r>
                          <a:rPr kumimoji="1" lang="zh-CN" altLang="en-US" sz="2400" b="0" i="1" smtClean="0">
                            <a:latin typeface="Cambria Math" panose="02040503050406030204" pitchFamily="18" charset="0"/>
                            <a:ea typeface="微软雅黑" panose="020B0503020204020204" pitchFamily="34" charset="-122"/>
                          </a:rPr>
                          <m:t>𝜋</m:t>
                        </m:r>
                      </m:oMath>
                    </m:oMathPara>
                  </a14:m>
                  <a:endParaRPr kumimoji="1" lang="en-US" altLang="zh-CN" sz="2400" i="1" dirty="0">
                    <a:ea typeface="楷体_GB2312" pitchFamily="49" charset="-122"/>
                  </a:endParaRPr>
                </a:p>
              </p:txBody>
            </p:sp>
          </mc:Choice>
          <mc:Fallback xmlns="">
            <p:sp>
              <p:nvSpPr>
                <p:cNvPr id="94" name="Text Box 8">
                  <a:extLst>
                    <a:ext uri="{FF2B5EF4-FFF2-40B4-BE49-F238E27FC236}">
                      <a16:creationId xmlns:a16="http://schemas.microsoft.com/office/drawing/2014/main" id="{77BABEA8-F406-11AD-5C47-4BA6353E0071}"/>
                    </a:ext>
                  </a:extLst>
                </p:cNvPr>
                <p:cNvSpPr txBox="1">
                  <a:spLocks noRot="1" noChangeAspect="1" noMove="1" noResize="1" noEditPoints="1" noAdjustHandles="1" noChangeArrowheads="1" noChangeShapeType="1" noTextEdit="1"/>
                </p:cNvSpPr>
                <p:nvPr/>
              </p:nvSpPr>
              <p:spPr bwMode="auto">
                <a:xfrm>
                  <a:off x="6539020" y="3858037"/>
                  <a:ext cx="540000" cy="504000"/>
                </a:xfrm>
                <a:prstGeom prst="rect">
                  <a:avLst/>
                </a:prstGeom>
                <a:blipFill>
                  <a:blip r:embed="rId37"/>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5" name="Text Box 8">
                  <a:extLst>
                    <a:ext uri="{FF2B5EF4-FFF2-40B4-BE49-F238E27FC236}">
                      <a16:creationId xmlns:a16="http://schemas.microsoft.com/office/drawing/2014/main" id="{EB5FC60F-B795-FB49-14A6-5CAA11F7B09B}"/>
                    </a:ext>
                  </a:extLst>
                </p:cNvPr>
                <p:cNvSpPr txBox="1">
                  <a:spLocks noChangeArrowheads="1"/>
                </p:cNvSpPr>
                <p:nvPr/>
              </p:nvSpPr>
              <p:spPr bwMode="auto">
                <a:xfrm>
                  <a:off x="7727020" y="3858037"/>
                  <a:ext cx="540000" cy="504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r>
                          <a:rPr kumimoji="1" lang="en-US" altLang="zh-CN" sz="2400" b="0" i="1">
                            <a:latin typeface="Cambria Math" panose="02040503050406030204" pitchFamily="18" charset="0"/>
                            <a:ea typeface="微软雅黑" panose="020B0503020204020204" pitchFamily="34" charset="-122"/>
                          </a:rPr>
                          <m:t>2</m:t>
                        </m:r>
                        <m:r>
                          <a:rPr kumimoji="1" lang="zh-CN" altLang="en-US" sz="2400" b="0" i="1" smtClean="0">
                            <a:latin typeface="Cambria Math" panose="02040503050406030204" pitchFamily="18" charset="0"/>
                            <a:ea typeface="微软雅黑" panose="020B0503020204020204" pitchFamily="34" charset="-122"/>
                          </a:rPr>
                          <m:t>𝜋</m:t>
                        </m:r>
                      </m:oMath>
                    </m:oMathPara>
                  </a14:m>
                  <a:endParaRPr kumimoji="1" lang="en-US" altLang="zh-CN" sz="2400" i="1" dirty="0">
                    <a:ea typeface="楷体_GB2312" pitchFamily="49" charset="-122"/>
                  </a:endParaRPr>
                </a:p>
              </p:txBody>
            </p:sp>
          </mc:Choice>
          <mc:Fallback xmlns="">
            <p:sp>
              <p:nvSpPr>
                <p:cNvPr id="95" name="Text Box 8">
                  <a:extLst>
                    <a:ext uri="{FF2B5EF4-FFF2-40B4-BE49-F238E27FC236}">
                      <a16:creationId xmlns:a16="http://schemas.microsoft.com/office/drawing/2014/main" id="{EB5FC60F-B795-FB49-14A6-5CAA11F7B09B}"/>
                    </a:ext>
                  </a:extLst>
                </p:cNvPr>
                <p:cNvSpPr txBox="1">
                  <a:spLocks noRot="1" noChangeAspect="1" noMove="1" noResize="1" noEditPoints="1" noAdjustHandles="1" noChangeArrowheads="1" noChangeShapeType="1" noTextEdit="1"/>
                </p:cNvSpPr>
                <p:nvPr/>
              </p:nvSpPr>
              <p:spPr bwMode="auto">
                <a:xfrm>
                  <a:off x="7727020" y="3858037"/>
                  <a:ext cx="540000" cy="504000"/>
                </a:xfrm>
                <a:prstGeom prst="rect">
                  <a:avLst/>
                </a:prstGeom>
                <a:blipFill>
                  <a:blip r:embed="rId38"/>
                  <a:stretch>
                    <a:fillRect l="-1022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6" name="Text Box 8">
                  <a:extLst>
                    <a:ext uri="{FF2B5EF4-FFF2-40B4-BE49-F238E27FC236}">
                      <a16:creationId xmlns:a16="http://schemas.microsoft.com/office/drawing/2014/main" id="{63EA8D76-0738-8F66-2BB0-74F4D2841343}"/>
                    </a:ext>
                  </a:extLst>
                </p:cNvPr>
                <p:cNvSpPr txBox="1">
                  <a:spLocks noChangeArrowheads="1"/>
                </p:cNvSpPr>
                <p:nvPr/>
              </p:nvSpPr>
              <p:spPr bwMode="auto">
                <a:xfrm>
                  <a:off x="8339020" y="3858037"/>
                  <a:ext cx="540000" cy="504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r>
                          <a:rPr kumimoji="1" lang="en-US" altLang="zh-CN" sz="2400" b="0" i="1" smtClean="0">
                            <a:latin typeface="Cambria Math" panose="02040503050406030204" pitchFamily="18" charset="0"/>
                            <a:ea typeface="微软雅黑" panose="020B0503020204020204" pitchFamily="34" charset="-122"/>
                          </a:rPr>
                          <m:t>3</m:t>
                        </m:r>
                        <m:r>
                          <a:rPr kumimoji="1" lang="zh-CN" altLang="en-US" sz="2400" b="0" i="1" smtClean="0">
                            <a:latin typeface="Cambria Math" panose="02040503050406030204" pitchFamily="18" charset="0"/>
                            <a:ea typeface="微软雅黑" panose="020B0503020204020204" pitchFamily="34" charset="-122"/>
                          </a:rPr>
                          <m:t>𝜋</m:t>
                        </m:r>
                      </m:oMath>
                    </m:oMathPara>
                  </a14:m>
                  <a:endParaRPr kumimoji="1" lang="en-US" altLang="zh-CN" sz="2400" i="1" dirty="0">
                    <a:ea typeface="楷体_GB2312" pitchFamily="49" charset="-122"/>
                  </a:endParaRPr>
                </a:p>
              </p:txBody>
            </p:sp>
          </mc:Choice>
          <mc:Fallback xmlns="">
            <p:sp>
              <p:nvSpPr>
                <p:cNvPr id="96" name="Text Box 8">
                  <a:extLst>
                    <a:ext uri="{FF2B5EF4-FFF2-40B4-BE49-F238E27FC236}">
                      <a16:creationId xmlns:a16="http://schemas.microsoft.com/office/drawing/2014/main" id="{63EA8D76-0738-8F66-2BB0-74F4D2841343}"/>
                    </a:ext>
                  </a:extLst>
                </p:cNvPr>
                <p:cNvSpPr txBox="1">
                  <a:spLocks noRot="1" noChangeAspect="1" noMove="1" noResize="1" noEditPoints="1" noAdjustHandles="1" noChangeArrowheads="1" noChangeShapeType="1" noTextEdit="1"/>
                </p:cNvSpPr>
                <p:nvPr/>
              </p:nvSpPr>
              <p:spPr bwMode="auto">
                <a:xfrm>
                  <a:off x="8339020" y="3858037"/>
                  <a:ext cx="540000" cy="504000"/>
                </a:xfrm>
                <a:prstGeom prst="rect">
                  <a:avLst/>
                </a:prstGeom>
                <a:blipFill>
                  <a:blip r:embed="rId39"/>
                  <a:stretch>
                    <a:fillRect l="-10112"/>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7" name="Text Box 8">
                  <a:extLst>
                    <a:ext uri="{FF2B5EF4-FFF2-40B4-BE49-F238E27FC236}">
                      <a16:creationId xmlns:a16="http://schemas.microsoft.com/office/drawing/2014/main" id="{83D863D4-E800-3F1B-17E2-50EAE2642483}"/>
                    </a:ext>
                  </a:extLst>
                </p:cNvPr>
                <p:cNvSpPr txBox="1">
                  <a:spLocks noChangeArrowheads="1"/>
                </p:cNvSpPr>
                <p:nvPr/>
              </p:nvSpPr>
              <p:spPr bwMode="auto">
                <a:xfrm>
                  <a:off x="9599020" y="3858037"/>
                  <a:ext cx="540000" cy="504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r>
                          <a:rPr kumimoji="1" lang="en-US" altLang="zh-CN" sz="2400" b="0" i="1">
                            <a:latin typeface="Cambria Math" panose="02040503050406030204" pitchFamily="18" charset="0"/>
                            <a:ea typeface="微软雅黑" panose="020B0503020204020204" pitchFamily="34" charset="-122"/>
                          </a:rPr>
                          <m:t>4</m:t>
                        </m:r>
                        <m:r>
                          <a:rPr kumimoji="1" lang="zh-CN" altLang="en-US" sz="2400" b="0" i="1" smtClean="0">
                            <a:latin typeface="Cambria Math" panose="02040503050406030204" pitchFamily="18" charset="0"/>
                            <a:ea typeface="微软雅黑" panose="020B0503020204020204" pitchFamily="34" charset="-122"/>
                          </a:rPr>
                          <m:t>𝜋</m:t>
                        </m:r>
                      </m:oMath>
                    </m:oMathPara>
                  </a14:m>
                  <a:endParaRPr kumimoji="1" lang="en-US" altLang="zh-CN" sz="2400" i="1" dirty="0">
                    <a:ea typeface="楷体_GB2312" pitchFamily="49" charset="-122"/>
                  </a:endParaRPr>
                </a:p>
              </p:txBody>
            </p:sp>
          </mc:Choice>
          <mc:Fallback xmlns="">
            <p:sp>
              <p:nvSpPr>
                <p:cNvPr id="97" name="Text Box 8">
                  <a:extLst>
                    <a:ext uri="{FF2B5EF4-FFF2-40B4-BE49-F238E27FC236}">
                      <a16:creationId xmlns:a16="http://schemas.microsoft.com/office/drawing/2014/main" id="{83D863D4-E800-3F1B-17E2-50EAE2642483}"/>
                    </a:ext>
                  </a:extLst>
                </p:cNvPr>
                <p:cNvSpPr txBox="1">
                  <a:spLocks noRot="1" noChangeAspect="1" noMove="1" noResize="1" noEditPoints="1" noAdjustHandles="1" noChangeArrowheads="1" noChangeShapeType="1" noTextEdit="1"/>
                </p:cNvSpPr>
                <p:nvPr/>
              </p:nvSpPr>
              <p:spPr bwMode="auto">
                <a:xfrm>
                  <a:off x="9599020" y="3858037"/>
                  <a:ext cx="540000" cy="504000"/>
                </a:xfrm>
                <a:prstGeom prst="rect">
                  <a:avLst/>
                </a:prstGeom>
                <a:blipFill>
                  <a:blip r:embed="rId40"/>
                  <a:stretch>
                    <a:fillRect l="-1022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p:grpSp>
      <p:grpSp>
        <p:nvGrpSpPr>
          <p:cNvPr id="128" name="组合 127">
            <a:extLst>
              <a:ext uri="{FF2B5EF4-FFF2-40B4-BE49-F238E27FC236}">
                <a16:creationId xmlns:a16="http://schemas.microsoft.com/office/drawing/2014/main" id="{75E3CC85-E570-ED2C-6C16-A70A9B78D392}"/>
              </a:ext>
            </a:extLst>
          </p:cNvPr>
          <p:cNvGrpSpPr/>
          <p:nvPr/>
        </p:nvGrpSpPr>
        <p:grpSpPr>
          <a:xfrm>
            <a:off x="5950595" y="4070077"/>
            <a:ext cx="5460255" cy="1977923"/>
            <a:chOff x="5950595" y="4070077"/>
            <a:chExt cx="5460255" cy="1977923"/>
          </a:xfrm>
        </p:grpSpPr>
        <p:cxnSp>
          <p:nvCxnSpPr>
            <p:cNvPr id="103" name="直接连接符 102">
              <a:extLst>
                <a:ext uri="{FF2B5EF4-FFF2-40B4-BE49-F238E27FC236}">
                  <a16:creationId xmlns:a16="http://schemas.microsoft.com/office/drawing/2014/main" id="{B8ABEC58-2E8C-2A3D-1FC4-4AB80CFCAD9F}"/>
                </a:ext>
              </a:extLst>
            </p:cNvPr>
            <p:cNvCxnSpPr>
              <a:cxnSpLocks/>
            </p:cNvCxnSpPr>
            <p:nvPr/>
          </p:nvCxnSpPr>
          <p:spPr>
            <a:xfrm>
              <a:off x="5976000" y="5256000"/>
              <a:ext cx="4877737" cy="0"/>
            </a:xfrm>
            <a:prstGeom prst="line">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6C325B5F-FF66-626C-7BC3-C4A6EA6AB36C}"/>
                </a:ext>
              </a:extLst>
            </p:cNvPr>
            <p:cNvCxnSpPr>
              <a:cxnSpLocks/>
            </p:cNvCxnSpPr>
            <p:nvPr/>
          </p:nvCxnSpPr>
          <p:spPr>
            <a:xfrm flipV="1">
              <a:off x="6372000" y="4248000"/>
              <a:ext cx="0" cy="1800000"/>
            </a:xfrm>
            <a:prstGeom prst="line">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5" name="Text Box 8">
                  <a:extLst>
                    <a:ext uri="{FF2B5EF4-FFF2-40B4-BE49-F238E27FC236}">
                      <a16:creationId xmlns:a16="http://schemas.microsoft.com/office/drawing/2014/main" id="{B6675CB9-B7C5-5BF0-0B08-25CDD23B1D46}"/>
                    </a:ext>
                  </a:extLst>
                </p:cNvPr>
                <p:cNvSpPr txBox="1">
                  <a:spLocks noChangeArrowheads="1"/>
                </p:cNvSpPr>
                <p:nvPr/>
              </p:nvSpPr>
              <p:spPr bwMode="auto">
                <a:xfrm>
                  <a:off x="5950595" y="4070077"/>
                  <a:ext cx="540000" cy="468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ea typeface="微软雅黑" panose="020B0503020204020204" pitchFamily="34" charset="-122"/>
                              </a:rPr>
                            </m:ctrlPr>
                          </m:sSubPr>
                          <m:e>
                            <m:r>
                              <a:rPr kumimoji="1" lang="en-US" altLang="zh-CN" sz="2400" b="0" i="1" smtClean="0">
                                <a:latin typeface="Cambria Math" panose="02040503050406030204" pitchFamily="18" charset="0"/>
                                <a:ea typeface="微软雅黑" panose="020B0503020204020204" pitchFamily="34" charset="-122"/>
                              </a:rPr>
                              <m:t>𝑣</m:t>
                            </m:r>
                          </m:e>
                          <m:sub>
                            <m:r>
                              <m:rPr>
                                <m:sty m:val="p"/>
                              </m:rPr>
                              <a:rPr kumimoji="1" lang="en-US" altLang="zh-CN" sz="2400" b="0" i="1">
                                <a:latin typeface="Cambria Math" panose="02040503050406030204" pitchFamily="18" charset="0"/>
                                <a:ea typeface="微软雅黑" panose="020B0503020204020204" pitchFamily="34" charset="-122"/>
                              </a:rPr>
                              <m:t>o</m:t>
                            </m:r>
                          </m:sub>
                        </m:sSub>
                      </m:oMath>
                    </m:oMathPara>
                  </a14:m>
                  <a:endParaRPr kumimoji="1" lang="en-US" altLang="zh-CN" sz="2400" i="1" dirty="0">
                    <a:ea typeface="楷体_GB2312" pitchFamily="49" charset="-122"/>
                  </a:endParaRPr>
                </a:p>
              </p:txBody>
            </p:sp>
          </mc:Choice>
          <mc:Fallback xmlns="">
            <p:sp>
              <p:nvSpPr>
                <p:cNvPr id="105" name="Text Box 8">
                  <a:extLst>
                    <a:ext uri="{FF2B5EF4-FFF2-40B4-BE49-F238E27FC236}">
                      <a16:creationId xmlns:a16="http://schemas.microsoft.com/office/drawing/2014/main" id="{B6675CB9-B7C5-5BF0-0B08-25CDD23B1D46}"/>
                    </a:ext>
                  </a:extLst>
                </p:cNvPr>
                <p:cNvSpPr txBox="1">
                  <a:spLocks noRot="1" noChangeAspect="1" noMove="1" noResize="1" noEditPoints="1" noAdjustHandles="1" noChangeArrowheads="1" noChangeShapeType="1" noTextEdit="1"/>
                </p:cNvSpPr>
                <p:nvPr/>
              </p:nvSpPr>
              <p:spPr bwMode="auto">
                <a:xfrm>
                  <a:off x="5950595" y="4070077"/>
                  <a:ext cx="540000" cy="468000"/>
                </a:xfrm>
                <a:prstGeom prst="rect">
                  <a:avLst/>
                </a:prstGeom>
                <a:blipFill>
                  <a:blip r:embed="rId41"/>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6" name="Text Box 8">
                  <a:extLst>
                    <a:ext uri="{FF2B5EF4-FFF2-40B4-BE49-F238E27FC236}">
                      <a16:creationId xmlns:a16="http://schemas.microsoft.com/office/drawing/2014/main" id="{56536594-4C0E-2202-03BB-725089838007}"/>
                    </a:ext>
                  </a:extLst>
                </p:cNvPr>
                <p:cNvSpPr txBox="1">
                  <a:spLocks noChangeArrowheads="1"/>
                </p:cNvSpPr>
                <p:nvPr/>
              </p:nvSpPr>
              <p:spPr bwMode="auto">
                <a:xfrm>
                  <a:off x="10800000" y="4967848"/>
                  <a:ext cx="610850" cy="468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r>
                          <a:rPr kumimoji="1" lang="zh-CN" altLang="en-US" sz="2400" b="0" i="1" smtClean="0">
                            <a:latin typeface="Cambria Math" panose="02040503050406030204" pitchFamily="18" charset="0"/>
                            <a:ea typeface="微软雅黑" panose="020B0503020204020204" pitchFamily="34" charset="-122"/>
                          </a:rPr>
                          <m:t>𝜔</m:t>
                        </m:r>
                        <m:r>
                          <a:rPr kumimoji="1" lang="en-US" altLang="zh-CN" sz="2400" b="0" i="1" smtClean="0">
                            <a:latin typeface="Cambria Math" panose="02040503050406030204" pitchFamily="18" charset="0"/>
                            <a:ea typeface="微软雅黑" panose="020B0503020204020204" pitchFamily="34" charset="-122"/>
                          </a:rPr>
                          <m:t>𝑡</m:t>
                        </m:r>
                      </m:oMath>
                    </m:oMathPara>
                  </a14:m>
                  <a:endParaRPr kumimoji="1" lang="en-US" altLang="zh-CN" sz="2400" i="1" dirty="0">
                    <a:ea typeface="楷体_GB2312" pitchFamily="49" charset="-122"/>
                  </a:endParaRPr>
                </a:p>
              </p:txBody>
            </p:sp>
          </mc:Choice>
          <mc:Fallback xmlns="">
            <p:sp>
              <p:nvSpPr>
                <p:cNvPr id="106" name="Text Box 8">
                  <a:extLst>
                    <a:ext uri="{FF2B5EF4-FFF2-40B4-BE49-F238E27FC236}">
                      <a16:creationId xmlns:a16="http://schemas.microsoft.com/office/drawing/2014/main" id="{56536594-4C0E-2202-03BB-725089838007}"/>
                    </a:ext>
                  </a:extLst>
                </p:cNvPr>
                <p:cNvSpPr txBox="1">
                  <a:spLocks noRot="1" noChangeAspect="1" noMove="1" noResize="1" noEditPoints="1" noAdjustHandles="1" noChangeArrowheads="1" noChangeShapeType="1" noTextEdit="1"/>
                </p:cNvSpPr>
                <p:nvPr/>
              </p:nvSpPr>
              <p:spPr bwMode="auto">
                <a:xfrm>
                  <a:off x="10800000" y="4967848"/>
                  <a:ext cx="610850" cy="468000"/>
                </a:xfrm>
                <a:prstGeom prst="rect">
                  <a:avLst/>
                </a:prstGeom>
                <a:blipFill>
                  <a:blip r:embed="rId23"/>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p:sp>
          <p:nvSpPr>
            <p:cNvPr id="107" name="文本框 106">
              <a:extLst>
                <a:ext uri="{FF2B5EF4-FFF2-40B4-BE49-F238E27FC236}">
                  <a16:creationId xmlns:a16="http://schemas.microsoft.com/office/drawing/2014/main" id="{87644C9F-4D70-E124-CDD6-4EEFAA01EBBC}"/>
                </a:ext>
              </a:extLst>
            </p:cNvPr>
            <p:cNvSpPr txBox="1"/>
            <p:nvPr/>
          </p:nvSpPr>
          <p:spPr>
            <a:xfrm>
              <a:off x="6048000" y="5220000"/>
              <a:ext cx="396000" cy="504000"/>
            </a:xfrm>
            <a:prstGeom prst="rect">
              <a:avLst/>
            </a:prstGeom>
            <a:noFill/>
          </p:spPr>
          <p:txBody>
            <a:bodyPr wrap="square">
              <a:spAutoFit/>
            </a:bodyPr>
            <a:lstStyle/>
            <a:p>
              <a:pPr algn="ctr"/>
              <a:r>
                <a:rPr kumimoji="1" lang="en-US" altLang="zh-CN" sz="2400" b="0" dirty="0">
                  <a:latin typeface="微软雅黑" panose="020B0503020204020204" pitchFamily="34" charset="-122"/>
                  <a:ea typeface="微软雅黑" panose="020B0503020204020204" pitchFamily="34" charset="-122"/>
                </a:rPr>
                <a:t>0</a:t>
              </a:r>
              <a:endParaRPr lang="zh-CN" altLang="en-US" sz="2400" dirty="0"/>
            </a:p>
          </p:txBody>
        </p:sp>
        <p:sp>
          <p:nvSpPr>
            <p:cNvPr id="113" name="任意多边形: 形状 112">
              <a:extLst>
                <a:ext uri="{FF2B5EF4-FFF2-40B4-BE49-F238E27FC236}">
                  <a16:creationId xmlns:a16="http://schemas.microsoft.com/office/drawing/2014/main" id="{C149B103-FB9F-1F50-E865-E1CA09B4A81A}"/>
                </a:ext>
              </a:extLst>
            </p:cNvPr>
            <p:cNvSpPr/>
            <p:nvPr/>
          </p:nvSpPr>
          <p:spPr>
            <a:xfrm>
              <a:off x="6372000" y="4536000"/>
              <a:ext cx="936000" cy="720000"/>
            </a:xfrm>
            <a:custGeom>
              <a:avLst/>
              <a:gdLst>
                <a:gd name="connsiteX0" fmla="*/ 0 w 2110333"/>
                <a:gd name="connsiteY0" fmla="*/ 1298309 h 1298309"/>
                <a:gd name="connsiteX1" fmla="*/ 1056330 w 2110333"/>
                <a:gd name="connsiteY1" fmla="*/ 0 h 1298309"/>
                <a:gd name="connsiteX2" fmla="*/ 2110333 w 2110333"/>
                <a:gd name="connsiteY2" fmla="*/ 1295982 h 1298309"/>
              </a:gdLst>
              <a:ahLst/>
              <a:cxnLst>
                <a:cxn ang="0">
                  <a:pos x="connsiteX0" y="connsiteY0"/>
                </a:cxn>
                <a:cxn ang="0">
                  <a:pos x="connsiteX1" y="connsiteY1"/>
                </a:cxn>
                <a:cxn ang="0">
                  <a:pos x="connsiteX2" y="connsiteY2"/>
                </a:cxn>
              </a:cxnLst>
              <a:rect l="l" t="t" r="r" b="b"/>
              <a:pathLst>
                <a:path w="2110333" h="1298309">
                  <a:moveTo>
                    <a:pt x="0" y="1298309"/>
                  </a:moveTo>
                  <a:cubicBezTo>
                    <a:pt x="352304" y="649348"/>
                    <a:pt x="704608" y="388"/>
                    <a:pt x="1056330" y="0"/>
                  </a:cubicBezTo>
                  <a:cubicBezTo>
                    <a:pt x="1408052" y="-388"/>
                    <a:pt x="1759192" y="647797"/>
                    <a:pt x="2110333" y="1295982"/>
                  </a:cubicBezTo>
                </a:path>
              </a:pathLst>
            </a:cu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任意多边形: 形状 113">
              <a:extLst>
                <a:ext uri="{FF2B5EF4-FFF2-40B4-BE49-F238E27FC236}">
                  <a16:creationId xmlns:a16="http://schemas.microsoft.com/office/drawing/2014/main" id="{C9ABA690-B21B-F599-40B2-09190D7FC459}"/>
                </a:ext>
              </a:extLst>
            </p:cNvPr>
            <p:cNvSpPr/>
            <p:nvPr/>
          </p:nvSpPr>
          <p:spPr>
            <a:xfrm>
              <a:off x="8244000" y="4536000"/>
              <a:ext cx="936000" cy="720000"/>
            </a:xfrm>
            <a:custGeom>
              <a:avLst/>
              <a:gdLst>
                <a:gd name="connsiteX0" fmla="*/ 0 w 2110333"/>
                <a:gd name="connsiteY0" fmla="*/ 1298309 h 1298309"/>
                <a:gd name="connsiteX1" fmla="*/ 1056330 w 2110333"/>
                <a:gd name="connsiteY1" fmla="*/ 0 h 1298309"/>
                <a:gd name="connsiteX2" fmla="*/ 2110333 w 2110333"/>
                <a:gd name="connsiteY2" fmla="*/ 1295982 h 1298309"/>
              </a:gdLst>
              <a:ahLst/>
              <a:cxnLst>
                <a:cxn ang="0">
                  <a:pos x="connsiteX0" y="connsiteY0"/>
                </a:cxn>
                <a:cxn ang="0">
                  <a:pos x="connsiteX1" y="connsiteY1"/>
                </a:cxn>
                <a:cxn ang="0">
                  <a:pos x="connsiteX2" y="connsiteY2"/>
                </a:cxn>
              </a:cxnLst>
              <a:rect l="l" t="t" r="r" b="b"/>
              <a:pathLst>
                <a:path w="2110333" h="1298309">
                  <a:moveTo>
                    <a:pt x="0" y="1298309"/>
                  </a:moveTo>
                  <a:cubicBezTo>
                    <a:pt x="352304" y="649348"/>
                    <a:pt x="704608" y="388"/>
                    <a:pt x="1056330" y="0"/>
                  </a:cubicBezTo>
                  <a:cubicBezTo>
                    <a:pt x="1408052" y="-388"/>
                    <a:pt x="1759192" y="647797"/>
                    <a:pt x="2110333" y="1295982"/>
                  </a:cubicBezTo>
                </a:path>
              </a:pathLst>
            </a:cu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09" name="Text Box 8">
                  <a:extLst>
                    <a:ext uri="{FF2B5EF4-FFF2-40B4-BE49-F238E27FC236}">
                      <a16:creationId xmlns:a16="http://schemas.microsoft.com/office/drawing/2014/main" id="{443A8EF9-3E96-2BE9-7291-623623940B75}"/>
                    </a:ext>
                  </a:extLst>
                </p:cNvPr>
                <p:cNvSpPr txBox="1">
                  <a:spLocks noChangeArrowheads="1"/>
                </p:cNvSpPr>
                <p:nvPr/>
              </p:nvSpPr>
              <p:spPr bwMode="auto">
                <a:xfrm>
                  <a:off x="7056000" y="5148000"/>
                  <a:ext cx="540000" cy="504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r>
                          <a:rPr kumimoji="1" lang="zh-CN" altLang="en-US" sz="2400" b="0" i="1" smtClean="0">
                            <a:latin typeface="Cambria Math" panose="02040503050406030204" pitchFamily="18" charset="0"/>
                            <a:ea typeface="微软雅黑" panose="020B0503020204020204" pitchFamily="34" charset="-122"/>
                          </a:rPr>
                          <m:t>𝜋</m:t>
                        </m:r>
                      </m:oMath>
                    </m:oMathPara>
                  </a14:m>
                  <a:endParaRPr kumimoji="1" lang="en-US" altLang="zh-CN" sz="2400" i="1" dirty="0">
                    <a:ea typeface="楷体_GB2312" pitchFamily="49" charset="-122"/>
                  </a:endParaRPr>
                </a:p>
              </p:txBody>
            </p:sp>
          </mc:Choice>
          <mc:Fallback xmlns="">
            <p:sp>
              <p:nvSpPr>
                <p:cNvPr id="109" name="Text Box 8">
                  <a:extLst>
                    <a:ext uri="{FF2B5EF4-FFF2-40B4-BE49-F238E27FC236}">
                      <a16:creationId xmlns:a16="http://schemas.microsoft.com/office/drawing/2014/main" id="{443A8EF9-3E96-2BE9-7291-623623940B75}"/>
                    </a:ext>
                  </a:extLst>
                </p:cNvPr>
                <p:cNvSpPr txBox="1">
                  <a:spLocks noRot="1" noChangeAspect="1" noMove="1" noResize="1" noEditPoints="1" noAdjustHandles="1" noChangeArrowheads="1" noChangeShapeType="1" noTextEdit="1"/>
                </p:cNvSpPr>
                <p:nvPr/>
              </p:nvSpPr>
              <p:spPr bwMode="auto">
                <a:xfrm>
                  <a:off x="7056000" y="5148000"/>
                  <a:ext cx="540000" cy="504000"/>
                </a:xfrm>
                <a:prstGeom prst="rect">
                  <a:avLst/>
                </a:prstGeom>
                <a:blipFill>
                  <a:blip r:embed="rId42"/>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0" name="Text Box 8">
                  <a:extLst>
                    <a:ext uri="{FF2B5EF4-FFF2-40B4-BE49-F238E27FC236}">
                      <a16:creationId xmlns:a16="http://schemas.microsoft.com/office/drawing/2014/main" id="{36C2713C-2176-B990-1EA4-48DC9535A6EB}"/>
                    </a:ext>
                  </a:extLst>
                </p:cNvPr>
                <p:cNvSpPr txBox="1">
                  <a:spLocks noChangeArrowheads="1"/>
                </p:cNvSpPr>
                <p:nvPr/>
              </p:nvSpPr>
              <p:spPr bwMode="auto">
                <a:xfrm>
                  <a:off x="8028000" y="5148000"/>
                  <a:ext cx="540000" cy="504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r>
                          <a:rPr kumimoji="1" lang="en-US" altLang="zh-CN" sz="2400" b="0" i="1">
                            <a:latin typeface="Cambria Math" panose="02040503050406030204" pitchFamily="18" charset="0"/>
                            <a:ea typeface="微软雅黑" panose="020B0503020204020204" pitchFamily="34" charset="-122"/>
                          </a:rPr>
                          <m:t>2</m:t>
                        </m:r>
                        <m:r>
                          <a:rPr kumimoji="1" lang="zh-CN" altLang="en-US" sz="2400" b="0" i="1" smtClean="0">
                            <a:latin typeface="Cambria Math" panose="02040503050406030204" pitchFamily="18" charset="0"/>
                            <a:ea typeface="微软雅黑" panose="020B0503020204020204" pitchFamily="34" charset="-122"/>
                          </a:rPr>
                          <m:t>𝜋</m:t>
                        </m:r>
                      </m:oMath>
                    </m:oMathPara>
                  </a14:m>
                  <a:endParaRPr kumimoji="1" lang="en-US" altLang="zh-CN" sz="2400" i="1" dirty="0">
                    <a:ea typeface="楷体_GB2312" pitchFamily="49" charset="-122"/>
                  </a:endParaRPr>
                </a:p>
              </p:txBody>
            </p:sp>
          </mc:Choice>
          <mc:Fallback xmlns="">
            <p:sp>
              <p:nvSpPr>
                <p:cNvPr id="110" name="Text Box 8">
                  <a:extLst>
                    <a:ext uri="{FF2B5EF4-FFF2-40B4-BE49-F238E27FC236}">
                      <a16:creationId xmlns:a16="http://schemas.microsoft.com/office/drawing/2014/main" id="{36C2713C-2176-B990-1EA4-48DC9535A6EB}"/>
                    </a:ext>
                  </a:extLst>
                </p:cNvPr>
                <p:cNvSpPr txBox="1">
                  <a:spLocks noRot="1" noChangeAspect="1" noMove="1" noResize="1" noEditPoints="1" noAdjustHandles="1" noChangeArrowheads="1" noChangeShapeType="1" noTextEdit="1"/>
                </p:cNvSpPr>
                <p:nvPr/>
              </p:nvSpPr>
              <p:spPr bwMode="auto">
                <a:xfrm>
                  <a:off x="8028000" y="5148000"/>
                  <a:ext cx="540000" cy="504000"/>
                </a:xfrm>
                <a:prstGeom prst="rect">
                  <a:avLst/>
                </a:prstGeom>
                <a:blipFill>
                  <a:blip r:embed="rId43"/>
                  <a:stretch>
                    <a:fillRect l="-10112"/>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1" name="Text Box 8">
                  <a:extLst>
                    <a:ext uri="{FF2B5EF4-FFF2-40B4-BE49-F238E27FC236}">
                      <a16:creationId xmlns:a16="http://schemas.microsoft.com/office/drawing/2014/main" id="{A957A553-6CD4-2244-516D-B59DF4E5CD6C}"/>
                    </a:ext>
                  </a:extLst>
                </p:cNvPr>
                <p:cNvSpPr txBox="1">
                  <a:spLocks noChangeArrowheads="1"/>
                </p:cNvSpPr>
                <p:nvPr/>
              </p:nvSpPr>
              <p:spPr bwMode="auto">
                <a:xfrm>
                  <a:off x="8964000" y="5148000"/>
                  <a:ext cx="540000" cy="504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r>
                          <a:rPr kumimoji="1" lang="en-US" altLang="zh-CN" sz="2400" b="0" i="1" smtClean="0">
                            <a:latin typeface="Cambria Math" panose="02040503050406030204" pitchFamily="18" charset="0"/>
                            <a:ea typeface="微软雅黑" panose="020B0503020204020204" pitchFamily="34" charset="-122"/>
                          </a:rPr>
                          <m:t>3</m:t>
                        </m:r>
                        <m:r>
                          <a:rPr kumimoji="1" lang="zh-CN" altLang="en-US" sz="2400" b="0" i="1" smtClean="0">
                            <a:latin typeface="Cambria Math" panose="02040503050406030204" pitchFamily="18" charset="0"/>
                            <a:ea typeface="微软雅黑" panose="020B0503020204020204" pitchFamily="34" charset="-122"/>
                          </a:rPr>
                          <m:t>𝜋</m:t>
                        </m:r>
                      </m:oMath>
                    </m:oMathPara>
                  </a14:m>
                  <a:endParaRPr kumimoji="1" lang="en-US" altLang="zh-CN" sz="2400" i="1" dirty="0">
                    <a:ea typeface="楷体_GB2312" pitchFamily="49" charset="-122"/>
                  </a:endParaRPr>
                </a:p>
              </p:txBody>
            </p:sp>
          </mc:Choice>
          <mc:Fallback xmlns="">
            <p:sp>
              <p:nvSpPr>
                <p:cNvPr id="111" name="Text Box 8">
                  <a:extLst>
                    <a:ext uri="{FF2B5EF4-FFF2-40B4-BE49-F238E27FC236}">
                      <a16:creationId xmlns:a16="http://schemas.microsoft.com/office/drawing/2014/main" id="{A957A553-6CD4-2244-516D-B59DF4E5CD6C}"/>
                    </a:ext>
                  </a:extLst>
                </p:cNvPr>
                <p:cNvSpPr txBox="1">
                  <a:spLocks noRot="1" noChangeAspect="1" noMove="1" noResize="1" noEditPoints="1" noAdjustHandles="1" noChangeArrowheads="1" noChangeShapeType="1" noTextEdit="1"/>
                </p:cNvSpPr>
                <p:nvPr/>
              </p:nvSpPr>
              <p:spPr bwMode="auto">
                <a:xfrm>
                  <a:off x="8964000" y="5148000"/>
                  <a:ext cx="540000" cy="504000"/>
                </a:xfrm>
                <a:prstGeom prst="rect">
                  <a:avLst/>
                </a:prstGeom>
                <a:blipFill>
                  <a:blip r:embed="rId44"/>
                  <a:stretch>
                    <a:fillRect l="-8989"/>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2" name="Text Box 8">
                  <a:extLst>
                    <a:ext uri="{FF2B5EF4-FFF2-40B4-BE49-F238E27FC236}">
                      <a16:creationId xmlns:a16="http://schemas.microsoft.com/office/drawing/2014/main" id="{A60D0BDA-52A1-4F1C-596E-C14E9E81225D}"/>
                    </a:ext>
                  </a:extLst>
                </p:cNvPr>
                <p:cNvSpPr txBox="1">
                  <a:spLocks noChangeArrowheads="1"/>
                </p:cNvSpPr>
                <p:nvPr/>
              </p:nvSpPr>
              <p:spPr bwMode="auto">
                <a:xfrm>
                  <a:off x="9900000" y="5148000"/>
                  <a:ext cx="540000" cy="504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r>
                          <a:rPr kumimoji="1" lang="en-US" altLang="zh-CN" sz="2400" b="0" i="1">
                            <a:latin typeface="Cambria Math" panose="02040503050406030204" pitchFamily="18" charset="0"/>
                            <a:ea typeface="微软雅黑" panose="020B0503020204020204" pitchFamily="34" charset="-122"/>
                          </a:rPr>
                          <m:t>4</m:t>
                        </m:r>
                        <m:r>
                          <a:rPr kumimoji="1" lang="zh-CN" altLang="en-US" sz="2400" b="0" i="1" smtClean="0">
                            <a:latin typeface="Cambria Math" panose="02040503050406030204" pitchFamily="18" charset="0"/>
                            <a:ea typeface="微软雅黑" panose="020B0503020204020204" pitchFamily="34" charset="-122"/>
                          </a:rPr>
                          <m:t>𝜋</m:t>
                        </m:r>
                      </m:oMath>
                    </m:oMathPara>
                  </a14:m>
                  <a:endParaRPr kumimoji="1" lang="en-US" altLang="zh-CN" sz="2400" i="1" dirty="0">
                    <a:ea typeface="楷体_GB2312" pitchFamily="49" charset="-122"/>
                  </a:endParaRPr>
                </a:p>
              </p:txBody>
            </p:sp>
          </mc:Choice>
          <mc:Fallback xmlns="">
            <p:sp>
              <p:nvSpPr>
                <p:cNvPr id="112" name="Text Box 8">
                  <a:extLst>
                    <a:ext uri="{FF2B5EF4-FFF2-40B4-BE49-F238E27FC236}">
                      <a16:creationId xmlns:a16="http://schemas.microsoft.com/office/drawing/2014/main" id="{A60D0BDA-52A1-4F1C-596E-C14E9E81225D}"/>
                    </a:ext>
                  </a:extLst>
                </p:cNvPr>
                <p:cNvSpPr txBox="1">
                  <a:spLocks noRot="1" noChangeAspect="1" noMove="1" noResize="1" noEditPoints="1" noAdjustHandles="1" noChangeArrowheads="1" noChangeShapeType="1" noTextEdit="1"/>
                </p:cNvSpPr>
                <p:nvPr/>
              </p:nvSpPr>
              <p:spPr bwMode="auto">
                <a:xfrm>
                  <a:off x="9900000" y="5148000"/>
                  <a:ext cx="540000" cy="504000"/>
                </a:xfrm>
                <a:prstGeom prst="rect">
                  <a:avLst/>
                </a:prstGeom>
                <a:blipFill>
                  <a:blip r:embed="rId45"/>
                  <a:stretch>
                    <a:fillRect l="-10112"/>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p:sp>
          <p:nvSpPr>
            <p:cNvPr id="116" name="任意多边形: 形状 115">
              <a:extLst>
                <a:ext uri="{FF2B5EF4-FFF2-40B4-BE49-F238E27FC236}">
                  <a16:creationId xmlns:a16="http://schemas.microsoft.com/office/drawing/2014/main" id="{DA3397EE-2FCE-DFF3-A236-A736FA578657}"/>
                </a:ext>
              </a:extLst>
            </p:cNvPr>
            <p:cNvSpPr/>
            <p:nvPr/>
          </p:nvSpPr>
          <p:spPr>
            <a:xfrm>
              <a:off x="7308000" y="4536000"/>
              <a:ext cx="936000" cy="720000"/>
            </a:xfrm>
            <a:custGeom>
              <a:avLst/>
              <a:gdLst>
                <a:gd name="connsiteX0" fmla="*/ 0 w 2110333"/>
                <a:gd name="connsiteY0" fmla="*/ 1298309 h 1298309"/>
                <a:gd name="connsiteX1" fmla="*/ 1056330 w 2110333"/>
                <a:gd name="connsiteY1" fmla="*/ 0 h 1298309"/>
                <a:gd name="connsiteX2" fmla="*/ 2110333 w 2110333"/>
                <a:gd name="connsiteY2" fmla="*/ 1295982 h 1298309"/>
              </a:gdLst>
              <a:ahLst/>
              <a:cxnLst>
                <a:cxn ang="0">
                  <a:pos x="connsiteX0" y="connsiteY0"/>
                </a:cxn>
                <a:cxn ang="0">
                  <a:pos x="connsiteX1" y="connsiteY1"/>
                </a:cxn>
                <a:cxn ang="0">
                  <a:pos x="connsiteX2" y="connsiteY2"/>
                </a:cxn>
              </a:cxnLst>
              <a:rect l="l" t="t" r="r" b="b"/>
              <a:pathLst>
                <a:path w="2110333" h="1298309">
                  <a:moveTo>
                    <a:pt x="0" y="1298309"/>
                  </a:moveTo>
                  <a:cubicBezTo>
                    <a:pt x="352304" y="649348"/>
                    <a:pt x="704608" y="388"/>
                    <a:pt x="1056330" y="0"/>
                  </a:cubicBezTo>
                  <a:cubicBezTo>
                    <a:pt x="1408052" y="-388"/>
                    <a:pt x="1759192" y="647797"/>
                    <a:pt x="2110333" y="1295982"/>
                  </a:cubicBezTo>
                </a:path>
              </a:pathLst>
            </a:cu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任意多边形: 形状 116">
              <a:extLst>
                <a:ext uri="{FF2B5EF4-FFF2-40B4-BE49-F238E27FC236}">
                  <a16:creationId xmlns:a16="http://schemas.microsoft.com/office/drawing/2014/main" id="{643ED16B-57D3-E860-7D6C-22EF7B762BBB}"/>
                </a:ext>
              </a:extLst>
            </p:cNvPr>
            <p:cNvSpPr/>
            <p:nvPr/>
          </p:nvSpPr>
          <p:spPr>
            <a:xfrm>
              <a:off x="9180000" y="4536000"/>
              <a:ext cx="936000" cy="720000"/>
            </a:xfrm>
            <a:custGeom>
              <a:avLst/>
              <a:gdLst>
                <a:gd name="connsiteX0" fmla="*/ 0 w 2110333"/>
                <a:gd name="connsiteY0" fmla="*/ 1298309 h 1298309"/>
                <a:gd name="connsiteX1" fmla="*/ 1056330 w 2110333"/>
                <a:gd name="connsiteY1" fmla="*/ 0 h 1298309"/>
                <a:gd name="connsiteX2" fmla="*/ 2110333 w 2110333"/>
                <a:gd name="connsiteY2" fmla="*/ 1295982 h 1298309"/>
              </a:gdLst>
              <a:ahLst/>
              <a:cxnLst>
                <a:cxn ang="0">
                  <a:pos x="connsiteX0" y="connsiteY0"/>
                </a:cxn>
                <a:cxn ang="0">
                  <a:pos x="connsiteX1" y="connsiteY1"/>
                </a:cxn>
                <a:cxn ang="0">
                  <a:pos x="connsiteX2" y="connsiteY2"/>
                </a:cxn>
              </a:cxnLst>
              <a:rect l="l" t="t" r="r" b="b"/>
              <a:pathLst>
                <a:path w="2110333" h="1298309">
                  <a:moveTo>
                    <a:pt x="0" y="1298309"/>
                  </a:moveTo>
                  <a:cubicBezTo>
                    <a:pt x="352304" y="649348"/>
                    <a:pt x="704608" y="388"/>
                    <a:pt x="1056330" y="0"/>
                  </a:cubicBezTo>
                  <a:cubicBezTo>
                    <a:pt x="1408052" y="-388"/>
                    <a:pt x="1759192" y="647797"/>
                    <a:pt x="2110333" y="1295982"/>
                  </a:cubicBezTo>
                </a:path>
              </a:pathLst>
            </a:cu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11983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92"/>
                                        </p:tgtEl>
                                        <p:attrNameLst>
                                          <p:attrName>style.visibility</p:attrName>
                                        </p:attrNameLst>
                                      </p:cBhvr>
                                      <p:to>
                                        <p:strVal val="visible"/>
                                      </p:to>
                                    </p:set>
                                    <p:animEffect transition="in" filter="randombar(horizontal)">
                                      <p:cBhvr>
                                        <p:cTn id="7" dur="500"/>
                                        <p:tgtEl>
                                          <p:spTgt spid="192"/>
                                        </p:tgtEl>
                                      </p:cBhvr>
                                    </p:animEffect>
                                  </p:childTnLst>
                                </p:cTn>
                              </p:par>
                              <p:par>
                                <p:cTn id="8" presetID="14" presetClass="entr" presetSubtype="10" fill="hold" nodeType="withEffect">
                                  <p:stCondLst>
                                    <p:cond delay="0"/>
                                  </p:stCondLst>
                                  <p:childTnLst>
                                    <p:set>
                                      <p:cBhvr>
                                        <p:cTn id="9" dur="1" fill="hold">
                                          <p:stCondLst>
                                            <p:cond delay="0"/>
                                          </p:stCondLst>
                                        </p:cTn>
                                        <p:tgtEl>
                                          <p:spTgt spid="193"/>
                                        </p:tgtEl>
                                        <p:attrNameLst>
                                          <p:attrName>style.visibility</p:attrName>
                                        </p:attrNameLst>
                                      </p:cBhvr>
                                      <p:to>
                                        <p:strVal val="visible"/>
                                      </p:to>
                                    </p:set>
                                    <p:animEffect transition="in" filter="randombar(horizontal)">
                                      <p:cBhvr>
                                        <p:cTn id="10" dur="500"/>
                                        <p:tgtEl>
                                          <p:spTgt spid="193"/>
                                        </p:tgtEl>
                                      </p:cBhvr>
                                    </p:animEffect>
                                  </p:childTnLst>
                                </p:cTn>
                              </p:par>
                              <p:par>
                                <p:cTn id="11" presetID="14" presetClass="entr" presetSubtype="10" fill="hold" nodeType="withEffect">
                                  <p:stCondLst>
                                    <p:cond delay="0"/>
                                  </p:stCondLst>
                                  <p:childTnLst>
                                    <p:set>
                                      <p:cBhvr>
                                        <p:cTn id="12" dur="1" fill="hold">
                                          <p:stCondLst>
                                            <p:cond delay="0"/>
                                          </p:stCondLst>
                                        </p:cTn>
                                        <p:tgtEl>
                                          <p:spTgt spid="194"/>
                                        </p:tgtEl>
                                        <p:attrNameLst>
                                          <p:attrName>style.visibility</p:attrName>
                                        </p:attrNameLst>
                                      </p:cBhvr>
                                      <p:to>
                                        <p:strVal val="visible"/>
                                      </p:to>
                                    </p:set>
                                    <p:animEffect transition="in" filter="randombar(horizontal)">
                                      <p:cBhvr>
                                        <p:cTn id="13" dur="500"/>
                                        <p:tgtEl>
                                          <p:spTgt spid="194"/>
                                        </p:tgtEl>
                                      </p:cBhvr>
                                    </p:animEffect>
                                  </p:childTnLst>
                                </p:cTn>
                              </p:par>
                              <p:par>
                                <p:cTn id="14" presetID="14" presetClass="entr" presetSubtype="10" fill="hold" nodeType="withEffect">
                                  <p:stCondLst>
                                    <p:cond delay="0"/>
                                  </p:stCondLst>
                                  <p:childTnLst>
                                    <p:set>
                                      <p:cBhvr>
                                        <p:cTn id="15" dur="1" fill="hold">
                                          <p:stCondLst>
                                            <p:cond delay="0"/>
                                          </p:stCondLst>
                                        </p:cTn>
                                        <p:tgtEl>
                                          <p:spTgt spid="303"/>
                                        </p:tgtEl>
                                        <p:attrNameLst>
                                          <p:attrName>style.visibility</p:attrName>
                                        </p:attrNameLst>
                                      </p:cBhvr>
                                      <p:to>
                                        <p:strVal val="visible"/>
                                      </p:to>
                                    </p:set>
                                    <p:animEffect transition="in" filter="randombar(horizontal)">
                                      <p:cBhvr>
                                        <p:cTn id="16" dur="500"/>
                                        <p:tgtEl>
                                          <p:spTgt spid="303"/>
                                        </p:tgtEl>
                                      </p:cBhvr>
                                    </p:animEffect>
                                  </p:childTnLst>
                                </p:cTn>
                              </p:par>
                              <p:par>
                                <p:cTn id="17" presetID="14" presetClass="entr" presetSubtype="10" fill="hold" nodeType="withEffect">
                                  <p:stCondLst>
                                    <p:cond delay="0"/>
                                  </p:stCondLst>
                                  <p:childTnLst>
                                    <p:set>
                                      <p:cBhvr>
                                        <p:cTn id="18" dur="1" fill="hold">
                                          <p:stCondLst>
                                            <p:cond delay="0"/>
                                          </p:stCondLst>
                                        </p:cTn>
                                        <p:tgtEl>
                                          <p:spTgt spid="195"/>
                                        </p:tgtEl>
                                        <p:attrNameLst>
                                          <p:attrName>style.visibility</p:attrName>
                                        </p:attrNameLst>
                                      </p:cBhvr>
                                      <p:to>
                                        <p:strVal val="visible"/>
                                      </p:to>
                                    </p:set>
                                    <p:animEffect transition="in" filter="randombar(horizontal)">
                                      <p:cBhvr>
                                        <p:cTn id="19" dur="500"/>
                                        <p:tgtEl>
                                          <p:spTgt spid="195"/>
                                        </p:tgtEl>
                                      </p:cBhvr>
                                    </p:animEffect>
                                  </p:childTnLst>
                                </p:cTn>
                              </p:par>
                              <p:par>
                                <p:cTn id="20" presetID="14" presetClass="entr" presetSubtype="10" fill="hold" nodeType="withEffect">
                                  <p:stCondLst>
                                    <p:cond delay="0"/>
                                  </p:stCondLst>
                                  <p:childTnLst>
                                    <p:set>
                                      <p:cBhvr>
                                        <p:cTn id="21" dur="1" fill="hold">
                                          <p:stCondLst>
                                            <p:cond delay="0"/>
                                          </p:stCondLst>
                                        </p:cTn>
                                        <p:tgtEl>
                                          <p:spTgt spid="196"/>
                                        </p:tgtEl>
                                        <p:attrNameLst>
                                          <p:attrName>style.visibility</p:attrName>
                                        </p:attrNameLst>
                                      </p:cBhvr>
                                      <p:to>
                                        <p:strVal val="visible"/>
                                      </p:to>
                                    </p:set>
                                    <p:animEffect transition="in" filter="randombar(horizontal)">
                                      <p:cBhvr>
                                        <p:cTn id="22" dur="500"/>
                                        <p:tgtEl>
                                          <p:spTgt spid="196"/>
                                        </p:tgtEl>
                                      </p:cBhvr>
                                    </p:animEffect>
                                  </p:childTnLst>
                                </p:cTn>
                              </p:par>
                              <p:par>
                                <p:cTn id="23" presetID="14" presetClass="entr" presetSubtype="10" fill="hold" nodeType="withEffect">
                                  <p:stCondLst>
                                    <p:cond delay="0"/>
                                  </p:stCondLst>
                                  <p:childTnLst>
                                    <p:set>
                                      <p:cBhvr>
                                        <p:cTn id="24" dur="1" fill="hold">
                                          <p:stCondLst>
                                            <p:cond delay="0"/>
                                          </p:stCondLst>
                                        </p:cTn>
                                        <p:tgtEl>
                                          <p:spTgt spid="198"/>
                                        </p:tgtEl>
                                        <p:attrNameLst>
                                          <p:attrName>style.visibility</p:attrName>
                                        </p:attrNameLst>
                                      </p:cBhvr>
                                      <p:to>
                                        <p:strVal val="visible"/>
                                      </p:to>
                                    </p:set>
                                    <p:animEffect transition="in" filter="randombar(horizontal)">
                                      <p:cBhvr>
                                        <p:cTn id="25" dur="500"/>
                                        <p:tgtEl>
                                          <p:spTgt spid="198"/>
                                        </p:tgtEl>
                                      </p:cBhvr>
                                    </p:animEffect>
                                  </p:childTnLst>
                                </p:cTn>
                              </p:par>
                            </p:childTnLst>
                          </p:cTn>
                        </p:par>
                      </p:childTnLst>
                    </p:cTn>
                  </p:par>
                  <p:par>
                    <p:cTn id="26" fill="hold">
                      <p:stCondLst>
                        <p:cond delay="indefinite"/>
                      </p:stCondLst>
                      <p:childTnLst>
                        <p:par>
                          <p:cTn id="27" fill="hold">
                            <p:stCondLst>
                              <p:cond delay="0"/>
                            </p:stCondLst>
                            <p:childTnLst>
                              <p:par>
                                <p:cTn id="28" presetID="14" presetClass="entr" presetSubtype="10" fill="hold" nodeType="clickEffect">
                                  <p:stCondLst>
                                    <p:cond delay="0"/>
                                  </p:stCondLst>
                                  <p:childTnLst>
                                    <p:set>
                                      <p:cBhvr>
                                        <p:cTn id="29" dur="1" fill="hold">
                                          <p:stCondLst>
                                            <p:cond delay="0"/>
                                          </p:stCondLst>
                                        </p:cTn>
                                        <p:tgtEl>
                                          <p:spTgt spid="199"/>
                                        </p:tgtEl>
                                        <p:attrNameLst>
                                          <p:attrName>style.visibility</p:attrName>
                                        </p:attrNameLst>
                                      </p:cBhvr>
                                      <p:to>
                                        <p:strVal val="visible"/>
                                      </p:to>
                                    </p:set>
                                    <p:animEffect transition="in" filter="randombar(horizontal)">
                                      <p:cBhvr>
                                        <p:cTn id="30" dur="500"/>
                                        <p:tgtEl>
                                          <p:spTgt spid="199"/>
                                        </p:tgtEl>
                                      </p:cBhvr>
                                    </p:animEffect>
                                  </p:childTnLst>
                                </p:cTn>
                              </p:par>
                              <p:par>
                                <p:cTn id="31" presetID="14" presetClass="entr" presetSubtype="10" fill="hold" nodeType="withEffect">
                                  <p:stCondLst>
                                    <p:cond delay="0"/>
                                  </p:stCondLst>
                                  <p:childTnLst>
                                    <p:set>
                                      <p:cBhvr>
                                        <p:cTn id="32" dur="1" fill="hold">
                                          <p:stCondLst>
                                            <p:cond delay="0"/>
                                          </p:stCondLst>
                                        </p:cTn>
                                        <p:tgtEl>
                                          <p:spTgt spid="201"/>
                                        </p:tgtEl>
                                        <p:attrNameLst>
                                          <p:attrName>style.visibility</p:attrName>
                                        </p:attrNameLst>
                                      </p:cBhvr>
                                      <p:to>
                                        <p:strVal val="visible"/>
                                      </p:to>
                                    </p:set>
                                    <p:animEffect transition="in" filter="randombar(horizontal)">
                                      <p:cBhvr>
                                        <p:cTn id="33" dur="500"/>
                                        <p:tgtEl>
                                          <p:spTgt spid="201"/>
                                        </p:tgtEl>
                                      </p:cBhvr>
                                    </p:animEffect>
                                  </p:childTnLst>
                                </p:cTn>
                              </p:par>
                              <p:par>
                                <p:cTn id="34" presetID="14" presetClass="entr" presetSubtype="10" fill="hold" nodeType="withEffect">
                                  <p:stCondLst>
                                    <p:cond delay="0"/>
                                  </p:stCondLst>
                                  <p:childTnLst>
                                    <p:set>
                                      <p:cBhvr>
                                        <p:cTn id="35" dur="1" fill="hold">
                                          <p:stCondLst>
                                            <p:cond delay="0"/>
                                          </p:stCondLst>
                                        </p:cTn>
                                        <p:tgtEl>
                                          <p:spTgt spid="203"/>
                                        </p:tgtEl>
                                        <p:attrNameLst>
                                          <p:attrName>style.visibility</p:attrName>
                                        </p:attrNameLst>
                                      </p:cBhvr>
                                      <p:to>
                                        <p:strVal val="visible"/>
                                      </p:to>
                                    </p:set>
                                    <p:animEffect transition="in" filter="randombar(horizontal)">
                                      <p:cBhvr>
                                        <p:cTn id="36" dur="500"/>
                                        <p:tgtEl>
                                          <p:spTgt spid="203"/>
                                        </p:tgtEl>
                                      </p:cBhvr>
                                    </p:animEffect>
                                  </p:childTnLst>
                                </p:cTn>
                              </p:par>
                              <p:par>
                                <p:cTn id="37" presetID="14" presetClass="entr" presetSubtype="10" fill="hold" nodeType="withEffect">
                                  <p:stCondLst>
                                    <p:cond delay="0"/>
                                  </p:stCondLst>
                                  <p:childTnLst>
                                    <p:set>
                                      <p:cBhvr>
                                        <p:cTn id="38" dur="1" fill="hold">
                                          <p:stCondLst>
                                            <p:cond delay="0"/>
                                          </p:stCondLst>
                                        </p:cTn>
                                        <p:tgtEl>
                                          <p:spTgt spid="304"/>
                                        </p:tgtEl>
                                        <p:attrNameLst>
                                          <p:attrName>style.visibility</p:attrName>
                                        </p:attrNameLst>
                                      </p:cBhvr>
                                      <p:to>
                                        <p:strVal val="visible"/>
                                      </p:to>
                                    </p:set>
                                    <p:animEffect transition="in" filter="randombar(horizontal)">
                                      <p:cBhvr>
                                        <p:cTn id="39" dur="500"/>
                                        <p:tgtEl>
                                          <p:spTgt spid="304"/>
                                        </p:tgtEl>
                                      </p:cBhvr>
                                    </p:animEffect>
                                  </p:childTnLst>
                                </p:cTn>
                              </p:par>
                              <p:par>
                                <p:cTn id="40" presetID="14" presetClass="entr" presetSubtype="10" fill="hold" nodeType="withEffect">
                                  <p:stCondLst>
                                    <p:cond delay="0"/>
                                  </p:stCondLst>
                                  <p:childTnLst>
                                    <p:set>
                                      <p:cBhvr>
                                        <p:cTn id="41" dur="1" fill="hold">
                                          <p:stCondLst>
                                            <p:cond delay="0"/>
                                          </p:stCondLst>
                                        </p:cTn>
                                        <p:tgtEl>
                                          <p:spTgt spid="204"/>
                                        </p:tgtEl>
                                        <p:attrNameLst>
                                          <p:attrName>style.visibility</p:attrName>
                                        </p:attrNameLst>
                                      </p:cBhvr>
                                      <p:to>
                                        <p:strVal val="visible"/>
                                      </p:to>
                                    </p:set>
                                    <p:animEffect transition="in" filter="randombar(horizontal)">
                                      <p:cBhvr>
                                        <p:cTn id="42" dur="500"/>
                                        <p:tgtEl>
                                          <p:spTgt spid="204"/>
                                        </p:tgtEl>
                                      </p:cBhvr>
                                    </p:animEffect>
                                  </p:childTnLst>
                                </p:cTn>
                              </p:par>
                              <p:par>
                                <p:cTn id="43" presetID="14" presetClass="entr" presetSubtype="10" fill="hold" nodeType="withEffect">
                                  <p:stCondLst>
                                    <p:cond delay="0"/>
                                  </p:stCondLst>
                                  <p:childTnLst>
                                    <p:set>
                                      <p:cBhvr>
                                        <p:cTn id="44" dur="1" fill="hold">
                                          <p:stCondLst>
                                            <p:cond delay="0"/>
                                          </p:stCondLst>
                                        </p:cTn>
                                        <p:tgtEl>
                                          <p:spTgt spid="202"/>
                                        </p:tgtEl>
                                        <p:attrNameLst>
                                          <p:attrName>style.visibility</p:attrName>
                                        </p:attrNameLst>
                                      </p:cBhvr>
                                      <p:to>
                                        <p:strVal val="visible"/>
                                      </p:to>
                                    </p:set>
                                    <p:animEffect transition="in" filter="randombar(horizontal)">
                                      <p:cBhvr>
                                        <p:cTn id="45" dur="500"/>
                                        <p:tgtEl>
                                          <p:spTgt spid="202"/>
                                        </p:tgtEl>
                                      </p:cBhvr>
                                    </p:animEffect>
                                  </p:childTnLst>
                                </p:cTn>
                              </p:par>
                              <p:par>
                                <p:cTn id="46" presetID="14" presetClass="entr" presetSubtype="10" fill="hold" nodeType="withEffect">
                                  <p:stCondLst>
                                    <p:cond delay="0"/>
                                  </p:stCondLst>
                                  <p:childTnLst>
                                    <p:set>
                                      <p:cBhvr>
                                        <p:cTn id="47" dur="1" fill="hold">
                                          <p:stCondLst>
                                            <p:cond delay="0"/>
                                          </p:stCondLst>
                                        </p:cTn>
                                        <p:tgtEl>
                                          <p:spTgt spid="205"/>
                                        </p:tgtEl>
                                        <p:attrNameLst>
                                          <p:attrName>style.visibility</p:attrName>
                                        </p:attrNameLst>
                                      </p:cBhvr>
                                      <p:to>
                                        <p:strVal val="visible"/>
                                      </p:to>
                                    </p:set>
                                    <p:animEffect transition="in" filter="randombar(horizontal)">
                                      <p:cBhvr>
                                        <p:cTn id="48" dur="500"/>
                                        <p:tgtEl>
                                          <p:spTgt spid="205"/>
                                        </p:tgtEl>
                                      </p:cBhvr>
                                    </p:animEffect>
                                  </p:childTnLst>
                                </p:cTn>
                              </p:par>
                            </p:childTnLst>
                          </p:cTn>
                        </p:par>
                      </p:childTnLst>
                    </p:cTn>
                  </p:par>
                  <p:par>
                    <p:cTn id="49" fill="hold">
                      <p:stCondLst>
                        <p:cond delay="indefinite"/>
                      </p:stCondLst>
                      <p:childTnLst>
                        <p:par>
                          <p:cTn id="50" fill="hold">
                            <p:stCondLst>
                              <p:cond delay="0"/>
                            </p:stCondLst>
                            <p:childTnLst>
                              <p:par>
                                <p:cTn id="51" presetID="14" presetClass="entr" presetSubtype="10" fill="hold" nodeType="clickEffect">
                                  <p:stCondLst>
                                    <p:cond delay="0"/>
                                  </p:stCondLst>
                                  <p:childTnLst>
                                    <p:set>
                                      <p:cBhvr>
                                        <p:cTn id="52" dur="1" fill="hold">
                                          <p:stCondLst>
                                            <p:cond delay="0"/>
                                          </p:stCondLst>
                                        </p:cTn>
                                        <p:tgtEl>
                                          <p:spTgt spid="128"/>
                                        </p:tgtEl>
                                        <p:attrNameLst>
                                          <p:attrName>style.visibility</p:attrName>
                                        </p:attrNameLst>
                                      </p:cBhvr>
                                      <p:to>
                                        <p:strVal val="visible"/>
                                      </p:to>
                                    </p:set>
                                    <p:animEffect transition="in" filter="randombar(horizontal)">
                                      <p:cBhvr>
                                        <p:cTn id="53" dur="500"/>
                                        <p:tgtEl>
                                          <p:spTgt spid="128"/>
                                        </p:tgtEl>
                                      </p:cBhvr>
                                    </p:animEffect>
                                  </p:childTnLst>
                                </p:cTn>
                              </p:par>
                            </p:childTnLst>
                          </p:cTn>
                        </p:par>
                      </p:childTnLst>
                    </p:cTn>
                  </p:par>
                  <p:par>
                    <p:cTn id="54" fill="hold">
                      <p:stCondLst>
                        <p:cond delay="indefinite"/>
                      </p:stCondLst>
                      <p:childTnLst>
                        <p:par>
                          <p:cTn id="55" fill="hold">
                            <p:stCondLst>
                              <p:cond delay="0"/>
                            </p:stCondLst>
                            <p:childTnLst>
                              <p:par>
                                <p:cTn id="56" presetID="14" presetClass="entr" presetSubtype="10" fill="hold" grpId="0" nodeType="clickEffect">
                                  <p:stCondLst>
                                    <p:cond delay="0"/>
                                  </p:stCondLst>
                                  <p:childTnLst>
                                    <p:set>
                                      <p:cBhvr>
                                        <p:cTn id="57" dur="1" fill="hold">
                                          <p:stCondLst>
                                            <p:cond delay="0"/>
                                          </p:stCondLst>
                                        </p:cTn>
                                        <p:tgtEl>
                                          <p:spTgt spid="287"/>
                                        </p:tgtEl>
                                        <p:attrNameLst>
                                          <p:attrName>style.visibility</p:attrName>
                                        </p:attrNameLst>
                                      </p:cBhvr>
                                      <p:to>
                                        <p:strVal val="visible"/>
                                      </p:to>
                                    </p:set>
                                    <p:animEffect transition="in" filter="randombar(horizontal)">
                                      <p:cBhvr>
                                        <p:cTn id="58" dur="500"/>
                                        <p:tgtEl>
                                          <p:spTgt spid="287"/>
                                        </p:tgtEl>
                                      </p:cBhvr>
                                    </p:animEffect>
                                  </p:childTnLst>
                                </p:cTn>
                              </p:par>
                              <p:par>
                                <p:cTn id="59" presetID="14" presetClass="entr" presetSubtype="10" fill="hold" grpId="0" nodeType="withEffect">
                                  <p:stCondLst>
                                    <p:cond delay="0"/>
                                  </p:stCondLst>
                                  <p:childTnLst>
                                    <p:set>
                                      <p:cBhvr>
                                        <p:cTn id="60" dur="1" fill="hold">
                                          <p:stCondLst>
                                            <p:cond delay="0"/>
                                          </p:stCondLst>
                                        </p:cTn>
                                        <p:tgtEl>
                                          <p:spTgt spid="285"/>
                                        </p:tgtEl>
                                        <p:attrNameLst>
                                          <p:attrName>style.visibility</p:attrName>
                                        </p:attrNameLst>
                                      </p:cBhvr>
                                      <p:to>
                                        <p:strVal val="visible"/>
                                      </p:to>
                                    </p:set>
                                    <p:animEffect transition="in" filter="randombar(horizontal)">
                                      <p:cBhvr>
                                        <p:cTn id="61" dur="500"/>
                                        <p:tgtEl>
                                          <p:spTgt spid="285"/>
                                        </p:tgtEl>
                                      </p:cBhvr>
                                    </p:animEffect>
                                  </p:childTnLst>
                                </p:cTn>
                              </p:par>
                              <p:par>
                                <p:cTn id="62" presetID="14" presetClass="entr" presetSubtype="10" fill="hold" nodeType="withEffect">
                                  <p:stCondLst>
                                    <p:cond delay="0"/>
                                  </p:stCondLst>
                                  <p:childTnLst>
                                    <p:set>
                                      <p:cBhvr>
                                        <p:cTn id="63" dur="1" fill="hold">
                                          <p:stCondLst>
                                            <p:cond delay="0"/>
                                          </p:stCondLst>
                                        </p:cTn>
                                        <p:tgtEl>
                                          <p:spTgt spid="86"/>
                                        </p:tgtEl>
                                        <p:attrNameLst>
                                          <p:attrName>style.visibility</p:attrName>
                                        </p:attrNameLst>
                                      </p:cBhvr>
                                      <p:to>
                                        <p:strVal val="visible"/>
                                      </p:to>
                                    </p:set>
                                    <p:animEffect transition="in" filter="randombar(horizontal)">
                                      <p:cBhvr>
                                        <p:cTn id="64"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5" grpId="0" animBg="1"/>
      <p:bldP spid="28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B3E7B-E1BB-406F-E868-AA174AE15B3D}"/>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id="{BAB10E29-4476-8011-48F5-BB8FB1C19181}"/>
              </a:ext>
            </a:extLst>
          </p:cNvPr>
          <p:cNvGrpSpPr/>
          <p:nvPr/>
        </p:nvGrpSpPr>
        <p:grpSpPr>
          <a:xfrm>
            <a:off x="11449269" y="6198682"/>
            <a:ext cx="786273" cy="548639"/>
            <a:chOff x="11454918" y="5839511"/>
            <a:chExt cx="786273" cy="548639"/>
          </a:xfrm>
        </p:grpSpPr>
        <p:grpSp>
          <p:nvGrpSpPr>
            <p:cNvPr id="4" name="组合 3">
              <a:extLst>
                <a:ext uri="{FF2B5EF4-FFF2-40B4-BE49-F238E27FC236}">
                  <a16:creationId xmlns:a16="http://schemas.microsoft.com/office/drawing/2014/main" id="{204AE9BF-EA09-7153-EB92-8CA69F38EADF}"/>
                </a:ext>
              </a:extLst>
            </p:cNvPr>
            <p:cNvGrpSpPr/>
            <p:nvPr/>
          </p:nvGrpSpPr>
          <p:grpSpPr>
            <a:xfrm>
              <a:off x="11454918" y="5867450"/>
              <a:ext cx="737081" cy="520700"/>
              <a:chOff x="11454918" y="5867450"/>
              <a:chExt cx="737081" cy="520700"/>
            </a:xfrm>
          </p:grpSpPr>
          <p:sp>
            <p:nvSpPr>
              <p:cNvPr id="6" name="箭头: 五边形 5">
                <a:extLst>
                  <a:ext uri="{FF2B5EF4-FFF2-40B4-BE49-F238E27FC236}">
                    <a16:creationId xmlns:a16="http://schemas.microsoft.com/office/drawing/2014/main" id="{055CB5F2-B4AE-AF7F-51A4-56B036583097}"/>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箭头: V 形 6">
                <a:extLst>
                  <a:ext uri="{FF2B5EF4-FFF2-40B4-BE49-F238E27FC236}">
                    <a16:creationId xmlns:a16="http://schemas.microsoft.com/office/drawing/2014/main" id="{5579F40D-72F6-FAD2-5FDE-9129C963FB5A}"/>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5" name="灯片编号占位符 3">
              <a:extLst>
                <a:ext uri="{FF2B5EF4-FFF2-40B4-BE49-F238E27FC236}">
                  <a16:creationId xmlns:a16="http://schemas.microsoft.com/office/drawing/2014/main" id="{0732EF63-7135-3990-00A3-E1BFE6D24764}"/>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25</a:t>
              </a:fld>
              <a:endParaRPr lang="zh-CN" altLang="en-US" sz="3200" dirty="0">
                <a:solidFill>
                  <a:schemeClr val="bg1"/>
                </a:solidFill>
                <a:latin typeface="Candara"/>
                <a:ea typeface="微软雅黑"/>
              </a:endParaRPr>
            </a:p>
          </p:txBody>
        </p:sp>
      </p:grpSp>
      <p:sp>
        <p:nvSpPr>
          <p:cNvPr id="8" name="文本框 7">
            <a:extLst>
              <a:ext uri="{FF2B5EF4-FFF2-40B4-BE49-F238E27FC236}">
                <a16:creationId xmlns:a16="http://schemas.microsoft.com/office/drawing/2014/main" id="{4BCC361F-E94B-DF07-B582-7B6E0AF0646E}"/>
              </a:ext>
            </a:extLst>
          </p:cNvPr>
          <p:cNvSpPr txBox="1"/>
          <p:nvPr/>
        </p:nvSpPr>
        <p:spPr>
          <a:xfrm>
            <a:off x="360000" y="828000"/>
            <a:ext cx="5673193" cy="1159613"/>
          </a:xfrm>
          <a:prstGeom prst="rect">
            <a:avLst/>
          </a:prstGeom>
          <a:noFill/>
        </p:spPr>
        <p:txBody>
          <a:bodyPr wrap="square">
            <a:spAutoFit/>
          </a:bodyPr>
          <a:lstStyle/>
          <a:p>
            <a:pPr>
              <a:lnSpc>
                <a:spcPct val="120000"/>
              </a:lnSpc>
              <a:spcAft>
                <a:spcPts val="600"/>
              </a:spcAft>
            </a:pPr>
            <a:r>
              <a:rPr kumimoji="1" lang="zh-CN" altLang="en-US" sz="2800" dirty="0">
                <a:solidFill>
                  <a:srgbClr val="002060"/>
                </a:solidFill>
                <a:latin typeface="微软雅黑" panose="020B0503020204020204" pitchFamily="34" charset="-122"/>
                <a:ea typeface="微软雅黑" panose="020B0503020204020204" pitchFamily="34" charset="-122"/>
              </a:rPr>
              <a:t>二极管的主要应用</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限幅：对信号的幅值进行限制</a:t>
            </a:r>
            <a:endParaRPr kumimoji="1" lang="en-US" altLang="zh-CN" sz="2800" dirty="0">
              <a:solidFill>
                <a:srgbClr val="00206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CC4F4CB7-7368-956B-AB88-332ECB80DC94}"/>
                  </a:ext>
                </a:extLst>
              </p:cNvPr>
              <p:cNvSpPr txBox="1"/>
              <p:nvPr/>
            </p:nvSpPr>
            <p:spPr>
              <a:xfrm>
                <a:off x="359999" y="4608000"/>
                <a:ext cx="3600000" cy="1548000"/>
              </a:xfrm>
              <a:prstGeom prst="rect">
                <a:avLst/>
              </a:prstGeom>
              <a:noFill/>
            </p:spPr>
            <p:txBody>
              <a:bodyPr wrap="square">
                <a:spAutoFit/>
              </a:bodyPr>
              <a:lstStyle/>
              <a:p>
                <a:pPr lvl="1">
                  <a:lnSpc>
                    <a:spcPct val="120000"/>
                  </a:lnSpc>
                  <a:spcAft>
                    <a:spcPts val="600"/>
                  </a:spcAft>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二极管使用理想模型</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lvl="1">
                  <a:lnSpc>
                    <a:spcPct val="120000"/>
                  </a:lnSpc>
                  <a:spcAft>
                    <a:spcPts val="600"/>
                  </a:spcAft>
                </a:pPr>
                <a14:m>
                  <m:oMathPara xmlns:m="http://schemas.openxmlformats.org/officeDocument/2006/math">
                    <m:oMathParaPr>
                      <m:jc m:val="centerGroup"/>
                    </m:oMathParaPr>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𝑣</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I</m:t>
                          </m:r>
                        </m:sub>
                      </m:sSub>
                      <m: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m</m:t>
                          </m:r>
                        </m:sub>
                      </m:sSub>
                      <m:func>
                        <m:funcPr>
                          <m:ctrlP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ctrlPr>
                        </m:funcPr>
                        <m:fName>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sin</m:t>
                          </m:r>
                        </m:fName>
                        <m:e>
                          <m:r>
                            <a:rPr kumimoji="1" lang="zh-CN" altLang="en-US" sz="2400" b="0" i="1" smtClean="0">
                              <a:solidFill>
                                <a:schemeClr val="accent5">
                                  <a:lumMod val="75000"/>
                                </a:schemeClr>
                              </a:solidFill>
                              <a:latin typeface="Cambria Math" panose="02040503050406030204" pitchFamily="18" charset="0"/>
                              <a:ea typeface="微软雅黑" panose="020B0503020204020204" pitchFamily="34" charset="-122"/>
                            </a:rPr>
                            <m:t>𝜔</m:t>
                          </m:r>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𝑡</m:t>
                          </m:r>
                        </m:e>
                      </m:func>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 </m:t>
                      </m:r>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V</m:t>
                      </m:r>
                    </m:oMath>
                  </m:oMathPara>
                </a14:m>
                <a:endParaRPr kumimoji="1" lang="en-US" altLang="zh-CN" sz="2400" dirty="0">
                  <a:solidFill>
                    <a:schemeClr val="accent5">
                      <a:lumMod val="75000"/>
                    </a:schemeClr>
                  </a:solidFill>
                  <a:ea typeface="微软雅黑" panose="020B0503020204020204" pitchFamily="34" charset="-122"/>
                </a:endParaRPr>
              </a:p>
              <a:p>
                <a:pPr lvl="1">
                  <a:lnSpc>
                    <a:spcPct val="120000"/>
                  </a:lnSpc>
                  <a:spcAft>
                    <a:spcPts val="600"/>
                  </a:spcAft>
                </a:pP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m</m:t>
                        </m:r>
                      </m:sub>
                    </m:sSub>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&gt;</m:t>
                    </m:r>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REF</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p>
            </p:txBody>
          </p:sp>
        </mc:Choice>
        <mc:Fallback xmlns="">
          <p:sp>
            <p:nvSpPr>
              <p:cNvPr id="39" name="文本框 38">
                <a:extLst>
                  <a:ext uri="{FF2B5EF4-FFF2-40B4-BE49-F238E27FC236}">
                    <a16:creationId xmlns:a16="http://schemas.microsoft.com/office/drawing/2014/main" id="{CC4F4CB7-7368-956B-AB88-332ECB80DC94}"/>
                  </a:ext>
                </a:extLst>
              </p:cNvPr>
              <p:cNvSpPr txBox="1">
                <a:spLocks noRot="1" noChangeAspect="1" noMove="1" noResize="1" noEditPoints="1" noAdjustHandles="1" noChangeArrowheads="1" noChangeShapeType="1" noTextEdit="1"/>
              </p:cNvSpPr>
              <p:nvPr/>
            </p:nvSpPr>
            <p:spPr>
              <a:xfrm>
                <a:off x="359999" y="4608000"/>
                <a:ext cx="3600000" cy="1548000"/>
              </a:xfrm>
              <a:prstGeom prst="rect">
                <a:avLst/>
              </a:prstGeom>
              <a:blipFill>
                <a:blip r:embed="rId2"/>
                <a:stretch>
                  <a:fillRect t="-787"/>
                </a:stretch>
              </a:blipFill>
            </p:spPr>
            <p:txBody>
              <a:bodyPr/>
              <a:lstStyle/>
              <a:p>
                <a:r>
                  <a:rPr lang="zh-CN" altLang="en-US">
                    <a:noFill/>
                  </a:rPr>
                  <a:t> </a:t>
                </a:r>
              </a:p>
            </p:txBody>
          </p:sp>
        </mc:Fallback>
      </mc:AlternateContent>
      <p:sp>
        <p:nvSpPr>
          <p:cNvPr id="10" name="标题 1">
            <a:extLst>
              <a:ext uri="{FF2B5EF4-FFF2-40B4-BE49-F238E27FC236}">
                <a16:creationId xmlns:a16="http://schemas.microsoft.com/office/drawing/2014/main" id="{BF70CFA5-668D-8454-14BD-A3CBE88B3ABB}"/>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二极管及其应用</a:t>
            </a:r>
            <a:endParaRPr lang="en-US" altLang="zh-CN" sz="3000" dirty="0"/>
          </a:p>
        </p:txBody>
      </p:sp>
      <p:grpSp>
        <p:nvGrpSpPr>
          <p:cNvPr id="32" name="组合 31">
            <a:extLst>
              <a:ext uri="{FF2B5EF4-FFF2-40B4-BE49-F238E27FC236}">
                <a16:creationId xmlns:a16="http://schemas.microsoft.com/office/drawing/2014/main" id="{04D99E3E-14E5-3715-FF3A-020794F3C0F4}"/>
              </a:ext>
            </a:extLst>
          </p:cNvPr>
          <p:cNvGrpSpPr/>
          <p:nvPr/>
        </p:nvGrpSpPr>
        <p:grpSpPr>
          <a:xfrm>
            <a:off x="864000" y="2412000"/>
            <a:ext cx="2916000" cy="1764000"/>
            <a:chOff x="864000" y="2412000"/>
            <a:chExt cx="2916000" cy="1764000"/>
          </a:xfrm>
        </p:grpSpPr>
        <p:cxnSp>
          <p:nvCxnSpPr>
            <p:cNvPr id="13" name="直接连接符 12">
              <a:extLst>
                <a:ext uri="{FF2B5EF4-FFF2-40B4-BE49-F238E27FC236}">
                  <a16:creationId xmlns:a16="http://schemas.microsoft.com/office/drawing/2014/main" id="{16AF796C-5F02-3E75-167F-0C3B0867F4C0}"/>
                </a:ext>
              </a:extLst>
            </p:cNvPr>
            <p:cNvCxnSpPr>
              <a:cxnSpLocks/>
            </p:cNvCxnSpPr>
            <p:nvPr/>
          </p:nvCxnSpPr>
          <p:spPr>
            <a:xfrm flipH="1">
              <a:off x="1152000" y="2484000"/>
              <a:ext cx="230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F57CBC05-A68D-CAB6-73B6-08AD865309F4}"/>
                </a:ext>
              </a:extLst>
            </p:cNvPr>
            <p:cNvCxnSpPr>
              <a:cxnSpLocks/>
            </p:cNvCxnSpPr>
            <p:nvPr/>
          </p:nvCxnSpPr>
          <p:spPr>
            <a:xfrm>
              <a:off x="2988000" y="3690000"/>
              <a:ext cx="0" cy="39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2F7A0269-3A85-B1CB-77EE-AFB35129E27F}"/>
                </a:ext>
              </a:extLst>
            </p:cNvPr>
            <p:cNvSpPr/>
            <p:nvPr/>
          </p:nvSpPr>
          <p:spPr>
            <a:xfrm>
              <a:off x="1656000" y="2412000"/>
              <a:ext cx="504000" cy="144000"/>
            </a:xfrm>
            <a:prstGeom prst="rect">
              <a:avLst/>
            </a:prstGeom>
            <a:solidFill>
              <a:schemeClr val="bg1">
                <a:alpha val="99000"/>
              </a:schemeClr>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cxnSp>
          <p:nvCxnSpPr>
            <p:cNvPr id="17" name="直接连接符 16">
              <a:extLst>
                <a:ext uri="{FF2B5EF4-FFF2-40B4-BE49-F238E27FC236}">
                  <a16:creationId xmlns:a16="http://schemas.microsoft.com/office/drawing/2014/main" id="{973D2779-EAAD-FA3F-7E1E-5C3EC3DB9A3B}"/>
                </a:ext>
              </a:extLst>
            </p:cNvPr>
            <p:cNvCxnSpPr>
              <a:cxnSpLocks/>
            </p:cNvCxnSpPr>
            <p:nvPr/>
          </p:nvCxnSpPr>
          <p:spPr>
            <a:xfrm flipH="1">
              <a:off x="1152000" y="4104000"/>
              <a:ext cx="2262485"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椭圆 17">
              <a:extLst>
                <a:ext uri="{FF2B5EF4-FFF2-40B4-BE49-F238E27FC236}">
                  <a16:creationId xmlns:a16="http://schemas.microsoft.com/office/drawing/2014/main" id="{5F72DCE4-5633-86FC-E8EE-CC4661E930D6}"/>
                </a:ext>
              </a:extLst>
            </p:cNvPr>
            <p:cNvSpPr/>
            <p:nvPr/>
          </p:nvSpPr>
          <p:spPr>
            <a:xfrm>
              <a:off x="2915999" y="2412000"/>
              <a:ext cx="144000" cy="144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19" name="Rectangle 8">
                  <a:extLst>
                    <a:ext uri="{FF2B5EF4-FFF2-40B4-BE49-F238E27FC236}">
                      <a16:creationId xmlns:a16="http://schemas.microsoft.com/office/drawing/2014/main" id="{7527267B-2FB6-74C9-E523-BA2B903CB7EC}"/>
                    </a:ext>
                  </a:extLst>
                </p:cNvPr>
                <p:cNvSpPr>
                  <a:spLocks noChangeArrowheads="1"/>
                </p:cNvSpPr>
                <p:nvPr/>
              </p:nvSpPr>
              <p:spPr bwMode="auto">
                <a:xfrm>
                  <a:off x="1728000" y="2520000"/>
                  <a:ext cx="360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right"/>
                      </m:oMathParaPr>
                      <m:oMath xmlns:m="http://schemas.openxmlformats.org/officeDocument/2006/math">
                        <m:r>
                          <a:rPr kumimoji="1" lang="en-US" altLang="zh-CN" sz="2000" b="0" i="1" smtClean="0">
                            <a:solidFill>
                              <a:schemeClr val="tx1"/>
                            </a:solidFill>
                            <a:latin typeface="Cambria Math" panose="02040503050406030204" pitchFamily="18" charset="0"/>
                            <a:ea typeface="微软雅黑" panose="020B0503020204020204" pitchFamily="34" charset="-122"/>
                          </a:rPr>
                          <m:t>𝑅</m:t>
                        </m:r>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9" name="Rectangle 8">
                  <a:extLst>
                    <a:ext uri="{FF2B5EF4-FFF2-40B4-BE49-F238E27FC236}">
                      <a16:creationId xmlns:a16="http://schemas.microsoft.com/office/drawing/2014/main" id="{7527267B-2FB6-74C9-E523-BA2B903CB7EC}"/>
                    </a:ext>
                  </a:extLst>
                </p:cNvPr>
                <p:cNvSpPr>
                  <a:spLocks noRot="1" noChangeAspect="1" noMove="1" noResize="1" noEditPoints="1" noAdjustHandles="1" noChangeArrowheads="1" noChangeShapeType="1" noTextEdit="1"/>
                </p:cNvSpPr>
                <p:nvPr/>
              </p:nvSpPr>
              <p:spPr bwMode="auto">
                <a:xfrm>
                  <a:off x="1728000" y="2520000"/>
                  <a:ext cx="360000" cy="432000"/>
                </a:xfrm>
                <a:prstGeom prst="rect">
                  <a:avLst/>
                </a:prstGeom>
                <a:blipFill>
                  <a:blip r:embed="rId3"/>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0" name="椭圆 19">
              <a:extLst>
                <a:ext uri="{FF2B5EF4-FFF2-40B4-BE49-F238E27FC236}">
                  <a16:creationId xmlns:a16="http://schemas.microsoft.com/office/drawing/2014/main" id="{149D77D8-ECE3-DB4D-36B5-7D55B764CD1C}"/>
                </a:ext>
              </a:extLst>
            </p:cNvPr>
            <p:cNvSpPr/>
            <p:nvPr/>
          </p:nvSpPr>
          <p:spPr>
            <a:xfrm>
              <a:off x="2916000" y="4032000"/>
              <a:ext cx="144000" cy="144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22" name="Rectangle 8">
                  <a:extLst>
                    <a:ext uri="{FF2B5EF4-FFF2-40B4-BE49-F238E27FC236}">
                      <a16:creationId xmlns:a16="http://schemas.microsoft.com/office/drawing/2014/main" id="{6A1E2D6C-C390-811D-3C41-8FB82A0A971D}"/>
                    </a:ext>
                  </a:extLst>
                </p:cNvPr>
                <p:cNvSpPr>
                  <a:spLocks noChangeArrowheads="1"/>
                </p:cNvSpPr>
                <p:nvPr/>
              </p:nvSpPr>
              <p:spPr bwMode="auto">
                <a:xfrm>
                  <a:off x="3420000" y="2808000"/>
                  <a:ext cx="360000" cy="108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0"/>
                    </a:spcAft>
                    <a:buNone/>
                  </a:pPr>
                  <a14:m>
                    <m:oMathPara xmlns:m="http://schemas.openxmlformats.org/officeDocument/2006/math">
                      <m:oMathParaPr>
                        <m:jc m:val="centerGroup"/>
                      </m:oMathParaPr>
                      <m:oMath xmlns:m="http://schemas.openxmlformats.org/officeDocument/2006/math">
                        <m:r>
                          <a:rPr kumimoji="1" lang="pt-BR" altLang="zh-CN" sz="2000" b="0" i="1" smtClean="0">
                            <a:latin typeface="Cambria Math" panose="02040503050406030204" pitchFamily="18" charset="0"/>
                            <a:ea typeface="微软雅黑" panose="020B0503020204020204" pitchFamily="34" charset="-122"/>
                          </a:rPr>
                          <m:t>+</m:t>
                        </m:r>
                      </m:oMath>
                    </m:oMathPara>
                  </a14:m>
                  <a:endParaRPr kumimoji="1" lang="en-US" altLang="zh-CN" sz="2000" b="0" dirty="0">
                    <a:latin typeface="微软雅黑" panose="020B0503020204020204" pitchFamily="34" charset="-122"/>
                    <a:ea typeface="微软雅黑" panose="020B0503020204020204" pitchFamily="34" charset="-122"/>
                  </a:endParaRPr>
                </a:p>
                <a:p>
                  <a:pPr algn="ctr">
                    <a:spcAft>
                      <a:spcPts val="0"/>
                    </a:spcAft>
                    <a:buNone/>
                  </a:pPr>
                  <a14:m>
                    <m:oMathPara xmlns:m="http://schemas.openxmlformats.org/officeDocument/2006/math">
                      <m:oMathParaPr>
                        <m:jc m:val="centerGroup"/>
                      </m:oMathParaPr>
                      <m:oMath xmlns:m="http://schemas.openxmlformats.org/officeDocument/2006/math">
                        <m:sSub>
                          <m:sSubPr>
                            <m:ctrlPr>
                              <a:rPr kumimoji="1" lang="en-US" altLang="zh-CN" sz="2000" b="0" i="1">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𝑣</m:t>
                            </m:r>
                          </m:e>
                          <m:sub>
                            <m:r>
                              <m:rPr>
                                <m:sty m:val="p"/>
                              </m:rPr>
                              <a:rPr kumimoji="1" lang="en-US" altLang="zh-CN" sz="2000" b="0" i="0" smtClean="0">
                                <a:latin typeface="Cambria Math" panose="02040503050406030204" pitchFamily="18" charset="0"/>
                                <a:ea typeface="微软雅黑" panose="020B0503020204020204" pitchFamily="34" charset="-122"/>
                              </a:rPr>
                              <m:t>O</m:t>
                            </m:r>
                          </m:sub>
                        </m:sSub>
                      </m:oMath>
                    </m:oMathPara>
                  </a14:m>
                  <a:endParaRPr kumimoji="1" lang="en-US" altLang="zh-CN" sz="2000" b="0" dirty="0">
                    <a:latin typeface="微软雅黑" panose="020B0503020204020204" pitchFamily="34" charset="-122"/>
                    <a:ea typeface="微软雅黑" panose="020B0503020204020204" pitchFamily="34" charset="-122"/>
                  </a:endParaRPr>
                </a:p>
                <a:p>
                  <a:pPr algn="ctr">
                    <a:spcAft>
                      <a:spcPts val="0"/>
                    </a:spcAft>
                    <a:buNone/>
                  </a:pPr>
                  <a14:m>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p>
              </p:txBody>
            </p:sp>
          </mc:Choice>
          <mc:Fallback xmlns="">
            <p:sp>
              <p:nvSpPr>
                <p:cNvPr id="22" name="Rectangle 8">
                  <a:extLst>
                    <a:ext uri="{FF2B5EF4-FFF2-40B4-BE49-F238E27FC236}">
                      <a16:creationId xmlns:a16="http://schemas.microsoft.com/office/drawing/2014/main" id="{6A1E2D6C-C390-811D-3C41-8FB82A0A971D}"/>
                    </a:ext>
                  </a:extLst>
                </p:cNvPr>
                <p:cNvSpPr>
                  <a:spLocks noRot="1" noChangeAspect="1" noMove="1" noResize="1" noEditPoints="1" noAdjustHandles="1" noChangeArrowheads="1" noChangeShapeType="1" noTextEdit="1"/>
                </p:cNvSpPr>
                <p:nvPr/>
              </p:nvSpPr>
              <p:spPr bwMode="auto">
                <a:xfrm>
                  <a:off x="3420000" y="2808000"/>
                  <a:ext cx="360000" cy="1080000"/>
                </a:xfrm>
                <a:prstGeom prst="rect">
                  <a:avLst/>
                </a:prstGeom>
                <a:blipFill>
                  <a:blip r:embed="rId4"/>
                  <a:stretch>
                    <a:fillRect r="-20339"/>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3" name="椭圆 22">
              <a:extLst>
                <a:ext uri="{FF2B5EF4-FFF2-40B4-BE49-F238E27FC236}">
                  <a16:creationId xmlns:a16="http://schemas.microsoft.com/office/drawing/2014/main" id="{BFB30ED6-21AE-8455-F4AB-892BE48CDF3D}"/>
                </a:ext>
              </a:extLst>
            </p:cNvPr>
            <p:cNvSpPr/>
            <p:nvPr/>
          </p:nvSpPr>
          <p:spPr>
            <a:xfrm>
              <a:off x="3420000" y="2412000"/>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24" name="椭圆 23">
              <a:extLst>
                <a:ext uri="{FF2B5EF4-FFF2-40B4-BE49-F238E27FC236}">
                  <a16:creationId xmlns:a16="http://schemas.microsoft.com/office/drawing/2014/main" id="{5FF08E21-F945-DEA4-CA50-907FC1E161F7}"/>
                </a:ext>
              </a:extLst>
            </p:cNvPr>
            <p:cNvSpPr/>
            <p:nvPr/>
          </p:nvSpPr>
          <p:spPr>
            <a:xfrm>
              <a:off x="3420000" y="4032000"/>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26" name="椭圆 25">
              <a:extLst>
                <a:ext uri="{FF2B5EF4-FFF2-40B4-BE49-F238E27FC236}">
                  <a16:creationId xmlns:a16="http://schemas.microsoft.com/office/drawing/2014/main" id="{DA6AD78A-A663-C0A5-BB4D-81324D9F3AC2}"/>
                </a:ext>
              </a:extLst>
            </p:cNvPr>
            <p:cNvSpPr/>
            <p:nvPr/>
          </p:nvSpPr>
          <p:spPr>
            <a:xfrm>
              <a:off x="1008000" y="2412000"/>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27" name="椭圆 26">
              <a:extLst>
                <a:ext uri="{FF2B5EF4-FFF2-40B4-BE49-F238E27FC236}">
                  <a16:creationId xmlns:a16="http://schemas.microsoft.com/office/drawing/2014/main" id="{96C2DF5B-0F9B-B4A2-232C-9D522AAC2ED9}"/>
                </a:ext>
              </a:extLst>
            </p:cNvPr>
            <p:cNvSpPr/>
            <p:nvPr/>
          </p:nvSpPr>
          <p:spPr>
            <a:xfrm>
              <a:off x="1008000" y="4032000"/>
              <a:ext cx="144000" cy="144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28" name="Rectangle 8">
                  <a:extLst>
                    <a:ext uri="{FF2B5EF4-FFF2-40B4-BE49-F238E27FC236}">
                      <a16:creationId xmlns:a16="http://schemas.microsoft.com/office/drawing/2014/main" id="{D8996BA8-4E3A-B98B-2FF2-59CA7BBFF840}"/>
                    </a:ext>
                  </a:extLst>
                </p:cNvPr>
                <p:cNvSpPr>
                  <a:spLocks noChangeArrowheads="1"/>
                </p:cNvSpPr>
                <p:nvPr/>
              </p:nvSpPr>
              <p:spPr bwMode="auto">
                <a:xfrm>
                  <a:off x="864000" y="2808000"/>
                  <a:ext cx="360000" cy="108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0"/>
                    </a:spcAft>
                    <a:buNone/>
                  </a:pPr>
                  <a14:m>
                    <m:oMathPara xmlns:m="http://schemas.openxmlformats.org/officeDocument/2006/math">
                      <m:oMathParaPr>
                        <m:jc m:val="centerGroup"/>
                      </m:oMathParaPr>
                      <m:oMath xmlns:m="http://schemas.openxmlformats.org/officeDocument/2006/math">
                        <m:r>
                          <a:rPr kumimoji="1" lang="pt-BR" altLang="zh-CN" sz="2000" b="0" i="1" smtClean="0">
                            <a:latin typeface="Cambria Math" panose="02040503050406030204" pitchFamily="18" charset="0"/>
                            <a:ea typeface="微软雅黑" panose="020B0503020204020204" pitchFamily="34" charset="-122"/>
                          </a:rPr>
                          <m:t>+</m:t>
                        </m:r>
                      </m:oMath>
                    </m:oMathPara>
                  </a14:m>
                  <a:endParaRPr kumimoji="1" lang="en-US" altLang="zh-CN" sz="2000" b="0" dirty="0">
                    <a:latin typeface="微软雅黑" panose="020B0503020204020204" pitchFamily="34" charset="-122"/>
                    <a:ea typeface="微软雅黑" panose="020B0503020204020204" pitchFamily="34" charset="-122"/>
                  </a:endParaRPr>
                </a:p>
                <a:p>
                  <a:pPr algn="ctr">
                    <a:spcAft>
                      <a:spcPts val="0"/>
                    </a:spcAft>
                    <a:buNone/>
                  </a:pPr>
                  <a14:m>
                    <m:oMathPara xmlns:m="http://schemas.openxmlformats.org/officeDocument/2006/math">
                      <m:oMathParaPr>
                        <m:jc m:val="centerGroup"/>
                      </m:oMathParaPr>
                      <m:oMath xmlns:m="http://schemas.openxmlformats.org/officeDocument/2006/math">
                        <m:sSub>
                          <m:sSubPr>
                            <m:ctrlPr>
                              <a:rPr kumimoji="1" lang="en-US" altLang="zh-CN" sz="2000" b="0" i="1">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𝑣</m:t>
                            </m:r>
                          </m:e>
                          <m:sub>
                            <m:r>
                              <m:rPr>
                                <m:sty m:val="p"/>
                              </m:rPr>
                              <a:rPr kumimoji="1" lang="en-US" altLang="zh-CN" sz="2000" b="0" i="0" smtClean="0">
                                <a:latin typeface="Cambria Math" panose="02040503050406030204" pitchFamily="18" charset="0"/>
                                <a:ea typeface="微软雅黑" panose="020B0503020204020204" pitchFamily="34" charset="-122"/>
                              </a:rPr>
                              <m:t>I</m:t>
                            </m:r>
                          </m:sub>
                        </m:sSub>
                      </m:oMath>
                    </m:oMathPara>
                  </a14:m>
                  <a:endParaRPr kumimoji="1" lang="en-US" altLang="zh-CN" sz="2000" b="0" dirty="0">
                    <a:latin typeface="微软雅黑" panose="020B0503020204020204" pitchFamily="34" charset="-122"/>
                    <a:ea typeface="微软雅黑" panose="020B0503020204020204" pitchFamily="34" charset="-122"/>
                  </a:endParaRPr>
                </a:p>
                <a:p>
                  <a:pPr algn="ctr">
                    <a:spcAft>
                      <a:spcPts val="0"/>
                    </a:spcAft>
                    <a:buNone/>
                  </a:pPr>
                  <a14:m>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p>
              </p:txBody>
            </p:sp>
          </mc:Choice>
          <mc:Fallback xmlns="">
            <p:sp>
              <p:nvSpPr>
                <p:cNvPr id="28" name="Rectangle 8">
                  <a:extLst>
                    <a:ext uri="{FF2B5EF4-FFF2-40B4-BE49-F238E27FC236}">
                      <a16:creationId xmlns:a16="http://schemas.microsoft.com/office/drawing/2014/main" id="{D8996BA8-4E3A-B98B-2FF2-59CA7BBFF840}"/>
                    </a:ext>
                  </a:extLst>
                </p:cNvPr>
                <p:cNvSpPr>
                  <a:spLocks noRot="1" noChangeAspect="1" noMove="1" noResize="1" noEditPoints="1" noAdjustHandles="1" noChangeArrowheads="1" noChangeShapeType="1" noTextEdit="1"/>
                </p:cNvSpPr>
                <p:nvPr/>
              </p:nvSpPr>
              <p:spPr bwMode="auto">
                <a:xfrm>
                  <a:off x="864000" y="2808000"/>
                  <a:ext cx="360000" cy="1080000"/>
                </a:xfrm>
                <a:prstGeom prst="rect">
                  <a:avLst/>
                </a:prstGeom>
                <a:blipFill>
                  <a:blip r:embed="rId5"/>
                  <a:stretch>
                    <a:fillRect r="-169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29" name="直接连接符 28">
              <a:extLst>
                <a:ext uri="{FF2B5EF4-FFF2-40B4-BE49-F238E27FC236}">
                  <a16:creationId xmlns:a16="http://schemas.microsoft.com/office/drawing/2014/main" id="{53B06F30-5ADC-163E-9504-389478C93CB3}"/>
                </a:ext>
              </a:extLst>
            </p:cNvPr>
            <p:cNvCxnSpPr>
              <a:cxnSpLocks/>
            </p:cNvCxnSpPr>
            <p:nvPr/>
          </p:nvCxnSpPr>
          <p:spPr>
            <a:xfrm flipH="1">
              <a:off x="2772000" y="3580541"/>
              <a:ext cx="43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B1A2D31E-56E4-3F99-4609-50B77635E57C}"/>
                </a:ext>
              </a:extLst>
            </p:cNvPr>
            <p:cNvCxnSpPr>
              <a:cxnSpLocks/>
            </p:cNvCxnSpPr>
            <p:nvPr/>
          </p:nvCxnSpPr>
          <p:spPr>
            <a:xfrm flipH="1">
              <a:off x="2880000" y="3690000"/>
              <a:ext cx="216000"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4C2CA980-3645-24EB-AD5C-A4B86920BA2E}"/>
                </a:ext>
              </a:extLst>
            </p:cNvPr>
            <p:cNvCxnSpPr>
              <a:cxnSpLocks/>
            </p:cNvCxnSpPr>
            <p:nvPr/>
          </p:nvCxnSpPr>
          <p:spPr>
            <a:xfrm>
              <a:off x="2988000" y="2484000"/>
              <a:ext cx="0" cy="108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Rectangle 8">
                  <a:extLst>
                    <a:ext uri="{FF2B5EF4-FFF2-40B4-BE49-F238E27FC236}">
                      <a16:creationId xmlns:a16="http://schemas.microsoft.com/office/drawing/2014/main" id="{D1068414-87D4-E224-8A69-F1172BC2ACE8}"/>
                    </a:ext>
                  </a:extLst>
                </p:cNvPr>
                <p:cNvSpPr>
                  <a:spLocks noChangeArrowheads="1"/>
                </p:cNvSpPr>
                <p:nvPr/>
              </p:nvSpPr>
              <p:spPr bwMode="auto">
                <a:xfrm>
                  <a:off x="2448000" y="2808000"/>
                  <a:ext cx="360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right"/>
                      </m:oMathParaPr>
                      <m:oMath xmlns:m="http://schemas.openxmlformats.org/officeDocument/2006/math">
                        <m:r>
                          <a:rPr kumimoji="1" lang="en-US" altLang="zh-CN" sz="2000" b="0" i="1" smtClean="0">
                            <a:solidFill>
                              <a:schemeClr val="tx1"/>
                            </a:solidFill>
                            <a:latin typeface="Cambria Math" panose="02040503050406030204" pitchFamily="18" charset="0"/>
                            <a:ea typeface="微软雅黑" panose="020B0503020204020204" pitchFamily="34" charset="-122"/>
                          </a:rPr>
                          <m:t>𝐷</m:t>
                        </m:r>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35" name="Rectangle 8">
                  <a:extLst>
                    <a:ext uri="{FF2B5EF4-FFF2-40B4-BE49-F238E27FC236}">
                      <a16:creationId xmlns:a16="http://schemas.microsoft.com/office/drawing/2014/main" id="{D1068414-87D4-E224-8A69-F1172BC2ACE8}"/>
                    </a:ext>
                  </a:extLst>
                </p:cNvPr>
                <p:cNvSpPr>
                  <a:spLocks noRot="1" noChangeAspect="1" noMove="1" noResize="1" noEditPoints="1" noAdjustHandles="1" noChangeArrowheads="1" noChangeShapeType="1" noTextEdit="1"/>
                </p:cNvSpPr>
                <p:nvPr/>
              </p:nvSpPr>
              <p:spPr bwMode="auto">
                <a:xfrm>
                  <a:off x="2448000" y="2808000"/>
                  <a:ext cx="360000" cy="432000"/>
                </a:xfrm>
                <a:prstGeom prst="rect">
                  <a:avLst/>
                </a:prstGeom>
                <a:blipFill>
                  <a:blip r:embed="rId6"/>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Rectangle 8">
                  <a:extLst>
                    <a:ext uri="{FF2B5EF4-FFF2-40B4-BE49-F238E27FC236}">
                      <a16:creationId xmlns:a16="http://schemas.microsoft.com/office/drawing/2014/main" id="{4538E56A-AAED-19EB-03F0-42B1A7B3516B}"/>
                    </a:ext>
                  </a:extLst>
                </p:cNvPr>
                <p:cNvSpPr>
                  <a:spLocks noChangeArrowheads="1"/>
                </p:cNvSpPr>
                <p:nvPr/>
              </p:nvSpPr>
              <p:spPr bwMode="auto">
                <a:xfrm>
                  <a:off x="2160000" y="3420000"/>
                  <a:ext cx="648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right"/>
                      </m:oMathParaPr>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𝑉</m:t>
                            </m:r>
                          </m:e>
                          <m:sub>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REF</m:t>
                            </m:r>
                          </m:sub>
                        </m:sSub>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36" name="Rectangle 8">
                  <a:extLst>
                    <a:ext uri="{FF2B5EF4-FFF2-40B4-BE49-F238E27FC236}">
                      <a16:creationId xmlns:a16="http://schemas.microsoft.com/office/drawing/2014/main" id="{4538E56A-AAED-19EB-03F0-42B1A7B3516B}"/>
                    </a:ext>
                  </a:extLst>
                </p:cNvPr>
                <p:cNvSpPr>
                  <a:spLocks noRot="1" noChangeAspect="1" noMove="1" noResize="1" noEditPoints="1" noAdjustHandles="1" noChangeArrowheads="1" noChangeShapeType="1" noTextEdit="1"/>
                </p:cNvSpPr>
                <p:nvPr/>
              </p:nvSpPr>
              <p:spPr bwMode="auto">
                <a:xfrm>
                  <a:off x="2160000" y="3420000"/>
                  <a:ext cx="648000" cy="432000"/>
                </a:xfrm>
                <a:prstGeom prst="rect">
                  <a:avLst/>
                </a:prstGeom>
                <a:blipFill>
                  <a:blip r:embed="rId7"/>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21" name="组合 20">
              <a:extLst>
                <a:ext uri="{FF2B5EF4-FFF2-40B4-BE49-F238E27FC236}">
                  <a16:creationId xmlns:a16="http://schemas.microsoft.com/office/drawing/2014/main" id="{4C318C25-CD3C-B4BF-3E3A-C3684C71EDD5}"/>
                </a:ext>
              </a:extLst>
            </p:cNvPr>
            <p:cNvGrpSpPr/>
            <p:nvPr/>
          </p:nvGrpSpPr>
          <p:grpSpPr>
            <a:xfrm rot="5400000">
              <a:off x="2844000" y="2808000"/>
              <a:ext cx="288000" cy="432000"/>
              <a:chOff x="1843417" y="3048408"/>
              <a:chExt cx="288000" cy="432000"/>
            </a:xfrm>
          </p:grpSpPr>
          <p:sp>
            <p:nvSpPr>
              <p:cNvPr id="2" name="等腰三角形 1">
                <a:extLst>
                  <a:ext uri="{FF2B5EF4-FFF2-40B4-BE49-F238E27FC236}">
                    <a16:creationId xmlns:a16="http://schemas.microsoft.com/office/drawing/2014/main" id="{0707C607-154B-B9FF-6DF9-B32A689DFAAF}"/>
                  </a:ext>
                </a:extLst>
              </p:cNvPr>
              <p:cNvSpPr/>
              <p:nvPr/>
            </p:nvSpPr>
            <p:spPr>
              <a:xfrm rot="5400000">
                <a:off x="1789417" y="3120409"/>
                <a:ext cx="396000" cy="288000"/>
              </a:xfrm>
              <a:prstGeom prst="triangl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cxnSp>
            <p:nvCxnSpPr>
              <p:cNvPr id="9" name="直接连接符 8">
                <a:extLst>
                  <a:ext uri="{FF2B5EF4-FFF2-40B4-BE49-F238E27FC236}">
                    <a16:creationId xmlns:a16="http://schemas.microsoft.com/office/drawing/2014/main" id="{47828A67-C270-A1DE-2609-67BD32C51441}"/>
                  </a:ext>
                </a:extLst>
              </p:cNvPr>
              <p:cNvCxnSpPr>
                <a:cxnSpLocks/>
              </p:cNvCxnSpPr>
              <p:nvPr/>
            </p:nvCxnSpPr>
            <p:spPr>
              <a:xfrm>
                <a:off x="2131417" y="3048408"/>
                <a:ext cx="0" cy="432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52" name="组合 151">
            <a:extLst>
              <a:ext uri="{FF2B5EF4-FFF2-40B4-BE49-F238E27FC236}">
                <a16:creationId xmlns:a16="http://schemas.microsoft.com/office/drawing/2014/main" id="{03906005-E815-974D-EE7E-9ACAA038F733}"/>
              </a:ext>
            </a:extLst>
          </p:cNvPr>
          <p:cNvGrpSpPr/>
          <p:nvPr/>
        </p:nvGrpSpPr>
        <p:grpSpPr>
          <a:xfrm>
            <a:off x="5148000" y="1908000"/>
            <a:ext cx="6264000" cy="4536000"/>
            <a:chOff x="4860000" y="1908000"/>
            <a:chExt cx="6264000" cy="4536000"/>
          </a:xfrm>
        </p:grpSpPr>
        <mc:AlternateContent xmlns:mc="http://schemas.openxmlformats.org/markup-compatibility/2006" xmlns:a14="http://schemas.microsoft.com/office/drawing/2010/main">
          <mc:Choice Requires="a14">
            <p:sp>
              <p:nvSpPr>
                <p:cNvPr id="38" name="Text Box 8">
                  <a:extLst>
                    <a:ext uri="{FF2B5EF4-FFF2-40B4-BE49-F238E27FC236}">
                      <a16:creationId xmlns:a16="http://schemas.microsoft.com/office/drawing/2014/main" id="{880B70B0-DD14-6CC6-1CA4-6B296CB86879}"/>
                    </a:ext>
                  </a:extLst>
                </p:cNvPr>
                <p:cNvSpPr txBox="1">
                  <a:spLocks noChangeArrowheads="1"/>
                </p:cNvSpPr>
                <p:nvPr/>
              </p:nvSpPr>
              <p:spPr bwMode="auto">
                <a:xfrm>
                  <a:off x="5039999" y="1908000"/>
                  <a:ext cx="576000" cy="540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ea typeface="微软雅黑" panose="020B0503020204020204" pitchFamily="34" charset="-122"/>
                              </a:rPr>
                            </m:ctrlPr>
                          </m:sSubPr>
                          <m:e>
                            <m:r>
                              <a:rPr kumimoji="1" lang="en-US" altLang="zh-CN" sz="2400" b="0" i="1" smtClean="0">
                                <a:latin typeface="Cambria Math" panose="02040503050406030204" pitchFamily="18" charset="0"/>
                                <a:ea typeface="微软雅黑" panose="020B0503020204020204" pitchFamily="34" charset="-122"/>
                              </a:rPr>
                              <m:t>𝑣</m:t>
                            </m:r>
                          </m:e>
                          <m:sub>
                            <m:r>
                              <m:rPr>
                                <m:sty m:val="p"/>
                              </m:rPr>
                              <a:rPr kumimoji="1" lang="en-US" altLang="zh-CN" sz="2400" b="0" i="0" smtClean="0">
                                <a:latin typeface="Cambria Math" panose="02040503050406030204" pitchFamily="18" charset="0"/>
                                <a:ea typeface="微软雅黑" panose="020B0503020204020204" pitchFamily="34" charset="-122"/>
                              </a:rPr>
                              <m:t>I</m:t>
                            </m:r>
                          </m:sub>
                        </m:sSub>
                      </m:oMath>
                    </m:oMathPara>
                  </a14:m>
                  <a:endParaRPr kumimoji="1" lang="en-US" altLang="zh-CN" sz="2400" i="1" dirty="0">
                    <a:ea typeface="楷体_GB2312" pitchFamily="49" charset="-122"/>
                  </a:endParaRPr>
                </a:p>
              </p:txBody>
            </p:sp>
          </mc:Choice>
          <mc:Fallback xmlns="">
            <p:sp>
              <p:nvSpPr>
                <p:cNvPr id="38" name="Text Box 8">
                  <a:extLst>
                    <a:ext uri="{FF2B5EF4-FFF2-40B4-BE49-F238E27FC236}">
                      <a16:creationId xmlns:a16="http://schemas.microsoft.com/office/drawing/2014/main" id="{880B70B0-DD14-6CC6-1CA4-6B296CB86879}"/>
                    </a:ext>
                  </a:extLst>
                </p:cNvPr>
                <p:cNvSpPr txBox="1">
                  <a:spLocks noRot="1" noChangeAspect="1" noMove="1" noResize="1" noEditPoints="1" noAdjustHandles="1" noChangeArrowheads="1" noChangeShapeType="1" noTextEdit="1"/>
                </p:cNvSpPr>
                <p:nvPr/>
              </p:nvSpPr>
              <p:spPr bwMode="auto">
                <a:xfrm>
                  <a:off x="5039999" y="1908000"/>
                  <a:ext cx="576000" cy="540000"/>
                </a:xfrm>
                <a:prstGeom prst="rect">
                  <a:avLst/>
                </a:prstGeom>
                <a:blipFill>
                  <a:blip r:embed="rId8"/>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p:cxnSp>
          <p:nvCxnSpPr>
            <p:cNvPr id="34" name="直接连接符 33">
              <a:extLst>
                <a:ext uri="{FF2B5EF4-FFF2-40B4-BE49-F238E27FC236}">
                  <a16:creationId xmlns:a16="http://schemas.microsoft.com/office/drawing/2014/main" id="{11DA4E44-0E8A-52C3-9735-E0EADF9EF4BD}"/>
                </a:ext>
              </a:extLst>
            </p:cNvPr>
            <p:cNvCxnSpPr>
              <a:cxnSpLocks/>
            </p:cNvCxnSpPr>
            <p:nvPr/>
          </p:nvCxnSpPr>
          <p:spPr>
            <a:xfrm>
              <a:off x="5040000" y="3456000"/>
              <a:ext cx="5472000" cy="0"/>
            </a:xfrm>
            <a:prstGeom prst="line">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AE03FFB-7517-8E39-5590-1D7828B807A9}"/>
                </a:ext>
              </a:extLst>
            </p:cNvPr>
            <p:cNvCxnSpPr>
              <a:cxnSpLocks/>
            </p:cNvCxnSpPr>
            <p:nvPr/>
          </p:nvCxnSpPr>
          <p:spPr>
            <a:xfrm flipV="1">
              <a:off x="5472000" y="2304000"/>
              <a:ext cx="0" cy="1872000"/>
            </a:xfrm>
            <a:prstGeom prst="line">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Text Box 8">
                  <a:extLst>
                    <a:ext uri="{FF2B5EF4-FFF2-40B4-BE49-F238E27FC236}">
                      <a16:creationId xmlns:a16="http://schemas.microsoft.com/office/drawing/2014/main" id="{A2D5E522-D587-B1B4-41E3-D8BE1131ADEA}"/>
                    </a:ext>
                  </a:extLst>
                </p:cNvPr>
                <p:cNvSpPr txBox="1">
                  <a:spLocks noChangeArrowheads="1"/>
                </p:cNvSpPr>
                <p:nvPr/>
              </p:nvSpPr>
              <p:spPr bwMode="auto">
                <a:xfrm>
                  <a:off x="10548000" y="3168000"/>
                  <a:ext cx="576000" cy="540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r>
                          <a:rPr kumimoji="1" lang="zh-CN" altLang="en-US" sz="2400" b="0" i="1" smtClean="0">
                            <a:latin typeface="Cambria Math" panose="02040503050406030204" pitchFamily="18" charset="0"/>
                            <a:ea typeface="微软雅黑" panose="020B0503020204020204" pitchFamily="34" charset="-122"/>
                          </a:rPr>
                          <m:t>𝜔</m:t>
                        </m:r>
                        <m:r>
                          <a:rPr kumimoji="1" lang="en-US" altLang="zh-CN" sz="2400" b="0" i="1" smtClean="0">
                            <a:latin typeface="Cambria Math" panose="02040503050406030204" pitchFamily="18" charset="0"/>
                            <a:ea typeface="微软雅黑" panose="020B0503020204020204" pitchFamily="34" charset="-122"/>
                          </a:rPr>
                          <m:t>𝑡</m:t>
                        </m:r>
                      </m:oMath>
                    </m:oMathPara>
                  </a14:m>
                  <a:endParaRPr kumimoji="1" lang="en-US" altLang="zh-CN" sz="2400" i="1" dirty="0">
                    <a:ea typeface="楷体_GB2312" pitchFamily="49" charset="-122"/>
                  </a:endParaRPr>
                </a:p>
              </p:txBody>
            </p:sp>
          </mc:Choice>
          <mc:Fallback xmlns="">
            <p:sp>
              <p:nvSpPr>
                <p:cNvPr id="40" name="Text Box 8">
                  <a:extLst>
                    <a:ext uri="{FF2B5EF4-FFF2-40B4-BE49-F238E27FC236}">
                      <a16:creationId xmlns:a16="http://schemas.microsoft.com/office/drawing/2014/main" id="{A2D5E522-D587-B1B4-41E3-D8BE1131ADEA}"/>
                    </a:ext>
                  </a:extLst>
                </p:cNvPr>
                <p:cNvSpPr txBox="1">
                  <a:spLocks noRot="1" noChangeAspect="1" noMove="1" noResize="1" noEditPoints="1" noAdjustHandles="1" noChangeArrowheads="1" noChangeShapeType="1" noTextEdit="1"/>
                </p:cNvSpPr>
                <p:nvPr/>
              </p:nvSpPr>
              <p:spPr bwMode="auto">
                <a:xfrm>
                  <a:off x="10548000" y="3168000"/>
                  <a:ext cx="576000" cy="540000"/>
                </a:xfrm>
                <a:prstGeom prst="rect">
                  <a:avLst/>
                </a:prstGeom>
                <a:blipFill>
                  <a:blip r:embed="rId9"/>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p:sp>
          <p:nvSpPr>
            <p:cNvPr id="53" name="文本框 52">
              <a:extLst>
                <a:ext uri="{FF2B5EF4-FFF2-40B4-BE49-F238E27FC236}">
                  <a16:creationId xmlns:a16="http://schemas.microsoft.com/office/drawing/2014/main" id="{081A8D3C-4E54-84F7-402F-4BF0A39CDA68}"/>
                </a:ext>
              </a:extLst>
            </p:cNvPr>
            <p:cNvSpPr txBox="1"/>
            <p:nvPr/>
          </p:nvSpPr>
          <p:spPr>
            <a:xfrm>
              <a:off x="5040000" y="3456000"/>
              <a:ext cx="576000" cy="540000"/>
            </a:xfrm>
            <a:prstGeom prst="rect">
              <a:avLst/>
            </a:prstGeom>
            <a:noFill/>
          </p:spPr>
          <p:txBody>
            <a:bodyPr wrap="square">
              <a:spAutoFit/>
            </a:bodyPr>
            <a:lstStyle/>
            <a:p>
              <a:pPr algn="ctr"/>
              <a:r>
                <a:rPr kumimoji="1" lang="en-US" altLang="zh-CN" sz="2400" b="0" dirty="0">
                  <a:latin typeface="微软雅黑" panose="020B0503020204020204" pitchFamily="34" charset="-122"/>
                  <a:ea typeface="微软雅黑" panose="020B0503020204020204" pitchFamily="34" charset="-122"/>
                </a:rPr>
                <a:t>0</a:t>
              </a:r>
              <a:endParaRPr lang="zh-CN" altLang="en-US" sz="2400" dirty="0"/>
            </a:p>
          </p:txBody>
        </p:sp>
        <p:sp>
          <p:nvSpPr>
            <p:cNvPr id="59" name="任意多边形: 形状 58">
              <a:extLst>
                <a:ext uri="{FF2B5EF4-FFF2-40B4-BE49-F238E27FC236}">
                  <a16:creationId xmlns:a16="http://schemas.microsoft.com/office/drawing/2014/main" id="{666E2076-01EE-57E8-C983-A51F64771B36}"/>
                </a:ext>
              </a:extLst>
            </p:cNvPr>
            <p:cNvSpPr/>
            <p:nvPr/>
          </p:nvSpPr>
          <p:spPr>
            <a:xfrm>
              <a:off x="5472000" y="2700000"/>
              <a:ext cx="1440000" cy="756000"/>
            </a:xfrm>
            <a:custGeom>
              <a:avLst/>
              <a:gdLst>
                <a:gd name="connsiteX0" fmla="*/ 0 w 2110333"/>
                <a:gd name="connsiteY0" fmla="*/ 1298309 h 1298309"/>
                <a:gd name="connsiteX1" fmla="*/ 1056330 w 2110333"/>
                <a:gd name="connsiteY1" fmla="*/ 0 h 1298309"/>
                <a:gd name="connsiteX2" fmla="*/ 2110333 w 2110333"/>
                <a:gd name="connsiteY2" fmla="*/ 1295982 h 1298309"/>
              </a:gdLst>
              <a:ahLst/>
              <a:cxnLst>
                <a:cxn ang="0">
                  <a:pos x="connsiteX0" y="connsiteY0"/>
                </a:cxn>
                <a:cxn ang="0">
                  <a:pos x="connsiteX1" y="connsiteY1"/>
                </a:cxn>
                <a:cxn ang="0">
                  <a:pos x="connsiteX2" y="connsiteY2"/>
                </a:cxn>
              </a:cxnLst>
              <a:rect l="l" t="t" r="r" b="b"/>
              <a:pathLst>
                <a:path w="2110333" h="1298309">
                  <a:moveTo>
                    <a:pt x="0" y="1298309"/>
                  </a:moveTo>
                  <a:cubicBezTo>
                    <a:pt x="352304" y="649348"/>
                    <a:pt x="704608" y="388"/>
                    <a:pt x="1056330" y="0"/>
                  </a:cubicBezTo>
                  <a:cubicBezTo>
                    <a:pt x="1408052" y="-388"/>
                    <a:pt x="1759192" y="647797"/>
                    <a:pt x="2110333" y="1295982"/>
                  </a:cubicBezTo>
                </a:path>
              </a:pathLst>
            </a:cu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任意多边形: 形状 59">
              <a:extLst>
                <a:ext uri="{FF2B5EF4-FFF2-40B4-BE49-F238E27FC236}">
                  <a16:creationId xmlns:a16="http://schemas.microsoft.com/office/drawing/2014/main" id="{993820C7-D9F3-3367-8E7C-0C437674E47C}"/>
                </a:ext>
              </a:extLst>
            </p:cNvPr>
            <p:cNvSpPr/>
            <p:nvPr/>
          </p:nvSpPr>
          <p:spPr>
            <a:xfrm flipV="1">
              <a:off x="6912000" y="3456000"/>
              <a:ext cx="1440000" cy="756000"/>
            </a:xfrm>
            <a:custGeom>
              <a:avLst/>
              <a:gdLst>
                <a:gd name="connsiteX0" fmla="*/ 0 w 2110333"/>
                <a:gd name="connsiteY0" fmla="*/ 1298309 h 1298309"/>
                <a:gd name="connsiteX1" fmla="*/ 1056330 w 2110333"/>
                <a:gd name="connsiteY1" fmla="*/ 0 h 1298309"/>
                <a:gd name="connsiteX2" fmla="*/ 2110333 w 2110333"/>
                <a:gd name="connsiteY2" fmla="*/ 1295982 h 1298309"/>
              </a:gdLst>
              <a:ahLst/>
              <a:cxnLst>
                <a:cxn ang="0">
                  <a:pos x="connsiteX0" y="connsiteY0"/>
                </a:cxn>
                <a:cxn ang="0">
                  <a:pos x="connsiteX1" y="connsiteY1"/>
                </a:cxn>
                <a:cxn ang="0">
                  <a:pos x="connsiteX2" y="connsiteY2"/>
                </a:cxn>
              </a:cxnLst>
              <a:rect l="l" t="t" r="r" b="b"/>
              <a:pathLst>
                <a:path w="2110333" h="1298309">
                  <a:moveTo>
                    <a:pt x="0" y="1298309"/>
                  </a:moveTo>
                  <a:cubicBezTo>
                    <a:pt x="352304" y="649348"/>
                    <a:pt x="704608" y="388"/>
                    <a:pt x="1056330" y="0"/>
                  </a:cubicBezTo>
                  <a:cubicBezTo>
                    <a:pt x="1408052" y="-388"/>
                    <a:pt x="1759192" y="647797"/>
                    <a:pt x="2110333" y="1295982"/>
                  </a:cubicBezTo>
                </a:path>
              </a:pathLst>
            </a:cu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任意多边形: 形状 60">
              <a:extLst>
                <a:ext uri="{FF2B5EF4-FFF2-40B4-BE49-F238E27FC236}">
                  <a16:creationId xmlns:a16="http://schemas.microsoft.com/office/drawing/2014/main" id="{6B9C7601-65A8-6267-FE99-E8E605197642}"/>
                </a:ext>
              </a:extLst>
            </p:cNvPr>
            <p:cNvSpPr/>
            <p:nvPr/>
          </p:nvSpPr>
          <p:spPr>
            <a:xfrm>
              <a:off x="8352000" y="2700000"/>
              <a:ext cx="1440000" cy="756000"/>
            </a:xfrm>
            <a:custGeom>
              <a:avLst/>
              <a:gdLst>
                <a:gd name="connsiteX0" fmla="*/ 0 w 2110333"/>
                <a:gd name="connsiteY0" fmla="*/ 1298309 h 1298309"/>
                <a:gd name="connsiteX1" fmla="*/ 1056330 w 2110333"/>
                <a:gd name="connsiteY1" fmla="*/ 0 h 1298309"/>
                <a:gd name="connsiteX2" fmla="*/ 2110333 w 2110333"/>
                <a:gd name="connsiteY2" fmla="*/ 1295982 h 1298309"/>
              </a:gdLst>
              <a:ahLst/>
              <a:cxnLst>
                <a:cxn ang="0">
                  <a:pos x="connsiteX0" y="connsiteY0"/>
                </a:cxn>
                <a:cxn ang="0">
                  <a:pos x="connsiteX1" y="connsiteY1"/>
                </a:cxn>
                <a:cxn ang="0">
                  <a:pos x="connsiteX2" y="connsiteY2"/>
                </a:cxn>
              </a:cxnLst>
              <a:rect l="l" t="t" r="r" b="b"/>
              <a:pathLst>
                <a:path w="2110333" h="1298309">
                  <a:moveTo>
                    <a:pt x="0" y="1298309"/>
                  </a:moveTo>
                  <a:cubicBezTo>
                    <a:pt x="352304" y="649348"/>
                    <a:pt x="704608" y="388"/>
                    <a:pt x="1056330" y="0"/>
                  </a:cubicBezTo>
                  <a:cubicBezTo>
                    <a:pt x="1408052" y="-388"/>
                    <a:pt x="1759192" y="647797"/>
                    <a:pt x="2110333" y="1295982"/>
                  </a:cubicBezTo>
                </a:path>
              </a:pathLst>
            </a:cu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5" name="Text Box 8">
                  <a:extLst>
                    <a:ext uri="{FF2B5EF4-FFF2-40B4-BE49-F238E27FC236}">
                      <a16:creationId xmlns:a16="http://schemas.microsoft.com/office/drawing/2014/main" id="{AFD13B31-D648-AE29-AEC8-BFE7648896A8}"/>
                    </a:ext>
                  </a:extLst>
                </p:cNvPr>
                <p:cNvSpPr txBox="1">
                  <a:spLocks noChangeArrowheads="1"/>
                </p:cNvSpPr>
                <p:nvPr/>
              </p:nvSpPr>
              <p:spPr bwMode="auto">
                <a:xfrm>
                  <a:off x="6588000" y="3348000"/>
                  <a:ext cx="576000" cy="540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r>
                          <a:rPr kumimoji="1" lang="zh-CN" altLang="en-US" sz="2400" b="0" i="1" smtClean="0">
                            <a:latin typeface="Cambria Math" panose="02040503050406030204" pitchFamily="18" charset="0"/>
                            <a:ea typeface="微软雅黑" panose="020B0503020204020204" pitchFamily="34" charset="-122"/>
                          </a:rPr>
                          <m:t>𝜋</m:t>
                        </m:r>
                      </m:oMath>
                    </m:oMathPara>
                  </a14:m>
                  <a:endParaRPr kumimoji="1" lang="en-US" altLang="zh-CN" sz="2400" i="1" dirty="0">
                    <a:ea typeface="楷体_GB2312" pitchFamily="49" charset="-122"/>
                  </a:endParaRPr>
                </a:p>
              </p:txBody>
            </p:sp>
          </mc:Choice>
          <mc:Fallback xmlns="">
            <p:sp>
              <p:nvSpPr>
                <p:cNvPr id="55" name="Text Box 8">
                  <a:extLst>
                    <a:ext uri="{FF2B5EF4-FFF2-40B4-BE49-F238E27FC236}">
                      <a16:creationId xmlns:a16="http://schemas.microsoft.com/office/drawing/2014/main" id="{AFD13B31-D648-AE29-AEC8-BFE7648896A8}"/>
                    </a:ext>
                  </a:extLst>
                </p:cNvPr>
                <p:cNvSpPr txBox="1">
                  <a:spLocks noRot="1" noChangeAspect="1" noMove="1" noResize="1" noEditPoints="1" noAdjustHandles="1" noChangeArrowheads="1" noChangeShapeType="1" noTextEdit="1"/>
                </p:cNvSpPr>
                <p:nvPr/>
              </p:nvSpPr>
              <p:spPr bwMode="auto">
                <a:xfrm>
                  <a:off x="6588000" y="3348000"/>
                  <a:ext cx="576000" cy="540000"/>
                </a:xfrm>
                <a:prstGeom prst="rect">
                  <a:avLst/>
                </a:prstGeom>
                <a:blipFill>
                  <a:blip r:embed="rId10"/>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6" name="Text Box 8">
                  <a:extLst>
                    <a:ext uri="{FF2B5EF4-FFF2-40B4-BE49-F238E27FC236}">
                      <a16:creationId xmlns:a16="http://schemas.microsoft.com/office/drawing/2014/main" id="{B5FACB6D-4992-745D-9699-70C3D633B5D0}"/>
                    </a:ext>
                  </a:extLst>
                </p:cNvPr>
                <p:cNvSpPr txBox="1">
                  <a:spLocks noChangeArrowheads="1"/>
                </p:cNvSpPr>
                <p:nvPr/>
              </p:nvSpPr>
              <p:spPr bwMode="auto">
                <a:xfrm>
                  <a:off x="8226000" y="3348000"/>
                  <a:ext cx="576000" cy="540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r>
                          <a:rPr kumimoji="1" lang="en-US" altLang="zh-CN" sz="2400" b="0" i="1">
                            <a:latin typeface="Cambria Math" panose="02040503050406030204" pitchFamily="18" charset="0"/>
                            <a:ea typeface="微软雅黑" panose="020B0503020204020204" pitchFamily="34" charset="-122"/>
                          </a:rPr>
                          <m:t>2</m:t>
                        </m:r>
                        <m:r>
                          <a:rPr kumimoji="1" lang="zh-CN" altLang="en-US" sz="2400" b="0" i="1" smtClean="0">
                            <a:latin typeface="Cambria Math" panose="02040503050406030204" pitchFamily="18" charset="0"/>
                            <a:ea typeface="微软雅黑" panose="020B0503020204020204" pitchFamily="34" charset="-122"/>
                          </a:rPr>
                          <m:t>𝜋</m:t>
                        </m:r>
                      </m:oMath>
                    </m:oMathPara>
                  </a14:m>
                  <a:endParaRPr kumimoji="1" lang="en-US" altLang="zh-CN" sz="2400" i="1" dirty="0">
                    <a:ea typeface="楷体_GB2312" pitchFamily="49" charset="-122"/>
                  </a:endParaRPr>
                </a:p>
              </p:txBody>
            </p:sp>
          </mc:Choice>
          <mc:Fallback xmlns="">
            <p:sp>
              <p:nvSpPr>
                <p:cNvPr id="56" name="Text Box 8">
                  <a:extLst>
                    <a:ext uri="{FF2B5EF4-FFF2-40B4-BE49-F238E27FC236}">
                      <a16:creationId xmlns:a16="http://schemas.microsoft.com/office/drawing/2014/main" id="{B5FACB6D-4992-745D-9699-70C3D633B5D0}"/>
                    </a:ext>
                  </a:extLst>
                </p:cNvPr>
                <p:cNvSpPr txBox="1">
                  <a:spLocks noRot="1" noChangeAspect="1" noMove="1" noResize="1" noEditPoints="1" noAdjustHandles="1" noChangeArrowheads="1" noChangeShapeType="1" noTextEdit="1"/>
                </p:cNvSpPr>
                <p:nvPr/>
              </p:nvSpPr>
              <p:spPr bwMode="auto">
                <a:xfrm>
                  <a:off x="8226000" y="3348000"/>
                  <a:ext cx="576000" cy="540000"/>
                </a:xfrm>
                <a:prstGeom prst="rect">
                  <a:avLst/>
                </a:prstGeom>
                <a:blipFill>
                  <a:blip r:embed="rId11"/>
                  <a:stretch>
                    <a:fillRect l="-6383"/>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7" name="Text Box 8">
                  <a:extLst>
                    <a:ext uri="{FF2B5EF4-FFF2-40B4-BE49-F238E27FC236}">
                      <a16:creationId xmlns:a16="http://schemas.microsoft.com/office/drawing/2014/main" id="{6FC72A2F-FE6E-B0FC-A859-CE0DDB0CA33B}"/>
                    </a:ext>
                  </a:extLst>
                </p:cNvPr>
                <p:cNvSpPr txBox="1">
                  <a:spLocks noChangeArrowheads="1"/>
                </p:cNvSpPr>
                <p:nvPr/>
              </p:nvSpPr>
              <p:spPr bwMode="auto">
                <a:xfrm>
                  <a:off x="9684000" y="3348000"/>
                  <a:ext cx="576000" cy="540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r>
                          <a:rPr kumimoji="1" lang="en-US" altLang="zh-CN" sz="2400" b="0" i="1" smtClean="0">
                            <a:latin typeface="Cambria Math" panose="02040503050406030204" pitchFamily="18" charset="0"/>
                            <a:ea typeface="微软雅黑" panose="020B0503020204020204" pitchFamily="34" charset="-122"/>
                          </a:rPr>
                          <m:t>3</m:t>
                        </m:r>
                        <m:r>
                          <a:rPr kumimoji="1" lang="zh-CN" altLang="en-US" sz="2400" b="0" i="1" smtClean="0">
                            <a:latin typeface="Cambria Math" panose="02040503050406030204" pitchFamily="18" charset="0"/>
                            <a:ea typeface="微软雅黑" panose="020B0503020204020204" pitchFamily="34" charset="-122"/>
                          </a:rPr>
                          <m:t>𝜋</m:t>
                        </m:r>
                      </m:oMath>
                    </m:oMathPara>
                  </a14:m>
                  <a:endParaRPr kumimoji="1" lang="en-US" altLang="zh-CN" sz="2400" i="1" dirty="0">
                    <a:ea typeface="楷体_GB2312" pitchFamily="49" charset="-122"/>
                  </a:endParaRPr>
                </a:p>
              </p:txBody>
            </p:sp>
          </mc:Choice>
          <mc:Fallback xmlns="">
            <p:sp>
              <p:nvSpPr>
                <p:cNvPr id="57" name="Text Box 8">
                  <a:extLst>
                    <a:ext uri="{FF2B5EF4-FFF2-40B4-BE49-F238E27FC236}">
                      <a16:creationId xmlns:a16="http://schemas.microsoft.com/office/drawing/2014/main" id="{6FC72A2F-FE6E-B0FC-A859-CE0DDB0CA33B}"/>
                    </a:ext>
                  </a:extLst>
                </p:cNvPr>
                <p:cNvSpPr txBox="1">
                  <a:spLocks noRot="1" noChangeAspect="1" noMove="1" noResize="1" noEditPoints="1" noAdjustHandles="1" noChangeArrowheads="1" noChangeShapeType="1" noTextEdit="1"/>
                </p:cNvSpPr>
                <p:nvPr/>
              </p:nvSpPr>
              <p:spPr bwMode="auto">
                <a:xfrm>
                  <a:off x="9684000" y="3348000"/>
                  <a:ext cx="576000" cy="540000"/>
                </a:xfrm>
                <a:prstGeom prst="rect">
                  <a:avLst/>
                </a:prstGeom>
                <a:blipFill>
                  <a:blip r:embed="rId12"/>
                  <a:stretch>
                    <a:fillRect l="-6383"/>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p:cxnSp>
          <p:nvCxnSpPr>
            <p:cNvPr id="63" name="直接连接符 62">
              <a:extLst>
                <a:ext uri="{FF2B5EF4-FFF2-40B4-BE49-F238E27FC236}">
                  <a16:creationId xmlns:a16="http://schemas.microsoft.com/office/drawing/2014/main" id="{196EA42D-4F09-6CDB-71E7-283108883035}"/>
                </a:ext>
              </a:extLst>
            </p:cNvPr>
            <p:cNvCxnSpPr>
              <a:cxnSpLocks/>
            </p:cNvCxnSpPr>
            <p:nvPr/>
          </p:nvCxnSpPr>
          <p:spPr>
            <a:xfrm>
              <a:off x="5472000" y="2700000"/>
              <a:ext cx="720000" cy="0"/>
            </a:xfrm>
            <a:prstGeom prst="line">
              <a:avLst/>
            </a:prstGeom>
            <a:ln w="25400">
              <a:solidFill>
                <a:schemeClr val="accent5">
                  <a:lumMod val="75000"/>
                </a:schemeClr>
              </a:solidFill>
              <a:prstDash val="sysDot"/>
              <a:tailEnd type="none" w="med" len="lg"/>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8232D2B6-FDDB-9984-5676-2B6F90F1D7E6}"/>
                </a:ext>
              </a:extLst>
            </p:cNvPr>
            <p:cNvCxnSpPr>
              <a:cxnSpLocks/>
            </p:cNvCxnSpPr>
            <p:nvPr/>
          </p:nvCxnSpPr>
          <p:spPr>
            <a:xfrm>
              <a:off x="5472000" y="2988000"/>
              <a:ext cx="4680000" cy="0"/>
            </a:xfrm>
            <a:prstGeom prst="line">
              <a:avLst/>
            </a:prstGeom>
            <a:ln w="25400">
              <a:solidFill>
                <a:schemeClr val="accent5">
                  <a:lumMod val="75000"/>
                </a:schemeClr>
              </a:solidFill>
              <a:prstDash val="sysDot"/>
              <a:tailEnd type="non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9" name="Rectangle 8">
                  <a:extLst>
                    <a:ext uri="{FF2B5EF4-FFF2-40B4-BE49-F238E27FC236}">
                      <a16:creationId xmlns:a16="http://schemas.microsoft.com/office/drawing/2014/main" id="{287FE309-CEA5-8600-F9AE-8E0FDF116B83}"/>
                    </a:ext>
                  </a:extLst>
                </p:cNvPr>
                <p:cNvSpPr>
                  <a:spLocks noChangeArrowheads="1"/>
                </p:cNvSpPr>
                <p:nvPr/>
              </p:nvSpPr>
              <p:spPr bwMode="auto">
                <a:xfrm>
                  <a:off x="5076000" y="2448000"/>
                  <a:ext cx="432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right"/>
                      </m:oMathParaPr>
                      <m:oMath xmlns:m="http://schemas.openxmlformats.org/officeDocument/2006/math">
                        <m:sSub>
                          <m:sSubPr>
                            <m:ctrlP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m</m:t>
                            </m:r>
                          </m:sub>
                        </m:sSub>
                      </m:oMath>
                    </m:oMathPara>
                  </a14:m>
                  <a:endParaRPr kumimoji="1" lang="zh-CN" altLang="en-US" sz="2000" b="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69" name="Rectangle 8">
                  <a:extLst>
                    <a:ext uri="{FF2B5EF4-FFF2-40B4-BE49-F238E27FC236}">
                      <a16:creationId xmlns:a16="http://schemas.microsoft.com/office/drawing/2014/main" id="{287FE309-CEA5-8600-F9AE-8E0FDF116B83}"/>
                    </a:ext>
                  </a:extLst>
                </p:cNvPr>
                <p:cNvSpPr>
                  <a:spLocks noRot="1" noChangeAspect="1" noMove="1" noResize="1" noEditPoints="1" noAdjustHandles="1" noChangeArrowheads="1" noChangeShapeType="1" noTextEdit="1"/>
                </p:cNvSpPr>
                <p:nvPr/>
              </p:nvSpPr>
              <p:spPr bwMode="auto">
                <a:xfrm>
                  <a:off x="5076000" y="2448000"/>
                  <a:ext cx="432000" cy="432000"/>
                </a:xfrm>
                <a:prstGeom prst="rect">
                  <a:avLst/>
                </a:prstGeom>
                <a:blipFill>
                  <a:blip r:embed="rId13"/>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6" name="Rectangle 8">
                  <a:extLst>
                    <a:ext uri="{FF2B5EF4-FFF2-40B4-BE49-F238E27FC236}">
                      <a16:creationId xmlns:a16="http://schemas.microsoft.com/office/drawing/2014/main" id="{1ECBF5F0-26BC-BCDB-5ADE-3C51B372669B}"/>
                    </a:ext>
                  </a:extLst>
                </p:cNvPr>
                <p:cNvSpPr>
                  <a:spLocks noChangeArrowheads="1"/>
                </p:cNvSpPr>
                <p:nvPr/>
              </p:nvSpPr>
              <p:spPr bwMode="auto">
                <a:xfrm>
                  <a:off x="4860000" y="2772000"/>
                  <a:ext cx="648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right"/>
                      </m:oMathParaPr>
                      <m:oMath xmlns:m="http://schemas.openxmlformats.org/officeDocument/2006/math">
                        <m:sSub>
                          <m:sSubPr>
                            <m:ctrlP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REF</m:t>
                            </m:r>
                          </m:sub>
                        </m:sSub>
                      </m:oMath>
                    </m:oMathPara>
                  </a14:m>
                  <a:endParaRPr kumimoji="1" lang="zh-CN" altLang="en-US" sz="2000" b="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76" name="Rectangle 8">
                  <a:extLst>
                    <a:ext uri="{FF2B5EF4-FFF2-40B4-BE49-F238E27FC236}">
                      <a16:creationId xmlns:a16="http://schemas.microsoft.com/office/drawing/2014/main" id="{1ECBF5F0-26BC-BCDB-5ADE-3C51B372669B}"/>
                    </a:ext>
                  </a:extLst>
                </p:cNvPr>
                <p:cNvSpPr>
                  <a:spLocks noRot="1" noChangeAspect="1" noMove="1" noResize="1" noEditPoints="1" noAdjustHandles="1" noChangeArrowheads="1" noChangeShapeType="1" noTextEdit="1"/>
                </p:cNvSpPr>
                <p:nvPr/>
              </p:nvSpPr>
              <p:spPr bwMode="auto">
                <a:xfrm>
                  <a:off x="4860000" y="2772000"/>
                  <a:ext cx="648000" cy="432000"/>
                </a:xfrm>
                <a:prstGeom prst="rect">
                  <a:avLst/>
                </a:prstGeom>
                <a:blipFill>
                  <a:blip r:embed="rId14"/>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7" name="Text Box 8">
                  <a:extLst>
                    <a:ext uri="{FF2B5EF4-FFF2-40B4-BE49-F238E27FC236}">
                      <a16:creationId xmlns:a16="http://schemas.microsoft.com/office/drawing/2014/main" id="{4DD873D2-90D4-FE63-E591-8753614B89B4}"/>
                    </a:ext>
                  </a:extLst>
                </p:cNvPr>
                <p:cNvSpPr txBox="1">
                  <a:spLocks noChangeArrowheads="1"/>
                </p:cNvSpPr>
                <p:nvPr/>
              </p:nvSpPr>
              <p:spPr bwMode="auto">
                <a:xfrm>
                  <a:off x="5040000" y="4140000"/>
                  <a:ext cx="576000" cy="540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ea typeface="微软雅黑" panose="020B0503020204020204" pitchFamily="34" charset="-122"/>
                              </a:rPr>
                            </m:ctrlPr>
                          </m:sSubPr>
                          <m:e>
                            <m:r>
                              <a:rPr kumimoji="1" lang="en-US" altLang="zh-CN" sz="2400" b="0" i="1" smtClean="0">
                                <a:latin typeface="Cambria Math" panose="02040503050406030204" pitchFamily="18" charset="0"/>
                                <a:ea typeface="微软雅黑" panose="020B0503020204020204" pitchFamily="34" charset="-122"/>
                              </a:rPr>
                              <m:t>𝑣</m:t>
                            </m:r>
                          </m:e>
                          <m:sub>
                            <m:r>
                              <m:rPr>
                                <m:sty m:val="p"/>
                              </m:rPr>
                              <a:rPr kumimoji="1" lang="en-US" altLang="zh-CN" sz="2400" b="0" i="0" smtClean="0">
                                <a:latin typeface="Cambria Math" panose="02040503050406030204" pitchFamily="18" charset="0"/>
                                <a:ea typeface="微软雅黑" panose="020B0503020204020204" pitchFamily="34" charset="-122"/>
                              </a:rPr>
                              <m:t>O</m:t>
                            </m:r>
                          </m:sub>
                        </m:sSub>
                      </m:oMath>
                    </m:oMathPara>
                  </a14:m>
                  <a:endParaRPr kumimoji="1" lang="en-US" altLang="zh-CN" sz="2400" i="1" dirty="0">
                    <a:ea typeface="楷体_GB2312" pitchFamily="49" charset="-122"/>
                  </a:endParaRPr>
                </a:p>
              </p:txBody>
            </p:sp>
          </mc:Choice>
          <mc:Fallback xmlns="">
            <p:sp>
              <p:nvSpPr>
                <p:cNvPr id="127" name="Text Box 8">
                  <a:extLst>
                    <a:ext uri="{FF2B5EF4-FFF2-40B4-BE49-F238E27FC236}">
                      <a16:creationId xmlns:a16="http://schemas.microsoft.com/office/drawing/2014/main" id="{4DD873D2-90D4-FE63-E591-8753614B89B4}"/>
                    </a:ext>
                  </a:extLst>
                </p:cNvPr>
                <p:cNvSpPr txBox="1">
                  <a:spLocks noRot="1" noChangeAspect="1" noMove="1" noResize="1" noEditPoints="1" noAdjustHandles="1" noChangeArrowheads="1" noChangeShapeType="1" noTextEdit="1"/>
                </p:cNvSpPr>
                <p:nvPr/>
              </p:nvSpPr>
              <p:spPr bwMode="auto">
                <a:xfrm>
                  <a:off x="5040000" y="4140000"/>
                  <a:ext cx="576000" cy="540000"/>
                </a:xfrm>
                <a:prstGeom prst="rect">
                  <a:avLst/>
                </a:prstGeom>
                <a:blipFill>
                  <a:blip r:embed="rId15"/>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p:cxnSp>
          <p:nvCxnSpPr>
            <p:cNvPr id="128" name="直接连接符 127">
              <a:extLst>
                <a:ext uri="{FF2B5EF4-FFF2-40B4-BE49-F238E27FC236}">
                  <a16:creationId xmlns:a16="http://schemas.microsoft.com/office/drawing/2014/main" id="{2A62104B-0CA9-24A6-0B82-D2C44527008B}"/>
                </a:ext>
              </a:extLst>
            </p:cNvPr>
            <p:cNvCxnSpPr>
              <a:cxnSpLocks/>
            </p:cNvCxnSpPr>
            <p:nvPr/>
          </p:nvCxnSpPr>
          <p:spPr>
            <a:xfrm>
              <a:off x="5040000" y="5688000"/>
              <a:ext cx="5472000" cy="0"/>
            </a:xfrm>
            <a:prstGeom prst="line">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29" name="直接连接符 128">
              <a:extLst>
                <a:ext uri="{FF2B5EF4-FFF2-40B4-BE49-F238E27FC236}">
                  <a16:creationId xmlns:a16="http://schemas.microsoft.com/office/drawing/2014/main" id="{4595BB8C-09F7-BFE6-7515-59E8C8109AD4}"/>
                </a:ext>
              </a:extLst>
            </p:cNvPr>
            <p:cNvCxnSpPr>
              <a:cxnSpLocks/>
            </p:cNvCxnSpPr>
            <p:nvPr/>
          </p:nvCxnSpPr>
          <p:spPr>
            <a:xfrm flipV="1">
              <a:off x="5472000" y="4536000"/>
              <a:ext cx="0" cy="1872000"/>
            </a:xfrm>
            <a:prstGeom prst="line">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0" name="Text Box 8">
                  <a:extLst>
                    <a:ext uri="{FF2B5EF4-FFF2-40B4-BE49-F238E27FC236}">
                      <a16:creationId xmlns:a16="http://schemas.microsoft.com/office/drawing/2014/main" id="{59FF9E4A-2D0A-5F54-C43D-CAD66108C023}"/>
                    </a:ext>
                  </a:extLst>
                </p:cNvPr>
                <p:cNvSpPr txBox="1">
                  <a:spLocks noChangeArrowheads="1"/>
                </p:cNvSpPr>
                <p:nvPr/>
              </p:nvSpPr>
              <p:spPr bwMode="auto">
                <a:xfrm>
                  <a:off x="10548000" y="5400000"/>
                  <a:ext cx="576000" cy="540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r>
                          <a:rPr kumimoji="1" lang="zh-CN" altLang="en-US" sz="2400" b="0" i="1" smtClean="0">
                            <a:latin typeface="Cambria Math" panose="02040503050406030204" pitchFamily="18" charset="0"/>
                            <a:ea typeface="微软雅黑" panose="020B0503020204020204" pitchFamily="34" charset="-122"/>
                          </a:rPr>
                          <m:t>𝜔</m:t>
                        </m:r>
                        <m:r>
                          <a:rPr kumimoji="1" lang="en-US" altLang="zh-CN" sz="2400" b="0" i="1" smtClean="0">
                            <a:latin typeface="Cambria Math" panose="02040503050406030204" pitchFamily="18" charset="0"/>
                            <a:ea typeface="微软雅黑" panose="020B0503020204020204" pitchFamily="34" charset="-122"/>
                          </a:rPr>
                          <m:t>𝑡</m:t>
                        </m:r>
                      </m:oMath>
                    </m:oMathPara>
                  </a14:m>
                  <a:endParaRPr kumimoji="1" lang="en-US" altLang="zh-CN" sz="2400" i="1" dirty="0">
                    <a:ea typeface="楷体_GB2312" pitchFamily="49" charset="-122"/>
                  </a:endParaRPr>
                </a:p>
              </p:txBody>
            </p:sp>
          </mc:Choice>
          <mc:Fallback xmlns="">
            <p:sp>
              <p:nvSpPr>
                <p:cNvPr id="130" name="Text Box 8">
                  <a:extLst>
                    <a:ext uri="{FF2B5EF4-FFF2-40B4-BE49-F238E27FC236}">
                      <a16:creationId xmlns:a16="http://schemas.microsoft.com/office/drawing/2014/main" id="{59FF9E4A-2D0A-5F54-C43D-CAD66108C023}"/>
                    </a:ext>
                  </a:extLst>
                </p:cNvPr>
                <p:cNvSpPr txBox="1">
                  <a:spLocks noRot="1" noChangeAspect="1" noMove="1" noResize="1" noEditPoints="1" noAdjustHandles="1" noChangeArrowheads="1" noChangeShapeType="1" noTextEdit="1"/>
                </p:cNvSpPr>
                <p:nvPr/>
              </p:nvSpPr>
              <p:spPr bwMode="auto">
                <a:xfrm>
                  <a:off x="10548000" y="5400000"/>
                  <a:ext cx="576000" cy="540000"/>
                </a:xfrm>
                <a:prstGeom prst="rect">
                  <a:avLst/>
                </a:prstGeom>
                <a:blipFill>
                  <a:blip r:embed="rId16"/>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p:sp>
          <p:nvSpPr>
            <p:cNvPr id="131" name="文本框 130">
              <a:extLst>
                <a:ext uri="{FF2B5EF4-FFF2-40B4-BE49-F238E27FC236}">
                  <a16:creationId xmlns:a16="http://schemas.microsoft.com/office/drawing/2014/main" id="{F8B1743E-7384-716A-3179-E749098B618B}"/>
                </a:ext>
              </a:extLst>
            </p:cNvPr>
            <p:cNvSpPr txBox="1"/>
            <p:nvPr/>
          </p:nvSpPr>
          <p:spPr>
            <a:xfrm>
              <a:off x="5040000" y="5688000"/>
              <a:ext cx="576000" cy="540000"/>
            </a:xfrm>
            <a:prstGeom prst="rect">
              <a:avLst/>
            </a:prstGeom>
            <a:noFill/>
          </p:spPr>
          <p:txBody>
            <a:bodyPr wrap="square">
              <a:spAutoFit/>
            </a:bodyPr>
            <a:lstStyle/>
            <a:p>
              <a:pPr algn="ctr"/>
              <a:r>
                <a:rPr kumimoji="1" lang="en-US" altLang="zh-CN" sz="2400" b="0" dirty="0">
                  <a:latin typeface="微软雅黑" panose="020B0503020204020204" pitchFamily="34" charset="-122"/>
                  <a:ea typeface="微软雅黑" panose="020B0503020204020204" pitchFamily="34" charset="-122"/>
                </a:rPr>
                <a:t>0</a:t>
              </a:r>
              <a:endParaRPr lang="zh-CN" altLang="en-US" sz="2400" dirty="0"/>
            </a:p>
          </p:txBody>
        </p:sp>
        <p:sp>
          <p:nvSpPr>
            <p:cNvPr id="132" name="任意多边形: 形状 131">
              <a:extLst>
                <a:ext uri="{FF2B5EF4-FFF2-40B4-BE49-F238E27FC236}">
                  <a16:creationId xmlns:a16="http://schemas.microsoft.com/office/drawing/2014/main" id="{2889F091-78A8-33AC-1F87-A05671330067}"/>
                </a:ext>
              </a:extLst>
            </p:cNvPr>
            <p:cNvSpPr/>
            <p:nvPr/>
          </p:nvSpPr>
          <p:spPr>
            <a:xfrm>
              <a:off x="5472000" y="4932000"/>
              <a:ext cx="1440000" cy="756000"/>
            </a:xfrm>
            <a:custGeom>
              <a:avLst/>
              <a:gdLst>
                <a:gd name="connsiteX0" fmla="*/ 0 w 2110333"/>
                <a:gd name="connsiteY0" fmla="*/ 1298309 h 1298309"/>
                <a:gd name="connsiteX1" fmla="*/ 1056330 w 2110333"/>
                <a:gd name="connsiteY1" fmla="*/ 0 h 1298309"/>
                <a:gd name="connsiteX2" fmla="*/ 2110333 w 2110333"/>
                <a:gd name="connsiteY2" fmla="*/ 1295982 h 1298309"/>
              </a:gdLst>
              <a:ahLst/>
              <a:cxnLst>
                <a:cxn ang="0">
                  <a:pos x="connsiteX0" y="connsiteY0"/>
                </a:cxn>
                <a:cxn ang="0">
                  <a:pos x="connsiteX1" y="connsiteY1"/>
                </a:cxn>
                <a:cxn ang="0">
                  <a:pos x="connsiteX2" y="connsiteY2"/>
                </a:cxn>
              </a:cxnLst>
              <a:rect l="l" t="t" r="r" b="b"/>
              <a:pathLst>
                <a:path w="2110333" h="1298309">
                  <a:moveTo>
                    <a:pt x="0" y="1298309"/>
                  </a:moveTo>
                  <a:cubicBezTo>
                    <a:pt x="352304" y="649348"/>
                    <a:pt x="704608" y="388"/>
                    <a:pt x="1056330" y="0"/>
                  </a:cubicBezTo>
                  <a:cubicBezTo>
                    <a:pt x="1408052" y="-388"/>
                    <a:pt x="1759192" y="647797"/>
                    <a:pt x="2110333" y="1295982"/>
                  </a:cubicBezTo>
                </a:path>
              </a:pathLst>
            </a:cu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任意多边形: 形状 132">
              <a:extLst>
                <a:ext uri="{FF2B5EF4-FFF2-40B4-BE49-F238E27FC236}">
                  <a16:creationId xmlns:a16="http://schemas.microsoft.com/office/drawing/2014/main" id="{753060B6-FEED-9B19-7003-D066121CCCF7}"/>
                </a:ext>
              </a:extLst>
            </p:cNvPr>
            <p:cNvSpPr/>
            <p:nvPr/>
          </p:nvSpPr>
          <p:spPr>
            <a:xfrm flipV="1">
              <a:off x="6912000" y="5688000"/>
              <a:ext cx="1440000" cy="756000"/>
            </a:xfrm>
            <a:custGeom>
              <a:avLst/>
              <a:gdLst>
                <a:gd name="connsiteX0" fmla="*/ 0 w 2110333"/>
                <a:gd name="connsiteY0" fmla="*/ 1298309 h 1298309"/>
                <a:gd name="connsiteX1" fmla="*/ 1056330 w 2110333"/>
                <a:gd name="connsiteY1" fmla="*/ 0 h 1298309"/>
                <a:gd name="connsiteX2" fmla="*/ 2110333 w 2110333"/>
                <a:gd name="connsiteY2" fmla="*/ 1295982 h 1298309"/>
              </a:gdLst>
              <a:ahLst/>
              <a:cxnLst>
                <a:cxn ang="0">
                  <a:pos x="connsiteX0" y="connsiteY0"/>
                </a:cxn>
                <a:cxn ang="0">
                  <a:pos x="connsiteX1" y="connsiteY1"/>
                </a:cxn>
                <a:cxn ang="0">
                  <a:pos x="connsiteX2" y="connsiteY2"/>
                </a:cxn>
              </a:cxnLst>
              <a:rect l="l" t="t" r="r" b="b"/>
              <a:pathLst>
                <a:path w="2110333" h="1298309">
                  <a:moveTo>
                    <a:pt x="0" y="1298309"/>
                  </a:moveTo>
                  <a:cubicBezTo>
                    <a:pt x="352304" y="649348"/>
                    <a:pt x="704608" y="388"/>
                    <a:pt x="1056330" y="0"/>
                  </a:cubicBezTo>
                  <a:cubicBezTo>
                    <a:pt x="1408052" y="-388"/>
                    <a:pt x="1759192" y="647797"/>
                    <a:pt x="2110333" y="1295982"/>
                  </a:cubicBezTo>
                </a:path>
              </a:pathLst>
            </a:cu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任意多边形: 形状 133">
              <a:extLst>
                <a:ext uri="{FF2B5EF4-FFF2-40B4-BE49-F238E27FC236}">
                  <a16:creationId xmlns:a16="http://schemas.microsoft.com/office/drawing/2014/main" id="{14D7F196-72ED-25C7-79C8-304F9C4C2CB8}"/>
                </a:ext>
              </a:extLst>
            </p:cNvPr>
            <p:cNvSpPr/>
            <p:nvPr/>
          </p:nvSpPr>
          <p:spPr>
            <a:xfrm>
              <a:off x="8352000" y="4932000"/>
              <a:ext cx="1440000" cy="756000"/>
            </a:xfrm>
            <a:custGeom>
              <a:avLst/>
              <a:gdLst>
                <a:gd name="connsiteX0" fmla="*/ 0 w 2110333"/>
                <a:gd name="connsiteY0" fmla="*/ 1298309 h 1298309"/>
                <a:gd name="connsiteX1" fmla="*/ 1056330 w 2110333"/>
                <a:gd name="connsiteY1" fmla="*/ 0 h 1298309"/>
                <a:gd name="connsiteX2" fmla="*/ 2110333 w 2110333"/>
                <a:gd name="connsiteY2" fmla="*/ 1295982 h 1298309"/>
              </a:gdLst>
              <a:ahLst/>
              <a:cxnLst>
                <a:cxn ang="0">
                  <a:pos x="connsiteX0" y="connsiteY0"/>
                </a:cxn>
                <a:cxn ang="0">
                  <a:pos x="connsiteX1" y="connsiteY1"/>
                </a:cxn>
                <a:cxn ang="0">
                  <a:pos x="connsiteX2" y="connsiteY2"/>
                </a:cxn>
              </a:cxnLst>
              <a:rect l="l" t="t" r="r" b="b"/>
              <a:pathLst>
                <a:path w="2110333" h="1298309">
                  <a:moveTo>
                    <a:pt x="0" y="1298309"/>
                  </a:moveTo>
                  <a:cubicBezTo>
                    <a:pt x="352304" y="649348"/>
                    <a:pt x="704608" y="388"/>
                    <a:pt x="1056330" y="0"/>
                  </a:cubicBezTo>
                  <a:cubicBezTo>
                    <a:pt x="1408052" y="-388"/>
                    <a:pt x="1759192" y="647797"/>
                    <a:pt x="2110333" y="1295982"/>
                  </a:cubicBezTo>
                </a:path>
              </a:pathLst>
            </a:cu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35" name="Text Box 8">
                  <a:extLst>
                    <a:ext uri="{FF2B5EF4-FFF2-40B4-BE49-F238E27FC236}">
                      <a16:creationId xmlns:a16="http://schemas.microsoft.com/office/drawing/2014/main" id="{F4EAC2E6-8681-1A74-F5F4-CD9012852C45}"/>
                    </a:ext>
                  </a:extLst>
                </p:cNvPr>
                <p:cNvSpPr txBox="1">
                  <a:spLocks noChangeArrowheads="1"/>
                </p:cNvSpPr>
                <p:nvPr/>
              </p:nvSpPr>
              <p:spPr bwMode="auto">
                <a:xfrm>
                  <a:off x="6588000" y="5580000"/>
                  <a:ext cx="576000" cy="540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r>
                          <a:rPr kumimoji="1" lang="zh-CN" altLang="en-US" sz="2400" b="0" i="1" smtClean="0">
                            <a:latin typeface="Cambria Math" panose="02040503050406030204" pitchFamily="18" charset="0"/>
                            <a:ea typeface="微软雅黑" panose="020B0503020204020204" pitchFamily="34" charset="-122"/>
                          </a:rPr>
                          <m:t>𝜋</m:t>
                        </m:r>
                      </m:oMath>
                    </m:oMathPara>
                  </a14:m>
                  <a:endParaRPr kumimoji="1" lang="en-US" altLang="zh-CN" sz="2400" i="1" dirty="0">
                    <a:ea typeface="楷体_GB2312" pitchFamily="49" charset="-122"/>
                  </a:endParaRPr>
                </a:p>
              </p:txBody>
            </p:sp>
          </mc:Choice>
          <mc:Fallback xmlns="">
            <p:sp>
              <p:nvSpPr>
                <p:cNvPr id="135" name="Text Box 8">
                  <a:extLst>
                    <a:ext uri="{FF2B5EF4-FFF2-40B4-BE49-F238E27FC236}">
                      <a16:creationId xmlns:a16="http://schemas.microsoft.com/office/drawing/2014/main" id="{F4EAC2E6-8681-1A74-F5F4-CD9012852C45}"/>
                    </a:ext>
                  </a:extLst>
                </p:cNvPr>
                <p:cNvSpPr txBox="1">
                  <a:spLocks noRot="1" noChangeAspect="1" noMove="1" noResize="1" noEditPoints="1" noAdjustHandles="1" noChangeArrowheads="1" noChangeShapeType="1" noTextEdit="1"/>
                </p:cNvSpPr>
                <p:nvPr/>
              </p:nvSpPr>
              <p:spPr bwMode="auto">
                <a:xfrm>
                  <a:off x="6588000" y="5580000"/>
                  <a:ext cx="576000" cy="540000"/>
                </a:xfrm>
                <a:prstGeom prst="rect">
                  <a:avLst/>
                </a:prstGeom>
                <a:blipFill>
                  <a:blip r:embed="rId17"/>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6" name="Text Box 8">
                  <a:extLst>
                    <a:ext uri="{FF2B5EF4-FFF2-40B4-BE49-F238E27FC236}">
                      <a16:creationId xmlns:a16="http://schemas.microsoft.com/office/drawing/2014/main" id="{83016F61-0EE7-FB75-3902-2FF086C66AAF}"/>
                    </a:ext>
                  </a:extLst>
                </p:cNvPr>
                <p:cNvSpPr txBox="1">
                  <a:spLocks noChangeArrowheads="1"/>
                </p:cNvSpPr>
                <p:nvPr/>
              </p:nvSpPr>
              <p:spPr bwMode="auto">
                <a:xfrm>
                  <a:off x="8316000" y="5580000"/>
                  <a:ext cx="576000" cy="540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r>
                          <a:rPr kumimoji="1" lang="en-US" altLang="zh-CN" sz="2400" b="0" i="1">
                            <a:latin typeface="Cambria Math" panose="02040503050406030204" pitchFamily="18" charset="0"/>
                            <a:ea typeface="微软雅黑" panose="020B0503020204020204" pitchFamily="34" charset="-122"/>
                          </a:rPr>
                          <m:t>2</m:t>
                        </m:r>
                        <m:r>
                          <a:rPr kumimoji="1" lang="zh-CN" altLang="en-US" sz="2400" b="0" i="1" smtClean="0">
                            <a:latin typeface="Cambria Math" panose="02040503050406030204" pitchFamily="18" charset="0"/>
                            <a:ea typeface="微软雅黑" panose="020B0503020204020204" pitchFamily="34" charset="-122"/>
                          </a:rPr>
                          <m:t>𝜋</m:t>
                        </m:r>
                      </m:oMath>
                    </m:oMathPara>
                  </a14:m>
                  <a:endParaRPr kumimoji="1" lang="en-US" altLang="zh-CN" sz="2400" i="1" dirty="0">
                    <a:ea typeface="楷体_GB2312" pitchFamily="49" charset="-122"/>
                  </a:endParaRPr>
                </a:p>
              </p:txBody>
            </p:sp>
          </mc:Choice>
          <mc:Fallback xmlns="">
            <p:sp>
              <p:nvSpPr>
                <p:cNvPr id="136" name="Text Box 8">
                  <a:extLst>
                    <a:ext uri="{FF2B5EF4-FFF2-40B4-BE49-F238E27FC236}">
                      <a16:creationId xmlns:a16="http://schemas.microsoft.com/office/drawing/2014/main" id="{83016F61-0EE7-FB75-3902-2FF086C66AAF}"/>
                    </a:ext>
                  </a:extLst>
                </p:cNvPr>
                <p:cNvSpPr txBox="1">
                  <a:spLocks noRot="1" noChangeAspect="1" noMove="1" noResize="1" noEditPoints="1" noAdjustHandles="1" noChangeArrowheads="1" noChangeShapeType="1" noTextEdit="1"/>
                </p:cNvSpPr>
                <p:nvPr/>
              </p:nvSpPr>
              <p:spPr bwMode="auto">
                <a:xfrm>
                  <a:off x="8316000" y="5580000"/>
                  <a:ext cx="576000" cy="540000"/>
                </a:xfrm>
                <a:prstGeom prst="rect">
                  <a:avLst/>
                </a:prstGeom>
                <a:blipFill>
                  <a:blip r:embed="rId18"/>
                  <a:stretch>
                    <a:fillRect l="-6316"/>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7" name="Text Box 8">
                  <a:extLst>
                    <a:ext uri="{FF2B5EF4-FFF2-40B4-BE49-F238E27FC236}">
                      <a16:creationId xmlns:a16="http://schemas.microsoft.com/office/drawing/2014/main" id="{2FF28896-7235-5ACF-124E-A690AF78BD1C}"/>
                    </a:ext>
                  </a:extLst>
                </p:cNvPr>
                <p:cNvSpPr txBox="1">
                  <a:spLocks noChangeArrowheads="1"/>
                </p:cNvSpPr>
                <p:nvPr/>
              </p:nvSpPr>
              <p:spPr bwMode="auto">
                <a:xfrm>
                  <a:off x="9684000" y="5580000"/>
                  <a:ext cx="576000" cy="540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r>
                          <a:rPr kumimoji="1" lang="en-US" altLang="zh-CN" sz="2400" b="0" i="1" smtClean="0">
                            <a:latin typeface="Cambria Math" panose="02040503050406030204" pitchFamily="18" charset="0"/>
                            <a:ea typeface="微软雅黑" panose="020B0503020204020204" pitchFamily="34" charset="-122"/>
                          </a:rPr>
                          <m:t>3</m:t>
                        </m:r>
                        <m:r>
                          <a:rPr kumimoji="1" lang="zh-CN" altLang="en-US" sz="2400" b="0" i="1" smtClean="0">
                            <a:latin typeface="Cambria Math" panose="02040503050406030204" pitchFamily="18" charset="0"/>
                            <a:ea typeface="微软雅黑" panose="020B0503020204020204" pitchFamily="34" charset="-122"/>
                          </a:rPr>
                          <m:t>𝜋</m:t>
                        </m:r>
                      </m:oMath>
                    </m:oMathPara>
                  </a14:m>
                  <a:endParaRPr kumimoji="1" lang="en-US" altLang="zh-CN" sz="2400" i="1" dirty="0">
                    <a:ea typeface="楷体_GB2312" pitchFamily="49" charset="-122"/>
                  </a:endParaRPr>
                </a:p>
              </p:txBody>
            </p:sp>
          </mc:Choice>
          <mc:Fallback xmlns="">
            <p:sp>
              <p:nvSpPr>
                <p:cNvPr id="137" name="Text Box 8">
                  <a:extLst>
                    <a:ext uri="{FF2B5EF4-FFF2-40B4-BE49-F238E27FC236}">
                      <a16:creationId xmlns:a16="http://schemas.microsoft.com/office/drawing/2014/main" id="{2FF28896-7235-5ACF-124E-A690AF78BD1C}"/>
                    </a:ext>
                  </a:extLst>
                </p:cNvPr>
                <p:cNvSpPr txBox="1">
                  <a:spLocks noRot="1" noChangeAspect="1" noMove="1" noResize="1" noEditPoints="1" noAdjustHandles="1" noChangeArrowheads="1" noChangeShapeType="1" noTextEdit="1"/>
                </p:cNvSpPr>
                <p:nvPr/>
              </p:nvSpPr>
              <p:spPr bwMode="auto">
                <a:xfrm>
                  <a:off x="9684000" y="5580000"/>
                  <a:ext cx="576000" cy="540000"/>
                </a:xfrm>
                <a:prstGeom prst="rect">
                  <a:avLst/>
                </a:prstGeom>
                <a:blipFill>
                  <a:blip r:embed="rId19"/>
                  <a:stretch>
                    <a:fillRect l="-6383"/>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1" name="Rectangle 8">
                  <a:extLst>
                    <a:ext uri="{FF2B5EF4-FFF2-40B4-BE49-F238E27FC236}">
                      <a16:creationId xmlns:a16="http://schemas.microsoft.com/office/drawing/2014/main" id="{8D5A14CC-1E04-CCA3-4440-56CB0563B8FE}"/>
                    </a:ext>
                  </a:extLst>
                </p:cNvPr>
                <p:cNvSpPr>
                  <a:spLocks noChangeArrowheads="1"/>
                </p:cNvSpPr>
                <p:nvPr/>
              </p:nvSpPr>
              <p:spPr bwMode="auto">
                <a:xfrm>
                  <a:off x="4860000" y="5004000"/>
                  <a:ext cx="648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right"/>
                      </m:oMathParaPr>
                      <m:oMath xmlns:m="http://schemas.openxmlformats.org/officeDocument/2006/math">
                        <m:sSub>
                          <m:sSubPr>
                            <m:ctrlP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000" b="0" i="1" smtClean="0">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000" b="0" i="0" smtClean="0">
                                <a:solidFill>
                                  <a:schemeClr val="accent5">
                                    <a:lumMod val="75000"/>
                                  </a:schemeClr>
                                </a:solidFill>
                                <a:latin typeface="Cambria Math" panose="02040503050406030204" pitchFamily="18" charset="0"/>
                                <a:ea typeface="微软雅黑" panose="020B0503020204020204" pitchFamily="34" charset="-122"/>
                              </a:rPr>
                              <m:t>REF</m:t>
                            </m:r>
                          </m:sub>
                        </m:sSub>
                      </m:oMath>
                    </m:oMathPara>
                  </a14:m>
                  <a:endParaRPr kumimoji="1" lang="zh-CN" altLang="en-US" sz="2000" b="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141" name="Rectangle 8">
                  <a:extLst>
                    <a:ext uri="{FF2B5EF4-FFF2-40B4-BE49-F238E27FC236}">
                      <a16:creationId xmlns:a16="http://schemas.microsoft.com/office/drawing/2014/main" id="{8D5A14CC-1E04-CCA3-4440-56CB0563B8FE}"/>
                    </a:ext>
                  </a:extLst>
                </p:cNvPr>
                <p:cNvSpPr>
                  <a:spLocks noRot="1" noChangeAspect="1" noMove="1" noResize="1" noEditPoints="1" noAdjustHandles="1" noChangeArrowheads="1" noChangeShapeType="1" noTextEdit="1"/>
                </p:cNvSpPr>
                <p:nvPr/>
              </p:nvSpPr>
              <p:spPr bwMode="auto">
                <a:xfrm>
                  <a:off x="4860000" y="5004000"/>
                  <a:ext cx="648000" cy="432000"/>
                </a:xfrm>
                <a:prstGeom prst="rect">
                  <a:avLst/>
                </a:prstGeom>
                <a:blipFill>
                  <a:blip r:embed="rId20"/>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42" name="矩形 141">
              <a:extLst>
                <a:ext uri="{FF2B5EF4-FFF2-40B4-BE49-F238E27FC236}">
                  <a16:creationId xmlns:a16="http://schemas.microsoft.com/office/drawing/2014/main" id="{86292ED9-7879-10E7-9894-8F4733253733}"/>
                </a:ext>
              </a:extLst>
            </p:cNvPr>
            <p:cNvSpPr/>
            <p:nvPr/>
          </p:nvSpPr>
          <p:spPr>
            <a:xfrm>
              <a:off x="5724000" y="4824000"/>
              <a:ext cx="3816000" cy="396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3" name="直接连接符 142">
              <a:extLst>
                <a:ext uri="{FF2B5EF4-FFF2-40B4-BE49-F238E27FC236}">
                  <a16:creationId xmlns:a16="http://schemas.microsoft.com/office/drawing/2014/main" id="{B14D623C-AFFF-AE2D-0CAD-F6DC396316D5}"/>
                </a:ext>
              </a:extLst>
            </p:cNvPr>
            <p:cNvCxnSpPr>
              <a:cxnSpLocks/>
            </p:cNvCxnSpPr>
            <p:nvPr/>
          </p:nvCxnSpPr>
          <p:spPr>
            <a:xfrm>
              <a:off x="5796000" y="5220000"/>
              <a:ext cx="7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直接连接符 143">
              <a:extLst>
                <a:ext uri="{FF2B5EF4-FFF2-40B4-BE49-F238E27FC236}">
                  <a16:creationId xmlns:a16="http://schemas.microsoft.com/office/drawing/2014/main" id="{D829DE07-0861-CC71-0539-66A258DA2BFC}"/>
                </a:ext>
              </a:extLst>
            </p:cNvPr>
            <p:cNvCxnSpPr>
              <a:cxnSpLocks/>
            </p:cNvCxnSpPr>
            <p:nvPr/>
          </p:nvCxnSpPr>
          <p:spPr>
            <a:xfrm>
              <a:off x="8676000" y="5220000"/>
              <a:ext cx="792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直接连接符 138">
              <a:extLst>
                <a:ext uri="{FF2B5EF4-FFF2-40B4-BE49-F238E27FC236}">
                  <a16:creationId xmlns:a16="http://schemas.microsoft.com/office/drawing/2014/main" id="{AF409D2D-1839-7C7F-2445-59BEB59619F7}"/>
                </a:ext>
              </a:extLst>
            </p:cNvPr>
            <p:cNvCxnSpPr>
              <a:cxnSpLocks/>
            </p:cNvCxnSpPr>
            <p:nvPr/>
          </p:nvCxnSpPr>
          <p:spPr>
            <a:xfrm>
              <a:off x="5472000" y="5220000"/>
              <a:ext cx="4680000" cy="0"/>
            </a:xfrm>
            <a:prstGeom prst="line">
              <a:avLst/>
            </a:prstGeom>
            <a:ln w="25400">
              <a:solidFill>
                <a:schemeClr val="accent5">
                  <a:lumMod val="75000"/>
                </a:schemeClr>
              </a:solidFill>
              <a:prstDash val="sysDot"/>
              <a:tailEnd type="none" w="med" len="lg"/>
            </a:ln>
          </p:spPr>
          <p:style>
            <a:lnRef idx="1">
              <a:schemeClr val="accent1"/>
            </a:lnRef>
            <a:fillRef idx="0">
              <a:schemeClr val="accent1"/>
            </a:fillRef>
            <a:effectRef idx="0">
              <a:schemeClr val="accent1"/>
            </a:effectRef>
            <a:fontRef idx="minor">
              <a:schemeClr val="tx1"/>
            </a:fontRef>
          </p:style>
        </p:cxnSp>
        <p:cxnSp>
          <p:nvCxnSpPr>
            <p:cNvPr id="145" name="直接连接符 144">
              <a:extLst>
                <a:ext uri="{FF2B5EF4-FFF2-40B4-BE49-F238E27FC236}">
                  <a16:creationId xmlns:a16="http://schemas.microsoft.com/office/drawing/2014/main" id="{0DC91119-B8C5-052C-6B91-143074C093E0}"/>
                </a:ext>
              </a:extLst>
            </p:cNvPr>
            <p:cNvCxnSpPr>
              <a:cxnSpLocks/>
            </p:cNvCxnSpPr>
            <p:nvPr/>
          </p:nvCxnSpPr>
          <p:spPr>
            <a:xfrm>
              <a:off x="5796000" y="2988000"/>
              <a:ext cx="0" cy="2232000"/>
            </a:xfrm>
            <a:prstGeom prst="line">
              <a:avLst/>
            </a:prstGeom>
            <a:ln w="25400">
              <a:solidFill>
                <a:schemeClr val="accent5">
                  <a:lumMod val="75000"/>
                </a:schemeClr>
              </a:solidFill>
              <a:prstDash val="sysDot"/>
              <a:tailEnd type="none" w="med" len="lg"/>
            </a:ln>
          </p:spPr>
          <p:style>
            <a:lnRef idx="1">
              <a:schemeClr val="accent1"/>
            </a:lnRef>
            <a:fillRef idx="0">
              <a:schemeClr val="accent1"/>
            </a:fillRef>
            <a:effectRef idx="0">
              <a:schemeClr val="accent1"/>
            </a:effectRef>
            <a:fontRef idx="minor">
              <a:schemeClr val="tx1"/>
            </a:fontRef>
          </p:style>
        </p:cxnSp>
        <p:cxnSp>
          <p:nvCxnSpPr>
            <p:cNvPr id="148" name="直接连接符 147">
              <a:extLst>
                <a:ext uri="{FF2B5EF4-FFF2-40B4-BE49-F238E27FC236}">
                  <a16:creationId xmlns:a16="http://schemas.microsoft.com/office/drawing/2014/main" id="{D30DC45D-E3B5-6964-AB81-61CB19FD795E}"/>
                </a:ext>
              </a:extLst>
            </p:cNvPr>
            <p:cNvCxnSpPr>
              <a:cxnSpLocks/>
            </p:cNvCxnSpPr>
            <p:nvPr/>
          </p:nvCxnSpPr>
          <p:spPr>
            <a:xfrm>
              <a:off x="6588000" y="2988000"/>
              <a:ext cx="0" cy="2232000"/>
            </a:xfrm>
            <a:prstGeom prst="line">
              <a:avLst/>
            </a:prstGeom>
            <a:ln w="25400">
              <a:solidFill>
                <a:schemeClr val="accent5">
                  <a:lumMod val="75000"/>
                </a:schemeClr>
              </a:solidFill>
              <a:prstDash val="sysDot"/>
              <a:tailEnd type="none" w="med" len="lg"/>
            </a:ln>
          </p:spPr>
          <p:style>
            <a:lnRef idx="1">
              <a:schemeClr val="accent1"/>
            </a:lnRef>
            <a:fillRef idx="0">
              <a:schemeClr val="accent1"/>
            </a:fillRef>
            <a:effectRef idx="0">
              <a:schemeClr val="accent1"/>
            </a:effectRef>
            <a:fontRef idx="minor">
              <a:schemeClr val="tx1"/>
            </a:fontRef>
          </p:style>
        </p:cxnSp>
        <p:cxnSp>
          <p:nvCxnSpPr>
            <p:cNvPr id="149" name="直接连接符 148">
              <a:extLst>
                <a:ext uri="{FF2B5EF4-FFF2-40B4-BE49-F238E27FC236}">
                  <a16:creationId xmlns:a16="http://schemas.microsoft.com/office/drawing/2014/main" id="{31D00364-49DD-1046-9E0A-83FD027C0835}"/>
                </a:ext>
              </a:extLst>
            </p:cNvPr>
            <p:cNvCxnSpPr>
              <a:cxnSpLocks/>
            </p:cNvCxnSpPr>
            <p:nvPr/>
          </p:nvCxnSpPr>
          <p:spPr>
            <a:xfrm>
              <a:off x="8676000" y="2988000"/>
              <a:ext cx="0" cy="2232000"/>
            </a:xfrm>
            <a:prstGeom prst="line">
              <a:avLst/>
            </a:prstGeom>
            <a:ln w="25400">
              <a:solidFill>
                <a:schemeClr val="accent5">
                  <a:lumMod val="75000"/>
                </a:schemeClr>
              </a:solidFill>
              <a:prstDash val="sysDot"/>
              <a:tailEnd type="none" w="med" len="lg"/>
            </a:ln>
          </p:spPr>
          <p:style>
            <a:lnRef idx="1">
              <a:schemeClr val="accent1"/>
            </a:lnRef>
            <a:fillRef idx="0">
              <a:schemeClr val="accent1"/>
            </a:fillRef>
            <a:effectRef idx="0">
              <a:schemeClr val="accent1"/>
            </a:effectRef>
            <a:fontRef idx="minor">
              <a:schemeClr val="tx1"/>
            </a:fontRef>
          </p:style>
        </p:cxnSp>
        <p:cxnSp>
          <p:nvCxnSpPr>
            <p:cNvPr id="150" name="直接连接符 149">
              <a:extLst>
                <a:ext uri="{FF2B5EF4-FFF2-40B4-BE49-F238E27FC236}">
                  <a16:creationId xmlns:a16="http://schemas.microsoft.com/office/drawing/2014/main" id="{BBC6C29B-0E07-E56C-C3DB-F6CEDA02F2A5}"/>
                </a:ext>
              </a:extLst>
            </p:cNvPr>
            <p:cNvCxnSpPr>
              <a:cxnSpLocks/>
            </p:cNvCxnSpPr>
            <p:nvPr/>
          </p:nvCxnSpPr>
          <p:spPr>
            <a:xfrm>
              <a:off x="9468000" y="2988000"/>
              <a:ext cx="0" cy="2232000"/>
            </a:xfrm>
            <a:prstGeom prst="line">
              <a:avLst/>
            </a:prstGeom>
            <a:ln w="25400">
              <a:solidFill>
                <a:schemeClr val="accent5">
                  <a:lumMod val="75000"/>
                </a:schemeClr>
              </a:solidFill>
              <a:prstDash val="sysDot"/>
              <a:tailEnd type="none" w="med" len="lg"/>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220504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40D9E748-9ED7-6F47-4380-262695E83927}"/>
              </a:ext>
            </a:extLst>
          </p:cNvPr>
          <p:cNvGrpSpPr/>
          <p:nvPr/>
        </p:nvGrpSpPr>
        <p:grpSpPr>
          <a:xfrm>
            <a:off x="11449269" y="6198682"/>
            <a:ext cx="786273" cy="548639"/>
            <a:chOff x="11454918" y="5839511"/>
            <a:chExt cx="786273" cy="548639"/>
          </a:xfrm>
        </p:grpSpPr>
        <p:grpSp>
          <p:nvGrpSpPr>
            <p:cNvPr id="3" name="组合 2">
              <a:extLst>
                <a:ext uri="{FF2B5EF4-FFF2-40B4-BE49-F238E27FC236}">
                  <a16:creationId xmlns:a16="http://schemas.microsoft.com/office/drawing/2014/main" id="{A17125B2-1454-9222-B20A-F3596D5C95A7}"/>
                </a:ext>
              </a:extLst>
            </p:cNvPr>
            <p:cNvGrpSpPr/>
            <p:nvPr/>
          </p:nvGrpSpPr>
          <p:grpSpPr>
            <a:xfrm>
              <a:off x="11454918" y="5867450"/>
              <a:ext cx="737081" cy="520700"/>
              <a:chOff x="11454918" y="5867450"/>
              <a:chExt cx="737081" cy="520700"/>
            </a:xfrm>
          </p:grpSpPr>
          <p:sp>
            <p:nvSpPr>
              <p:cNvPr id="5" name="箭头: 五边形 4">
                <a:extLst>
                  <a:ext uri="{FF2B5EF4-FFF2-40B4-BE49-F238E27FC236}">
                    <a16:creationId xmlns:a16="http://schemas.microsoft.com/office/drawing/2014/main" id="{DF660398-2D5E-97B1-6603-4BAF3837FAB8}"/>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箭头: V 形 5">
                <a:extLst>
                  <a:ext uri="{FF2B5EF4-FFF2-40B4-BE49-F238E27FC236}">
                    <a16:creationId xmlns:a16="http://schemas.microsoft.com/office/drawing/2014/main" id="{47EFB037-7D58-AF4D-B628-F334DDA91A65}"/>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4" name="灯片编号占位符 3">
              <a:extLst>
                <a:ext uri="{FF2B5EF4-FFF2-40B4-BE49-F238E27FC236}">
                  <a16:creationId xmlns:a16="http://schemas.microsoft.com/office/drawing/2014/main" id="{5799AA92-2B58-CF46-0C90-AE282FB8AD46}"/>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26</a:t>
              </a:fld>
              <a:endParaRPr lang="zh-CN" altLang="en-US" sz="3200" dirty="0">
                <a:solidFill>
                  <a:schemeClr val="bg1"/>
                </a:solidFill>
                <a:latin typeface="Candara"/>
                <a:ea typeface="微软雅黑"/>
              </a:endParaRPr>
            </a:p>
          </p:txBody>
        </p:sp>
      </p:grpSp>
      <p:sp>
        <p:nvSpPr>
          <p:cNvPr id="7" name="标题 1">
            <a:extLst>
              <a:ext uri="{FF2B5EF4-FFF2-40B4-BE49-F238E27FC236}">
                <a16:creationId xmlns:a16="http://schemas.microsoft.com/office/drawing/2014/main" id="{4A996FF1-4E46-A33F-5132-272088A25976}"/>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正弦交流电小知识点补充</a:t>
            </a:r>
            <a:endParaRPr lang="en-US" altLang="zh-CN" sz="3000" dirty="0"/>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F22510C7-4611-45E0-AB9A-8FA8C7A95CCD}"/>
                  </a:ext>
                </a:extLst>
              </p:cNvPr>
              <p:cNvSpPr txBox="1"/>
              <p:nvPr/>
            </p:nvSpPr>
            <p:spPr>
              <a:xfrm>
                <a:off x="359999" y="828000"/>
                <a:ext cx="10659693" cy="2652393"/>
              </a:xfrm>
              <a:prstGeom prst="rect">
                <a:avLst/>
              </a:prstGeom>
              <a:noFill/>
            </p:spPr>
            <p:txBody>
              <a:bodyPr wrap="square">
                <a:spAutoFit/>
              </a:bodyPr>
              <a:lstStyle/>
              <a:p>
                <a:pPr>
                  <a:lnSpc>
                    <a:spcPct val="120000"/>
                  </a:lnSpc>
                  <a:spcAft>
                    <a:spcPts val="600"/>
                  </a:spcAft>
                </a:pPr>
                <a:r>
                  <a:rPr kumimoji="1" lang="zh-CN" altLang="en-US" sz="2800" dirty="0">
                    <a:solidFill>
                      <a:srgbClr val="002060"/>
                    </a:solidFill>
                    <a:latin typeface="微软雅黑" panose="020B0503020204020204" pitchFamily="34" charset="-122"/>
                    <a:ea typeface="微软雅黑" panose="020B0503020204020204" pitchFamily="34" charset="-122"/>
                  </a:rPr>
                  <a:t>周期为 </a:t>
                </a:r>
                <a14:m>
                  <m:oMath xmlns:m="http://schemas.openxmlformats.org/officeDocument/2006/math">
                    <m:r>
                      <a:rPr kumimoji="1" lang="en-US" altLang="zh-CN" sz="2800" i="1">
                        <a:solidFill>
                          <a:srgbClr val="002060"/>
                        </a:solidFill>
                        <a:latin typeface="Cambria Math" panose="02040503050406030204" pitchFamily="18" charset="0"/>
                        <a:ea typeface="微软雅黑" panose="020B0503020204020204" pitchFamily="34" charset="-122"/>
                      </a:rPr>
                      <m:t>𝑇</m:t>
                    </m:r>
                  </m:oMath>
                </a14:m>
                <a:r>
                  <a:rPr kumimoji="1" lang="zh-CN" altLang="en-US" sz="2800" dirty="0">
                    <a:solidFill>
                      <a:srgbClr val="002060"/>
                    </a:solidFill>
                    <a:latin typeface="微软雅黑" panose="020B0503020204020204" pitchFamily="34" charset="-122"/>
                    <a:ea typeface="微软雅黑" panose="020B0503020204020204" pitchFamily="34" charset="-122"/>
                  </a:rPr>
                  <a:t> 正弦交流电</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电压信号为 </a:t>
                </a:r>
                <a14:m>
                  <m:oMath xmlns:m="http://schemas.openxmlformats.org/officeDocument/2006/math">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𝑣</m:t>
                    </m:r>
                    <m:d>
                      <m:dPr>
                        <m:ctrlP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ctrlPr>
                      </m:dPr>
                      <m:e>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𝑡</m:t>
                        </m:r>
                      </m:e>
                    </m:d>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m</m:t>
                        </m:r>
                      </m:sub>
                    </m:sSub>
                    <m:func>
                      <m:funcPr>
                        <m:ctrlP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ctrlPr>
                      </m:funcPr>
                      <m:fName>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sin</m:t>
                        </m:r>
                      </m:fName>
                      <m:e>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m:t>
                        </m:r>
                        <m:r>
                          <a:rPr kumimoji="1" lang="zh-CN" altLang="en-US" sz="2400" b="0" i="1" smtClean="0">
                            <a:solidFill>
                              <a:schemeClr val="accent5">
                                <a:lumMod val="75000"/>
                              </a:schemeClr>
                            </a:solidFill>
                            <a:latin typeface="Cambria Math" panose="02040503050406030204" pitchFamily="18" charset="0"/>
                            <a:ea typeface="微软雅黑" panose="020B0503020204020204" pitchFamily="34" charset="-122"/>
                          </a:rPr>
                          <m:t>𝜔</m:t>
                        </m:r>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𝑡</m:t>
                        </m:r>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zh-CN" altLang="en-US" sz="2400" i="1">
                                <a:solidFill>
                                  <a:schemeClr val="accent5">
                                    <a:lumMod val="75000"/>
                                  </a:schemeClr>
                                </a:solidFill>
                                <a:latin typeface="Cambria Math" panose="02040503050406030204" pitchFamily="18" charset="0"/>
                                <a:ea typeface="微软雅黑" panose="020B0503020204020204" pitchFamily="34" charset="-122"/>
                              </a:rPr>
                              <m:t>𝜑</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V</m:t>
                            </m:r>
                          </m:sub>
                        </m:sSub>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m:t>
                        </m:r>
                      </m:e>
                    </m:func>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，电流信号为 </a:t>
                </a:r>
                <a14:m>
                  <m:oMath xmlns:m="http://schemas.openxmlformats.org/officeDocument/2006/math">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𝑖</m:t>
                    </m:r>
                    <m:d>
                      <m:d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d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𝑡</m:t>
                        </m:r>
                      </m:e>
                    </m:d>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𝐼</m:t>
                        </m:r>
                      </m:e>
                      <m:sub>
                        <m:r>
                          <m:rPr>
                            <m:sty m:val="p"/>
                          </m:r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m</m:t>
                        </m:r>
                      </m:sub>
                    </m:sSub>
                    <m:func>
                      <m:func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funcPr>
                      <m:fName>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sin</m:t>
                        </m:r>
                      </m:fName>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m:t>
                        </m:r>
                        <m:r>
                          <a:rPr kumimoji="1" lang="zh-CN" altLang="en-US" sz="2400" i="1">
                            <a:solidFill>
                              <a:schemeClr val="accent5">
                                <a:lumMod val="75000"/>
                              </a:schemeClr>
                            </a:solidFill>
                            <a:latin typeface="Cambria Math" panose="02040503050406030204" pitchFamily="18" charset="0"/>
                            <a:ea typeface="微软雅黑" panose="020B0503020204020204" pitchFamily="34" charset="-122"/>
                          </a:rPr>
                          <m:t>𝜔</m:t>
                        </m:r>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𝑡</m:t>
                        </m:r>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zh-CN" altLang="en-US" sz="2400" i="1">
                                <a:solidFill>
                                  <a:schemeClr val="accent5">
                                    <a:lumMod val="75000"/>
                                  </a:schemeClr>
                                </a:solidFill>
                                <a:latin typeface="Cambria Math" panose="02040503050406030204" pitchFamily="18" charset="0"/>
                                <a:ea typeface="微软雅黑" panose="020B0503020204020204" pitchFamily="34" charset="-122"/>
                              </a:rPr>
                              <m:t>𝜑</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I</m:t>
                            </m:r>
                          </m:sub>
                        </m:s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m:t>
                        </m:r>
                      </m:e>
                    </m:func>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t>m</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和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𝐼</m:t>
                        </m:r>
                      </m:e>
                      <m:sub>
                        <m:r>
                          <m:rPr>
                            <m:sty m:val="p"/>
                          </m:r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m</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是幅值</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峰值，分别为该交流电的电压和电流所能达到的最大值</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14:m>
                  <m:oMath xmlns:m="http://schemas.openxmlformats.org/officeDocument/2006/math">
                    <m:r>
                      <a:rPr kumimoji="1" lang="zh-CN" altLang="en-US" sz="2400" i="1">
                        <a:solidFill>
                          <a:schemeClr val="accent5">
                            <a:lumMod val="75000"/>
                          </a:schemeClr>
                        </a:solidFill>
                        <a:latin typeface="Cambria Math" panose="02040503050406030204" pitchFamily="18" charset="0"/>
                        <a:ea typeface="微软雅黑" panose="020B0503020204020204" pitchFamily="34" charset="-122"/>
                      </a:rPr>
                      <m:t>𝜔</m:t>
                    </m:r>
                    <m: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t>=</m:t>
                    </m:r>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2</m:t>
                    </m:r>
                    <m:r>
                      <a:rPr kumimoji="1" lang="zh-CN" altLang="en-US" sz="2400" i="1" smtClean="0">
                        <a:solidFill>
                          <a:schemeClr val="accent5">
                            <a:lumMod val="75000"/>
                          </a:schemeClr>
                        </a:solidFill>
                        <a:latin typeface="Cambria Math" panose="02040503050406030204" pitchFamily="18" charset="0"/>
                        <a:ea typeface="微软雅黑" panose="020B0503020204020204" pitchFamily="34" charset="-122"/>
                      </a:rPr>
                      <m:t>𝜋</m:t>
                    </m:r>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𝑓</m:t>
                    </m:r>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m:t>
                    </m:r>
                    <m:f>
                      <m:fPr>
                        <m:type m:val="lin"/>
                        <m:ctrlP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ctrlPr>
                      </m:fPr>
                      <m:num>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2</m:t>
                        </m:r>
                        <m:r>
                          <a:rPr kumimoji="1" lang="zh-CN" altLang="en-US" sz="2400" i="1">
                            <a:solidFill>
                              <a:schemeClr val="accent5">
                                <a:lumMod val="75000"/>
                              </a:schemeClr>
                            </a:solidFill>
                            <a:latin typeface="Cambria Math" panose="02040503050406030204" pitchFamily="18" charset="0"/>
                            <a:ea typeface="微软雅黑" panose="020B0503020204020204" pitchFamily="34" charset="-122"/>
                          </a:rPr>
                          <m:t>𝜋</m:t>
                        </m:r>
                      </m:num>
                      <m:den>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𝑇</m:t>
                        </m:r>
                      </m:den>
                    </m:f>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是角频率，表示信号的相位随时间变化的速度</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zh-CN" altLang="en-US" sz="2400" i="1">
                            <a:solidFill>
                              <a:schemeClr val="accent5">
                                <a:lumMod val="75000"/>
                              </a:schemeClr>
                            </a:solidFill>
                            <a:latin typeface="Cambria Math" panose="02040503050406030204" pitchFamily="18" charset="0"/>
                            <a:ea typeface="微软雅黑" panose="020B0503020204020204" pitchFamily="34" charset="-122"/>
                          </a:rPr>
                          <m:t>𝜑</m:t>
                        </m:r>
                      </m:e>
                      <m:sub>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V</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和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zh-CN" altLang="en-US" sz="2400" i="1">
                            <a:solidFill>
                              <a:schemeClr val="accent5">
                                <a:lumMod val="75000"/>
                              </a:schemeClr>
                            </a:solidFill>
                            <a:latin typeface="Cambria Math" panose="02040503050406030204" pitchFamily="18" charset="0"/>
                            <a:ea typeface="微软雅黑" panose="020B0503020204020204" pitchFamily="34" charset="-122"/>
                          </a:rPr>
                          <m:t>𝜑</m:t>
                        </m:r>
                      </m:e>
                      <m:sub>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I</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为初始相位，即 </a:t>
                </a:r>
                <a14:m>
                  <m:oMath xmlns:m="http://schemas.openxmlformats.org/officeDocument/2006/math">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𝑡</m:t>
                    </m:r>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=0</m:t>
                    </m:r>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时的相角</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8" name="文本框 7">
                <a:extLst>
                  <a:ext uri="{FF2B5EF4-FFF2-40B4-BE49-F238E27FC236}">
                    <a16:creationId xmlns:a16="http://schemas.microsoft.com/office/drawing/2014/main" id="{F22510C7-4611-45E0-AB9A-8FA8C7A95CCD}"/>
                  </a:ext>
                </a:extLst>
              </p:cNvPr>
              <p:cNvSpPr txBox="1">
                <a:spLocks noRot="1" noChangeAspect="1" noMove="1" noResize="1" noEditPoints="1" noAdjustHandles="1" noChangeArrowheads="1" noChangeShapeType="1" noTextEdit="1"/>
              </p:cNvSpPr>
              <p:nvPr/>
            </p:nvSpPr>
            <p:spPr>
              <a:xfrm>
                <a:off x="359999" y="828000"/>
                <a:ext cx="10659693" cy="2652393"/>
              </a:xfrm>
              <a:prstGeom prst="rect">
                <a:avLst/>
              </a:prstGeom>
              <a:blipFill>
                <a:blip r:embed="rId2"/>
                <a:stretch>
                  <a:fillRect l="-1144" t="-920" b="-13563"/>
                </a:stretch>
              </a:blipFill>
            </p:spPr>
            <p:txBody>
              <a:bodyPr/>
              <a:lstStyle/>
              <a:p>
                <a:r>
                  <a:rPr lang="zh-CN" altLang="en-US">
                    <a:noFill/>
                  </a:rPr>
                  <a:t> </a:t>
                </a:r>
              </a:p>
            </p:txBody>
          </p:sp>
        </mc:Fallback>
      </mc:AlternateContent>
      <p:grpSp>
        <p:nvGrpSpPr>
          <p:cNvPr id="48" name="组合 47">
            <a:extLst>
              <a:ext uri="{FF2B5EF4-FFF2-40B4-BE49-F238E27FC236}">
                <a16:creationId xmlns:a16="http://schemas.microsoft.com/office/drawing/2014/main" id="{35D160D1-88AD-A945-654E-2DE24BD256A8}"/>
              </a:ext>
            </a:extLst>
          </p:cNvPr>
          <p:cNvGrpSpPr/>
          <p:nvPr/>
        </p:nvGrpSpPr>
        <p:grpSpPr>
          <a:xfrm>
            <a:off x="8100000" y="3168000"/>
            <a:ext cx="3996000" cy="2772000"/>
            <a:chOff x="7428095" y="3742124"/>
            <a:chExt cx="3996000" cy="2772000"/>
          </a:xfrm>
        </p:grpSpPr>
        <mc:AlternateContent xmlns:mc="http://schemas.openxmlformats.org/markup-compatibility/2006" xmlns:a14="http://schemas.microsoft.com/office/drawing/2010/main">
          <mc:Choice Requires="a14">
            <p:sp>
              <p:nvSpPr>
                <p:cNvPr id="40" name="Text Box 8">
                  <a:extLst>
                    <a:ext uri="{FF2B5EF4-FFF2-40B4-BE49-F238E27FC236}">
                      <a16:creationId xmlns:a16="http://schemas.microsoft.com/office/drawing/2014/main" id="{F80E00DC-6371-3141-E63D-727A72E83DCA}"/>
                    </a:ext>
                  </a:extLst>
                </p:cNvPr>
                <p:cNvSpPr txBox="1">
                  <a:spLocks noChangeArrowheads="1"/>
                </p:cNvSpPr>
                <p:nvPr/>
              </p:nvSpPr>
              <p:spPr bwMode="auto">
                <a:xfrm>
                  <a:off x="7536095" y="5470124"/>
                  <a:ext cx="576000" cy="432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zh-CN" altLang="en-US" sz="2400" i="1">
                                <a:solidFill>
                                  <a:schemeClr val="accent5">
                                    <a:lumMod val="75000"/>
                                  </a:schemeClr>
                                </a:solidFill>
                                <a:latin typeface="Cambria Math" panose="02040503050406030204" pitchFamily="18" charset="0"/>
                                <a:ea typeface="微软雅黑" panose="020B0503020204020204" pitchFamily="34" charset="-122"/>
                              </a:rPr>
                              <m:t>𝜑</m:t>
                            </m:r>
                          </m:e>
                          <m:sub>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V</m:t>
                            </m:r>
                          </m:sub>
                        </m:sSub>
                      </m:oMath>
                    </m:oMathPara>
                  </a14:m>
                  <a:endParaRPr kumimoji="1" lang="en-US" altLang="zh-CN" sz="2400" i="1" dirty="0">
                    <a:solidFill>
                      <a:schemeClr val="accent5">
                        <a:lumMod val="75000"/>
                      </a:schemeClr>
                    </a:solidFill>
                    <a:ea typeface="楷体_GB2312" pitchFamily="49" charset="-122"/>
                  </a:endParaRPr>
                </a:p>
              </p:txBody>
            </p:sp>
          </mc:Choice>
          <mc:Fallback xmlns="">
            <p:sp>
              <p:nvSpPr>
                <p:cNvPr id="40" name="Text Box 8">
                  <a:extLst>
                    <a:ext uri="{FF2B5EF4-FFF2-40B4-BE49-F238E27FC236}">
                      <a16:creationId xmlns:a16="http://schemas.microsoft.com/office/drawing/2014/main" id="{F80E00DC-6371-3141-E63D-727A72E83DCA}"/>
                    </a:ext>
                  </a:extLst>
                </p:cNvPr>
                <p:cNvSpPr txBox="1">
                  <a:spLocks noRot="1" noChangeAspect="1" noMove="1" noResize="1" noEditPoints="1" noAdjustHandles="1" noChangeArrowheads="1" noChangeShapeType="1" noTextEdit="1"/>
                </p:cNvSpPr>
                <p:nvPr/>
              </p:nvSpPr>
              <p:spPr bwMode="auto">
                <a:xfrm>
                  <a:off x="7536095" y="5470124"/>
                  <a:ext cx="576000" cy="432000"/>
                </a:xfrm>
                <a:prstGeom prst="rect">
                  <a:avLst/>
                </a:prstGeom>
                <a:blipFill>
                  <a:blip r:embed="rId3"/>
                  <a:stretch>
                    <a:fillRect l="-7368" b="-16901"/>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p:cxnSp>
          <p:nvCxnSpPr>
            <p:cNvPr id="35" name="直接连接符 34">
              <a:extLst>
                <a:ext uri="{FF2B5EF4-FFF2-40B4-BE49-F238E27FC236}">
                  <a16:creationId xmlns:a16="http://schemas.microsoft.com/office/drawing/2014/main" id="{4EA8A221-4DD1-C66E-2F07-4F9796BE8249}"/>
                </a:ext>
              </a:extLst>
            </p:cNvPr>
            <p:cNvCxnSpPr>
              <a:cxnSpLocks/>
            </p:cNvCxnSpPr>
            <p:nvPr/>
          </p:nvCxnSpPr>
          <p:spPr>
            <a:xfrm>
              <a:off x="7680095" y="5290124"/>
              <a:ext cx="0" cy="252000"/>
            </a:xfrm>
            <a:prstGeom prst="line">
              <a:avLst/>
            </a:prstGeom>
            <a:ln w="254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03948858-08D7-7ECA-503C-771C4302604A}"/>
                </a:ext>
              </a:extLst>
            </p:cNvPr>
            <p:cNvCxnSpPr>
              <a:cxnSpLocks/>
            </p:cNvCxnSpPr>
            <p:nvPr/>
          </p:nvCxnSpPr>
          <p:spPr>
            <a:xfrm>
              <a:off x="8004095" y="4462124"/>
              <a:ext cx="396000" cy="0"/>
            </a:xfrm>
            <a:prstGeom prst="line">
              <a:avLst/>
            </a:prstGeom>
            <a:ln w="25400">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9786D629-6D0C-27CF-ED5A-C6B41089CD3B}"/>
                </a:ext>
              </a:extLst>
            </p:cNvPr>
            <p:cNvCxnSpPr>
              <a:cxnSpLocks/>
            </p:cNvCxnSpPr>
            <p:nvPr/>
          </p:nvCxnSpPr>
          <p:spPr>
            <a:xfrm>
              <a:off x="7428095" y="5434124"/>
              <a:ext cx="3384000" cy="0"/>
            </a:xfrm>
            <a:prstGeom prst="line">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E9324F53-BA7B-3225-C0F6-264B46B26A9B}"/>
                </a:ext>
              </a:extLst>
            </p:cNvPr>
            <p:cNvCxnSpPr>
              <a:cxnSpLocks/>
            </p:cNvCxnSpPr>
            <p:nvPr/>
          </p:nvCxnSpPr>
          <p:spPr>
            <a:xfrm flipV="1">
              <a:off x="8004095" y="4066124"/>
              <a:ext cx="0" cy="2448000"/>
            </a:xfrm>
            <a:prstGeom prst="line">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 Box 8">
                  <a:extLst>
                    <a:ext uri="{FF2B5EF4-FFF2-40B4-BE49-F238E27FC236}">
                      <a16:creationId xmlns:a16="http://schemas.microsoft.com/office/drawing/2014/main" id="{37409CB7-DB65-84A6-CE00-C8AE48F8B722}"/>
                    </a:ext>
                  </a:extLst>
                </p:cNvPr>
                <p:cNvSpPr txBox="1">
                  <a:spLocks noChangeArrowheads="1"/>
                </p:cNvSpPr>
                <p:nvPr/>
              </p:nvSpPr>
              <p:spPr bwMode="auto">
                <a:xfrm>
                  <a:off x="7644095" y="3742124"/>
                  <a:ext cx="468000" cy="504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r>
                          <a:rPr kumimoji="1" lang="en-US" altLang="zh-CN" b="0" i="1" smtClean="0">
                            <a:latin typeface="Cambria Math" panose="02040503050406030204" pitchFamily="18" charset="0"/>
                            <a:ea typeface="微软雅黑" panose="020B0503020204020204" pitchFamily="34" charset="-122"/>
                          </a:rPr>
                          <m:t>𝑣</m:t>
                        </m:r>
                      </m:oMath>
                    </m:oMathPara>
                  </a14:m>
                  <a:endParaRPr kumimoji="1" lang="en-US" altLang="zh-CN" i="1" dirty="0">
                    <a:ea typeface="楷体_GB2312" pitchFamily="49" charset="-122"/>
                  </a:endParaRPr>
                </a:p>
              </p:txBody>
            </p:sp>
          </mc:Choice>
          <mc:Fallback xmlns="">
            <p:sp>
              <p:nvSpPr>
                <p:cNvPr id="12" name="Text Box 8">
                  <a:extLst>
                    <a:ext uri="{FF2B5EF4-FFF2-40B4-BE49-F238E27FC236}">
                      <a16:creationId xmlns:a16="http://schemas.microsoft.com/office/drawing/2014/main" id="{37409CB7-DB65-84A6-CE00-C8AE48F8B722}"/>
                    </a:ext>
                  </a:extLst>
                </p:cNvPr>
                <p:cNvSpPr txBox="1">
                  <a:spLocks noRot="1" noChangeAspect="1" noMove="1" noResize="1" noEditPoints="1" noAdjustHandles="1" noChangeArrowheads="1" noChangeShapeType="1" noTextEdit="1"/>
                </p:cNvSpPr>
                <p:nvPr/>
              </p:nvSpPr>
              <p:spPr bwMode="auto">
                <a:xfrm>
                  <a:off x="7644095" y="3742124"/>
                  <a:ext cx="468000" cy="504000"/>
                </a:xfrm>
                <a:prstGeom prst="rect">
                  <a:avLst/>
                </a:prstGeom>
                <a:blipFill>
                  <a:blip r:embed="rId4"/>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Text Box 8">
                  <a:extLst>
                    <a:ext uri="{FF2B5EF4-FFF2-40B4-BE49-F238E27FC236}">
                      <a16:creationId xmlns:a16="http://schemas.microsoft.com/office/drawing/2014/main" id="{6D02218B-19FD-CA2C-1910-B4DDEA35004F}"/>
                    </a:ext>
                  </a:extLst>
                </p:cNvPr>
                <p:cNvSpPr txBox="1">
                  <a:spLocks noChangeArrowheads="1"/>
                </p:cNvSpPr>
                <p:nvPr/>
              </p:nvSpPr>
              <p:spPr bwMode="auto">
                <a:xfrm>
                  <a:off x="10848095" y="5110124"/>
                  <a:ext cx="576000" cy="540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r>
                          <a:rPr kumimoji="1" lang="zh-CN" altLang="en-US" b="0" i="1" smtClean="0">
                            <a:latin typeface="Cambria Math" panose="02040503050406030204" pitchFamily="18" charset="0"/>
                            <a:ea typeface="微软雅黑" panose="020B0503020204020204" pitchFamily="34" charset="-122"/>
                          </a:rPr>
                          <m:t>𝜔</m:t>
                        </m:r>
                        <m:r>
                          <a:rPr kumimoji="1" lang="en-US" altLang="zh-CN" b="0" i="1" smtClean="0">
                            <a:latin typeface="Cambria Math" panose="02040503050406030204" pitchFamily="18" charset="0"/>
                            <a:ea typeface="微软雅黑" panose="020B0503020204020204" pitchFamily="34" charset="-122"/>
                          </a:rPr>
                          <m:t>𝑡</m:t>
                        </m:r>
                      </m:oMath>
                    </m:oMathPara>
                  </a14:m>
                  <a:endParaRPr kumimoji="1" lang="en-US" altLang="zh-CN" i="1" dirty="0">
                    <a:ea typeface="楷体_GB2312" pitchFamily="49" charset="-122"/>
                  </a:endParaRPr>
                </a:p>
              </p:txBody>
            </p:sp>
          </mc:Choice>
          <mc:Fallback xmlns="">
            <p:sp>
              <p:nvSpPr>
                <p:cNvPr id="13" name="Text Box 8">
                  <a:extLst>
                    <a:ext uri="{FF2B5EF4-FFF2-40B4-BE49-F238E27FC236}">
                      <a16:creationId xmlns:a16="http://schemas.microsoft.com/office/drawing/2014/main" id="{6D02218B-19FD-CA2C-1910-B4DDEA35004F}"/>
                    </a:ext>
                  </a:extLst>
                </p:cNvPr>
                <p:cNvSpPr txBox="1">
                  <a:spLocks noRot="1" noChangeAspect="1" noMove="1" noResize="1" noEditPoints="1" noAdjustHandles="1" noChangeArrowheads="1" noChangeShapeType="1" noTextEdit="1"/>
                </p:cNvSpPr>
                <p:nvPr/>
              </p:nvSpPr>
              <p:spPr bwMode="auto">
                <a:xfrm>
                  <a:off x="10848095" y="5110124"/>
                  <a:ext cx="576000" cy="540000"/>
                </a:xfrm>
                <a:prstGeom prst="rect">
                  <a:avLst/>
                </a:prstGeom>
                <a:blipFill>
                  <a:blip r:embed="rId5"/>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9BFD0460-AEBF-00C0-8904-0F995771B5CE}"/>
                    </a:ext>
                  </a:extLst>
                </p:cNvPr>
                <p:cNvSpPr txBox="1"/>
                <p:nvPr/>
              </p:nvSpPr>
              <p:spPr>
                <a:xfrm>
                  <a:off x="7968095" y="5362124"/>
                  <a:ext cx="468000" cy="468000"/>
                </a:xfrm>
                <a:prstGeom prst="rect">
                  <a:avLst/>
                </a:prstGeom>
                <a:noFill/>
              </p:spPr>
              <p:txBody>
                <a:bodyPr wrap="square">
                  <a:spAutoFit/>
                </a:body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r>
                          <a:rPr kumimoji="1" lang="en-US" altLang="zh-CN" sz="2800" i="1" smtClean="0">
                            <a:latin typeface="Cambria Math" panose="02040503050406030204" pitchFamily="18" charset="0"/>
                            <a:ea typeface="微软雅黑" panose="020B0503020204020204" pitchFamily="34" charset="-122"/>
                          </a:rPr>
                          <m:t>0</m:t>
                        </m:r>
                      </m:oMath>
                    </m:oMathPara>
                  </a14:m>
                  <a:endParaRPr kumimoji="1" lang="en-US" altLang="zh-CN" sz="2800" i="1" dirty="0">
                    <a:ea typeface="楷体_GB2312" pitchFamily="49" charset="-122"/>
                  </a:endParaRPr>
                </a:p>
              </p:txBody>
            </p:sp>
          </mc:Choice>
          <mc:Fallback xmlns="">
            <p:sp>
              <p:nvSpPr>
                <p:cNvPr id="14" name="文本框 13">
                  <a:extLst>
                    <a:ext uri="{FF2B5EF4-FFF2-40B4-BE49-F238E27FC236}">
                      <a16:creationId xmlns:a16="http://schemas.microsoft.com/office/drawing/2014/main" id="{9BFD0460-AEBF-00C0-8904-0F995771B5CE}"/>
                    </a:ext>
                  </a:extLst>
                </p:cNvPr>
                <p:cNvSpPr txBox="1">
                  <a:spLocks noRot="1" noChangeAspect="1" noMove="1" noResize="1" noEditPoints="1" noAdjustHandles="1" noChangeArrowheads="1" noChangeShapeType="1" noTextEdit="1"/>
                </p:cNvSpPr>
                <p:nvPr/>
              </p:nvSpPr>
              <p:spPr>
                <a:xfrm>
                  <a:off x="7968095" y="5362124"/>
                  <a:ext cx="468000" cy="468000"/>
                </a:xfrm>
                <a:prstGeom prst="rect">
                  <a:avLst/>
                </a:prstGeom>
                <a:blipFill>
                  <a:blip r:embed="rId6"/>
                  <a:stretch>
                    <a:fillRect/>
                  </a:stretch>
                </a:blipFill>
              </p:spPr>
              <p:txBody>
                <a:bodyPr/>
                <a:lstStyle/>
                <a:p>
                  <a:r>
                    <a:rPr lang="zh-CN" altLang="en-US">
                      <a:noFill/>
                    </a:rPr>
                    <a:t> </a:t>
                  </a:r>
                </a:p>
              </p:txBody>
            </p:sp>
          </mc:Fallback>
        </mc:AlternateContent>
        <p:sp>
          <p:nvSpPr>
            <p:cNvPr id="19" name="任意多边形: 形状 18">
              <a:extLst>
                <a:ext uri="{FF2B5EF4-FFF2-40B4-BE49-F238E27FC236}">
                  <a16:creationId xmlns:a16="http://schemas.microsoft.com/office/drawing/2014/main" id="{9A97ABD5-BE19-748E-3E76-A1619C491BF7}"/>
                </a:ext>
              </a:extLst>
            </p:cNvPr>
            <p:cNvSpPr/>
            <p:nvPr/>
          </p:nvSpPr>
          <p:spPr>
            <a:xfrm>
              <a:off x="7680095" y="4462124"/>
              <a:ext cx="1440000" cy="972000"/>
            </a:xfrm>
            <a:custGeom>
              <a:avLst/>
              <a:gdLst>
                <a:gd name="connsiteX0" fmla="*/ 0 w 2110333"/>
                <a:gd name="connsiteY0" fmla="*/ 1298309 h 1298309"/>
                <a:gd name="connsiteX1" fmla="*/ 1056330 w 2110333"/>
                <a:gd name="connsiteY1" fmla="*/ 0 h 1298309"/>
                <a:gd name="connsiteX2" fmla="*/ 2110333 w 2110333"/>
                <a:gd name="connsiteY2" fmla="*/ 1295982 h 1298309"/>
              </a:gdLst>
              <a:ahLst/>
              <a:cxnLst>
                <a:cxn ang="0">
                  <a:pos x="connsiteX0" y="connsiteY0"/>
                </a:cxn>
                <a:cxn ang="0">
                  <a:pos x="connsiteX1" y="connsiteY1"/>
                </a:cxn>
                <a:cxn ang="0">
                  <a:pos x="connsiteX2" y="connsiteY2"/>
                </a:cxn>
              </a:cxnLst>
              <a:rect l="l" t="t" r="r" b="b"/>
              <a:pathLst>
                <a:path w="2110333" h="1298309">
                  <a:moveTo>
                    <a:pt x="0" y="1298309"/>
                  </a:moveTo>
                  <a:cubicBezTo>
                    <a:pt x="352304" y="649348"/>
                    <a:pt x="704608" y="388"/>
                    <a:pt x="1056330" y="0"/>
                  </a:cubicBezTo>
                  <a:cubicBezTo>
                    <a:pt x="1408052" y="-388"/>
                    <a:pt x="1759192" y="647797"/>
                    <a:pt x="2110333" y="1295982"/>
                  </a:cubicBezTo>
                </a:path>
              </a:pathLst>
            </a:cu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20" name="任意多边形: 形状 19">
              <a:extLst>
                <a:ext uri="{FF2B5EF4-FFF2-40B4-BE49-F238E27FC236}">
                  <a16:creationId xmlns:a16="http://schemas.microsoft.com/office/drawing/2014/main" id="{37638662-2E70-3851-F5B8-5A6FAAF4A67B}"/>
                </a:ext>
              </a:extLst>
            </p:cNvPr>
            <p:cNvSpPr/>
            <p:nvPr/>
          </p:nvSpPr>
          <p:spPr>
            <a:xfrm flipV="1">
              <a:off x="9120095" y="5434124"/>
              <a:ext cx="1440000" cy="972000"/>
            </a:xfrm>
            <a:custGeom>
              <a:avLst/>
              <a:gdLst>
                <a:gd name="connsiteX0" fmla="*/ 0 w 2110333"/>
                <a:gd name="connsiteY0" fmla="*/ 1298309 h 1298309"/>
                <a:gd name="connsiteX1" fmla="*/ 1056330 w 2110333"/>
                <a:gd name="connsiteY1" fmla="*/ 0 h 1298309"/>
                <a:gd name="connsiteX2" fmla="*/ 2110333 w 2110333"/>
                <a:gd name="connsiteY2" fmla="*/ 1295982 h 1298309"/>
              </a:gdLst>
              <a:ahLst/>
              <a:cxnLst>
                <a:cxn ang="0">
                  <a:pos x="connsiteX0" y="connsiteY0"/>
                </a:cxn>
                <a:cxn ang="0">
                  <a:pos x="connsiteX1" y="connsiteY1"/>
                </a:cxn>
                <a:cxn ang="0">
                  <a:pos x="connsiteX2" y="connsiteY2"/>
                </a:cxn>
              </a:cxnLst>
              <a:rect l="l" t="t" r="r" b="b"/>
              <a:pathLst>
                <a:path w="2110333" h="1298309">
                  <a:moveTo>
                    <a:pt x="0" y="1298309"/>
                  </a:moveTo>
                  <a:cubicBezTo>
                    <a:pt x="352304" y="649348"/>
                    <a:pt x="704608" y="388"/>
                    <a:pt x="1056330" y="0"/>
                  </a:cubicBezTo>
                  <a:cubicBezTo>
                    <a:pt x="1408052" y="-388"/>
                    <a:pt x="1759192" y="647797"/>
                    <a:pt x="2110333" y="1295982"/>
                  </a:cubicBezTo>
                </a:path>
              </a:pathLst>
            </a:custGeom>
            <a:no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mc:AlternateContent xmlns:mc="http://schemas.openxmlformats.org/markup-compatibility/2006" xmlns:a14="http://schemas.microsoft.com/office/drawing/2010/main">
          <mc:Choice Requires="a14">
            <p:sp>
              <p:nvSpPr>
                <p:cNvPr id="32" name="Text Box 8">
                  <a:extLst>
                    <a:ext uri="{FF2B5EF4-FFF2-40B4-BE49-F238E27FC236}">
                      <a16:creationId xmlns:a16="http://schemas.microsoft.com/office/drawing/2014/main" id="{CE8CE1AC-BE7D-0C30-5BA2-95D30C49EAE9}"/>
                    </a:ext>
                  </a:extLst>
                </p:cNvPr>
                <p:cNvSpPr txBox="1">
                  <a:spLocks noChangeArrowheads="1"/>
                </p:cNvSpPr>
                <p:nvPr/>
              </p:nvSpPr>
              <p:spPr bwMode="auto">
                <a:xfrm>
                  <a:off x="7572095" y="4210124"/>
                  <a:ext cx="576000" cy="432000"/>
                </a:xfrm>
                <a:prstGeom prst="rect">
                  <a:avLst/>
                </a:prstGeom>
                <a:noFill/>
                <a:ln>
                  <a:noFill/>
                </a:ln>
                <a:extLst>
                  <a:ext uri="{909E8E84-426E-40dd-AFC4-6F175D3DCCD1}">
                    <a14:hiddenFill xmlns="">
                      <a:solidFill>
                        <a:srgbClr val="FFFFFF"/>
                      </a:solidFill>
                    </a14:hiddenFill>
                  </a:ext>
                  <a:ext uri="{91240B29-F687-4f45-9708-019B960494DF}">
                    <a14:hiddenLine xmlns="" w="38100">
                      <a:solidFill>
                        <a:srgbClr val="000000"/>
                      </a:solidFill>
                      <a:miter lim="800000"/>
                      <a:headEnd type="none" w="sm" len="sm"/>
                      <a:tailEnd type="none" w="sm" len="sm"/>
                    </a14:hiddenLine>
                  </a:ext>
                </a:extLst>
              </p:spPr>
              <p:txBody>
                <a:bodyPr wrap="none" lIns="90000" tIns="46800" rIns="90000" bIns="46800"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Bef>
                      <a:spcPct val="50000"/>
                    </a:spcBef>
                    <a:spcAft>
                      <a:spcPct val="0"/>
                    </a:spcAft>
                    <a:buNone/>
                  </a:pPr>
                  <a14:m>
                    <m:oMathPara xmlns:m="http://schemas.openxmlformats.org/officeDocument/2006/math">
                      <m:oMathParaPr>
                        <m:jc m:val="centerGroup"/>
                      </m:oMathParaPr>
                      <m:oMath xmlns:m="http://schemas.openxmlformats.org/officeDocument/2006/math">
                        <m:sSub>
                          <m:sSubPr>
                            <m:ctrlP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b="0" i="1">
                                <a:solidFill>
                                  <a:schemeClr val="accent5">
                                    <a:lumMod val="75000"/>
                                  </a:schemeClr>
                                </a:solidFill>
                                <a:latin typeface="Cambria Math" panose="02040503050406030204" pitchFamily="18" charset="0"/>
                                <a:ea typeface="微软雅黑" panose="020B0503020204020204" pitchFamily="34" charset="-122"/>
                              </a:rPr>
                              <m:t>m</m:t>
                            </m:r>
                          </m:sub>
                        </m:sSub>
                      </m:oMath>
                    </m:oMathPara>
                  </a14:m>
                  <a:endParaRPr kumimoji="1" lang="en-US" altLang="zh-CN" sz="2400" i="1" dirty="0">
                    <a:solidFill>
                      <a:schemeClr val="accent5">
                        <a:lumMod val="75000"/>
                      </a:schemeClr>
                    </a:solidFill>
                    <a:ea typeface="楷体_GB2312" pitchFamily="49" charset="-122"/>
                  </a:endParaRPr>
                </a:p>
              </p:txBody>
            </p:sp>
          </mc:Choice>
          <mc:Fallback xmlns="">
            <p:sp>
              <p:nvSpPr>
                <p:cNvPr id="32" name="Text Box 8">
                  <a:extLst>
                    <a:ext uri="{FF2B5EF4-FFF2-40B4-BE49-F238E27FC236}">
                      <a16:creationId xmlns:a16="http://schemas.microsoft.com/office/drawing/2014/main" id="{CE8CE1AC-BE7D-0C30-5BA2-95D30C49EAE9}"/>
                    </a:ext>
                  </a:extLst>
                </p:cNvPr>
                <p:cNvSpPr txBox="1">
                  <a:spLocks noRot="1" noChangeAspect="1" noMove="1" noResize="1" noEditPoints="1" noAdjustHandles="1" noChangeArrowheads="1" noChangeShapeType="1" noTextEdit="1"/>
                </p:cNvSpPr>
                <p:nvPr/>
              </p:nvSpPr>
              <p:spPr bwMode="auto">
                <a:xfrm>
                  <a:off x="7572095" y="4210124"/>
                  <a:ext cx="576000" cy="432000"/>
                </a:xfrm>
                <a:prstGeom prst="rect">
                  <a:avLst/>
                </a:prstGeom>
                <a:blipFill>
                  <a:blip r:embed="rId7"/>
                  <a:stretch>
                    <a:fillRect l="-4211" b="-281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38100">
                      <a:solidFill>
                        <a:srgbClr val="000000"/>
                      </a:solidFill>
                      <a:miter lim="800000"/>
                      <a:headEnd type="none" w="sm" len="sm"/>
                      <a:tailEnd type="none" w="sm" len="sm"/>
                    </a14:hiddenLine>
                  </a:ext>
                </a:extLst>
              </p:spPr>
              <p:txBody>
                <a:bodyPr/>
                <a:lstStyle/>
                <a:p>
                  <a:r>
                    <a:rPr lang="zh-CN" altLang="en-US">
                      <a:noFill/>
                    </a:rPr>
                    <a:t> </a:t>
                  </a:r>
                </a:p>
              </p:txBody>
            </p:sp>
          </mc:Fallback>
        </mc:AlternateContent>
        <p:cxnSp>
          <p:nvCxnSpPr>
            <p:cNvPr id="33" name="直接连接符 32">
              <a:extLst>
                <a:ext uri="{FF2B5EF4-FFF2-40B4-BE49-F238E27FC236}">
                  <a16:creationId xmlns:a16="http://schemas.microsoft.com/office/drawing/2014/main" id="{B6709EC2-6AC9-BCBA-6325-3765A013B488}"/>
                </a:ext>
              </a:extLst>
            </p:cNvPr>
            <p:cNvCxnSpPr>
              <a:cxnSpLocks/>
            </p:cNvCxnSpPr>
            <p:nvPr/>
          </p:nvCxnSpPr>
          <p:spPr>
            <a:xfrm>
              <a:off x="7680095" y="5578124"/>
              <a:ext cx="324000" cy="0"/>
            </a:xfrm>
            <a:prstGeom prst="line">
              <a:avLst/>
            </a:prstGeom>
            <a:ln w="12700">
              <a:solidFill>
                <a:schemeClr val="accent5">
                  <a:lumMod val="75000"/>
                </a:schemeClr>
              </a:solidFill>
              <a:prstDash val="solid"/>
              <a:headEnd type="triangle" w="sm" len="med"/>
              <a:tailEnd type="triangle" w="sm" len="med"/>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293FEC24-B0D0-856C-DF05-882E8B6C7DE2}"/>
                  </a:ext>
                </a:extLst>
              </p:cNvPr>
              <p:cNvSpPr txBox="1"/>
              <p:nvPr/>
            </p:nvSpPr>
            <p:spPr>
              <a:xfrm>
                <a:off x="360000" y="3780000"/>
                <a:ext cx="7409125" cy="2544414"/>
              </a:xfrm>
              <a:prstGeom prst="rect">
                <a:avLst/>
              </a:prstGeom>
              <a:noFill/>
            </p:spPr>
            <p:txBody>
              <a:bodyPr wrap="square">
                <a:spAutoFit/>
              </a:bodyPr>
              <a:lstStyle/>
              <a:p>
                <a:pPr>
                  <a:lnSpc>
                    <a:spcPct val="120000"/>
                  </a:lnSpc>
                  <a:spcAft>
                    <a:spcPts val="600"/>
                  </a:spcAft>
                </a:pPr>
                <a:r>
                  <a:rPr kumimoji="1" lang="zh-CN" altLang="en-US" sz="2800" dirty="0">
                    <a:solidFill>
                      <a:srgbClr val="002060"/>
                    </a:solidFill>
                    <a:latin typeface="微软雅黑" panose="020B0503020204020204" pitchFamily="34" charset="-122"/>
                    <a:ea typeface="微软雅黑" panose="020B0503020204020204" pitchFamily="34" charset="-122"/>
                  </a:rPr>
                  <a:t>正弦交流电最大值和有效值关系</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在相同时间内，正弦交流信号和某直流电分别通过相同阻值的电阻，做的功（产生的热能）相同，则此直流电的电量数值（</a:t>
                </a:r>
                <a14:m>
                  <m:oMath xmlns:m="http://schemas.openxmlformats.org/officeDocument/2006/math">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𝑉</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14:m>
                  <m:oMath xmlns:m="http://schemas.openxmlformats.org/officeDocument/2006/math">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𝐼</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）为交流电的</a:t>
                </a:r>
                <a:r>
                  <a:rPr kumimoji="1" lang="zh-CN" altLang="en-US" sz="2400" dirty="0">
                    <a:solidFill>
                      <a:srgbClr val="C00000"/>
                    </a:solidFill>
                    <a:latin typeface="微软雅黑" panose="020B0503020204020204" pitchFamily="34" charset="-122"/>
                    <a:ea typeface="微软雅黑" panose="020B0503020204020204" pitchFamily="34" charset="-122"/>
                  </a:rPr>
                  <a:t>有效值</a:t>
                </a:r>
                <a:endParaRPr kumimoji="1" lang="en-US" altLang="zh-CN" sz="2400" dirty="0">
                  <a:solidFill>
                    <a:srgbClr val="C0000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400" dirty="0">
                    <a:solidFill>
                      <a:schemeClr val="accent5">
                        <a:lumMod val="75000"/>
                      </a:schemeClr>
                    </a:solidFill>
                    <a:ea typeface="微软雅黑" panose="020B0503020204020204" pitchFamily="34" charset="-122"/>
                  </a:rPr>
                  <a:t>有效值的计算：</a:t>
                </a:r>
                <a14:m>
                  <m:oMath xmlns:m="http://schemas.openxmlformats.org/officeDocument/2006/math">
                    <m:r>
                      <a:rPr kumimoji="1" lang="en-US" altLang="zh-CN" sz="2400" i="1" smtClean="0">
                        <a:solidFill>
                          <a:srgbClr val="0000FF"/>
                        </a:solidFill>
                        <a:latin typeface="Cambria Math" panose="02040503050406030204" pitchFamily="18" charset="0"/>
                        <a:ea typeface="微软雅黑" panose="020B0503020204020204" pitchFamily="34" charset="-122"/>
                      </a:rPr>
                      <m:t>𝑉</m:t>
                    </m:r>
                    <m:r>
                      <a:rPr kumimoji="1" lang="en-US" altLang="zh-CN" sz="2400" i="1" smtClean="0">
                        <a:solidFill>
                          <a:srgbClr val="0000FF"/>
                        </a:solidFill>
                        <a:latin typeface="Cambria Math" panose="02040503050406030204" pitchFamily="18" charset="0"/>
                        <a:ea typeface="微软雅黑" panose="020B0503020204020204" pitchFamily="34" charset="-122"/>
                      </a:rPr>
                      <m:t>=</m:t>
                    </m:r>
                    <m:f>
                      <m:fPr>
                        <m:type m:val="lin"/>
                        <m:ctrlPr>
                          <a:rPr kumimoji="1" lang="en-US" altLang="zh-CN" sz="2400" i="1" smtClean="0">
                            <a:solidFill>
                              <a:srgbClr val="0000FF"/>
                            </a:solidFill>
                            <a:latin typeface="Cambria Math" panose="02040503050406030204" pitchFamily="18" charset="0"/>
                            <a:ea typeface="微软雅黑" panose="020B0503020204020204" pitchFamily="34" charset="-122"/>
                          </a:rPr>
                        </m:ctrlPr>
                      </m:fPr>
                      <m:num>
                        <m:sSub>
                          <m:sSubPr>
                            <m:ctrlPr>
                              <a:rPr kumimoji="1" lang="en-US" altLang="zh-CN" sz="2400" i="1">
                                <a:solidFill>
                                  <a:srgbClr val="0000FF"/>
                                </a:solidFill>
                                <a:latin typeface="Cambria Math" panose="02040503050406030204" pitchFamily="18" charset="0"/>
                                <a:ea typeface="微软雅黑" panose="020B0503020204020204" pitchFamily="34" charset="-122"/>
                              </a:rPr>
                            </m:ctrlPr>
                          </m:sSubPr>
                          <m:e>
                            <m:r>
                              <a:rPr kumimoji="1" lang="en-US" altLang="zh-CN" sz="2400" i="1">
                                <a:solidFill>
                                  <a:srgbClr val="0000FF"/>
                                </a:solidFill>
                                <a:latin typeface="Cambria Math" panose="02040503050406030204" pitchFamily="18" charset="0"/>
                                <a:ea typeface="微软雅黑" panose="020B0503020204020204" pitchFamily="34" charset="-122"/>
                              </a:rPr>
                              <m:t>𝑉</m:t>
                            </m:r>
                          </m:e>
                          <m:sub>
                            <m:r>
                              <m:rPr>
                                <m:sty m:val="p"/>
                              </m:rPr>
                              <a:rPr kumimoji="1" lang="en-US" altLang="zh-CN" sz="2400" i="1">
                                <a:solidFill>
                                  <a:srgbClr val="0000FF"/>
                                </a:solidFill>
                                <a:latin typeface="Cambria Math" panose="02040503050406030204" pitchFamily="18" charset="0"/>
                                <a:ea typeface="微软雅黑" panose="020B0503020204020204" pitchFamily="34" charset="-122"/>
                              </a:rPr>
                              <m:t>m</m:t>
                            </m:r>
                          </m:sub>
                        </m:sSub>
                      </m:num>
                      <m:den>
                        <m:rad>
                          <m:radPr>
                            <m:degHide m:val="on"/>
                            <m:ctrlPr>
                              <a:rPr kumimoji="1" lang="en-US" altLang="zh-CN" sz="2400" i="1" smtClean="0">
                                <a:solidFill>
                                  <a:srgbClr val="0000FF"/>
                                </a:solidFill>
                                <a:latin typeface="Cambria Math" panose="02040503050406030204" pitchFamily="18" charset="0"/>
                                <a:ea typeface="微软雅黑" panose="020B0503020204020204" pitchFamily="34" charset="-122"/>
                              </a:rPr>
                            </m:ctrlPr>
                          </m:radPr>
                          <m:deg/>
                          <m:e>
                            <m:r>
                              <a:rPr kumimoji="1" lang="en-US" altLang="zh-CN" sz="2400" b="0" i="1" smtClean="0">
                                <a:solidFill>
                                  <a:srgbClr val="0000FF"/>
                                </a:solidFill>
                                <a:latin typeface="Cambria Math" panose="02040503050406030204" pitchFamily="18" charset="0"/>
                                <a:ea typeface="微软雅黑" panose="020B0503020204020204" pitchFamily="34" charset="-122"/>
                              </a:rPr>
                              <m:t>2</m:t>
                            </m:r>
                          </m:e>
                        </m:rad>
                      </m:den>
                    </m:f>
                  </m:oMath>
                </a14:m>
                <a:r>
                  <a:rPr kumimoji="1" lang="zh-CN" altLang="en-US" sz="2400" dirty="0">
                    <a:solidFill>
                      <a:srgbClr val="0000FF"/>
                    </a:solidFill>
                    <a:latin typeface="微软雅黑" panose="020B0503020204020204" pitchFamily="34" charset="-122"/>
                    <a:ea typeface="微软雅黑" panose="020B0503020204020204" pitchFamily="34" charset="-122"/>
                  </a:rPr>
                  <a:t>，</a:t>
                </a:r>
                <a14:m>
                  <m:oMath xmlns:m="http://schemas.openxmlformats.org/officeDocument/2006/math">
                    <m:r>
                      <a:rPr kumimoji="1" lang="en-US" altLang="zh-CN" sz="2400" b="0" i="1" smtClean="0">
                        <a:solidFill>
                          <a:srgbClr val="0000FF"/>
                        </a:solidFill>
                        <a:latin typeface="Cambria Math" panose="02040503050406030204" pitchFamily="18" charset="0"/>
                        <a:ea typeface="微软雅黑" panose="020B0503020204020204" pitchFamily="34" charset="-122"/>
                      </a:rPr>
                      <m:t>𝐼</m:t>
                    </m:r>
                    <m:r>
                      <a:rPr kumimoji="1" lang="en-US" altLang="zh-CN" sz="2400" i="1">
                        <a:solidFill>
                          <a:srgbClr val="0000FF"/>
                        </a:solidFill>
                        <a:latin typeface="Cambria Math" panose="02040503050406030204" pitchFamily="18" charset="0"/>
                        <a:ea typeface="微软雅黑" panose="020B0503020204020204" pitchFamily="34" charset="-122"/>
                      </a:rPr>
                      <m:t>=</m:t>
                    </m:r>
                    <m:f>
                      <m:fPr>
                        <m:type m:val="lin"/>
                        <m:ctrlPr>
                          <a:rPr kumimoji="1" lang="en-US" altLang="zh-CN" sz="2400" i="1">
                            <a:solidFill>
                              <a:srgbClr val="0000FF"/>
                            </a:solidFill>
                            <a:latin typeface="Cambria Math" panose="02040503050406030204" pitchFamily="18" charset="0"/>
                            <a:ea typeface="微软雅黑" panose="020B0503020204020204" pitchFamily="34" charset="-122"/>
                          </a:rPr>
                        </m:ctrlPr>
                      </m:fPr>
                      <m:num>
                        <m:sSub>
                          <m:sSubPr>
                            <m:ctrlPr>
                              <a:rPr kumimoji="1" lang="en-US" altLang="zh-CN" sz="2400" i="1">
                                <a:solidFill>
                                  <a:srgbClr val="0000FF"/>
                                </a:solidFill>
                                <a:latin typeface="Cambria Math" panose="02040503050406030204" pitchFamily="18" charset="0"/>
                                <a:ea typeface="微软雅黑" panose="020B0503020204020204" pitchFamily="34" charset="-122"/>
                              </a:rPr>
                            </m:ctrlPr>
                          </m:sSubPr>
                          <m:e>
                            <m:r>
                              <a:rPr kumimoji="1" lang="en-US" altLang="zh-CN" sz="2400" b="0" i="1" smtClean="0">
                                <a:solidFill>
                                  <a:srgbClr val="0000FF"/>
                                </a:solidFill>
                                <a:latin typeface="Cambria Math" panose="02040503050406030204" pitchFamily="18" charset="0"/>
                                <a:ea typeface="微软雅黑" panose="020B0503020204020204" pitchFamily="34" charset="-122"/>
                              </a:rPr>
                              <m:t>𝐼</m:t>
                            </m:r>
                          </m:e>
                          <m:sub>
                            <m:r>
                              <m:rPr>
                                <m:sty m:val="p"/>
                              </m:rPr>
                              <a:rPr kumimoji="1" lang="en-US" altLang="zh-CN" sz="2400" i="1">
                                <a:solidFill>
                                  <a:srgbClr val="0000FF"/>
                                </a:solidFill>
                                <a:latin typeface="Cambria Math" panose="02040503050406030204" pitchFamily="18" charset="0"/>
                                <a:ea typeface="微软雅黑" panose="020B0503020204020204" pitchFamily="34" charset="-122"/>
                              </a:rPr>
                              <m:t>m</m:t>
                            </m:r>
                          </m:sub>
                        </m:sSub>
                      </m:num>
                      <m:den>
                        <m:rad>
                          <m:radPr>
                            <m:degHide m:val="on"/>
                            <m:ctrlPr>
                              <a:rPr kumimoji="1" lang="en-US" altLang="zh-CN" sz="2400" i="1">
                                <a:solidFill>
                                  <a:srgbClr val="0000FF"/>
                                </a:solidFill>
                                <a:latin typeface="Cambria Math" panose="02040503050406030204" pitchFamily="18" charset="0"/>
                                <a:ea typeface="微软雅黑" panose="020B0503020204020204" pitchFamily="34" charset="-122"/>
                              </a:rPr>
                            </m:ctrlPr>
                          </m:radPr>
                          <m:deg/>
                          <m:e>
                            <m:r>
                              <a:rPr kumimoji="1" lang="en-US" altLang="zh-CN" sz="2400" i="1">
                                <a:solidFill>
                                  <a:srgbClr val="0000FF"/>
                                </a:solidFill>
                                <a:latin typeface="Cambria Math" panose="02040503050406030204" pitchFamily="18" charset="0"/>
                                <a:ea typeface="微软雅黑" panose="020B0503020204020204" pitchFamily="34" charset="-122"/>
                              </a:rPr>
                              <m:t>2</m:t>
                            </m:r>
                          </m:e>
                        </m:rad>
                      </m:den>
                    </m:f>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51" name="文本框 50">
                <a:extLst>
                  <a:ext uri="{FF2B5EF4-FFF2-40B4-BE49-F238E27FC236}">
                    <a16:creationId xmlns:a16="http://schemas.microsoft.com/office/drawing/2014/main" id="{293FEC24-B0D0-856C-DF05-882E8B6C7DE2}"/>
                  </a:ext>
                </a:extLst>
              </p:cNvPr>
              <p:cNvSpPr txBox="1">
                <a:spLocks noRot="1" noChangeAspect="1" noMove="1" noResize="1" noEditPoints="1" noAdjustHandles="1" noChangeArrowheads="1" noChangeShapeType="1" noTextEdit="1"/>
              </p:cNvSpPr>
              <p:nvPr/>
            </p:nvSpPr>
            <p:spPr>
              <a:xfrm>
                <a:off x="360000" y="3780000"/>
                <a:ext cx="7409125" cy="2544414"/>
              </a:xfrm>
              <a:prstGeom prst="rect">
                <a:avLst/>
              </a:prstGeom>
              <a:blipFill>
                <a:blip r:embed="rId8"/>
                <a:stretch>
                  <a:fillRect l="-1646" t="-719" r="-494" b="-407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705562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FCA46-814C-8B4C-9197-FB4EC70F8D63}"/>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id="{992C8CFE-66DC-67DA-9088-FABF9899369C}"/>
              </a:ext>
            </a:extLst>
          </p:cNvPr>
          <p:cNvGrpSpPr/>
          <p:nvPr/>
        </p:nvGrpSpPr>
        <p:grpSpPr>
          <a:xfrm>
            <a:off x="11449269" y="6198682"/>
            <a:ext cx="786273" cy="548639"/>
            <a:chOff x="11454918" y="5839511"/>
            <a:chExt cx="786273" cy="548639"/>
          </a:xfrm>
        </p:grpSpPr>
        <p:grpSp>
          <p:nvGrpSpPr>
            <p:cNvPr id="4" name="组合 3">
              <a:extLst>
                <a:ext uri="{FF2B5EF4-FFF2-40B4-BE49-F238E27FC236}">
                  <a16:creationId xmlns:a16="http://schemas.microsoft.com/office/drawing/2014/main" id="{A22B5C22-7C68-A44C-5BCB-E7CD5E5CE492}"/>
                </a:ext>
              </a:extLst>
            </p:cNvPr>
            <p:cNvGrpSpPr/>
            <p:nvPr/>
          </p:nvGrpSpPr>
          <p:grpSpPr>
            <a:xfrm>
              <a:off x="11454918" y="5867450"/>
              <a:ext cx="737081" cy="520700"/>
              <a:chOff x="11454918" y="5867450"/>
              <a:chExt cx="737081" cy="520700"/>
            </a:xfrm>
          </p:grpSpPr>
          <p:sp>
            <p:nvSpPr>
              <p:cNvPr id="6" name="箭头: 五边形 5">
                <a:extLst>
                  <a:ext uri="{FF2B5EF4-FFF2-40B4-BE49-F238E27FC236}">
                    <a16:creationId xmlns:a16="http://schemas.microsoft.com/office/drawing/2014/main" id="{06A8B601-138D-97E9-2572-E6D82AC03338}"/>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箭头: V 形 6">
                <a:extLst>
                  <a:ext uri="{FF2B5EF4-FFF2-40B4-BE49-F238E27FC236}">
                    <a16:creationId xmlns:a16="http://schemas.microsoft.com/office/drawing/2014/main" id="{2BCD856D-86D7-A818-B891-AFD041E8211C}"/>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5" name="灯片编号占位符 3">
              <a:extLst>
                <a:ext uri="{FF2B5EF4-FFF2-40B4-BE49-F238E27FC236}">
                  <a16:creationId xmlns:a16="http://schemas.microsoft.com/office/drawing/2014/main" id="{4499EEF5-D33B-7122-2D84-3713440F1EAA}"/>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27</a:t>
              </a:fld>
              <a:endParaRPr lang="zh-CN" altLang="en-US" sz="3200" dirty="0">
                <a:solidFill>
                  <a:schemeClr val="bg1"/>
                </a:solidFill>
                <a:latin typeface="Candara"/>
                <a:ea typeface="微软雅黑"/>
              </a:endParaRPr>
            </a:p>
          </p:txBody>
        </p:sp>
      </p:grpSp>
      <p:sp>
        <p:nvSpPr>
          <p:cNvPr id="8" name="文本框 7">
            <a:extLst>
              <a:ext uri="{FF2B5EF4-FFF2-40B4-BE49-F238E27FC236}">
                <a16:creationId xmlns:a16="http://schemas.microsoft.com/office/drawing/2014/main" id="{7495DAF2-6A36-E0CE-B4EB-342A28CED7E8}"/>
              </a:ext>
            </a:extLst>
          </p:cNvPr>
          <p:cNvSpPr txBox="1"/>
          <p:nvPr/>
        </p:nvSpPr>
        <p:spPr>
          <a:xfrm>
            <a:off x="360000" y="828000"/>
            <a:ext cx="9470843" cy="1159613"/>
          </a:xfrm>
          <a:prstGeom prst="rect">
            <a:avLst/>
          </a:prstGeom>
          <a:noFill/>
        </p:spPr>
        <p:txBody>
          <a:bodyPr wrap="square">
            <a:spAutoFit/>
          </a:bodyPr>
          <a:lstStyle/>
          <a:p>
            <a:pPr>
              <a:lnSpc>
                <a:spcPct val="120000"/>
              </a:lnSpc>
              <a:spcAft>
                <a:spcPts val="600"/>
              </a:spcAft>
            </a:pPr>
            <a:r>
              <a:rPr kumimoji="1" lang="zh-CN" altLang="en-US" sz="2800" dirty="0">
                <a:solidFill>
                  <a:srgbClr val="002060"/>
                </a:solidFill>
                <a:latin typeface="微软雅黑" panose="020B0503020204020204" pitchFamily="34" charset="-122"/>
                <a:ea typeface="微软雅黑" panose="020B0503020204020204" pitchFamily="34" charset="-122"/>
              </a:rPr>
              <a:t>二极管的主要应用</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开关：利用二极管的单向导电性可实现接通或断开电路</a:t>
            </a:r>
            <a:endParaRPr kumimoji="1" lang="en-US" altLang="zh-CN" sz="2800" dirty="0">
              <a:solidFill>
                <a:srgbClr val="002060"/>
              </a:solidFill>
              <a:latin typeface="微软雅黑" panose="020B0503020204020204" pitchFamily="34" charset="-122"/>
              <a:ea typeface="微软雅黑" panose="020B0503020204020204" pitchFamily="34" charset="-122"/>
            </a:endParaRPr>
          </a:p>
        </p:txBody>
      </p:sp>
      <p:grpSp>
        <p:nvGrpSpPr>
          <p:cNvPr id="129" name="组合 128">
            <a:extLst>
              <a:ext uri="{FF2B5EF4-FFF2-40B4-BE49-F238E27FC236}">
                <a16:creationId xmlns:a16="http://schemas.microsoft.com/office/drawing/2014/main" id="{FCD6D9C5-560F-2FD6-B2E7-7F65C35F0900}"/>
              </a:ext>
            </a:extLst>
          </p:cNvPr>
          <p:cNvGrpSpPr/>
          <p:nvPr/>
        </p:nvGrpSpPr>
        <p:grpSpPr>
          <a:xfrm>
            <a:off x="540000" y="1872000"/>
            <a:ext cx="3636000" cy="2322278"/>
            <a:chOff x="346867" y="2112180"/>
            <a:chExt cx="3636000" cy="2322278"/>
          </a:xfrm>
        </p:grpSpPr>
        <p:grpSp>
          <p:nvGrpSpPr>
            <p:cNvPr id="25" name="组合 24">
              <a:extLst>
                <a:ext uri="{FF2B5EF4-FFF2-40B4-BE49-F238E27FC236}">
                  <a16:creationId xmlns:a16="http://schemas.microsoft.com/office/drawing/2014/main" id="{F3404F05-A817-9507-C272-AB41700880C8}"/>
                </a:ext>
              </a:extLst>
            </p:cNvPr>
            <p:cNvGrpSpPr/>
            <p:nvPr/>
          </p:nvGrpSpPr>
          <p:grpSpPr>
            <a:xfrm rot="10800000">
              <a:off x="1642867" y="2274180"/>
              <a:ext cx="288000" cy="468000"/>
              <a:chOff x="2330007" y="2504429"/>
              <a:chExt cx="288000" cy="468000"/>
            </a:xfrm>
          </p:grpSpPr>
          <p:sp>
            <p:nvSpPr>
              <p:cNvPr id="11" name="等腰三角形 10">
                <a:extLst>
                  <a:ext uri="{FF2B5EF4-FFF2-40B4-BE49-F238E27FC236}">
                    <a16:creationId xmlns:a16="http://schemas.microsoft.com/office/drawing/2014/main" id="{8E55C979-3CEC-E04A-0A44-4F42B83C4D18}"/>
                  </a:ext>
                </a:extLst>
              </p:cNvPr>
              <p:cNvSpPr/>
              <p:nvPr/>
            </p:nvSpPr>
            <p:spPr>
              <a:xfrm rot="5400000">
                <a:off x="2258007" y="2594429"/>
                <a:ext cx="432000" cy="288000"/>
              </a:xfrm>
              <a:prstGeom prst="triangl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cxnSp>
            <p:nvCxnSpPr>
              <p:cNvPr id="12" name="直接连接符 11">
                <a:extLst>
                  <a:ext uri="{FF2B5EF4-FFF2-40B4-BE49-F238E27FC236}">
                    <a16:creationId xmlns:a16="http://schemas.microsoft.com/office/drawing/2014/main" id="{1E280904-FF02-2FFA-573C-18129CC399E2}"/>
                  </a:ext>
                </a:extLst>
              </p:cNvPr>
              <p:cNvCxnSpPr>
                <a:cxnSpLocks/>
              </p:cNvCxnSpPr>
              <p:nvPr/>
            </p:nvCxnSpPr>
            <p:spPr>
              <a:xfrm>
                <a:off x="2618007" y="2504429"/>
                <a:ext cx="0" cy="46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 name="直接连接符 12">
              <a:extLst>
                <a:ext uri="{FF2B5EF4-FFF2-40B4-BE49-F238E27FC236}">
                  <a16:creationId xmlns:a16="http://schemas.microsoft.com/office/drawing/2014/main" id="{5FCA6DE0-5C15-B86E-E0EF-DC56BA822159}"/>
                </a:ext>
              </a:extLst>
            </p:cNvPr>
            <p:cNvCxnSpPr>
              <a:cxnSpLocks/>
            </p:cNvCxnSpPr>
            <p:nvPr/>
          </p:nvCxnSpPr>
          <p:spPr>
            <a:xfrm flipH="1">
              <a:off x="526867" y="2508180"/>
              <a:ext cx="324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F96A8D0E-B082-CB6E-A71C-F45B50D4C25A}"/>
                </a:ext>
              </a:extLst>
            </p:cNvPr>
            <p:cNvCxnSpPr>
              <a:cxnSpLocks/>
            </p:cNvCxnSpPr>
            <p:nvPr/>
          </p:nvCxnSpPr>
          <p:spPr>
            <a:xfrm>
              <a:off x="2974867" y="3721922"/>
              <a:ext cx="0" cy="712536"/>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60640C51-352D-8677-2C36-D3460BC6996C}"/>
                </a:ext>
              </a:extLst>
            </p:cNvPr>
            <p:cNvCxnSpPr>
              <a:cxnSpLocks/>
            </p:cNvCxnSpPr>
            <p:nvPr/>
          </p:nvCxnSpPr>
          <p:spPr>
            <a:xfrm flipH="1">
              <a:off x="538542" y="4094396"/>
              <a:ext cx="3233358"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椭圆 17">
              <a:extLst>
                <a:ext uri="{FF2B5EF4-FFF2-40B4-BE49-F238E27FC236}">
                  <a16:creationId xmlns:a16="http://schemas.microsoft.com/office/drawing/2014/main" id="{64F5C8FE-7626-FA90-B6C3-420131B3585C}"/>
                </a:ext>
              </a:extLst>
            </p:cNvPr>
            <p:cNvSpPr/>
            <p:nvPr/>
          </p:nvSpPr>
          <p:spPr>
            <a:xfrm>
              <a:off x="2920867" y="245418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19" name="Rectangle 8">
                  <a:extLst>
                    <a:ext uri="{FF2B5EF4-FFF2-40B4-BE49-F238E27FC236}">
                      <a16:creationId xmlns:a16="http://schemas.microsoft.com/office/drawing/2014/main" id="{B02296BB-9C08-A6DD-9776-57E1FEB4405B}"/>
                    </a:ext>
                  </a:extLst>
                </p:cNvPr>
                <p:cNvSpPr>
                  <a:spLocks noChangeArrowheads="1"/>
                </p:cNvSpPr>
                <p:nvPr/>
              </p:nvSpPr>
              <p:spPr bwMode="auto">
                <a:xfrm>
                  <a:off x="2578867" y="2904180"/>
                  <a:ext cx="360000" cy="36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right"/>
                      </m:oMathParaPr>
                      <m:oMath xmlns:m="http://schemas.openxmlformats.org/officeDocument/2006/math">
                        <m:r>
                          <a:rPr kumimoji="1" lang="en-US" altLang="zh-CN" sz="2000" b="0" i="1" smtClean="0">
                            <a:solidFill>
                              <a:schemeClr val="tx1"/>
                            </a:solidFill>
                            <a:latin typeface="Cambria Math" panose="02040503050406030204" pitchFamily="18" charset="0"/>
                            <a:ea typeface="微软雅黑" panose="020B0503020204020204" pitchFamily="34" charset="-122"/>
                          </a:rPr>
                          <m:t>𝑅</m:t>
                        </m:r>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9" name="Rectangle 8">
                  <a:extLst>
                    <a:ext uri="{FF2B5EF4-FFF2-40B4-BE49-F238E27FC236}">
                      <a16:creationId xmlns:a16="http://schemas.microsoft.com/office/drawing/2014/main" id="{B02296BB-9C08-A6DD-9776-57E1FEB4405B}"/>
                    </a:ext>
                  </a:extLst>
                </p:cNvPr>
                <p:cNvSpPr>
                  <a:spLocks noRot="1" noChangeAspect="1" noMove="1" noResize="1" noEditPoints="1" noAdjustHandles="1" noChangeArrowheads="1" noChangeShapeType="1" noTextEdit="1"/>
                </p:cNvSpPr>
                <p:nvPr/>
              </p:nvSpPr>
              <p:spPr bwMode="auto">
                <a:xfrm>
                  <a:off x="2578867" y="2904180"/>
                  <a:ext cx="360000" cy="360000"/>
                </a:xfrm>
                <a:prstGeom prst="rect">
                  <a:avLst/>
                </a:prstGeom>
                <a:blipFill>
                  <a:blip r:embed="rId2"/>
                  <a:stretch>
                    <a:fillRect b="-508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0" name="椭圆 19">
              <a:extLst>
                <a:ext uri="{FF2B5EF4-FFF2-40B4-BE49-F238E27FC236}">
                  <a16:creationId xmlns:a16="http://schemas.microsoft.com/office/drawing/2014/main" id="{A27B748B-8870-FBB3-34A7-16BF05C93FE8}"/>
                </a:ext>
              </a:extLst>
            </p:cNvPr>
            <p:cNvSpPr/>
            <p:nvPr/>
          </p:nvSpPr>
          <p:spPr>
            <a:xfrm>
              <a:off x="2920867" y="403818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29" name="直接连接符 28">
              <a:extLst>
                <a:ext uri="{FF2B5EF4-FFF2-40B4-BE49-F238E27FC236}">
                  <a16:creationId xmlns:a16="http://schemas.microsoft.com/office/drawing/2014/main" id="{893FB490-E677-9E0C-348F-CEC0032A6759}"/>
                </a:ext>
              </a:extLst>
            </p:cNvPr>
            <p:cNvCxnSpPr>
              <a:cxnSpLocks/>
            </p:cNvCxnSpPr>
            <p:nvPr/>
          </p:nvCxnSpPr>
          <p:spPr>
            <a:xfrm flipH="1">
              <a:off x="2758867" y="3588180"/>
              <a:ext cx="43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31537DDD-F0F8-A00D-A634-ED428C9CA1A9}"/>
                </a:ext>
              </a:extLst>
            </p:cNvPr>
            <p:cNvCxnSpPr>
              <a:cxnSpLocks/>
            </p:cNvCxnSpPr>
            <p:nvPr/>
          </p:nvCxnSpPr>
          <p:spPr>
            <a:xfrm flipH="1">
              <a:off x="2866867" y="3696180"/>
              <a:ext cx="2160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E95DDCBD-531A-8C53-6D27-4DE8DEB8EA5B}"/>
                </a:ext>
              </a:extLst>
            </p:cNvPr>
            <p:cNvCxnSpPr>
              <a:cxnSpLocks/>
            </p:cNvCxnSpPr>
            <p:nvPr/>
          </p:nvCxnSpPr>
          <p:spPr>
            <a:xfrm>
              <a:off x="2974867" y="2505546"/>
              <a:ext cx="0" cy="109203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5" name="Rectangle 8">
                  <a:extLst>
                    <a:ext uri="{FF2B5EF4-FFF2-40B4-BE49-F238E27FC236}">
                      <a16:creationId xmlns:a16="http://schemas.microsoft.com/office/drawing/2014/main" id="{FAAC6C25-5229-5B4A-F44D-E82523654816}"/>
                    </a:ext>
                  </a:extLst>
                </p:cNvPr>
                <p:cNvSpPr>
                  <a:spLocks noChangeArrowheads="1"/>
                </p:cNvSpPr>
                <p:nvPr/>
              </p:nvSpPr>
              <p:spPr bwMode="auto">
                <a:xfrm>
                  <a:off x="1246867" y="2112180"/>
                  <a:ext cx="396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right"/>
                      </m:oMathParaPr>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𝐷</m:t>
                            </m:r>
                          </m:e>
                          <m:sub>
                            <m:r>
                              <a:rPr kumimoji="1" lang="en-US" altLang="zh-CN" sz="2000" b="0" i="1" smtClean="0">
                                <a:solidFill>
                                  <a:schemeClr val="tx1"/>
                                </a:solidFill>
                                <a:latin typeface="Cambria Math" panose="02040503050406030204" pitchFamily="18" charset="0"/>
                                <a:ea typeface="微软雅黑" panose="020B0503020204020204" pitchFamily="34" charset="-122"/>
                              </a:rPr>
                              <m:t>1</m:t>
                            </m:r>
                          </m:sub>
                        </m:sSub>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35" name="Rectangle 8">
                  <a:extLst>
                    <a:ext uri="{FF2B5EF4-FFF2-40B4-BE49-F238E27FC236}">
                      <a16:creationId xmlns:a16="http://schemas.microsoft.com/office/drawing/2014/main" id="{FAAC6C25-5229-5B4A-F44D-E82523654816}"/>
                    </a:ext>
                  </a:extLst>
                </p:cNvPr>
                <p:cNvSpPr>
                  <a:spLocks noRot="1" noChangeAspect="1" noMove="1" noResize="1" noEditPoints="1" noAdjustHandles="1" noChangeArrowheads="1" noChangeShapeType="1" noTextEdit="1"/>
                </p:cNvSpPr>
                <p:nvPr/>
              </p:nvSpPr>
              <p:spPr bwMode="auto">
                <a:xfrm>
                  <a:off x="1246867" y="2112180"/>
                  <a:ext cx="396000" cy="396000"/>
                </a:xfrm>
                <a:prstGeom prst="rect">
                  <a:avLst/>
                </a:prstGeom>
                <a:blipFill>
                  <a:blip r:embed="rId3"/>
                  <a:stretch>
                    <a:fillRect r="-4615" b="-307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Rectangle 8">
                  <a:extLst>
                    <a:ext uri="{FF2B5EF4-FFF2-40B4-BE49-F238E27FC236}">
                      <a16:creationId xmlns:a16="http://schemas.microsoft.com/office/drawing/2014/main" id="{C1E27D21-2CE7-12BF-AEC8-F17191CA8534}"/>
                    </a:ext>
                  </a:extLst>
                </p:cNvPr>
                <p:cNvSpPr>
                  <a:spLocks noChangeArrowheads="1"/>
                </p:cNvSpPr>
                <p:nvPr/>
              </p:nvSpPr>
              <p:spPr bwMode="auto">
                <a:xfrm>
                  <a:off x="2290867" y="3408180"/>
                  <a:ext cx="540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right"/>
                      </m:oMathParaPr>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𝑉</m:t>
                            </m:r>
                          </m:e>
                          <m:sub>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CC</m:t>
                            </m:r>
                          </m:sub>
                        </m:sSub>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36" name="Rectangle 8">
                  <a:extLst>
                    <a:ext uri="{FF2B5EF4-FFF2-40B4-BE49-F238E27FC236}">
                      <a16:creationId xmlns:a16="http://schemas.microsoft.com/office/drawing/2014/main" id="{C1E27D21-2CE7-12BF-AEC8-F17191CA8534}"/>
                    </a:ext>
                  </a:extLst>
                </p:cNvPr>
                <p:cNvSpPr>
                  <a:spLocks noRot="1" noChangeAspect="1" noMove="1" noResize="1" noEditPoints="1" noAdjustHandles="1" noChangeArrowheads="1" noChangeShapeType="1" noTextEdit="1"/>
                </p:cNvSpPr>
                <p:nvPr/>
              </p:nvSpPr>
              <p:spPr bwMode="auto">
                <a:xfrm>
                  <a:off x="2290867" y="3408180"/>
                  <a:ext cx="540000" cy="396000"/>
                </a:xfrm>
                <a:prstGeom prst="rect">
                  <a:avLst/>
                </a:prstGeom>
                <a:blipFill>
                  <a:blip r:embed="rId4"/>
                  <a:stretch>
                    <a:fillRect b="-307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9" name="组合 8">
              <a:extLst>
                <a:ext uri="{FF2B5EF4-FFF2-40B4-BE49-F238E27FC236}">
                  <a16:creationId xmlns:a16="http://schemas.microsoft.com/office/drawing/2014/main" id="{C5227F12-C5DB-6294-76ED-95466A479B64}"/>
                </a:ext>
              </a:extLst>
            </p:cNvPr>
            <p:cNvGrpSpPr/>
            <p:nvPr/>
          </p:nvGrpSpPr>
          <p:grpSpPr>
            <a:xfrm rot="10800000">
              <a:off x="1642867" y="2886180"/>
              <a:ext cx="288000" cy="468000"/>
              <a:chOff x="2327417" y="2507870"/>
              <a:chExt cx="288000" cy="468000"/>
            </a:xfrm>
          </p:grpSpPr>
          <p:sp>
            <p:nvSpPr>
              <p:cNvPr id="10" name="等腰三角形 9">
                <a:extLst>
                  <a:ext uri="{FF2B5EF4-FFF2-40B4-BE49-F238E27FC236}">
                    <a16:creationId xmlns:a16="http://schemas.microsoft.com/office/drawing/2014/main" id="{E9AB33B1-E062-8627-6E74-F5A26F780A2C}"/>
                  </a:ext>
                </a:extLst>
              </p:cNvPr>
              <p:cNvSpPr/>
              <p:nvPr/>
            </p:nvSpPr>
            <p:spPr>
              <a:xfrm rot="5400000">
                <a:off x="2255417" y="2597870"/>
                <a:ext cx="432000" cy="288000"/>
              </a:xfrm>
              <a:prstGeom prst="triangl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cxnSp>
            <p:nvCxnSpPr>
              <p:cNvPr id="16" name="直接连接符 15">
                <a:extLst>
                  <a:ext uri="{FF2B5EF4-FFF2-40B4-BE49-F238E27FC236}">
                    <a16:creationId xmlns:a16="http://schemas.microsoft.com/office/drawing/2014/main" id="{8F90BB6E-8B47-1F53-CFF5-50266C7F135E}"/>
                  </a:ext>
                </a:extLst>
              </p:cNvPr>
              <p:cNvCxnSpPr>
                <a:cxnSpLocks/>
              </p:cNvCxnSpPr>
              <p:nvPr/>
            </p:nvCxnSpPr>
            <p:spPr>
              <a:xfrm>
                <a:off x="2615417" y="2507870"/>
                <a:ext cx="0" cy="46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1" name="直接连接符 20">
              <a:extLst>
                <a:ext uri="{FF2B5EF4-FFF2-40B4-BE49-F238E27FC236}">
                  <a16:creationId xmlns:a16="http://schemas.microsoft.com/office/drawing/2014/main" id="{C2F65BAE-A8F7-E4FC-6668-8665CF045A83}"/>
                </a:ext>
              </a:extLst>
            </p:cNvPr>
            <p:cNvCxnSpPr>
              <a:cxnSpLocks/>
            </p:cNvCxnSpPr>
            <p:nvPr/>
          </p:nvCxnSpPr>
          <p:spPr>
            <a:xfrm flipH="1">
              <a:off x="1102866" y="3120180"/>
              <a:ext cx="1116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C014FB6F-D48C-3220-69D8-4D6D2E76F857}"/>
                </a:ext>
              </a:extLst>
            </p:cNvPr>
            <p:cNvCxnSpPr>
              <a:cxnSpLocks/>
            </p:cNvCxnSpPr>
            <p:nvPr/>
          </p:nvCxnSpPr>
          <p:spPr>
            <a:xfrm>
              <a:off x="2218867" y="2508180"/>
              <a:ext cx="0" cy="612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椭圆 37">
              <a:extLst>
                <a:ext uri="{FF2B5EF4-FFF2-40B4-BE49-F238E27FC236}">
                  <a16:creationId xmlns:a16="http://schemas.microsoft.com/office/drawing/2014/main" id="{A027FF7D-24A3-6B18-6AEE-AA25F9ADB144}"/>
                </a:ext>
              </a:extLst>
            </p:cNvPr>
            <p:cNvSpPr/>
            <p:nvPr/>
          </p:nvSpPr>
          <p:spPr>
            <a:xfrm>
              <a:off x="2164867" y="245418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5" name="矩形 14">
              <a:extLst>
                <a:ext uri="{FF2B5EF4-FFF2-40B4-BE49-F238E27FC236}">
                  <a16:creationId xmlns:a16="http://schemas.microsoft.com/office/drawing/2014/main" id="{2694DB9C-29E7-F861-620C-7A85DEF8D231}"/>
                </a:ext>
              </a:extLst>
            </p:cNvPr>
            <p:cNvSpPr/>
            <p:nvPr/>
          </p:nvSpPr>
          <p:spPr>
            <a:xfrm>
              <a:off x="2902867" y="2832180"/>
              <a:ext cx="144000" cy="504000"/>
            </a:xfrm>
            <a:prstGeom prst="rect">
              <a:avLst/>
            </a:prstGeom>
            <a:solidFill>
              <a:schemeClr val="bg1">
                <a:alpha val="99000"/>
              </a:schemeClr>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5" name="Rectangle 8">
                  <a:extLst>
                    <a:ext uri="{FF2B5EF4-FFF2-40B4-BE49-F238E27FC236}">
                      <a16:creationId xmlns:a16="http://schemas.microsoft.com/office/drawing/2014/main" id="{948EDBED-5449-7280-2B4C-0F51088ECEBC}"/>
                    </a:ext>
                  </a:extLst>
                </p:cNvPr>
                <p:cNvSpPr>
                  <a:spLocks noChangeArrowheads="1"/>
                </p:cNvSpPr>
                <p:nvPr/>
              </p:nvSpPr>
              <p:spPr bwMode="auto">
                <a:xfrm>
                  <a:off x="3550867" y="2616180"/>
                  <a:ext cx="432000" cy="126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1800"/>
                    </a:spcAft>
                    <a:buNone/>
                  </a:pPr>
                  <a14:m>
                    <m:oMathPara xmlns:m="http://schemas.openxmlformats.org/officeDocument/2006/math">
                      <m:oMathParaPr>
                        <m:jc m:val="centerGroup"/>
                      </m:oMathParaPr>
                      <m:oMath xmlns:m="http://schemas.openxmlformats.org/officeDocument/2006/math">
                        <m:r>
                          <a:rPr kumimoji="1" lang="pt-BR" altLang="zh-CN" sz="2000" b="0" i="1" smtClean="0">
                            <a:latin typeface="Cambria Math" panose="02040503050406030204" pitchFamily="18" charset="0"/>
                            <a:ea typeface="微软雅黑" panose="020B0503020204020204" pitchFamily="34" charset="-122"/>
                          </a:rPr>
                          <m:t>+</m:t>
                        </m:r>
                      </m:oMath>
                    </m:oMathPara>
                  </a14:m>
                  <a:endParaRPr kumimoji="1" lang="en-US" altLang="zh-CN" sz="2000" b="0" dirty="0">
                    <a:latin typeface="微软雅黑" panose="020B0503020204020204" pitchFamily="34" charset="-122"/>
                    <a:ea typeface="微软雅黑" panose="020B0503020204020204" pitchFamily="34" charset="-122"/>
                  </a:endParaRPr>
                </a:p>
                <a:p>
                  <a:pPr algn="ctr">
                    <a:spcAft>
                      <a:spcPts val="1800"/>
                    </a:spcAft>
                    <a:buNone/>
                  </a:pPr>
                  <a14:m>
                    <m:oMathPara xmlns:m="http://schemas.openxmlformats.org/officeDocument/2006/math">
                      <m:oMathParaPr>
                        <m:jc m:val="centerGroup"/>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𝑣</m:t>
                            </m:r>
                          </m:e>
                          <m:sub>
                            <m:r>
                              <m:rPr>
                                <m:sty m:val="p"/>
                              </m:rPr>
                              <a:rPr kumimoji="1" lang="en-US" altLang="zh-CN" sz="2000" b="0" i="0" smtClean="0">
                                <a:latin typeface="Cambria Math" panose="02040503050406030204" pitchFamily="18" charset="0"/>
                                <a:ea typeface="微软雅黑" panose="020B0503020204020204" pitchFamily="34" charset="-122"/>
                              </a:rPr>
                              <m:t>O</m:t>
                            </m:r>
                          </m:sub>
                        </m:sSub>
                      </m:oMath>
                    </m:oMathPara>
                  </a14:m>
                  <a:endParaRPr kumimoji="1" lang="en-US" altLang="zh-CN" sz="2000" b="0" dirty="0">
                    <a:latin typeface="微软雅黑" panose="020B0503020204020204" pitchFamily="34" charset="-122"/>
                    <a:ea typeface="微软雅黑" panose="020B0503020204020204" pitchFamily="34" charset="-122"/>
                  </a:endParaRPr>
                </a:p>
                <a:p>
                  <a:pPr algn="ctr">
                    <a:spcAft>
                      <a:spcPts val="1800"/>
                    </a:spcAft>
                    <a:buNone/>
                  </a:pPr>
                  <a14:m>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p>
              </p:txBody>
            </p:sp>
          </mc:Choice>
          <mc:Fallback xmlns="">
            <p:sp>
              <p:nvSpPr>
                <p:cNvPr id="55" name="Rectangle 8">
                  <a:extLst>
                    <a:ext uri="{FF2B5EF4-FFF2-40B4-BE49-F238E27FC236}">
                      <a16:creationId xmlns:a16="http://schemas.microsoft.com/office/drawing/2014/main" id="{948EDBED-5449-7280-2B4C-0F51088ECEBC}"/>
                    </a:ext>
                  </a:extLst>
                </p:cNvPr>
                <p:cNvSpPr>
                  <a:spLocks noRot="1" noChangeAspect="1" noMove="1" noResize="1" noEditPoints="1" noAdjustHandles="1" noChangeArrowheads="1" noChangeShapeType="1" noTextEdit="1"/>
                </p:cNvSpPr>
                <p:nvPr/>
              </p:nvSpPr>
              <p:spPr bwMode="auto">
                <a:xfrm>
                  <a:off x="3550867" y="2616180"/>
                  <a:ext cx="432000" cy="1260000"/>
                </a:xfrm>
                <a:prstGeom prst="rect">
                  <a:avLst/>
                </a:prstGeom>
                <a:blipFill>
                  <a:blip r:embed="rId5"/>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56" name="椭圆 55">
              <a:extLst>
                <a:ext uri="{FF2B5EF4-FFF2-40B4-BE49-F238E27FC236}">
                  <a16:creationId xmlns:a16="http://schemas.microsoft.com/office/drawing/2014/main" id="{85DB3A71-1AFB-E84A-16FA-668DF2619E58}"/>
                </a:ext>
              </a:extLst>
            </p:cNvPr>
            <p:cNvSpPr/>
            <p:nvPr/>
          </p:nvSpPr>
          <p:spPr>
            <a:xfrm>
              <a:off x="3694867" y="2454180"/>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57" name="椭圆 56">
              <a:extLst>
                <a:ext uri="{FF2B5EF4-FFF2-40B4-BE49-F238E27FC236}">
                  <a16:creationId xmlns:a16="http://schemas.microsoft.com/office/drawing/2014/main" id="{6A60F09A-A3EA-73DE-29C8-CBCECA47B390}"/>
                </a:ext>
              </a:extLst>
            </p:cNvPr>
            <p:cNvSpPr/>
            <p:nvPr/>
          </p:nvSpPr>
          <p:spPr>
            <a:xfrm>
              <a:off x="3694867" y="4038180"/>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60" name="椭圆 59">
              <a:extLst>
                <a:ext uri="{FF2B5EF4-FFF2-40B4-BE49-F238E27FC236}">
                  <a16:creationId xmlns:a16="http://schemas.microsoft.com/office/drawing/2014/main" id="{4E36BD35-C7B7-06D3-3509-FF2AF316A697}"/>
                </a:ext>
              </a:extLst>
            </p:cNvPr>
            <p:cNvSpPr/>
            <p:nvPr/>
          </p:nvSpPr>
          <p:spPr>
            <a:xfrm>
              <a:off x="526867" y="2454180"/>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61" name="椭圆 60">
              <a:extLst>
                <a:ext uri="{FF2B5EF4-FFF2-40B4-BE49-F238E27FC236}">
                  <a16:creationId xmlns:a16="http://schemas.microsoft.com/office/drawing/2014/main" id="{AF842E1E-9FED-05D7-5B37-9CA88251FA25}"/>
                </a:ext>
              </a:extLst>
            </p:cNvPr>
            <p:cNvSpPr/>
            <p:nvPr/>
          </p:nvSpPr>
          <p:spPr>
            <a:xfrm>
              <a:off x="526867" y="4038180"/>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62" name="Rectangle 8">
                  <a:extLst>
                    <a:ext uri="{FF2B5EF4-FFF2-40B4-BE49-F238E27FC236}">
                      <a16:creationId xmlns:a16="http://schemas.microsoft.com/office/drawing/2014/main" id="{968C5BDC-761E-8AA8-F9D6-42C1563901F4}"/>
                    </a:ext>
                  </a:extLst>
                </p:cNvPr>
                <p:cNvSpPr>
                  <a:spLocks noChangeArrowheads="1"/>
                </p:cNvSpPr>
                <p:nvPr/>
              </p:nvSpPr>
              <p:spPr bwMode="auto">
                <a:xfrm>
                  <a:off x="346867" y="2580180"/>
                  <a:ext cx="432000" cy="144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1800"/>
                    </a:spcAft>
                    <a:buNone/>
                  </a:pPr>
                  <a14:m>
                    <m:oMathPara xmlns:m="http://schemas.openxmlformats.org/officeDocument/2006/math">
                      <m:oMathParaPr>
                        <m:jc m:val="centerGroup"/>
                      </m:oMathParaPr>
                      <m:oMath xmlns:m="http://schemas.openxmlformats.org/officeDocument/2006/math">
                        <m:r>
                          <a:rPr kumimoji="1" lang="pt-BR" altLang="zh-CN" sz="2000" b="0" i="1" smtClean="0">
                            <a:latin typeface="Cambria Math" panose="02040503050406030204" pitchFamily="18" charset="0"/>
                            <a:ea typeface="微软雅黑" panose="020B0503020204020204" pitchFamily="34" charset="-122"/>
                          </a:rPr>
                          <m:t>+</m:t>
                        </m:r>
                      </m:oMath>
                    </m:oMathPara>
                  </a14:m>
                  <a:endParaRPr kumimoji="1" lang="en-US" altLang="zh-CN" sz="2000" b="0" dirty="0">
                    <a:latin typeface="微软雅黑" panose="020B0503020204020204" pitchFamily="34" charset="-122"/>
                    <a:ea typeface="微软雅黑" panose="020B0503020204020204" pitchFamily="34" charset="-122"/>
                  </a:endParaRPr>
                </a:p>
                <a:p>
                  <a:pPr algn="ctr">
                    <a:spcAft>
                      <a:spcPts val="1800"/>
                    </a:spcAft>
                    <a:buNone/>
                  </a:pPr>
                  <a14:m>
                    <m:oMathPara xmlns:m="http://schemas.openxmlformats.org/officeDocument/2006/math">
                      <m:oMathParaPr>
                        <m:jc m:val="centerGroup"/>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𝑣</m:t>
                            </m:r>
                          </m:e>
                          <m:sub>
                            <m:r>
                              <m:rPr>
                                <m:sty m:val="p"/>
                              </m:rPr>
                              <a:rPr kumimoji="1" lang="en-US" altLang="zh-CN" sz="2000" b="0" i="0" smtClean="0">
                                <a:latin typeface="Cambria Math" panose="02040503050406030204" pitchFamily="18" charset="0"/>
                                <a:ea typeface="微软雅黑" panose="020B0503020204020204" pitchFamily="34" charset="-122"/>
                              </a:rPr>
                              <m:t>I</m:t>
                            </m:r>
                            <m:r>
                              <a:rPr kumimoji="1" lang="en-US" altLang="zh-CN" sz="2000" b="0" i="1" smtClean="0">
                                <a:latin typeface="Cambria Math" panose="02040503050406030204" pitchFamily="18" charset="0"/>
                                <a:ea typeface="微软雅黑" panose="020B0503020204020204" pitchFamily="34" charset="-122"/>
                              </a:rPr>
                              <m:t>1</m:t>
                            </m:r>
                          </m:sub>
                        </m:sSub>
                      </m:oMath>
                    </m:oMathPara>
                  </a14:m>
                  <a:endParaRPr kumimoji="1" lang="en-US" altLang="zh-CN" sz="2000" b="0" dirty="0">
                    <a:latin typeface="微软雅黑" panose="020B0503020204020204" pitchFamily="34" charset="-122"/>
                    <a:ea typeface="微软雅黑" panose="020B0503020204020204" pitchFamily="34" charset="-122"/>
                  </a:endParaRPr>
                </a:p>
                <a:p>
                  <a:pPr algn="ctr">
                    <a:spcAft>
                      <a:spcPts val="1800"/>
                    </a:spcAft>
                    <a:buNone/>
                  </a:pPr>
                  <a14:m>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p>
              </p:txBody>
            </p:sp>
          </mc:Choice>
          <mc:Fallback xmlns="">
            <p:sp>
              <p:nvSpPr>
                <p:cNvPr id="62" name="Rectangle 8">
                  <a:extLst>
                    <a:ext uri="{FF2B5EF4-FFF2-40B4-BE49-F238E27FC236}">
                      <a16:creationId xmlns:a16="http://schemas.microsoft.com/office/drawing/2014/main" id="{968C5BDC-761E-8AA8-F9D6-42C1563901F4}"/>
                    </a:ext>
                  </a:extLst>
                </p:cNvPr>
                <p:cNvSpPr>
                  <a:spLocks noRot="1" noChangeAspect="1" noMove="1" noResize="1" noEditPoints="1" noAdjustHandles="1" noChangeArrowheads="1" noChangeShapeType="1" noTextEdit="1"/>
                </p:cNvSpPr>
                <p:nvPr/>
              </p:nvSpPr>
              <p:spPr bwMode="auto">
                <a:xfrm>
                  <a:off x="346867" y="2580180"/>
                  <a:ext cx="432000" cy="1440000"/>
                </a:xfrm>
                <a:prstGeom prst="rect">
                  <a:avLst/>
                </a:prstGeom>
                <a:blipFill>
                  <a:blip r:embed="rId6"/>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63" name="椭圆 62">
              <a:extLst>
                <a:ext uri="{FF2B5EF4-FFF2-40B4-BE49-F238E27FC236}">
                  <a16:creationId xmlns:a16="http://schemas.microsoft.com/office/drawing/2014/main" id="{3799F7E1-88BC-41E3-A097-5186A202C76F}"/>
                </a:ext>
              </a:extLst>
            </p:cNvPr>
            <p:cNvSpPr/>
            <p:nvPr/>
          </p:nvSpPr>
          <p:spPr>
            <a:xfrm>
              <a:off x="1066867" y="3066180"/>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64" name="Rectangle 8">
                  <a:extLst>
                    <a:ext uri="{FF2B5EF4-FFF2-40B4-BE49-F238E27FC236}">
                      <a16:creationId xmlns:a16="http://schemas.microsoft.com/office/drawing/2014/main" id="{BF3C9746-D0DC-9B03-8497-8A8FDE9B8758}"/>
                    </a:ext>
                  </a:extLst>
                </p:cNvPr>
                <p:cNvSpPr>
                  <a:spLocks noChangeArrowheads="1"/>
                </p:cNvSpPr>
                <p:nvPr/>
              </p:nvSpPr>
              <p:spPr bwMode="auto">
                <a:xfrm>
                  <a:off x="886867" y="3120180"/>
                  <a:ext cx="432000" cy="108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300"/>
                    </a:spcAft>
                    <a:buNone/>
                  </a:pPr>
                  <a14:m>
                    <m:oMathPara xmlns:m="http://schemas.openxmlformats.org/officeDocument/2006/math">
                      <m:oMathParaPr>
                        <m:jc m:val="centerGroup"/>
                      </m:oMathParaPr>
                      <m:oMath xmlns:m="http://schemas.openxmlformats.org/officeDocument/2006/math">
                        <m:r>
                          <a:rPr kumimoji="1" lang="pt-BR" altLang="zh-CN" sz="2000" b="0" i="1" smtClean="0">
                            <a:latin typeface="Cambria Math" panose="02040503050406030204" pitchFamily="18" charset="0"/>
                            <a:ea typeface="微软雅黑" panose="020B0503020204020204" pitchFamily="34" charset="-122"/>
                          </a:rPr>
                          <m:t>+</m:t>
                        </m:r>
                      </m:oMath>
                    </m:oMathPara>
                  </a14:m>
                  <a:endParaRPr kumimoji="1" lang="en-US" altLang="zh-CN" sz="2000" b="0" dirty="0">
                    <a:latin typeface="微软雅黑" panose="020B0503020204020204" pitchFamily="34" charset="-122"/>
                    <a:ea typeface="微软雅黑" panose="020B0503020204020204" pitchFamily="34" charset="-122"/>
                  </a:endParaRPr>
                </a:p>
                <a:p>
                  <a:pPr algn="ctr">
                    <a:spcAft>
                      <a:spcPts val="300"/>
                    </a:spcAft>
                    <a:buNone/>
                  </a:pPr>
                  <a14:m>
                    <m:oMathPara xmlns:m="http://schemas.openxmlformats.org/officeDocument/2006/math">
                      <m:oMathParaPr>
                        <m:jc m:val="centerGroup"/>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𝑣</m:t>
                            </m:r>
                          </m:e>
                          <m:sub>
                            <m:r>
                              <m:rPr>
                                <m:sty m:val="p"/>
                              </m:rPr>
                              <a:rPr kumimoji="1" lang="en-US" altLang="zh-CN" sz="2000" b="0" i="0" smtClean="0">
                                <a:latin typeface="Cambria Math" panose="02040503050406030204" pitchFamily="18" charset="0"/>
                                <a:ea typeface="微软雅黑" panose="020B0503020204020204" pitchFamily="34" charset="-122"/>
                              </a:rPr>
                              <m:t>I</m:t>
                            </m:r>
                            <m:r>
                              <a:rPr kumimoji="1" lang="en-US" altLang="zh-CN" sz="2000" b="0" i="1" smtClean="0">
                                <a:latin typeface="Cambria Math" panose="02040503050406030204" pitchFamily="18" charset="0"/>
                                <a:ea typeface="微软雅黑" panose="020B0503020204020204" pitchFamily="34" charset="-122"/>
                              </a:rPr>
                              <m:t>2</m:t>
                            </m:r>
                          </m:sub>
                        </m:sSub>
                      </m:oMath>
                    </m:oMathPara>
                  </a14:m>
                  <a:endParaRPr kumimoji="1" lang="en-US" altLang="zh-CN" sz="2000" b="0" dirty="0">
                    <a:latin typeface="微软雅黑" panose="020B0503020204020204" pitchFamily="34" charset="-122"/>
                    <a:ea typeface="微软雅黑" panose="020B0503020204020204" pitchFamily="34" charset="-122"/>
                  </a:endParaRPr>
                </a:p>
                <a:p>
                  <a:pPr algn="ctr">
                    <a:spcAft>
                      <a:spcPts val="300"/>
                    </a:spcAft>
                    <a:buNone/>
                  </a:pPr>
                  <a14:m>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a14:m>
                  <a:r>
                    <a:rPr kumimoji="1" lang="zh-CN" altLang="en-US" sz="2000" b="0" dirty="0">
                      <a:latin typeface="微软雅黑" panose="020B0503020204020204" pitchFamily="34" charset="-122"/>
                      <a:ea typeface="微软雅黑" panose="020B0503020204020204" pitchFamily="34" charset="-122"/>
                    </a:rPr>
                    <a:t>    </a:t>
                  </a:r>
                </a:p>
              </p:txBody>
            </p:sp>
          </mc:Choice>
          <mc:Fallback xmlns="">
            <p:sp>
              <p:nvSpPr>
                <p:cNvPr id="64" name="Rectangle 8">
                  <a:extLst>
                    <a:ext uri="{FF2B5EF4-FFF2-40B4-BE49-F238E27FC236}">
                      <a16:creationId xmlns:a16="http://schemas.microsoft.com/office/drawing/2014/main" id="{BF3C9746-D0DC-9B03-8497-8A8FDE9B8758}"/>
                    </a:ext>
                  </a:extLst>
                </p:cNvPr>
                <p:cNvSpPr>
                  <a:spLocks noRot="1" noChangeAspect="1" noMove="1" noResize="1" noEditPoints="1" noAdjustHandles="1" noChangeArrowheads="1" noChangeShapeType="1" noTextEdit="1"/>
                </p:cNvSpPr>
                <p:nvPr/>
              </p:nvSpPr>
              <p:spPr bwMode="auto">
                <a:xfrm>
                  <a:off x="886867" y="3120180"/>
                  <a:ext cx="432000" cy="1080000"/>
                </a:xfrm>
                <a:prstGeom prst="rect">
                  <a:avLst/>
                </a:prstGeom>
                <a:blipFill>
                  <a:blip r:embed="rId7"/>
                  <a:stretch>
                    <a:fillRect r="-7042"/>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5" name="Rectangle 8">
                  <a:extLst>
                    <a:ext uri="{FF2B5EF4-FFF2-40B4-BE49-F238E27FC236}">
                      <a16:creationId xmlns:a16="http://schemas.microsoft.com/office/drawing/2014/main" id="{0FA28644-92F6-CD16-E780-0D421A09D9ED}"/>
                    </a:ext>
                  </a:extLst>
                </p:cNvPr>
                <p:cNvSpPr>
                  <a:spLocks noChangeArrowheads="1"/>
                </p:cNvSpPr>
                <p:nvPr/>
              </p:nvSpPr>
              <p:spPr bwMode="auto">
                <a:xfrm>
                  <a:off x="1246867" y="2724180"/>
                  <a:ext cx="396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right"/>
                      </m:oMathParaPr>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𝐷</m:t>
                            </m:r>
                          </m:e>
                          <m:sub>
                            <m:r>
                              <a:rPr kumimoji="1" lang="en-US" altLang="zh-CN" sz="2000" b="0" i="1" smtClean="0">
                                <a:solidFill>
                                  <a:schemeClr val="tx1"/>
                                </a:solidFill>
                                <a:latin typeface="Cambria Math" panose="02040503050406030204" pitchFamily="18" charset="0"/>
                                <a:ea typeface="微软雅黑" panose="020B0503020204020204" pitchFamily="34" charset="-122"/>
                              </a:rPr>
                              <m:t>2</m:t>
                            </m:r>
                          </m:sub>
                        </m:sSub>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65" name="Rectangle 8">
                  <a:extLst>
                    <a:ext uri="{FF2B5EF4-FFF2-40B4-BE49-F238E27FC236}">
                      <a16:creationId xmlns:a16="http://schemas.microsoft.com/office/drawing/2014/main" id="{0FA28644-92F6-CD16-E780-0D421A09D9ED}"/>
                    </a:ext>
                  </a:extLst>
                </p:cNvPr>
                <p:cNvSpPr>
                  <a:spLocks noRot="1" noChangeAspect="1" noMove="1" noResize="1" noEditPoints="1" noAdjustHandles="1" noChangeArrowheads="1" noChangeShapeType="1" noTextEdit="1"/>
                </p:cNvSpPr>
                <p:nvPr/>
              </p:nvSpPr>
              <p:spPr bwMode="auto">
                <a:xfrm>
                  <a:off x="1246867" y="2724180"/>
                  <a:ext cx="396000" cy="396000"/>
                </a:xfrm>
                <a:prstGeom prst="rect">
                  <a:avLst/>
                </a:prstGeom>
                <a:blipFill>
                  <a:blip r:embed="rId8"/>
                  <a:stretch>
                    <a:fillRect r="-6154" b="-307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68" name="直接连接符 67">
              <a:extLst>
                <a:ext uri="{FF2B5EF4-FFF2-40B4-BE49-F238E27FC236}">
                  <a16:creationId xmlns:a16="http://schemas.microsoft.com/office/drawing/2014/main" id="{CD9365A5-F6EC-E77A-7A57-3E9C6B7C72A3}"/>
                </a:ext>
              </a:extLst>
            </p:cNvPr>
            <p:cNvCxnSpPr>
              <a:cxnSpLocks/>
            </p:cNvCxnSpPr>
            <p:nvPr/>
          </p:nvCxnSpPr>
          <p:spPr>
            <a:xfrm flipH="1">
              <a:off x="2794867" y="4416180"/>
              <a:ext cx="3600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8" name="组合 127">
            <a:extLst>
              <a:ext uri="{FF2B5EF4-FFF2-40B4-BE49-F238E27FC236}">
                <a16:creationId xmlns:a16="http://schemas.microsoft.com/office/drawing/2014/main" id="{AC22FD43-8AED-8E69-2983-A86D2CBE3728}"/>
              </a:ext>
            </a:extLst>
          </p:cNvPr>
          <p:cNvGrpSpPr/>
          <p:nvPr/>
        </p:nvGrpSpPr>
        <p:grpSpPr>
          <a:xfrm>
            <a:off x="720000" y="4284000"/>
            <a:ext cx="2664000" cy="2322000"/>
            <a:chOff x="5467126" y="2152921"/>
            <a:chExt cx="2664000" cy="2322000"/>
          </a:xfrm>
        </p:grpSpPr>
        <p:grpSp>
          <p:nvGrpSpPr>
            <p:cNvPr id="77" name="组合 76">
              <a:extLst>
                <a:ext uri="{FF2B5EF4-FFF2-40B4-BE49-F238E27FC236}">
                  <a16:creationId xmlns:a16="http://schemas.microsoft.com/office/drawing/2014/main" id="{6B166411-558C-0A4B-4F51-385337978EEE}"/>
                </a:ext>
              </a:extLst>
            </p:cNvPr>
            <p:cNvGrpSpPr/>
            <p:nvPr/>
          </p:nvGrpSpPr>
          <p:grpSpPr>
            <a:xfrm rot="10800000">
              <a:off x="6583126" y="3394921"/>
              <a:ext cx="288000" cy="468000"/>
              <a:chOff x="2356804" y="2504970"/>
              <a:chExt cx="288000" cy="468000"/>
            </a:xfrm>
          </p:grpSpPr>
          <p:sp>
            <p:nvSpPr>
              <p:cNvPr id="79" name="等腰三角形 78">
                <a:extLst>
                  <a:ext uri="{FF2B5EF4-FFF2-40B4-BE49-F238E27FC236}">
                    <a16:creationId xmlns:a16="http://schemas.microsoft.com/office/drawing/2014/main" id="{FB297594-3285-F9C1-29B3-69050361CFE9}"/>
                  </a:ext>
                </a:extLst>
              </p:cNvPr>
              <p:cNvSpPr/>
              <p:nvPr/>
            </p:nvSpPr>
            <p:spPr>
              <a:xfrm rot="5400000">
                <a:off x="2284804" y="2594970"/>
                <a:ext cx="432000" cy="288000"/>
              </a:xfrm>
              <a:prstGeom prst="triangl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cxnSp>
            <p:nvCxnSpPr>
              <p:cNvPr id="86" name="直接连接符 85">
                <a:extLst>
                  <a:ext uri="{FF2B5EF4-FFF2-40B4-BE49-F238E27FC236}">
                    <a16:creationId xmlns:a16="http://schemas.microsoft.com/office/drawing/2014/main" id="{EA5AC8A7-C3E7-7184-AA3E-4542ACD877F1}"/>
                  </a:ext>
                </a:extLst>
              </p:cNvPr>
              <p:cNvCxnSpPr>
                <a:cxnSpLocks/>
              </p:cNvCxnSpPr>
              <p:nvPr/>
            </p:nvCxnSpPr>
            <p:spPr>
              <a:xfrm>
                <a:off x="2644804" y="2504970"/>
                <a:ext cx="0" cy="46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91" name="Rectangle 8">
                  <a:extLst>
                    <a:ext uri="{FF2B5EF4-FFF2-40B4-BE49-F238E27FC236}">
                      <a16:creationId xmlns:a16="http://schemas.microsoft.com/office/drawing/2014/main" id="{40E31A26-E0A7-1C2E-3465-FF556735C435}"/>
                    </a:ext>
                  </a:extLst>
                </p:cNvPr>
                <p:cNvSpPr>
                  <a:spLocks noChangeArrowheads="1"/>
                </p:cNvSpPr>
                <p:nvPr/>
              </p:nvSpPr>
              <p:spPr bwMode="auto">
                <a:xfrm>
                  <a:off x="6835126" y="2944921"/>
                  <a:ext cx="360000" cy="36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right"/>
                      </m:oMathParaPr>
                      <m:oMath xmlns:m="http://schemas.openxmlformats.org/officeDocument/2006/math">
                        <m:r>
                          <a:rPr kumimoji="1" lang="en-US" altLang="zh-CN" sz="2000" b="0" i="1" smtClean="0">
                            <a:solidFill>
                              <a:schemeClr val="tx1"/>
                            </a:solidFill>
                            <a:latin typeface="Cambria Math" panose="02040503050406030204" pitchFamily="18" charset="0"/>
                            <a:ea typeface="微软雅黑" panose="020B0503020204020204" pitchFamily="34" charset="-122"/>
                          </a:rPr>
                          <m:t>𝑅</m:t>
                        </m:r>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91" name="Rectangle 8">
                  <a:extLst>
                    <a:ext uri="{FF2B5EF4-FFF2-40B4-BE49-F238E27FC236}">
                      <a16:creationId xmlns:a16="http://schemas.microsoft.com/office/drawing/2014/main" id="{40E31A26-E0A7-1C2E-3465-FF556735C435}"/>
                    </a:ext>
                  </a:extLst>
                </p:cNvPr>
                <p:cNvSpPr>
                  <a:spLocks noRot="1" noChangeAspect="1" noMove="1" noResize="1" noEditPoints="1" noAdjustHandles="1" noChangeArrowheads="1" noChangeShapeType="1" noTextEdit="1"/>
                </p:cNvSpPr>
                <p:nvPr/>
              </p:nvSpPr>
              <p:spPr bwMode="auto">
                <a:xfrm>
                  <a:off x="6835126" y="2944921"/>
                  <a:ext cx="360000" cy="360000"/>
                </a:xfrm>
                <a:prstGeom prst="rect">
                  <a:avLst/>
                </a:prstGeom>
                <a:blipFill>
                  <a:blip r:embed="rId9"/>
                  <a:stretch>
                    <a:fillRect b="-5085"/>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4" name="Rectangle 8">
                  <a:extLst>
                    <a:ext uri="{FF2B5EF4-FFF2-40B4-BE49-F238E27FC236}">
                      <a16:creationId xmlns:a16="http://schemas.microsoft.com/office/drawing/2014/main" id="{21CE1ED1-5159-9C99-824F-E08EDCDF07D5}"/>
                    </a:ext>
                  </a:extLst>
                </p:cNvPr>
                <p:cNvSpPr>
                  <a:spLocks noChangeArrowheads="1"/>
                </p:cNvSpPr>
                <p:nvPr/>
              </p:nvSpPr>
              <p:spPr bwMode="auto">
                <a:xfrm>
                  <a:off x="6187126" y="3232921"/>
                  <a:ext cx="396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right"/>
                      </m:oMathParaPr>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𝐷</m:t>
                            </m:r>
                          </m:e>
                          <m:sub>
                            <m:r>
                              <a:rPr kumimoji="1" lang="en-US" altLang="zh-CN" sz="2000" b="0" i="1" smtClean="0">
                                <a:solidFill>
                                  <a:schemeClr val="tx1"/>
                                </a:solidFill>
                                <a:latin typeface="Cambria Math" panose="02040503050406030204" pitchFamily="18" charset="0"/>
                                <a:ea typeface="微软雅黑" panose="020B0503020204020204" pitchFamily="34" charset="-122"/>
                              </a:rPr>
                              <m:t>1</m:t>
                            </m:r>
                          </m:sub>
                        </m:sSub>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94" name="Rectangle 8">
                  <a:extLst>
                    <a:ext uri="{FF2B5EF4-FFF2-40B4-BE49-F238E27FC236}">
                      <a16:creationId xmlns:a16="http://schemas.microsoft.com/office/drawing/2014/main" id="{21CE1ED1-5159-9C99-824F-E08EDCDF07D5}"/>
                    </a:ext>
                  </a:extLst>
                </p:cNvPr>
                <p:cNvSpPr>
                  <a:spLocks noRot="1" noChangeAspect="1" noMove="1" noResize="1" noEditPoints="1" noAdjustHandles="1" noChangeArrowheads="1" noChangeShapeType="1" noTextEdit="1"/>
                </p:cNvSpPr>
                <p:nvPr/>
              </p:nvSpPr>
              <p:spPr bwMode="auto">
                <a:xfrm>
                  <a:off x="6187126" y="3232921"/>
                  <a:ext cx="396000" cy="396000"/>
                </a:xfrm>
                <a:prstGeom prst="rect">
                  <a:avLst/>
                </a:prstGeom>
                <a:blipFill>
                  <a:blip r:embed="rId10"/>
                  <a:stretch>
                    <a:fillRect r="-4615" b="-1538"/>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97" name="组合 96">
              <a:extLst>
                <a:ext uri="{FF2B5EF4-FFF2-40B4-BE49-F238E27FC236}">
                  <a16:creationId xmlns:a16="http://schemas.microsoft.com/office/drawing/2014/main" id="{4A22E233-2F34-6DBF-235D-3A82F2B1CFC1}"/>
                </a:ext>
              </a:extLst>
            </p:cNvPr>
            <p:cNvGrpSpPr/>
            <p:nvPr/>
          </p:nvGrpSpPr>
          <p:grpSpPr>
            <a:xfrm rot="10800000">
              <a:off x="6583126" y="4006921"/>
              <a:ext cx="288000" cy="468000"/>
              <a:chOff x="2354214" y="2508411"/>
              <a:chExt cx="288000" cy="468000"/>
            </a:xfrm>
          </p:grpSpPr>
          <p:sp>
            <p:nvSpPr>
              <p:cNvPr id="99" name="等腰三角形 98">
                <a:extLst>
                  <a:ext uri="{FF2B5EF4-FFF2-40B4-BE49-F238E27FC236}">
                    <a16:creationId xmlns:a16="http://schemas.microsoft.com/office/drawing/2014/main" id="{C2B32561-C905-D6BE-E32D-61FEACAA75FA}"/>
                  </a:ext>
                </a:extLst>
              </p:cNvPr>
              <p:cNvSpPr/>
              <p:nvPr/>
            </p:nvSpPr>
            <p:spPr>
              <a:xfrm rot="5400000">
                <a:off x="2282214" y="2598411"/>
                <a:ext cx="432000" cy="288000"/>
              </a:xfrm>
              <a:prstGeom prst="triangl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cxnSp>
            <p:nvCxnSpPr>
              <p:cNvPr id="100" name="直接连接符 99">
                <a:extLst>
                  <a:ext uri="{FF2B5EF4-FFF2-40B4-BE49-F238E27FC236}">
                    <a16:creationId xmlns:a16="http://schemas.microsoft.com/office/drawing/2014/main" id="{84F9A6F4-6264-E4F6-8BE1-18A6F8A4F3DD}"/>
                  </a:ext>
                </a:extLst>
              </p:cNvPr>
              <p:cNvCxnSpPr>
                <a:cxnSpLocks/>
              </p:cNvCxnSpPr>
              <p:nvPr/>
            </p:nvCxnSpPr>
            <p:spPr>
              <a:xfrm>
                <a:off x="2642214" y="2508411"/>
                <a:ext cx="0" cy="46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01" name="直接连接符 100">
              <a:extLst>
                <a:ext uri="{FF2B5EF4-FFF2-40B4-BE49-F238E27FC236}">
                  <a16:creationId xmlns:a16="http://schemas.microsoft.com/office/drawing/2014/main" id="{FF95A16E-D5AE-9BA2-9E7E-447FC595C486}"/>
                </a:ext>
              </a:extLst>
            </p:cNvPr>
            <p:cNvCxnSpPr>
              <a:cxnSpLocks/>
            </p:cNvCxnSpPr>
            <p:nvPr/>
          </p:nvCxnSpPr>
          <p:spPr>
            <a:xfrm flipH="1">
              <a:off x="5935126" y="4240921"/>
              <a:ext cx="1265487"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E01DD4CA-6686-9CBC-B9CC-2642B8951D03}"/>
                </a:ext>
              </a:extLst>
            </p:cNvPr>
            <p:cNvCxnSpPr>
              <a:cxnSpLocks/>
            </p:cNvCxnSpPr>
            <p:nvPr/>
          </p:nvCxnSpPr>
          <p:spPr>
            <a:xfrm>
              <a:off x="7195126" y="2584921"/>
              <a:ext cx="0" cy="16556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05" name="椭圆 104">
              <a:extLst>
                <a:ext uri="{FF2B5EF4-FFF2-40B4-BE49-F238E27FC236}">
                  <a16:creationId xmlns:a16="http://schemas.microsoft.com/office/drawing/2014/main" id="{63B62ABF-47F3-33EB-5B8B-0DB2BDDADA18}"/>
                </a:ext>
              </a:extLst>
            </p:cNvPr>
            <p:cNvSpPr/>
            <p:nvPr/>
          </p:nvSpPr>
          <p:spPr>
            <a:xfrm>
              <a:off x="7141126" y="3574921"/>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07" name="矩形 106">
              <a:extLst>
                <a:ext uri="{FF2B5EF4-FFF2-40B4-BE49-F238E27FC236}">
                  <a16:creationId xmlns:a16="http://schemas.microsoft.com/office/drawing/2014/main" id="{AA129FD2-AB07-95A4-C48E-D287F1A421DC}"/>
                </a:ext>
              </a:extLst>
            </p:cNvPr>
            <p:cNvSpPr/>
            <p:nvPr/>
          </p:nvSpPr>
          <p:spPr>
            <a:xfrm>
              <a:off x="7123126" y="2872921"/>
              <a:ext cx="144000" cy="504000"/>
            </a:xfrm>
            <a:prstGeom prst="rect">
              <a:avLst/>
            </a:prstGeom>
            <a:solidFill>
              <a:schemeClr val="bg1">
                <a:alpha val="99000"/>
              </a:schemeClr>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09" name="椭圆 108">
              <a:extLst>
                <a:ext uri="{FF2B5EF4-FFF2-40B4-BE49-F238E27FC236}">
                  <a16:creationId xmlns:a16="http://schemas.microsoft.com/office/drawing/2014/main" id="{E891E937-2718-A116-3425-AAC624A250D2}"/>
                </a:ext>
              </a:extLst>
            </p:cNvPr>
            <p:cNvSpPr/>
            <p:nvPr/>
          </p:nvSpPr>
          <p:spPr>
            <a:xfrm>
              <a:off x="5861172" y="4186921"/>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110" name="Rectangle 8">
                  <a:extLst>
                    <a:ext uri="{FF2B5EF4-FFF2-40B4-BE49-F238E27FC236}">
                      <a16:creationId xmlns:a16="http://schemas.microsoft.com/office/drawing/2014/main" id="{595FB229-0987-68E7-6009-B7B47CF58EF8}"/>
                    </a:ext>
                  </a:extLst>
                </p:cNvPr>
                <p:cNvSpPr>
                  <a:spLocks noChangeArrowheads="1"/>
                </p:cNvSpPr>
                <p:nvPr/>
              </p:nvSpPr>
              <p:spPr bwMode="auto">
                <a:xfrm>
                  <a:off x="6187126" y="3844921"/>
                  <a:ext cx="396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right"/>
                      </m:oMathParaPr>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𝐷</m:t>
                            </m:r>
                          </m:e>
                          <m:sub>
                            <m:r>
                              <a:rPr kumimoji="1" lang="en-US" altLang="zh-CN" sz="2000" b="0" i="1" smtClean="0">
                                <a:solidFill>
                                  <a:schemeClr val="tx1"/>
                                </a:solidFill>
                                <a:latin typeface="Cambria Math" panose="02040503050406030204" pitchFamily="18" charset="0"/>
                                <a:ea typeface="微软雅黑" panose="020B0503020204020204" pitchFamily="34" charset="-122"/>
                              </a:rPr>
                              <m:t>2</m:t>
                            </m:r>
                          </m:sub>
                        </m:sSub>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10" name="Rectangle 8">
                  <a:extLst>
                    <a:ext uri="{FF2B5EF4-FFF2-40B4-BE49-F238E27FC236}">
                      <a16:creationId xmlns:a16="http://schemas.microsoft.com/office/drawing/2014/main" id="{595FB229-0987-68E7-6009-B7B47CF58EF8}"/>
                    </a:ext>
                  </a:extLst>
                </p:cNvPr>
                <p:cNvSpPr>
                  <a:spLocks noRot="1" noChangeAspect="1" noMove="1" noResize="1" noEditPoints="1" noAdjustHandles="1" noChangeArrowheads="1" noChangeShapeType="1" noTextEdit="1"/>
                </p:cNvSpPr>
                <p:nvPr/>
              </p:nvSpPr>
              <p:spPr bwMode="auto">
                <a:xfrm>
                  <a:off x="6187126" y="3844921"/>
                  <a:ext cx="396000" cy="396000"/>
                </a:xfrm>
                <a:prstGeom prst="rect">
                  <a:avLst/>
                </a:prstGeom>
                <a:blipFill>
                  <a:blip r:embed="rId11"/>
                  <a:stretch>
                    <a:fillRect r="-6154" b="-307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111" name="直接连接符 110">
              <a:extLst>
                <a:ext uri="{FF2B5EF4-FFF2-40B4-BE49-F238E27FC236}">
                  <a16:creationId xmlns:a16="http://schemas.microsoft.com/office/drawing/2014/main" id="{E93CEAD0-D403-4366-5A88-D8AA31009DF3}"/>
                </a:ext>
              </a:extLst>
            </p:cNvPr>
            <p:cNvCxnSpPr>
              <a:cxnSpLocks/>
            </p:cNvCxnSpPr>
            <p:nvPr/>
          </p:nvCxnSpPr>
          <p:spPr>
            <a:xfrm flipH="1">
              <a:off x="5935126" y="3628921"/>
              <a:ext cx="1656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14" name="椭圆 113">
              <a:extLst>
                <a:ext uri="{FF2B5EF4-FFF2-40B4-BE49-F238E27FC236}">
                  <a16:creationId xmlns:a16="http://schemas.microsoft.com/office/drawing/2014/main" id="{F17F78E3-CC46-F8A3-3B47-1D29B8E900E3}"/>
                </a:ext>
              </a:extLst>
            </p:cNvPr>
            <p:cNvSpPr/>
            <p:nvPr/>
          </p:nvSpPr>
          <p:spPr>
            <a:xfrm>
              <a:off x="5861172" y="3574921"/>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119" name="Rectangle 8">
                  <a:extLst>
                    <a:ext uri="{FF2B5EF4-FFF2-40B4-BE49-F238E27FC236}">
                      <a16:creationId xmlns:a16="http://schemas.microsoft.com/office/drawing/2014/main" id="{8DCDB9C6-6AB6-A116-47A2-6D58EDF6A404}"/>
                    </a:ext>
                  </a:extLst>
                </p:cNvPr>
                <p:cNvSpPr>
                  <a:spLocks noChangeArrowheads="1"/>
                </p:cNvSpPr>
                <p:nvPr/>
              </p:nvSpPr>
              <p:spPr bwMode="auto">
                <a:xfrm>
                  <a:off x="6907126" y="2152921"/>
                  <a:ext cx="57561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right"/>
                      </m:oMathParaPr>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𝑉</m:t>
                            </m:r>
                          </m:e>
                          <m:sub>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CC</m:t>
                            </m:r>
                          </m:sub>
                        </m:sSub>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19" name="Rectangle 8">
                  <a:extLst>
                    <a:ext uri="{FF2B5EF4-FFF2-40B4-BE49-F238E27FC236}">
                      <a16:creationId xmlns:a16="http://schemas.microsoft.com/office/drawing/2014/main" id="{8DCDB9C6-6AB6-A116-47A2-6D58EDF6A404}"/>
                    </a:ext>
                  </a:extLst>
                </p:cNvPr>
                <p:cNvSpPr>
                  <a:spLocks noRot="1" noChangeAspect="1" noMove="1" noResize="1" noEditPoints="1" noAdjustHandles="1" noChangeArrowheads="1" noChangeShapeType="1" noTextEdit="1"/>
                </p:cNvSpPr>
                <p:nvPr/>
              </p:nvSpPr>
              <p:spPr bwMode="auto">
                <a:xfrm>
                  <a:off x="6907126" y="2152921"/>
                  <a:ext cx="575610" cy="432000"/>
                </a:xfrm>
                <a:prstGeom prst="rect">
                  <a:avLst/>
                </a:prstGeom>
                <a:blipFill>
                  <a:blip r:embed="rId12"/>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0" name="Rectangle 8">
                  <a:extLst>
                    <a:ext uri="{FF2B5EF4-FFF2-40B4-BE49-F238E27FC236}">
                      <a16:creationId xmlns:a16="http://schemas.microsoft.com/office/drawing/2014/main" id="{2E85D9D9-8917-3B41-9C0C-816034C73451}"/>
                    </a:ext>
                  </a:extLst>
                </p:cNvPr>
                <p:cNvSpPr>
                  <a:spLocks noChangeArrowheads="1"/>
                </p:cNvSpPr>
                <p:nvPr/>
              </p:nvSpPr>
              <p:spPr bwMode="auto">
                <a:xfrm>
                  <a:off x="7699126" y="3394921"/>
                  <a:ext cx="432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𝑣</m:t>
                            </m:r>
                          </m:e>
                          <m:sub>
                            <m:r>
                              <m:rPr>
                                <m:sty m:val="p"/>
                              </m:rPr>
                              <a:rPr kumimoji="1" lang="en-US" altLang="zh-CN" sz="2000" b="0" i="0" smtClean="0">
                                <a:latin typeface="Cambria Math" panose="02040503050406030204" pitchFamily="18" charset="0"/>
                                <a:ea typeface="微软雅黑" panose="020B0503020204020204" pitchFamily="34" charset="-122"/>
                              </a:rPr>
                              <m:t>O</m:t>
                            </m:r>
                          </m:sub>
                        </m:sSub>
                      </m:oMath>
                    </m:oMathPara>
                  </a14:m>
                  <a:endParaRPr kumimoji="1" lang="en-US" altLang="zh-CN" sz="2000" b="0" dirty="0">
                    <a:latin typeface="微软雅黑" panose="020B0503020204020204" pitchFamily="34" charset="-122"/>
                    <a:ea typeface="微软雅黑" panose="020B0503020204020204" pitchFamily="34" charset="-122"/>
                  </a:endParaRPr>
                </a:p>
              </p:txBody>
            </p:sp>
          </mc:Choice>
          <mc:Fallback xmlns="">
            <p:sp>
              <p:nvSpPr>
                <p:cNvPr id="120" name="Rectangle 8">
                  <a:extLst>
                    <a:ext uri="{FF2B5EF4-FFF2-40B4-BE49-F238E27FC236}">
                      <a16:creationId xmlns:a16="http://schemas.microsoft.com/office/drawing/2014/main" id="{2E85D9D9-8917-3B41-9C0C-816034C73451}"/>
                    </a:ext>
                  </a:extLst>
                </p:cNvPr>
                <p:cNvSpPr>
                  <a:spLocks noRot="1" noChangeAspect="1" noMove="1" noResize="1" noEditPoints="1" noAdjustHandles="1" noChangeArrowheads="1" noChangeShapeType="1" noTextEdit="1"/>
                </p:cNvSpPr>
                <p:nvPr/>
              </p:nvSpPr>
              <p:spPr bwMode="auto">
                <a:xfrm>
                  <a:off x="7699126" y="3394921"/>
                  <a:ext cx="432000" cy="396000"/>
                </a:xfrm>
                <a:prstGeom prst="rect">
                  <a:avLst/>
                </a:prstGeom>
                <a:blipFill>
                  <a:blip r:embed="rId13"/>
                  <a:stretch>
                    <a:fillRect l="-5634" b="-307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1" name="Rectangle 8">
                  <a:extLst>
                    <a:ext uri="{FF2B5EF4-FFF2-40B4-BE49-F238E27FC236}">
                      <a16:creationId xmlns:a16="http://schemas.microsoft.com/office/drawing/2014/main" id="{FF9114F1-29F6-8F54-7151-9DD8E804674C}"/>
                    </a:ext>
                  </a:extLst>
                </p:cNvPr>
                <p:cNvSpPr>
                  <a:spLocks noChangeArrowheads="1"/>
                </p:cNvSpPr>
                <p:nvPr/>
              </p:nvSpPr>
              <p:spPr bwMode="auto">
                <a:xfrm>
                  <a:off x="5467126" y="3369821"/>
                  <a:ext cx="468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𝑣</m:t>
                            </m:r>
                          </m:e>
                          <m:sub>
                            <m:r>
                              <m:rPr>
                                <m:sty m:val="p"/>
                              </m:rPr>
                              <a:rPr kumimoji="1" lang="en-US" altLang="zh-CN" sz="2000" b="0" i="0" smtClean="0">
                                <a:latin typeface="Cambria Math" panose="02040503050406030204" pitchFamily="18" charset="0"/>
                                <a:ea typeface="微软雅黑" panose="020B0503020204020204" pitchFamily="34" charset="-122"/>
                              </a:rPr>
                              <m:t>I</m:t>
                            </m:r>
                            <m:r>
                              <a:rPr kumimoji="1" lang="en-US" altLang="zh-CN" sz="2000" b="0" i="1" smtClean="0">
                                <a:latin typeface="Cambria Math" panose="02040503050406030204" pitchFamily="18" charset="0"/>
                                <a:ea typeface="微软雅黑" panose="020B0503020204020204" pitchFamily="34" charset="-122"/>
                              </a:rPr>
                              <m:t>1</m:t>
                            </m:r>
                          </m:sub>
                        </m:sSub>
                      </m:oMath>
                    </m:oMathPara>
                  </a14:m>
                  <a:endParaRPr kumimoji="1" lang="en-US" altLang="zh-CN" sz="2000" b="0" dirty="0">
                    <a:latin typeface="微软雅黑" panose="020B0503020204020204" pitchFamily="34" charset="-122"/>
                    <a:ea typeface="微软雅黑" panose="020B0503020204020204" pitchFamily="34" charset="-122"/>
                  </a:endParaRPr>
                </a:p>
              </p:txBody>
            </p:sp>
          </mc:Choice>
          <mc:Fallback xmlns="">
            <p:sp>
              <p:nvSpPr>
                <p:cNvPr id="121" name="Rectangle 8">
                  <a:extLst>
                    <a:ext uri="{FF2B5EF4-FFF2-40B4-BE49-F238E27FC236}">
                      <a16:creationId xmlns:a16="http://schemas.microsoft.com/office/drawing/2014/main" id="{FF9114F1-29F6-8F54-7151-9DD8E804674C}"/>
                    </a:ext>
                  </a:extLst>
                </p:cNvPr>
                <p:cNvSpPr>
                  <a:spLocks noRot="1" noChangeAspect="1" noMove="1" noResize="1" noEditPoints="1" noAdjustHandles="1" noChangeArrowheads="1" noChangeShapeType="1" noTextEdit="1"/>
                </p:cNvSpPr>
                <p:nvPr/>
              </p:nvSpPr>
              <p:spPr bwMode="auto">
                <a:xfrm>
                  <a:off x="5467126" y="3369821"/>
                  <a:ext cx="468000" cy="396000"/>
                </a:xfrm>
                <a:prstGeom prst="rect">
                  <a:avLst/>
                </a:prstGeom>
                <a:blipFill>
                  <a:blip r:embed="rId14"/>
                  <a:stretch>
                    <a:fillRect l="-6494" b="-307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2" name="Rectangle 8">
                  <a:extLst>
                    <a:ext uri="{FF2B5EF4-FFF2-40B4-BE49-F238E27FC236}">
                      <a16:creationId xmlns:a16="http://schemas.microsoft.com/office/drawing/2014/main" id="{3940D3A0-5F87-6D34-28CD-E28FC42177D3}"/>
                    </a:ext>
                  </a:extLst>
                </p:cNvPr>
                <p:cNvSpPr>
                  <a:spLocks noChangeArrowheads="1"/>
                </p:cNvSpPr>
                <p:nvPr/>
              </p:nvSpPr>
              <p:spPr bwMode="auto">
                <a:xfrm>
                  <a:off x="5467126" y="3989417"/>
                  <a:ext cx="468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𝑣</m:t>
                            </m:r>
                          </m:e>
                          <m:sub>
                            <m:r>
                              <m:rPr>
                                <m:sty m:val="p"/>
                              </m:rPr>
                              <a:rPr kumimoji="1" lang="en-US" altLang="zh-CN" sz="2000" b="0" i="0" smtClean="0">
                                <a:latin typeface="Cambria Math" panose="02040503050406030204" pitchFamily="18" charset="0"/>
                                <a:ea typeface="微软雅黑" panose="020B0503020204020204" pitchFamily="34" charset="-122"/>
                              </a:rPr>
                              <m:t>I</m:t>
                            </m:r>
                            <m:r>
                              <a:rPr kumimoji="1" lang="en-US" altLang="zh-CN" sz="2000" b="0" i="1" smtClean="0">
                                <a:latin typeface="Cambria Math" panose="02040503050406030204" pitchFamily="18" charset="0"/>
                                <a:ea typeface="微软雅黑" panose="020B0503020204020204" pitchFamily="34" charset="-122"/>
                              </a:rPr>
                              <m:t>2</m:t>
                            </m:r>
                          </m:sub>
                        </m:sSub>
                      </m:oMath>
                    </m:oMathPara>
                  </a14:m>
                  <a:endParaRPr kumimoji="1" lang="en-US" altLang="zh-CN" sz="2000" b="0" dirty="0">
                    <a:latin typeface="微软雅黑" panose="020B0503020204020204" pitchFamily="34" charset="-122"/>
                    <a:ea typeface="微软雅黑" panose="020B0503020204020204" pitchFamily="34" charset="-122"/>
                  </a:endParaRPr>
                </a:p>
              </p:txBody>
            </p:sp>
          </mc:Choice>
          <mc:Fallback xmlns="">
            <p:sp>
              <p:nvSpPr>
                <p:cNvPr id="122" name="Rectangle 8">
                  <a:extLst>
                    <a:ext uri="{FF2B5EF4-FFF2-40B4-BE49-F238E27FC236}">
                      <a16:creationId xmlns:a16="http://schemas.microsoft.com/office/drawing/2014/main" id="{3940D3A0-5F87-6D34-28CD-E28FC42177D3}"/>
                    </a:ext>
                  </a:extLst>
                </p:cNvPr>
                <p:cNvSpPr>
                  <a:spLocks noRot="1" noChangeAspect="1" noMove="1" noResize="1" noEditPoints="1" noAdjustHandles="1" noChangeArrowheads="1" noChangeShapeType="1" noTextEdit="1"/>
                </p:cNvSpPr>
                <p:nvPr/>
              </p:nvSpPr>
              <p:spPr bwMode="auto">
                <a:xfrm>
                  <a:off x="5467126" y="3989417"/>
                  <a:ext cx="468000" cy="396000"/>
                </a:xfrm>
                <a:prstGeom prst="rect">
                  <a:avLst/>
                </a:prstGeom>
                <a:blipFill>
                  <a:blip r:embed="rId15"/>
                  <a:stretch>
                    <a:fillRect l="-6494" b="-307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08" name="椭圆 107">
              <a:extLst>
                <a:ext uri="{FF2B5EF4-FFF2-40B4-BE49-F238E27FC236}">
                  <a16:creationId xmlns:a16="http://schemas.microsoft.com/office/drawing/2014/main" id="{5F59091A-1E50-AF77-68E9-37467B65DA1C}"/>
                </a:ext>
              </a:extLst>
            </p:cNvPr>
            <p:cNvSpPr/>
            <p:nvPr/>
          </p:nvSpPr>
          <p:spPr>
            <a:xfrm>
              <a:off x="7555126" y="3574921"/>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27" name="椭圆 126">
              <a:extLst>
                <a:ext uri="{FF2B5EF4-FFF2-40B4-BE49-F238E27FC236}">
                  <a16:creationId xmlns:a16="http://schemas.microsoft.com/office/drawing/2014/main" id="{5A86B8F8-1138-23A3-8C86-E5AC9F8D1905}"/>
                </a:ext>
              </a:extLst>
            </p:cNvPr>
            <p:cNvSpPr/>
            <p:nvPr/>
          </p:nvSpPr>
          <p:spPr>
            <a:xfrm>
              <a:off x="7141126" y="2548921"/>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grpSp>
      <mc:AlternateContent xmlns:mc="http://schemas.openxmlformats.org/markup-compatibility/2006" xmlns:a14="http://schemas.microsoft.com/office/drawing/2010/main">
        <mc:Choice Requires="a14">
          <p:graphicFrame>
            <p:nvGraphicFramePr>
              <p:cNvPr id="130" name="表格 129">
                <a:extLst>
                  <a:ext uri="{FF2B5EF4-FFF2-40B4-BE49-F238E27FC236}">
                    <a16:creationId xmlns:a16="http://schemas.microsoft.com/office/drawing/2014/main" id="{32F192C5-F078-842B-02B0-331F0C4EA134}"/>
                  </a:ext>
                </a:extLst>
              </p:cNvPr>
              <p:cNvGraphicFramePr>
                <a:graphicFrameLocks noGrp="1"/>
              </p:cNvGraphicFramePr>
              <p:nvPr>
                <p:extLst>
                  <p:ext uri="{D42A27DB-BD31-4B8C-83A1-F6EECF244321}">
                    <p14:modId xmlns:p14="http://schemas.microsoft.com/office/powerpoint/2010/main" val="1972692270"/>
                  </p:ext>
                </p:extLst>
              </p:nvPr>
            </p:nvGraphicFramePr>
            <p:xfrm>
              <a:off x="5040000" y="2880000"/>
              <a:ext cx="6207710" cy="2438400"/>
            </p:xfrm>
            <a:graphic>
              <a:graphicData uri="http://schemas.openxmlformats.org/drawingml/2006/table">
                <a:tbl>
                  <a:tblPr firstRow="1" bandRow="1">
                    <a:tableStyleId>{5940675A-B579-460E-94D1-54222C63F5DA}</a:tableStyleId>
                  </a:tblPr>
                  <a:tblGrid>
                    <a:gridCol w="1241542">
                      <a:extLst>
                        <a:ext uri="{9D8B030D-6E8A-4147-A177-3AD203B41FA5}">
                          <a16:colId xmlns:a16="http://schemas.microsoft.com/office/drawing/2014/main" val="4138483646"/>
                        </a:ext>
                      </a:extLst>
                    </a:gridCol>
                    <a:gridCol w="1241542">
                      <a:extLst>
                        <a:ext uri="{9D8B030D-6E8A-4147-A177-3AD203B41FA5}">
                          <a16:colId xmlns:a16="http://schemas.microsoft.com/office/drawing/2014/main" val="1695882478"/>
                        </a:ext>
                      </a:extLst>
                    </a:gridCol>
                    <a:gridCol w="1241542">
                      <a:extLst>
                        <a:ext uri="{9D8B030D-6E8A-4147-A177-3AD203B41FA5}">
                          <a16:colId xmlns:a16="http://schemas.microsoft.com/office/drawing/2014/main" val="884025270"/>
                        </a:ext>
                      </a:extLst>
                    </a:gridCol>
                    <a:gridCol w="1241542">
                      <a:extLst>
                        <a:ext uri="{9D8B030D-6E8A-4147-A177-3AD203B41FA5}">
                          <a16:colId xmlns:a16="http://schemas.microsoft.com/office/drawing/2014/main" val="3668440629"/>
                        </a:ext>
                      </a:extLst>
                    </a:gridCol>
                    <a:gridCol w="1241542">
                      <a:extLst>
                        <a:ext uri="{9D8B030D-6E8A-4147-A177-3AD203B41FA5}">
                          <a16:colId xmlns:a16="http://schemas.microsoft.com/office/drawing/2014/main" val="2438967282"/>
                        </a:ext>
                      </a:extLst>
                    </a:gridCol>
                  </a:tblGrid>
                  <a:tr h="370840">
                    <a:tc rowSpan="2">
                      <a:txBody>
                        <a:bodyPr/>
                        <a:lstStyle/>
                        <a:p>
                          <a:pPr algn="ctr"/>
                          <a14:m>
                            <m:oMathPara xmlns:m="http://schemas.openxmlformats.org/officeDocument/2006/math">
                              <m:oMathParaPr>
                                <m:jc m:val="center"/>
                              </m:oMathParaPr>
                              <m:oMath xmlns:m="http://schemas.openxmlformats.org/officeDocument/2006/math">
                                <m:sSub>
                                  <m:sSubPr>
                                    <m:ctrlPr>
                                      <a:rPr kumimoji="1" lang="en-US" altLang="zh-CN" sz="2800" b="0" i="1" smtClean="0">
                                        <a:latin typeface="Cambria Math" panose="02040503050406030204" pitchFamily="18" charset="0"/>
                                        <a:ea typeface="微软雅黑" panose="020B0503020204020204" pitchFamily="34" charset="-122"/>
                                      </a:rPr>
                                    </m:ctrlPr>
                                  </m:sSubPr>
                                  <m:e>
                                    <m:r>
                                      <a:rPr kumimoji="1" lang="en-US" altLang="zh-CN" sz="2800" b="0" i="1" smtClean="0">
                                        <a:latin typeface="Cambria Math" panose="02040503050406030204" pitchFamily="18" charset="0"/>
                                        <a:ea typeface="微软雅黑" panose="020B0503020204020204" pitchFamily="34" charset="-122"/>
                                      </a:rPr>
                                      <m:t>𝑣</m:t>
                                    </m:r>
                                  </m:e>
                                  <m:sub>
                                    <m:r>
                                      <m:rPr>
                                        <m:sty m:val="p"/>
                                      </m:rPr>
                                      <a:rPr kumimoji="1" lang="en-US" altLang="zh-CN" sz="2800" b="0" i="0" smtClean="0">
                                        <a:latin typeface="Cambria Math" panose="02040503050406030204" pitchFamily="18" charset="0"/>
                                        <a:ea typeface="微软雅黑" panose="020B0503020204020204" pitchFamily="34" charset="-122"/>
                                      </a:rPr>
                                      <m:t>I</m:t>
                                    </m:r>
                                    <m:r>
                                      <a:rPr kumimoji="1" lang="en-US" altLang="zh-CN" sz="2800" b="0" i="1" smtClean="0">
                                        <a:latin typeface="Cambria Math" panose="02040503050406030204" pitchFamily="18" charset="0"/>
                                        <a:ea typeface="微软雅黑" panose="020B0503020204020204" pitchFamily="34" charset="-122"/>
                                      </a:rPr>
                                      <m:t>1</m:t>
                                    </m:r>
                                  </m:sub>
                                </m:sSub>
                              </m:oMath>
                            </m:oMathPara>
                          </a14:m>
                          <a:endParaRPr lang="zh-CN" altLang="en-US" sz="2800" dirty="0">
                            <a:latin typeface="微软雅黑" panose="020B0503020204020204" pitchFamily="34" charset="-122"/>
                            <a:ea typeface="微软雅黑" panose="020B0503020204020204" pitchFamily="34" charset="-122"/>
                          </a:endParaRPr>
                        </a:p>
                      </a:txBody>
                      <a:tcPr anchor="ct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1" lang="en-US" altLang="zh-CN" sz="2800" b="0" i="1" smtClean="0">
                                        <a:latin typeface="Cambria Math" panose="02040503050406030204" pitchFamily="18" charset="0"/>
                                        <a:ea typeface="微软雅黑" panose="020B0503020204020204" pitchFamily="34" charset="-122"/>
                                      </a:rPr>
                                    </m:ctrlPr>
                                  </m:sSubPr>
                                  <m:e>
                                    <m:r>
                                      <a:rPr kumimoji="1" lang="en-US" altLang="zh-CN" sz="2800" b="0" i="1" smtClean="0">
                                        <a:latin typeface="Cambria Math" panose="02040503050406030204" pitchFamily="18" charset="0"/>
                                        <a:ea typeface="微软雅黑" panose="020B0503020204020204" pitchFamily="34" charset="-122"/>
                                      </a:rPr>
                                      <m:t>𝑣</m:t>
                                    </m:r>
                                  </m:e>
                                  <m:sub>
                                    <m:r>
                                      <m:rPr>
                                        <m:sty m:val="p"/>
                                      </m:rPr>
                                      <a:rPr kumimoji="1" lang="en-US" altLang="zh-CN" sz="2800" b="0" i="0" smtClean="0">
                                        <a:latin typeface="Cambria Math" panose="02040503050406030204" pitchFamily="18" charset="0"/>
                                        <a:ea typeface="微软雅黑" panose="020B0503020204020204" pitchFamily="34" charset="-122"/>
                                      </a:rPr>
                                      <m:t>I</m:t>
                                    </m:r>
                                    <m:r>
                                      <a:rPr kumimoji="1" lang="en-US" altLang="zh-CN" sz="2800" b="0" i="1" smtClean="0">
                                        <a:latin typeface="Cambria Math" panose="02040503050406030204" pitchFamily="18" charset="0"/>
                                        <a:ea typeface="微软雅黑" panose="020B0503020204020204" pitchFamily="34" charset="-122"/>
                                      </a:rPr>
                                      <m:t>2</m:t>
                                    </m:r>
                                  </m:sub>
                                </m:sSub>
                              </m:oMath>
                            </m:oMathPara>
                          </a14:m>
                          <a:endParaRPr lang="zh-CN" altLang="en-US" sz="2800" dirty="0">
                            <a:latin typeface="微软雅黑" panose="020B0503020204020204" pitchFamily="34" charset="-122"/>
                            <a:ea typeface="微软雅黑" panose="020B0503020204020204" pitchFamily="34" charset="-122"/>
                          </a:endParaRPr>
                        </a:p>
                      </a:txBody>
                      <a:tcPr anchor="ctr"/>
                    </a:tc>
                    <a:tc gridSpan="2">
                      <a:txBody>
                        <a:bodyPr/>
                        <a:lstStyle/>
                        <a:p>
                          <a:pPr algn="ctr"/>
                          <a:r>
                            <a:rPr lang="zh-CN" altLang="en-US" sz="2000" dirty="0">
                              <a:latin typeface="微软雅黑" panose="020B0503020204020204" pitchFamily="34" charset="-122"/>
                              <a:ea typeface="微软雅黑" panose="020B0503020204020204" pitchFamily="34" charset="-122"/>
                            </a:rPr>
                            <a:t>二极管工作状态</a:t>
                          </a:r>
                        </a:p>
                      </a:txBody>
                      <a:tcPr anchor="ctr"/>
                    </a:tc>
                    <a:tc hMerge="1">
                      <a:txBody>
                        <a:bodyPr/>
                        <a:lstStyle/>
                        <a:p>
                          <a:pPr algn="ctr"/>
                          <a:endParaRPr lang="zh-CN" altLang="en-US" dirty="0"/>
                        </a:p>
                      </a:txBody>
                      <a:tcPr anchor="ctr"/>
                    </a:tc>
                    <a:tc rowSpan="2">
                      <a:txBody>
                        <a:bodyPr/>
                        <a:lstStyle/>
                        <a:p>
                          <a:pPr algn="ctr"/>
                          <a14:m>
                            <m:oMathPara xmlns:m="http://schemas.openxmlformats.org/officeDocument/2006/math">
                              <m:oMathParaPr>
                                <m:jc m:val="centerGroup"/>
                              </m:oMathParaPr>
                              <m:oMath xmlns:m="http://schemas.openxmlformats.org/officeDocument/2006/math">
                                <m:sSub>
                                  <m:sSubPr>
                                    <m:ctrlPr>
                                      <a:rPr kumimoji="1" lang="en-US" altLang="zh-CN" sz="2800" b="0" i="1" smtClean="0">
                                        <a:latin typeface="Cambria Math" panose="02040503050406030204" pitchFamily="18" charset="0"/>
                                        <a:ea typeface="微软雅黑" panose="020B0503020204020204" pitchFamily="34" charset="-122"/>
                                      </a:rPr>
                                    </m:ctrlPr>
                                  </m:sSubPr>
                                  <m:e>
                                    <m:r>
                                      <a:rPr kumimoji="1" lang="en-US" altLang="zh-CN" sz="2800" b="0" i="1" smtClean="0">
                                        <a:latin typeface="Cambria Math" panose="02040503050406030204" pitchFamily="18" charset="0"/>
                                        <a:ea typeface="微软雅黑" panose="020B0503020204020204" pitchFamily="34" charset="-122"/>
                                      </a:rPr>
                                      <m:t>𝑣</m:t>
                                    </m:r>
                                  </m:e>
                                  <m:sub>
                                    <m:r>
                                      <m:rPr>
                                        <m:sty m:val="p"/>
                                      </m:rPr>
                                      <a:rPr kumimoji="1" lang="en-US" altLang="zh-CN" sz="2800" b="0" i="0" smtClean="0">
                                        <a:latin typeface="Cambria Math" panose="02040503050406030204" pitchFamily="18" charset="0"/>
                                        <a:ea typeface="微软雅黑" panose="020B0503020204020204" pitchFamily="34" charset="-122"/>
                                      </a:rPr>
                                      <m:t>O</m:t>
                                    </m:r>
                                  </m:sub>
                                </m:sSub>
                              </m:oMath>
                            </m:oMathPara>
                          </a14:m>
                          <a:endParaRPr lang="zh-CN" altLang="en-US" sz="28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455973993"/>
                      </a:ext>
                    </a:extLst>
                  </a:tr>
                  <a:tr h="370840">
                    <a:tc vMerge="1">
                      <a:txBody>
                        <a:bodyPr/>
                        <a:lstStyle/>
                        <a:p>
                          <a:endParaRPr lang="zh-CN" altLang="en-US" dirty="0"/>
                        </a:p>
                      </a:txBody>
                      <a:tcPr/>
                    </a:tc>
                    <a:tc vMerge="1">
                      <a:txBody>
                        <a:bodyPr/>
                        <a:lstStyle/>
                        <a:p>
                          <a:endParaRPr lang="zh-CN" altLang="en-US" dirty="0"/>
                        </a:p>
                      </a:txBody>
                      <a:tcPr/>
                    </a:tc>
                    <a:tc>
                      <a:txBody>
                        <a:bodyPr/>
                        <a:lstStyle/>
                        <a:p>
                          <a:pPr algn="ct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ea typeface="微软雅黑" panose="020B0503020204020204" pitchFamily="34" charset="-122"/>
                                      </a:rPr>
                                    </m:ctrlPr>
                                  </m:sSubPr>
                                  <m:e>
                                    <m:r>
                                      <a:rPr kumimoji="1" lang="en-US" altLang="zh-CN" sz="2400" b="0" i="1" smtClean="0">
                                        <a:latin typeface="Cambria Math" panose="02040503050406030204" pitchFamily="18" charset="0"/>
                                        <a:ea typeface="微软雅黑" panose="020B0503020204020204" pitchFamily="34" charset="-122"/>
                                      </a:rPr>
                                      <m:t>𝐷</m:t>
                                    </m:r>
                                  </m:e>
                                  <m:sub>
                                    <m:r>
                                      <a:rPr kumimoji="1" lang="en-US" altLang="zh-CN" sz="2400" b="0" i="1" smtClean="0">
                                        <a:latin typeface="Cambria Math" panose="02040503050406030204" pitchFamily="18" charset="0"/>
                                        <a:ea typeface="微软雅黑" panose="020B0503020204020204" pitchFamily="34" charset="-122"/>
                                      </a:rPr>
                                      <m:t>1</m:t>
                                    </m:r>
                                  </m:sub>
                                </m:sSub>
                              </m:oMath>
                            </m:oMathPara>
                          </a14:m>
                          <a:endParaRPr lang="zh-CN" altLang="en-US" sz="2400" dirty="0">
                            <a:latin typeface="微软雅黑" panose="020B0503020204020204" pitchFamily="34" charset="-122"/>
                            <a:ea typeface="微软雅黑" panose="020B0503020204020204" pitchFamily="34" charset="-122"/>
                          </a:endParaRPr>
                        </a:p>
                      </a:txBody>
                      <a:tcPr anchor="ctr"/>
                    </a:tc>
                    <a:tc>
                      <a:txBody>
                        <a:bodyPr/>
                        <a:lstStyle/>
                        <a:p>
                          <a:pPr algn="ctr"/>
                          <a14:m>
                            <m:oMathPara xmlns:m="http://schemas.openxmlformats.org/officeDocument/2006/math">
                              <m:oMathParaPr>
                                <m:jc m:val="centerGroup"/>
                              </m:oMathParaPr>
                              <m:oMath xmlns:m="http://schemas.openxmlformats.org/officeDocument/2006/math">
                                <m:sSub>
                                  <m:sSubPr>
                                    <m:ctrlPr>
                                      <a:rPr kumimoji="1" lang="en-US" altLang="zh-CN" sz="2400" b="0" i="1" smtClean="0">
                                        <a:latin typeface="Cambria Math" panose="02040503050406030204" pitchFamily="18" charset="0"/>
                                        <a:ea typeface="微软雅黑" panose="020B0503020204020204" pitchFamily="34" charset="-122"/>
                                      </a:rPr>
                                    </m:ctrlPr>
                                  </m:sSubPr>
                                  <m:e>
                                    <m:r>
                                      <a:rPr kumimoji="1" lang="en-US" altLang="zh-CN" sz="2400" b="0" i="1" smtClean="0">
                                        <a:latin typeface="Cambria Math" panose="02040503050406030204" pitchFamily="18" charset="0"/>
                                        <a:ea typeface="微软雅黑" panose="020B0503020204020204" pitchFamily="34" charset="-122"/>
                                      </a:rPr>
                                      <m:t>𝐷</m:t>
                                    </m:r>
                                  </m:e>
                                  <m:sub>
                                    <m:r>
                                      <a:rPr kumimoji="1" lang="en-US" altLang="zh-CN" sz="2400" b="0" i="1" smtClean="0">
                                        <a:latin typeface="Cambria Math" panose="02040503050406030204" pitchFamily="18" charset="0"/>
                                        <a:ea typeface="微软雅黑" panose="020B0503020204020204" pitchFamily="34" charset="-122"/>
                                      </a:rPr>
                                      <m:t>2</m:t>
                                    </m:r>
                                  </m:sub>
                                </m:sSub>
                              </m:oMath>
                            </m:oMathPara>
                          </a14:m>
                          <a:endParaRPr lang="zh-CN" altLang="en-US" sz="2400" dirty="0">
                            <a:latin typeface="微软雅黑" panose="020B0503020204020204" pitchFamily="34" charset="-122"/>
                            <a:ea typeface="微软雅黑" panose="020B0503020204020204" pitchFamily="34" charset="-122"/>
                          </a:endParaRPr>
                        </a:p>
                      </a:txBody>
                      <a:tcPr anchor="ctr"/>
                    </a:tc>
                    <a:tc vMerge="1">
                      <a:txBody>
                        <a:bodyPr/>
                        <a:lstStyle/>
                        <a:p>
                          <a:pPr algn="ctr"/>
                          <a:endParaRPr lang="zh-CN" altLang="en-US"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686400855"/>
                      </a:ext>
                    </a:extLst>
                  </a:tr>
                  <a:tr h="370840">
                    <a:tc>
                      <a:txBody>
                        <a:bodyPr/>
                        <a:lstStyle/>
                        <a:p>
                          <a:pPr algn="ctr"/>
                          <a:r>
                            <a:rPr lang="en-US" altLang="zh-CN" sz="2000" dirty="0">
                              <a:latin typeface="微软雅黑" panose="020B0503020204020204" pitchFamily="34" charset="-122"/>
                              <a:ea typeface="微软雅黑" panose="020B0503020204020204" pitchFamily="34" charset="-122"/>
                            </a:rPr>
                            <a:t>0 V</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V</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导通</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latin typeface="微软雅黑" panose="020B0503020204020204" pitchFamily="34" charset="-122"/>
                              <a:ea typeface="微软雅黑" panose="020B0503020204020204" pitchFamily="34" charset="-122"/>
                            </a:rPr>
                            <a:t>导通</a:t>
                          </a: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 V</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717364227"/>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V</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5 V</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导通</a:t>
                          </a: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截止</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V</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2853703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5 V</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 V</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截止</a:t>
                          </a: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导通</a:t>
                          </a: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 V</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19394464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5 V</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5 V</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截止</a:t>
                          </a: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截止</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5 V</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255923783"/>
                      </a:ext>
                    </a:extLst>
                  </a:tr>
                </a:tbl>
              </a:graphicData>
            </a:graphic>
          </p:graphicFrame>
        </mc:Choice>
        <mc:Fallback xmlns="">
          <p:graphicFrame>
            <p:nvGraphicFramePr>
              <p:cNvPr id="130" name="表格 129">
                <a:extLst>
                  <a:ext uri="{FF2B5EF4-FFF2-40B4-BE49-F238E27FC236}">
                    <a16:creationId xmlns:a16="http://schemas.microsoft.com/office/drawing/2014/main" id="{32F192C5-F078-842B-02B0-331F0C4EA134}"/>
                  </a:ext>
                </a:extLst>
              </p:cNvPr>
              <p:cNvGraphicFramePr>
                <a:graphicFrameLocks noGrp="1"/>
              </p:cNvGraphicFramePr>
              <p:nvPr>
                <p:extLst>
                  <p:ext uri="{D42A27DB-BD31-4B8C-83A1-F6EECF244321}">
                    <p14:modId xmlns:p14="http://schemas.microsoft.com/office/powerpoint/2010/main" val="1972692270"/>
                  </p:ext>
                </p:extLst>
              </p:nvPr>
            </p:nvGraphicFramePr>
            <p:xfrm>
              <a:off x="5040000" y="2880000"/>
              <a:ext cx="6207710" cy="2438400"/>
            </p:xfrm>
            <a:graphic>
              <a:graphicData uri="http://schemas.openxmlformats.org/drawingml/2006/table">
                <a:tbl>
                  <a:tblPr firstRow="1" bandRow="1">
                    <a:tableStyleId>{5940675A-B579-460E-94D1-54222C63F5DA}</a:tableStyleId>
                  </a:tblPr>
                  <a:tblGrid>
                    <a:gridCol w="1241542">
                      <a:extLst>
                        <a:ext uri="{9D8B030D-6E8A-4147-A177-3AD203B41FA5}">
                          <a16:colId xmlns:a16="http://schemas.microsoft.com/office/drawing/2014/main" val="4138483646"/>
                        </a:ext>
                      </a:extLst>
                    </a:gridCol>
                    <a:gridCol w="1241542">
                      <a:extLst>
                        <a:ext uri="{9D8B030D-6E8A-4147-A177-3AD203B41FA5}">
                          <a16:colId xmlns:a16="http://schemas.microsoft.com/office/drawing/2014/main" val="1695882478"/>
                        </a:ext>
                      </a:extLst>
                    </a:gridCol>
                    <a:gridCol w="1241542">
                      <a:extLst>
                        <a:ext uri="{9D8B030D-6E8A-4147-A177-3AD203B41FA5}">
                          <a16:colId xmlns:a16="http://schemas.microsoft.com/office/drawing/2014/main" val="884025270"/>
                        </a:ext>
                      </a:extLst>
                    </a:gridCol>
                    <a:gridCol w="1241542">
                      <a:extLst>
                        <a:ext uri="{9D8B030D-6E8A-4147-A177-3AD203B41FA5}">
                          <a16:colId xmlns:a16="http://schemas.microsoft.com/office/drawing/2014/main" val="3668440629"/>
                        </a:ext>
                      </a:extLst>
                    </a:gridCol>
                    <a:gridCol w="1241542">
                      <a:extLst>
                        <a:ext uri="{9D8B030D-6E8A-4147-A177-3AD203B41FA5}">
                          <a16:colId xmlns:a16="http://schemas.microsoft.com/office/drawing/2014/main" val="2438967282"/>
                        </a:ext>
                      </a:extLst>
                    </a:gridCol>
                  </a:tblGrid>
                  <a:tr h="396240">
                    <a:tc rowSpan="2">
                      <a:txBody>
                        <a:bodyPr/>
                        <a:lstStyle/>
                        <a:p>
                          <a:endParaRPr lang="zh-CN"/>
                        </a:p>
                      </a:txBody>
                      <a:tcPr anchor="ctr">
                        <a:blipFill>
                          <a:blip r:embed="rId16"/>
                          <a:stretch>
                            <a:fillRect l="-490" t="-3571" r="-400980" b="-198571"/>
                          </a:stretch>
                        </a:blipFill>
                      </a:tcPr>
                    </a:tc>
                    <a:tc rowSpan="2">
                      <a:txBody>
                        <a:bodyPr/>
                        <a:lstStyle/>
                        <a:p>
                          <a:endParaRPr lang="zh-CN"/>
                        </a:p>
                      </a:txBody>
                      <a:tcPr anchor="ctr">
                        <a:blipFill>
                          <a:blip r:embed="rId16"/>
                          <a:stretch>
                            <a:fillRect l="-100490" t="-3571" r="-300980" b="-198571"/>
                          </a:stretch>
                        </a:blipFill>
                      </a:tcPr>
                    </a:tc>
                    <a:tc gridSpan="2">
                      <a:txBody>
                        <a:bodyPr/>
                        <a:lstStyle/>
                        <a:p>
                          <a:pPr algn="ctr"/>
                          <a:r>
                            <a:rPr lang="zh-CN" altLang="en-US" sz="2000" dirty="0">
                              <a:latin typeface="微软雅黑" panose="020B0503020204020204" pitchFamily="34" charset="-122"/>
                              <a:ea typeface="微软雅黑" panose="020B0503020204020204" pitchFamily="34" charset="-122"/>
                            </a:rPr>
                            <a:t>二极管工作状态</a:t>
                          </a:r>
                        </a:p>
                      </a:txBody>
                      <a:tcPr anchor="ctr"/>
                    </a:tc>
                    <a:tc hMerge="1">
                      <a:txBody>
                        <a:bodyPr/>
                        <a:lstStyle/>
                        <a:p>
                          <a:pPr algn="ctr"/>
                          <a:endParaRPr lang="zh-CN" altLang="en-US" dirty="0"/>
                        </a:p>
                      </a:txBody>
                      <a:tcPr anchor="ctr"/>
                    </a:tc>
                    <a:tc rowSpan="2">
                      <a:txBody>
                        <a:bodyPr/>
                        <a:lstStyle/>
                        <a:p>
                          <a:endParaRPr lang="zh-CN"/>
                        </a:p>
                      </a:txBody>
                      <a:tcPr anchor="ctr">
                        <a:blipFill>
                          <a:blip r:embed="rId16"/>
                          <a:stretch>
                            <a:fillRect l="-400490" t="-3571" r="-980" b="-198571"/>
                          </a:stretch>
                        </a:blipFill>
                      </a:tcPr>
                    </a:tc>
                    <a:extLst>
                      <a:ext uri="{0D108BD9-81ED-4DB2-BD59-A6C34878D82A}">
                        <a16:rowId xmlns:a16="http://schemas.microsoft.com/office/drawing/2014/main" val="3455973993"/>
                      </a:ext>
                    </a:extLst>
                  </a:tr>
                  <a:tr h="457200">
                    <a:tc vMerge="1">
                      <a:txBody>
                        <a:bodyPr/>
                        <a:lstStyle/>
                        <a:p>
                          <a:endParaRPr lang="zh-CN" altLang="en-US" dirty="0"/>
                        </a:p>
                      </a:txBody>
                      <a:tcPr/>
                    </a:tc>
                    <a:tc vMerge="1">
                      <a:txBody>
                        <a:bodyPr/>
                        <a:lstStyle/>
                        <a:p>
                          <a:endParaRPr lang="zh-CN" altLang="en-US" dirty="0"/>
                        </a:p>
                      </a:txBody>
                      <a:tcPr/>
                    </a:tc>
                    <a:tc>
                      <a:txBody>
                        <a:bodyPr/>
                        <a:lstStyle/>
                        <a:p>
                          <a:endParaRPr lang="zh-CN"/>
                        </a:p>
                      </a:txBody>
                      <a:tcPr anchor="ctr">
                        <a:blipFill>
                          <a:blip r:embed="rId16"/>
                          <a:stretch>
                            <a:fillRect l="-200490" t="-93333" r="-200980" b="-370667"/>
                          </a:stretch>
                        </a:blipFill>
                      </a:tcPr>
                    </a:tc>
                    <a:tc>
                      <a:txBody>
                        <a:bodyPr/>
                        <a:lstStyle/>
                        <a:p>
                          <a:endParaRPr lang="zh-CN"/>
                        </a:p>
                      </a:txBody>
                      <a:tcPr anchor="ctr">
                        <a:blipFill>
                          <a:blip r:embed="rId16"/>
                          <a:stretch>
                            <a:fillRect l="-300490" t="-93333" r="-100980" b="-370667"/>
                          </a:stretch>
                        </a:blipFill>
                      </a:tcPr>
                    </a:tc>
                    <a:tc vMerge="1">
                      <a:txBody>
                        <a:bodyPr/>
                        <a:lstStyle/>
                        <a:p>
                          <a:pPr algn="ctr"/>
                          <a:endParaRPr lang="zh-CN" altLang="en-US"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686400855"/>
                      </a:ext>
                    </a:extLst>
                  </a:tr>
                  <a:tr h="396240">
                    <a:tc>
                      <a:txBody>
                        <a:bodyPr/>
                        <a:lstStyle/>
                        <a:p>
                          <a:pPr algn="ctr"/>
                          <a:r>
                            <a:rPr lang="en-US" altLang="zh-CN" sz="2000" dirty="0">
                              <a:latin typeface="微软雅黑" panose="020B0503020204020204" pitchFamily="34" charset="-122"/>
                              <a:ea typeface="微软雅黑" panose="020B0503020204020204" pitchFamily="34" charset="-122"/>
                            </a:rPr>
                            <a:t>0 V</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V</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导通</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latin typeface="微软雅黑" panose="020B0503020204020204" pitchFamily="34" charset="-122"/>
                              <a:ea typeface="微软雅黑" panose="020B0503020204020204" pitchFamily="34" charset="-122"/>
                            </a:rPr>
                            <a:t>导通</a:t>
                          </a: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 V</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717364227"/>
                      </a:ext>
                    </a:extLst>
                  </a:tr>
                  <a:tr h="3962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V</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5 V</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导通</a:t>
                          </a: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截止</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0 V</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28537034"/>
                      </a:ext>
                    </a:extLst>
                  </a:tr>
                  <a:tr h="3962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5 V</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 V</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截止</a:t>
                          </a: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导通</a:t>
                          </a: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0 V</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193944644"/>
                      </a:ext>
                    </a:extLst>
                  </a:tr>
                  <a:tr h="3962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5 V</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en-US" altLang="zh-CN" sz="2000" dirty="0">
                              <a:latin typeface="微软雅黑" panose="020B0503020204020204" pitchFamily="34" charset="-122"/>
                              <a:ea typeface="微软雅黑" panose="020B0503020204020204" pitchFamily="34" charset="-122"/>
                            </a:rPr>
                            <a:t>5 V</a:t>
                          </a:r>
                          <a:endParaRPr lang="zh-CN" altLang="en-US" sz="20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截止</a:t>
                          </a:r>
                        </a:p>
                      </a:txBody>
                      <a:tcPr anchor="ctr"/>
                    </a:tc>
                    <a:tc>
                      <a:txBody>
                        <a:bodyPr/>
                        <a:lstStyle/>
                        <a:p>
                          <a:pPr algn="ctr"/>
                          <a:r>
                            <a:rPr lang="zh-CN" altLang="en-US" sz="2000" dirty="0">
                              <a:latin typeface="微软雅黑" panose="020B0503020204020204" pitchFamily="34" charset="-122"/>
                              <a:ea typeface="微软雅黑" panose="020B0503020204020204" pitchFamily="34" charset="-122"/>
                            </a:rPr>
                            <a:t>截止</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微软雅黑" panose="020B0503020204020204" pitchFamily="34" charset="-122"/>
                              <a:ea typeface="微软雅黑" panose="020B0503020204020204" pitchFamily="34" charset="-122"/>
                            </a:rPr>
                            <a:t>5 V</a:t>
                          </a:r>
                          <a:endParaRPr lang="zh-CN" altLang="en-US" sz="20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3255923783"/>
                      </a:ext>
                    </a:extLst>
                  </a:tr>
                </a:tbl>
              </a:graphicData>
            </a:graphic>
          </p:graphicFrame>
        </mc:Fallback>
      </mc:AlternateContent>
      <mc:AlternateContent xmlns:mc="http://schemas.openxmlformats.org/markup-compatibility/2006" xmlns:a14="http://schemas.microsoft.com/office/drawing/2010/main">
        <mc:Choice Requires="a14">
          <p:sp>
            <p:nvSpPr>
              <p:cNvPr id="131" name="文本框 130">
                <a:extLst>
                  <a:ext uri="{FF2B5EF4-FFF2-40B4-BE49-F238E27FC236}">
                    <a16:creationId xmlns:a16="http://schemas.microsoft.com/office/drawing/2014/main" id="{F3FAC114-FF18-3207-56E5-ACB8A6407F14}"/>
                  </a:ext>
                </a:extLst>
              </p:cNvPr>
              <p:cNvSpPr txBox="1"/>
              <p:nvPr/>
            </p:nvSpPr>
            <p:spPr>
              <a:xfrm>
                <a:off x="4320000" y="2160000"/>
                <a:ext cx="3622173" cy="497957"/>
              </a:xfrm>
              <a:prstGeom prst="rect">
                <a:avLst/>
              </a:prstGeom>
              <a:noFill/>
            </p:spPr>
            <p:txBody>
              <a:bodyPr wrap="square">
                <a:spAutoFit/>
              </a:bodyPr>
              <a:lstStyle/>
              <a:p>
                <a:pPr>
                  <a:lnSpc>
                    <a:spcPct val="120000"/>
                  </a:lnSpc>
                  <a:spcAft>
                    <a:spcPts val="600"/>
                  </a:spcAft>
                </a:pPr>
                <a14:m>
                  <m:oMath xmlns:m="http://schemas.openxmlformats.org/officeDocument/2006/math">
                    <m:sSub>
                      <m:sSubPr>
                        <m:ctrlP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CC</m:t>
                        </m:r>
                      </m:sub>
                    </m:sSub>
                    <m: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t>=</m:t>
                    </m:r>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5</m:t>
                    </m:r>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 </m:t>
                    </m:r>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V</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14:m>
                  <m:oMath xmlns:m="http://schemas.openxmlformats.org/officeDocument/2006/math">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𝑅</m:t>
                    </m:r>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m:t>
                    </m:r>
                    <m: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t>4</m:t>
                    </m:r>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m:t>
                    </m:r>
                    <m: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t>7</m:t>
                    </m:r>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 </m:t>
                    </m:r>
                    <m:r>
                      <m:rPr>
                        <m:sty m:val="p"/>
                      </m:rP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t>k</m:t>
                    </m:r>
                    <m:r>
                      <m:rPr>
                        <m:sty m:val="p"/>
                      </m:rPr>
                      <a:rPr kumimoji="1" lang="el-GR" altLang="zh-CN" sz="2400" i="1" smtClean="0">
                        <a:solidFill>
                          <a:schemeClr val="accent5">
                            <a:lumMod val="75000"/>
                          </a:schemeClr>
                        </a:solidFill>
                        <a:latin typeface="Cambria Math" panose="02040503050406030204" pitchFamily="18" charset="0"/>
                        <a:ea typeface="Cambria Math" panose="02040503050406030204" pitchFamily="18" charset="0"/>
                      </a:rPr>
                      <m:t>Ω</m:t>
                    </m:r>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131" name="文本框 130">
                <a:extLst>
                  <a:ext uri="{FF2B5EF4-FFF2-40B4-BE49-F238E27FC236}">
                    <a16:creationId xmlns:a16="http://schemas.microsoft.com/office/drawing/2014/main" id="{F3FAC114-FF18-3207-56E5-ACB8A6407F14}"/>
                  </a:ext>
                </a:extLst>
              </p:cNvPr>
              <p:cNvSpPr txBox="1">
                <a:spLocks noRot="1" noChangeAspect="1" noMove="1" noResize="1" noEditPoints="1" noAdjustHandles="1" noChangeArrowheads="1" noChangeShapeType="1" noTextEdit="1"/>
              </p:cNvSpPr>
              <p:nvPr/>
            </p:nvSpPr>
            <p:spPr>
              <a:xfrm>
                <a:off x="4320000" y="2160000"/>
                <a:ext cx="3622173" cy="497957"/>
              </a:xfrm>
              <a:prstGeom prst="rect">
                <a:avLst/>
              </a:prstGeom>
              <a:blipFill>
                <a:blip r:embed="rId17"/>
                <a:stretch>
                  <a:fillRect l="-505" t="-2439" b="-268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3" name="文本框 132">
                <a:extLst>
                  <a:ext uri="{FF2B5EF4-FFF2-40B4-BE49-F238E27FC236}">
                    <a16:creationId xmlns:a16="http://schemas.microsoft.com/office/drawing/2014/main" id="{516C8E67-DD64-3996-6628-3E25FBCC768E}"/>
                  </a:ext>
                </a:extLst>
              </p:cNvPr>
              <p:cNvSpPr txBox="1"/>
              <p:nvPr/>
            </p:nvSpPr>
            <p:spPr>
              <a:xfrm>
                <a:off x="5040000" y="5760000"/>
                <a:ext cx="3994905" cy="523220"/>
              </a:xfrm>
              <a:prstGeom prst="rect">
                <a:avLst/>
              </a:prstGeom>
              <a:noFill/>
            </p:spPr>
            <p:txBody>
              <a:bodyPr wrap="square">
                <a:spAutoFit/>
              </a:bodyPr>
              <a:lstStyle/>
              <a:p>
                <a:r>
                  <a:rPr kumimoji="1" lang="zh-CN" altLang="en-US" sz="2800" b="0" dirty="0">
                    <a:solidFill>
                      <a:srgbClr val="0000FF"/>
                    </a:solidFill>
                    <a:ea typeface="微软雅黑" panose="020B0503020204020204" pitchFamily="34" charset="-122"/>
                  </a:rPr>
                  <a:t>与逻辑：</a:t>
                </a:r>
                <a14:m>
                  <m:oMath xmlns:m="http://schemas.openxmlformats.org/officeDocument/2006/math">
                    <m:sSub>
                      <m:sSubPr>
                        <m:ctrlPr>
                          <a:rPr kumimoji="1" lang="en-US" altLang="zh-CN" sz="2800" b="0" i="1" smtClean="0">
                            <a:solidFill>
                              <a:srgbClr val="0000FF"/>
                            </a:solidFill>
                            <a:latin typeface="Cambria Math" panose="02040503050406030204" pitchFamily="18" charset="0"/>
                            <a:ea typeface="微软雅黑" panose="020B0503020204020204" pitchFamily="34" charset="-122"/>
                          </a:rPr>
                        </m:ctrlPr>
                      </m:sSubPr>
                      <m:e>
                        <m:r>
                          <a:rPr kumimoji="1" lang="en-US" altLang="zh-CN" sz="2800" b="0" i="1" smtClean="0">
                            <a:solidFill>
                              <a:srgbClr val="0000FF"/>
                            </a:solidFill>
                            <a:latin typeface="Cambria Math" panose="02040503050406030204" pitchFamily="18" charset="0"/>
                            <a:ea typeface="微软雅黑" panose="020B0503020204020204" pitchFamily="34" charset="-122"/>
                          </a:rPr>
                          <m:t>𝑣</m:t>
                        </m:r>
                      </m:e>
                      <m:sub>
                        <m:r>
                          <m:rPr>
                            <m:sty m:val="p"/>
                          </m:rPr>
                          <a:rPr kumimoji="1" lang="en-US" altLang="zh-CN" sz="2800" b="0" i="0" smtClean="0">
                            <a:solidFill>
                              <a:srgbClr val="0000FF"/>
                            </a:solidFill>
                            <a:latin typeface="Cambria Math" panose="02040503050406030204" pitchFamily="18" charset="0"/>
                            <a:ea typeface="微软雅黑" panose="020B0503020204020204" pitchFamily="34" charset="-122"/>
                          </a:rPr>
                          <m:t>O</m:t>
                        </m:r>
                      </m:sub>
                    </m:sSub>
                    <m:r>
                      <a:rPr kumimoji="1" lang="en-US" altLang="zh-CN" sz="2800" i="1">
                        <a:solidFill>
                          <a:srgbClr val="0000FF"/>
                        </a:solidFill>
                        <a:latin typeface="Cambria Math" panose="02040503050406030204" pitchFamily="18" charset="0"/>
                        <a:ea typeface="微软雅黑" panose="020B0503020204020204" pitchFamily="34" charset="-122"/>
                      </a:rPr>
                      <m:t>=</m:t>
                    </m:r>
                    <m:sSub>
                      <m:sSubPr>
                        <m:ctrlPr>
                          <a:rPr kumimoji="1" lang="en-US" altLang="zh-CN" sz="2800" i="1">
                            <a:solidFill>
                              <a:srgbClr val="0000FF"/>
                            </a:solidFill>
                            <a:latin typeface="Cambria Math" panose="02040503050406030204" pitchFamily="18" charset="0"/>
                            <a:ea typeface="微软雅黑" panose="020B0503020204020204" pitchFamily="34" charset="-122"/>
                          </a:rPr>
                        </m:ctrlPr>
                      </m:sSubPr>
                      <m:e>
                        <m:r>
                          <a:rPr kumimoji="1" lang="en-US" altLang="zh-CN" sz="2800" i="1">
                            <a:solidFill>
                              <a:srgbClr val="0000FF"/>
                            </a:solidFill>
                            <a:latin typeface="Cambria Math" panose="02040503050406030204" pitchFamily="18" charset="0"/>
                            <a:ea typeface="微软雅黑" panose="020B0503020204020204" pitchFamily="34" charset="-122"/>
                          </a:rPr>
                          <m:t>𝑣</m:t>
                        </m:r>
                      </m:e>
                      <m:sub>
                        <m:r>
                          <m:rPr>
                            <m:sty m:val="p"/>
                          </m:rPr>
                          <a:rPr kumimoji="1" lang="en-US" altLang="zh-CN" sz="2800" b="0" i="0" smtClean="0">
                            <a:solidFill>
                              <a:srgbClr val="0000FF"/>
                            </a:solidFill>
                            <a:latin typeface="Cambria Math" panose="02040503050406030204" pitchFamily="18" charset="0"/>
                            <a:ea typeface="微软雅黑" panose="020B0503020204020204" pitchFamily="34" charset="-122"/>
                          </a:rPr>
                          <m:t>I</m:t>
                        </m:r>
                        <m:r>
                          <a:rPr kumimoji="1" lang="en-US" altLang="zh-CN" sz="2800" b="0" i="1" smtClean="0">
                            <a:solidFill>
                              <a:srgbClr val="0000FF"/>
                            </a:solidFill>
                            <a:latin typeface="Cambria Math" panose="02040503050406030204" pitchFamily="18" charset="0"/>
                            <a:ea typeface="微软雅黑" panose="020B0503020204020204" pitchFamily="34" charset="-122"/>
                          </a:rPr>
                          <m:t>1</m:t>
                        </m:r>
                      </m:sub>
                    </m:sSub>
                    <m:r>
                      <a:rPr kumimoji="1" lang="en-US" altLang="zh-CN" sz="2800" i="1" smtClean="0">
                        <a:solidFill>
                          <a:srgbClr val="0000FF"/>
                        </a:solidFill>
                        <a:latin typeface="Cambria Math" panose="02040503050406030204" pitchFamily="18" charset="0"/>
                        <a:ea typeface="Cambria Math" panose="02040503050406030204" pitchFamily="18" charset="0"/>
                      </a:rPr>
                      <m:t>∙</m:t>
                    </m:r>
                    <m:sSub>
                      <m:sSubPr>
                        <m:ctrlPr>
                          <a:rPr kumimoji="1" lang="en-US" altLang="zh-CN" sz="2800" i="1">
                            <a:solidFill>
                              <a:srgbClr val="0000FF"/>
                            </a:solidFill>
                            <a:latin typeface="Cambria Math" panose="02040503050406030204" pitchFamily="18" charset="0"/>
                            <a:ea typeface="微软雅黑" panose="020B0503020204020204" pitchFamily="34" charset="-122"/>
                          </a:rPr>
                        </m:ctrlPr>
                      </m:sSubPr>
                      <m:e>
                        <m:r>
                          <a:rPr kumimoji="1" lang="en-US" altLang="zh-CN" sz="2800" i="1">
                            <a:solidFill>
                              <a:srgbClr val="0000FF"/>
                            </a:solidFill>
                            <a:latin typeface="Cambria Math" panose="02040503050406030204" pitchFamily="18" charset="0"/>
                            <a:ea typeface="微软雅黑" panose="020B0503020204020204" pitchFamily="34" charset="-122"/>
                          </a:rPr>
                          <m:t>𝑣</m:t>
                        </m:r>
                      </m:e>
                      <m:sub>
                        <m:r>
                          <m:rPr>
                            <m:sty m:val="p"/>
                          </m:rPr>
                          <a:rPr kumimoji="1" lang="en-US" altLang="zh-CN" sz="2800" i="0">
                            <a:solidFill>
                              <a:srgbClr val="0000FF"/>
                            </a:solidFill>
                            <a:latin typeface="Cambria Math" panose="02040503050406030204" pitchFamily="18" charset="0"/>
                            <a:ea typeface="微软雅黑" panose="020B0503020204020204" pitchFamily="34" charset="-122"/>
                          </a:rPr>
                          <m:t>I</m:t>
                        </m:r>
                        <m:r>
                          <a:rPr kumimoji="1" lang="en-US" altLang="zh-CN" sz="2800" b="0" i="1" smtClean="0">
                            <a:solidFill>
                              <a:srgbClr val="0000FF"/>
                            </a:solidFill>
                            <a:latin typeface="Cambria Math" panose="02040503050406030204" pitchFamily="18" charset="0"/>
                            <a:ea typeface="微软雅黑" panose="020B0503020204020204" pitchFamily="34" charset="-122"/>
                          </a:rPr>
                          <m:t>2</m:t>
                        </m:r>
                      </m:sub>
                    </m:sSub>
                  </m:oMath>
                </a14:m>
                <a:endParaRPr lang="zh-CN" altLang="en-US" sz="2800" dirty="0">
                  <a:solidFill>
                    <a:srgbClr val="0000FF"/>
                  </a:solidFill>
                </a:endParaRPr>
              </a:p>
            </p:txBody>
          </p:sp>
        </mc:Choice>
        <mc:Fallback xmlns="">
          <p:sp>
            <p:nvSpPr>
              <p:cNvPr id="133" name="文本框 132">
                <a:extLst>
                  <a:ext uri="{FF2B5EF4-FFF2-40B4-BE49-F238E27FC236}">
                    <a16:creationId xmlns:a16="http://schemas.microsoft.com/office/drawing/2014/main" id="{516C8E67-DD64-3996-6628-3E25FBCC768E}"/>
                  </a:ext>
                </a:extLst>
              </p:cNvPr>
              <p:cNvSpPr txBox="1">
                <a:spLocks noRot="1" noChangeAspect="1" noMove="1" noResize="1" noEditPoints="1" noAdjustHandles="1" noChangeArrowheads="1" noChangeShapeType="1" noTextEdit="1"/>
              </p:cNvSpPr>
              <p:nvPr/>
            </p:nvSpPr>
            <p:spPr>
              <a:xfrm>
                <a:off x="5040000" y="5760000"/>
                <a:ext cx="3994905" cy="523220"/>
              </a:xfrm>
              <a:prstGeom prst="rect">
                <a:avLst/>
              </a:prstGeom>
              <a:blipFill>
                <a:blip r:embed="rId18"/>
                <a:stretch>
                  <a:fillRect l="-3206" t="-13953" b="-30233"/>
                </a:stretch>
              </a:blipFill>
            </p:spPr>
            <p:txBody>
              <a:bodyPr/>
              <a:lstStyle/>
              <a:p>
                <a:r>
                  <a:rPr lang="zh-CN" altLang="en-US">
                    <a:noFill/>
                  </a:rPr>
                  <a:t> </a:t>
                </a:r>
              </a:p>
            </p:txBody>
          </p:sp>
        </mc:Fallback>
      </mc:AlternateContent>
      <p:sp>
        <p:nvSpPr>
          <p:cNvPr id="22" name="标题 1">
            <a:extLst>
              <a:ext uri="{FF2B5EF4-FFF2-40B4-BE49-F238E27FC236}">
                <a16:creationId xmlns:a16="http://schemas.microsoft.com/office/drawing/2014/main" id="{EE62D34A-32DE-3C98-0533-60D693ABC85F}"/>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二极管及其应用</a:t>
            </a:r>
            <a:endParaRPr lang="en-US" altLang="zh-CN" sz="3000" dirty="0"/>
          </a:p>
        </p:txBody>
      </p:sp>
    </p:spTree>
    <p:extLst>
      <p:ext uri="{BB962C8B-B14F-4D97-AF65-F5344CB8AC3E}">
        <p14:creationId xmlns:p14="http://schemas.microsoft.com/office/powerpoint/2010/main" val="1689496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33"/>
                                        </p:tgtEl>
                                        <p:attrNameLst>
                                          <p:attrName>style.visibility</p:attrName>
                                        </p:attrNameLst>
                                      </p:cBhvr>
                                      <p:to>
                                        <p:strVal val="visible"/>
                                      </p:to>
                                    </p:set>
                                    <p:animEffect transition="in" filter="randombar(horizontal)">
                                      <p:cBhvr>
                                        <p:cTn id="7" dur="500"/>
                                        <p:tgtEl>
                                          <p:spTgt spid="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C96AB-21C3-AD29-63D4-2373CACC506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0" name="文本框 149">
                <a:extLst>
                  <a:ext uri="{FF2B5EF4-FFF2-40B4-BE49-F238E27FC236}">
                    <a16:creationId xmlns:a16="http://schemas.microsoft.com/office/drawing/2014/main" id="{2E5DCBA8-E47A-C1EA-3288-5F4DB7DA9664}"/>
                  </a:ext>
                </a:extLst>
              </p:cNvPr>
              <p:cNvSpPr txBox="1"/>
              <p:nvPr/>
            </p:nvSpPr>
            <p:spPr>
              <a:xfrm>
                <a:off x="1835999" y="3348000"/>
                <a:ext cx="1800000" cy="646331"/>
              </a:xfrm>
              <a:prstGeom prst="rect">
                <a:avLst/>
              </a:prstGeom>
              <a:noFill/>
            </p:spPr>
            <p:txBody>
              <a:bodyPr wrap="square">
                <a:spAutoFit/>
              </a:bodyPr>
              <a:lstStyle/>
              <a:p>
                <a:pPr algn="ctr"/>
                <a:r>
                  <a:rPr kumimoji="1" lang="zh-CN" altLang="en-US" dirty="0">
                    <a:solidFill>
                      <a:schemeClr val="accent5">
                        <a:lumMod val="75000"/>
                      </a:schemeClr>
                    </a:solidFill>
                    <a:latin typeface="微软雅黑" panose="020B0503020204020204" pitchFamily="34" charset="-122"/>
                    <a:ea typeface="微软雅黑" panose="020B0503020204020204" pitchFamily="34" charset="-122"/>
                  </a:rPr>
                  <a:t>电压波动 </a:t>
                </a:r>
                <a14:m>
                  <m:oMath xmlns:m="http://schemas.openxmlformats.org/officeDocument/2006/math">
                    <m:r>
                      <a:rPr kumimoji="1" lang="en-US" altLang="zh-CN" b="0" i="1" smtClean="0">
                        <a:solidFill>
                          <a:schemeClr val="accent5">
                            <a:lumMod val="75000"/>
                          </a:schemeClr>
                        </a:solidFill>
                        <a:latin typeface="Cambria Math" panose="02040503050406030204" pitchFamily="18" charset="0"/>
                        <a:ea typeface="微软雅黑" panose="020B0503020204020204" pitchFamily="34" charset="-122"/>
                      </a:rPr>
                      <m:t>±1</m:t>
                    </m:r>
                    <m:r>
                      <a:rPr kumimoji="1" lang="en-US" altLang="zh-CN" i="1">
                        <a:solidFill>
                          <a:schemeClr val="accent5">
                            <a:lumMod val="75000"/>
                          </a:schemeClr>
                        </a:solidFill>
                        <a:latin typeface="Cambria Math" panose="02040503050406030204" pitchFamily="18" charset="0"/>
                        <a:ea typeface="微软雅黑" panose="020B0503020204020204" pitchFamily="34" charset="-122"/>
                      </a:rPr>
                      <m:t> </m:t>
                    </m:r>
                    <m:r>
                      <m:rPr>
                        <m:sty m:val="p"/>
                      </m:rPr>
                      <a:rPr kumimoji="1" lang="en-US" altLang="zh-CN">
                        <a:solidFill>
                          <a:schemeClr val="accent5">
                            <a:lumMod val="75000"/>
                          </a:schemeClr>
                        </a:solidFill>
                        <a:latin typeface="Cambria Math" panose="02040503050406030204" pitchFamily="18" charset="0"/>
                        <a:ea typeface="微软雅黑" panose="020B0503020204020204" pitchFamily="34" charset="-122"/>
                      </a:rPr>
                      <m:t>V</m:t>
                    </m:r>
                  </m:oMath>
                </a14:m>
                <a:r>
                  <a:rPr kumimoji="1" lang="zh-CN" altLang="en-US" dirty="0">
                    <a:solidFill>
                      <a:schemeClr val="accent5">
                        <a:lumMod val="75000"/>
                      </a:schemeClr>
                    </a:solidFill>
                    <a:latin typeface="微软雅黑" panose="020B0503020204020204" pitchFamily="34" charset="-122"/>
                    <a:ea typeface="微软雅黑" panose="020B0503020204020204" pitchFamily="34" charset="-122"/>
                  </a:rPr>
                  <a:t> </a:t>
                </a:r>
                <a:endParaRPr kumimoji="1" lang="en-US" altLang="zh-CN" dirty="0">
                  <a:solidFill>
                    <a:schemeClr val="accent5">
                      <a:lumMod val="75000"/>
                    </a:schemeClr>
                  </a:solidFill>
                  <a:latin typeface="微软雅黑" panose="020B0503020204020204" pitchFamily="34" charset="-122"/>
                  <a:ea typeface="微软雅黑" panose="020B0503020204020204" pitchFamily="34" charset="-122"/>
                </a:endParaRPr>
              </a:p>
              <a:p>
                <a:pPr algn="ctr"/>
                <a14:m>
                  <m:oMathPara xmlns:m="http://schemas.openxmlformats.org/officeDocument/2006/math">
                    <m:oMathParaPr>
                      <m:jc m:val="centerGroup"/>
                    </m:oMathParaPr>
                    <m:oMath xmlns:m="http://schemas.openxmlformats.org/officeDocument/2006/math">
                      <m:r>
                        <m:rPr>
                          <m:sty m:val="p"/>
                        </m:rPr>
                        <a:rPr kumimoji="1" lang="el-GR" altLang="zh-CN" i="1">
                          <a:solidFill>
                            <a:schemeClr val="accent5">
                              <a:lumMod val="75000"/>
                            </a:schemeClr>
                          </a:solidFill>
                          <a:latin typeface="Cambria Math" panose="02040503050406030204" pitchFamily="18" charset="0"/>
                          <a:ea typeface="Cambria Math" panose="02040503050406030204" pitchFamily="18" charset="0"/>
                        </a:rPr>
                        <m:t>Δ</m:t>
                      </m:r>
                      <m:sSub>
                        <m:sSubPr>
                          <m:ctrlPr>
                            <a:rPr kumimoji="1" lang="en-US" altLang="zh-CN"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b="0" i="0" smtClean="0">
                              <a:solidFill>
                                <a:schemeClr val="accent5">
                                  <a:lumMod val="75000"/>
                                </a:schemeClr>
                              </a:solidFill>
                              <a:latin typeface="Cambria Math" panose="02040503050406030204" pitchFamily="18" charset="0"/>
                              <a:ea typeface="微软雅黑" panose="020B0503020204020204" pitchFamily="34" charset="-122"/>
                            </a:rPr>
                            <m:t>I</m:t>
                          </m:r>
                        </m:sub>
                      </m:sSub>
                      <m:r>
                        <a:rPr kumimoji="1" lang="en-US" altLang="zh-CN" i="1" smtClean="0">
                          <a:solidFill>
                            <a:schemeClr val="accent5">
                              <a:lumMod val="75000"/>
                            </a:schemeClr>
                          </a:solidFill>
                          <a:latin typeface="Cambria Math" panose="02040503050406030204" pitchFamily="18" charset="0"/>
                          <a:ea typeface="微软雅黑" panose="020B0503020204020204" pitchFamily="34" charset="-122"/>
                        </a:rPr>
                        <m:t>=</m:t>
                      </m:r>
                      <m:r>
                        <a:rPr kumimoji="1" lang="en-US" altLang="zh-CN" b="0" i="1" smtClean="0">
                          <a:solidFill>
                            <a:schemeClr val="accent5">
                              <a:lumMod val="75000"/>
                            </a:schemeClr>
                          </a:solidFill>
                          <a:latin typeface="Cambria Math" panose="02040503050406030204" pitchFamily="18" charset="0"/>
                          <a:ea typeface="微软雅黑" panose="020B0503020204020204" pitchFamily="34" charset="-122"/>
                        </a:rPr>
                        <m:t>2 </m:t>
                      </m:r>
                      <m:r>
                        <m:rPr>
                          <m:sty m:val="p"/>
                        </m:rPr>
                        <a:rPr kumimoji="1" lang="en-US" altLang="zh-CN" b="0" i="0" smtClean="0">
                          <a:solidFill>
                            <a:schemeClr val="accent5">
                              <a:lumMod val="75000"/>
                            </a:schemeClr>
                          </a:solidFill>
                          <a:latin typeface="Cambria Math" panose="02040503050406030204" pitchFamily="18" charset="0"/>
                          <a:ea typeface="微软雅黑" panose="020B0503020204020204" pitchFamily="34" charset="-122"/>
                        </a:rPr>
                        <m:t>V</m:t>
                      </m:r>
                    </m:oMath>
                  </m:oMathPara>
                </a14:m>
                <a:endParaRPr kumimoji="1" lang="zh-CN" altLang="en-US"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150" name="文本框 149">
                <a:extLst>
                  <a:ext uri="{FF2B5EF4-FFF2-40B4-BE49-F238E27FC236}">
                    <a16:creationId xmlns:a16="http://schemas.microsoft.com/office/drawing/2014/main" id="{2E5DCBA8-E47A-C1EA-3288-5F4DB7DA9664}"/>
                  </a:ext>
                </a:extLst>
              </p:cNvPr>
              <p:cNvSpPr txBox="1">
                <a:spLocks noRot="1" noChangeAspect="1" noMove="1" noResize="1" noEditPoints="1" noAdjustHandles="1" noChangeArrowheads="1" noChangeShapeType="1" noTextEdit="1"/>
              </p:cNvSpPr>
              <p:nvPr/>
            </p:nvSpPr>
            <p:spPr>
              <a:xfrm>
                <a:off x="1835999" y="3348000"/>
                <a:ext cx="1800000" cy="646331"/>
              </a:xfrm>
              <a:prstGeom prst="rect">
                <a:avLst/>
              </a:prstGeom>
              <a:blipFill>
                <a:blip r:embed="rId3"/>
                <a:stretch>
                  <a:fillRect t="-4717"/>
                </a:stretch>
              </a:blipFill>
            </p:spPr>
            <p:txBody>
              <a:bodyPr/>
              <a:lstStyle/>
              <a:p>
                <a:r>
                  <a:rPr lang="zh-CN" altLang="en-US">
                    <a:noFill/>
                  </a:rPr>
                  <a:t> </a:t>
                </a:r>
              </a:p>
            </p:txBody>
          </p:sp>
        </mc:Fallback>
      </mc:AlternateContent>
      <p:grpSp>
        <p:nvGrpSpPr>
          <p:cNvPr id="3" name="组合 2">
            <a:extLst>
              <a:ext uri="{FF2B5EF4-FFF2-40B4-BE49-F238E27FC236}">
                <a16:creationId xmlns:a16="http://schemas.microsoft.com/office/drawing/2014/main" id="{A92FA48B-743D-A202-46A3-E3359EDF59A6}"/>
              </a:ext>
            </a:extLst>
          </p:cNvPr>
          <p:cNvGrpSpPr/>
          <p:nvPr/>
        </p:nvGrpSpPr>
        <p:grpSpPr>
          <a:xfrm>
            <a:off x="11449269" y="6198682"/>
            <a:ext cx="786273" cy="548639"/>
            <a:chOff x="11454918" y="5839511"/>
            <a:chExt cx="786273" cy="548639"/>
          </a:xfrm>
        </p:grpSpPr>
        <p:grpSp>
          <p:nvGrpSpPr>
            <p:cNvPr id="4" name="组合 3">
              <a:extLst>
                <a:ext uri="{FF2B5EF4-FFF2-40B4-BE49-F238E27FC236}">
                  <a16:creationId xmlns:a16="http://schemas.microsoft.com/office/drawing/2014/main" id="{AE2A8AA0-606E-D394-B528-A65F92BD48AD}"/>
                </a:ext>
              </a:extLst>
            </p:cNvPr>
            <p:cNvGrpSpPr/>
            <p:nvPr/>
          </p:nvGrpSpPr>
          <p:grpSpPr>
            <a:xfrm>
              <a:off x="11454918" y="5867450"/>
              <a:ext cx="737081" cy="520700"/>
              <a:chOff x="11454918" y="5867450"/>
              <a:chExt cx="737081" cy="520700"/>
            </a:xfrm>
          </p:grpSpPr>
          <p:sp>
            <p:nvSpPr>
              <p:cNvPr id="6" name="箭头: 五边形 5">
                <a:extLst>
                  <a:ext uri="{FF2B5EF4-FFF2-40B4-BE49-F238E27FC236}">
                    <a16:creationId xmlns:a16="http://schemas.microsoft.com/office/drawing/2014/main" id="{5798E045-FDA3-1409-C04A-47848B44E894}"/>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箭头: V 形 6">
                <a:extLst>
                  <a:ext uri="{FF2B5EF4-FFF2-40B4-BE49-F238E27FC236}">
                    <a16:creationId xmlns:a16="http://schemas.microsoft.com/office/drawing/2014/main" id="{00C14F6A-FF27-DB8B-5D62-56194F2F0052}"/>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5" name="灯片编号占位符 3">
              <a:extLst>
                <a:ext uri="{FF2B5EF4-FFF2-40B4-BE49-F238E27FC236}">
                  <a16:creationId xmlns:a16="http://schemas.microsoft.com/office/drawing/2014/main" id="{58F3F24C-33CC-6247-33CF-0DCF5B5FBF7F}"/>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28</a:t>
              </a:fld>
              <a:endParaRPr lang="zh-CN" altLang="en-US" sz="3200" dirty="0">
                <a:solidFill>
                  <a:schemeClr val="bg1"/>
                </a:solidFill>
                <a:latin typeface="Candara"/>
                <a:ea typeface="微软雅黑"/>
              </a:endParaRPr>
            </a:p>
          </p:txBody>
        </p:sp>
      </p:grpSp>
      <p:sp>
        <p:nvSpPr>
          <p:cNvPr id="8" name="文本框 7">
            <a:extLst>
              <a:ext uri="{FF2B5EF4-FFF2-40B4-BE49-F238E27FC236}">
                <a16:creationId xmlns:a16="http://schemas.microsoft.com/office/drawing/2014/main" id="{A6B66CCB-165C-45C8-EED0-D327B1200931}"/>
              </a:ext>
            </a:extLst>
          </p:cNvPr>
          <p:cNvSpPr txBox="1"/>
          <p:nvPr/>
        </p:nvSpPr>
        <p:spPr>
          <a:xfrm>
            <a:off x="360000" y="828000"/>
            <a:ext cx="7792958" cy="1159613"/>
          </a:xfrm>
          <a:prstGeom prst="rect">
            <a:avLst/>
          </a:prstGeom>
          <a:noFill/>
        </p:spPr>
        <p:txBody>
          <a:bodyPr wrap="square">
            <a:spAutoFit/>
          </a:bodyPr>
          <a:lstStyle/>
          <a:p>
            <a:pPr>
              <a:lnSpc>
                <a:spcPct val="120000"/>
              </a:lnSpc>
              <a:spcAft>
                <a:spcPts val="600"/>
              </a:spcAft>
            </a:pPr>
            <a:r>
              <a:rPr kumimoji="1" lang="zh-CN" altLang="en-US" sz="2800" dirty="0">
                <a:solidFill>
                  <a:srgbClr val="002060"/>
                </a:solidFill>
                <a:latin typeface="微软雅黑" panose="020B0503020204020204" pitchFamily="34" charset="-122"/>
                <a:ea typeface="微软雅黑" panose="020B0503020204020204" pitchFamily="34" charset="-122"/>
              </a:rPr>
              <a:t>二极管的主要应用</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稳压电路：提供电子电路所需的稳定电压</a:t>
            </a:r>
            <a:endParaRPr kumimoji="1" lang="en-US" altLang="zh-CN" sz="2800" dirty="0">
              <a:solidFill>
                <a:srgbClr val="00206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46" name="文本框 145">
                <a:extLst>
                  <a:ext uri="{FF2B5EF4-FFF2-40B4-BE49-F238E27FC236}">
                    <a16:creationId xmlns:a16="http://schemas.microsoft.com/office/drawing/2014/main" id="{08DAC890-0295-D3F2-B49E-BF911083FC76}"/>
                  </a:ext>
                </a:extLst>
              </p:cNvPr>
              <p:cNvSpPr txBox="1"/>
              <p:nvPr/>
            </p:nvSpPr>
            <p:spPr>
              <a:xfrm>
                <a:off x="360000" y="1980000"/>
                <a:ext cx="11518393" cy="1018099"/>
              </a:xfrm>
              <a:prstGeom prst="rect">
                <a:avLst/>
              </a:prstGeom>
              <a:noFill/>
            </p:spPr>
            <p:txBody>
              <a:bodyPr wrap="square">
                <a:spAutoFit/>
              </a:bodyPr>
              <a:lstStyle/>
              <a:p>
                <a:pPr>
                  <a:lnSpc>
                    <a:spcPct val="120000"/>
                  </a:lnSpc>
                  <a:spcAft>
                    <a:spcPts val="600"/>
                  </a:spcAft>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示例：下图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𝐷</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1</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𝐷</m:t>
                        </m:r>
                      </m:e>
                      <m:sub>
                        <m: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t>2</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均为硅管，正向导通压降约为 </a:t>
                </a:r>
                <a14:m>
                  <m:oMath xmlns:m="http://schemas.openxmlformats.org/officeDocument/2006/math">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0</m:t>
                    </m:r>
                    <m: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.7 </m:t>
                    </m:r>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V</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I</m:t>
                        </m:r>
                      </m:sub>
                    </m:s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=10 </m:t>
                    </m:r>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V</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14:m>
                  <m:oMath xmlns:m="http://schemas.openxmlformats.org/officeDocument/2006/math">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𝑅</m:t>
                    </m:r>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𝑅</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L</m:t>
                        </m:r>
                      </m:sub>
                    </m:sSub>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m:t>
                    </m:r>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1 </m:t>
                    </m:r>
                    <m:r>
                      <m:rPr>
                        <m:sty m:val="p"/>
                      </m:r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kΩ</m:t>
                    </m:r>
                  </m:oMath>
                </a14:m>
                <a:endParaRPr kumimoji="1" lang="el-GR" altLang="zh-CN" sz="2400" dirty="0">
                  <a:solidFill>
                    <a:schemeClr val="accent5">
                      <a:lumMod val="75000"/>
                    </a:schemeClr>
                  </a:solidFill>
                  <a:latin typeface="微软雅黑" panose="020B0503020204020204" pitchFamily="34" charset="-122"/>
                  <a:ea typeface="Cambria Math" panose="02040503050406030204" pitchFamily="18" charset="0"/>
                </a:endParaRPr>
              </a:p>
              <a:p>
                <a:pPr>
                  <a:lnSpc>
                    <a:spcPct val="120000"/>
                  </a:lnSpc>
                  <a:spcAft>
                    <a:spcPts val="600"/>
                  </a:spcAft>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1</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）分析在负载开路时，输入电压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I</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的波动对输出电压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O</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的影响</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146" name="文本框 145">
                <a:extLst>
                  <a:ext uri="{FF2B5EF4-FFF2-40B4-BE49-F238E27FC236}">
                    <a16:creationId xmlns:a16="http://schemas.microsoft.com/office/drawing/2014/main" id="{08DAC890-0295-D3F2-B49E-BF911083FC76}"/>
                  </a:ext>
                </a:extLst>
              </p:cNvPr>
              <p:cNvSpPr txBox="1">
                <a:spLocks noRot="1" noChangeAspect="1" noMove="1" noResize="1" noEditPoints="1" noAdjustHandles="1" noChangeArrowheads="1" noChangeShapeType="1" noTextEdit="1"/>
              </p:cNvSpPr>
              <p:nvPr/>
            </p:nvSpPr>
            <p:spPr>
              <a:xfrm>
                <a:off x="360000" y="1980000"/>
                <a:ext cx="11518393" cy="1018099"/>
              </a:xfrm>
              <a:prstGeom prst="rect">
                <a:avLst/>
              </a:prstGeom>
              <a:blipFill>
                <a:blip r:embed="rId11"/>
                <a:stretch>
                  <a:fillRect l="-794" t="-1198" b="-13174"/>
                </a:stretch>
              </a:blipFill>
            </p:spPr>
            <p:txBody>
              <a:bodyPr/>
              <a:lstStyle/>
              <a:p>
                <a:r>
                  <a:rPr lang="zh-CN" altLang="en-US">
                    <a:noFill/>
                  </a:rPr>
                  <a:t> </a:t>
                </a:r>
              </a:p>
            </p:txBody>
          </p:sp>
        </mc:Fallback>
      </mc:AlternateContent>
      <p:cxnSp>
        <p:nvCxnSpPr>
          <p:cNvPr id="148" name="直接箭头连接符 147">
            <a:extLst>
              <a:ext uri="{FF2B5EF4-FFF2-40B4-BE49-F238E27FC236}">
                <a16:creationId xmlns:a16="http://schemas.microsoft.com/office/drawing/2014/main" id="{E03E1247-D12F-4865-4071-82C3B682EB66}"/>
              </a:ext>
            </a:extLst>
          </p:cNvPr>
          <p:cNvCxnSpPr/>
          <p:nvPr/>
        </p:nvCxnSpPr>
        <p:spPr>
          <a:xfrm>
            <a:off x="1800000" y="4032000"/>
            <a:ext cx="1980000" cy="0"/>
          </a:xfrm>
          <a:prstGeom prst="straightConnector1">
            <a:avLst/>
          </a:prstGeom>
          <a:ln w="19050">
            <a:solidFill>
              <a:schemeClr val="accent5">
                <a:lumMod val="75000"/>
              </a:schemeClr>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2" name="文本框 151">
                <a:extLst>
                  <a:ext uri="{FF2B5EF4-FFF2-40B4-BE49-F238E27FC236}">
                    <a16:creationId xmlns:a16="http://schemas.microsoft.com/office/drawing/2014/main" id="{F1A322BF-AB70-C068-FD21-748EB47C7BB8}"/>
                  </a:ext>
                </a:extLst>
              </p:cNvPr>
              <p:cNvSpPr txBox="1"/>
              <p:nvPr/>
            </p:nvSpPr>
            <p:spPr>
              <a:xfrm>
                <a:off x="5760000" y="3168000"/>
                <a:ext cx="6353855" cy="1800493"/>
              </a:xfrm>
              <a:prstGeom prst="rect">
                <a:avLst/>
              </a:prstGeom>
              <a:noFill/>
            </p:spPr>
            <p:txBody>
              <a:bodyPr wrap="square">
                <a:spAutoFit/>
              </a:bodyPr>
              <a:lstStyle/>
              <a:p>
                <a:pPr>
                  <a:spcAft>
                    <a:spcPts val="600"/>
                  </a:spcAft>
                </a:pPr>
                <a14:m>
                  <m:oMath xmlns:m="http://schemas.openxmlformats.org/officeDocument/2006/math">
                    <m:sSub>
                      <m:sSubPr>
                        <m:ctrlP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ctrlPr>
                      </m:sSubPr>
                      <m:e>
                        <m:r>
                          <m:rPr>
                            <m:sty m:val="p"/>
                          </m:rPr>
                          <a:rPr kumimoji="1" lang="en-US" altLang="zh-CN" sz="2400" i="0">
                            <a:solidFill>
                              <a:schemeClr val="accent5">
                                <a:lumMod val="75000"/>
                              </a:schemeClr>
                            </a:solidFill>
                            <a:latin typeface="Cambria Math" panose="02040503050406030204" pitchFamily="18" charset="0"/>
                            <a:ea typeface="微软雅黑" panose="020B0503020204020204" pitchFamily="34" charset="-122"/>
                          </a:rPr>
                          <m:t>V</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O</m:t>
                        </m:r>
                      </m:sub>
                    </m:sSub>
                    <m: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m:t>
                    </m:r>
                    <m:r>
                      <a:rPr kumimoji="1" lang="en-US" altLang="zh-CN" sz="2400" i="0">
                        <a:solidFill>
                          <a:schemeClr val="accent5">
                            <a:lumMod val="75000"/>
                          </a:schemeClr>
                        </a:solidFill>
                        <a:latin typeface="Cambria Math" panose="02040503050406030204" pitchFamily="18" charset="0"/>
                        <a:ea typeface="微软雅黑" panose="020B0503020204020204" pitchFamily="34" charset="-122"/>
                      </a:rPr>
                      <m:t>2</m:t>
                    </m:r>
                    <m:r>
                      <a:rPr kumimoji="1" lang="en-US" altLang="zh-CN" sz="2400" i="0">
                        <a:solidFill>
                          <a:schemeClr val="accent5">
                            <a:lumMod val="75000"/>
                          </a:schemeClr>
                        </a:solidFill>
                        <a:latin typeface="Cambria Math" panose="02040503050406030204" pitchFamily="18" charset="0"/>
                        <a:ea typeface="Cambria Math" panose="02040503050406030204" pitchFamily="18" charset="0"/>
                      </a:rPr>
                      <m:t>×0.7</m:t>
                    </m:r>
                    <m:r>
                      <a:rPr kumimoji="1" lang="en-US" altLang="zh-CN" sz="2400" b="0" i="0" smtClean="0">
                        <a:solidFill>
                          <a:schemeClr val="accent5">
                            <a:lumMod val="75000"/>
                          </a:schemeClr>
                        </a:solidFill>
                        <a:latin typeface="Cambria Math" panose="02040503050406030204" pitchFamily="18" charset="0"/>
                        <a:ea typeface="Cambria Math" panose="02040503050406030204" pitchFamily="18" charset="0"/>
                      </a:rPr>
                      <m:t> </m:t>
                    </m:r>
                    <m:r>
                      <m:rPr>
                        <m:sty m:val="p"/>
                      </m:rPr>
                      <a:rPr kumimoji="1" lang="en-US" altLang="zh-CN" sz="2400" b="0" i="0" smtClean="0">
                        <a:solidFill>
                          <a:schemeClr val="accent5">
                            <a:lumMod val="75000"/>
                          </a:schemeClr>
                        </a:solidFill>
                        <a:latin typeface="Cambria Math" panose="02040503050406030204" pitchFamily="18" charset="0"/>
                        <a:ea typeface="Cambria Math" panose="02040503050406030204" pitchFamily="18" charset="0"/>
                      </a:rPr>
                      <m:t>V</m:t>
                    </m:r>
                    <m:r>
                      <a:rPr kumimoji="1" lang="en-US" altLang="zh-CN" sz="2400" b="0" i="0" smtClean="0">
                        <a:solidFill>
                          <a:schemeClr val="accent5">
                            <a:lumMod val="75000"/>
                          </a:schemeClr>
                        </a:solidFill>
                        <a:latin typeface="Cambria Math" panose="02040503050406030204" pitchFamily="18" charset="0"/>
                        <a:ea typeface="Cambria Math" panose="02040503050406030204" pitchFamily="18" charset="0"/>
                      </a:rPr>
                      <m:t>=1.4 </m:t>
                    </m:r>
                    <m:r>
                      <m:rPr>
                        <m:sty m:val="p"/>
                      </m:rPr>
                      <a:rPr kumimoji="1" lang="en-US" altLang="zh-CN" sz="2400" b="0" i="0" smtClean="0">
                        <a:solidFill>
                          <a:schemeClr val="accent5">
                            <a:lumMod val="75000"/>
                          </a:schemeClr>
                        </a:solidFill>
                        <a:latin typeface="Cambria Math" panose="02040503050406030204" pitchFamily="18" charset="0"/>
                        <a:ea typeface="Cambria Math" panose="02040503050406030204" pitchFamily="18" charset="0"/>
                      </a:rPr>
                      <m:t>V</m:t>
                    </m:r>
                  </m:oMath>
                </a14:m>
                <a:r>
                  <a:rPr kumimoji="1" lang="en-US" altLang="zh-CN" sz="2400" dirty="0">
                    <a:solidFill>
                      <a:schemeClr val="accent5">
                        <a:lumMod val="75000"/>
                      </a:schemeClr>
                    </a:solidFill>
                    <a:latin typeface="Cambria Math" panose="02040503050406030204" pitchFamily="18" charset="0"/>
                    <a:ea typeface="微软雅黑" panose="020B0503020204020204" pitchFamily="34" charset="-122"/>
                  </a:rPr>
                  <a:t>  </a:t>
                </a:r>
              </a:p>
              <a:p>
                <a:pPr>
                  <a:spcAft>
                    <a:spcPts val="600"/>
                  </a:spcAft>
                </a:pPr>
                <a14:m>
                  <m:oMath xmlns:m="http://schemas.openxmlformats.org/officeDocument/2006/math">
                    <m:sSub>
                      <m:sSubPr>
                        <m:ctrlP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𝐼</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sz="2400" i="0">
                        <a:solidFill>
                          <a:schemeClr val="accent5">
                            <a:lumMod val="75000"/>
                          </a:schemeClr>
                        </a:solidFill>
                        <a:latin typeface="Cambria Math" panose="02040503050406030204" pitchFamily="18" charset="0"/>
                        <a:ea typeface="微软雅黑" panose="020B0503020204020204" pitchFamily="34" charset="-122"/>
                      </a:rPr>
                      <m:t>=</m:t>
                    </m:r>
                    <m:f>
                      <m:fPr>
                        <m:type m:val="lin"/>
                        <m:ctrlP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ctrlPr>
                      </m:fPr>
                      <m:num>
                        <m: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i="0">
                                <a:solidFill>
                                  <a:schemeClr val="accent5">
                                    <a:lumMod val="75000"/>
                                  </a:schemeClr>
                                </a:solidFill>
                                <a:latin typeface="Cambria Math" panose="02040503050406030204" pitchFamily="18" charset="0"/>
                                <a:ea typeface="微软雅黑" panose="020B0503020204020204" pitchFamily="34" charset="-122"/>
                              </a:rPr>
                              <m:t>I</m:t>
                            </m:r>
                          </m:sub>
                        </m:sSub>
                        <m:r>
                          <a:rPr kumimoji="1" lang="en-US" altLang="zh-CN" sz="2400" i="0">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i="0">
                                <a:solidFill>
                                  <a:schemeClr val="accent5">
                                    <a:lumMod val="75000"/>
                                  </a:schemeClr>
                                </a:solidFill>
                                <a:latin typeface="Cambria Math" panose="02040503050406030204" pitchFamily="18" charset="0"/>
                                <a:ea typeface="微软雅黑" panose="020B0503020204020204" pitchFamily="34" charset="-122"/>
                              </a:rPr>
                              <m:t>O</m:t>
                            </m:r>
                          </m:sub>
                        </m:sSub>
                        <m:r>
                          <a:rPr kumimoji="1" lang="en-US" altLang="zh-CN" sz="2400" b="0" i="0" smtClean="0">
                            <a:solidFill>
                              <a:schemeClr val="accent5">
                                <a:lumMod val="75000"/>
                              </a:schemeClr>
                            </a:solidFill>
                            <a:latin typeface="Cambria Math" panose="02040503050406030204" pitchFamily="18" charset="0"/>
                            <a:ea typeface="Cambria Math" panose="02040503050406030204" pitchFamily="18" charset="0"/>
                          </a:rPr>
                          <m:t>)</m:t>
                        </m:r>
                      </m:num>
                      <m:den>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𝑅</m:t>
                        </m:r>
                      </m:den>
                    </m:f>
                    <m: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=8.6 </m:t>
                    </m:r>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mA</m:t>
                    </m:r>
                  </m:oMath>
                </a14:m>
                <a:r>
                  <a:rPr lang="en-US" altLang="zh-CN" sz="2400" dirty="0">
                    <a:solidFill>
                      <a:schemeClr val="accent5">
                        <a:lumMod val="75000"/>
                      </a:schemeClr>
                    </a:solidFill>
                  </a:rPr>
                  <a:t> </a:t>
                </a:r>
              </a:p>
              <a:p>
                <a:pPr>
                  <a:spcAft>
                    <a:spcPts val="600"/>
                  </a:spcAft>
                </a:pP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𝑟</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d</m:t>
                        </m:r>
                        <m: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1</m:t>
                        </m:r>
                      </m:sub>
                    </m:sSub>
                    <m: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𝑟</m:t>
                        </m:r>
                      </m:e>
                      <m:sub>
                        <m:r>
                          <m:rPr>
                            <m:sty m:val="p"/>
                          </m:rPr>
                          <a:rPr kumimoji="1" lang="en-US" altLang="zh-CN" sz="2400" i="0">
                            <a:solidFill>
                              <a:schemeClr val="accent5">
                                <a:lumMod val="75000"/>
                              </a:schemeClr>
                            </a:solidFill>
                            <a:latin typeface="Cambria Math" panose="02040503050406030204" pitchFamily="18" charset="0"/>
                            <a:ea typeface="微软雅黑" panose="020B0503020204020204" pitchFamily="34" charset="-122"/>
                          </a:rPr>
                          <m:t>d</m:t>
                        </m:r>
                        <m: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2</m:t>
                        </m:r>
                      </m:sub>
                    </m:sSub>
                    <m: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𝑟</m:t>
                        </m:r>
                      </m:e>
                      <m:sub>
                        <m:r>
                          <m:rPr>
                            <m:sty m:val="p"/>
                          </m:rPr>
                          <a:rPr kumimoji="1" lang="en-US" altLang="zh-CN" sz="2400" i="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m:t>
                    </m:r>
                    <m:f>
                      <m:fPr>
                        <m:type m:val="lin"/>
                        <m:ctrlP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ctrlPr>
                      </m:fPr>
                      <m:num>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T</m:t>
                            </m:r>
                          </m:sub>
                        </m:sSub>
                      </m:num>
                      <m:den>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𝐼</m:t>
                            </m:r>
                          </m:e>
                          <m:sub>
                            <m:r>
                              <m:rPr>
                                <m:sty m:val="p"/>
                              </m:rPr>
                              <a:rPr kumimoji="1" lang="en-US" altLang="zh-CN" sz="2400" i="0">
                                <a:solidFill>
                                  <a:schemeClr val="accent5">
                                    <a:lumMod val="75000"/>
                                  </a:schemeClr>
                                </a:solidFill>
                                <a:latin typeface="Cambria Math" panose="02040503050406030204" pitchFamily="18" charset="0"/>
                                <a:ea typeface="微软雅黑" panose="020B0503020204020204" pitchFamily="34" charset="-122"/>
                              </a:rPr>
                              <m:t>D</m:t>
                            </m:r>
                          </m:sub>
                        </m:sSub>
                      </m:den>
                    </m:f>
                    <m: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m:t>
                    </m:r>
                    <m:f>
                      <m:fPr>
                        <m:type m:val="lin"/>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fPr>
                      <m:num>
                        <m: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26 </m:t>
                        </m:r>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mV</m:t>
                        </m:r>
                      </m:num>
                      <m:den>
                        <m:r>
                          <a:rPr kumimoji="1" lang="en-US" altLang="zh-CN" sz="2400" i="0">
                            <a:solidFill>
                              <a:schemeClr val="accent5">
                                <a:lumMod val="75000"/>
                              </a:schemeClr>
                            </a:solidFill>
                            <a:latin typeface="Cambria Math" panose="02040503050406030204" pitchFamily="18" charset="0"/>
                            <a:ea typeface="微软雅黑" panose="020B0503020204020204" pitchFamily="34" charset="-122"/>
                          </a:rPr>
                          <m:t>8.6 </m:t>
                        </m:r>
                        <m:r>
                          <m:rPr>
                            <m:sty m:val="p"/>
                          </m:rPr>
                          <a:rPr kumimoji="1" lang="en-US" altLang="zh-CN" sz="2400" i="0">
                            <a:solidFill>
                              <a:schemeClr val="accent5">
                                <a:lumMod val="75000"/>
                              </a:schemeClr>
                            </a:solidFill>
                            <a:latin typeface="Cambria Math" panose="02040503050406030204" pitchFamily="18" charset="0"/>
                            <a:ea typeface="微软雅黑" panose="020B0503020204020204" pitchFamily="34" charset="-122"/>
                          </a:rPr>
                          <m:t>mA</m:t>
                        </m:r>
                      </m:den>
                    </m:f>
                    <m:r>
                      <a:rPr kumimoji="1" lang="en-US" altLang="zh-CN" sz="2400" b="0" i="0" smtClean="0">
                        <a:solidFill>
                          <a:schemeClr val="accent5">
                            <a:lumMod val="75000"/>
                          </a:schemeClr>
                        </a:solidFill>
                        <a:latin typeface="Cambria Math" panose="02040503050406030204" pitchFamily="18" charset="0"/>
                        <a:ea typeface="Cambria Math" panose="02040503050406030204" pitchFamily="18" charset="0"/>
                      </a:rPr>
                      <m:t>≈3 </m:t>
                    </m:r>
                    <m:r>
                      <m:rPr>
                        <m:sty m:val="p"/>
                      </m:rPr>
                      <a:rPr kumimoji="1" lang="el-GR" altLang="zh-CN" sz="2400" b="0" i="0" smtClean="0">
                        <a:solidFill>
                          <a:schemeClr val="accent5">
                            <a:lumMod val="75000"/>
                          </a:schemeClr>
                        </a:solidFill>
                        <a:latin typeface="Cambria Math" panose="02040503050406030204" pitchFamily="18" charset="0"/>
                        <a:ea typeface="Cambria Math" panose="02040503050406030204" pitchFamily="18" charset="0"/>
                      </a:rPr>
                      <m:t>Ω</m:t>
                    </m:r>
                  </m:oMath>
                </a14:m>
                <a:r>
                  <a:rPr lang="en-US" altLang="zh-CN" sz="2400" dirty="0">
                    <a:solidFill>
                      <a:schemeClr val="accent5">
                        <a:lumMod val="75000"/>
                      </a:schemeClr>
                    </a:solidFill>
                  </a:rPr>
                  <a:t> </a:t>
                </a:r>
              </a:p>
              <a:p>
                <a:pPr>
                  <a:spcAft>
                    <a:spcPts val="600"/>
                  </a:spcAft>
                </a:pPr>
                <a14:m>
                  <m:oMath xmlns:m="http://schemas.openxmlformats.org/officeDocument/2006/math">
                    <m:r>
                      <m:rPr>
                        <m:sty m:val="p"/>
                      </m:rPr>
                      <a:rPr kumimoji="1" lang="el-GR" altLang="zh-CN" sz="2400" i="0">
                        <a:solidFill>
                          <a:schemeClr val="accent5">
                            <a:lumMod val="75000"/>
                          </a:schemeClr>
                        </a:solidFill>
                        <a:latin typeface="Cambria Math" panose="02040503050406030204" pitchFamily="18" charset="0"/>
                        <a:ea typeface="Cambria Math" panose="02040503050406030204" pitchFamily="18" charset="0"/>
                      </a:rPr>
                      <m:t>Δ</m:t>
                    </m:r>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i="0">
                            <a:solidFill>
                              <a:schemeClr val="accent5">
                                <a:lumMod val="75000"/>
                              </a:schemeClr>
                            </a:solidFill>
                            <a:latin typeface="Cambria Math" panose="02040503050406030204" pitchFamily="18" charset="0"/>
                            <a:ea typeface="微软雅黑" panose="020B0503020204020204" pitchFamily="34" charset="-122"/>
                          </a:rPr>
                          <m:t>O</m:t>
                        </m:r>
                      </m:sub>
                    </m:sSub>
                    <m: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m:t>
                    </m:r>
                    <m:r>
                      <m:rPr>
                        <m:sty m:val="p"/>
                      </m:rPr>
                      <a:rPr kumimoji="1" lang="el-GR" altLang="zh-CN" sz="2400" i="0">
                        <a:solidFill>
                          <a:schemeClr val="accent5">
                            <a:lumMod val="75000"/>
                          </a:schemeClr>
                        </a:solidFill>
                        <a:latin typeface="Cambria Math" panose="02040503050406030204" pitchFamily="18" charset="0"/>
                        <a:ea typeface="Cambria Math" panose="02040503050406030204" pitchFamily="18" charset="0"/>
                      </a:rPr>
                      <m:t>Δ</m:t>
                    </m:r>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I</m:t>
                        </m:r>
                      </m:sub>
                    </m:sSub>
                    <m:r>
                      <a:rPr kumimoji="1" lang="zh-CN" altLang="en-US" sz="2400" i="0" smtClean="0">
                        <a:solidFill>
                          <a:schemeClr val="accent5">
                            <a:lumMod val="75000"/>
                          </a:schemeClr>
                        </a:solidFill>
                        <a:latin typeface="Cambria Math" panose="02040503050406030204" pitchFamily="18" charset="0"/>
                        <a:ea typeface="微软雅黑" panose="020B0503020204020204" pitchFamily="34" charset="-122"/>
                      </a:rPr>
                      <m:t>∙</m:t>
                    </m:r>
                    <m:f>
                      <m:fPr>
                        <m:type m:val="lin"/>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fPr>
                      <m:num>
                        <m: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2</m:t>
                        </m:r>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𝑟</m:t>
                            </m:r>
                          </m:e>
                          <m:sub>
                            <m:r>
                              <m:rPr>
                                <m:sty m:val="p"/>
                              </m:rPr>
                              <a:rPr kumimoji="1" lang="en-US" altLang="zh-CN" sz="2400" i="0">
                                <a:solidFill>
                                  <a:schemeClr val="accent5">
                                    <a:lumMod val="75000"/>
                                  </a:schemeClr>
                                </a:solidFill>
                                <a:latin typeface="Cambria Math" panose="02040503050406030204" pitchFamily="18" charset="0"/>
                                <a:ea typeface="微软雅黑" panose="020B0503020204020204" pitchFamily="34" charset="-122"/>
                              </a:rPr>
                              <m:t>d</m:t>
                            </m:r>
                          </m:sub>
                        </m:sSub>
                      </m:num>
                      <m:den>
                        <m:d>
                          <m:dPr>
                            <m:ctrlP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ctrlPr>
                          </m:dPr>
                          <m:e>
                            <m:r>
                              <a:rPr kumimoji="1" lang="en-US" altLang="zh-CN" sz="2400" i="0">
                                <a:solidFill>
                                  <a:schemeClr val="accent5">
                                    <a:lumMod val="75000"/>
                                  </a:schemeClr>
                                </a:solidFill>
                                <a:latin typeface="Cambria Math" panose="02040503050406030204" pitchFamily="18" charset="0"/>
                                <a:ea typeface="微软雅黑" panose="020B0503020204020204" pitchFamily="34" charset="-122"/>
                              </a:rPr>
                              <m:t>2</m:t>
                            </m:r>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𝑟</m:t>
                                </m:r>
                              </m:e>
                              <m:sub>
                                <m:r>
                                  <m:rPr>
                                    <m:sty m:val="p"/>
                                  </m:rPr>
                                  <a:rPr kumimoji="1" lang="en-US" altLang="zh-CN" sz="2400" i="0">
                                    <a:solidFill>
                                      <a:schemeClr val="accent5">
                                        <a:lumMod val="75000"/>
                                      </a:schemeClr>
                                    </a:solidFill>
                                    <a:latin typeface="Cambria Math" panose="02040503050406030204" pitchFamily="18" charset="0"/>
                                    <a:ea typeface="微软雅黑" panose="020B0503020204020204" pitchFamily="34" charset="-122"/>
                                  </a:rPr>
                                  <m:t>d</m:t>
                                </m:r>
                              </m:sub>
                            </m:sSub>
                            <m: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m:t>
                            </m:r>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𝑅</m:t>
                            </m:r>
                          </m:e>
                        </m:d>
                      </m:den>
                    </m:f>
                    <m:r>
                      <a:rPr kumimoji="1" lang="en-US" altLang="zh-CN" sz="2400" i="0">
                        <a:solidFill>
                          <a:schemeClr val="accent5">
                            <a:lumMod val="75000"/>
                          </a:schemeClr>
                        </a:solidFill>
                        <a:latin typeface="Cambria Math" panose="02040503050406030204" pitchFamily="18" charset="0"/>
                        <a:ea typeface="Cambria Math" panose="02040503050406030204" pitchFamily="18" charset="0"/>
                      </a:rPr>
                      <m:t>≈</m:t>
                    </m:r>
                    <m:r>
                      <a:rPr kumimoji="1" lang="en-US" altLang="zh-CN" sz="2400" b="0" i="0" smtClean="0">
                        <a:solidFill>
                          <a:schemeClr val="accent5">
                            <a:lumMod val="75000"/>
                          </a:schemeClr>
                        </a:solidFill>
                        <a:latin typeface="Cambria Math" panose="02040503050406030204" pitchFamily="18" charset="0"/>
                        <a:ea typeface="Cambria Math" panose="02040503050406030204" pitchFamily="18" charset="0"/>
                      </a:rPr>
                      <m:t>11.9 </m:t>
                    </m:r>
                    <m:r>
                      <m:rPr>
                        <m:sty m:val="p"/>
                      </m:rPr>
                      <a:rPr kumimoji="1" lang="en-US" altLang="zh-CN" sz="2400" i="0">
                        <a:solidFill>
                          <a:schemeClr val="accent5">
                            <a:lumMod val="75000"/>
                          </a:schemeClr>
                        </a:solidFill>
                        <a:latin typeface="Cambria Math" panose="02040503050406030204" pitchFamily="18" charset="0"/>
                        <a:ea typeface="微软雅黑" panose="020B0503020204020204" pitchFamily="34" charset="-122"/>
                      </a:rPr>
                      <m:t>mV</m:t>
                    </m:r>
                  </m:oMath>
                </a14:m>
                <a:r>
                  <a:rPr lang="zh-CN" altLang="en-US" sz="2400" dirty="0">
                    <a:solidFill>
                      <a:schemeClr val="accent5">
                        <a:lumMod val="75000"/>
                      </a:schemeClr>
                    </a:solidFill>
                  </a:rPr>
                  <a:t> </a:t>
                </a:r>
              </a:p>
            </p:txBody>
          </p:sp>
        </mc:Choice>
        <mc:Fallback xmlns="">
          <p:sp>
            <p:nvSpPr>
              <p:cNvPr id="152" name="文本框 151">
                <a:extLst>
                  <a:ext uri="{FF2B5EF4-FFF2-40B4-BE49-F238E27FC236}">
                    <a16:creationId xmlns:a16="http://schemas.microsoft.com/office/drawing/2014/main" id="{F1A322BF-AB70-C068-FD21-748EB47C7BB8}"/>
                  </a:ext>
                </a:extLst>
              </p:cNvPr>
              <p:cNvSpPr txBox="1">
                <a:spLocks noRot="1" noChangeAspect="1" noMove="1" noResize="1" noEditPoints="1" noAdjustHandles="1" noChangeArrowheads="1" noChangeShapeType="1" noTextEdit="1"/>
              </p:cNvSpPr>
              <p:nvPr/>
            </p:nvSpPr>
            <p:spPr>
              <a:xfrm>
                <a:off x="5760000" y="3168000"/>
                <a:ext cx="6353855" cy="1800493"/>
              </a:xfrm>
              <a:prstGeom prst="rect">
                <a:avLst/>
              </a:prstGeom>
              <a:blipFill>
                <a:blip r:embed="rId12"/>
                <a:stretch>
                  <a:fillRect l="-288" t="-7797" b="-48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4" name="文本框 153">
                <a:extLst>
                  <a:ext uri="{FF2B5EF4-FFF2-40B4-BE49-F238E27FC236}">
                    <a16:creationId xmlns:a16="http://schemas.microsoft.com/office/drawing/2014/main" id="{78094819-8D02-1467-26F2-923AB0CA4012}"/>
                  </a:ext>
                </a:extLst>
              </p:cNvPr>
              <p:cNvSpPr txBox="1"/>
              <p:nvPr/>
            </p:nvSpPr>
            <p:spPr>
              <a:xfrm>
                <a:off x="5760000" y="5292000"/>
                <a:ext cx="5711006" cy="1200329"/>
              </a:xfrm>
              <a:prstGeom prst="rect">
                <a:avLst/>
              </a:prstGeom>
              <a:noFill/>
            </p:spPr>
            <p:txBody>
              <a:bodyPr wrap="square">
                <a:spAutoFit/>
              </a:bodyPr>
              <a:lstStyle/>
              <a:p>
                <a14:m>
                  <m:oMath xmlns:m="http://schemas.openxmlformats.org/officeDocument/2006/math">
                    <m:sSub>
                      <m:sSubPr>
                        <m:ctrlPr>
                          <a:rPr kumimoji="1" lang="en-US" altLang="zh-CN" sz="2400" i="1" smtClean="0">
                            <a:solidFill>
                              <a:srgbClr val="0000FF"/>
                            </a:solidFill>
                            <a:latin typeface="Cambria Math" panose="02040503050406030204" pitchFamily="18" charset="0"/>
                            <a:ea typeface="微软雅黑" panose="020B0503020204020204" pitchFamily="34" charset="-122"/>
                          </a:rPr>
                        </m:ctrlPr>
                      </m:sSubPr>
                      <m:e>
                        <m:r>
                          <a:rPr kumimoji="1" lang="en-US" altLang="zh-CN" sz="2400" i="1">
                            <a:solidFill>
                              <a:srgbClr val="0000FF"/>
                            </a:solidFill>
                            <a:latin typeface="Cambria Math" panose="02040503050406030204" pitchFamily="18" charset="0"/>
                            <a:ea typeface="微软雅黑" panose="020B0503020204020204" pitchFamily="34" charset="-122"/>
                          </a:rPr>
                          <m:t>𝑉</m:t>
                        </m:r>
                      </m:e>
                      <m:sub>
                        <m:r>
                          <m:rPr>
                            <m:sty m:val="p"/>
                          </m:rPr>
                          <a:rPr kumimoji="1" lang="en-US" altLang="zh-CN" sz="2400" i="0">
                            <a:solidFill>
                              <a:srgbClr val="0000FF"/>
                            </a:solidFill>
                            <a:latin typeface="Cambria Math" panose="02040503050406030204" pitchFamily="18" charset="0"/>
                            <a:ea typeface="微软雅黑" panose="020B0503020204020204" pitchFamily="34" charset="-122"/>
                          </a:rPr>
                          <m:t>I</m:t>
                        </m:r>
                      </m:sub>
                    </m:sSub>
                  </m:oMath>
                </a14:m>
                <a:r>
                  <a:rPr kumimoji="1" lang="zh-CN" altLang="en-US" sz="2400" dirty="0">
                    <a:solidFill>
                      <a:srgbClr val="0000FF"/>
                    </a:solidFill>
                    <a:latin typeface="Cambria Math" panose="02040503050406030204" pitchFamily="18" charset="0"/>
                    <a:ea typeface="微软雅黑" panose="020B0503020204020204" pitchFamily="34" charset="-122"/>
                  </a:rPr>
                  <a:t>  的变化量为：</a:t>
                </a:r>
                <a14:m>
                  <m:oMath xmlns:m="http://schemas.openxmlformats.org/officeDocument/2006/math">
                    <m:f>
                      <m:fPr>
                        <m:type m:val="lin"/>
                        <m:ctrlPr>
                          <a:rPr kumimoji="1" lang="en-US" altLang="zh-CN" sz="2400" i="1" smtClean="0">
                            <a:solidFill>
                              <a:srgbClr val="0000FF"/>
                            </a:solidFill>
                            <a:latin typeface="Cambria Math" panose="02040503050406030204" pitchFamily="18" charset="0"/>
                            <a:ea typeface="微软雅黑" panose="020B0503020204020204" pitchFamily="34" charset="-122"/>
                          </a:rPr>
                        </m:ctrlPr>
                      </m:fPr>
                      <m:num>
                        <m:r>
                          <a:rPr kumimoji="1" lang="en-US" altLang="zh-CN" sz="2400" i="0">
                            <a:solidFill>
                              <a:srgbClr val="0000FF"/>
                            </a:solidFill>
                            <a:latin typeface="Cambria Math" panose="02040503050406030204" pitchFamily="18" charset="0"/>
                            <a:ea typeface="微软雅黑" panose="020B0503020204020204" pitchFamily="34" charset="-122"/>
                          </a:rPr>
                          <m:t>±1</m:t>
                        </m:r>
                        <m:r>
                          <a:rPr kumimoji="1" lang="en-US" altLang="zh-CN" sz="2400" b="0" i="0" smtClean="0">
                            <a:solidFill>
                              <a:srgbClr val="0000FF"/>
                            </a:solidFill>
                            <a:latin typeface="Cambria Math" panose="02040503050406030204" pitchFamily="18" charset="0"/>
                            <a:ea typeface="微软雅黑" panose="020B0503020204020204" pitchFamily="34" charset="-122"/>
                          </a:rPr>
                          <m:t> </m:t>
                        </m:r>
                        <m:r>
                          <m:rPr>
                            <m:sty m:val="p"/>
                          </m:rPr>
                          <a:rPr kumimoji="1" lang="en-US" altLang="zh-CN" sz="2400" i="0">
                            <a:solidFill>
                              <a:srgbClr val="0000FF"/>
                            </a:solidFill>
                            <a:latin typeface="Cambria Math" panose="02040503050406030204" pitchFamily="18" charset="0"/>
                            <a:ea typeface="微软雅黑" panose="020B0503020204020204" pitchFamily="34" charset="-122"/>
                          </a:rPr>
                          <m:t>V</m:t>
                        </m:r>
                      </m:num>
                      <m:den>
                        <m:r>
                          <a:rPr kumimoji="1" lang="en-US" altLang="zh-CN" sz="2400" i="0">
                            <a:solidFill>
                              <a:srgbClr val="0000FF"/>
                            </a:solidFill>
                            <a:latin typeface="Cambria Math" panose="02040503050406030204" pitchFamily="18" charset="0"/>
                            <a:ea typeface="微软雅黑" panose="020B0503020204020204" pitchFamily="34" charset="-122"/>
                          </a:rPr>
                          <m:t>1</m:t>
                        </m:r>
                        <m:r>
                          <a:rPr kumimoji="1" lang="en-US" altLang="zh-CN" sz="2400" i="0" smtClean="0">
                            <a:solidFill>
                              <a:srgbClr val="0000FF"/>
                            </a:solidFill>
                            <a:latin typeface="Cambria Math" panose="02040503050406030204" pitchFamily="18" charset="0"/>
                            <a:ea typeface="微软雅黑" panose="020B0503020204020204" pitchFamily="34" charset="-122"/>
                          </a:rPr>
                          <m:t>0</m:t>
                        </m:r>
                        <m:r>
                          <a:rPr kumimoji="1" lang="en-US" altLang="zh-CN" sz="2400" b="0" i="0" smtClean="0">
                            <a:solidFill>
                              <a:srgbClr val="0000FF"/>
                            </a:solidFill>
                            <a:latin typeface="Cambria Math" panose="02040503050406030204" pitchFamily="18" charset="0"/>
                            <a:ea typeface="微软雅黑" panose="020B0503020204020204" pitchFamily="34" charset="-122"/>
                          </a:rPr>
                          <m:t> </m:t>
                        </m:r>
                        <m:r>
                          <m:rPr>
                            <m:sty m:val="p"/>
                          </m:rPr>
                          <a:rPr kumimoji="1" lang="en-US" altLang="zh-CN" sz="2400" b="0" i="0" smtClean="0">
                            <a:solidFill>
                              <a:srgbClr val="0000FF"/>
                            </a:solidFill>
                            <a:latin typeface="Cambria Math" panose="02040503050406030204" pitchFamily="18" charset="0"/>
                            <a:ea typeface="微软雅黑" panose="020B0503020204020204" pitchFamily="34" charset="-122"/>
                          </a:rPr>
                          <m:t>V</m:t>
                        </m:r>
                        <m:r>
                          <a:rPr kumimoji="1" lang="en-US" altLang="zh-CN" sz="2400" i="0">
                            <a:solidFill>
                              <a:srgbClr val="0000FF"/>
                            </a:solidFill>
                            <a:latin typeface="Cambria Math" panose="02040503050406030204" pitchFamily="18" charset="0"/>
                            <a:ea typeface="微软雅黑" panose="020B0503020204020204" pitchFamily="34" charset="-122"/>
                          </a:rPr>
                          <m:t>=±1</m:t>
                        </m:r>
                        <m:r>
                          <a:rPr kumimoji="1" lang="en-US" altLang="zh-CN" sz="2400" i="0" smtClean="0">
                            <a:solidFill>
                              <a:srgbClr val="0000FF"/>
                            </a:solidFill>
                            <a:latin typeface="Cambria Math" panose="02040503050406030204" pitchFamily="18" charset="0"/>
                            <a:ea typeface="微软雅黑" panose="020B0503020204020204" pitchFamily="34" charset="-122"/>
                          </a:rPr>
                          <m:t>0</m:t>
                        </m:r>
                        <m:r>
                          <a:rPr kumimoji="1" lang="en-US" altLang="zh-CN" sz="2400" i="0">
                            <a:solidFill>
                              <a:srgbClr val="0000FF"/>
                            </a:solidFill>
                            <a:latin typeface="Cambria Math" panose="02040503050406030204" pitchFamily="18" charset="0"/>
                            <a:ea typeface="微软雅黑" panose="020B0503020204020204" pitchFamily="34" charset="-122"/>
                          </a:rPr>
                          <m:t>%</m:t>
                        </m:r>
                      </m:den>
                    </m:f>
                  </m:oMath>
                </a14:m>
                <a:r>
                  <a:rPr lang="zh-CN" altLang="en-US" sz="2400" dirty="0">
                    <a:solidFill>
                      <a:srgbClr val="0000FF"/>
                    </a:solidFill>
                  </a:rPr>
                  <a:t> </a:t>
                </a:r>
                <a:endParaRPr lang="en-US" altLang="zh-CN" sz="2400" dirty="0">
                  <a:solidFill>
                    <a:srgbClr val="0000FF"/>
                  </a:solidFill>
                </a:endParaRPr>
              </a:p>
              <a:p>
                <a14:m>
                  <m:oMath xmlns:m="http://schemas.openxmlformats.org/officeDocument/2006/math">
                    <m:sSub>
                      <m:sSubPr>
                        <m:ctrlPr>
                          <a:rPr kumimoji="1" lang="en-US" altLang="zh-CN" sz="2400" i="1">
                            <a:solidFill>
                              <a:srgbClr val="0000FF"/>
                            </a:solidFill>
                            <a:latin typeface="Cambria Math" panose="02040503050406030204" pitchFamily="18" charset="0"/>
                            <a:ea typeface="微软雅黑" panose="020B0503020204020204" pitchFamily="34" charset="-122"/>
                          </a:rPr>
                        </m:ctrlPr>
                      </m:sSubPr>
                      <m:e>
                        <m:r>
                          <a:rPr kumimoji="1" lang="en-US" altLang="zh-CN" sz="2400" i="1">
                            <a:solidFill>
                              <a:srgbClr val="0000FF"/>
                            </a:solidFill>
                            <a:latin typeface="Cambria Math" panose="02040503050406030204" pitchFamily="18" charset="0"/>
                            <a:ea typeface="微软雅黑" panose="020B0503020204020204" pitchFamily="34" charset="-122"/>
                          </a:rPr>
                          <m:t>𝑉</m:t>
                        </m:r>
                      </m:e>
                      <m:sub>
                        <m:r>
                          <m:rPr>
                            <m:sty m:val="p"/>
                          </m:rPr>
                          <a:rPr kumimoji="1" lang="en-US" altLang="zh-CN" sz="2400" b="0" i="0" smtClean="0">
                            <a:solidFill>
                              <a:srgbClr val="0000FF"/>
                            </a:solidFill>
                            <a:latin typeface="Cambria Math" panose="02040503050406030204" pitchFamily="18" charset="0"/>
                            <a:ea typeface="微软雅黑" panose="020B0503020204020204" pitchFamily="34" charset="-122"/>
                          </a:rPr>
                          <m:t>O</m:t>
                        </m:r>
                      </m:sub>
                    </m:sSub>
                  </m:oMath>
                </a14:m>
                <a:r>
                  <a:rPr kumimoji="1" lang="zh-CN" altLang="en-US" sz="2400" dirty="0">
                    <a:solidFill>
                      <a:srgbClr val="0000FF"/>
                    </a:solidFill>
                    <a:latin typeface="Cambria Math" panose="02040503050406030204" pitchFamily="18" charset="0"/>
                    <a:ea typeface="微软雅黑" panose="020B0503020204020204" pitchFamily="34" charset="-122"/>
                  </a:rPr>
                  <a:t> 的变化量为：</a:t>
                </a:r>
                <a:endParaRPr kumimoji="1" lang="en-US" altLang="zh-CN" sz="2400" dirty="0">
                  <a:solidFill>
                    <a:srgbClr val="0000FF"/>
                  </a:solidFill>
                  <a:latin typeface="Cambria Math" panose="02040503050406030204" pitchFamily="18" charset="0"/>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f>
                        <m:fPr>
                          <m:type m:val="lin"/>
                          <m:ctrlPr>
                            <a:rPr kumimoji="1" lang="en-US" altLang="zh-CN" sz="2400" i="1" smtClean="0">
                              <a:solidFill>
                                <a:srgbClr val="0000FF"/>
                              </a:solidFill>
                              <a:latin typeface="Cambria Math" panose="02040503050406030204" pitchFamily="18" charset="0"/>
                              <a:ea typeface="微软雅黑" panose="020B0503020204020204" pitchFamily="34" charset="-122"/>
                            </a:rPr>
                          </m:ctrlPr>
                        </m:fPr>
                        <m:num>
                          <m:r>
                            <a:rPr kumimoji="1" lang="en-US" altLang="zh-CN" sz="2400" i="0">
                              <a:solidFill>
                                <a:srgbClr val="0000FF"/>
                              </a:solidFill>
                              <a:latin typeface="Cambria Math" panose="02040503050406030204" pitchFamily="18" charset="0"/>
                              <a:ea typeface="微软雅黑" panose="020B0503020204020204" pitchFamily="34" charset="-122"/>
                            </a:rPr>
                            <m:t>±0.5</m:t>
                          </m:r>
                          <m:r>
                            <a:rPr kumimoji="1" lang="en-US" altLang="zh-CN" sz="2400" i="0">
                              <a:solidFill>
                                <a:srgbClr val="0000FF"/>
                              </a:solidFill>
                              <a:latin typeface="Cambria Math" panose="02040503050406030204" pitchFamily="18" charset="0"/>
                              <a:ea typeface="Cambria Math" panose="02040503050406030204" pitchFamily="18" charset="0"/>
                            </a:rPr>
                            <m:t>∙</m:t>
                          </m:r>
                          <m:r>
                            <a:rPr kumimoji="1" lang="en-US" altLang="zh-CN" sz="2400" i="0">
                              <a:solidFill>
                                <a:srgbClr val="0000FF"/>
                              </a:solidFill>
                              <a:latin typeface="Cambria Math" panose="02040503050406030204" pitchFamily="18" charset="0"/>
                              <a:ea typeface="微软雅黑" panose="020B0503020204020204" pitchFamily="34" charset="-122"/>
                            </a:rPr>
                            <m:t>11</m:t>
                          </m:r>
                          <m:r>
                            <a:rPr kumimoji="1" lang="en-US" altLang="zh-CN" sz="2400" i="0">
                              <a:solidFill>
                                <a:srgbClr val="0000FF"/>
                              </a:solidFill>
                              <a:latin typeface="Cambria Math" panose="02040503050406030204" pitchFamily="18" charset="0"/>
                              <a:ea typeface="Cambria Math" panose="02040503050406030204" pitchFamily="18" charset="0"/>
                            </a:rPr>
                            <m:t>.9 </m:t>
                          </m:r>
                          <m:r>
                            <m:rPr>
                              <m:sty m:val="p"/>
                            </m:rPr>
                            <a:rPr kumimoji="1" lang="en-US" altLang="zh-CN" sz="2400" i="0">
                              <a:solidFill>
                                <a:srgbClr val="0000FF"/>
                              </a:solidFill>
                              <a:latin typeface="Cambria Math" panose="02040503050406030204" pitchFamily="18" charset="0"/>
                              <a:ea typeface="微软雅黑" panose="020B0503020204020204" pitchFamily="34" charset="-122"/>
                            </a:rPr>
                            <m:t>mV</m:t>
                          </m:r>
                        </m:num>
                        <m:den>
                          <m:r>
                            <a:rPr kumimoji="1" lang="en-US" altLang="zh-CN" sz="2400" i="0">
                              <a:solidFill>
                                <a:srgbClr val="0000FF"/>
                              </a:solidFill>
                              <a:latin typeface="Cambria Math" panose="02040503050406030204" pitchFamily="18" charset="0"/>
                              <a:ea typeface="微软雅黑" panose="020B0503020204020204" pitchFamily="34" charset="-122"/>
                            </a:rPr>
                            <m:t>1</m:t>
                          </m:r>
                          <m:r>
                            <a:rPr kumimoji="1" lang="en-US" altLang="zh-CN" sz="2400" i="0" smtClean="0">
                              <a:solidFill>
                                <a:srgbClr val="0000FF"/>
                              </a:solidFill>
                              <a:latin typeface="Cambria Math" panose="02040503050406030204" pitchFamily="18" charset="0"/>
                              <a:ea typeface="微软雅黑" panose="020B0503020204020204" pitchFamily="34" charset="-122"/>
                            </a:rPr>
                            <m:t>.</m:t>
                          </m:r>
                          <m:r>
                            <a:rPr kumimoji="1" lang="en-US" altLang="zh-CN" sz="2400" i="0">
                              <a:solidFill>
                                <a:srgbClr val="0000FF"/>
                              </a:solidFill>
                              <a:latin typeface="Cambria Math" panose="02040503050406030204" pitchFamily="18" charset="0"/>
                              <a:ea typeface="微软雅黑" panose="020B0503020204020204" pitchFamily="34" charset="-122"/>
                            </a:rPr>
                            <m:t>4</m:t>
                          </m:r>
                          <m:r>
                            <a:rPr kumimoji="1" lang="en-US" altLang="zh-CN" sz="2400" b="0" i="0" smtClean="0">
                              <a:solidFill>
                                <a:srgbClr val="0000FF"/>
                              </a:solidFill>
                              <a:latin typeface="Cambria Math" panose="02040503050406030204" pitchFamily="18" charset="0"/>
                              <a:ea typeface="微软雅黑" panose="020B0503020204020204" pitchFamily="34" charset="-122"/>
                            </a:rPr>
                            <m:t> </m:t>
                          </m:r>
                          <m:r>
                            <m:rPr>
                              <m:sty m:val="p"/>
                            </m:rPr>
                            <a:rPr kumimoji="1" lang="en-US" altLang="zh-CN" sz="2400" b="0" i="0" smtClean="0">
                              <a:solidFill>
                                <a:srgbClr val="0000FF"/>
                              </a:solidFill>
                              <a:latin typeface="Cambria Math" panose="02040503050406030204" pitchFamily="18" charset="0"/>
                              <a:ea typeface="微软雅黑" panose="020B0503020204020204" pitchFamily="34" charset="-122"/>
                            </a:rPr>
                            <m:t>V</m:t>
                          </m:r>
                        </m:den>
                      </m:f>
                      <m:r>
                        <a:rPr kumimoji="1" lang="en-US" altLang="zh-CN" sz="2400" b="0" i="0" smtClean="0">
                          <a:solidFill>
                            <a:srgbClr val="0000FF"/>
                          </a:solidFill>
                          <a:latin typeface="Cambria Math" panose="02040503050406030204" pitchFamily="18" charset="0"/>
                          <a:ea typeface="Cambria Math" panose="02040503050406030204" pitchFamily="18" charset="0"/>
                        </a:rPr>
                        <m:t>≈</m:t>
                      </m:r>
                      <m:r>
                        <a:rPr kumimoji="1" lang="en-US" altLang="zh-CN" sz="2400" i="0">
                          <a:solidFill>
                            <a:srgbClr val="0000FF"/>
                          </a:solidFill>
                          <a:latin typeface="Cambria Math" panose="02040503050406030204" pitchFamily="18" charset="0"/>
                          <a:ea typeface="微软雅黑" panose="020B0503020204020204" pitchFamily="34" charset="-122"/>
                        </a:rPr>
                        <m:t>±</m:t>
                      </m:r>
                      <m:r>
                        <a:rPr kumimoji="1" lang="en-US" altLang="zh-CN" sz="2400" b="0" i="0" smtClean="0">
                          <a:solidFill>
                            <a:srgbClr val="0000FF"/>
                          </a:solidFill>
                          <a:latin typeface="Cambria Math" panose="02040503050406030204" pitchFamily="18" charset="0"/>
                          <a:ea typeface="微软雅黑" panose="020B0503020204020204" pitchFamily="34" charset="-122"/>
                        </a:rPr>
                        <m:t>0.43%</m:t>
                      </m:r>
                    </m:oMath>
                  </m:oMathPara>
                </a14:m>
                <a:endParaRPr lang="zh-CN" altLang="en-US" sz="2400" dirty="0">
                  <a:solidFill>
                    <a:srgbClr val="0000FF"/>
                  </a:solidFill>
                </a:endParaRPr>
              </a:p>
            </p:txBody>
          </p:sp>
        </mc:Choice>
        <mc:Fallback xmlns="">
          <p:sp>
            <p:nvSpPr>
              <p:cNvPr id="154" name="文本框 153">
                <a:extLst>
                  <a:ext uri="{FF2B5EF4-FFF2-40B4-BE49-F238E27FC236}">
                    <a16:creationId xmlns:a16="http://schemas.microsoft.com/office/drawing/2014/main" id="{78094819-8D02-1467-26F2-923AB0CA4012}"/>
                  </a:ext>
                </a:extLst>
              </p:cNvPr>
              <p:cNvSpPr txBox="1">
                <a:spLocks noRot="1" noChangeAspect="1" noMove="1" noResize="1" noEditPoints="1" noAdjustHandles="1" noChangeArrowheads="1" noChangeShapeType="1" noTextEdit="1"/>
              </p:cNvSpPr>
              <p:nvPr/>
            </p:nvSpPr>
            <p:spPr>
              <a:xfrm>
                <a:off x="5760000" y="5292000"/>
                <a:ext cx="5711006" cy="1200329"/>
              </a:xfrm>
              <a:prstGeom prst="rect">
                <a:avLst/>
              </a:prstGeom>
              <a:blipFill>
                <a:blip r:embed="rId13"/>
                <a:stretch>
                  <a:fillRect l="-320" t="-48223" b="-73096"/>
                </a:stretch>
              </a:blipFill>
            </p:spPr>
            <p:txBody>
              <a:bodyPr/>
              <a:lstStyle/>
              <a:p>
                <a:r>
                  <a:rPr lang="zh-CN" altLang="en-US">
                    <a:noFill/>
                  </a:rPr>
                  <a:t> </a:t>
                </a:r>
              </a:p>
            </p:txBody>
          </p:sp>
        </mc:Fallback>
      </mc:AlternateContent>
      <p:sp>
        <p:nvSpPr>
          <p:cNvPr id="9" name="标题 1">
            <a:extLst>
              <a:ext uri="{FF2B5EF4-FFF2-40B4-BE49-F238E27FC236}">
                <a16:creationId xmlns:a16="http://schemas.microsoft.com/office/drawing/2014/main" id="{C08AC94D-7F43-129F-6A30-1137BD02DE20}"/>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二极管及其应用</a:t>
            </a:r>
            <a:endParaRPr lang="en-US" altLang="zh-CN" sz="3000" dirty="0"/>
          </a:p>
        </p:txBody>
      </p:sp>
      <p:grpSp>
        <p:nvGrpSpPr>
          <p:cNvPr id="12" name="组合 11">
            <a:extLst>
              <a:ext uri="{FF2B5EF4-FFF2-40B4-BE49-F238E27FC236}">
                <a16:creationId xmlns:a16="http://schemas.microsoft.com/office/drawing/2014/main" id="{08025AA2-93A7-6EA7-2144-886D8D7F8CE2}"/>
              </a:ext>
            </a:extLst>
          </p:cNvPr>
          <p:cNvGrpSpPr/>
          <p:nvPr/>
        </p:nvGrpSpPr>
        <p:grpSpPr>
          <a:xfrm>
            <a:off x="396000" y="3132000"/>
            <a:ext cx="2772000" cy="3419936"/>
            <a:chOff x="396000" y="3132000"/>
            <a:chExt cx="2772000" cy="3419936"/>
          </a:xfrm>
        </p:grpSpPr>
        <mc:AlternateContent xmlns:mc="http://schemas.openxmlformats.org/markup-compatibility/2006" xmlns:a14="http://schemas.microsoft.com/office/drawing/2010/main">
          <mc:Choice Requires="a14">
            <p:sp>
              <p:nvSpPr>
                <p:cNvPr id="87" name="Rectangle 8">
                  <a:extLst>
                    <a:ext uri="{FF2B5EF4-FFF2-40B4-BE49-F238E27FC236}">
                      <a16:creationId xmlns:a16="http://schemas.microsoft.com/office/drawing/2014/main" id="{14A5CA2A-D9B2-FCED-BDBC-3A3A8147868A}"/>
                    </a:ext>
                  </a:extLst>
                </p:cNvPr>
                <p:cNvSpPr>
                  <a:spLocks noChangeArrowheads="1"/>
                </p:cNvSpPr>
                <p:nvPr/>
              </p:nvSpPr>
              <p:spPr bwMode="auto">
                <a:xfrm>
                  <a:off x="2736000" y="5292000"/>
                  <a:ext cx="432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𝑅</m:t>
                            </m:r>
                          </m:e>
                          <m:sub>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L</m:t>
                            </m:r>
                          </m:sub>
                        </m:sSub>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87" name="Rectangle 8">
                  <a:extLst>
                    <a:ext uri="{FF2B5EF4-FFF2-40B4-BE49-F238E27FC236}">
                      <a16:creationId xmlns:a16="http://schemas.microsoft.com/office/drawing/2014/main" id="{14A5CA2A-D9B2-FCED-BDBC-3A3A8147868A}"/>
                    </a:ext>
                  </a:extLst>
                </p:cNvPr>
                <p:cNvSpPr>
                  <a:spLocks noRot="1" noChangeAspect="1" noMove="1" noResize="1" noEditPoints="1" noAdjustHandles="1" noChangeArrowheads="1" noChangeShapeType="1" noTextEdit="1"/>
                </p:cNvSpPr>
                <p:nvPr/>
              </p:nvSpPr>
              <p:spPr bwMode="auto">
                <a:xfrm>
                  <a:off x="2736000" y="5292000"/>
                  <a:ext cx="432000" cy="396000"/>
                </a:xfrm>
                <a:prstGeom prst="rect">
                  <a:avLst/>
                </a:prstGeom>
                <a:blipFill>
                  <a:blip r:embed="rId14"/>
                  <a:stretch>
                    <a:fillRect l="-11268" b="-307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71" name="直接连接符 70">
              <a:extLst>
                <a:ext uri="{FF2B5EF4-FFF2-40B4-BE49-F238E27FC236}">
                  <a16:creationId xmlns:a16="http://schemas.microsoft.com/office/drawing/2014/main" id="{9D79EE68-1F02-9936-6787-A82032B31084}"/>
                </a:ext>
              </a:extLst>
            </p:cNvPr>
            <p:cNvCxnSpPr>
              <a:cxnSpLocks/>
            </p:cNvCxnSpPr>
            <p:nvPr/>
          </p:nvCxnSpPr>
          <p:spPr>
            <a:xfrm flipH="1">
              <a:off x="1404000" y="4554000"/>
              <a:ext cx="43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Rectangle 8">
                  <a:extLst>
                    <a:ext uri="{FF2B5EF4-FFF2-40B4-BE49-F238E27FC236}">
                      <a16:creationId xmlns:a16="http://schemas.microsoft.com/office/drawing/2014/main" id="{B576799A-7FA2-6F0F-61A5-098C1C1A6173}"/>
                    </a:ext>
                  </a:extLst>
                </p:cNvPr>
                <p:cNvSpPr>
                  <a:spLocks noChangeArrowheads="1"/>
                </p:cNvSpPr>
                <p:nvPr/>
              </p:nvSpPr>
              <p:spPr bwMode="auto">
                <a:xfrm>
                  <a:off x="1008000" y="3852000"/>
                  <a:ext cx="360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right"/>
                      </m:oMathParaPr>
                      <m:oMath xmlns:m="http://schemas.openxmlformats.org/officeDocument/2006/math">
                        <m:r>
                          <a:rPr kumimoji="1" lang="en-US" altLang="zh-CN" sz="2000" b="0" i="1" smtClean="0">
                            <a:solidFill>
                              <a:schemeClr val="tx1"/>
                            </a:solidFill>
                            <a:latin typeface="Cambria Math" panose="02040503050406030204" pitchFamily="18" charset="0"/>
                            <a:ea typeface="微软雅黑" panose="020B0503020204020204" pitchFamily="34" charset="-122"/>
                          </a:rPr>
                          <m:t>𝑅</m:t>
                        </m:r>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24" name="Rectangle 8">
                  <a:extLst>
                    <a:ext uri="{FF2B5EF4-FFF2-40B4-BE49-F238E27FC236}">
                      <a16:creationId xmlns:a16="http://schemas.microsoft.com/office/drawing/2014/main" id="{B576799A-7FA2-6F0F-61A5-098C1C1A6173}"/>
                    </a:ext>
                  </a:extLst>
                </p:cNvPr>
                <p:cNvSpPr>
                  <a:spLocks noRot="1" noChangeAspect="1" noMove="1" noResize="1" noEditPoints="1" noAdjustHandles="1" noChangeArrowheads="1" noChangeShapeType="1" noTextEdit="1"/>
                </p:cNvSpPr>
                <p:nvPr/>
              </p:nvSpPr>
              <p:spPr bwMode="auto">
                <a:xfrm>
                  <a:off x="1008000" y="3852000"/>
                  <a:ext cx="360000" cy="432000"/>
                </a:xfrm>
                <a:prstGeom prst="rect">
                  <a:avLst/>
                </a:prstGeom>
                <a:blipFill>
                  <a:blip r:embed="rId15"/>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Rectangle 8">
                  <a:extLst>
                    <a:ext uri="{FF2B5EF4-FFF2-40B4-BE49-F238E27FC236}">
                      <a16:creationId xmlns:a16="http://schemas.microsoft.com/office/drawing/2014/main" id="{EDCE7414-26F9-E571-4C5E-47AA15C499B4}"/>
                    </a:ext>
                  </a:extLst>
                </p:cNvPr>
                <p:cNvSpPr>
                  <a:spLocks noChangeArrowheads="1"/>
                </p:cNvSpPr>
                <p:nvPr/>
              </p:nvSpPr>
              <p:spPr bwMode="auto">
                <a:xfrm>
                  <a:off x="792000" y="4786390"/>
                  <a:ext cx="432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right"/>
                      </m:oMathParaPr>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𝐷</m:t>
                            </m:r>
                          </m:e>
                          <m:sub>
                            <m:r>
                              <a:rPr kumimoji="1" lang="en-US" altLang="zh-CN" sz="2000" b="0" i="1" smtClean="0">
                                <a:solidFill>
                                  <a:schemeClr val="tx1"/>
                                </a:solidFill>
                                <a:latin typeface="Cambria Math" panose="02040503050406030204" pitchFamily="18" charset="0"/>
                                <a:ea typeface="微软雅黑" panose="020B0503020204020204" pitchFamily="34" charset="-122"/>
                              </a:rPr>
                              <m:t>1</m:t>
                            </m:r>
                          </m:sub>
                        </m:sSub>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26" name="Rectangle 8">
                  <a:extLst>
                    <a:ext uri="{FF2B5EF4-FFF2-40B4-BE49-F238E27FC236}">
                      <a16:creationId xmlns:a16="http://schemas.microsoft.com/office/drawing/2014/main" id="{EDCE7414-26F9-E571-4C5E-47AA15C499B4}"/>
                    </a:ext>
                  </a:extLst>
                </p:cNvPr>
                <p:cNvSpPr>
                  <a:spLocks noRot="1" noChangeAspect="1" noMove="1" noResize="1" noEditPoints="1" noAdjustHandles="1" noChangeArrowheads="1" noChangeShapeType="1" noTextEdit="1"/>
                </p:cNvSpPr>
                <p:nvPr/>
              </p:nvSpPr>
              <p:spPr bwMode="auto">
                <a:xfrm>
                  <a:off x="792000" y="4786390"/>
                  <a:ext cx="432000" cy="396000"/>
                </a:xfrm>
                <a:prstGeom prst="rect">
                  <a:avLst/>
                </a:prstGeom>
                <a:blipFill>
                  <a:blip r:embed="rId16"/>
                  <a:stretch>
                    <a:fillRect b="-307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27" name="组合 26">
              <a:extLst>
                <a:ext uri="{FF2B5EF4-FFF2-40B4-BE49-F238E27FC236}">
                  <a16:creationId xmlns:a16="http://schemas.microsoft.com/office/drawing/2014/main" id="{DAAE97FD-3D62-014F-EBD4-A981B7B326A8}"/>
                </a:ext>
              </a:extLst>
            </p:cNvPr>
            <p:cNvGrpSpPr/>
            <p:nvPr/>
          </p:nvGrpSpPr>
          <p:grpSpPr>
            <a:xfrm rot="5400000">
              <a:off x="1260000" y="4770004"/>
              <a:ext cx="288000" cy="468000"/>
              <a:chOff x="2322512" y="2500513"/>
              <a:chExt cx="288000" cy="468000"/>
            </a:xfrm>
          </p:grpSpPr>
          <p:sp>
            <p:nvSpPr>
              <p:cNvPr id="49" name="等腰三角形 48">
                <a:extLst>
                  <a:ext uri="{FF2B5EF4-FFF2-40B4-BE49-F238E27FC236}">
                    <a16:creationId xmlns:a16="http://schemas.microsoft.com/office/drawing/2014/main" id="{1E5A9679-D213-EE77-56D5-A86EC35C7994}"/>
                  </a:ext>
                </a:extLst>
              </p:cNvPr>
              <p:cNvSpPr/>
              <p:nvPr/>
            </p:nvSpPr>
            <p:spPr>
              <a:xfrm rot="5400000">
                <a:off x="2250512" y="2590509"/>
                <a:ext cx="432000" cy="288000"/>
              </a:xfrm>
              <a:prstGeom prst="triangl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cxnSp>
            <p:nvCxnSpPr>
              <p:cNvPr id="50" name="直接连接符 49">
                <a:extLst>
                  <a:ext uri="{FF2B5EF4-FFF2-40B4-BE49-F238E27FC236}">
                    <a16:creationId xmlns:a16="http://schemas.microsoft.com/office/drawing/2014/main" id="{3B5DD0F9-5A7A-5E95-4E2C-C5E0C546BAC6}"/>
                  </a:ext>
                </a:extLst>
              </p:cNvPr>
              <p:cNvCxnSpPr>
                <a:cxnSpLocks/>
              </p:cNvCxnSpPr>
              <p:nvPr/>
            </p:nvCxnSpPr>
            <p:spPr>
              <a:xfrm rot="16200000">
                <a:off x="2376508" y="2734513"/>
                <a:ext cx="46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8" name="直接连接符 27">
              <a:extLst>
                <a:ext uri="{FF2B5EF4-FFF2-40B4-BE49-F238E27FC236}">
                  <a16:creationId xmlns:a16="http://schemas.microsoft.com/office/drawing/2014/main" id="{A11F5670-8854-4298-4341-A51EFDC064D5}"/>
                </a:ext>
              </a:extLst>
            </p:cNvPr>
            <p:cNvCxnSpPr>
              <a:cxnSpLocks/>
            </p:cNvCxnSpPr>
            <p:nvPr/>
          </p:nvCxnSpPr>
          <p:spPr>
            <a:xfrm>
              <a:off x="1404000" y="3600000"/>
              <a:ext cx="0" cy="2772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矩形 36">
              <a:extLst>
                <a:ext uri="{FF2B5EF4-FFF2-40B4-BE49-F238E27FC236}">
                  <a16:creationId xmlns:a16="http://schemas.microsoft.com/office/drawing/2014/main" id="{73227572-7676-8271-B326-875354A3C81F}"/>
                </a:ext>
              </a:extLst>
            </p:cNvPr>
            <p:cNvSpPr/>
            <p:nvPr/>
          </p:nvSpPr>
          <p:spPr>
            <a:xfrm>
              <a:off x="1332000" y="3816000"/>
              <a:ext cx="144000" cy="504000"/>
            </a:xfrm>
            <a:prstGeom prst="rect">
              <a:avLst/>
            </a:prstGeom>
            <a:solidFill>
              <a:schemeClr val="bg1">
                <a:alpha val="99000"/>
              </a:schemeClr>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0" name="Rectangle 8">
                  <a:extLst>
                    <a:ext uri="{FF2B5EF4-FFF2-40B4-BE49-F238E27FC236}">
                      <a16:creationId xmlns:a16="http://schemas.microsoft.com/office/drawing/2014/main" id="{7045C8DC-A6A6-58AA-AF6D-1D06C5F90F8A}"/>
                    </a:ext>
                  </a:extLst>
                </p:cNvPr>
                <p:cNvSpPr>
                  <a:spLocks noChangeArrowheads="1"/>
                </p:cNvSpPr>
                <p:nvPr/>
              </p:nvSpPr>
              <p:spPr bwMode="auto">
                <a:xfrm>
                  <a:off x="792000" y="5508000"/>
                  <a:ext cx="432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right"/>
                      </m:oMathParaPr>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𝐷</m:t>
                            </m:r>
                          </m:e>
                          <m:sub>
                            <m:r>
                              <a:rPr kumimoji="1" lang="en-US" altLang="zh-CN" sz="2000" b="0" i="1" smtClean="0">
                                <a:solidFill>
                                  <a:schemeClr val="tx1"/>
                                </a:solidFill>
                                <a:latin typeface="Cambria Math" panose="02040503050406030204" pitchFamily="18" charset="0"/>
                                <a:ea typeface="微软雅黑" panose="020B0503020204020204" pitchFamily="34" charset="-122"/>
                              </a:rPr>
                              <m:t>2</m:t>
                            </m:r>
                          </m:sub>
                        </m:sSub>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40" name="Rectangle 8">
                  <a:extLst>
                    <a:ext uri="{FF2B5EF4-FFF2-40B4-BE49-F238E27FC236}">
                      <a16:creationId xmlns:a16="http://schemas.microsoft.com/office/drawing/2014/main" id="{7045C8DC-A6A6-58AA-AF6D-1D06C5F90F8A}"/>
                    </a:ext>
                  </a:extLst>
                </p:cNvPr>
                <p:cNvSpPr>
                  <a:spLocks noRot="1" noChangeAspect="1" noMove="1" noResize="1" noEditPoints="1" noAdjustHandles="1" noChangeArrowheads="1" noChangeShapeType="1" noTextEdit="1"/>
                </p:cNvSpPr>
                <p:nvPr/>
              </p:nvSpPr>
              <p:spPr bwMode="auto">
                <a:xfrm>
                  <a:off x="792000" y="5508000"/>
                  <a:ext cx="432000" cy="396000"/>
                </a:xfrm>
                <a:prstGeom prst="rect">
                  <a:avLst/>
                </a:prstGeom>
                <a:blipFill>
                  <a:blip r:embed="rId17"/>
                  <a:stretch>
                    <a:fillRect b="-1538"/>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Rectangle 8">
                  <a:extLst>
                    <a:ext uri="{FF2B5EF4-FFF2-40B4-BE49-F238E27FC236}">
                      <a16:creationId xmlns:a16="http://schemas.microsoft.com/office/drawing/2014/main" id="{80BB315E-F5AA-3360-3782-91EF926865DE}"/>
                    </a:ext>
                  </a:extLst>
                </p:cNvPr>
                <p:cNvSpPr>
                  <a:spLocks noChangeArrowheads="1"/>
                </p:cNvSpPr>
                <p:nvPr/>
              </p:nvSpPr>
              <p:spPr bwMode="auto">
                <a:xfrm>
                  <a:off x="1224000" y="3132000"/>
                  <a:ext cx="468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𝑉</m:t>
                            </m:r>
                          </m:e>
                          <m:sub>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I</m:t>
                            </m:r>
                          </m:sub>
                        </m:sSub>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43" name="Rectangle 8">
                  <a:extLst>
                    <a:ext uri="{FF2B5EF4-FFF2-40B4-BE49-F238E27FC236}">
                      <a16:creationId xmlns:a16="http://schemas.microsoft.com/office/drawing/2014/main" id="{80BB315E-F5AA-3360-3782-91EF926865DE}"/>
                    </a:ext>
                  </a:extLst>
                </p:cNvPr>
                <p:cNvSpPr>
                  <a:spLocks noRot="1" noChangeAspect="1" noMove="1" noResize="1" noEditPoints="1" noAdjustHandles="1" noChangeArrowheads="1" noChangeShapeType="1" noTextEdit="1"/>
                </p:cNvSpPr>
                <p:nvPr/>
              </p:nvSpPr>
              <p:spPr bwMode="auto">
                <a:xfrm>
                  <a:off x="1224000" y="3132000"/>
                  <a:ext cx="468000" cy="396000"/>
                </a:xfrm>
                <a:prstGeom prst="rect">
                  <a:avLst/>
                </a:prstGeom>
                <a:blipFill>
                  <a:blip r:embed="rId18"/>
                  <a:stretch>
                    <a:fillRect b="-307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Rectangle 8">
                  <a:extLst>
                    <a:ext uri="{FF2B5EF4-FFF2-40B4-BE49-F238E27FC236}">
                      <a16:creationId xmlns:a16="http://schemas.microsoft.com/office/drawing/2014/main" id="{0CFBFB3E-6600-E9E5-A10A-EF50B38AFEB9}"/>
                    </a:ext>
                  </a:extLst>
                </p:cNvPr>
                <p:cNvSpPr>
                  <a:spLocks noChangeArrowheads="1"/>
                </p:cNvSpPr>
                <p:nvPr/>
              </p:nvSpPr>
              <p:spPr bwMode="auto">
                <a:xfrm>
                  <a:off x="396000" y="4500000"/>
                  <a:ext cx="432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𝐼</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m:oMathPara>
                  </a14:m>
                  <a:endParaRPr kumimoji="1" lang="en-US" altLang="zh-CN" sz="2000" b="0" dirty="0">
                    <a:latin typeface="微软雅黑" panose="020B0503020204020204" pitchFamily="34" charset="-122"/>
                    <a:ea typeface="微软雅黑" panose="020B0503020204020204" pitchFamily="34" charset="-122"/>
                  </a:endParaRPr>
                </a:p>
              </p:txBody>
            </p:sp>
          </mc:Choice>
          <mc:Fallback xmlns="">
            <p:sp>
              <p:nvSpPr>
                <p:cNvPr id="44" name="Rectangle 8">
                  <a:extLst>
                    <a:ext uri="{FF2B5EF4-FFF2-40B4-BE49-F238E27FC236}">
                      <a16:creationId xmlns:a16="http://schemas.microsoft.com/office/drawing/2014/main" id="{0CFBFB3E-6600-E9E5-A10A-EF50B38AFEB9}"/>
                    </a:ext>
                  </a:extLst>
                </p:cNvPr>
                <p:cNvSpPr>
                  <a:spLocks noRot="1" noChangeAspect="1" noMove="1" noResize="1" noEditPoints="1" noAdjustHandles="1" noChangeArrowheads="1" noChangeShapeType="1" noTextEdit="1"/>
                </p:cNvSpPr>
                <p:nvPr/>
              </p:nvSpPr>
              <p:spPr bwMode="auto">
                <a:xfrm>
                  <a:off x="396000" y="4500000"/>
                  <a:ext cx="432000" cy="396000"/>
                </a:xfrm>
                <a:prstGeom prst="rect">
                  <a:avLst/>
                </a:prstGeom>
                <a:blipFill>
                  <a:blip r:embed="rId19"/>
                  <a:stretch>
                    <a:fillRect l="-5634" b="-307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58" name="组合 57">
              <a:extLst>
                <a:ext uri="{FF2B5EF4-FFF2-40B4-BE49-F238E27FC236}">
                  <a16:creationId xmlns:a16="http://schemas.microsoft.com/office/drawing/2014/main" id="{FC908046-CBF1-2023-B505-F0113DB9C3BD}"/>
                </a:ext>
              </a:extLst>
            </p:cNvPr>
            <p:cNvGrpSpPr/>
            <p:nvPr/>
          </p:nvGrpSpPr>
          <p:grpSpPr>
            <a:xfrm rot="5400000">
              <a:off x="1260000" y="5490002"/>
              <a:ext cx="288000" cy="468000"/>
              <a:chOff x="2314722" y="2499220"/>
              <a:chExt cx="288000" cy="468000"/>
            </a:xfrm>
          </p:grpSpPr>
          <p:sp>
            <p:nvSpPr>
              <p:cNvPr id="59" name="等腰三角形 58">
                <a:extLst>
                  <a:ext uri="{FF2B5EF4-FFF2-40B4-BE49-F238E27FC236}">
                    <a16:creationId xmlns:a16="http://schemas.microsoft.com/office/drawing/2014/main" id="{6D3F1C94-B502-82CC-4714-C6B3EFF970DF}"/>
                  </a:ext>
                </a:extLst>
              </p:cNvPr>
              <p:cNvSpPr/>
              <p:nvPr/>
            </p:nvSpPr>
            <p:spPr>
              <a:xfrm rot="5400000">
                <a:off x="2242722" y="2589218"/>
                <a:ext cx="432000" cy="288000"/>
              </a:xfrm>
              <a:prstGeom prst="triangl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cxnSp>
            <p:nvCxnSpPr>
              <p:cNvPr id="66" name="直接连接符 65">
                <a:extLst>
                  <a:ext uri="{FF2B5EF4-FFF2-40B4-BE49-F238E27FC236}">
                    <a16:creationId xmlns:a16="http://schemas.microsoft.com/office/drawing/2014/main" id="{20350CF5-62ED-2A98-20F8-6C39655D53FD}"/>
                  </a:ext>
                </a:extLst>
              </p:cNvPr>
              <p:cNvCxnSpPr>
                <a:cxnSpLocks/>
              </p:cNvCxnSpPr>
              <p:nvPr/>
            </p:nvCxnSpPr>
            <p:spPr>
              <a:xfrm rot="16200000" flipH="1">
                <a:off x="2368720" y="2733220"/>
                <a:ext cx="46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67" name="直接连接符 66">
              <a:extLst>
                <a:ext uri="{FF2B5EF4-FFF2-40B4-BE49-F238E27FC236}">
                  <a16:creationId xmlns:a16="http://schemas.microsoft.com/office/drawing/2014/main" id="{5269B20A-39A2-7E87-F61C-831D0DC5AF83}"/>
                </a:ext>
              </a:extLst>
            </p:cNvPr>
            <p:cNvCxnSpPr>
              <a:cxnSpLocks/>
            </p:cNvCxnSpPr>
            <p:nvPr/>
          </p:nvCxnSpPr>
          <p:spPr>
            <a:xfrm flipH="1">
              <a:off x="1188000" y="6408000"/>
              <a:ext cx="4320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70" name="椭圆 69">
              <a:extLst>
                <a:ext uri="{FF2B5EF4-FFF2-40B4-BE49-F238E27FC236}">
                  <a16:creationId xmlns:a16="http://schemas.microsoft.com/office/drawing/2014/main" id="{E3E24D31-A749-6A8F-4A43-12D931EC27A2}"/>
                </a:ext>
              </a:extLst>
            </p:cNvPr>
            <p:cNvSpPr/>
            <p:nvPr/>
          </p:nvSpPr>
          <p:spPr>
            <a:xfrm>
              <a:off x="1350000" y="3528000"/>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74" name="椭圆 73">
              <a:extLst>
                <a:ext uri="{FF2B5EF4-FFF2-40B4-BE49-F238E27FC236}">
                  <a16:creationId xmlns:a16="http://schemas.microsoft.com/office/drawing/2014/main" id="{D3FEE9CB-C7FC-DA02-E77F-3EBB06A1FE29}"/>
                </a:ext>
              </a:extLst>
            </p:cNvPr>
            <p:cNvSpPr/>
            <p:nvPr/>
          </p:nvSpPr>
          <p:spPr>
            <a:xfrm>
              <a:off x="1800000" y="4500000"/>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76" name="直接连接符 75">
              <a:extLst>
                <a:ext uri="{FF2B5EF4-FFF2-40B4-BE49-F238E27FC236}">
                  <a16:creationId xmlns:a16="http://schemas.microsoft.com/office/drawing/2014/main" id="{A08601E1-BF5B-A0E3-7291-861E9056B350}"/>
                </a:ext>
              </a:extLst>
            </p:cNvPr>
            <p:cNvCxnSpPr>
              <a:cxnSpLocks/>
            </p:cNvCxnSpPr>
            <p:nvPr/>
          </p:nvCxnSpPr>
          <p:spPr>
            <a:xfrm flipH="1">
              <a:off x="2268000" y="4554000"/>
              <a:ext cx="396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椭圆 74">
              <a:extLst>
                <a:ext uri="{FF2B5EF4-FFF2-40B4-BE49-F238E27FC236}">
                  <a16:creationId xmlns:a16="http://schemas.microsoft.com/office/drawing/2014/main" id="{AF63774E-7255-6DBF-A19E-A5C996F5B592}"/>
                </a:ext>
              </a:extLst>
            </p:cNvPr>
            <p:cNvSpPr/>
            <p:nvPr/>
          </p:nvSpPr>
          <p:spPr>
            <a:xfrm>
              <a:off x="2232000" y="4500000"/>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80" name="直接连接符 79">
              <a:extLst>
                <a:ext uri="{FF2B5EF4-FFF2-40B4-BE49-F238E27FC236}">
                  <a16:creationId xmlns:a16="http://schemas.microsoft.com/office/drawing/2014/main" id="{BEB423A2-1C1C-CDA3-426A-7CD5D1C1B372}"/>
                </a:ext>
              </a:extLst>
            </p:cNvPr>
            <p:cNvCxnSpPr>
              <a:cxnSpLocks/>
            </p:cNvCxnSpPr>
            <p:nvPr/>
          </p:nvCxnSpPr>
          <p:spPr>
            <a:xfrm>
              <a:off x="2664000" y="4554000"/>
              <a:ext cx="0" cy="183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314FEE06-EA48-35CD-223C-BD67F8393859}"/>
                </a:ext>
              </a:extLst>
            </p:cNvPr>
            <p:cNvCxnSpPr>
              <a:cxnSpLocks/>
            </p:cNvCxnSpPr>
            <p:nvPr/>
          </p:nvCxnSpPr>
          <p:spPr>
            <a:xfrm flipH="1">
              <a:off x="2448000" y="6408000"/>
              <a:ext cx="4320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4" name="Rectangle 8">
                  <a:extLst>
                    <a:ext uri="{FF2B5EF4-FFF2-40B4-BE49-F238E27FC236}">
                      <a16:creationId xmlns:a16="http://schemas.microsoft.com/office/drawing/2014/main" id="{7DD01E9D-A094-E2FA-8C1E-29C1B33669C4}"/>
                    </a:ext>
                  </a:extLst>
                </p:cNvPr>
                <p:cNvSpPr>
                  <a:spLocks noChangeArrowheads="1"/>
                </p:cNvSpPr>
                <p:nvPr/>
              </p:nvSpPr>
              <p:spPr bwMode="auto">
                <a:xfrm>
                  <a:off x="1620000" y="4536000"/>
                  <a:ext cx="575610" cy="2015936"/>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600"/>
                    </a:spcAft>
                    <a:buNone/>
                  </a:pPr>
                  <a14:m>
                    <m:oMathPara xmlns:m="http://schemas.openxmlformats.org/officeDocument/2006/math">
                      <m:oMathParaPr>
                        <m:jc m:val="center"/>
                      </m:oMathParaPr>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m:oMathPara>
                  </a14:m>
                  <a:endParaRPr kumimoji="1" lang="en-US" altLang="zh-CN" sz="2000" b="0" i="1" dirty="0">
                    <a:solidFill>
                      <a:schemeClr val="tx1"/>
                    </a:solidFill>
                    <a:latin typeface="Cambria Math" panose="02040503050406030204" pitchFamily="18" charset="0"/>
                    <a:ea typeface="微软雅黑" panose="020B0503020204020204" pitchFamily="34" charset="-122"/>
                  </a:endParaRPr>
                </a:p>
                <a:p>
                  <a:pPr algn="ctr">
                    <a:spcAft>
                      <a:spcPts val="600"/>
                    </a:spcAft>
                    <a:buNone/>
                  </a:pPr>
                  <a:endParaRPr kumimoji="1" lang="en-US" altLang="zh-CN" sz="2000" b="0" i="1" dirty="0">
                    <a:solidFill>
                      <a:schemeClr val="tx1"/>
                    </a:solidFill>
                    <a:latin typeface="Cambria Math" panose="02040503050406030204" pitchFamily="18" charset="0"/>
                    <a:ea typeface="微软雅黑" panose="020B0503020204020204" pitchFamily="34" charset="-122"/>
                  </a:endParaRPr>
                </a:p>
                <a:p>
                  <a:pPr algn="ctr">
                    <a:spcAft>
                      <a:spcPts val="600"/>
                    </a:spcAft>
                    <a:buNone/>
                  </a:pPr>
                  <a14:m>
                    <m:oMathPara xmlns:m="http://schemas.openxmlformats.org/officeDocument/2006/math">
                      <m:oMathParaPr>
                        <m:jc m:val="right"/>
                      </m:oMathParaPr>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𝑉</m:t>
                            </m:r>
                          </m:e>
                          <m:sub>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O</m:t>
                            </m:r>
                          </m:sub>
                        </m:sSub>
                      </m:oMath>
                    </m:oMathPara>
                  </a14:m>
                  <a:endParaRPr kumimoji="1" lang="en-US" altLang="zh-CN" sz="2000" b="0" dirty="0">
                    <a:solidFill>
                      <a:schemeClr val="tx1"/>
                    </a:solidFill>
                    <a:latin typeface="微软雅黑" panose="020B0503020204020204" pitchFamily="34" charset="-122"/>
                    <a:ea typeface="微软雅黑" panose="020B0503020204020204" pitchFamily="34" charset="-122"/>
                  </a:endParaRPr>
                </a:p>
                <a:p>
                  <a:pPr algn="ctr">
                    <a:spcAft>
                      <a:spcPts val="600"/>
                    </a:spcAft>
                    <a:buNone/>
                  </a:pPr>
                  <a:endParaRPr kumimoji="1" lang="en-US" altLang="zh-CN" sz="2000" b="0" dirty="0">
                    <a:latin typeface="微软雅黑" panose="020B0503020204020204" pitchFamily="34" charset="-122"/>
                    <a:ea typeface="微软雅黑" panose="020B0503020204020204" pitchFamily="34" charset="-122"/>
                  </a:endParaRPr>
                </a:p>
                <a:p>
                  <a:pPr algn="ctr">
                    <a:spcAft>
                      <a:spcPts val="0"/>
                    </a:spcAft>
                    <a:buNone/>
                  </a:pPr>
                  <a14:m>
                    <m:oMathPara xmlns:m="http://schemas.openxmlformats.org/officeDocument/2006/math">
                      <m:oMathParaPr>
                        <m:jc m:val="center"/>
                      </m:oMathParaPr>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m:oMathPara>
                  </a14:m>
                  <a:endParaRPr kumimoji="1" lang="en-US" altLang="zh-CN" sz="2000" b="0" i="1" dirty="0">
                    <a:latin typeface="Cambria Math" panose="02040503050406030204" pitchFamily="18" charset="0"/>
                    <a:ea typeface="微软雅黑" panose="020B0503020204020204" pitchFamily="34" charset="-122"/>
                  </a:endParaRPr>
                </a:p>
              </p:txBody>
            </p:sp>
          </mc:Choice>
          <mc:Fallback xmlns="">
            <p:sp>
              <p:nvSpPr>
                <p:cNvPr id="84" name="Rectangle 8">
                  <a:extLst>
                    <a:ext uri="{FF2B5EF4-FFF2-40B4-BE49-F238E27FC236}">
                      <a16:creationId xmlns:a16="http://schemas.microsoft.com/office/drawing/2014/main" id="{7DD01E9D-A094-E2FA-8C1E-29C1B33669C4}"/>
                    </a:ext>
                  </a:extLst>
                </p:cNvPr>
                <p:cNvSpPr>
                  <a:spLocks noRot="1" noChangeAspect="1" noMove="1" noResize="1" noEditPoints="1" noAdjustHandles="1" noChangeArrowheads="1" noChangeShapeType="1" noTextEdit="1"/>
                </p:cNvSpPr>
                <p:nvPr/>
              </p:nvSpPr>
              <p:spPr bwMode="auto">
                <a:xfrm>
                  <a:off x="1620000" y="4536000"/>
                  <a:ext cx="575610" cy="2015936"/>
                </a:xfrm>
                <a:prstGeom prst="rect">
                  <a:avLst/>
                </a:prstGeom>
                <a:blipFill>
                  <a:blip r:embed="rId20"/>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88" name="直接箭头连接符 87">
              <a:extLst>
                <a:ext uri="{FF2B5EF4-FFF2-40B4-BE49-F238E27FC236}">
                  <a16:creationId xmlns:a16="http://schemas.microsoft.com/office/drawing/2014/main" id="{6DB732EF-8F73-BB04-1384-2E35BB461878}"/>
                </a:ext>
              </a:extLst>
            </p:cNvPr>
            <p:cNvCxnSpPr>
              <a:cxnSpLocks/>
            </p:cNvCxnSpPr>
            <p:nvPr/>
          </p:nvCxnSpPr>
          <p:spPr>
            <a:xfrm>
              <a:off x="756000" y="4356000"/>
              <a:ext cx="0" cy="90000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1" name="椭圆 10">
              <a:extLst>
                <a:ext uri="{FF2B5EF4-FFF2-40B4-BE49-F238E27FC236}">
                  <a16:creationId xmlns:a16="http://schemas.microsoft.com/office/drawing/2014/main" id="{4C4D2C2B-DDF5-A8C1-4E27-65CBD8E8E506}"/>
                </a:ext>
              </a:extLst>
            </p:cNvPr>
            <p:cNvSpPr/>
            <p:nvPr/>
          </p:nvSpPr>
          <p:spPr>
            <a:xfrm>
              <a:off x="1350000" y="450000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6" name="矩形 15">
              <a:extLst>
                <a:ext uri="{FF2B5EF4-FFF2-40B4-BE49-F238E27FC236}">
                  <a16:creationId xmlns:a16="http://schemas.microsoft.com/office/drawing/2014/main" id="{AC9DFEF7-0FA0-28D9-01F2-DCCFE06C0BFC}"/>
                </a:ext>
              </a:extLst>
            </p:cNvPr>
            <p:cNvSpPr/>
            <p:nvPr/>
          </p:nvSpPr>
          <p:spPr>
            <a:xfrm>
              <a:off x="2592000" y="5256000"/>
              <a:ext cx="144000" cy="504000"/>
            </a:xfrm>
            <a:prstGeom prst="rect">
              <a:avLst/>
            </a:prstGeom>
            <a:solidFill>
              <a:schemeClr val="bg1">
                <a:alpha val="99000"/>
              </a:schemeClr>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grpSp>
        <p:nvGrpSpPr>
          <p:cNvPr id="23" name="组合 22">
            <a:extLst>
              <a:ext uri="{FF2B5EF4-FFF2-40B4-BE49-F238E27FC236}">
                <a16:creationId xmlns:a16="http://schemas.microsoft.com/office/drawing/2014/main" id="{684A6782-45C3-E826-6AB7-0C4D9189C292}"/>
              </a:ext>
            </a:extLst>
          </p:cNvPr>
          <p:cNvGrpSpPr/>
          <p:nvPr/>
        </p:nvGrpSpPr>
        <p:grpSpPr>
          <a:xfrm>
            <a:off x="3708000" y="3132000"/>
            <a:ext cx="1331610" cy="3419936"/>
            <a:chOff x="3708000" y="3132000"/>
            <a:chExt cx="1331610" cy="3419936"/>
          </a:xfrm>
        </p:grpSpPr>
        <mc:AlternateContent xmlns:mc="http://schemas.openxmlformats.org/markup-compatibility/2006" xmlns:a14="http://schemas.microsoft.com/office/drawing/2010/main">
          <mc:Choice Requires="a14">
            <p:sp>
              <p:nvSpPr>
                <p:cNvPr id="93" name="Rectangle 8">
                  <a:extLst>
                    <a:ext uri="{FF2B5EF4-FFF2-40B4-BE49-F238E27FC236}">
                      <a16:creationId xmlns:a16="http://schemas.microsoft.com/office/drawing/2014/main" id="{D5FF8A91-5C04-F3BD-BF1B-B64B6B10E9C2}"/>
                    </a:ext>
                  </a:extLst>
                </p:cNvPr>
                <p:cNvSpPr>
                  <a:spLocks noChangeArrowheads="1"/>
                </p:cNvSpPr>
                <p:nvPr/>
              </p:nvSpPr>
              <p:spPr bwMode="auto">
                <a:xfrm>
                  <a:off x="3851999" y="3852000"/>
                  <a:ext cx="360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right"/>
                      </m:oMathParaPr>
                      <m:oMath xmlns:m="http://schemas.openxmlformats.org/officeDocument/2006/math">
                        <m:r>
                          <a:rPr kumimoji="1" lang="en-US" altLang="zh-CN" sz="2000" b="0" i="1" smtClean="0">
                            <a:solidFill>
                              <a:schemeClr val="tx1"/>
                            </a:solidFill>
                            <a:latin typeface="Cambria Math" panose="02040503050406030204" pitchFamily="18" charset="0"/>
                            <a:ea typeface="微软雅黑" panose="020B0503020204020204" pitchFamily="34" charset="-122"/>
                          </a:rPr>
                          <m:t>𝑅</m:t>
                        </m:r>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93" name="Rectangle 8">
                  <a:extLst>
                    <a:ext uri="{FF2B5EF4-FFF2-40B4-BE49-F238E27FC236}">
                      <a16:creationId xmlns:a16="http://schemas.microsoft.com/office/drawing/2014/main" id="{D5FF8A91-5C04-F3BD-BF1B-B64B6B10E9C2}"/>
                    </a:ext>
                  </a:extLst>
                </p:cNvPr>
                <p:cNvSpPr>
                  <a:spLocks noRot="1" noChangeAspect="1" noMove="1" noResize="1" noEditPoints="1" noAdjustHandles="1" noChangeArrowheads="1" noChangeShapeType="1" noTextEdit="1"/>
                </p:cNvSpPr>
                <p:nvPr/>
              </p:nvSpPr>
              <p:spPr bwMode="auto">
                <a:xfrm>
                  <a:off x="3851999" y="3852000"/>
                  <a:ext cx="360000" cy="432000"/>
                </a:xfrm>
                <a:prstGeom prst="rect">
                  <a:avLst/>
                </a:prstGeom>
                <a:blipFill>
                  <a:blip r:embed="rId21"/>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5" name="Rectangle 8">
                  <a:extLst>
                    <a:ext uri="{FF2B5EF4-FFF2-40B4-BE49-F238E27FC236}">
                      <a16:creationId xmlns:a16="http://schemas.microsoft.com/office/drawing/2014/main" id="{A2B09ACF-8138-85C4-BDFA-73304FED020F}"/>
                    </a:ext>
                  </a:extLst>
                </p:cNvPr>
                <p:cNvSpPr>
                  <a:spLocks noChangeArrowheads="1"/>
                </p:cNvSpPr>
                <p:nvPr/>
              </p:nvSpPr>
              <p:spPr bwMode="auto">
                <a:xfrm>
                  <a:off x="3708000" y="4860000"/>
                  <a:ext cx="468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right"/>
                      </m:oMathParaPr>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𝑟</m:t>
                            </m:r>
                          </m:e>
                          <m:sub>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d</m:t>
                            </m:r>
                            <m:r>
                              <a:rPr kumimoji="1" lang="en-US" altLang="zh-CN" sz="2000" b="0" i="1" smtClean="0">
                                <a:solidFill>
                                  <a:schemeClr val="tx1"/>
                                </a:solidFill>
                                <a:latin typeface="Cambria Math" panose="02040503050406030204" pitchFamily="18" charset="0"/>
                                <a:ea typeface="微软雅黑" panose="020B0503020204020204" pitchFamily="34" charset="-122"/>
                              </a:rPr>
                              <m:t>1</m:t>
                            </m:r>
                          </m:sub>
                        </m:sSub>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95" name="Rectangle 8">
                  <a:extLst>
                    <a:ext uri="{FF2B5EF4-FFF2-40B4-BE49-F238E27FC236}">
                      <a16:creationId xmlns:a16="http://schemas.microsoft.com/office/drawing/2014/main" id="{A2B09ACF-8138-85C4-BDFA-73304FED020F}"/>
                    </a:ext>
                  </a:extLst>
                </p:cNvPr>
                <p:cNvSpPr>
                  <a:spLocks noRot="1" noChangeAspect="1" noMove="1" noResize="1" noEditPoints="1" noAdjustHandles="1" noChangeArrowheads="1" noChangeShapeType="1" noTextEdit="1"/>
                </p:cNvSpPr>
                <p:nvPr/>
              </p:nvSpPr>
              <p:spPr bwMode="auto">
                <a:xfrm>
                  <a:off x="3708000" y="4860000"/>
                  <a:ext cx="468000" cy="432000"/>
                </a:xfrm>
                <a:prstGeom prst="rect">
                  <a:avLst/>
                </a:prstGeom>
                <a:blipFill>
                  <a:blip r:embed="rId22"/>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98" name="直接连接符 97">
              <a:extLst>
                <a:ext uri="{FF2B5EF4-FFF2-40B4-BE49-F238E27FC236}">
                  <a16:creationId xmlns:a16="http://schemas.microsoft.com/office/drawing/2014/main" id="{77841E0B-6905-7132-1DEF-82E3845B2919}"/>
                </a:ext>
              </a:extLst>
            </p:cNvPr>
            <p:cNvCxnSpPr>
              <a:cxnSpLocks/>
            </p:cNvCxnSpPr>
            <p:nvPr/>
          </p:nvCxnSpPr>
          <p:spPr>
            <a:xfrm>
              <a:off x="4248000" y="3600000"/>
              <a:ext cx="0" cy="2772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6" name="Rectangle 8">
                  <a:extLst>
                    <a:ext uri="{FF2B5EF4-FFF2-40B4-BE49-F238E27FC236}">
                      <a16:creationId xmlns:a16="http://schemas.microsoft.com/office/drawing/2014/main" id="{70328CE1-97C9-C4DE-3A50-3E3C7DEE262A}"/>
                    </a:ext>
                  </a:extLst>
                </p:cNvPr>
                <p:cNvSpPr>
                  <a:spLocks noChangeArrowheads="1"/>
                </p:cNvSpPr>
                <p:nvPr/>
              </p:nvSpPr>
              <p:spPr bwMode="auto">
                <a:xfrm>
                  <a:off x="3708000" y="5652000"/>
                  <a:ext cx="468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right"/>
                      </m:oMathParaPr>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𝑟</m:t>
                            </m:r>
                          </m:e>
                          <m:sub>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d</m:t>
                            </m:r>
                            <m:r>
                              <a:rPr kumimoji="1" lang="en-US" altLang="zh-CN" sz="2000" b="0" i="1" smtClean="0">
                                <a:solidFill>
                                  <a:schemeClr val="tx1"/>
                                </a:solidFill>
                                <a:latin typeface="Cambria Math" panose="02040503050406030204" pitchFamily="18" charset="0"/>
                                <a:ea typeface="微软雅黑" panose="020B0503020204020204" pitchFamily="34" charset="-122"/>
                              </a:rPr>
                              <m:t>2</m:t>
                            </m:r>
                          </m:sub>
                        </m:sSub>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06" name="Rectangle 8">
                  <a:extLst>
                    <a:ext uri="{FF2B5EF4-FFF2-40B4-BE49-F238E27FC236}">
                      <a16:creationId xmlns:a16="http://schemas.microsoft.com/office/drawing/2014/main" id="{70328CE1-97C9-C4DE-3A50-3E3C7DEE262A}"/>
                    </a:ext>
                  </a:extLst>
                </p:cNvPr>
                <p:cNvSpPr>
                  <a:spLocks noRot="1" noChangeAspect="1" noMove="1" noResize="1" noEditPoints="1" noAdjustHandles="1" noChangeArrowheads="1" noChangeShapeType="1" noTextEdit="1"/>
                </p:cNvSpPr>
                <p:nvPr/>
              </p:nvSpPr>
              <p:spPr bwMode="auto">
                <a:xfrm>
                  <a:off x="3708000" y="5652000"/>
                  <a:ext cx="468000" cy="432000"/>
                </a:xfrm>
                <a:prstGeom prst="rect">
                  <a:avLst/>
                </a:prstGeom>
                <a:blipFill>
                  <a:blip r:embed="rId23"/>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2" name="Rectangle 8">
                  <a:extLst>
                    <a:ext uri="{FF2B5EF4-FFF2-40B4-BE49-F238E27FC236}">
                      <a16:creationId xmlns:a16="http://schemas.microsoft.com/office/drawing/2014/main" id="{48EA427B-8946-E085-B29A-B79E4518F51F}"/>
                    </a:ext>
                  </a:extLst>
                </p:cNvPr>
                <p:cNvSpPr>
                  <a:spLocks noChangeArrowheads="1"/>
                </p:cNvSpPr>
                <p:nvPr/>
              </p:nvSpPr>
              <p:spPr bwMode="auto">
                <a:xfrm>
                  <a:off x="4068000" y="3132000"/>
                  <a:ext cx="468000" cy="36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r>
                          <m:rPr>
                            <m:sty m:val="p"/>
                          </m:rPr>
                          <a:rPr kumimoji="1" lang="el-GR" altLang="zh-CN" sz="2000" b="0" i="1" smtClean="0">
                            <a:latin typeface="Cambria Math" panose="02040503050406030204" pitchFamily="18" charset="0"/>
                            <a:ea typeface="Cambria Math" panose="02040503050406030204" pitchFamily="18" charset="0"/>
                          </a:rPr>
                          <m:t>Δ</m:t>
                        </m:r>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𝑉</m:t>
                            </m:r>
                          </m:e>
                          <m:sub>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I</m:t>
                            </m:r>
                          </m:sub>
                        </m:sSub>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12" name="Rectangle 8">
                  <a:extLst>
                    <a:ext uri="{FF2B5EF4-FFF2-40B4-BE49-F238E27FC236}">
                      <a16:creationId xmlns:a16="http://schemas.microsoft.com/office/drawing/2014/main" id="{48EA427B-8946-E085-B29A-B79E4518F51F}"/>
                    </a:ext>
                  </a:extLst>
                </p:cNvPr>
                <p:cNvSpPr>
                  <a:spLocks noRot="1" noChangeAspect="1" noMove="1" noResize="1" noEditPoints="1" noAdjustHandles="1" noChangeArrowheads="1" noChangeShapeType="1" noTextEdit="1"/>
                </p:cNvSpPr>
                <p:nvPr/>
              </p:nvSpPr>
              <p:spPr bwMode="auto">
                <a:xfrm>
                  <a:off x="4068000" y="3132000"/>
                  <a:ext cx="468000" cy="360000"/>
                </a:xfrm>
                <a:prstGeom prst="rect">
                  <a:avLst/>
                </a:prstGeom>
                <a:blipFill>
                  <a:blip r:embed="rId24"/>
                  <a:stretch>
                    <a:fillRect l="-14286" b="-13559"/>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116" name="直接连接符 115">
              <a:extLst>
                <a:ext uri="{FF2B5EF4-FFF2-40B4-BE49-F238E27FC236}">
                  <a16:creationId xmlns:a16="http://schemas.microsoft.com/office/drawing/2014/main" id="{7C77C735-8509-B6DB-A017-A8880CF0091C}"/>
                </a:ext>
              </a:extLst>
            </p:cNvPr>
            <p:cNvCxnSpPr>
              <a:cxnSpLocks/>
            </p:cNvCxnSpPr>
            <p:nvPr/>
          </p:nvCxnSpPr>
          <p:spPr>
            <a:xfrm flipH="1">
              <a:off x="4032000" y="6408000"/>
              <a:ext cx="4320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17" name="椭圆 116">
              <a:extLst>
                <a:ext uri="{FF2B5EF4-FFF2-40B4-BE49-F238E27FC236}">
                  <a16:creationId xmlns:a16="http://schemas.microsoft.com/office/drawing/2014/main" id="{D3FB1516-0AC6-B53C-FDDB-73B4A091D683}"/>
                </a:ext>
              </a:extLst>
            </p:cNvPr>
            <p:cNvSpPr/>
            <p:nvPr/>
          </p:nvSpPr>
          <p:spPr>
            <a:xfrm>
              <a:off x="4194000" y="3528000"/>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118" name="直接连接符 117">
              <a:extLst>
                <a:ext uri="{FF2B5EF4-FFF2-40B4-BE49-F238E27FC236}">
                  <a16:creationId xmlns:a16="http://schemas.microsoft.com/office/drawing/2014/main" id="{44F4E40A-C2DA-8E67-1134-E1B68572A337}"/>
                </a:ext>
              </a:extLst>
            </p:cNvPr>
            <p:cNvCxnSpPr>
              <a:cxnSpLocks/>
            </p:cNvCxnSpPr>
            <p:nvPr/>
          </p:nvCxnSpPr>
          <p:spPr>
            <a:xfrm flipH="1">
              <a:off x="4248000" y="4554000"/>
              <a:ext cx="43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3" name="椭圆 122">
              <a:extLst>
                <a:ext uri="{FF2B5EF4-FFF2-40B4-BE49-F238E27FC236}">
                  <a16:creationId xmlns:a16="http://schemas.microsoft.com/office/drawing/2014/main" id="{26339F13-B603-F935-E66E-1E872223D3FC}"/>
                </a:ext>
              </a:extLst>
            </p:cNvPr>
            <p:cNvSpPr/>
            <p:nvPr/>
          </p:nvSpPr>
          <p:spPr>
            <a:xfrm>
              <a:off x="4644000" y="4500000"/>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135" name="Rectangle 8">
                  <a:extLst>
                    <a:ext uri="{FF2B5EF4-FFF2-40B4-BE49-F238E27FC236}">
                      <a16:creationId xmlns:a16="http://schemas.microsoft.com/office/drawing/2014/main" id="{9F8414E4-B3B7-2589-E140-C56082F12C71}"/>
                    </a:ext>
                  </a:extLst>
                </p:cNvPr>
                <p:cNvSpPr>
                  <a:spLocks noChangeArrowheads="1"/>
                </p:cNvSpPr>
                <p:nvPr/>
              </p:nvSpPr>
              <p:spPr bwMode="auto">
                <a:xfrm>
                  <a:off x="4464000" y="4536000"/>
                  <a:ext cx="575610" cy="2015936"/>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600"/>
                    </a:spcAft>
                    <a:buNone/>
                  </a:pPr>
                  <a14:m>
                    <m:oMathPara xmlns:m="http://schemas.openxmlformats.org/officeDocument/2006/math">
                      <m:oMathParaPr>
                        <m:jc m:val="center"/>
                      </m:oMathParaPr>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m:oMathPara>
                  </a14:m>
                  <a:endParaRPr kumimoji="1" lang="en-US" altLang="zh-CN" sz="2000" b="0" i="1" dirty="0">
                    <a:solidFill>
                      <a:schemeClr val="tx1"/>
                    </a:solidFill>
                    <a:latin typeface="Cambria Math" panose="02040503050406030204" pitchFamily="18" charset="0"/>
                    <a:ea typeface="微软雅黑" panose="020B0503020204020204" pitchFamily="34" charset="-122"/>
                  </a:endParaRPr>
                </a:p>
                <a:p>
                  <a:pPr algn="ctr">
                    <a:spcAft>
                      <a:spcPts val="600"/>
                    </a:spcAft>
                    <a:buNone/>
                  </a:pPr>
                  <a:endParaRPr kumimoji="1" lang="en-US" altLang="zh-CN" sz="2000" b="0" i="1" dirty="0">
                    <a:solidFill>
                      <a:schemeClr val="tx1"/>
                    </a:solidFill>
                    <a:latin typeface="Cambria Math" panose="02040503050406030204" pitchFamily="18" charset="0"/>
                    <a:ea typeface="微软雅黑" panose="020B0503020204020204" pitchFamily="34" charset="-122"/>
                  </a:endParaRPr>
                </a:p>
                <a:p>
                  <a:pPr algn="ctr">
                    <a:spcAft>
                      <a:spcPts val="600"/>
                    </a:spcAft>
                    <a:buNone/>
                  </a:pPr>
                  <a14:m>
                    <m:oMathPara xmlns:m="http://schemas.openxmlformats.org/officeDocument/2006/math">
                      <m:oMathParaPr>
                        <m:jc m:val="right"/>
                      </m:oMathParaPr>
                      <m:oMath xmlns:m="http://schemas.openxmlformats.org/officeDocument/2006/math">
                        <m:r>
                          <m:rPr>
                            <m:sty m:val="p"/>
                          </m:rPr>
                          <a:rPr kumimoji="1" lang="el-GR" altLang="zh-CN" sz="2000" b="0" i="1" smtClean="0">
                            <a:solidFill>
                              <a:schemeClr val="tx1"/>
                            </a:solidFill>
                            <a:latin typeface="Cambria Math" panose="02040503050406030204" pitchFamily="18" charset="0"/>
                            <a:ea typeface="Cambria Math" panose="02040503050406030204" pitchFamily="18" charset="0"/>
                          </a:rPr>
                          <m:t>Δ</m:t>
                        </m:r>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𝑉</m:t>
                            </m:r>
                          </m:e>
                          <m:sub>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O</m:t>
                            </m:r>
                          </m:sub>
                        </m:sSub>
                      </m:oMath>
                    </m:oMathPara>
                  </a14:m>
                  <a:endParaRPr kumimoji="1" lang="en-US" altLang="zh-CN" sz="2000" b="0" dirty="0">
                    <a:solidFill>
                      <a:schemeClr val="tx1"/>
                    </a:solidFill>
                    <a:latin typeface="微软雅黑" panose="020B0503020204020204" pitchFamily="34" charset="-122"/>
                    <a:ea typeface="微软雅黑" panose="020B0503020204020204" pitchFamily="34" charset="-122"/>
                  </a:endParaRPr>
                </a:p>
                <a:p>
                  <a:pPr algn="ctr">
                    <a:spcAft>
                      <a:spcPts val="600"/>
                    </a:spcAft>
                    <a:buNone/>
                  </a:pPr>
                  <a:endParaRPr kumimoji="1" lang="en-US" altLang="zh-CN" sz="2000" b="0" dirty="0">
                    <a:latin typeface="微软雅黑" panose="020B0503020204020204" pitchFamily="34" charset="-122"/>
                    <a:ea typeface="微软雅黑" panose="020B0503020204020204" pitchFamily="34" charset="-122"/>
                  </a:endParaRPr>
                </a:p>
                <a:p>
                  <a:pPr algn="ctr">
                    <a:spcAft>
                      <a:spcPts val="0"/>
                    </a:spcAft>
                    <a:buNone/>
                  </a:pPr>
                  <a14:m>
                    <m:oMathPara xmlns:m="http://schemas.openxmlformats.org/officeDocument/2006/math">
                      <m:oMathParaPr>
                        <m:jc m:val="center"/>
                      </m:oMathParaPr>
                      <m:oMath xmlns:m="http://schemas.openxmlformats.org/officeDocument/2006/math">
                        <m:r>
                          <a:rPr kumimoji="1" lang="en-US" altLang="zh-CN" sz="2000" b="0" i="1" smtClean="0">
                            <a:latin typeface="Cambria Math" panose="02040503050406030204" pitchFamily="18" charset="0"/>
                            <a:ea typeface="微软雅黑" panose="020B0503020204020204" pitchFamily="34" charset="-122"/>
                          </a:rPr>
                          <m:t>−</m:t>
                        </m:r>
                      </m:oMath>
                    </m:oMathPara>
                  </a14:m>
                  <a:endParaRPr kumimoji="1" lang="en-US" altLang="zh-CN" sz="2000" b="0" i="1" dirty="0">
                    <a:latin typeface="Cambria Math" panose="02040503050406030204" pitchFamily="18" charset="0"/>
                    <a:ea typeface="微软雅黑" panose="020B0503020204020204" pitchFamily="34" charset="-122"/>
                  </a:endParaRPr>
                </a:p>
              </p:txBody>
            </p:sp>
          </mc:Choice>
          <mc:Fallback xmlns="">
            <p:sp>
              <p:nvSpPr>
                <p:cNvPr id="135" name="Rectangle 8">
                  <a:extLst>
                    <a:ext uri="{FF2B5EF4-FFF2-40B4-BE49-F238E27FC236}">
                      <a16:creationId xmlns:a16="http://schemas.microsoft.com/office/drawing/2014/main" id="{9F8414E4-B3B7-2589-E140-C56082F12C71}"/>
                    </a:ext>
                  </a:extLst>
                </p:cNvPr>
                <p:cNvSpPr>
                  <a:spLocks noRot="1" noChangeAspect="1" noMove="1" noResize="1" noEditPoints="1" noAdjustHandles="1" noChangeArrowheads="1" noChangeShapeType="1" noTextEdit="1"/>
                </p:cNvSpPr>
                <p:nvPr/>
              </p:nvSpPr>
              <p:spPr bwMode="auto">
                <a:xfrm>
                  <a:off x="4464000" y="4536000"/>
                  <a:ext cx="575610" cy="2015936"/>
                </a:xfrm>
                <a:prstGeom prst="rect">
                  <a:avLst/>
                </a:prstGeom>
                <a:blipFill>
                  <a:blip r:embed="rId25"/>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3" name="椭圆 12">
              <a:extLst>
                <a:ext uri="{FF2B5EF4-FFF2-40B4-BE49-F238E27FC236}">
                  <a16:creationId xmlns:a16="http://schemas.microsoft.com/office/drawing/2014/main" id="{374EA644-3712-4376-34FA-E3C19C1C0326}"/>
                </a:ext>
              </a:extLst>
            </p:cNvPr>
            <p:cNvSpPr/>
            <p:nvPr/>
          </p:nvSpPr>
          <p:spPr>
            <a:xfrm>
              <a:off x="4194000" y="450000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19" name="矩形 18">
              <a:extLst>
                <a:ext uri="{FF2B5EF4-FFF2-40B4-BE49-F238E27FC236}">
                  <a16:creationId xmlns:a16="http://schemas.microsoft.com/office/drawing/2014/main" id="{350A40F2-4B6D-FBC0-91B1-02C2D50E1E9A}"/>
                </a:ext>
              </a:extLst>
            </p:cNvPr>
            <p:cNvSpPr/>
            <p:nvPr/>
          </p:nvSpPr>
          <p:spPr>
            <a:xfrm>
              <a:off x="4176000" y="3816000"/>
              <a:ext cx="144000" cy="504000"/>
            </a:xfrm>
            <a:prstGeom prst="rect">
              <a:avLst/>
            </a:prstGeom>
            <a:solidFill>
              <a:schemeClr val="bg1">
                <a:alpha val="99000"/>
              </a:schemeClr>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20" name="矩形 19">
              <a:extLst>
                <a:ext uri="{FF2B5EF4-FFF2-40B4-BE49-F238E27FC236}">
                  <a16:creationId xmlns:a16="http://schemas.microsoft.com/office/drawing/2014/main" id="{FD947D64-0284-E36B-C2F9-68482FBD0773}"/>
                </a:ext>
              </a:extLst>
            </p:cNvPr>
            <p:cNvSpPr/>
            <p:nvPr/>
          </p:nvSpPr>
          <p:spPr>
            <a:xfrm>
              <a:off x="4176000" y="4860000"/>
              <a:ext cx="144000" cy="504000"/>
            </a:xfrm>
            <a:prstGeom prst="rect">
              <a:avLst/>
            </a:prstGeom>
            <a:solidFill>
              <a:schemeClr val="bg1">
                <a:alpha val="99000"/>
              </a:schemeClr>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EEE69DE7-285F-32D0-3F52-9FBF4475A1EB}"/>
                </a:ext>
              </a:extLst>
            </p:cNvPr>
            <p:cNvSpPr/>
            <p:nvPr/>
          </p:nvSpPr>
          <p:spPr>
            <a:xfrm>
              <a:off x="4176000" y="5652000"/>
              <a:ext cx="144000" cy="504000"/>
            </a:xfrm>
            <a:prstGeom prst="rect">
              <a:avLst/>
            </a:prstGeom>
            <a:solidFill>
              <a:schemeClr val="bg1">
                <a:alpha val="99000"/>
              </a:schemeClr>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spTree>
    <p:extLst>
      <p:ext uri="{BB962C8B-B14F-4D97-AF65-F5344CB8AC3E}">
        <p14:creationId xmlns:p14="http://schemas.microsoft.com/office/powerpoint/2010/main" val="250363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54"/>
                                        </p:tgtEl>
                                        <p:attrNameLst>
                                          <p:attrName>style.visibility</p:attrName>
                                        </p:attrNameLst>
                                      </p:cBhvr>
                                      <p:to>
                                        <p:strVal val="visible"/>
                                      </p:to>
                                    </p:set>
                                    <p:animEffect transition="in" filter="randombar(horizontal)">
                                      <p:cBhvr>
                                        <p:cTn id="7" dur="500"/>
                                        <p:tgtEl>
                                          <p:spTgt spid="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E8369-9734-4305-0E19-6C3C0A656DEC}"/>
            </a:ext>
          </a:extLst>
        </p:cNvPr>
        <p:cNvGrpSpPr/>
        <p:nvPr/>
      </p:nvGrpSpPr>
      <p:grpSpPr>
        <a:xfrm>
          <a:off x="0" y="0"/>
          <a:ext cx="0" cy="0"/>
          <a:chOff x="0" y="0"/>
          <a:chExt cx="0" cy="0"/>
        </a:xfrm>
      </p:grpSpPr>
      <p:sp>
        <p:nvSpPr>
          <p:cNvPr id="168" name="文本框 167">
            <a:extLst>
              <a:ext uri="{FF2B5EF4-FFF2-40B4-BE49-F238E27FC236}">
                <a16:creationId xmlns:a16="http://schemas.microsoft.com/office/drawing/2014/main" id="{8B24E766-D812-1572-D0D3-B5EED79C9857}"/>
              </a:ext>
            </a:extLst>
          </p:cNvPr>
          <p:cNvSpPr txBox="1"/>
          <p:nvPr/>
        </p:nvSpPr>
        <p:spPr>
          <a:xfrm>
            <a:off x="1872000" y="3600000"/>
            <a:ext cx="1188000" cy="396000"/>
          </a:xfrm>
          <a:prstGeom prst="rect">
            <a:avLst/>
          </a:prstGeom>
          <a:noFill/>
        </p:spPr>
        <p:txBody>
          <a:bodyPr wrap="square">
            <a:spAutoFit/>
          </a:bodyPr>
          <a:lstStyle/>
          <a:p>
            <a:pPr algn="ctr"/>
            <a:r>
              <a:rPr kumimoji="1" lang="zh-CN" altLang="en-US" dirty="0">
                <a:solidFill>
                  <a:schemeClr val="accent5">
                    <a:lumMod val="75000"/>
                  </a:schemeClr>
                </a:solidFill>
                <a:latin typeface="微软雅黑" panose="020B0503020204020204" pitchFamily="34" charset="-122"/>
                <a:ea typeface="微软雅黑" panose="020B0503020204020204" pitchFamily="34" charset="-122"/>
              </a:rPr>
              <a:t>等效</a:t>
            </a:r>
          </a:p>
        </p:txBody>
      </p:sp>
      <p:grpSp>
        <p:nvGrpSpPr>
          <p:cNvPr id="3" name="组合 2">
            <a:extLst>
              <a:ext uri="{FF2B5EF4-FFF2-40B4-BE49-F238E27FC236}">
                <a16:creationId xmlns:a16="http://schemas.microsoft.com/office/drawing/2014/main" id="{423E949D-1F97-8BE9-7858-A7A901893574}"/>
              </a:ext>
            </a:extLst>
          </p:cNvPr>
          <p:cNvGrpSpPr/>
          <p:nvPr/>
        </p:nvGrpSpPr>
        <p:grpSpPr>
          <a:xfrm>
            <a:off x="11449269" y="6198682"/>
            <a:ext cx="786273" cy="548639"/>
            <a:chOff x="11454918" y="5839511"/>
            <a:chExt cx="786273" cy="548639"/>
          </a:xfrm>
        </p:grpSpPr>
        <p:grpSp>
          <p:nvGrpSpPr>
            <p:cNvPr id="4" name="组合 3">
              <a:extLst>
                <a:ext uri="{FF2B5EF4-FFF2-40B4-BE49-F238E27FC236}">
                  <a16:creationId xmlns:a16="http://schemas.microsoft.com/office/drawing/2014/main" id="{BDC2E9B8-73F0-8C53-80C5-97013435F49A}"/>
                </a:ext>
              </a:extLst>
            </p:cNvPr>
            <p:cNvGrpSpPr/>
            <p:nvPr/>
          </p:nvGrpSpPr>
          <p:grpSpPr>
            <a:xfrm>
              <a:off x="11454918" y="5867450"/>
              <a:ext cx="737081" cy="520700"/>
              <a:chOff x="11454918" y="5867450"/>
              <a:chExt cx="737081" cy="520700"/>
            </a:xfrm>
          </p:grpSpPr>
          <p:sp>
            <p:nvSpPr>
              <p:cNvPr id="6" name="箭头: 五边形 5">
                <a:extLst>
                  <a:ext uri="{FF2B5EF4-FFF2-40B4-BE49-F238E27FC236}">
                    <a16:creationId xmlns:a16="http://schemas.microsoft.com/office/drawing/2014/main" id="{5694D3C7-EC0D-EC9A-7E22-11D00529C330}"/>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箭头: V 形 6">
                <a:extLst>
                  <a:ext uri="{FF2B5EF4-FFF2-40B4-BE49-F238E27FC236}">
                    <a16:creationId xmlns:a16="http://schemas.microsoft.com/office/drawing/2014/main" id="{F5AD8518-92D0-14AD-CF29-EA4B44A8C09E}"/>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5" name="灯片编号占位符 3">
              <a:extLst>
                <a:ext uri="{FF2B5EF4-FFF2-40B4-BE49-F238E27FC236}">
                  <a16:creationId xmlns:a16="http://schemas.microsoft.com/office/drawing/2014/main" id="{BA259F11-AE52-8B98-6599-699D362EF8D5}"/>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29</a:t>
              </a:fld>
              <a:endParaRPr lang="zh-CN" altLang="en-US" sz="3200" dirty="0">
                <a:solidFill>
                  <a:schemeClr val="bg1"/>
                </a:solidFill>
                <a:latin typeface="Candara"/>
                <a:ea typeface="微软雅黑"/>
              </a:endParaRPr>
            </a:p>
          </p:txBody>
        </p:sp>
      </p:grpSp>
      <p:sp>
        <p:nvSpPr>
          <p:cNvPr id="8" name="文本框 7">
            <a:extLst>
              <a:ext uri="{FF2B5EF4-FFF2-40B4-BE49-F238E27FC236}">
                <a16:creationId xmlns:a16="http://schemas.microsoft.com/office/drawing/2014/main" id="{37379BA7-A437-A369-2E0A-6528FD6AAB3B}"/>
              </a:ext>
            </a:extLst>
          </p:cNvPr>
          <p:cNvSpPr txBox="1"/>
          <p:nvPr/>
        </p:nvSpPr>
        <p:spPr>
          <a:xfrm>
            <a:off x="360000" y="828000"/>
            <a:ext cx="7792958" cy="1159613"/>
          </a:xfrm>
          <a:prstGeom prst="rect">
            <a:avLst/>
          </a:prstGeom>
          <a:noFill/>
        </p:spPr>
        <p:txBody>
          <a:bodyPr wrap="square">
            <a:spAutoFit/>
          </a:bodyPr>
          <a:lstStyle/>
          <a:p>
            <a:pPr>
              <a:lnSpc>
                <a:spcPct val="120000"/>
              </a:lnSpc>
              <a:spcAft>
                <a:spcPts val="600"/>
              </a:spcAft>
            </a:pPr>
            <a:r>
              <a:rPr kumimoji="1" lang="zh-CN" altLang="en-US" sz="2800" dirty="0">
                <a:solidFill>
                  <a:srgbClr val="002060"/>
                </a:solidFill>
                <a:latin typeface="微软雅黑" panose="020B0503020204020204" pitchFamily="34" charset="-122"/>
                <a:ea typeface="微软雅黑" panose="020B0503020204020204" pitchFamily="34" charset="-122"/>
              </a:rPr>
              <a:t>二极管的主要应用</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稳压电路：提供电子电路所需的稳定电压</a:t>
            </a:r>
            <a:endParaRPr kumimoji="1" lang="en-US" altLang="zh-CN" sz="2800" dirty="0">
              <a:solidFill>
                <a:srgbClr val="002060"/>
              </a:solidFill>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46" name="文本框 145">
                <a:extLst>
                  <a:ext uri="{FF2B5EF4-FFF2-40B4-BE49-F238E27FC236}">
                    <a16:creationId xmlns:a16="http://schemas.microsoft.com/office/drawing/2014/main" id="{A77B19D6-D375-54D5-01DA-0FB257EA9149}"/>
                  </a:ext>
                </a:extLst>
              </p:cNvPr>
              <p:cNvSpPr txBox="1"/>
              <p:nvPr/>
            </p:nvSpPr>
            <p:spPr>
              <a:xfrm>
                <a:off x="360000" y="1980000"/>
                <a:ext cx="11518393" cy="1018099"/>
              </a:xfrm>
              <a:prstGeom prst="rect">
                <a:avLst/>
              </a:prstGeom>
              <a:noFill/>
            </p:spPr>
            <p:txBody>
              <a:bodyPr wrap="square">
                <a:spAutoFit/>
              </a:bodyPr>
              <a:lstStyle/>
              <a:p>
                <a:pPr>
                  <a:lnSpc>
                    <a:spcPct val="120000"/>
                  </a:lnSpc>
                  <a:spcAft>
                    <a:spcPts val="600"/>
                  </a:spcAft>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示例：下图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𝐷</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1</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𝐷</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2</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均为硅管，正向导通压降约为 </a:t>
                </a:r>
                <a14:m>
                  <m:oMath xmlns:m="http://schemas.openxmlformats.org/officeDocument/2006/math">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0</m:t>
                    </m:r>
                    <m:r>
                      <a:rPr kumimoji="1" lang="en-US" altLang="zh-CN" sz="2400">
                        <a:solidFill>
                          <a:schemeClr val="accent5">
                            <a:lumMod val="75000"/>
                          </a:schemeClr>
                        </a:solidFill>
                        <a:latin typeface="Cambria Math" panose="02040503050406030204" pitchFamily="18" charset="0"/>
                        <a:ea typeface="微软雅黑" panose="020B0503020204020204" pitchFamily="34" charset="-122"/>
                      </a:rPr>
                      <m:t>.7 </m:t>
                    </m:r>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V</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I</m:t>
                        </m:r>
                      </m:sub>
                    </m:s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=10 </m:t>
                    </m:r>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V</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14:m>
                  <m:oMath xmlns:m="http://schemas.openxmlformats.org/officeDocument/2006/math">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𝑅</m:t>
                    </m:r>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𝑅</m:t>
                        </m:r>
                      </m:e>
                      <m:sub>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L</m:t>
                        </m:r>
                      </m:sub>
                    </m:s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=1 </m:t>
                    </m:r>
                    <m:r>
                      <m:rPr>
                        <m:sty m:val="p"/>
                      </m:r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kΩ</m:t>
                    </m:r>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a:lnSpc>
                    <a:spcPct val="120000"/>
                  </a:lnSpc>
                  <a:spcAft>
                    <a:spcPts val="600"/>
                  </a:spcAft>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2</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）分析在接入负载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𝑅</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L</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后，输出电压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O</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的影响</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146" name="文本框 145">
                <a:extLst>
                  <a:ext uri="{FF2B5EF4-FFF2-40B4-BE49-F238E27FC236}">
                    <a16:creationId xmlns:a16="http://schemas.microsoft.com/office/drawing/2014/main" id="{A77B19D6-D375-54D5-01DA-0FB257EA9149}"/>
                  </a:ext>
                </a:extLst>
              </p:cNvPr>
              <p:cNvSpPr txBox="1">
                <a:spLocks noRot="1" noChangeAspect="1" noMove="1" noResize="1" noEditPoints="1" noAdjustHandles="1" noChangeArrowheads="1" noChangeShapeType="1" noTextEdit="1"/>
              </p:cNvSpPr>
              <p:nvPr/>
            </p:nvSpPr>
            <p:spPr>
              <a:xfrm>
                <a:off x="360000" y="1980000"/>
                <a:ext cx="11518393" cy="1018099"/>
              </a:xfrm>
              <a:prstGeom prst="rect">
                <a:avLst/>
              </a:prstGeom>
              <a:blipFill>
                <a:blip r:embed="rId3"/>
                <a:stretch>
                  <a:fillRect l="-794" t="-1198" b="-1317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9" name="文本框 128">
                <a:extLst>
                  <a:ext uri="{FF2B5EF4-FFF2-40B4-BE49-F238E27FC236}">
                    <a16:creationId xmlns:a16="http://schemas.microsoft.com/office/drawing/2014/main" id="{8E5AC66D-BA33-3E6A-B716-4C335479F892}"/>
                  </a:ext>
                </a:extLst>
              </p:cNvPr>
              <p:cNvSpPr txBox="1"/>
              <p:nvPr/>
            </p:nvSpPr>
            <p:spPr>
              <a:xfrm>
                <a:off x="5760000" y="3168000"/>
                <a:ext cx="5034553" cy="1800493"/>
              </a:xfrm>
              <a:prstGeom prst="rect">
                <a:avLst/>
              </a:prstGeom>
              <a:noFill/>
            </p:spPr>
            <p:txBody>
              <a:bodyPr wrap="square">
                <a:spAutoFit/>
              </a:bodyPr>
              <a:lstStyle/>
              <a:p>
                <a:pPr>
                  <a:spcAft>
                    <a:spcPts val="600"/>
                  </a:spcAft>
                </a:pPr>
                <a14:m>
                  <m:oMath xmlns:m="http://schemas.openxmlformats.org/officeDocument/2006/math">
                    <m:sSub>
                      <m:sSubPr>
                        <m:ctrlP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𝑅</m:t>
                        </m:r>
                      </m:e>
                      <m:sub>
                        <m:r>
                          <m:rPr>
                            <m:sty m:val="p"/>
                          </m:rPr>
                          <a:rPr kumimoji="1" lang="en-US" altLang="zh-CN" sz="2400" i="0">
                            <a:solidFill>
                              <a:schemeClr val="accent5">
                                <a:lumMod val="75000"/>
                              </a:schemeClr>
                            </a:solidFill>
                            <a:latin typeface="Cambria Math" panose="02040503050406030204" pitchFamily="18" charset="0"/>
                            <a:ea typeface="微软雅黑" panose="020B0503020204020204" pitchFamily="34" charset="-122"/>
                          </a:rPr>
                          <m:t>O</m:t>
                        </m:r>
                      </m:sub>
                    </m:sSub>
                    <m: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m:t>
                    </m:r>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𝑅</m:t>
                    </m:r>
                    <m:r>
                      <a:rPr kumimoji="1" lang="en-US" altLang="zh-CN" sz="2400" b="0" i="0" smtClean="0">
                        <a:solidFill>
                          <a:schemeClr val="accent5">
                            <a:lumMod val="75000"/>
                          </a:schemeClr>
                        </a:solidFill>
                        <a:latin typeface="Cambria Math" panose="02040503050406030204" pitchFamily="18" charset="0"/>
                        <a:ea typeface="Cambria Math" panose="02040503050406030204" pitchFamily="18" charset="0"/>
                      </a:rPr>
                      <m:t>∕∕</m:t>
                    </m:r>
                    <m:d>
                      <m:d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dPr>
                      <m:e>
                        <m:r>
                          <a:rPr kumimoji="1" lang="en-US" altLang="zh-CN" sz="2400" i="0">
                            <a:solidFill>
                              <a:schemeClr val="accent5">
                                <a:lumMod val="75000"/>
                              </a:schemeClr>
                            </a:solidFill>
                            <a:latin typeface="Cambria Math" panose="02040503050406030204" pitchFamily="18" charset="0"/>
                            <a:ea typeface="微软雅黑" panose="020B0503020204020204" pitchFamily="34" charset="-122"/>
                          </a:rPr>
                          <m:t>2</m:t>
                        </m:r>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𝑟</m:t>
                            </m:r>
                          </m:e>
                          <m:sub>
                            <m:r>
                              <m:rPr>
                                <m:sty m:val="p"/>
                              </m:rPr>
                              <a:rPr kumimoji="1" lang="en-US" altLang="zh-CN" sz="2400" i="0">
                                <a:solidFill>
                                  <a:schemeClr val="accent5">
                                    <a:lumMod val="75000"/>
                                  </a:schemeClr>
                                </a:solidFill>
                                <a:latin typeface="Cambria Math" panose="02040503050406030204" pitchFamily="18" charset="0"/>
                                <a:ea typeface="微软雅黑" panose="020B0503020204020204" pitchFamily="34" charset="-122"/>
                              </a:rPr>
                              <m:t>d</m:t>
                            </m:r>
                          </m:sub>
                        </m:sSub>
                      </m:e>
                    </m:d>
                    <m:r>
                      <a:rPr kumimoji="1" lang="en-US" altLang="zh-CN" sz="2400" i="0">
                        <a:solidFill>
                          <a:schemeClr val="accent5">
                            <a:lumMod val="75000"/>
                          </a:schemeClr>
                        </a:solidFill>
                        <a:latin typeface="Cambria Math" panose="02040503050406030204" pitchFamily="18" charset="0"/>
                        <a:ea typeface="Cambria Math" panose="02040503050406030204" pitchFamily="18" charset="0"/>
                      </a:rPr>
                      <m:t>≈</m:t>
                    </m:r>
                    <m:r>
                      <a:rPr kumimoji="1" lang="en-US" altLang="zh-CN" sz="2400" b="0" i="0" smtClean="0">
                        <a:solidFill>
                          <a:schemeClr val="accent5">
                            <a:lumMod val="75000"/>
                          </a:schemeClr>
                        </a:solidFill>
                        <a:latin typeface="Cambria Math" panose="02040503050406030204" pitchFamily="18" charset="0"/>
                        <a:ea typeface="Cambria Math" panose="02040503050406030204" pitchFamily="18" charset="0"/>
                      </a:rPr>
                      <m:t>5.96 </m:t>
                    </m:r>
                    <m:r>
                      <m:rPr>
                        <m:sty m:val="p"/>
                      </m:rPr>
                      <a:rPr kumimoji="1" lang="el-GR" altLang="zh-CN" sz="2400" i="0">
                        <a:solidFill>
                          <a:schemeClr val="accent5">
                            <a:lumMod val="75000"/>
                          </a:schemeClr>
                        </a:solidFill>
                        <a:latin typeface="Cambria Math" panose="02040503050406030204" pitchFamily="18" charset="0"/>
                        <a:ea typeface="Cambria Math" panose="02040503050406030204" pitchFamily="18" charset="0"/>
                      </a:rPr>
                      <m:t>Ω</m:t>
                    </m:r>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p>
              <a:p>
                <a:pPr>
                  <a:spcAft>
                    <a:spcPts val="600"/>
                  </a:spcAft>
                </a:pP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i="0">
                            <a:solidFill>
                              <a:schemeClr val="accent5">
                                <a:lumMod val="75000"/>
                              </a:schemeClr>
                            </a:solidFill>
                            <a:latin typeface="Cambria Math" panose="02040503050406030204" pitchFamily="18" charset="0"/>
                            <a:ea typeface="微软雅黑" panose="020B0503020204020204" pitchFamily="34" charset="-122"/>
                          </a:rPr>
                          <m:t>O</m:t>
                        </m:r>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P</m:t>
                        </m:r>
                      </m:sub>
                    </m:sSub>
                    <m: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=2</m:t>
                    </m:r>
                    <m:r>
                      <a:rPr kumimoji="1" lang="en-US" altLang="zh-CN" sz="2400" b="0" i="0" smtClean="0">
                        <a:solidFill>
                          <a:schemeClr val="accent5">
                            <a:lumMod val="75000"/>
                          </a:schemeClr>
                        </a:solidFill>
                        <a:latin typeface="Cambria Math" panose="02040503050406030204" pitchFamily="18" charset="0"/>
                        <a:ea typeface="Cambria Math" panose="02040503050406030204" pitchFamily="18" charset="0"/>
                      </a:rPr>
                      <m:t>×0.7 </m:t>
                    </m:r>
                    <m:r>
                      <m:rPr>
                        <m:sty m:val="p"/>
                      </m:rPr>
                      <a:rPr kumimoji="1" lang="en-US" altLang="zh-CN" sz="2400" b="0" i="0" smtClean="0">
                        <a:solidFill>
                          <a:schemeClr val="accent5">
                            <a:lumMod val="75000"/>
                          </a:schemeClr>
                        </a:solidFill>
                        <a:latin typeface="Cambria Math" panose="02040503050406030204" pitchFamily="18" charset="0"/>
                        <a:ea typeface="Cambria Math" panose="02040503050406030204" pitchFamily="18" charset="0"/>
                      </a:rPr>
                      <m:t>V</m:t>
                    </m:r>
                    <m:r>
                      <a:rPr kumimoji="1" lang="en-US" altLang="zh-CN" sz="2400" b="0" i="0" smtClean="0">
                        <a:solidFill>
                          <a:schemeClr val="accent5">
                            <a:lumMod val="75000"/>
                          </a:schemeClr>
                        </a:solidFill>
                        <a:latin typeface="Cambria Math" panose="02040503050406030204" pitchFamily="18" charset="0"/>
                        <a:ea typeface="Cambria Math" panose="02040503050406030204" pitchFamily="18" charset="0"/>
                      </a:rPr>
                      <m:t>=1.4 </m:t>
                    </m:r>
                    <m:r>
                      <m:rPr>
                        <m:sty m:val="p"/>
                      </m:rPr>
                      <a:rPr kumimoji="1" lang="en-US" altLang="zh-CN" sz="2400" b="0" i="0" smtClean="0">
                        <a:solidFill>
                          <a:schemeClr val="accent5">
                            <a:lumMod val="75000"/>
                          </a:schemeClr>
                        </a:solidFill>
                        <a:latin typeface="Cambria Math" panose="02040503050406030204" pitchFamily="18" charset="0"/>
                        <a:ea typeface="Cambria Math" panose="02040503050406030204" pitchFamily="18" charset="0"/>
                      </a:rPr>
                      <m:t>V</m:t>
                    </m:r>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p>
              <a:p>
                <a:pPr>
                  <a:spcAft>
                    <a:spcPts val="600"/>
                  </a:spcAft>
                </a:pPr>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接入负载后</a:t>
                </a:r>
                <a:endParaRPr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a:spcAft>
                    <a:spcPts val="600"/>
                  </a:spcAft>
                </a:pP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i="0">
                            <a:solidFill>
                              <a:schemeClr val="accent5">
                                <a:lumMod val="75000"/>
                              </a:schemeClr>
                            </a:solidFill>
                            <a:latin typeface="Cambria Math" panose="02040503050406030204" pitchFamily="18" charset="0"/>
                            <a:ea typeface="微软雅黑" panose="020B0503020204020204" pitchFamily="34" charset="-122"/>
                          </a:rPr>
                          <m:t>O</m:t>
                        </m:r>
                      </m:sub>
                    </m:sSub>
                    <m: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𝑉</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OP</m:t>
                        </m:r>
                      </m:sub>
                    </m:sSub>
                    <m:r>
                      <a:rPr kumimoji="1" lang="zh-CN" altLang="en-US" sz="2400" i="0" smtClean="0">
                        <a:solidFill>
                          <a:schemeClr val="accent5">
                            <a:lumMod val="75000"/>
                          </a:schemeClr>
                        </a:solidFill>
                        <a:latin typeface="Cambria Math" panose="02040503050406030204" pitchFamily="18" charset="0"/>
                        <a:ea typeface="微软雅黑" panose="020B0503020204020204" pitchFamily="34" charset="-122"/>
                      </a:rPr>
                      <m:t>∙</m:t>
                    </m:r>
                    <m:f>
                      <m:fPr>
                        <m:type m:val="lin"/>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fPr>
                      <m:num>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𝑅</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L</m:t>
                            </m:r>
                          </m:sub>
                        </m:sSub>
                      </m:num>
                      <m:den>
                        <m:d>
                          <m:dPr>
                            <m:ctrlP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ctrlPr>
                          </m:dPr>
                          <m:e>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𝑅</m:t>
                                </m:r>
                              </m:e>
                              <m:sub>
                                <m:r>
                                  <m:rPr>
                                    <m:sty m:val="p"/>
                                  </m:rP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O</m:t>
                                </m:r>
                              </m:sub>
                            </m:sSub>
                            <m:r>
                              <a:rPr kumimoji="1" lang="en-US" altLang="zh-CN" sz="2400" b="0" i="0" smtClean="0">
                                <a:solidFill>
                                  <a:schemeClr val="accent5">
                                    <a:lumMod val="75000"/>
                                  </a:schemeClr>
                                </a:solidFill>
                                <a:latin typeface="Cambria Math" panose="02040503050406030204" pitchFamily="18" charset="0"/>
                                <a:ea typeface="微软雅黑" panose="020B0503020204020204" pitchFamily="34" charset="-122"/>
                              </a:rPr>
                              <m:t>+</m:t>
                            </m:r>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𝑅</m:t>
                                </m:r>
                              </m:e>
                              <m:sub>
                                <m:r>
                                  <m:rPr>
                                    <m:sty m:val="p"/>
                                  </m:rPr>
                                  <a:rPr kumimoji="1" lang="en-US" altLang="zh-CN" sz="2400" i="0">
                                    <a:solidFill>
                                      <a:schemeClr val="accent5">
                                        <a:lumMod val="75000"/>
                                      </a:schemeClr>
                                    </a:solidFill>
                                    <a:latin typeface="Cambria Math" panose="02040503050406030204" pitchFamily="18" charset="0"/>
                                    <a:ea typeface="微软雅黑" panose="020B0503020204020204" pitchFamily="34" charset="-122"/>
                                  </a:rPr>
                                  <m:t>L</m:t>
                                </m:r>
                              </m:sub>
                            </m:sSub>
                          </m:e>
                        </m:d>
                      </m:den>
                    </m:f>
                    <m:r>
                      <a:rPr kumimoji="1" lang="en-US" altLang="zh-CN" sz="2400" i="0">
                        <a:solidFill>
                          <a:schemeClr val="accent5">
                            <a:lumMod val="75000"/>
                          </a:schemeClr>
                        </a:solidFill>
                        <a:latin typeface="Cambria Math" panose="02040503050406030204" pitchFamily="18" charset="0"/>
                        <a:ea typeface="Cambria Math" panose="02040503050406030204" pitchFamily="18" charset="0"/>
                      </a:rPr>
                      <m:t>≈</m:t>
                    </m:r>
                    <m:r>
                      <a:rPr kumimoji="1" lang="en-US" altLang="zh-CN" sz="2400" b="0" i="0" smtClean="0">
                        <a:solidFill>
                          <a:schemeClr val="accent5">
                            <a:lumMod val="75000"/>
                          </a:schemeClr>
                        </a:solidFill>
                        <a:latin typeface="Cambria Math" panose="02040503050406030204" pitchFamily="18" charset="0"/>
                        <a:ea typeface="Cambria Math" panose="02040503050406030204" pitchFamily="18" charset="0"/>
                      </a:rPr>
                      <m:t>1.</m:t>
                    </m:r>
                    <m:r>
                      <a:rPr kumimoji="1" lang="en-US" altLang="zh-CN" sz="2400" i="0">
                        <a:solidFill>
                          <a:schemeClr val="accent5">
                            <a:lumMod val="75000"/>
                          </a:schemeClr>
                        </a:solidFill>
                        <a:latin typeface="Cambria Math" panose="02040503050406030204" pitchFamily="18" charset="0"/>
                        <a:ea typeface="Cambria Math" panose="02040503050406030204" pitchFamily="18" charset="0"/>
                      </a:rPr>
                      <m:t>3</m:t>
                    </m:r>
                    <m:r>
                      <a:rPr kumimoji="1" lang="en-US" altLang="zh-CN" sz="2400" b="0" i="0" smtClean="0">
                        <a:solidFill>
                          <a:schemeClr val="accent5">
                            <a:lumMod val="75000"/>
                          </a:schemeClr>
                        </a:solidFill>
                        <a:latin typeface="Cambria Math" panose="02040503050406030204" pitchFamily="18" charset="0"/>
                        <a:ea typeface="Cambria Math" panose="02040503050406030204" pitchFamily="18" charset="0"/>
                      </a:rPr>
                      <m:t>9</m:t>
                    </m:r>
                    <m:r>
                      <a:rPr kumimoji="1" lang="en-US" altLang="zh-CN" sz="2400" i="0">
                        <a:solidFill>
                          <a:schemeClr val="accent5">
                            <a:lumMod val="75000"/>
                          </a:schemeClr>
                        </a:solidFill>
                        <a:latin typeface="Cambria Math" panose="02040503050406030204" pitchFamily="18" charset="0"/>
                        <a:ea typeface="Cambria Math" panose="02040503050406030204" pitchFamily="18" charset="0"/>
                      </a:rPr>
                      <m:t>2</m:t>
                    </m:r>
                    <m:r>
                      <a:rPr kumimoji="1" lang="en-US" altLang="zh-CN" sz="2400" b="0" i="0" smtClean="0">
                        <a:solidFill>
                          <a:schemeClr val="accent5">
                            <a:lumMod val="75000"/>
                          </a:schemeClr>
                        </a:solidFill>
                        <a:latin typeface="Cambria Math" panose="02040503050406030204" pitchFamily="18" charset="0"/>
                        <a:ea typeface="Cambria Math" panose="02040503050406030204" pitchFamily="18" charset="0"/>
                      </a:rPr>
                      <m:t> </m:t>
                    </m:r>
                    <m:r>
                      <m:rPr>
                        <m:sty m:val="p"/>
                      </m:rPr>
                      <a:rPr kumimoji="1" lang="en-US" altLang="zh-CN" sz="2400" i="0">
                        <a:solidFill>
                          <a:schemeClr val="accent5">
                            <a:lumMod val="75000"/>
                          </a:schemeClr>
                        </a:solidFill>
                        <a:latin typeface="Cambria Math" panose="02040503050406030204" pitchFamily="18" charset="0"/>
                        <a:ea typeface="微软雅黑" panose="020B0503020204020204" pitchFamily="34" charset="-122"/>
                      </a:rPr>
                      <m:t>V</m:t>
                    </m:r>
                  </m:oMath>
                </a14:m>
                <a:r>
                  <a:rPr lang="zh-CN" altLang="en-US" sz="2400" dirty="0">
                    <a:solidFill>
                      <a:schemeClr val="accent5">
                        <a:lumMod val="75000"/>
                      </a:schemeClr>
                    </a:solidFill>
                    <a:latin typeface="微软雅黑" panose="020B0503020204020204" pitchFamily="34" charset="-122"/>
                    <a:ea typeface="微软雅黑" panose="020B0503020204020204" pitchFamily="34" charset="-122"/>
                  </a:rPr>
                  <a:t> </a:t>
                </a:r>
              </a:p>
            </p:txBody>
          </p:sp>
        </mc:Choice>
        <mc:Fallback xmlns="">
          <p:sp>
            <p:nvSpPr>
              <p:cNvPr id="129" name="文本框 128">
                <a:extLst>
                  <a:ext uri="{FF2B5EF4-FFF2-40B4-BE49-F238E27FC236}">
                    <a16:creationId xmlns:a16="http://schemas.microsoft.com/office/drawing/2014/main" id="{8E5AC66D-BA33-3E6A-B716-4C335479F892}"/>
                  </a:ext>
                </a:extLst>
              </p:cNvPr>
              <p:cNvSpPr txBox="1">
                <a:spLocks noRot="1" noChangeAspect="1" noMove="1" noResize="1" noEditPoints="1" noAdjustHandles="1" noChangeArrowheads="1" noChangeShapeType="1" noTextEdit="1"/>
              </p:cNvSpPr>
              <p:nvPr/>
            </p:nvSpPr>
            <p:spPr>
              <a:xfrm>
                <a:off x="5760000" y="3168000"/>
                <a:ext cx="5034553" cy="1800493"/>
              </a:xfrm>
              <a:prstGeom prst="rect">
                <a:avLst/>
              </a:prstGeom>
              <a:blipFill>
                <a:blip r:embed="rId10"/>
                <a:stretch>
                  <a:fillRect l="-1937" b="-4915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0" name="文本框 169">
                <a:extLst>
                  <a:ext uri="{FF2B5EF4-FFF2-40B4-BE49-F238E27FC236}">
                    <a16:creationId xmlns:a16="http://schemas.microsoft.com/office/drawing/2014/main" id="{C61AA771-9652-7E45-3757-2C0EF50C163E}"/>
                  </a:ext>
                </a:extLst>
              </p:cNvPr>
              <p:cNvSpPr txBox="1"/>
              <p:nvPr/>
            </p:nvSpPr>
            <p:spPr>
              <a:xfrm>
                <a:off x="5760000" y="5292000"/>
                <a:ext cx="5711006" cy="1191801"/>
              </a:xfrm>
              <a:prstGeom prst="rect">
                <a:avLst/>
              </a:prstGeom>
              <a:noFill/>
            </p:spPr>
            <p:txBody>
              <a:bodyPr wrap="square">
                <a:spAutoFit/>
              </a:bodyPr>
              <a:lstStyle/>
              <a:p>
                <a14:m>
                  <m:oMath xmlns:m="http://schemas.openxmlformats.org/officeDocument/2006/math">
                    <m:sSub>
                      <m:sSubPr>
                        <m:ctrlPr>
                          <a:rPr kumimoji="1" lang="en-US" altLang="zh-CN" sz="2400" i="1">
                            <a:solidFill>
                              <a:srgbClr val="0000FF"/>
                            </a:solidFill>
                            <a:latin typeface="Cambria Math" panose="02040503050406030204" pitchFamily="18" charset="0"/>
                            <a:ea typeface="微软雅黑" panose="020B0503020204020204" pitchFamily="34" charset="-122"/>
                          </a:rPr>
                        </m:ctrlPr>
                      </m:sSubPr>
                      <m:e>
                        <m:r>
                          <a:rPr kumimoji="1" lang="en-US" altLang="zh-CN" sz="2400" i="1">
                            <a:solidFill>
                              <a:srgbClr val="0000FF"/>
                            </a:solidFill>
                            <a:latin typeface="Cambria Math" panose="02040503050406030204" pitchFamily="18" charset="0"/>
                            <a:ea typeface="微软雅黑" panose="020B0503020204020204" pitchFamily="34" charset="-122"/>
                          </a:rPr>
                          <m:t>𝑉</m:t>
                        </m:r>
                      </m:e>
                      <m:sub>
                        <m:r>
                          <m:rPr>
                            <m:sty m:val="p"/>
                          </m:rPr>
                          <a:rPr kumimoji="1" lang="en-US" altLang="zh-CN" sz="2400" i="0">
                            <a:solidFill>
                              <a:srgbClr val="0000FF"/>
                            </a:solidFill>
                            <a:latin typeface="Cambria Math" panose="02040503050406030204" pitchFamily="18" charset="0"/>
                            <a:ea typeface="微软雅黑" panose="020B0503020204020204" pitchFamily="34" charset="-122"/>
                          </a:rPr>
                          <m:t>O</m:t>
                        </m:r>
                      </m:sub>
                    </m:sSub>
                  </m:oMath>
                </a14:m>
                <a:r>
                  <a:rPr kumimoji="1" lang="zh-CN" altLang="en-US" sz="2400" dirty="0">
                    <a:solidFill>
                      <a:srgbClr val="0000FF"/>
                    </a:solidFill>
                    <a:latin typeface="Cambria Math" panose="02040503050406030204" pitchFamily="18" charset="0"/>
                    <a:ea typeface="微软雅黑" panose="020B0503020204020204" pitchFamily="34" charset="-122"/>
                  </a:rPr>
                  <a:t> 的变化量为：</a:t>
                </a:r>
                <a:endParaRPr kumimoji="1" lang="en-US" altLang="zh-CN" sz="2400" dirty="0">
                  <a:solidFill>
                    <a:srgbClr val="0000FF"/>
                  </a:solidFill>
                  <a:latin typeface="Cambria Math" panose="02040503050406030204" pitchFamily="18" charset="0"/>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r>
                        <m:rPr>
                          <m:sty m:val="p"/>
                        </m:rPr>
                        <a:rPr kumimoji="1" lang="el-GR" altLang="zh-CN" sz="2400" i="0">
                          <a:solidFill>
                            <a:srgbClr val="0000FF"/>
                          </a:solidFill>
                          <a:latin typeface="Cambria Math" panose="02040503050406030204" pitchFamily="18" charset="0"/>
                          <a:ea typeface="Cambria Math" panose="02040503050406030204" pitchFamily="18" charset="0"/>
                        </a:rPr>
                        <m:t>Δ</m:t>
                      </m:r>
                      <m:sSub>
                        <m:sSubPr>
                          <m:ctrlPr>
                            <a:rPr kumimoji="1" lang="en-US" altLang="zh-CN" sz="2400" i="1">
                              <a:solidFill>
                                <a:srgbClr val="0000FF"/>
                              </a:solidFill>
                              <a:latin typeface="Cambria Math" panose="02040503050406030204" pitchFamily="18" charset="0"/>
                              <a:ea typeface="微软雅黑" panose="020B0503020204020204" pitchFamily="34" charset="-122"/>
                            </a:rPr>
                          </m:ctrlPr>
                        </m:sSubPr>
                        <m:e>
                          <m:r>
                            <a:rPr kumimoji="1" lang="en-US" altLang="zh-CN" sz="2400" i="1">
                              <a:solidFill>
                                <a:srgbClr val="0000FF"/>
                              </a:solidFill>
                              <a:latin typeface="Cambria Math" panose="02040503050406030204" pitchFamily="18" charset="0"/>
                              <a:ea typeface="微软雅黑" panose="020B0503020204020204" pitchFamily="34" charset="-122"/>
                            </a:rPr>
                            <m:t>𝑉</m:t>
                          </m:r>
                        </m:e>
                        <m:sub>
                          <m:r>
                            <m:rPr>
                              <m:sty m:val="p"/>
                            </m:rPr>
                            <a:rPr kumimoji="1" lang="en-US" altLang="zh-CN" sz="2400" i="0">
                              <a:solidFill>
                                <a:srgbClr val="0000FF"/>
                              </a:solidFill>
                              <a:latin typeface="Cambria Math" panose="02040503050406030204" pitchFamily="18" charset="0"/>
                              <a:ea typeface="微软雅黑" panose="020B0503020204020204" pitchFamily="34" charset="-122"/>
                            </a:rPr>
                            <m:t>O</m:t>
                          </m:r>
                        </m:sub>
                      </m:sSub>
                      <m:r>
                        <a:rPr kumimoji="1" lang="en-US" altLang="zh-CN" sz="2400" i="0">
                          <a:solidFill>
                            <a:srgbClr val="0000FF"/>
                          </a:solidFill>
                          <a:latin typeface="Cambria Math" panose="02040503050406030204" pitchFamily="18" charset="0"/>
                          <a:ea typeface="微软雅黑" panose="020B0503020204020204" pitchFamily="34" charset="-122"/>
                        </a:rPr>
                        <m:t>=</m:t>
                      </m:r>
                      <m:sSub>
                        <m:sSubPr>
                          <m:ctrlPr>
                            <a:rPr kumimoji="1" lang="en-US" altLang="zh-CN" sz="2400" i="1">
                              <a:solidFill>
                                <a:srgbClr val="0000FF"/>
                              </a:solidFill>
                              <a:latin typeface="Cambria Math" panose="02040503050406030204" pitchFamily="18" charset="0"/>
                              <a:ea typeface="微软雅黑" panose="020B0503020204020204" pitchFamily="34" charset="-122"/>
                            </a:rPr>
                          </m:ctrlPr>
                        </m:sSubPr>
                        <m:e>
                          <m:r>
                            <a:rPr kumimoji="1" lang="en-US" altLang="zh-CN" sz="2400" i="1">
                              <a:solidFill>
                                <a:srgbClr val="0000FF"/>
                              </a:solidFill>
                              <a:latin typeface="Cambria Math" panose="02040503050406030204" pitchFamily="18" charset="0"/>
                              <a:ea typeface="微软雅黑" panose="020B0503020204020204" pitchFamily="34" charset="-122"/>
                            </a:rPr>
                            <m:t>𝑉</m:t>
                          </m:r>
                        </m:e>
                        <m:sub>
                          <m:r>
                            <m:rPr>
                              <m:sty m:val="p"/>
                            </m:rPr>
                            <a:rPr kumimoji="1" lang="en-US" altLang="zh-CN" sz="2400" i="0">
                              <a:solidFill>
                                <a:srgbClr val="0000FF"/>
                              </a:solidFill>
                              <a:latin typeface="Cambria Math" panose="02040503050406030204" pitchFamily="18" charset="0"/>
                              <a:ea typeface="微软雅黑" panose="020B0503020204020204" pitchFamily="34" charset="-122"/>
                            </a:rPr>
                            <m:t>OP</m:t>
                          </m:r>
                        </m:sub>
                      </m:sSub>
                      <m:r>
                        <a:rPr kumimoji="1" lang="en-US" altLang="zh-CN" sz="2400" i="0">
                          <a:solidFill>
                            <a:srgbClr val="0000FF"/>
                          </a:solidFill>
                          <a:latin typeface="Cambria Math" panose="02040503050406030204" pitchFamily="18" charset="0"/>
                          <a:ea typeface="微软雅黑" panose="020B0503020204020204" pitchFamily="34" charset="-122"/>
                        </a:rPr>
                        <m:t>−</m:t>
                      </m:r>
                      <m:sSub>
                        <m:sSubPr>
                          <m:ctrlPr>
                            <a:rPr kumimoji="1" lang="en-US" altLang="zh-CN" sz="2400" i="1">
                              <a:solidFill>
                                <a:srgbClr val="0000FF"/>
                              </a:solidFill>
                              <a:latin typeface="Cambria Math" panose="02040503050406030204" pitchFamily="18" charset="0"/>
                              <a:ea typeface="微软雅黑" panose="020B0503020204020204" pitchFamily="34" charset="-122"/>
                            </a:rPr>
                          </m:ctrlPr>
                        </m:sSubPr>
                        <m:e>
                          <m:r>
                            <a:rPr kumimoji="1" lang="en-US" altLang="zh-CN" sz="2400" i="1">
                              <a:solidFill>
                                <a:srgbClr val="0000FF"/>
                              </a:solidFill>
                              <a:latin typeface="Cambria Math" panose="02040503050406030204" pitchFamily="18" charset="0"/>
                              <a:ea typeface="微软雅黑" panose="020B0503020204020204" pitchFamily="34" charset="-122"/>
                            </a:rPr>
                            <m:t>𝑉</m:t>
                          </m:r>
                        </m:e>
                        <m:sub>
                          <m:r>
                            <m:rPr>
                              <m:sty m:val="p"/>
                            </m:rPr>
                            <a:rPr kumimoji="1" lang="en-US" altLang="zh-CN" sz="2400" i="0">
                              <a:solidFill>
                                <a:srgbClr val="0000FF"/>
                              </a:solidFill>
                              <a:latin typeface="Cambria Math" panose="02040503050406030204" pitchFamily="18" charset="0"/>
                              <a:ea typeface="微软雅黑" panose="020B0503020204020204" pitchFamily="34" charset="-122"/>
                            </a:rPr>
                            <m:t>O</m:t>
                          </m:r>
                        </m:sub>
                      </m:sSub>
                      <m:r>
                        <a:rPr kumimoji="1" lang="en-US" altLang="zh-CN" sz="2400" i="0">
                          <a:solidFill>
                            <a:srgbClr val="0000FF"/>
                          </a:solidFill>
                          <a:latin typeface="Cambria Math" panose="02040503050406030204" pitchFamily="18" charset="0"/>
                          <a:ea typeface="微软雅黑" panose="020B0503020204020204" pitchFamily="34" charset="-122"/>
                        </a:rPr>
                        <m:t>=1.4 </m:t>
                      </m:r>
                      <m:r>
                        <m:rPr>
                          <m:sty m:val="p"/>
                        </m:rPr>
                        <a:rPr kumimoji="1" lang="en-US" altLang="zh-CN" sz="2400" i="0">
                          <a:solidFill>
                            <a:srgbClr val="0000FF"/>
                          </a:solidFill>
                          <a:latin typeface="Cambria Math" panose="02040503050406030204" pitchFamily="18" charset="0"/>
                          <a:ea typeface="微软雅黑" panose="020B0503020204020204" pitchFamily="34" charset="-122"/>
                        </a:rPr>
                        <m:t>V</m:t>
                      </m:r>
                      <m:r>
                        <a:rPr kumimoji="1" lang="en-US" altLang="zh-CN" sz="2400" i="0">
                          <a:solidFill>
                            <a:srgbClr val="0000FF"/>
                          </a:solidFill>
                          <a:latin typeface="Cambria Math" panose="02040503050406030204" pitchFamily="18" charset="0"/>
                          <a:ea typeface="微软雅黑" panose="020B0503020204020204" pitchFamily="34" charset="-122"/>
                        </a:rPr>
                        <m:t>−1.392 </m:t>
                      </m:r>
                      <m:r>
                        <m:rPr>
                          <m:sty m:val="p"/>
                        </m:rPr>
                        <a:rPr kumimoji="1" lang="en-US" altLang="zh-CN" sz="2400" i="0">
                          <a:solidFill>
                            <a:srgbClr val="0000FF"/>
                          </a:solidFill>
                          <a:latin typeface="Cambria Math" panose="02040503050406030204" pitchFamily="18" charset="0"/>
                          <a:ea typeface="微软雅黑" panose="020B0503020204020204" pitchFamily="34" charset="-122"/>
                        </a:rPr>
                        <m:t>V</m:t>
                      </m:r>
                      <m:r>
                        <a:rPr kumimoji="1" lang="en-US" altLang="zh-CN" sz="2400" i="0">
                          <a:solidFill>
                            <a:srgbClr val="0000FF"/>
                          </a:solidFill>
                          <a:latin typeface="Cambria Math" panose="02040503050406030204" pitchFamily="18" charset="0"/>
                          <a:ea typeface="微软雅黑" panose="020B0503020204020204" pitchFamily="34" charset="-122"/>
                        </a:rPr>
                        <m:t>=0.008 </m:t>
                      </m:r>
                      <m:r>
                        <m:rPr>
                          <m:sty m:val="p"/>
                        </m:rPr>
                        <a:rPr kumimoji="1" lang="en-US" altLang="zh-CN" sz="2400" i="0">
                          <a:solidFill>
                            <a:srgbClr val="0000FF"/>
                          </a:solidFill>
                          <a:latin typeface="Cambria Math" panose="02040503050406030204" pitchFamily="18" charset="0"/>
                          <a:ea typeface="微软雅黑" panose="020B0503020204020204" pitchFamily="34" charset="-122"/>
                        </a:rPr>
                        <m:t>V</m:t>
                      </m:r>
                      <m:r>
                        <a:rPr kumimoji="1" lang="en-US" altLang="zh-CN" sz="2400" i="0">
                          <a:solidFill>
                            <a:srgbClr val="0000FF"/>
                          </a:solidFill>
                          <a:latin typeface="Cambria Math" panose="02040503050406030204" pitchFamily="18" charset="0"/>
                          <a:ea typeface="微软雅黑" panose="020B0503020204020204" pitchFamily="34" charset="-122"/>
                        </a:rPr>
                        <m:t>=8 </m:t>
                      </m:r>
                      <m:r>
                        <m:rPr>
                          <m:sty m:val="p"/>
                        </m:rPr>
                        <a:rPr kumimoji="1" lang="en-US" altLang="zh-CN" sz="2400" i="0">
                          <a:solidFill>
                            <a:srgbClr val="0000FF"/>
                          </a:solidFill>
                          <a:latin typeface="Cambria Math" panose="02040503050406030204" pitchFamily="18" charset="0"/>
                          <a:ea typeface="微软雅黑" panose="020B0503020204020204" pitchFamily="34" charset="-122"/>
                        </a:rPr>
                        <m:t>mV</m:t>
                      </m:r>
                    </m:oMath>
                  </m:oMathPara>
                </a14:m>
                <a:endParaRPr lang="zh-CN" altLang="en-US" sz="2400" dirty="0">
                  <a:solidFill>
                    <a:srgbClr val="0000FF"/>
                  </a:solidFill>
                </a:endParaRPr>
              </a:p>
            </p:txBody>
          </p:sp>
        </mc:Choice>
        <mc:Fallback xmlns="">
          <p:sp>
            <p:nvSpPr>
              <p:cNvPr id="170" name="文本框 169">
                <a:extLst>
                  <a:ext uri="{FF2B5EF4-FFF2-40B4-BE49-F238E27FC236}">
                    <a16:creationId xmlns:a16="http://schemas.microsoft.com/office/drawing/2014/main" id="{C61AA771-9652-7E45-3757-2C0EF50C163E}"/>
                  </a:ext>
                </a:extLst>
              </p:cNvPr>
              <p:cNvSpPr txBox="1">
                <a:spLocks noRot="1" noChangeAspect="1" noMove="1" noResize="1" noEditPoints="1" noAdjustHandles="1" noChangeArrowheads="1" noChangeShapeType="1" noTextEdit="1"/>
              </p:cNvSpPr>
              <p:nvPr/>
            </p:nvSpPr>
            <p:spPr>
              <a:xfrm>
                <a:off x="5760000" y="5292000"/>
                <a:ext cx="5711006" cy="1191801"/>
              </a:xfrm>
              <a:prstGeom prst="rect">
                <a:avLst/>
              </a:prstGeom>
              <a:blipFill>
                <a:blip r:embed="rId15"/>
                <a:stretch>
                  <a:fillRect l="-320" t="-4082"/>
                </a:stretch>
              </a:blipFill>
            </p:spPr>
            <p:txBody>
              <a:bodyPr/>
              <a:lstStyle/>
              <a:p>
                <a:r>
                  <a:rPr lang="zh-CN" altLang="en-US">
                    <a:noFill/>
                  </a:rPr>
                  <a:t> </a:t>
                </a:r>
              </a:p>
            </p:txBody>
          </p:sp>
        </mc:Fallback>
      </mc:AlternateContent>
      <p:sp>
        <p:nvSpPr>
          <p:cNvPr id="9" name="标题 1">
            <a:extLst>
              <a:ext uri="{FF2B5EF4-FFF2-40B4-BE49-F238E27FC236}">
                <a16:creationId xmlns:a16="http://schemas.microsoft.com/office/drawing/2014/main" id="{3BCFA162-E091-868B-102B-D004714A9EDB}"/>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二极管及其应用</a:t>
            </a:r>
            <a:endParaRPr lang="en-US" altLang="zh-CN" sz="3000" dirty="0"/>
          </a:p>
        </p:txBody>
      </p:sp>
      <p:grpSp>
        <p:nvGrpSpPr>
          <p:cNvPr id="25" name="组合 24">
            <a:extLst>
              <a:ext uri="{FF2B5EF4-FFF2-40B4-BE49-F238E27FC236}">
                <a16:creationId xmlns:a16="http://schemas.microsoft.com/office/drawing/2014/main" id="{E7DD8035-0DE5-C38F-2CCC-E3EAA9F7EC13}"/>
              </a:ext>
            </a:extLst>
          </p:cNvPr>
          <p:cNvGrpSpPr/>
          <p:nvPr/>
        </p:nvGrpSpPr>
        <p:grpSpPr>
          <a:xfrm>
            <a:off x="3312000" y="3600000"/>
            <a:ext cx="1997610" cy="1800000"/>
            <a:chOff x="3366000" y="3600000"/>
            <a:chExt cx="1997610" cy="1800000"/>
          </a:xfrm>
        </p:grpSpPr>
        <p:cxnSp>
          <p:nvCxnSpPr>
            <p:cNvPr id="131" name="直接连接符 130">
              <a:extLst>
                <a:ext uri="{FF2B5EF4-FFF2-40B4-BE49-F238E27FC236}">
                  <a16:creationId xmlns:a16="http://schemas.microsoft.com/office/drawing/2014/main" id="{253CA350-62DE-DD33-5C20-A7B01268D946}"/>
                </a:ext>
              </a:extLst>
            </p:cNvPr>
            <p:cNvCxnSpPr>
              <a:cxnSpLocks/>
            </p:cNvCxnSpPr>
            <p:nvPr/>
          </p:nvCxnSpPr>
          <p:spPr>
            <a:xfrm>
              <a:off x="3600000" y="3600000"/>
              <a:ext cx="0" cy="1224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直接连接符 133">
              <a:extLst>
                <a:ext uri="{FF2B5EF4-FFF2-40B4-BE49-F238E27FC236}">
                  <a16:creationId xmlns:a16="http://schemas.microsoft.com/office/drawing/2014/main" id="{BE3D87ED-CB89-2169-0092-42448246B26C}"/>
                </a:ext>
              </a:extLst>
            </p:cNvPr>
            <p:cNvCxnSpPr>
              <a:cxnSpLocks/>
            </p:cNvCxnSpPr>
            <p:nvPr/>
          </p:nvCxnSpPr>
          <p:spPr>
            <a:xfrm>
              <a:off x="3600000" y="4932000"/>
              <a:ext cx="0" cy="468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8B4370C5-2033-F7C4-0D32-6B65F13E4AB7}"/>
                </a:ext>
              </a:extLst>
            </p:cNvPr>
            <p:cNvCxnSpPr>
              <a:cxnSpLocks/>
            </p:cNvCxnSpPr>
            <p:nvPr/>
          </p:nvCxnSpPr>
          <p:spPr>
            <a:xfrm flipH="1">
              <a:off x="3366000" y="4824000"/>
              <a:ext cx="46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直接连接符 136">
              <a:extLst>
                <a:ext uri="{FF2B5EF4-FFF2-40B4-BE49-F238E27FC236}">
                  <a16:creationId xmlns:a16="http://schemas.microsoft.com/office/drawing/2014/main" id="{CCD41121-2076-029F-1640-FCE9783AB2C2}"/>
                </a:ext>
              </a:extLst>
            </p:cNvPr>
            <p:cNvCxnSpPr>
              <a:cxnSpLocks/>
            </p:cNvCxnSpPr>
            <p:nvPr/>
          </p:nvCxnSpPr>
          <p:spPr>
            <a:xfrm flipH="1">
              <a:off x="3474000" y="4950000"/>
              <a:ext cx="252000" cy="0"/>
            </a:xfrm>
            <a:prstGeom prst="line">
              <a:avLst/>
            </a:prstGeom>
            <a:ln w="635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直接连接符 148">
              <a:extLst>
                <a:ext uri="{FF2B5EF4-FFF2-40B4-BE49-F238E27FC236}">
                  <a16:creationId xmlns:a16="http://schemas.microsoft.com/office/drawing/2014/main" id="{89E9C85F-AFA7-F5B1-6BC5-64F58E92437E}"/>
                </a:ext>
              </a:extLst>
            </p:cNvPr>
            <p:cNvCxnSpPr>
              <a:cxnSpLocks/>
            </p:cNvCxnSpPr>
            <p:nvPr/>
          </p:nvCxnSpPr>
          <p:spPr>
            <a:xfrm flipH="1">
              <a:off x="3600000" y="3600000"/>
              <a:ext cx="122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直接连接符 152">
              <a:extLst>
                <a:ext uri="{FF2B5EF4-FFF2-40B4-BE49-F238E27FC236}">
                  <a16:creationId xmlns:a16="http://schemas.microsoft.com/office/drawing/2014/main" id="{7957E481-91CF-8FD9-362B-FC55C72EA3E4}"/>
                </a:ext>
              </a:extLst>
            </p:cNvPr>
            <p:cNvCxnSpPr>
              <a:cxnSpLocks/>
            </p:cNvCxnSpPr>
            <p:nvPr/>
          </p:nvCxnSpPr>
          <p:spPr>
            <a:xfrm>
              <a:off x="4824000" y="3600000"/>
              <a:ext cx="0" cy="180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直接连接符 155">
              <a:extLst>
                <a:ext uri="{FF2B5EF4-FFF2-40B4-BE49-F238E27FC236}">
                  <a16:creationId xmlns:a16="http://schemas.microsoft.com/office/drawing/2014/main" id="{C770F9ED-7A74-4ACA-491C-736FD2523E14}"/>
                </a:ext>
              </a:extLst>
            </p:cNvPr>
            <p:cNvCxnSpPr>
              <a:cxnSpLocks/>
            </p:cNvCxnSpPr>
            <p:nvPr/>
          </p:nvCxnSpPr>
          <p:spPr>
            <a:xfrm flipH="1">
              <a:off x="3599999" y="5400000"/>
              <a:ext cx="122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9" name="Rectangle 8">
                  <a:extLst>
                    <a:ext uri="{FF2B5EF4-FFF2-40B4-BE49-F238E27FC236}">
                      <a16:creationId xmlns:a16="http://schemas.microsoft.com/office/drawing/2014/main" id="{660A06B1-7451-C152-3154-05DD73AA1C24}"/>
                    </a:ext>
                  </a:extLst>
                </p:cNvPr>
                <p:cNvSpPr>
                  <a:spLocks noChangeArrowheads="1"/>
                </p:cNvSpPr>
                <p:nvPr/>
              </p:nvSpPr>
              <p:spPr bwMode="auto">
                <a:xfrm>
                  <a:off x="3816000" y="4716000"/>
                  <a:ext cx="575610" cy="40011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𝑉</m:t>
                            </m:r>
                          </m:e>
                          <m:sub>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OP</m:t>
                            </m:r>
                          </m:sub>
                        </m:sSub>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59" name="Rectangle 8">
                  <a:extLst>
                    <a:ext uri="{FF2B5EF4-FFF2-40B4-BE49-F238E27FC236}">
                      <a16:creationId xmlns:a16="http://schemas.microsoft.com/office/drawing/2014/main" id="{660A06B1-7451-C152-3154-05DD73AA1C24}"/>
                    </a:ext>
                  </a:extLst>
                </p:cNvPr>
                <p:cNvSpPr>
                  <a:spLocks noRot="1" noChangeAspect="1" noMove="1" noResize="1" noEditPoints="1" noAdjustHandles="1" noChangeArrowheads="1" noChangeShapeType="1" noTextEdit="1"/>
                </p:cNvSpPr>
                <p:nvPr/>
              </p:nvSpPr>
              <p:spPr bwMode="auto">
                <a:xfrm>
                  <a:off x="3816000" y="4716000"/>
                  <a:ext cx="575610" cy="400110"/>
                </a:xfrm>
                <a:prstGeom prst="rect">
                  <a:avLst/>
                </a:prstGeom>
                <a:blipFill>
                  <a:blip r:embed="rId23"/>
                  <a:stretch>
                    <a:fillRect l="-6383" b="-307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0" name="Rectangle 8">
                  <a:extLst>
                    <a:ext uri="{FF2B5EF4-FFF2-40B4-BE49-F238E27FC236}">
                      <a16:creationId xmlns:a16="http://schemas.microsoft.com/office/drawing/2014/main" id="{D8A07BFF-B07B-73FD-D17C-300616AAD63E}"/>
                    </a:ext>
                  </a:extLst>
                </p:cNvPr>
                <p:cNvSpPr>
                  <a:spLocks noChangeArrowheads="1"/>
                </p:cNvSpPr>
                <p:nvPr/>
              </p:nvSpPr>
              <p:spPr bwMode="auto">
                <a:xfrm>
                  <a:off x="3672000" y="4032000"/>
                  <a:ext cx="468000" cy="360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𝑅</m:t>
                            </m:r>
                          </m:e>
                          <m:sub>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O</m:t>
                            </m:r>
                          </m:sub>
                        </m:sSub>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60" name="Rectangle 8">
                  <a:extLst>
                    <a:ext uri="{FF2B5EF4-FFF2-40B4-BE49-F238E27FC236}">
                      <a16:creationId xmlns:a16="http://schemas.microsoft.com/office/drawing/2014/main" id="{D8A07BFF-B07B-73FD-D17C-300616AAD63E}"/>
                    </a:ext>
                  </a:extLst>
                </p:cNvPr>
                <p:cNvSpPr>
                  <a:spLocks noRot="1" noChangeAspect="1" noMove="1" noResize="1" noEditPoints="1" noAdjustHandles="1" noChangeArrowheads="1" noChangeShapeType="1" noTextEdit="1"/>
                </p:cNvSpPr>
                <p:nvPr/>
              </p:nvSpPr>
              <p:spPr bwMode="auto">
                <a:xfrm>
                  <a:off x="3672000" y="4032000"/>
                  <a:ext cx="468000" cy="360000"/>
                </a:xfrm>
                <a:prstGeom prst="rect">
                  <a:avLst/>
                </a:prstGeom>
                <a:blipFill>
                  <a:blip r:embed="rId24"/>
                  <a:stretch>
                    <a:fillRect l="-10526" b="-13559"/>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1" name="Rectangle 8">
                  <a:extLst>
                    <a:ext uri="{FF2B5EF4-FFF2-40B4-BE49-F238E27FC236}">
                      <a16:creationId xmlns:a16="http://schemas.microsoft.com/office/drawing/2014/main" id="{B6392264-2FF1-B8A6-A02F-E5490AF14608}"/>
                    </a:ext>
                  </a:extLst>
                </p:cNvPr>
                <p:cNvSpPr>
                  <a:spLocks noChangeArrowheads="1"/>
                </p:cNvSpPr>
                <p:nvPr/>
              </p:nvSpPr>
              <p:spPr bwMode="auto">
                <a:xfrm>
                  <a:off x="4392000" y="4284000"/>
                  <a:ext cx="432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𝑅</m:t>
                            </m:r>
                          </m:e>
                          <m:sub>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L</m:t>
                            </m:r>
                          </m:sub>
                        </m:sSub>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61" name="Rectangle 8">
                  <a:extLst>
                    <a:ext uri="{FF2B5EF4-FFF2-40B4-BE49-F238E27FC236}">
                      <a16:creationId xmlns:a16="http://schemas.microsoft.com/office/drawing/2014/main" id="{B6392264-2FF1-B8A6-A02F-E5490AF14608}"/>
                    </a:ext>
                  </a:extLst>
                </p:cNvPr>
                <p:cNvSpPr>
                  <a:spLocks noRot="1" noChangeAspect="1" noMove="1" noResize="1" noEditPoints="1" noAdjustHandles="1" noChangeArrowheads="1" noChangeShapeType="1" noTextEdit="1"/>
                </p:cNvSpPr>
                <p:nvPr/>
              </p:nvSpPr>
              <p:spPr bwMode="auto">
                <a:xfrm>
                  <a:off x="4392000" y="4284000"/>
                  <a:ext cx="432000" cy="396000"/>
                </a:xfrm>
                <a:prstGeom prst="rect">
                  <a:avLst/>
                </a:prstGeom>
                <a:blipFill>
                  <a:blip r:embed="rId25"/>
                  <a:stretch>
                    <a:fillRect l="-11429" b="-307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2" name="Rectangle 8">
                  <a:extLst>
                    <a:ext uri="{FF2B5EF4-FFF2-40B4-BE49-F238E27FC236}">
                      <a16:creationId xmlns:a16="http://schemas.microsoft.com/office/drawing/2014/main" id="{C85F6FE2-2AF8-B10D-19E8-64039D314E4D}"/>
                    </a:ext>
                  </a:extLst>
                </p:cNvPr>
                <p:cNvSpPr>
                  <a:spLocks noChangeArrowheads="1"/>
                </p:cNvSpPr>
                <p:nvPr/>
              </p:nvSpPr>
              <p:spPr bwMode="auto">
                <a:xfrm>
                  <a:off x="4788000" y="3924000"/>
                  <a:ext cx="575610" cy="1188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600"/>
                    </a:spcAft>
                    <a:buNone/>
                  </a:pPr>
                  <a14:m>
                    <m:oMathPara xmlns:m="http://schemas.openxmlformats.org/officeDocument/2006/math">
                      <m:oMathParaPr>
                        <m:jc m:val="center"/>
                      </m:oMathParaPr>
                      <m:oMath xmlns:m="http://schemas.openxmlformats.org/officeDocument/2006/math">
                        <m:r>
                          <a:rPr kumimoji="1" lang="en-US" altLang="zh-CN" sz="2000" b="0" i="0" smtClean="0">
                            <a:latin typeface="Cambria Math" panose="02040503050406030204" pitchFamily="18" charset="0"/>
                            <a:ea typeface="微软雅黑" panose="020B0503020204020204" pitchFamily="34" charset="-122"/>
                          </a:rPr>
                          <m:t>+</m:t>
                        </m:r>
                      </m:oMath>
                    </m:oMathPara>
                  </a14:m>
                  <a:endParaRPr kumimoji="1" lang="en-US" altLang="zh-CN" sz="2000" b="0" dirty="0">
                    <a:solidFill>
                      <a:schemeClr val="tx1"/>
                    </a:solidFill>
                    <a:latin typeface="Cambria Math" panose="02040503050406030204" pitchFamily="18" charset="0"/>
                    <a:ea typeface="微软雅黑" panose="020B0503020204020204" pitchFamily="34" charset="-122"/>
                  </a:endParaRPr>
                </a:p>
                <a:p>
                  <a:pPr algn="ctr">
                    <a:spcAft>
                      <a:spcPts val="600"/>
                    </a:spcAft>
                    <a:buNone/>
                  </a:pPr>
                  <a14:m>
                    <m:oMathPara xmlns:m="http://schemas.openxmlformats.org/officeDocument/2006/math">
                      <m:oMathParaPr>
                        <m:jc m:val="right"/>
                      </m:oMathParaPr>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𝑉</m:t>
                            </m:r>
                          </m:e>
                          <m:sub>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O</m:t>
                            </m:r>
                          </m:sub>
                        </m:sSub>
                      </m:oMath>
                    </m:oMathPara>
                  </a14:m>
                  <a:endParaRPr kumimoji="1" lang="en-US" altLang="zh-CN" sz="2000" b="0" dirty="0">
                    <a:latin typeface="微软雅黑" panose="020B0503020204020204" pitchFamily="34" charset="-122"/>
                    <a:ea typeface="微软雅黑" panose="020B0503020204020204" pitchFamily="34" charset="-122"/>
                  </a:endParaRPr>
                </a:p>
                <a:p>
                  <a:pPr algn="ctr">
                    <a:spcAft>
                      <a:spcPts val="0"/>
                    </a:spcAft>
                    <a:buNone/>
                  </a:pPr>
                  <a14:m>
                    <m:oMathPara xmlns:m="http://schemas.openxmlformats.org/officeDocument/2006/math">
                      <m:oMathParaPr>
                        <m:jc m:val="center"/>
                      </m:oMathParaPr>
                      <m:oMath xmlns:m="http://schemas.openxmlformats.org/officeDocument/2006/math">
                        <m:r>
                          <a:rPr kumimoji="1" lang="en-US" altLang="zh-CN" sz="2000" b="0" i="0" smtClean="0">
                            <a:latin typeface="Cambria Math" panose="02040503050406030204" pitchFamily="18" charset="0"/>
                            <a:ea typeface="微软雅黑" panose="020B0503020204020204" pitchFamily="34" charset="-122"/>
                          </a:rPr>
                          <m:t>−</m:t>
                        </m:r>
                      </m:oMath>
                    </m:oMathPara>
                  </a14:m>
                  <a:endParaRPr kumimoji="1" lang="en-US" altLang="zh-CN" sz="2000" b="0" dirty="0">
                    <a:latin typeface="Cambria Math" panose="02040503050406030204" pitchFamily="18" charset="0"/>
                    <a:ea typeface="微软雅黑" panose="020B0503020204020204" pitchFamily="34" charset="-122"/>
                  </a:endParaRPr>
                </a:p>
              </p:txBody>
            </p:sp>
          </mc:Choice>
          <mc:Fallback xmlns="">
            <p:sp>
              <p:nvSpPr>
                <p:cNvPr id="162" name="Rectangle 8">
                  <a:extLst>
                    <a:ext uri="{FF2B5EF4-FFF2-40B4-BE49-F238E27FC236}">
                      <a16:creationId xmlns:a16="http://schemas.microsoft.com/office/drawing/2014/main" id="{C85F6FE2-2AF8-B10D-19E8-64039D314E4D}"/>
                    </a:ext>
                  </a:extLst>
                </p:cNvPr>
                <p:cNvSpPr>
                  <a:spLocks noRot="1" noChangeAspect="1" noMove="1" noResize="1" noEditPoints="1" noAdjustHandles="1" noChangeArrowheads="1" noChangeShapeType="1" noTextEdit="1"/>
                </p:cNvSpPr>
                <p:nvPr/>
              </p:nvSpPr>
              <p:spPr bwMode="auto">
                <a:xfrm>
                  <a:off x="4788000" y="3924000"/>
                  <a:ext cx="575610" cy="1188000"/>
                </a:xfrm>
                <a:prstGeom prst="rect">
                  <a:avLst/>
                </a:prstGeom>
                <a:blipFill>
                  <a:blip r:embed="rId26"/>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0" name="矩形 19">
              <a:extLst>
                <a:ext uri="{FF2B5EF4-FFF2-40B4-BE49-F238E27FC236}">
                  <a16:creationId xmlns:a16="http://schemas.microsoft.com/office/drawing/2014/main" id="{B52E8F01-791E-4941-9284-DDA5D2E25595}"/>
                </a:ext>
              </a:extLst>
            </p:cNvPr>
            <p:cNvSpPr/>
            <p:nvPr/>
          </p:nvSpPr>
          <p:spPr>
            <a:xfrm>
              <a:off x="3528000" y="3960000"/>
              <a:ext cx="144000" cy="504000"/>
            </a:xfrm>
            <a:prstGeom prst="rect">
              <a:avLst/>
            </a:prstGeom>
            <a:solidFill>
              <a:schemeClr val="bg1">
                <a:alpha val="99000"/>
              </a:schemeClr>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id="{8F8E3F30-CFEF-59B9-1748-570E0F3D446E}"/>
                </a:ext>
              </a:extLst>
            </p:cNvPr>
            <p:cNvSpPr/>
            <p:nvPr/>
          </p:nvSpPr>
          <p:spPr>
            <a:xfrm>
              <a:off x="4752000" y="4248000"/>
              <a:ext cx="144000" cy="504000"/>
            </a:xfrm>
            <a:prstGeom prst="rect">
              <a:avLst/>
            </a:prstGeom>
            <a:solidFill>
              <a:schemeClr val="bg1">
                <a:alpha val="99000"/>
              </a:schemeClr>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p:grpSp>
      <p:cxnSp>
        <p:nvCxnSpPr>
          <p:cNvPr id="45" name="直接连接符 44">
            <a:extLst>
              <a:ext uri="{FF2B5EF4-FFF2-40B4-BE49-F238E27FC236}">
                <a16:creationId xmlns:a16="http://schemas.microsoft.com/office/drawing/2014/main" id="{D36B992E-FBBC-7A89-3B7F-1CD717D8F067}"/>
              </a:ext>
            </a:extLst>
          </p:cNvPr>
          <p:cNvCxnSpPr>
            <a:cxnSpLocks/>
          </p:cNvCxnSpPr>
          <p:nvPr/>
        </p:nvCxnSpPr>
        <p:spPr>
          <a:xfrm flipH="1">
            <a:off x="1404000" y="4554000"/>
            <a:ext cx="79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6" name="Rectangle 8">
                <a:extLst>
                  <a:ext uri="{FF2B5EF4-FFF2-40B4-BE49-F238E27FC236}">
                    <a16:creationId xmlns:a16="http://schemas.microsoft.com/office/drawing/2014/main" id="{40587F26-B587-AE1C-37C4-0A3485B13D76}"/>
                  </a:ext>
                </a:extLst>
              </p:cNvPr>
              <p:cNvSpPr>
                <a:spLocks noChangeArrowheads="1"/>
              </p:cNvSpPr>
              <p:nvPr/>
            </p:nvSpPr>
            <p:spPr bwMode="auto">
              <a:xfrm>
                <a:off x="1008000" y="3852000"/>
                <a:ext cx="360000" cy="432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right"/>
                    </m:oMathParaPr>
                    <m:oMath xmlns:m="http://schemas.openxmlformats.org/officeDocument/2006/math">
                      <m:r>
                        <a:rPr kumimoji="1" lang="en-US" altLang="zh-CN" sz="2000" b="0" i="1" smtClean="0">
                          <a:solidFill>
                            <a:schemeClr val="tx1"/>
                          </a:solidFill>
                          <a:latin typeface="Cambria Math" panose="02040503050406030204" pitchFamily="18" charset="0"/>
                          <a:ea typeface="微软雅黑" panose="020B0503020204020204" pitchFamily="34" charset="-122"/>
                        </a:rPr>
                        <m:t>𝑅</m:t>
                      </m:r>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46" name="Rectangle 8">
                <a:extLst>
                  <a:ext uri="{FF2B5EF4-FFF2-40B4-BE49-F238E27FC236}">
                    <a16:creationId xmlns:a16="http://schemas.microsoft.com/office/drawing/2014/main" id="{40587F26-B587-AE1C-37C4-0A3485B13D76}"/>
                  </a:ext>
                </a:extLst>
              </p:cNvPr>
              <p:cNvSpPr>
                <a:spLocks noRot="1" noChangeAspect="1" noMove="1" noResize="1" noEditPoints="1" noAdjustHandles="1" noChangeArrowheads="1" noChangeShapeType="1" noTextEdit="1"/>
              </p:cNvSpPr>
              <p:nvPr/>
            </p:nvSpPr>
            <p:spPr bwMode="auto">
              <a:xfrm>
                <a:off x="1008000" y="3852000"/>
                <a:ext cx="360000" cy="432000"/>
              </a:xfrm>
              <a:prstGeom prst="rect">
                <a:avLst/>
              </a:prstGeom>
              <a:blipFill>
                <a:blip r:embed="rId27"/>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Rectangle 8">
                <a:extLst>
                  <a:ext uri="{FF2B5EF4-FFF2-40B4-BE49-F238E27FC236}">
                    <a16:creationId xmlns:a16="http://schemas.microsoft.com/office/drawing/2014/main" id="{A1C982E1-F917-9C2D-719C-FCF6E9523A97}"/>
                  </a:ext>
                </a:extLst>
              </p:cNvPr>
              <p:cNvSpPr>
                <a:spLocks noChangeArrowheads="1"/>
              </p:cNvSpPr>
              <p:nvPr/>
            </p:nvSpPr>
            <p:spPr bwMode="auto">
              <a:xfrm>
                <a:off x="792000" y="4786390"/>
                <a:ext cx="432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right"/>
                    </m:oMathParaPr>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𝐷</m:t>
                          </m:r>
                        </m:e>
                        <m:sub>
                          <m:r>
                            <a:rPr kumimoji="1" lang="en-US" altLang="zh-CN" sz="2000" b="0" i="1" smtClean="0">
                              <a:solidFill>
                                <a:schemeClr val="tx1"/>
                              </a:solidFill>
                              <a:latin typeface="Cambria Math" panose="02040503050406030204" pitchFamily="18" charset="0"/>
                              <a:ea typeface="微软雅黑" panose="020B0503020204020204" pitchFamily="34" charset="-122"/>
                            </a:rPr>
                            <m:t>1</m:t>
                          </m:r>
                        </m:sub>
                      </m:sSub>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47" name="Rectangle 8">
                <a:extLst>
                  <a:ext uri="{FF2B5EF4-FFF2-40B4-BE49-F238E27FC236}">
                    <a16:creationId xmlns:a16="http://schemas.microsoft.com/office/drawing/2014/main" id="{A1C982E1-F917-9C2D-719C-FCF6E9523A97}"/>
                  </a:ext>
                </a:extLst>
              </p:cNvPr>
              <p:cNvSpPr>
                <a:spLocks noRot="1" noChangeAspect="1" noMove="1" noResize="1" noEditPoints="1" noAdjustHandles="1" noChangeArrowheads="1" noChangeShapeType="1" noTextEdit="1"/>
              </p:cNvSpPr>
              <p:nvPr/>
            </p:nvSpPr>
            <p:spPr bwMode="auto">
              <a:xfrm>
                <a:off x="792000" y="4786390"/>
                <a:ext cx="432000" cy="396000"/>
              </a:xfrm>
              <a:prstGeom prst="rect">
                <a:avLst/>
              </a:prstGeom>
              <a:blipFill>
                <a:blip r:embed="rId28"/>
                <a:stretch>
                  <a:fillRect b="-307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48" name="组合 47">
            <a:extLst>
              <a:ext uri="{FF2B5EF4-FFF2-40B4-BE49-F238E27FC236}">
                <a16:creationId xmlns:a16="http://schemas.microsoft.com/office/drawing/2014/main" id="{AD3E8E63-BC85-3180-C9C7-76854FAFEC1F}"/>
              </a:ext>
            </a:extLst>
          </p:cNvPr>
          <p:cNvGrpSpPr/>
          <p:nvPr/>
        </p:nvGrpSpPr>
        <p:grpSpPr>
          <a:xfrm rot="5400000">
            <a:off x="1260000" y="4770004"/>
            <a:ext cx="288000" cy="468000"/>
            <a:chOff x="2322512" y="2500513"/>
            <a:chExt cx="288000" cy="468000"/>
          </a:xfrm>
        </p:grpSpPr>
        <p:sp>
          <p:nvSpPr>
            <p:cNvPr id="68" name="等腰三角形 67">
              <a:extLst>
                <a:ext uri="{FF2B5EF4-FFF2-40B4-BE49-F238E27FC236}">
                  <a16:creationId xmlns:a16="http://schemas.microsoft.com/office/drawing/2014/main" id="{2C1B60F7-B266-A6B5-DFDF-FA2B44EA8DF6}"/>
                </a:ext>
              </a:extLst>
            </p:cNvPr>
            <p:cNvSpPr/>
            <p:nvPr/>
          </p:nvSpPr>
          <p:spPr>
            <a:xfrm rot="5400000">
              <a:off x="2250512" y="2590509"/>
              <a:ext cx="432000" cy="288000"/>
            </a:xfrm>
            <a:prstGeom prst="triangl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cxnSp>
          <p:nvCxnSpPr>
            <p:cNvPr id="69" name="直接连接符 68">
              <a:extLst>
                <a:ext uri="{FF2B5EF4-FFF2-40B4-BE49-F238E27FC236}">
                  <a16:creationId xmlns:a16="http://schemas.microsoft.com/office/drawing/2014/main" id="{015F1396-57CB-345B-7699-308117194DB9}"/>
                </a:ext>
              </a:extLst>
            </p:cNvPr>
            <p:cNvCxnSpPr>
              <a:cxnSpLocks/>
            </p:cNvCxnSpPr>
            <p:nvPr/>
          </p:nvCxnSpPr>
          <p:spPr>
            <a:xfrm rot="16200000">
              <a:off x="2376508" y="2734513"/>
              <a:ext cx="46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49" name="直接连接符 48">
            <a:extLst>
              <a:ext uri="{FF2B5EF4-FFF2-40B4-BE49-F238E27FC236}">
                <a16:creationId xmlns:a16="http://schemas.microsoft.com/office/drawing/2014/main" id="{ED5069E0-2345-8155-7D33-8C6E77B684D0}"/>
              </a:ext>
            </a:extLst>
          </p:cNvPr>
          <p:cNvCxnSpPr>
            <a:cxnSpLocks/>
          </p:cNvCxnSpPr>
          <p:nvPr/>
        </p:nvCxnSpPr>
        <p:spPr>
          <a:xfrm>
            <a:off x="1404000" y="3600000"/>
            <a:ext cx="0" cy="2772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矩形 49">
            <a:extLst>
              <a:ext uri="{FF2B5EF4-FFF2-40B4-BE49-F238E27FC236}">
                <a16:creationId xmlns:a16="http://schemas.microsoft.com/office/drawing/2014/main" id="{92EE24B8-FADB-EDBB-9F44-984D9D1757AF}"/>
              </a:ext>
            </a:extLst>
          </p:cNvPr>
          <p:cNvSpPr/>
          <p:nvPr/>
        </p:nvSpPr>
        <p:spPr>
          <a:xfrm>
            <a:off x="1332000" y="3816000"/>
            <a:ext cx="144000" cy="504000"/>
          </a:xfrm>
          <a:prstGeom prst="rect">
            <a:avLst/>
          </a:prstGeom>
          <a:solidFill>
            <a:schemeClr val="bg1">
              <a:alpha val="99000"/>
            </a:schemeClr>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1" name="Rectangle 8">
                <a:extLst>
                  <a:ext uri="{FF2B5EF4-FFF2-40B4-BE49-F238E27FC236}">
                    <a16:creationId xmlns:a16="http://schemas.microsoft.com/office/drawing/2014/main" id="{771A1100-75E0-CD50-9A56-4747CA51609F}"/>
                  </a:ext>
                </a:extLst>
              </p:cNvPr>
              <p:cNvSpPr>
                <a:spLocks noChangeArrowheads="1"/>
              </p:cNvSpPr>
              <p:nvPr/>
            </p:nvSpPr>
            <p:spPr bwMode="auto">
              <a:xfrm>
                <a:off x="792000" y="5508000"/>
                <a:ext cx="432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right"/>
                    </m:oMathParaPr>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𝐷</m:t>
                          </m:r>
                        </m:e>
                        <m:sub>
                          <m:r>
                            <a:rPr kumimoji="1" lang="en-US" altLang="zh-CN" sz="2000" b="0" i="1" smtClean="0">
                              <a:solidFill>
                                <a:schemeClr val="tx1"/>
                              </a:solidFill>
                              <a:latin typeface="Cambria Math" panose="02040503050406030204" pitchFamily="18" charset="0"/>
                              <a:ea typeface="微软雅黑" panose="020B0503020204020204" pitchFamily="34" charset="-122"/>
                            </a:rPr>
                            <m:t>2</m:t>
                          </m:r>
                        </m:sub>
                      </m:sSub>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51" name="Rectangle 8">
                <a:extLst>
                  <a:ext uri="{FF2B5EF4-FFF2-40B4-BE49-F238E27FC236}">
                    <a16:creationId xmlns:a16="http://schemas.microsoft.com/office/drawing/2014/main" id="{771A1100-75E0-CD50-9A56-4747CA51609F}"/>
                  </a:ext>
                </a:extLst>
              </p:cNvPr>
              <p:cNvSpPr>
                <a:spLocks noRot="1" noChangeAspect="1" noMove="1" noResize="1" noEditPoints="1" noAdjustHandles="1" noChangeArrowheads="1" noChangeShapeType="1" noTextEdit="1"/>
              </p:cNvSpPr>
              <p:nvPr/>
            </p:nvSpPr>
            <p:spPr bwMode="auto">
              <a:xfrm>
                <a:off x="792000" y="5508000"/>
                <a:ext cx="432000" cy="396000"/>
              </a:xfrm>
              <a:prstGeom prst="rect">
                <a:avLst/>
              </a:prstGeom>
              <a:blipFill>
                <a:blip r:embed="rId29"/>
                <a:stretch>
                  <a:fillRect b="-1538"/>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Rectangle 8">
                <a:extLst>
                  <a:ext uri="{FF2B5EF4-FFF2-40B4-BE49-F238E27FC236}">
                    <a16:creationId xmlns:a16="http://schemas.microsoft.com/office/drawing/2014/main" id="{CD5B0862-C184-CAA4-4803-B92305B381EA}"/>
                  </a:ext>
                </a:extLst>
              </p:cNvPr>
              <p:cNvSpPr>
                <a:spLocks noChangeArrowheads="1"/>
              </p:cNvSpPr>
              <p:nvPr/>
            </p:nvSpPr>
            <p:spPr bwMode="auto">
              <a:xfrm>
                <a:off x="1224000" y="3132000"/>
                <a:ext cx="468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𝑉</m:t>
                          </m:r>
                        </m:e>
                        <m:sub>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I</m:t>
                          </m:r>
                        </m:sub>
                      </m:sSub>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52" name="Rectangle 8">
                <a:extLst>
                  <a:ext uri="{FF2B5EF4-FFF2-40B4-BE49-F238E27FC236}">
                    <a16:creationId xmlns:a16="http://schemas.microsoft.com/office/drawing/2014/main" id="{CD5B0862-C184-CAA4-4803-B92305B381EA}"/>
                  </a:ext>
                </a:extLst>
              </p:cNvPr>
              <p:cNvSpPr>
                <a:spLocks noRot="1" noChangeAspect="1" noMove="1" noResize="1" noEditPoints="1" noAdjustHandles="1" noChangeArrowheads="1" noChangeShapeType="1" noTextEdit="1"/>
              </p:cNvSpPr>
              <p:nvPr/>
            </p:nvSpPr>
            <p:spPr bwMode="auto">
              <a:xfrm>
                <a:off x="1224000" y="3132000"/>
                <a:ext cx="468000" cy="396000"/>
              </a:xfrm>
              <a:prstGeom prst="rect">
                <a:avLst/>
              </a:prstGeom>
              <a:blipFill>
                <a:blip r:embed="rId30"/>
                <a:stretch>
                  <a:fillRect b="-307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Rectangle 8">
                <a:extLst>
                  <a:ext uri="{FF2B5EF4-FFF2-40B4-BE49-F238E27FC236}">
                    <a16:creationId xmlns:a16="http://schemas.microsoft.com/office/drawing/2014/main" id="{D9EC081D-042A-7983-CFAB-C2AD41EFCB86}"/>
                  </a:ext>
                </a:extLst>
              </p:cNvPr>
              <p:cNvSpPr>
                <a:spLocks noChangeArrowheads="1"/>
              </p:cNvSpPr>
              <p:nvPr/>
            </p:nvSpPr>
            <p:spPr bwMode="auto">
              <a:xfrm>
                <a:off x="396000" y="4500000"/>
                <a:ext cx="432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latin typeface="Cambria Math" panose="02040503050406030204" pitchFamily="18" charset="0"/>
                              <a:ea typeface="微软雅黑" panose="020B0503020204020204" pitchFamily="34" charset="-122"/>
                            </a:rPr>
                          </m:ctrlPr>
                        </m:sSubPr>
                        <m:e>
                          <m:r>
                            <a:rPr kumimoji="1" lang="en-US" altLang="zh-CN" sz="2000" b="0" i="1" smtClean="0">
                              <a:latin typeface="Cambria Math" panose="02040503050406030204" pitchFamily="18" charset="0"/>
                              <a:ea typeface="微软雅黑" panose="020B0503020204020204" pitchFamily="34" charset="-122"/>
                            </a:rPr>
                            <m:t>𝐼</m:t>
                          </m:r>
                        </m:e>
                        <m:sub>
                          <m:r>
                            <m:rPr>
                              <m:sty m:val="p"/>
                            </m:rPr>
                            <a:rPr kumimoji="1" lang="en-US" altLang="zh-CN" sz="2000" b="0" i="0" smtClean="0">
                              <a:latin typeface="Cambria Math" panose="02040503050406030204" pitchFamily="18" charset="0"/>
                              <a:ea typeface="微软雅黑" panose="020B0503020204020204" pitchFamily="34" charset="-122"/>
                            </a:rPr>
                            <m:t>D</m:t>
                          </m:r>
                        </m:sub>
                      </m:sSub>
                    </m:oMath>
                  </m:oMathPara>
                </a14:m>
                <a:endParaRPr kumimoji="1" lang="en-US" altLang="zh-CN" sz="2000" b="0" dirty="0">
                  <a:latin typeface="微软雅黑" panose="020B0503020204020204" pitchFamily="34" charset="-122"/>
                  <a:ea typeface="微软雅黑" panose="020B0503020204020204" pitchFamily="34" charset="-122"/>
                </a:endParaRPr>
              </a:p>
            </p:txBody>
          </p:sp>
        </mc:Choice>
        <mc:Fallback xmlns="">
          <p:sp>
            <p:nvSpPr>
              <p:cNvPr id="53" name="Rectangle 8">
                <a:extLst>
                  <a:ext uri="{FF2B5EF4-FFF2-40B4-BE49-F238E27FC236}">
                    <a16:creationId xmlns:a16="http://schemas.microsoft.com/office/drawing/2014/main" id="{D9EC081D-042A-7983-CFAB-C2AD41EFCB86}"/>
                  </a:ext>
                </a:extLst>
              </p:cNvPr>
              <p:cNvSpPr>
                <a:spLocks noRot="1" noChangeAspect="1" noMove="1" noResize="1" noEditPoints="1" noAdjustHandles="1" noChangeArrowheads="1" noChangeShapeType="1" noTextEdit="1"/>
              </p:cNvSpPr>
              <p:nvPr/>
            </p:nvSpPr>
            <p:spPr bwMode="auto">
              <a:xfrm>
                <a:off x="396000" y="4500000"/>
                <a:ext cx="432000" cy="396000"/>
              </a:xfrm>
              <a:prstGeom prst="rect">
                <a:avLst/>
              </a:prstGeom>
              <a:blipFill>
                <a:blip r:embed="rId31"/>
                <a:stretch>
                  <a:fillRect l="-5634" b="-307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nvGrpSpPr>
          <p:cNvPr id="54" name="组合 53">
            <a:extLst>
              <a:ext uri="{FF2B5EF4-FFF2-40B4-BE49-F238E27FC236}">
                <a16:creationId xmlns:a16="http://schemas.microsoft.com/office/drawing/2014/main" id="{2E567897-3F5C-FA2A-D53F-A64538043F95}"/>
              </a:ext>
            </a:extLst>
          </p:cNvPr>
          <p:cNvGrpSpPr/>
          <p:nvPr/>
        </p:nvGrpSpPr>
        <p:grpSpPr>
          <a:xfrm rot="5400000">
            <a:off x="1260000" y="5490002"/>
            <a:ext cx="288000" cy="468000"/>
            <a:chOff x="2314722" y="2499220"/>
            <a:chExt cx="288000" cy="468000"/>
          </a:xfrm>
        </p:grpSpPr>
        <p:sp>
          <p:nvSpPr>
            <p:cNvPr id="66" name="等腰三角形 65">
              <a:extLst>
                <a:ext uri="{FF2B5EF4-FFF2-40B4-BE49-F238E27FC236}">
                  <a16:creationId xmlns:a16="http://schemas.microsoft.com/office/drawing/2014/main" id="{7562B022-4CB4-3D94-38D4-EABD0E2C1538}"/>
                </a:ext>
              </a:extLst>
            </p:cNvPr>
            <p:cNvSpPr/>
            <p:nvPr/>
          </p:nvSpPr>
          <p:spPr>
            <a:xfrm rot="5400000">
              <a:off x="2242722" y="2589218"/>
              <a:ext cx="432000" cy="288000"/>
            </a:xfrm>
            <a:prstGeom prst="triangl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chemeClr val="tx1"/>
                </a:solidFill>
              </a:endParaRPr>
            </a:p>
          </p:txBody>
        </p:sp>
        <p:cxnSp>
          <p:nvCxnSpPr>
            <p:cNvPr id="67" name="直接连接符 66">
              <a:extLst>
                <a:ext uri="{FF2B5EF4-FFF2-40B4-BE49-F238E27FC236}">
                  <a16:creationId xmlns:a16="http://schemas.microsoft.com/office/drawing/2014/main" id="{9D3411CC-0E8A-2671-726E-A1176755FB81}"/>
                </a:ext>
              </a:extLst>
            </p:cNvPr>
            <p:cNvCxnSpPr>
              <a:cxnSpLocks/>
            </p:cNvCxnSpPr>
            <p:nvPr/>
          </p:nvCxnSpPr>
          <p:spPr>
            <a:xfrm rot="16200000" flipH="1">
              <a:off x="2368720" y="2733220"/>
              <a:ext cx="468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5" name="直接连接符 54">
            <a:extLst>
              <a:ext uri="{FF2B5EF4-FFF2-40B4-BE49-F238E27FC236}">
                <a16:creationId xmlns:a16="http://schemas.microsoft.com/office/drawing/2014/main" id="{959D3435-836A-3DD9-4D04-896C8061AE26}"/>
              </a:ext>
            </a:extLst>
          </p:cNvPr>
          <p:cNvCxnSpPr>
            <a:cxnSpLocks/>
          </p:cNvCxnSpPr>
          <p:nvPr/>
        </p:nvCxnSpPr>
        <p:spPr>
          <a:xfrm flipH="1">
            <a:off x="1188000" y="6408000"/>
            <a:ext cx="4320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椭圆 55">
            <a:extLst>
              <a:ext uri="{FF2B5EF4-FFF2-40B4-BE49-F238E27FC236}">
                <a16:creationId xmlns:a16="http://schemas.microsoft.com/office/drawing/2014/main" id="{7D23D7BF-35B8-5FB7-7CE1-6B26E6639532}"/>
              </a:ext>
            </a:extLst>
          </p:cNvPr>
          <p:cNvSpPr/>
          <p:nvPr/>
        </p:nvSpPr>
        <p:spPr>
          <a:xfrm>
            <a:off x="1350000" y="3528000"/>
            <a:ext cx="108000" cy="108000"/>
          </a:xfrm>
          <a:prstGeom prst="ellipse">
            <a:avLst/>
          </a:prstGeom>
          <a:ln w="254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63" name="直接箭头连接符 62">
            <a:extLst>
              <a:ext uri="{FF2B5EF4-FFF2-40B4-BE49-F238E27FC236}">
                <a16:creationId xmlns:a16="http://schemas.microsoft.com/office/drawing/2014/main" id="{781A9E6A-D89E-0DEA-F346-2EDC46A1DC15}"/>
              </a:ext>
            </a:extLst>
          </p:cNvPr>
          <p:cNvCxnSpPr>
            <a:cxnSpLocks/>
          </p:cNvCxnSpPr>
          <p:nvPr/>
        </p:nvCxnSpPr>
        <p:spPr>
          <a:xfrm>
            <a:off x="756000" y="4356000"/>
            <a:ext cx="0" cy="900000"/>
          </a:xfrm>
          <a:prstGeom prst="straightConnector1">
            <a:avLst/>
          </a:prstGeom>
          <a:ln w="1905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64" name="椭圆 63">
            <a:extLst>
              <a:ext uri="{FF2B5EF4-FFF2-40B4-BE49-F238E27FC236}">
                <a16:creationId xmlns:a16="http://schemas.microsoft.com/office/drawing/2014/main" id="{640E261C-B956-BF9C-0C49-84B3825B9D6A}"/>
              </a:ext>
            </a:extLst>
          </p:cNvPr>
          <p:cNvSpPr/>
          <p:nvPr/>
        </p:nvSpPr>
        <p:spPr>
          <a:xfrm>
            <a:off x="1350000" y="4500000"/>
            <a:ext cx="108000" cy="108000"/>
          </a:xfrm>
          <a:prstGeom prst="ellipse">
            <a:avLst/>
          </a:prstGeom>
          <a:solidFill>
            <a:schemeClr val="tx1"/>
          </a:solidFill>
          <a:ln w="254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60" name="直接连接符 59">
            <a:extLst>
              <a:ext uri="{FF2B5EF4-FFF2-40B4-BE49-F238E27FC236}">
                <a16:creationId xmlns:a16="http://schemas.microsoft.com/office/drawing/2014/main" id="{06C6288D-AD78-DEF6-4723-50B8B9C6FC39}"/>
              </a:ext>
            </a:extLst>
          </p:cNvPr>
          <p:cNvCxnSpPr>
            <a:cxnSpLocks/>
          </p:cNvCxnSpPr>
          <p:nvPr/>
        </p:nvCxnSpPr>
        <p:spPr>
          <a:xfrm>
            <a:off x="2196000" y="4554000"/>
            <a:ext cx="0" cy="183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AC41ED1D-FCEF-ABB5-CC55-03355378BE09}"/>
              </a:ext>
            </a:extLst>
          </p:cNvPr>
          <p:cNvCxnSpPr>
            <a:cxnSpLocks/>
          </p:cNvCxnSpPr>
          <p:nvPr/>
        </p:nvCxnSpPr>
        <p:spPr>
          <a:xfrm flipH="1">
            <a:off x="1980000" y="6408000"/>
            <a:ext cx="432000"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矩形 64">
            <a:extLst>
              <a:ext uri="{FF2B5EF4-FFF2-40B4-BE49-F238E27FC236}">
                <a16:creationId xmlns:a16="http://schemas.microsoft.com/office/drawing/2014/main" id="{DCD66869-BDA2-111B-E445-E5C023046349}"/>
              </a:ext>
            </a:extLst>
          </p:cNvPr>
          <p:cNvSpPr/>
          <p:nvPr/>
        </p:nvSpPr>
        <p:spPr>
          <a:xfrm>
            <a:off x="2124000" y="5256000"/>
            <a:ext cx="144000" cy="504000"/>
          </a:xfrm>
          <a:prstGeom prst="rect">
            <a:avLst/>
          </a:prstGeom>
          <a:solidFill>
            <a:schemeClr val="bg1">
              <a:alpha val="99000"/>
            </a:schemeClr>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72" name="Rectangle 8">
                <a:extLst>
                  <a:ext uri="{FF2B5EF4-FFF2-40B4-BE49-F238E27FC236}">
                    <a16:creationId xmlns:a16="http://schemas.microsoft.com/office/drawing/2014/main" id="{94721EA2-8031-2E8D-D729-66CBFF160A7E}"/>
                  </a:ext>
                </a:extLst>
              </p:cNvPr>
              <p:cNvSpPr>
                <a:spLocks noChangeArrowheads="1"/>
              </p:cNvSpPr>
              <p:nvPr/>
            </p:nvSpPr>
            <p:spPr bwMode="auto">
              <a:xfrm>
                <a:off x="1764000" y="5292000"/>
                <a:ext cx="432000" cy="396000"/>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None/>
                </a:pPr>
                <a14:m>
                  <m:oMathPara xmlns:m="http://schemas.openxmlformats.org/officeDocument/2006/math">
                    <m:oMathParaPr>
                      <m:jc m:val="center"/>
                    </m:oMathParaPr>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𝑅</m:t>
                          </m:r>
                        </m:e>
                        <m:sub>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L</m:t>
                          </m:r>
                        </m:sub>
                      </m:sSub>
                    </m:oMath>
                  </m:oMathPara>
                </a14:m>
                <a:endParaRPr kumimoji="1" lang="zh-CN" altLang="en-US" sz="2000" b="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72" name="Rectangle 8">
                <a:extLst>
                  <a:ext uri="{FF2B5EF4-FFF2-40B4-BE49-F238E27FC236}">
                    <a16:creationId xmlns:a16="http://schemas.microsoft.com/office/drawing/2014/main" id="{94721EA2-8031-2E8D-D729-66CBFF160A7E}"/>
                  </a:ext>
                </a:extLst>
              </p:cNvPr>
              <p:cNvSpPr>
                <a:spLocks noRot="1" noChangeAspect="1" noMove="1" noResize="1" noEditPoints="1" noAdjustHandles="1" noChangeArrowheads="1" noChangeShapeType="1" noTextEdit="1"/>
              </p:cNvSpPr>
              <p:nvPr/>
            </p:nvSpPr>
            <p:spPr bwMode="auto">
              <a:xfrm>
                <a:off x="1764000" y="5292000"/>
                <a:ext cx="432000" cy="396000"/>
              </a:xfrm>
              <a:prstGeom prst="rect">
                <a:avLst/>
              </a:prstGeom>
              <a:blipFill>
                <a:blip r:embed="rId32"/>
                <a:stretch>
                  <a:fillRect l="-11268" b="-3077"/>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Rectangle 8">
                <a:extLst>
                  <a:ext uri="{FF2B5EF4-FFF2-40B4-BE49-F238E27FC236}">
                    <a16:creationId xmlns:a16="http://schemas.microsoft.com/office/drawing/2014/main" id="{C10BF543-A576-2FBE-3DAA-3A493BA03A14}"/>
                  </a:ext>
                </a:extLst>
              </p:cNvPr>
              <p:cNvSpPr>
                <a:spLocks noChangeArrowheads="1"/>
              </p:cNvSpPr>
              <p:nvPr/>
            </p:nvSpPr>
            <p:spPr bwMode="auto">
              <a:xfrm>
                <a:off x="2160000" y="4932000"/>
                <a:ext cx="575610" cy="1169551"/>
              </a:xfrm>
              <a:prstGeom prst="rect">
                <a:avLst/>
              </a:prstGeom>
              <a:noFill/>
              <a:ln>
                <a:noFill/>
              </a:ln>
              <a:extLst>
                <a:ext uri="{909E8E84-426E-40dd-AFC4-6F175D3DCCD1}">
                  <a14:hiddenFill xmlns="">
                    <a:solidFill>
                      <a:srgbClr val="FFFFFF"/>
                    </a:solidFill>
                  </a14:hiddenFill>
                </a:ext>
                <a:ext uri="{91240B29-F687-4f45-9708-019B960494DF}">
                  <a14:hiddenLine xmlns=""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ts val="600"/>
                  </a:spcAft>
                  <a:buNone/>
                </a:pPr>
                <a14:m>
                  <m:oMathPara xmlns:m="http://schemas.openxmlformats.org/officeDocument/2006/math">
                    <m:oMathParaPr>
                      <m:jc m:val="center"/>
                    </m:oMathParaPr>
                    <m:oMath xmlns:m="http://schemas.openxmlformats.org/officeDocument/2006/math">
                      <m:r>
                        <a:rPr kumimoji="1" lang="en-US" altLang="zh-CN" sz="2000" b="0" i="0" smtClean="0">
                          <a:latin typeface="Cambria Math" panose="02040503050406030204" pitchFamily="18" charset="0"/>
                          <a:ea typeface="微软雅黑" panose="020B0503020204020204" pitchFamily="34" charset="-122"/>
                        </a:rPr>
                        <m:t>+</m:t>
                      </m:r>
                    </m:oMath>
                  </m:oMathPara>
                </a14:m>
                <a:endParaRPr kumimoji="1" lang="en-US" altLang="zh-CN" sz="2000" b="0" dirty="0">
                  <a:solidFill>
                    <a:schemeClr val="tx1"/>
                  </a:solidFill>
                  <a:latin typeface="Cambria Math" panose="02040503050406030204" pitchFamily="18" charset="0"/>
                  <a:ea typeface="微软雅黑" panose="020B0503020204020204" pitchFamily="34" charset="-122"/>
                </a:endParaRPr>
              </a:p>
              <a:p>
                <a:pPr algn="ctr">
                  <a:spcAft>
                    <a:spcPts val="600"/>
                  </a:spcAft>
                  <a:buNone/>
                </a:pPr>
                <a14:m>
                  <m:oMathPara xmlns:m="http://schemas.openxmlformats.org/officeDocument/2006/math">
                    <m:oMathParaPr>
                      <m:jc m:val="right"/>
                    </m:oMathParaPr>
                    <m:oMath xmlns:m="http://schemas.openxmlformats.org/officeDocument/2006/math">
                      <m:sSub>
                        <m:sSubPr>
                          <m:ctrlPr>
                            <a:rPr kumimoji="1" lang="en-US" altLang="zh-CN" sz="20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000" b="0" i="1" smtClean="0">
                              <a:solidFill>
                                <a:schemeClr val="tx1"/>
                              </a:solidFill>
                              <a:latin typeface="Cambria Math" panose="02040503050406030204" pitchFamily="18" charset="0"/>
                              <a:ea typeface="微软雅黑" panose="020B0503020204020204" pitchFamily="34" charset="-122"/>
                            </a:rPr>
                            <m:t>𝑉</m:t>
                          </m:r>
                        </m:e>
                        <m:sub>
                          <m:r>
                            <m:rPr>
                              <m:sty m:val="p"/>
                            </m:rPr>
                            <a:rPr kumimoji="1" lang="en-US" altLang="zh-CN" sz="2000" b="0" i="0" smtClean="0">
                              <a:solidFill>
                                <a:schemeClr val="tx1"/>
                              </a:solidFill>
                              <a:latin typeface="Cambria Math" panose="02040503050406030204" pitchFamily="18" charset="0"/>
                              <a:ea typeface="微软雅黑" panose="020B0503020204020204" pitchFamily="34" charset="-122"/>
                            </a:rPr>
                            <m:t>O</m:t>
                          </m:r>
                        </m:sub>
                      </m:sSub>
                    </m:oMath>
                  </m:oMathPara>
                </a14:m>
                <a:endParaRPr kumimoji="1" lang="en-US" altLang="zh-CN" sz="2000" b="0" dirty="0">
                  <a:latin typeface="微软雅黑" panose="020B0503020204020204" pitchFamily="34" charset="-122"/>
                  <a:ea typeface="微软雅黑" panose="020B0503020204020204" pitchFamily="34" charset="-122"/>
                </a:endParaRPr>
              </a:p>
              <a:p>
                <a:pPr algn="ctr">
                  <a:spcAft>
                    <a:spcPts val="0"/>
                  </a:spcAft>
                  <a:buNone/>
                </a:pPr>
                <a14:m>
                  <m:oMathPara xmlns:m="http://schemas.openxmlformats.org/officeDocument/2006/math">
                    <m:oMathParaPr>
                      <m:jc m:val="center"/>
                    </m:oMathParaPr>
                    <m:oMath xmlns:m="http://schemas.openxmlformats.org/officeDocument/2006/math">
                      <m:r>
                        <a:rPr kumimoji="1" lang="en-US" altLang="zh-CN" sz="2000" b="0" i="0" smtClean="0">
                          <a:latin typeface="Cambria Math" panose="02040503050406030204" pitchFamily="18" charset="0"/>
                          <a:ea typeface="微软雅黑" panose="020B0503020204020204" pitchFamily="34" charset="-122"/>
                        </a:rPr>
                        <m:t>−</m:t>
                      </m:r>
                    </m:oMath>
                  </m:oMathPara>
                </a14:m>
                <a:endParaRPr kumimoji="1" lang="en-US" altLang="zh-CN" sz="2000" b="0" dirty="0">
                  <a:latin typeface="Cambria Math" panose="02040503050406030204" pitchFamily="18" charset="0"/>
                  <a:ea typeface="微软雅黑" panose="020B0503020204020204" pitchFamily="34" charset="-122"/>
                </a:endParaRPr>
              </a:p>
            </p:txBody>
          </p:sp>
        </mc:Choice>
        <mc:Fallback xmlns="">
          <p:sp>
            <p:nvSpPr>
              <p:cNvPr id="73" name="Rectangle 8">
                <a:extLst>
                  <a:ext uri="{FF2B5EF4-FFF2-40B4-BE49-F238E27FC236}">
                    <a16:creationId xmlns:a16="http://schemas.microsoft.com/office/drawing/2014/main" id="{C10BF543-A576-2FBE-3DAA-3A493BA03A14}"/>
                  </a:ext>
                </a:extLst>
              </p:cNvPr>
              <p:cNvSpPr>
                <a:spLocks noRot="1" noChangeAspect="1" noMove="1" noResize="1" noEditPoints="1" noAdjustHandles="1" noChangeArrowheads="1" noChangeShapeType="1" noTextEdit="1"/>
              </p:cNvSpPr>
              <p:nvPr/>
            </p:nvSpPr>
            <p:spPr bwMode="auto">
              <a:xfrm>
                <a:off x="2160000" y="4932000"/>
                <a:ext cx="575610" cy="1169551"/>
              </a:xfrm>
              <a:prstGeom prst="rect">
                <a:avLst/>
              </a:prstGeom>
              <a:blipFill>
                <a:blip r:embed="rId33"/>
                <a:stretch>
                  <a:fillRect/>
                </a:stretch>
              </a:blip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cxnSp>
        <p:nvCxnSpPr>
          <p:cNvPr id="74" name="直接箭头连接符 73">
            <a:extLst>
              <a:ext uri="{FF2B5EF4-FFF2-40B4-BE49-F238E27FC236}">
                <a16:creationId xmlns:a16="http://schemas.microsoft.com/office/drawing/2014/main" id="{19BE876E-152E-0E56-9562-131BFBAA62EE}"/>
              </a:ext>
            </a:extLst>
          </p:cNvPr>
          <p:cNvCxnSpPr/>
          <p:nvPr/>
        </p:nvCxnSpPr>
        <p:spPr>
          <a:xfrm>
            <a:off x="1800000" y="4032000"/>
            <a:ext cx="1404000" cy="0"/>
          </a:xfrm>
          <a:prstGeom prst="straightConnector1">
            <a:avLst/>
          </a:prstGeom>
          <a:ln w="19050">
            <a:solidFill>
              <a:schemeClr val="accent5">
                <a:lumMod val="75000"/>
              </a:schemeClr>
            </a:solidFill>
            <a:tailEnd type="triangle" w="med"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3506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170"/>
                                        </p:tgtEl>
                                        <p:attrNameLst>
                                          <p:attrName>style.visibility</p:attrName>
                                        </p:attrNameLst>
                                      </p:cBhvr>
                                      <p:to>
                                        <p:strVal val="visible"/>
                                      </p:to>
                                    </p:set>
                                    <p:animEffect transition="in" filter="randombar(horizontal)">
                                      <p:cBhvr>
                                        <p:cTn id="7" dur="500"/>
                                        <p:tgtEl>
                                          <p:spTgt spid="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0D7B6-ED3B-2B0B-6BEA-1CD82B096F7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47CD3EC-D31A-3616-66CF-36CA22BE68E9}"/>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二极管及其应用</a:t>
            </a:r>
            <a:endParaRPr lang="en-US" altLang="zh-CN" sz="3000" dirty="0"/>
          </a:p>
        </p:txBody>
      </p:sp>
      <p:grpSp>
        <p:nvGrpSpPr>
          <p:cNvPr id="3" name="组合 2">
            <a:extLst>
              <a:ext uri="{FF2B5EF4-FFF2-40B4-BE49-F238E27FC236}">
                <a16:creationId xmlns:a16="http://schemas.microsoft.com/office/drawing/2014/main" id="{2D31464C-45F9-63CE-7683-1B58AAB11E00}"/>
              </a:ext>
            </a:extLst>
          </p:cNvPr>
          <p:cNvGrpSpPr/>
          <p:nvPr/>
        </p:nvGrpSpPr>
        <p:grpSpPr>
          <a:xfrm>
            <a:off x="11449269" y="6198682"/>
            <a:ext cx="786273" cy="548639"/>
            <a:chOff x="11454918" y="5839511"/>
            <a:chExt cx="786273" cy="548639"/>
          </a:xfrm>
        </p:grpSpPr>
        <p:grpSp>
          <p:nvGrpSpPr>
            <p:cNvPr id="4" name="组合 3">
              <a:extLst>
                <a:ext uri="{FF2B5EF4-FFF2-40B4-BE49-F238E27FC236}">
                  <a16:creationId xmlns:a16="http://schemas.microsoft.com/office/drawing/2014/main" id="{0BE398DB-24CB-298C-602B-84E94AC6AFB6}"/>
                </a:ext>
              </a:extLst>
            </p:cNvPr>
            <p:cNvGrpSpPr/>
            <p:nvPr/>
          </p:nvGrpSpPr>
          <p:grpSpPr>
            <a:xfrm>
              <a:off x="11454918" y="5867450"/>
              <a:ext cx="737081" cy="520700"/>
              <a:chOff x="11454918" y="5867450"/>
              <a:chExt cx="737081" cy="520700"/>
            </a:xfrm>
          </p:grpSpPr>
          <p:sp>
            <p:nvSpPr>
              <p:cNvPr id="6" name="箭头: 五边形 5">
                <a:extLst>
                  <a:ext uri="{FF2B5EF4-FFF2-40B4-BE49-F238E27FC236}">
                    <a16:creationId xmlns:a16="http://schemas.microsoft.com/office/drawing/2014/main" id="{D396EA3A-94D2-1172-205E-76E542D5D6A1}"/>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箭头: V 形 6">
                <a:extLst>
                  <a:ext uri="{FF2B5EF4-FFF2-40B4-BE49-F238E27FC236}">
                    <a16:creationId xmlns:a16="http://schemas.microsoft.com/office/drawing/2014/main" id="{5E52BB52-2561-7106-11AC-58504DCD306A}"/>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5" name="灯片编号占位符 3">
              <a:extLst>
                <a:ext uri="{FF2B5EF4-FFF2-40B4-BE49-F238E27FC236}">
                  <a16:creationId xmlns:a16="http://schemas.microsoft.com/office/drawing/2014/main" id="{2201EE80-320C-567F-ECB7-613761F846E5}"/>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30</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CA90506A-648C-B0B3-5D6F-2807818146CC}"/>
                  </a:ext>
                </a:extLst>
              </p:cNvPr>
              <p:cNvSpPr txBox="1"/>
              <p:nvPr/>
            </p:nvSpPr>
            <p:spPr>
              <a:xfrm>
                <a:off x="360000" y="828000"/>
                <a:ext cx="7232093" cy="2701317"/>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稳压二极管（齐纳二极管）</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正常工作都处于反向击穿状态</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稳定电压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𝑉</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𝑍</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是在特定测试电流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𝐼</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𝑍</m:t>
                        </m:r>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𝑇</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下得到 </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动态电阻 </a:t>
                </a:r>
                <a14:m>
                  <m:oMath xmlns:m="http://schemas.openxmlformats.org/officeDocument/2006/math">
                    <m:sSub>
                      <m:sSubPr>
                        <m:ctrlP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𝑟</m:t>
                        </m:r>
                      </m:e>
                      <m:sub>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𝑍</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越小，稳压性能越好</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工作电流绝对值范围：</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𝐼</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𝑍</m:t>
                        </m:r>
                        <m:d>
                          <m:d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dPr>
                          <m:e>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min</m:t>
                            </m:r>
                          </m:e>
                        </m:d>
                      </m:sub>
                    </m:sSub>
                    <m:r>
                      <a:rPr kumimoji="1" lang="en-US" altLang="zh-CN" sz="2400" i="1" smtClean="0">
                        <a:solidFill>
                          <a:schemeClr val="accent5">
                            <a:lumMod val="75000"/>
                          </a:schemeClr>
                        </a:solidFill>
                        <a:latin typeface="Cambria Math" panose="02040503050406030204" pitchFamily="18" charset="0"/>
                        <a:ea typeface="Cambria Math" panose="02040503050406030204" pitchFamily="18" charset="0"/>
                      </a:rPr>
                      <m:t>≤</m:t>
                    </m:r>
                    <m:d>
                      <m:dPr>
                        <m:begChr m:val="|"/>
                        <m:endChr m:val="|"/>
                        <m:ctrlP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ctrlPr>
                      </m:dPr>
                      <m:e>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𝐼</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𝑍</m:t>
                            </m:r>
                          </m:sub>
                        </m:sSub>
                      </m:e>
                    </m:d>
                    <m:r>
                      <a:rPr kumimoji="1" lang="en-US" altLang="zh-CN" sz="2400" i="1" smtClean="0">
                        <a:solidFill>
                          <a:schemeClr val="accent5">
                            <a:lumMod val="75000"/>
                          </a:schemeClr>
                        </a:solidFill>
                        <a:latin typeface="Cambria Math" panose="02040503050406030204" pitchFamily="18" charset="0"/>
                        <a:ea typeface="Cambria Math" panose="02040503050406030204" pitchFamily="18" charset="0"/>
                      </a:rPr>
                      <m:t>≤</m:t>
                    </m:r>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𝐼</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𝑍</m:t>
                        </m:r>
                        <m:d>
                          <m:d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dPr>
                          <m:e>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max</m:t>
                            </m:r>
                          </m:e>
                        </m:d>
                      </m:sub>
                    </m:sSub>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8" name="文本框 7">
                <a:extLst>
                  <a:ext uri="{FF2B5EF4-FFF2-40B4-BE49-F238E27FC236}">
                    <a16:creationId xmlns:a16="http://schemas.microsoft.com/office/drawing/2014/main" id="{CA90506A-648C-B0B3-5D6F-2807818146CC}"/>
                  </a:ext>
                </a:extLst>
              </p:cNvPr>
              <p:cNvSpPr txBox="1">
                <a:spLocks noRot="1" noChangeAspect="1" noMove="1" noResize="1" noEditPoints="1" noAdjustHandles="1" noChangeArrowheads="1" noChangeShapeType="1" noTextEdit="1"/>
              </p:cNvSpPr>
              <p:nvPr/>
            </p:nvSpPr>
            <p:spPr>
              <a:xfrm>
                <a:off x="360000" y="828000"/>
                <a:ext cx="7232093" cy="2701317"/>
              </a:xfrm>
              <a:prstGeom prst="rect">
                <a:avLst/>
              </a:prstGeom>
              <a:blipFill>
                <a:blip r:embed="rId4"/>
                <a:stretch>
                  <a:fillRect l="-1518" t="-903" b="-3160"/>
                </a:stretch>
              </a:blipFill>
            </p:spPr>
            <p:txBody>
              <a:bodyPr/>
              <a:lstStyle/>
              <a:p>
                <a:r>
                  <a:rPr lang="zh-CN" altLang="en-US">
                    <a:noFill/>
                  </a:rPr>
                  <a:t> </a:t>
                </a:r>
              </a:p>
            </p:txBody>
          </p:sp>
        </mc:Fallback>
      </mc:AlternateContent>
      <p:grpSp>
        <p:nvGrpSpPr>
          <p:cNvPr id="50" name="组合 49">
            <a:extLst>
              <a:ext uri="{FF2B5EF4-FFF2-40B4-BE49-F238E27FC236}">
                <a16:creationId xmlns:a16="http://schemas.microsoft.com/office/drawing/2014/main" id="{55E9230F-BDC4-8499-3FFF-EF07C5B4AD5E}"/>
              </a:ext>
            </a:extLst>
          </p:cNvPr>
          <p:cNvGrpSpPr/>
          <p:nvPr/>
        </p:nvGrpSpPr>
        <p:grpSpPr>
          <a:xfrm>
            <a:off x="1260000" y="3600000"/>
            <a:ext cx="576000" cy="2374621"/>
            <a:chOff x="1260000" y="3852000"/>
            <a:chExt cx="576000" cy="2374621"/>
          </a:xfrm>
        </p:grpSpPr>
        <p:sp>
          <p:nvSpPr>
            <p:cNvPr id="11" name="等腰三角形 10">
              <a:extLst>
                <a:ext uri="{FF2B5EF4-FFF2-40B4-BE49-F238E27FC236}">
                  <a16:creationId xmlns:a16="http://schemas.microsoft.com/office/drawing/2014/main" id="{BB6B426E-3A08-BF19-74C1-1FF3CD4B1A45}"/>
                </a:ext>
              </a:extLst>
            </p:cNvPr>
            <p:cNvSpPr/>
            <p:nvPr/>
          </p:nvSpPr>
          <p:spPr>
            <a:xfrm>
              <a:off x="1314000" y="4842000"/>
              <a:ext cx="468000" cy="360000"/>
            </a:xfrm>
            <a:prstGeom prst="triangl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endParaRPr>
            </a:p>
          </p:txBody>
        </p:sp>
        <p:cxnSp>
          <p:nvCxnSpPr>
            <p:cNvPr id="17" name="直接连接符 16">
              <a:extLst>
                <a:ext uri="{FF2B5EF4-FFF2-40B4-BE49-F238E27FC236}">
                  <a16:creationId xmlns:a16="http://schemas.microsoft.com/office/drawing/2014/main" id="{FD0FEE3E-55DB-16E8-07A9-59EAAAC2DE78}"/>
                </a:ext>
              </a:extLst>
            </p:cNvPr>
            <p:cNvCxnSpPr>
              <a:cxnSpLocks/>
            </p:cNvCxnSpPr>
            <p:nvPr/>
          </p:nvCxnSpPr>
          <p:spPr>
            <a:xfrm>
              <a:off x="1548000" y="3960000"/>
              <a:ext cx="0" cy="216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连接符: 肘形 19">
              <a:extLst>
                <a:ext uri="{FF2B5EF4-FFF2-40B4-BE49-F238E27FC236}">
                  <a16:creationId xmlns:a16="http://schemas.microsoft.com/office/drawing/2014/main" id="{B7FFA893-1CFE-E8EC-4B9C-D7B89C160D0E}"/>
                </a:ext>
              </a:extLst>
            </p:cNvPr>
            <p:cNvCxnSpPr>
              <a:cxnSpLocks/>
            </p:cNvCxnSpPr>
            <p:nvPr/>
          </p:nvCxnSpPr>
          <p:spPr>
            <a:xfrm>
              <a:off x="1260000" y="4828131"/>
              <a:ext cx="576000" cy="144000"/>
            </a:xfrm>
            <a:prstGeom prst="bentConnector3">
              <a:avLst>
                <a:gd name="adj1" fmla="val 96738"/>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椭圆 45">
              <a:extLst>
                <a:ext uri="{FF2B5EF4-FFF2-40B4-BE49-F238E27FC236}">
                  <a16:creationId xmlns:a16="http://schemas.microsoft.com/office/drawing/2014/main" id="{497DB85C-ACB2-F619-9481-B665C894C022}"/>
                </a:ext>
              </a:extLst>
            </p:cNvPr>
            <p:cNvSpPr/>
            <p:nvPr/>
          </p:nvSpPr>
          <p:spPr>
            <a:xfrm>
              <a:off x="1494000" y="3852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a:extLst>
                <a:ext uri="{FF2B5EF4-FFF2-40B4-BE49-F238E27FC236}">
                  <a16:creationId xmlns:a16="http://schemas.microsoft.com/office/drawing/2014/main" id="{F4F86CE8-469B-F58E-C113-6D46455B8163}"/>
                </a:ext>
              </a:extLst>
            </p:cNvPr>
            <p:cNvSpPr/>
            <p:nvPr/>
          </p:nvSpPr>
          <p:spPr>
            <a:xfrm>
              <a:off x="1494000" y="6118621"/>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1" name="组合 50">
            <a:extLst>
              <a:ext uri="{FF2B5EF4-FFF2-40B4-BE49-F238E27FC236}">
                <a16:creationId xmlns:a16="http://schemas.microsoft.com/office/drawing/2014/main" id="{35D1F8EB-65B6-F0F2-EBE3-274CE869AEC7}"/>
              </a:ext>
            </a:extLst>
          </p:cNvPr>
          <p:cNvGrpSpPr/>
          <p:nvPr/>
        </p:nvGrpSpPr>
        <p:grpSpPr>
          <a:xfrm>
            <a:off x="3600000" y="3600000"/>
            <a:ext cx="1944414" cy="2376000"/>
            <a:chOff x="3600000" y="3852000"/>
            <a:chExt cx="1944414" cy="2376000"/>
          </a:xfrm>
        </p:grpSpPr>
        <p:cxnSp>
          <p:nvCxnSpPr>
            <p:cNvPr id="31" name="直接连接符 30">
              <a:extLst>
                <a:ext uri="{FF2B5EF4-FFF2-40B4-BE49-F238E27FC236}">
                  <a16:creationId xmlns:a16="http://schemas.microsoft.com/office/drawing/2014/main" id="{EFA9324B-78CE-6351-D327-7CB0B651D333}"/>
                </a:ext>
              </a:extLst>
            </p:cNvPr>
            <p:cNvCxnSpPr>
              <a:cxnSpLocks/>
            </p:cNvCxnSpPr>
            <p:nvPr/>
          </p:nvCxnSpPr>
          <p:spPr>
            <a:xfrm>
              <a:off x="4500000" y="3960000"/>
              <a:ext cx="0" cy="2160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矩形 33">
              <a:extLst>
                <a:ext uri="{FF2B5EF4-FFF2-40B4-BE49-F238E27FC236}">
                  <a16:creationId xmlns:a16="http://schemas.microsoft.com/office/drawing/2014/main" id="{3F285372-6BC1-4A79-831C-AC5100E07B6A}"/>
                </a:ext>
              </a:extLst>
            </p:cNvPr>
            <p:cNvSpPr/>
            <p:nvPr/>
          </p:nvSpPr>
          <p:spPr>
            <a:xfrm>
              <a:off x="4428000" y="5292000"/>
              <a:ext cx="144000" cy="504000"/>
            </a:xfrm>
            <a:prstGeom prst="rect">
              <a:avLst/>
            </a:prstGeom>
            <a:solidFill>
              <a:schemeClr val="bg1">
                <a:alpha val="99000"/>
              </a:schemeClr>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35" name="矩形 34">
              <a:extLst>
                <a:ext uri="{FF2B5EF4-FFF2-40B4-BE49-F238E27FC236}">
                  <a16:creationId xmlns:a16="http://schemas.microsoft.com/office/drawing/2014/main" id="{BDCD8FFD-6E03-85EF-3B0C-53350A0D831E}"/>
                </a:ext>
              </a:extLst>
            </p:cNvPr>
            <p:cNvSpPr/>
            <p:nvPr/>
          </p:nvSpPr>
          <p:spPr>
            <a:xfrm>
              <a:off x="4417200" y="4788000"/>
              <a:ext cx="165600" cy="108000"/>
            </a:xfrm>
            <a:prstGeom prst="rect">
              <a:avLst/>
            </a:prstGeom>
            <a:solidFill>
              <a:schemeClr val="bg1">
                <a:alpha val="99000"/>
              </a:schemeClr>
            </a:solidFill>
            <a:ln w="38100">
              <a:noFill/>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cxnSp>
          <p:nvCxnSpPr>
            <p:cNvPr id="36" name="直接连接符 35">
              <a:extLst>
                <a:ext uri="{FF2B5EF4-FFF2-40B4-BE49-F238E27FC236}">
                  <a16:creationId xmlns:a16="http://schemas.microsoft.com/office/drawing/2014/main" id="{DD596903-33D2-0C8B-E945-3486037DF727}"/>
                </a:ext>
              </a:extLst>
            </p:cNvPr>
            <p:cNvCxnSpPr>
              <a:cxnSpLocks/>
            </p:cNvCxnSpPr>
            <p:nvPr/>
          </p:nvCxnSpPr>
          <p:spPr>
            <a:xfrm flipH="1">
              <a:off x="4248000" y="4788000"/>
              <a:ext cx="504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046B4B24-6280-6266-505B-1AD5AEC1EB91}"/>
                </a:ext>
              </a:extLst>
            </p:cNvPr>
            <p:cNvCxnSpPr>
              <a:cxnSpLocks/>
            </p:cNvCxnSpPr>
            <p:nvPr/>
          </p:nvCxnSpPr>
          <p:spPr>
            <a:xfrm flipH="1">
              <a:off x="4392000" y="4896000"/>
              <a:ext cx="216000" cy="0"/>
            </a:xfrm>
            <a:prstGeom prst="line">
              <a:avLst/>
            </a:prstGeom>
            <a:ln w="508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779E4E01-C28C-3D04-8D3F-CF6500C91BF4}"/>
                    </a:ext>
                  </a:extLst>
                </p:cNvPr>
                <p:cNvSpPr txBox="1"/>
                <p:nvPr/>
              </p:nvSpPr>
              <p:spPr>
                <a:xfrm>
                  <a:off x="3600000" y="4032000"/>
                  <a:ext cx="684000" cy="1872000"/>
                </a:xfrm>
                <a:prstGeom prst="rect">
                  <a:avLst/>
                </a:prstGeom>
                <a:noFill/>
              </p:spPr>
              <p:txBody>
                <a:bodyPr wrap="square">
                  <a:spAutoFit/>
                </a:bodyPr>
                <a:lstStyle/>
                <a:p>
                  <a:pPr algn="ctr">
                    <a:spcAft>
                      <a:spcPts val="3000"/>
                    </a:spcAft>
                  </a:pPr>
                  <a14:m>
                    <m:oMathPara xmlns:m="http://schemas.openxmlformats.org/officeDocument/2006/math">
                      <m:oMathParaPr>
                        <m:jc m:val="centerGroup"/>
                      </m:oMathParaPr>
                      <m:oMath xmlns:m="http://schemas.openxmlformats.org/officeDocument/2006/math">
                        <m:r>
                          <a:rPr kumimoji="1" lang="en-US" altLang="zh-CN" sz="2400" b="0" i="1" smtClean="0">
                            <a:latin typeface="Cambria Math" panose="02040503050406030204" pitchFamily="18" charset="0"/>
                            <a:ea typeface="微软雅黑" panose="020B0503020204020204" pitchFamily="34" charset="-122"/>
                          </a:rPr>
                          <m:t>+</m:t>
                        </m:r>
                      </m:oMath>
                    </m:oMathPara>
                  </a14:m>
                  <a:endParaRPr kumimoji="1" lang="en-US" altLang="zh-CN" sz="2400" i="1" dirty="0">
                    <a:solidFill>
                      <a:schemeClr val="tx1"/>
                    </a:solidFill>
                    <a:latin typeface="Cambria Math" panose="02040503050406030204" pitchFamily="18" charset="0"/>
                    <a:ea typeface="微软雅黑" panose="020B0503020204020204" pitchFamily="34" charset="-122"/>
                  </a:endParaRPr>
                </a:p>
                <a:p>
                  <a:pPr algn="ctr">
                    <a:spcAft>
                      <a:spcPts val="3000"/>
                    </a:spcAft>
                  </a:pPr>
                  <a14:m>
                    <m:oMathPara xmlns:m="http://schemas.openxmlformats.org/officeDocument/2006/math">
                      <m:oMathParaPr>
                        <m:jc m:val="centerGroup"/>
                      </m:oMathParaPr>
                      <m:oMath xmlns:m="http://schemas.openxmlformats.org/officeDocument/2006/math">
                        <m:sSub>
                          <m:sSubPr>
                            <m:ctrlPr>
                              <a:rPr kumimoji="1" lang="en-US" altLang="zh-CN" sz="2400" i="1" smtClean="0">
                                <a:solidFill>
                                  <a:schemeClr val="tx1"/>
                                </a:solidFill>
                                <a:latin typeface="Cambria Math" panose="02040503050406030204" pitchFamily="18" charset="0"/>
                                <a:ea typeface="微软雅黑" panose="020B0503020204020204" pitchFamily="34" charset="-122"/>
                              </a:rPr>
                            </m:ctrlPr>
                          </m:sSubPr>
                          <m:e>
                            <m:r>
                              <a:rPr kumimoji="1" lang="en-US" altLang="zh-CN" sz="2400" b="0" i="1" smtClean="0">
                                <a:solidFill>
                                  <a:schemeClr val="tx1"/>
                                </a:solidFill>
                                <a:latin typeface="Cambria Math" panose="02040503050406030204" pitchFamily="18" charset="0"/>
                                <a:ea typeface="微软雅黑" panose="020B0503020204020204" pitchFamily="34" charset="-122"/>
                              </a:rPr>
                              <m:t>𝑉</m:t>
                            </m:r>
                          </m:e>
                          <m:sub>
                            <m:r>
                              <a:rPr kumimoji="1" lang="en-US" altLang="zh-CN" sz="2400" i="1">
                                <a:solidFill>
                                  <a:schemeClr val="tx1"/>
                                </a:solidFill>
                                <a:latin typeface="Cambria Math" panose="02040503050406030204" pitchFamily="18" charset="0"/>
                                <a:ea typeface="微软雅黑" panose="020B0503020204020204" pitchFamily="34" charset="-122"/>
                              </a:rPr>
                              <m:t>𝑍</m:t>
                            </m:r>
                          </m:sub>
                        </m:sSub>
                      </m:oMath>
                    </m:oMathPara>
                  </a14:m>
                  <a:endParaRPr kumimoji="1" lang="en-US" altLang="zh-CN" sz="2400" dirty="0">
                    <a:solidFill>
                      <a:schemeClr val="tx1"/>
                    </a:solidFill>
                    <a:latin typeface="微软雅黑" panose="020B0503020204020204" pitchFamily="34" charset="-122"/>
                    <a:ea typeface="微软雅黑" panose="020B0503020204020204" pitchFamily="34" charset="-122"/>
                  </a:endParaRPr>
                </a:p>
                <a:p>
                  <a:pPr algn="ctr">
                    <a:spcAft>
                      <a:spcPts val="3000"/>
                    </a:spcAft>
                  </a:pPr>
                  <a14:m>
                    <m:oMath xmlns:m="http://schemas.openxmlformats.org/officeDocument/2006/math">
                      <m:r>
                        <a:rPr kumimoji="1" lang="en-US" altLang="zh-CN" sz="2400" b="0" i="1" smtClean="0">
                          <a:latin typeface="Cambria Math" panose="02040503050406030204" pitchFamily="18" charset="0"/>
                          <a:ea typeface="微软雅黑" panose="020B0503020204020204" pitchFamily="34" charset="-122"/>
                        </a:rPr>
                        <m:t>−</m:t>
                      </m:r>
                    </m:oMath>
                  </a14:m>
                  <a:r>
                    <a:rPr kumimoji="1" lang="en-US" altLang="zh-CN" sz="2400" dirty="0">
                      <a:solidFill>
                        <a:schemeClr val="tx1"/>
                      </a:solidFill>
                      <a:latin typeface="微软雅黑" panose="020B0503020204020204" pitchFamily="34" charset="-122"/>
                      <a:ea typeface="微软雅黑" panose="020B0503020204020204" pitchFamily="34" charset="-122"/>
                    </a:rPr>
                    <a:t> </a:t>
                  </a:r>
                  <a:endParaRPr lang="zh-CN" altLang="en-US" sz="2400" dirty="0">
                    <a:solidFill>
                      <a:schemeClr val="tx1"/>
                    </a:solidFill>
                  </a:endParaRPr>
                </a:p>
              </p:txBody>
            </p:sp>
          </mc:Choice>
          <mc:Fallback xmlns="">
            <p:sp>
              <p:nvSpPr>
                <p:cNvPr id="40" name="文本框 39">
                  <a:extLst>
                    <a:ext uri="{FF2B5EF4-FFF2-40B4-BE49-F238E27FC236}">
                      <a16:creationId xmlns:a16="http://schemas.microsoft.com/office/drawing/2014/main" id="{779E4E01-C28C-3D04-8D3F-CF6500C91BF4}"/>
                    </a:ext>
                  </a:extLst>
                </p:cNvPr>
                <p:cNvSpPr txBox="1">
                  <a:spLocks noRot="1" noChangeAspect="1" noMove="1" noResize="1" noEditPoints="1" noAdjustHandles="1" noChangeArrowheads="1" noChangeShapeType="1" noTextEdit="1"/>
                </p:cNvSpPr>
                <p:nvPr/>
              </p:nvSpPr>
              <p:spPr>
                <a:xfrm>
                  <a:off x="3600000" y="4032000"/>
                  <a:ext cx="684000" cy="1872000"/>
                </a:xfrm>
                <a:prstGeom prst="rect">
                  <a:avLst/>
                </a:prstGeom>
                <a:blipFill>
                  <a:blip r:embed="rId5"/>
                  <a:stretch>
                    <a:fillRect b="-3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D65B8850-64DE-D161-4E4F-9665C51F345E}"/>
                    </a:ext>
                  </a:extLst>
                </p:cNvPr>
                <p:cNvSpPr txBox="1"/>
                <p:nvPr/>
              </p:nvSpPr>
              <p:spPr>
                <a:xfrm>
                  <a:off x="4680000" y="4608000"/>
                  <a:ext cx="864414"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kumimoji="1" lang="en-US" altLang="zh-CN" sz="2400" i="1" smtClean="0">
                                <a:solidFill>
                                  <a:schemeClr val="tx1"/>
                                </a:solidFill>
                                <a:latin typeface="Cambria Math" panose="02040503050406030204" pitchFamily="18" charset="0"/>
                                <a:ea typeface="微软雅黑" panose="020B0503020204020204" pitchFamily="34" charset="-122"/>
                              </a:rPr>
                            </m:ctrlPr>
                          </m:sSubPr>
                          <m:e>
                            <m:r>
                              <a:rPr kumimoji="1" lang="en-US" altLang="zh-CN" sz="2400" b="0" i="1" smtClean="0">
                                <a:solidFill>
                                  <a:schemeClr val="tx1"/>
                                </a:solidFill>
                                <a:latin typeface="Cambria Math" panose="02040503050406030204" pitchFamily="18" charset="0"/>
                                <a:ea typeface="微软雅黑" panose="020B0503020204020204" pitchFamily="34" charset="-122"/>
                              </a:rPr>
                              <m:t>𝑉</m:t>
                            </m:r>
                          </m:e>
                          <m:sub>
                            <m:r>
                              <a:rPr kumimoji="1" lang="en-US" altLang="zh-CN" sz="2400" i="1">
                                <a:solidFill>
                                  <a:schemeClr val="tx1"/>
                                </a:solidFill>
                                <a:latin typeface="Cambria Math" panose="02040503050406030204" pitchFamily="18" charset="0"/>
                                <a:ea typeface="微软雅黑" panose="020B0503020204020204" pitchFamily="34" charset="-122"/>
                              </a:rPr>
                              <m:t>𝑍</m:t>
                            </m:r>
                            <m:r>
                              <a:rPr kumimoji="1" lang="en-US" altLang="zh-CN" sz="2400" b="0" i="1" smtClean="0">
                                <a:solidFill>
                                  <a:schemeClr val="tx1"/>
                                </a:solidFill>
                                <a:latin typeface="Cambria Math" panose="02040503050406030204" pitchFamily="18" charset="0"/>
                                <a:ea typeface="微软雅黑" panose="020B0503020204020204" pitchFamily="34" charset="-122"/>
                              </a:rPr>
                              <m:t>0</m:t>
                            </m:r>
                          </m:sub>
                        </m:sSub>
                      </m:oMath>
                    </m:oMathPara>
                  </a14:m>
                  <a:endParaRPr kumimoji="1" lang="en-US" altLang="zh-CN" sz="2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41" name="文本框 40">
                  <a:extLst>
                    <a:ext uri="{FF2B5EF4-FFF2-40B4-BE49-F238E27FC236}">
                      <a16:creationId xmlns:a16="http://schemas.microsoft.com/office/drawing/2014/main" id="{D65B8850-64DE-D161-4E4F-9665C51F345E}"/>
                    </a:ext>
                  </a:extLst>
                </p:cNvPr>
                <p:cNvSpPr txBox="1">
                  <a:spLocks noRot="1" noChangeAspect="1" noMove="1" noResize="1" noEditPoints="1" noAdjustHandles="1" noChangeArrowheads="1" noChangeShapeType="1" noTextEdit="1"/>
                </p:cNvSpPr>
                <p:nvPr/>
              </p:nvSpPr>
              <p:spPr>
                <a:xfrm>
                  <a:off x="4680000" y="4608000"/>
                  <a:ext cx="864414" cy="461665"/>
                </a:xfrm>
                <a:prstGeom prst="rect">
                  <a:avLst/>
                </a:prstGeom>
                <a:blipFill>
                  <a:blip r:embed="rId6"/>
                  <a:stretch>
                    <a:fillRect b="-2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52DF7BF1-8D9A-5EB6-BA58-E3221A6A29C0}"/>
                    </a:ext>
                  </a:extLst>
                </p:cNvPr>
                <p:cNvSpPr txBox="1"/>
                <p:nvPr/>
              </p:nvSpPr>
              <p:spPr>
                <a:xfrm>
                  <a:off x="4608000" y="5292000"/>
                  <a:ext cx="461020" cy="461665"/>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kumimoji="1" lang="en-US" altLang="zh-CN" sz="2400" i="1" smtClean="0">
                                <a:solidFill>
                                  <a:schemeClr val="tx1"/>
                                </a:solidFill>
                                <a:latin typeface="Cambria Math" panose="02040503050406030204" pitchFamily="18" charset="0"/>
                                <a:ea typeface="微软雅黑" panose="020B0503020204020204" pitchFamily="34" charset="-122"/>
                              </a:rPr>
                            </m:ctrlPr>
                          </m:sSubPr>
                          <m:e>
                            <m:r>
                              <a:rPr kumimoji="1" lang="en-US" altLang="zh-CN" sz="2400" b="0" i="1" smtClean="0">
                                <a:solidFill>
                                  <a:schemeClr val="tx1"/>
                                </a:solidFill>
                                <a:latin typeface="Cambria Math" panose="02040503050406030204" pitchFamily="18" charset="0"/>
                                <a:ea typeface="微软雅黑" panose="020B0503020204020204" pitchFamily="34" charset="-122"/>
                              </a:rPr>
                              <m:t>𝑟</m:t>
                            </m:r>
                          </m:e>
                          <m:sub>
                            <m:r>
                              <a:rPr kumimoji="1" lang="en-US" altLang="zh-CN" sz="2400" i="1">
                                <a:solidFill>
                                  <a:schemeClr val="tx1"/>
                                </a:solidFill>
                                <a:latin typeface="Cambria Math" panose="02040503050406030204" pitchFamily="18" charset="0"/>
                                <a:ea typeface="微软雅黑" panose="020B0503020204020204" pitchFamily="34" charset="-122"/>
                              </a:rPr>
                              <m:t>𝑍</m:t>
                            </m:r>
                          </m:sub>
                        </m:sSub>
                      </m:oMath>
                    </m:oMathPara>
                  </a14:m>
                  <a:endParaRPr kumimoji="1" lang="en-US" altLang="zh-CN" sz="2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42" name="文本框 41">
                  <a:extLst>
                    <a:ext uri="{FF2B5EF4-FFF2-40B4-BE49-F238E27FC236}">
                      <a16:creationId xmlns:a16="http://schemas.microsoft.com/office/drawing/2014/main" id="{52DF7BF1-8D9A-5EB6-BA58-E3221A6A29C0}"/>
                    </a:ext>
                  </a:extLst>
                </p:cNvPr>
                <p:cNvSpPr txBox="1">
                  <a:spLocks noRot="1" noChangeAspect="1" noMove="1" noResize="1" noEditPoints="1" noAdjustHandles="1" noChangeArrowheads="1" noChangeShapeType="1" noTextEdit="1"/>
                </p:cNvSpPr>
                <p:nvPr/>
              </p:nvSpPr>
              <p:spPr>
                <a:xfrm>
                  <a:off x="4608000" y="5292000"/>
                  <a:ext cx="461020" cy="461665"/>
                </a:xfrm>
                <a:prstGeom prst="rect">
                  <a:avLst/>
                </a:prstGeom>
                <a:blipFill>
                  <a:blip r:embed="rId7"/>
                  <a:stretch>
                    <a:fillRect l="-5263" b="-1316"/>
                  </a:stretch>
                </a:blipFill>
              </p:spPr>
              <p:txBody>
                <a:bodyPr/>
                <a:lstStyle/>
                <a:p>
                  <a:r>
                    <a:rPr lang="zh-CN" altLang="en-US">
                      <a:noFill/>
                    </a:rPr>
                    <a:t> </a:t>
                  </a:r>
                </a:p>
              </p:txBody>
            </p:sp>
          </mc:Fallback>
        </mc:AlternateContent>
        <p:cxnSp>
          <p:nvCxnSpPr>
            <p:cNvPr id="44" name="直接箭头连接符 43">
              <a:extLst>
                <a:ext uri="{FF2B5EF4-FFF2-40B4-BE49-F238E27FC236}">
                  <a16:creationId xmlns:a16="http://schemas.microsoft.com/office/drawing/2014/main" id="{9FE152BA-6B50-F35B-B7C1-D5A26A12174C}"/>
                </a:ext>
              </a:extLst>
            </p:cNvPr>
            <p:cNvCxnSpPr/>
            <p:nvPr/>
          </p:nvCxnSpPr>
          <p:spPr>
            <a:xfrm>
              <a:off x="4644000" y="4068000"/>
              <a:ext cx="0" cy="57600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3CAE01FB-B2DB-1B40-3A6E-0E30E03107F9}"/>
                    </a:ext>
                  </a:extLst>
                </p:cNvPr>
                <p:cNvSpPr txBox="1"/>
                <p:nvPr/>
              </p:nvSpPr>
              <p:spPr>
                <a:xfrm>
                  <a:off x="4680000" y="4067999"/>
                  <a:ext cx="468000" cy="468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kumimoji="1" lang="en-US" altLang="zh-CN" sz="2400" i="1" smtClean="0">
                                <a:solidFill>
                                  <a:schemeClr val="tx1"/>
                                </a:solidFill>
                                <a:latin typeface="Cambria Math" panose="02040503050406030204" pitchFamily="18" charset="0"/>
                                <a:ea typeface="微软雅黑" panose="020B0503020204020204" pitchFamily="34" charset="-122"/>
                              </a:rPr>
                            </m:ctrlPr>
                          </m:sSubPr>
                          <m:e>
                            <m:r>
                              <a:rPr kumimoji="1" lang="en-US" altLang="zh-CN" sz="2400" b="0" i="1" smtClean="0">
                                <a:solidFill>
                                  <a:schemeClr val="tx1"/>
                                </a:solidFill>
                                <a:latin typeface="Cambria Math" panose="02040503050406030204" pitchFamily="18" charset="0"/>
                                <a:ea typeface="微软雅黑" panose="020B0503020204020204" pitchFamily="34" charset="-122"/>
                              </a:rPr>
                              <m:t>𝐼</m:t>
                            </m:r>
                          </m:e>
                          <m:sub>
                            <m:r>
                              <a:rPr kumimoji="1" lang="en-US" altLang="zh-CN" sz="2400" i="1">
                                <a:solidFill>
                                  <a:schemeClr val="tx1"/>
                                </a:solidFill>
                                <a:latin typeface="Cambria Math" panose="02040503050406030204" pitchFamily="18" charset="0"/>
                                <a:ea typeface="微软雅黑" panose="020B0503020204020204" pitchFamily="34" charset="-122"/>
                              </a:rPr>
                              <m:t>𝑍</m:t>
                            </m:r>
                          </m:sub>
                        </m:sSub>
                      </m:oMath>
                    </m:oMathPara>
                  </a14:m>
                  <a:endParaRPr kumimoji="1" lang="en-US" altLang="zh-CN" sz="2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45" name="文本框 44">
                  <a:extLst>
                    <a:ext uri="{FF2B5EF4-FFF2-40B4-BE49-F238E27FC236}">
                      <a16:creationId xmlns:a16="http://schemas.microsoft.com/office/drawing/2014/main" id="{3CAE01FB-B2DB-1B40-3A6E-0E30E03107F9}"/>
                    </a:ext>
                  </a:extLst>
                </p:cNvPr>
                <p:cNvSpPr txBox="1">
                  <a:spLocks noRot="1" noChangeAspect="1" noMove="1" noResize="1" noEditPoints="1" noAdjustHandles="1" noChangeArrowheads="1" noChangeShapeType="1" noTextEdit="1"/>
                </p:cNvSpPr>
                <p:nvPr/>
              </p:nvSpPr>
              <p:spPr>
                <a:xfrm>
                  <a:off x="4680000" y="4067999"/>
                  <a:ext cx="468000" cy="468000"/>
                </a:xfrm>
                <a:prstGeom prst="rect">
                  <a:avLst/>
                </a:prstGeom>
                <a:blipFill>
                  <a:blip r:embed="rId8"/>
                  <a:stretch>
                    <a:fillRect l="-9211"/>
                  </a:stretch>
                </a:blipFill>
              </p:spPr>
              <p:txBody>
                <a:bodyPr/>
                <a:lstStyle/>
                <a:p>
                  <a:r>
                    <a:rPr lang="zh-CN" altLang="en-US">
                      <a:noFill/>
                    </a:rPr>
                    <a:t> </a:t>
                  </a:r>
                </a:p>
              </p:txBody>
            </p:sp>
          </mc:Fallback>
        </mc:AlternateContent>
        <p:sp>
          <p:nvSpPr>
            <p:cNvPr id="47" name="椭圆 46">
              <a:extLst>
                <a:ext uri="{FF2B5EF4-FFF2-40B4-BE49-F238E27FC236}">
                  <a16:creationId xmlns:a16="http://schemas.microsoft.com/office/drawing/2014/main" id="{13636A7B-1C64-5AFC-2D15-BEBF4D3CD025}"/>
                </a:ext>
              </a:extLst>
            </p:cNvPr>
            <p:cNvSpPr/>
            <p:nvPr/>
          </p:nvSpPr>
          <p:spPr>
            <a:xfrm>
              <a:off x="4446000" y="3852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a:extLst>
                <a:ext uri="{FF2B5EF4-FFF2-40B4-BE49-F238E27FC236}">
                  <a16:creationId xmlns:a16="http://schemas.microsoft.com/office/drawing/2014/main" id="{22E1EE89-5269-3050-5A1E-946756D0FDF6}"/>
                </a:ext>
              </a:extLst>
            </p:cNvPr>
            <p:cNvSpPr/>
            <p:nvPr/>
          </p:nvSpPr>
          <p:spPr>
            <a:xfrm>
              <a:off x="4446000" y="6120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3" name="文本框 52">
            <a:extLst>
              <a:ext uri="{FF2B5EF4-FFF2-40B4-BE49-F238E27FC236}">
                <a16:creationId xmlns:a16="http://schemas.microsoft.com/office/drawing/2014/main" id="{72015C05-C465-341F-3872-07D0E4033FE8}"/>
              </a:ext>
            </a:extLst>
          </p:cNvPr>
          <p:cNvSpPr txBox="1"/>
          <p:nvPr/>
        </p:nvSpPr>
        <p:spPr>
          <a:xfrm>
            <a:off x="828000" y="6120000"/>
            <a:ext cx="1440000" cy="432000"/>
          </a:xfrm>
          <a:prstGeom prst="rect">
            <a:avLst/>
          </a:prstGeom>
          <a:noFill/>
        </p:spPr>
        <p:txBody>
          <a:bodyPr wrap="square">
            <a:spAutoFit/>
          </a:bodyPr>
          <a:lstStyle/>
          <a:p>
            <a:pPr algn="ct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代表符号</a:t>
            </a:r>
            <a:endParaRPr lang="zh-CN" altLang="en-US" sz="2400" dirty="0"/>
          </a:p>
        </p:txBody>
      </p:sp>
      <p:sp>
        <p:nvSpPr>
          <p:cNvPr id="54" name="文本框 53">
            <a:extLst>
              <a:ext uri="{FF2B5EF4-FFF2-40B4-BE49-F238E27FC236}">
                <a16:creationId xmlns:a16="http://schemas.microsoft.com/office/drawing/2014/main" id="{FF2BAED8-7B69-ED7A-656E-4A6C35945E0E}"/>
              </a:ext>
            </a:extLst>
          </p:cNvPr>
          <p:cNvSpPr txBox="1"/>
          <p:nvPr/>
        </p:nvSpPr>
        <p:spPr>
          <a:xfrm>
            <a:off x="3780000" y="6120000"/>
            <a:ext cx="1440000" cy="461665"/>
          </a:xfrm>
          <a:prstGeom prst="rect">
            <a:avLst/>
          </a:prstGeom>
          <a:noFill/>
        </p:spPr>
        <p:txBody>
          <a:bodyPr wrap="square">
            <a:spAutoFit/>
          </a:bodyPr>
          <a:lstStyle/>
          <a:p>
            <a:pPr algn="ct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等效模型</a:t>
            </a:r>
            <a:endParaRPr lang="zh-CN" altLang="en-US" sz="2400" dirty="0"/>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657EFAC5-3E91-414A-9DED-7F4148921FAD}"/>
                  </a:ext>
                </a:extLst>
              </p:cNvPr>
              <p:cNvSpPr txBox="1"/>
              <p:nvPr/>
            </p:nvSpPr>
            <p:spPr>
              <a:xfrm>
                <a:off x="6480000" y="5400000"/>
                <a:ext cx="3600000" cy="432000"/>
              </a:xfrm>
              <a:prstGeom prst="rect">
                <a:avLst/>
              </a:prstGeom>
              <a:noFill/>
            </p:spPr>
            <p:txBody>
              <a:bodyPr wrap="square">
                <a:spAutoFit/>
              </a:bodyPr>
              <a:lstStyle/>
              <a:p>
                <a:pPr algn="ctr"/>
                <a:r>
                  <a:rPr kumimoji="1" lang="zh-CN" altLang="en-US" sz="2400" dirty="0">
                    <a:solidFill>
                      <a:srgbClr val="0000FF"/>
                    </a:solidFill>
                    <a:latin typeface="微软雅黑" panose="020B0503020204020204" pitchFamily="34" charset="-122"/>
                    <a:ea typeface="微软雅黑" panose="020B0503020204020204" pitchFamily="34" charset="-122"/>
                  </a:rPr>
                  <a:t>可把 </a:t>
                </a:r>
                <a14:m>
                  <m:oMath xmlns:m="http://schemas.openxmlformats.org/officeDocument/2006/math">
                    <m:sSub>
                      <m:sSubPr>
                        <m:ctrlPr>
                          <a:rPr kumimoji="1" lang="en-US" altLang="zh-CN" sz="2400" i="1">
                            <a:solidFill>
                              <a:srgbClr val="0000FF"/>
                            </a:solidFill>
                            <a:latin typeface="Cambria Math" panose="02040503050406030204" pitchFamily="18" charset="0"/>
                            <a:ea typeface="微软雅黑" panose="020B0503020204020204" pitchFamily="34" charset="-122"/>
                          </a:rPr>
                        </m:ctrlPr>
                      </m:sSubPr>
                      <m:e>
                        <m:r>
                          <a:rPr kumimoji="1" lang="en-US" altLang="zh-CN" sz="2400" i="1">
                            <a:solidFill>
                              <a:srgbClr val="0000FF"/>
                            </a:solidFill>
                            <a:latin typeface="Cambria Math" panose="02040503050406030204" pitchFamily="18" charset="0"/>
                            <a:ea typeface="微软雅黑" panose="020B0503020204020204" pitchFamily="34" charset="-122"/>
                          </a:rPr>
                          <m:t>𝑉</m:t>
                        </m:r>
                      </m:e>
                      <m:sub>
                        <m:r>
                          <a:rPr kumimoji="1" lang="en-US" altLang="zh-CN" sz="2400" i="1">
                            <a:solidFill>
                              <a:srgbClr val="0000FF"/>
                            </a:solidFill>
                            <a:latin typeface="Cambria Math" panose="02040503050406030204" pitchFamily="18" charset="0"/>
                            <a:ea typeface="微软雅黑" panose="020B0503020204020204" pitchFamily="34" charset="-122"/>
                          </a:rPr>
                          <m:t>𝑍</m:t>
                        </m:r>
                      </m:sub>
                    </m:sSub>
                  </m:oMath>
                </a14:m>
                <a:r>
                  <a:rPr kumimoji="1" lang="zh-CN" altLang="en-US" sz="2400" dirty="0">
                    <a:solidFill>
                      <a:srgbClr val="0000FF"/>
                    </a:solidFill>
                    <a:latin typeface="微软雅黑" panose="020B0503020204020204" pitchFamily="34" charset="-122"/>
                    <a:ea typeface="微软雅黑" panose="020B0503020204020204" pitchFamily="34" charset="-122"/>
                  </a:rPr>
                  <a:t> 看作恒定值 </a:t>
                </a:r>
                <a:endParaRPr lang="zh-CN" altLang="en-US" sz="2400" dirty="0">
                  <a:solidFill>
                    <a:srgbClr val="0000FF"/>
                  </a:solidFill>
                </a:endParaRPr>
              </a:p>
            </p:txBody>
          </p:sp>
        </mc:Choice>
        <mc:Fallback xmlns="">
          <p:sp>
            <p:nvSpPr>
              <p:cNvPr id="9" name="文本框 8">
                <a:extLst>
                  <a:ext uri="{FF2B5EF4-FFF2-40B4-BE49-F238E27FC236}">
                    <a16:creationId xmlns:a16="http://schemas.microsoft.com/office/drawing/2014/main" id="{657EFAC5-3E91-414A-9DED-7F4148921FAD}"/>
                  </a:ext>
                </a:extLst>
              </p:cNvPr>
              <p:cNvSpPr txBox="1">
                <a:spLocks noRot="1" noChangeAspect="1" noMove="1" noResize="1" noEditPoints="1" noAdjustHandles="1" noChangeArrowheads="1" noChangeShapeType="1" noTextEdit="1"/>
              </p:cNvSpPr>
              <p:nvPr/>
            </p:nvSpPr>
            <p:spPr>
              <a:xfrm>
                <a:off x="6480000" y="5400000"/>
                <a:ext cx="3600000" cy="432000"/>
              </a:xfrm>
              <a:prstGeom prst="rect">
                <a:avLst/>
              </a:prstGeom>
              <a:blipFill>
                <a:blip r:embed="rId9"/>
                <a:stretch>
                  <a:fillRect t="-12676" b="-36620"/>
                </a:stretch>
              </a:blipFill>
            </p:spPr>
            <p:txBody>
              <a:bodyPr/>
              <a:lstStyle/>
              <a:p>
                <a:r>
                  <a:rPr lang="zh-CN" altLang="en-US">
                    <a:noFill/>
                  </a:rPr>
                  <a:t> </a:t>
                </a:r>
              </a:p>
            </p:txBody>
          </p:sp>
        </mc:Fallback>
      </mc:AlternateContent>
      <p:pic>
        <p:nvPicPr>
          <p:cNvPr id="12" name="图片 11">
            <a:extLst>
              <a:ext uri="{FF2B5EF4-FFF2-40B4-BE49-F238E27FC236}">
                <a16:creationId xmlns:a16="http://schemas.microsoft.com/office/drawing/2014/main" id="{C1F0CAF9-6E5C-2BB9-D0CD-D3CE95339E1A}"/>
              </a:ext>
            </a:extLst>
          </p:cNvPr>
          <p:cNvPicPr>
            <a:picLocks noChangeAspect="1"/>
          </p:cNvPicPr>
          <p:nvPr/>
        </p:nvPicPr>
        <p:blipFill>
          <a:blip r:embed="rId10"/>
          <a:stretch>
            <a:fillRect/>
          </a:stretch>
        </p:blipFill>
        <p:spPr>
          <a:xfrm>
            <a:off x="7667999" y="576000"/>
            <a:ext cx="4500000" cy="3708000"/>
          </a:xfrm>
          <a:prstGeom prst="rect">
            <a:avLst/>
          </a:prstGeom>
        </p:spPr>
      </p:pic>
    </p:spTree>
    <p:extLst>
      <p:ext uri="{BB962C8B-B14F-4D97-AF65-F5344CB8AC3E}">
        <p14:creationId xmlns:p14="http://schemas.microsoft.com/office/powerpoint/2010/main" val="6721001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a:extLst>
              <a:ext uri="{FF2B5EF4-FFF2-40B4-BE49-F238E27FC236}">
                <a16:creationId xmlns:a16="http://schemas.microsoft.com/office/drawing/2014/main" id="{8C1091C1-725D-4808-C1ED-A03DDC308257}"/>
              </a:ext>
            </a:extLst>
          </p:cNvPr>
          <p:cNvPicPr>
            <a:picLocks noChangeAspect="1"/>
          </p:cNvPicPr>
          <p:nvPr/>
        </p:nvPicPr>
        <p:blipFill>
          <a:blip r:embed="rId3"/>
          <a:stretch>
            <a:fillRect/>
          </a:stretch>
        </p:blipFill>
        <p:spPr>
          <a:xfrm>
            <a:off x="7667999" y="576000"/>
            <a:ext cx="4500000" cy="3708000"/>
          </a:xfrm>
          <a:prstGeom prst="rect">
            <a:avLst/>
          </a:prstGeom>
        </p:spPr>
      </p:pic>
      <p:sp>
        <p:nvSpPr>
          <p:cNvPr id="2" name="标题 1">
            <a:extLst>
              <a:ext uri="{FF2B5EF4-FFF2-40B4-BE49-F238E27FC236}">
                <a16:creationId xmlns:a16="http://schemas.microsoft.com/office/drawing/2014/main" id="{9CD45ED5-F560-6D9F-0273-7C3869AC323A}"/>
              </a:ext>
            </a:extLst>
          </p:cNvPr>
          <p:cNvSpPr txBox="1">
            <a:spLocks/>
          </p:cNvSpPr>
          <p:nvPr/>
        </p:nvSpPr>
        <p:spPr>
          <a:xfrm>
            <a:off x="360000" y="0"/>
            <a:ext cx="11826000" cy="548639"/>
          </a:xfrm>
          <a:prstGeom prst="rect">
            <a:avLst/>
          </a:prstGeom>
        </p:spPr>
        <p:txBody>
          <a:bodyPr anchor="b">
            <a:normAutofit/>
          </a:bodyPr>
          <a:lstStyle>
            <a:defPPr>
              <a:defRPr lang="zh-CN"/>
            </a:defPPr>
            <a:lvl1pPr>
              <a:lnSpc>
                <a:spcPct val="90000"/>
              </a:lnSpc>
              <a:spcBef>
                <a:spcPct val="0"/>
              </a:spcBef>
              <a:buNone/>
              <a:defRPr sz="3200" b="1">
                <a:solidFill>
                  <a:schemeClr val="bg1"/>
                </a:solidFill>
                <a:latin typeface="微软雅黑" panose="020B0503020204020204" pitchFamily="34" charset="-122"/>
                <a:ea typeface="微软雅黑" panose="020B0503020204020204" pitchFamily="34" charset="-122"/>
                <a:cs typeface="+mj-cs"/>
              </a:defRPr>
            </a:lvl1pPr>
          </a:lstStyle>
          <a:p>
            <a:r>
              <a:rPr lang="zh-CN" altLang="en-US" sz="3000" dirty="0"/>
              <a:t>二极管及其应用</a:t>
            </a:r>
            <a:endParaRPr lang="en-US" altLang="zh-CN" sz="3000" dirty="0"/>
          </a:p>
        </p:txBody>
      </p:sp>
      <p:grpSp>
        <p:nvGrpSpPr>
          <p:cNvPr id="3" name="组合 2">
            <a:extLst>
              <a:ext uri="{FF2B5EF4-FFF2-40B4-BE49-F238E27FC236}">
                <a16:creationId xmlns:a16="http://schemas.microsoft.com/office/drawing/2014/main" id="{F5CE4B32-5706-7D39-5EE7-F1E67A3E6C91}"/>
              </a:ext>
            </a:extLst>
          </p:cNvPr>
          <p:cNvGrpSpPr/>
          <p:nvPr/>
        </p:nvGrpSpPr>
        <p:grpSpPr>
          <a:xfrm>
            <a:off x="11449269" y="6198682"/>
            <a:ext cx="786273" cy="548639"/>
            <a:chOff x="11454918" y="5839511"/>
            <a:chExt cx="786273" cy="548639"/>
          </a:xfrm>
        </p:grpSpPr>
        <p:grpSp>
          <p:nvGrpSpPr>
            <p:cNvPr id="4" name="组合 3">
              <a:extLst>
                <a:ext uri="{FF2B5EF4-FFF2-40B4-BE49-F238E27FC236}">
                  <a16:creationId xmlns:a16="http://schemas.microsoft.com/office/drawing/2014/main" id="{EBD1F4BE-2BD5-7C1F-2846-EA19C32C392F}"/>
                </a:ext>
              </a:extLst>
            </p:cNvPr>
            <p:cNvGrpSpPr/>
            <p:nvPr/>
          </p:nvGrpSpPr>
          <p:grpSpPr>
            <a:xfrm>
              <a:off x="11454918" y="5867450"/>
              <a:ext cx="737081" cy="520700"/>
              <a:chOff x="11454918" y="5867450"/>
              <a:chExt cx="737081" cy="520700"/>
            </a:xfrm>
          </p:grpSpPr>
          <p:sp>
            <p:nvSpPr>
              <p:cNvPr id="6" name="箭头: 五边形 5">
                <a:extLst>
                  <a:ext uri="{FF2B5EF4-FFF2-40B4-BE49-F238E27FC236}">
                    <a16:creationId xmlns:a16="http://schemas.microsoft.com/office/drawing/2014/main" id="{8E322298-46FC-AEAE-67B9-E2F28178D7BA}"/>
                  </a:ext>
                </a:extLst>
              </p:cNvPr>
              <p:cNvSpPr/>
              <p:nvPr/>
            </p:nvSpPr>
            <p:spPr>
              <a:xfrm rot="10800000">
                <a:off x="11525248" y="5867450"/>
                <a:ext cx="666751" cy="520700"/>
              </a:xfrm>
              <a:prstGeom prst="homePlate">
                <a:avLst>
                  <a:gd name="adj" fmla="val 33161"/>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箭头: V 形 6">
                <a:extLst>
                  <a:ext uri="{FF2B5EF4-FFF2-40B4-BE49-F238E27FC236}">
                    <a16:creationId xmlns:a16="http://schemas.microsoft.com/office/drawing/2014/main" id="{7C8CE781-ACE0-734F-75C9-C2627D93FC2D}"/>
                  </a:ext>
                </a:extLst>
              </p:cNvPr>
              <p:cNvSpPr/>
              <p:nvPr/>
            </p:nvSpPr>
            <p:spPr>
              <a:xfrm rot="10800000">
                <a:off x="11454918" y="5867450"/>
                <a:ext cx="217179" cy="520700"/>
              </a:xfrm>
              <a:prstGeom prst="chevron">
                <a:avLst>
                  <a:gd name="adj" fmla="val 8485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5" name="灯片编号占位符 3">
              <a:extLst>
                <a:ext uri="{FF2B5EF4-FFF2-40B4-BE49-F238E27FC236}">
                  <a16:creationId xmlns:a16="http://schemas.microsoft.com/office/drawing/2014/main" id="{41475913-DDF7-E424-A389-52BA53EAEAC3}"/>
                </a:ext>
              </a:extLst>
            </p:cNvPr>
            <p:cNvSpPr txBox="1">
              <a:spLocks/>
            </p:cNvSpPr>
            <p:nvPr/>
          </p:nvSpPr>
          <p:spPr>
            <a:xfrm>
              <a:off x="11574440" y="5839511"/>
              <a:ext cx="666751" cy="548639"/>
            </a:xfrm>
            <a:prstGeom prst="rect">
              <a:avLst/>
            </a:prstGeom>
          </p:spPr>
          <p:txBody>
            <a:bodyPr vert="horz" lIns="91440" tIns="45720" rIns="91440" bIns="45720" rtlCol="0" anchor="ctr"/>
            <a:lstStyle>
              <a:defPPr>
                <a:defRPr lang="zh-CN"/>
              </a:defPPr>
              <a:lvl1pPr marL="0" algn="ctr" defTabSz="914400" rtl="0" eaLnBrk="1" latinLnBrk="0" hangingPunct="1">
                <a:defRPr sz="2800" b="1" kern="1200">
                  <a:solidFill>
                    <a:schemeClr val="accent3"/>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27C45CD9-0508-4D1E-923D-4DFDAA610D19}" type="slidenum">
                <a:rPr lang="zh-CN" altLang="en-US" sz="3200" smtClean="0">
                  <a:solidFill>
                    <a:schemeClr val="bg1"/>
                  </a:solidFill>
                  <a:latin typeface="Candara"/>
                  <a:ea typeface="微软雅黑"/>
                </a:rPr>
                <a:pPr>
                  <a:defRPr/>
                </a:pPr>
                <a:t>31</a:t>
              </a:fld>
              <a:endParaRPr lang="zh-CN" altLang="en-US" sz="3200" dirty="0">
                <a:solidFill>
                  <a:schemeClr val="bg1"/>
                </a:solidFill>
                <a:latin typeface="Candara"/>
                <a:ea typeface="微软雅黑"/>
              </a:endParaRPr>
            </a:p>
          </p:txBody>
        </p:sp>
      </p:gr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53A5575D-578C-4A5A-05B8-24AD58988AB2}"/>
                  </a:ext>
                </a:extLst>
              </p:cNvPr>
              <p:cNvSpPr txBox="1"/>
              <p:nvPr/>
            </p:nvSpPr>
            <p:spPr>
              <a:xfrm>
                <a:off x="360000" y="828000"/>
                <a:ext cx="7232093" cy="2701317"/>
              </a:xfrm>
              <a:prstGeom prst="rect">
                <a:avLst/>
              </a:prstGeom>
              <a:noFill/>
            </p:spPr>
            <p:txBody>
              <a:bodyPr wrap="square">
                <a:spAutoFit/>
              </a:bodyPr>
              <a:lstStyle/>
              <a:p>
                <a:pPr marL="457200" indent="-457200">
                  <a:lnSpc>
                    <a:spcPct val="120000"/>
                  </a:lnSpc>
                  <a:spcAft>
                    <a:spcPts val="600"/>
                  </a:spcAft>
                  <a:buFont typeface="Arial" panose="020B0604020202020204" pitchFamily="34" charset="0"/>
                  <a:buChar char="•"/>
                </a:pPr>
                <a:r>
                  <a:rPr kumimoji="1" lang="zh-CN" altLang="en-US" sz="2800" dirty="0">
                    <a:solidFill>
                      <a:srgbClr val="002060"/>
                    </a:solidFill>
                    <a:latin typeface="微软雅黑" panose="020B0503020204020204" pitchFamily="34" charset="-122"/>
                    <a:ea typeface="微软雅黑" panose="020B0503020204020204" pitchFamily="34" charset="-122"/>
                  </a:rPr>
                  <a:t>稳压二极管（齐纳二极管）</a:t>
                </a:r>
                <a:endParaRPr kumimoji="1" lang="en-US" altLang="zh-CN" sz="2800" dirty="0">
                  <a:solidFill>
                    <a:srgbClr val="002060"/>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正常工作都处于反向击穿状态</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稳定电压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𝑉</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𝑍</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是在特定测试电流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𝐼</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𝑍</m:t>
                        </m:r>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𝑇</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下得到 </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动态电阻 </a:t>
                </a:r>
                <a14:m>
                  <m:oMath xmlns:m="http://schemas.openxmlformats.org/officeDocument/2006/math">
                    <m:sSub>
                      <m:sSubPr>
                        <m:ctrlP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𝑟</m:t>
                        </m:r>
                      </m:e>
                      <m:sub>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𝑍</m:t>
                        </m:r>
                      </m:sub>
                    </m:sSub>
                  </m:oMath>
                </a14:m>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越小，稳压性能越好</a:t>
                </a:r>
                <a:r>
                  <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rPr>
                  <a:t> </a:t>
                </a:r>
              </a:p>
              <a:p>
                <a:pPr marL="914400" lvl="1" indent="-457200">
                  <a:lnSpc>
                    <a:spcPct val="120000"/>
                  </a:lnSpc>
                  <a:spcAft>
                    <a:spcPts val="600"/>
                  </a:spcAft>
                  <a:buFont typeface="Wingdings" panose="05000000000000000000" pitchFamily="2" charset="2"/>
                  <a:buChar char="Ø"/>
                </a:pP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工作电流绝对值范围：</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𝐼</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𝑍</m:t>
                        </m:r>
                        <m:d>
                          <m:d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dPr>
                          <m:e>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min</m:t>
                            </m:r>
                          </m:e>
                        </m:d>
                      </m:sub>
                    </m:sSub>
                    <m:r>
                      <a:rPr kumimoji="1" lang="en-US" altLang="zh-CN" sz="2400" i="1" smtClean="0">
                        <a:solidFill>
                          <a:schemeClr val="accent5">
                            <a:lumMod val="75000"/>
                          </a:schemeClr>
                        </a:solidFill>
                        <a:latin typeface="Cambria Math" panose="02040503050406030204" pitchFamily="18" charset="0"/>
                        <a:ea typeface="Cambria Math" panose="02040503050406030204" pitchFamily="18" charset="0"/>
                      </a:rPr>
                      <m:t>≤</m:t>
                    </m:r>
                    <m:d>
                      <m:dPr>
                        <m:begChr m:val="|"/>
                        <m:endChr m:val="|"/>
                        <m:ctrlPr>
                          <a:rPr kumimoji="1" lang="en-US" altLang="zh-CN" sz="2400" i="1" smtClean="0">
                            <a:solidFill>
                              <a:schemeClr val="accent5">
                                <a:lumMod val="75000"/>
                              </a:schemeClr>
                            </a:solidFill>
                            <a:latin typeface="Cambria Math" panose="02040503050406030204" pitchFamily="18" charset="0"/>
                            <a:ea typeface="微软雅黑" panose="020B0503020204020204" pitchFamily="34" charset="-122"/>
                          </a:rPr>
                        </m:ctrlPr>
                      </m:dPr>
                      <m:e>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𝐼</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𝑍</m:t>
                            </m:r>
                          </m:sub>
                        </m:sSub>
                      </m:e>
                    </m:d>
                    <m:r>
                      <a:rPr kumimoji="1" lang="en-US" altLang="zh-CN" sz="2400" i="1" smtClean="0">
                        <a:solidFill>
                          <a:schemeClr val="accent5">
                            <a:lumMod val="75000"/>
                          </a:schemeClr>
                        </a:solidFill>
                        <a:latin typeface="Cambria Math" panose="02040503050406030204" pitchFamily="18" charset="0"/>
                        <a:ea typeface="Cambria Math" panose="02040503050406030204" pitchFamily="18" charset="0"/>
                      </a:rPr>
                      <m:t>≤</m:t>
                    </m:r>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𝐼</m:t>
                        </m:r>
                      </m:e>
                      <m:sub>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𝑍</m:t>
                        </m:r>
                        <m:d>
                          <m:d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dPr>
                          <m:e>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max</m:t>
                            </m:r>
                          </m:e>
                        </m:d>
                      </m:sub>
                    </m:sSub>
                  </m:oMath>
                </a14:m>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8" name="文本框 7">
                <a:extLst>
                  <a:ext uri="{FF2B5EF4-FFF2-40B4-BE49-F238E27FC236}">
                    <a16:creationId xmlns:a16="http://schemas.microsoft.com/office/drawing/2014/main" id="{53A5575D-578C-4A5A-05B8-24AD58988AB2}"/>
                  </a:ext>
                </a:extLst>
              </p:cNvPr>
              <p:cNvSpPr txBox="1">
                <a:spLocks noRot="1" noChangeAspect="1" noMove="1" noResize="1" noEditPoints="1" noAdjustHandles="1" noChangeArrowheads="1" noChangeShapeType="1" noTextEdit="1"/>
              </p:cNvSpPr>
              <p:nvPr/>
            </p:nvSpPr>
            <p:spPr>
              <a:xfrm>
                <a:off x="360000" y="828000"/>
                <a:ext cx="7232093" cy="2701317"/>
              </a:xfrm>
              <a:prstGeom prst="rect">
                <a:avLst/>
              </a:prstGeom>
              <a:blipFill>
                <a:blip r:embed="rId4"/>
                <a:stretch>
                  <a:fillRect l="-1518" t="-903" b="-3160"/>
                </a:stretch>
              </a:blipFill>
            </p:spPr>
            <p:txBody>
              <a:bodyPr/>
              <a:lstStyle/>
              <a:p>
                <a:r>
                  <a:rPr lang="zh-CN" altLang="en-US">
                    <a:noFill/>
                  </a:rPr>
                  <a:t> </a:t>
                </a:r>
              </a:p>
            </p:txBody>
          </p:sp>
        </mc:Fallback>
      </mc:AlternateContent>
      <p:grpSp>
        <p:nvGrpSpPr>
          <p:cNvPr id="97" name="组合 96">
            <a:extLst>
              <a:ext uri="{FF2B5EF4-FFF2-40B4-BE49-F238E27FC236}">
                <a16:creationId xmlns:a16="http://schemas.microsoft.com/office/drawing/2014/main" id="{9E89D895-5FC2-FC1A-72D7-4FC337C3313E}"/>
              </a:ext>
            </a:extLst>
          </p:cNvPr>
          <p:cNvGrpSpPr/>
          <p:nvPr/>
        </p:nvGrpSpPr>
        <p:grpSpPr>
          <a:xfrm>
            <a:off x="1080000" y="3600000"/>
            <a:ext cx="3492000" cy="2052000"/>
            <a:chOff x="6711057" y="4140000"/>
            <a:chExt cx="3492000" cy="2052000"/>
          </a:xfrm>
        </p:grpSpPr>
        <p:sp>
          <p:nvSpPr>
            <p:cNvPr id="57" name="椭圆 56">
              <a:extLst>
                <a:ext uri="{FF2B5EF4-FFF2-40B4-BE49-F238E27FC236}">
                  <a16:creationId xmlns:a16="http://schemas.microsoft.com/office/drawing/2014/main" id="{F3B1664B-60CF-0377-A2B4-F8E98DA5516A}"/>
                </a:ext>
              </a:extLst>
            </p:cNvPr>
            <p:cNvSpPr/>
            <p:nvPr/>
          </p:nvSpPr>
          <p:spPr>
            <a:xfrm>
              <a:off x="7179057" y="4662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a:extLst>
                <a:ext uri="{FF2B5EF4-FFF2-40B4-BE49-F238E27FC236}">
                  <a16:creationId xmlns:a16="http://schemas.microsoft.com/office/drawing/2014/main" id="{C2DEF442-5BFE-AF5B-0E2B-3B3A323ACE83}"/>
                </a:ext>
              </a:extLst>
            </p:cNvPr>
            <p:cNvSpPr/>
            <p:nvPr/>
          </p:nvSpPr>
          <p:spPr>
            <a:xfrm>
              <a:off x="7179057" y="5976000"/>
              <a:ext cx="108000" cy="108000"/>
            </a:xfrm>
            <a:prstGeom prst="ellipse">
              <a:avLst/>
            </a:prstGeom>
            <a:solidFill>
              <a:schemeClr val="bg1"/>
            </a:solidFill>
            <a:ln w="254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9" name="直接连接符 58">
              <a:extLst>
                <a:ext uri="{FF2B5EF4-FFF2-40B4-BE49-F238E27FC236}">
                  <a16:creationId xmlns:a16="http://schemas.microsoft.com/office/drawing/2014/main" id="{5FE4A097-783D-450E-44C6-11C9E6E7C558}"/>
                </a:ext>
              </a:extLst>
            </p:cNvPr>
            <p:cNvCxnSpPr>
              <a:cxnSpLocks/>
            </p:cNvCxnSpPr>
            <p:nvPr/>
          </p:nvCxnSpPr>
          <p:spPr>
            <a:xfrm>
              <a:off x="7287057" y="4716000"/>
              <a:ext cx="2376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6E33CF43-90FB-6A7B-EB99-7DCA2C6FF5A2}"/>
                </a:ext>
              </a:extLst>
            </p:cNvPr>
            <p:cNvCxnSpPr>
              <a:cxnSpLocks/>
              <a:stCxn id="58" idx="6"/>
            </p:cNvCxnSpPr>
            <p:nvPr/>
          </p:nvCxnSpPr>
          <p:spPr>
            <a:xfrm>
              <a:off x="7287057" y="6030000"/>
              <a:ext cx="2376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04C91992-0CC9-E3A8-2BCE-F007E5CA12B1}"/>
                </a:ext>
              </a:extLst>
            </p:cNvPr>
            <p:cNvCxnSpPr>
              <a:cxnSpLocks/>
            </p:cNvCxnSpPr>
            <p:nvPr/>
          </p:nvCxnSpPr>
          <p:spPr>
            <a:xfrm flipV="1">
              <a:off x="9663057" y="4716000"/>
              <a:ext cx="0" cy="1314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69783D12-6E39-A7FD-3EAC-B5B16568D7F0}"/>
                </a:ext>
              </a:extLst>
            </p:cNvPr>
            <p:cNvCxnSpPr>
              <a:cxnSpLocks/>
            </p:cNvCxnSpPr>
            <p:nvPr/>
          </p:nvCxnSpPr>
          <p:spPr>
            <a:xfrm flipV="1">
              <a:off x="8640000" y="4734000"/>
              <a:ext cx="0" cy="1296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6" name="椭圆 75">
              <a:extLst>
                <a:ext uri="{FF2B5EF4-FFF2-40B4-BE49-F238E27FC236}">
                  <a16:creationId xmlns:a16="http://schemas.microsoft.com/office/drawing/2014/main" id="{CF9257F7-0DE6-B49C-A1B0-351BE9FD6144}"/>
                </a:ext>
              </a:extLst>
            </p:cNvPr>
            <p:cNvSpPr/>
            <p:nvPr/>
          </p:nvSpPr>
          <p:spPr>
            <a:xfrm>
              <a:off x="8586000" y="5974621"/>
              <a:ext cx="108000" cy="108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a:extLst>
                <a:ext uri="{FF2B5EF4-FFF2-40B4-BE49-F238E27FC236}">
                  <a16:creationId xmlns:a16="http://schemas.microsoft.com/office/drawing/2014/main" id="{11385612-0DBA-2E34-BFE0-582B44FCB983}"/>
                </a:ext>
              </a:extLst>
            </p:cNvPr>
            <p:cNvSpPr/>
            <p:nvPr/>
          </p:nvSpPr>
          <p:spPr>
            <a:xfrm>
              <a:off x="8583057" y="4662000"/>
              <a:ext cx="108000" cy="108000"/>
            </a:xfrm>
            <a:prstGeom prst="ellipse">
              <a:avLst/>
            </a:prstGeom>
            <a:solidFill>
              <a:schemeClr val="tx1"/>
            </a:solidFill>
            <a:ln w="254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a:extLst>
                <a:ext uri="{FF2B5EF4-FFF2-40B4-BE49-F238E27FC236}">
                  <a16:creationId xmlns:a16="http://schemas.microsoft.com/office/drawing/2014/main" id="{DEAC2E1E-6389-A53A-1AA3-1AF52EF851BB}"/>
                </a:ext>
              </a:extLst>
            </p:cNvPr>
            <p:cNvSpPr/>
            <p:nvPr/>
          </p:nvSpPr>
          <p:spPr>
            <a:xfrm>
              <a:off x="9591057" y="5148000"/>
              <a:ext cx="144000" cy="504000"/>
            </a:xfrm>
            <a:prstGeom prst="rect">
              <a:avLst/>
            </a:prstGeom>
            <a:solidFill>
              <a:schemeClr val="bg1">
                <a:alpha val="99000"/>
              </a:schemeClr>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p:sp>
          <p:nvSpPr>
            <p:cNvPr id="79" name="矩形 78">
              <a:extLst>
                <a:ext uri="{FF2B5EF4-FFF2-40B4-BE49-F238E27FC236}">
                  <a16:creationId xmlns:a16="http://schemas.microsoft.com/office/drawing/2014/main" id="{5B4BAE56-6828-9B85-3CB8-26A67EA0DC81}"/>
                </a:ext>
              </a:extLst>
            </p:cNvPr>
            <p:cNvSpPr/>
            <p:nvPr/>
          </p:nvSpPr>
          <p:spPr>
            <a:xfrm>
              <a:off x="7560001" y="4651200"/>
              <a:ext cx="504000" cy="144000"/>
            </a:xfrm>
            <a:prstGeom prst="rect">
              <a:avLst/>
            </a:prstGeom>
            <a:solidFill>
              <a:schemeClr val="bg1">
                <a:alpha val="99000"/>
              </a:schemeClr>
            </a:solidFill>
            <a:ln w="38100"/>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80" name="文本框 79">
                  <a:extLst>
                    <a:ext uri="{FF2B5EF4-FFF2-40B4-BE49-F238E27FC236}">
                      <a16:creationId xmlns:a16="http://schemas.microsoft.com/office/drawing/2014/main" id="{52CB16E9-1DAB-FCEC-8D63-21B784B1F3A5}"/>
                    </a:ext>
                  </a:extLst>
                </p:cNvPr>
                <p:cNvSpPr txBox="1"/>
                <p:nvPr/>
              </p:nvSpPr>
              <p:spPr>
                <a:xfrm>
                  <a:off x="6711057" y="4536000"/>
                  <a:ext cx="540000" cy="1656000"/>
                </a:xfrm>
                <a:prstGeom prst="rect">
                  <a:avLst/>
                </a:prstGeom>
                <a:noFill/>
              </p:spPr>
              <p:txBody>
                <a:bodyPr wrap="square">
                  <a:spAutoFit/>
                </a:bodyPr>
                <a:lstStyle/>
                <a:p>
                  <a:pPr algn="ctr">
                    <a:spcAft>
                      <a:spcPts val="1800"/>
                    </a:spcAft>
                  </a:pPr>
                  <a14:m>
                    <m:oMathPara xmlns:m="http://schemas.openxmlformats.org/officeDocument/2006/math">
                      <m:oMathParaPr>
                        <m:jc m:val="centerGroup"/>
                      </m:oMathParaPr>
                      <m:oMath xmlns:m="http://schemas.openxmlformats.org/officeDocument/2006/math">
                        <m:r>
                          <a:rPr kumimoji="1" lang="en-US" altLang="zh-CN" sz="2400" b="0" i="1" smtClean="0">
                            <a:latin typeface="Cambria Math" panose="02040503050406030204" pitchFamily="18" charset="0"/>
                            <a:ea typeface="微软雅黑" panose="020B0503020204020204" pitchFamily="34" charset="-122"/>
                          </a:rPr>
                          <m:t>+</m:t>
                        </m:r>
                      </m:oMath>
                    </m:oMathPara>
                  </a14:m>
                  <a:endParaRPr kumimoji="1" lang="en-US" altLang="zh-CN" sz="2400" i="1" dirty="0">
                    <a:solidFill>
                      <a:schemeClr val="tx1"/>
                    </a:solidFill>
                    <a:latin typeface="Cambria Math" panose="02040503050406030204" pitchFamily="18" charset="0"/>
                    <a:ea typeface="微软雅黑" panose="020B0503020204020204" pitchFamily="34" charset="-122"/>
                  </a:endParaRPr>
                </a:p>
                <a:p>
                  <a:pPr algn="ctr">
                    <a:spcAft>
                      <a:spcPts val="1800"/>
                    </a:spcAft>
                  </a:pPr>
                  <a14:m>
                    <m:oMathPara xmlns:m="http://schemas.openxmlformats.org/officeDocument/2006/math">
                      <m:oMathParaPr>
                        <m:jc m:val="centerGroup"/>
                      </m:oMathParaPr>
                      <m:oMath xmlns:m="http://schemas.openxmlformats.org/officeDocument/2006/math">
                        <m:sSub>
                          <m:sSubPr>
                            <m:ctrlPr>
                              <a:rPr kumimoji="1" lang="en-US" altLang="zh-CN" sz="2400" i="1" smtClean="0">
                                <a:solidFill>
                                  <a:schemeClr val="tx1"/>
                                </a:solidFill>
                                <a:latin typeface="Cambria Math" panose="02040503050406030204" pitchFamily="18" charset="0"/>
                                <a:ea typeface="微软雅黑" panose="020B0503020204020204" pitchFamily="34" charset="-122"/>
                              </a:rPr>
                            </m:ctrlPr>
                          </m:sSubPr>
                          <m:e>
                            <m:r>
                              <a:rPr kumimoji="1" lang="en-US" altLang="zh-CN" sz="2400" b="0" i="1" smtClean="0">
                                <a:solidFill>
                                  <a:schemeClr val="tx1"/>
                                </a:solidFill>
                                <a:latin typeface="Cambria Math" panose="02040503050406030204" pitchFamily="18" charset="0"/>
                                <a:ea typeface="微软雅黑" panose="020B0503020204020204" pitchFamily="34" charset="-122"/>
                              </a:rPr>
                              <m:t>𝑉</m:t>
                            </m:r>
                          </m:e>
                          <m:sub>
                            <m:r>
                              <m:rPr>
                                <m:sty m:val="p"/>
                              </m:rPr>
                              <a:rPr kumimoji="1" lang="en-US" altLang="zh-CN" sz="2400" b="0" i="0" smtClean="0">
                                <a:solidFill>
                                  <a:schemeClr val="tx1"/>
                                </a:solidFill>
                                <a:latin typeface="Cambria Math" panose="02040503050406030204" pitchFamily="18" charset="0"/>
                                <a:ea typeface="微软雅黑" panose="020B0503020204020204" pitchFamily="34" charset="-122"/>
                              </a:rPr>
                              <m:t>I</m:t>
                            </m:r>
                          </m:sub>
                        </m:sSub>
                      </m:oMath>
                    </m:oMathPara>
                  </a14:m>
                  <a:endParaRPr kumimoji="1" lang="en-US" altLang="zh-CN" sz="2400" dirty="0">
                    <a:solidFill>
                      <a:schemeClr val="tx1"/>
                    </a:solidFill>
                    <a:latin typeface="微软雅黑" panose="020B0503020204020204" pitchFamily="34" charset="-122"/>
                    <a:ea typeface="微软雅黑" panose="020B0503020204020204" pitchFamily="34" charset="-122"/>
                  </a:endParaRPr>
                </a:p>
                <a:p>
                  <a:pPr algn="ctr">
                    <a:spcAft>
                      <a:spcPts val="1800"/>
                    </a:spcAft>
                  </a:pPr>
                  <a14:m>
                    <m:oMath xmlns:m="http://schemas.openxmlformats.org/officeDocument/2006/math">
                      <m:r>
                        <a:rPr kumimoji="1" lang="en-US" altLang="zh-CN" sz="2400" b="0" i="1" smtClean="0">
                          <a:latin typeface="Cambria Math" panose="02040503050406030204" pitchFamily="18" charset="0"/>
                          <a:ea typeface="微软雅黑" panose="020B0503020204020204" pitchFamily="34" charset="-122"/>
                        </a:rPr>
                        <m:t>−</m:t>
                      </m:r>
                    </m:oMath>
                  </a14:m>
                  <a:r>
                    <a:rPr kumimoji="1" lang="en-US" altLang="zh-CN" sz="2400" dirty="0">
                      <a:solidFill>
                        <a:schemeClr val="tx1"/>
                      </a:solidFill>
                      <a:latin typeface="微软雅黑" panose="020B0503020204020204" pitchFamily="34" charset="-122"/>
                      <a:ea typeface="微软雅黑" panose="020B0503020204020204" pitchFamily="34" charset="-122"/>
                    </a:rPr>
                    <a:t> </a:t>
                  </a:r>
                  <a:endParaRPr lang="zh-CN" altLang="en-US" sz="2400" dirty="0">
                    <a:solidFill>
                      <a:schemeClr val="tx1"/>
                    </a:solidFill>
                  </a:endParaRPr>
                </a:p>
              </p:txBody>
            </p:sp>
          </mc:Choice>
          <mc:Fallback xmlns="">
            <p:sp>
              <p:nvSpPr>
                <p:cNvPr id="80" name="文本框 79">
                  <a:extLst>
                    <a:ext uri="{FF2B5EF4-FFF2-40B4-BE49-F238E27FC236}">
                      <a16:creationId xmlns:a16="http://schemas.microsoft.com/office/drawing/2014/main" id="{52CB16E9-1DAB-FCEC-8D63-21B784B1F3A5}"/>
                    </a:ext>
                  </a:extLst>
                </p:cNvPr>
                <p:cNvSpPr txBox="1">
                  <a:spLocks noRot="1" noChangeAspect="1" noMove="1" noResize="1" noEditPoints="1" noAdjustHandles="1" noChangeArrowheads="1" noChangeShapeType="1" noTextEdit="1"/>
                </p:cNvSpPr>
                <p:nvPr/>
              </p:nvSpPr>
              <p:spPr>
                <a:xfrm>
                  <a:off x="6711057" y="4536000"/>
                  <a:ext cx="540000" cy="1656000"/>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1" name="文本框 80">
                  <a:extLst>
                    <a:ext uri="{FF2B5EF4-FFF2-40B4-BE49-F238E27FC236}">
                      <a16:creationId xmlns:a16="http://schemas.microsoft.com/office/drawing/2014/main" id="{2A881D48-6616-A0FD-7C87-517BC5F8C9AB}"/>
                    </a:ext>
                  </a:extLst>
                </p:cNvPr>
                <p:cNvSpPr txBox="1"/>
                <p:nvPr/>
              </p:nvSpPr>
              <p:spPr>
                <a:xfrm>
                  <a:off x="7611057" y="4716000"/>
                  <a:ext cx="432000" cy="432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kumimoji="1" lang="en-US" altLang="zh-CN" sz="2400" b="0" i="1" smtClean="0">
                            <a:solidFill>
                              <a:schemeClr val="tx1"/>
                            </a:solidFill>
                            <a:latin typeface="Cambria Math" panose="02040503050406030204" pitchFamily="18" charset="0"/>
                            <a:ea typeface="微软雅黑" panose="020B0503020204020204" pitchFamily="34" charset="-122"/>
                          </a:rPr>
                          <m:t>𝑅</m:t>
                        </m:r>
                      </m:oMath>
                    </m:oMathPara>
                  </a14:m>
                  <a:endParaRPr kumimoji="1" lang="en-US" altLang="zh-CN" sz="2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81" name="文本框 80">
                  <a:extLst>
                    <a:ext uri="{FF2B5EF4-FFF2-40B4-BE49-F238E27FC236}">
                      <a16:creationId xmlns:a16="http://schemas.microsoft.com/office/drawing/2014/main" id="{2A881D48-6616-A0FD-7C87-517BC5F8C9AB}"/>
                    </a:ext>
                  </a:extLst>
                </p:cNvPr>
                <p:cNvSpPr txBox="1">
                  <a:spLocks noRot="1" noChangeAspect="1" noMove="1" noResize="1" noEditPoints="1" noAdjustHandles="1" noChangeArrowheads="1" noChangeShapeType="1" noTextEdit="1"/>
                </p:cNvSpPr>
                <p:nvPr/>
              </p:nvSpPr>
              <p:spPr>
                <a:xfrm>
                  <a:off x="7611057" y="4716000"/>
                  <a:ext cx="432000" cy="432000"/>
                </a:xfrm>
                <a:prstGeom prst="rect">
                  <a:avLst/>
                </a:prstGeom>
                <a:blipFill>
                  <a:blip r:embed="rId6"/>
                  <a:stretch>
                    <a:fillRect l="-8451" b="-281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2" name="文本框 81">
                  <a:extLst>
                    <a:ext uri="{FF2B5EF4-FFF2-40B4-BE49-F238E27FC236}">
                      <a16:creationId xmlns:a16="http://schemas.microsoft.com/office/drawing/2014/main" id="{01A349BE-8270-72DC-8219-AD6885F52148}"/>
                    </a:ext>
                  </a:extLst>
                </p:cNvPr>
                <p:cNvSpPr txBox="1"/>
                <p:nvPr/>
              </p:nvSpPr>
              <p:spPr>
                <a:xfrm>
                  <a:off x="7611057" y="4140000"/>
                  <a:ext cx="432000" cy="432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kumimoji="1" lang="en-US" altLang="zh-CN" sz="2400" b="0" i="1" smtClean="0">
                            <a:solidFill>
                              <a:schemeClr val="tx1"/>
                            </a:solidFill>
                            <a:latin typeface="Cambria Math" panose="02040503050406030204" pitchFamily="18" charset="0"/>
                            <a:ea typeface="微软雅黑" panose="020B0503020204020204" pitchFamily="34" charset="-122"/>
                          </a:rPr>
                          <m:t>𝐼</m:t>
                        </m:r>
                      </m:oMath>
                    </m:oMathPara>
                  </a14:m>
                  <a:endParaRPr kumimoji="1" lang="en-US" altLang="zh-CN" sz="2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82" name="文本框 81">
                  <a:extLst>
                    <a:ext uri="{FF2B5EF4-FFF2-40B4-BE49-F238E27FC236}">
                      <a16:creationId xmlns:a16="http://schemas.microsoft.com/office/drawing/2014/main" id="{01A349BE-8270-72DC-8219-AD6885F52148}"/>
                    </a:ext>
                  </a:extLst>
                </p:cNvPr>
                <p:cNvSpPr txBox="1">
                  <a:spLocks noRot="1" noChangeAspect="1" noMove="1" noResize="1" noEditPoints="1" noAdjustHandles="1" noChangeArrowheads="1" noChangeShapeType="1" noTextEdit="1"/>
                </p:cNvSpPr>
                <p:nvPr/>
              </p:nvSpPr>
              <p:spPr>
                <a:xfrm>
                  <a:off x="7611057" y="4140000"/>
                  <a:ext cx="432000" cy="432000"/>
                </a:xfrm>
                <a:prstGeom prst="rect">
                  <a:avLst/>
                </a:prstGeom>
                <a:blipFill>
                  <a:blip r:embed="rId7"/>
                  <a:stretch>
                    <a:fillRect b="-4286"/>
                  </a:stretch>
                </a:blipFill>
              </p:spPr>
              <p:txBody>
                <a:bodyPr/>
                <a:lstStyle/>
                <a:p>
                  <a:r>
                    <a:rPr lang="zh-CN" altLang="en-US">
                      <a:noFill/>
                    </a:rPr>
                    <a:t> </a:t>
                  </a:r>
                </a:p>
              </p:txBody>
            </p:sp>
          </mc:Fallback>
        </mc:AlternateContent>
        <p:cxnSp>
          <p:nvCxnSpPr>
            <p:cNvPr id="83" name="直接箭头连接符 82">
              <a:extLst>
                <a:ext uri="{FF2B5EF4-FFF2-40B4-BE49-F238E27FC236}">
                  <a16:creationId xmlns:a16="http://schemas.microsoft.com/office/drawing/2014/main" id="{FAB688AF-6281-F6DE-42C6-EF35DCAC93C0}"/>
                </a:ext>
              </a:extLst>
            </p:cNvPr>
            <p:cNvCxnSpPr>
              <a:cxnSpLocks/>
            </p:cNvCxnSpPr>
            <p:nvPr/>
          </p:nvCxnSpPr>
          <p:spPr>
            <a:xfrm flipV="1">
              <a:off x="7575057" y="4536000"/>
              <a:ext cx="504000"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grpSp>
          <p:nvGrpSpPr>
            <p:cNvPr id="87" name="组合 86">
              <a:extLst>
                <a:ext uri="{FF2B5EF4-FFF2-40B4-BE49-F238E27FC236}">
                  <a16:creationId xmlns:a16="http://schemas.microsoft.com/office/drawing/2014/main" id="{BA10FF30-8CC3-8CE0-C317-F31D2336DF97}"/>
                </a:ext>
              </a:extLst>
            </p:cNvPr>
            <p:cNvGrpSpPr/>
            <p:nvPr/>
          </p:nvGrpSpPr>
          <p:grpSpPr>
            <a:xfrm>
              <a:off x="8367057" y="5364000"/>
              <a:ext cx="576000" cy="373869"/>
              <a:chOff x="8367057" y="5229793"/>
              <a:chExt cx="576000" cy="373869"/>
            </a:xfrm>
          </p:grpSpPr>
          <p:sp>
            <p:nvSpPr>
              <p:cNvPr id="85" name="等腰三角形 84">
                <a:extLst>
                  <a:ext uri="{FF2B5EF4-FFF2-40B4-BE49-F238E27FC236}">
                    <a16:creationId xmlns:a16="http://schemas.microsoft.com/office/drawing/2014/main" id="{F067F97B-1926-60EC-D0E7-C8177DE1014F}"/>
                  </a:ext>
                </a:extLst>
              </p:cNvPr>
              <p:cNvSpPr/>
              <p:nvPr/>
            </p:nvSpPr>
            <p:spPr>
              <a:xfrm>
                <a:off x="8406000" y="5243662"/>
                <a:ext cx="468000" cy="360000"/>
              </a:xfrm>
              <a:prstGeom prst="triangle">
                <a:avLst/>
              </a:prstGeom>
              <a:no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endParaRPr>
              </a:p>
            </p:txBody>
          </p:sp>
          <p:cxnSp>
            <p:nvCxnSpPr>
              <p:cNvPr id="86" name="连接符: 肘形 85">
                <a:extLst>
                  <a:ext uri="{FF2B5EF4-FFF2-40B4-BE49-F238E27FC236}">
                    <a16:creationId xmlns:a16="http://schemas.microsoft.com/office/drawing/2014/main" id="{9580E7F2-3658-C1C7-F506-185151BCE4AF}"/>
                  </a:ext>
                </a:extLst>
              </p:cNvPr>
              <p:cNvCxnSpPr>
                <a:cxnSpLocks/>
              </p:cNvCxnSpPr>
              <p:nvPr/>
            </p:nvCxnSpPr>
            <p:spPr>
              <a:xfrm>
                <a:off x="8367057" y="5229793"/>
                <a:ext cx="576000" cy="144000"/>
              </a:xfrm>
              <a:prstGeom prst="bentConnector3">
                <a:avLst>
                  <a:gd name="adj1" fmla="val 96738"/>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88" name="文本框 87">
                  <a:extLst>
                    <a:ext uri="{FF2B5EF4-FFF2-40B4-BE49-F238E27FC236}">
                      <a16:creationId xmlns:a16="http://schemas.microsoft.com/office/drawing/2014/main" id="{572860FF-43B9-12DD-A2C4-917118E99551}"/>
                    </a:ext>
                  </a:extLst>
                </p:cNvPr>
                <p:cNvSpPr txBox="1"/>
                <p:nvPr/>
              </p:nvSpPr>
              <p:spPr>
                <a:xfrm>
                  <a:off x="8151057" y="4752000"/>
                  <a:ext cx="432000" cy="432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kumimoji="1" lang="en-US" altLang="zh-CN" sz="24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400" b="0" i="1" smtClean="0">
                                <a:solidFill>
                                  <a:schemeClr val="tx1"/>
                                </a:solidFill>
                                <a:latin typeface="Cambria Math" panose="02040503050406030204" pitchFamily="18" charset="0"/>
                                <a:ea typeface="微软雅黑" panose="020B0503020204020204" pitchFamily="34" charset="-122"/>
                              </a:rPr>
                              <m:t>𝐼</m:t>
                            </m:r>
                          </m:e>
                          <m:sub>
                            <m:r>
                              <m:rPr>
                                <m:sty m:val="p"/>
                              </m:rPr>
                              <a:rPr kumimoji="1" lang="en-US" altLang="zh-CN" sz="2400" b="0" i="0" smtClean="0">
                                <a:solidFill>
                                  <a:schemeClr val="tx1"/>
                                </a:solidFill>
                                <a:latin typeface="Cambria Math" panose="02040503050406030204" pitchFamily="18" charset="0"/>
                                <a:ea typeface="微软雅黑" panose="020B0503020204020204" pitchFamily="34" charset="-122"/>
                              </a:rPr>
                              <m:t>Z</m:t>
                            </m:r>
                          </m:sub>
                        </m:sSub>
                      </m:oMath>
                    </m:oMathPara>
                  </a14:m>
                  <a:endParaRPr kumimoji="1" lang="en-US" altLang="zh-CN" sz="2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88" name="文本框 87">
                  <a:extLst>
                    <a:ext uri="{FF2B5EF4-FFF2-40B4-BE49-F238E27FC236}">
                      <a16:creationId xmlns:a16="http://schemas.microsoft.com/office/drawing/2014/main" id="{572860FF-43B9-12DD-A2C4-917118E99551}"/>
                    </a:ext>
                  </a:extLst>
                </p:cNvPr>
                <p:cNvSpPr txBox="1">
                  <a:spLocks noRot="1" noChangeAspect="1" noMove="1" noResize="1" noEditPoints="1" noAdjustHandles="1" noChangeArrowheads="1" noChangeShapeType="1" noTextEdit="1"/>
                </p:cNvSpPr>
                <p:nvPr/>
              </p:nvSpPr>
              <p:spPr>
                <a:xfrm>
                  <a:off x="8151057" y="4752000"/>
                  <a:ext cx="432000" cy="432000"/>
                </a:xfrm>
                <a:prstGeom prst="rect">
                  <a:avLst/>
                </a:prstGeom>
                <a:blipFill>
                  <a:blip r:embed="rId8"/>
                  <a:stretch>
                    <a:fillRect l="-12676" b="-9859"/>
                  </a:stretch>
                </a:blipFill>
              </p:spPr>
              <p:txBody>
                <a:bodyPr/>
                <a:lstStyle/>
                <a:p>
                  <a:r>
                    <a:rPr lang="zh-CN" altLang="en-US">
                      <a:noFill/>
                    </a:rPr>
                    <a:t> </a:t>
                  </a:r>
                </a:p>
              </p:txBody>
            </p:sp>
          </mc:Fallback>
        </mc:AlternateContent>
        <p:cxnSp>
          <p:nvCxnSpPr>
            <p:cNvPr id="89" name="直接箭头连接符 88">
              <a:extLst>
                <a:ext uri="{FF2B5EF4-FFF2-40B4-BE49-F238E27FC236}">
                  <a16:creationId xmlns:a16="http://schemas.microsoft.com/office/drawing/2014/main" id="{2CE7EAD4-2045-A535-40F6-50070C0339AB}"/>
                </a:ext>
              </a:extLst>
            </p:cNvPr>
            <p:cNvCxnSpPr>
              <a:cxnSpLocks/>
            </p:cNvCxnSpPr>
            <p:nvPr/>
          </p:nvCxnSpPr>
          <p:spPr>
            <a:xfrm>
              <a:off x="8511057" y="4824000"/>
              <a:ext cx="0" cy="43200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1" name="文本框 90">
                  <a:extLst>
                    <a:ext uri="{FF2B5EF4-FFF2-40B4-BE49-F238E27FC236}">
                      <a16:creationId xmlns:a16="http://schemas.microsoft.com/office/drawing/2014/main" id="{A3214415-60A8-6042-5E14-75AFFD431747}"/>
                    </a:ext>
                  </a:extLst>
                </p:cNvPr>
                <p:cNvSpPr txBox="1"/>
                <p:nvPr/>
              </p:nvSpPr>
              <p:spPr>
                <a:xfrm>
                  <a:off x="7971057" y="5328000"/>
                  <a:ext cx="432000" cy="432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kumimoji="1" lang="en-US" altLang="zh-CN" sz="24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400" b="0" i="1" smtClean="0">
                                <a:solidFill>
                                  <a:schemeClr val="tx1"/>
                                </a:solidFill>
                                <a:latin typeface="Cambria Math" panose="02040503050406030204" pitchFamily="18" charset="0"/>
                                <a:ea typeface="微软雅黑" panose="020B0503020204020204" pitchFamily="34" charset="-122"/>
                              </a:rPr>
                              <m:t>𝐷</m:t>
                            </m:r>
                          </m:e>
                          <m:sub>
                            <m:r>
                              <m:rPr>
                                <m:sty m:val="p"/>
                              </m:rPr>
                              <a:rPr kumimoji="1" lang="en-US" altLang="zh-CN" sz="2400" b="0" i="0" smtClean="0">
                                <a:solidFill>
                                  <a:schemeClr val="tx1"/>
                                </a:solidFill>
                                <a:latin typeface="Cambria Math" panose="02040503050406030204" pitchFamily="18" charset="0"/>
                                <a:ea typeface="微软雅黑" panose="020B0503020204020204" pitchFamily="34" charset="-122"/>
                              </a:rPr>
                              <m:t>Z</m:t>
                            </m:r>
                          </m:sub>
                        </m:sSub>
                      </m:oMath>
                    </m:oMathPara>
                  </a14:m>
                  <a:endParaRPr kumimoji="1" lang="en-US" altLang="zh-CN" sz="2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91" name="文本框 90">
                  <a:extLst>
                    <a:ext uri="{FF2B5EF4-FFF2-40B4-BE49-F238E27FC236}">
                      <a16:creationId xmlns:a16="http://schemas.microsoft.com/office/drawing/2014/main" id="{A3214415-60A8-6042-5E14-75AFFD431747}"/>
                    </a:ext>
                  </a:extLst>
                </p:cNvPr>
                <p:cNvSpPr txBox="1">
                  <a:spLocks noRot="1" noChangeAspect="1" noMove="1" noResize="1" noEditPoints="1" noAdjustHandles="1" noChangeArrowheads="1" noChangeShapeType="1" noTextEdit="1"/>
                </p:cNvSpPr>
                <p:nvPr/>
              </p:nvSpPr>
              <p:spPr>
                <a:xfrm>
                  <a:off x="7971057" y="5328000"/>
                  <a:ext cx="432000" cy="432000"/>
                </a:xfrm>
                <a:prstGeom prst="rect">
                  <a:avLst/>
                </a:prstGeom>
                <a:blipFill>
                  <a:blip r:embed="rId9"/>
                  <a:stretch>
                    <a:fillRect l="-23944" b="-1126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2" name="文本框 91">
                  <a:extLst>
                    <a:ext uri="{FF2B5EF4-FFF2-40B4-BE49-F238E27FC236}">
                      <a16:creationId xmlns:a16="http://schemas.microsoft.com/office/drawing/2014/main" id="{DDC99598-0AA4-46A7-A372-BE0DB0DFF926}"/>
                    </a:ext>
                  </a:extLst>
                </p:cNvPr>
                <p:cNvSpPr txBox="1"/>
                <p:nvPr/>
              </p:nvSpPr>
              <p:spPr>
                <a:xfrm>
                  <a:off x="9231057" y="5148000"/>
                  <a:ext cx="432000" cy="432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kumimoji="1" lang="en-US" altLang="zh-CN" sz="24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400" b="0" i="1" smtClean="0">
                                <a:solidFill>
                                  <a:schemeClr val="tx1"/>
                                </a:solidFill>
                                <a:latin typeface="Cambria Math" panose="02040503050406030204" pitchFamily="18" charset="0"/>
                                <a:ea typeface="微软雅黑" panose="020B0503020204020204" pitchFamily="34" charset="-122"/>
                              </a:rPr>
                              <m:t>𝑅</m:t>
                            </m:r>
                          </m:e>
                          <m:sub>
                            <m:r>
                              <m:rPr>
                                <m:sty m:val="p"/>
                              </m:rPr>
                              <a:rPr kumimoji="1" lang="en-US" altLang="zh-CN" sz="2400" b="0" i="0" smtClean="0">
                                <a:solidFill>
                                  <a:schemeClr val="tx1"/>
                                </a:solidFill>
                                <a:latin typeface="Cambria Math" panose="02040503050406030204" pitchFamily="18" charset="0"/>
                                <a:ea typeface="微软雅黑" panose="020B0503020204020204" pitchFamily="34" charset="-122"/>
                              </a:rPr>
                              <m:t>L</m:t>
                            </m:r>
                          </m:sub>
                        </m:sSub>
                      </m:oMath>
                    </m:oMathPara>
                  </a14:m>
                  <a:endParaRPr kumimoji="1" lang="en-US" altLang="zh-CN" sz="2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92" name="文本框 91">
                  <a:extLst>
                    <a:ext uri="{FF2B5EF4-FFF2-40B4-BE49-F238E27FC236}">
                      <a16:creationId xmlns:a16="http://schemas.microsoft.com/office/drawing/2014/main" id="{DDC99598-0AA4-46A7-A372-BE0DB0DFF926}"/>
                    </a:ext>
                  </a:extLst>
                </p:cNvPr>
                <p:cNvSpPr txBox="1">
                  <a:spLocks noRot="1" noChangeAspect="1" noMove="1" noResize="1" noEditPoints="1" noAdjustHandles="1" noChangeArrowheads="1" noChangeShapeType="1" noTextEdit="1"/>
                </p:cNvSpPr>
                <p:nvPr/>
              </p:nvSpPr>
              <p:spPr>
                <a:xfrm>
                  <a:off x="9231057" y="5148000"/>
                  <a:ext cx="432000" cy="432000"/>
                </a:xfrm>
                <a:prstGeom prst="rect">
                  <a:avLst/>
                </a:prstGeom>
                <a:blipFill>
                  <a:blip r:embed="rId10"/>
                  <a:stretch>
                    <a:fillRect l="-24286" b="-9859"/>
                  </a:stretch>
                </a:blipFill>
              </p:spPr>
              <p:txBody>
                <a:bodyPr/>
                <a:lstStyle/>
                <a:p>
                  <a:r>
                    <a:rPr lang="zh-CN" altLang="en-US">
                      <a:noFill/>
                    </a:rPr>
                    <a:t> </a:t>
                  </a:r>
                </a:p>
              </p:txBody>
            </p:sp>
          </mc:Fallback>
        </mc:AlternateContent>
        <p:cxnSp>
          <p:nvCxnSpPr>
            <p:cNvPr id="93" name="直接箭头连接符 92">
              <a:extLst>
                <a:ext uri="{FF2B5EF4-FFF2-40B4-BE49-F238E27FC236}">
                  <a16:creationId xmlns:a16="http://schemas.microsoft.com/office/drawing/2014/main" id="{8E496C36-A389-566D-1BE3-F0AF0B768167}"/>
                </a:ext>
              </a:extLst>
            </p:cNvPr>
            <p:cNvCxnSpPr>
              <a:cxnSpLocks/>
            </p:cNvCxnSpPr>
            <p:nvPr/>
          </p:nvCxnSpPr>
          <p:spPr>
            <a:xfrm flipV="1">
              <a:off x="8871057" y="4608000"/>
              <a:ext cx="504000" cy="0"/>
            </a:xfrm>
            <a:prstGeom prst="straightConnector1">
              <a:avLst/>
            </a:prstGeom>
            <a:ln w="25400">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4" name="文本框 93">
                  <a:extLst>
                    <a:ext uri="{FF2B5EF4-FFF2-40B4-BE49-F238E27FC236}">
                      <a16:creationId xmlns:a16="http://schemas.microsoft.com/office/drawing/2014/main" id="{25510568-2ADD-913B-058F-B27F73BCD099}"/>
                    </a:ext>
                  </a:extLst>
                </p:cNvPr>
                <p:cNvSpPr txBox="1"/>
                <p:nvPr/>
              </p:nvSpPr>
              <p:spPr>
                <a:xfrm>
                  <a:off x="8943057" y="4176000"/>
                  <a:ext cx="432000" cy="432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sSub>
                          <m:sSubPr>
                            <m:ctrlPr>
                              <a:rPr kumimoji="1" lang="en-US" altLang="zh-CN" sz="2400" b="0" i="1" smtClean="0">
                                <a:solidFill>
                                  <a:schemeClr val="tx1"/>
                                </a:solidFill>
                                <a:latin typeface="Cambria Math" panose="02040503050406030204" pitchFamily="18" charset="0"/>
                                <a:ea typeface="微软雅黑" panose="020B0503020204020204" pitchFamily="34" charset="-122"/>
                              </a:rPr>
                            </m:ctrlPr>
                          </m:sSubPr>
                          <m:e>
                            <m:r>
                              <a:rPr kumimoji="1" lang="en-US" altLang="zh-CN" sz="2400" b="0" i="1" smtClean="0">
                                <a:solidFill>
                                  <a:schemeClr val="tx1"/>
                                </a:solidFill>
                                <a:latin typeface="Cambria Math" panose="02040503050406030204" pitchFamily="18" charset="0"/>
                                <a:ea typeface="微软雅黑" panose="020B0503020204020204" pitchFamily="34" charset="-122"/>
                              </a:rPr>
                              <m:t>𝐼</m:t>
                            </m:r>
                          </m:e>
                          <m:sub>
                            <m:r>
                              <m:rPr>
                                <m:sty m:val="p"/>
                              </m:rPr>
                              <a:rPr kumimoji="1" lang="en-US" altLang="zh-CN" sz="2400" b="0" i="0" smtClean="0">
                                <a:solidFill>
                                  <a:schemeClr val="tx1"/>
                                </a:solidFill>
                                <a:latin typeface="Cambria Math" panose="02040503050406030204" pitchFamily="18" charset="0"/>
                                <a:ea typeface="微软雅黑" panose="020B0503020204020204" pitchFamily="34" charset="-122"/>
                              </a:rPr>
                              <m:t>O</m:t>
                            </m:r>
                          </m:sub>
                        </m:sSub>
                      </m:oMath>
                    </m:oMathPara>
                  </a14:m>
                  <a:endParaRPr kumimoji="1" lang="en-US" altLang="zh-CN" sz="2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94" name="文本框 93">
                  <a:extLst>
                    <a:ext uri="{FF2B5EF4-FFF2-40B4-BE49-F238E27FC236}">
                      <a16:creationId xmlns:a16="http://schemas.microsoft.com/office/drawing/2014/main" id="{25510568-2ADD-913B-058F-B27F73BCD099}"/>
                    </a:ext>
                  </a:extLst>
                </p:cNvPr>
                <p:cNvSpPr txBox="1">
                  <a:spLocks noRot="1" noChangeAspect="1" noMove="1" noResize="1" noEditPoints="1" noAdjustHandles="1" noChangeArrowheads="1" noChangeShapeType="1" noTextEdit="1"/>
                </p:cNvSpPr>
                <p:nvPr/>
              </p:nvSpPr>
              <p:spPr>
                <a:xfrm>
                  <a:off x="8943057" y="4176000"/>
                  <a:ext cx="432000" cy="432000"/>
                </a:xfrm>
                <a:prstGeom prst="rect">
                  <a:avLst/>
                </a:prstGeom>
                <a:blipFill>
                  <a:blip r:embed="rId11"/>
                  <a:stretch>
                    <a:fillRect l="-16901" b="-1126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5" name="文本框 94">
                  <a:extLst>
                    <a:ext uri="{FF2B5EF4-FFF2-40B4-BE49-F238E27FC236}">
                      <a16:creationId xmlns:a16="http://schemas.microsoft.com/office/drawing/2014/main" id="{2A61162E-1AD2-0E6B-DE41-7052733E1845}"/>
                    </a:ext>
                  </a:extLst>
                </p:cNvPr>
                <p:cNvSpPr txBox="1"/>
                <p:nvPr/>
              </p:nvSpPr>
              <p:spPr>
                <a:xfrm>
                  <a:off x="9663057" y="4788000"/>
                  <a:ext cx="540000" cy="115200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kumimoji="1" lang="en-US" altLang="zh-CN" sz="2400" b="0" i="1" smtClean="0">
                            <a:latin typeface="Cambria Math" panose="02040503050406030204" pitchFamily="18" charset="0"/>
                            <a:ea typeface="微软雅黑" panose="020B0503020204020204" pitchFamily="34" charset="-122"/>
                          </a:rPr>
                          <m:t>+</m:t>
                        </m:r>
                      </m:oMath>
                    </m:oMathPara>
                  </a14:m>
                  <a:endParaRPr kumimoji="1" lang="en-US" altLang="zh-CN" sz="2400" i="1" dirty="0">
                    <a:solidFill>
                      <a:schemeClr val="tx1"/>
                    </a:solidFill>
                    <a:latin typeface="Cambria Math" panose="02040503050406030204" pitchFamily="18" charset="0"/>
                    <a:ea typeface="微软雅黑" panose="020B0503020204020204" pitchFamily="34" charset="-122"/>
                  </a:endParaRPr>
                </a:p>
                <a:p>
                  <a:pPr algn="ctr"/>
                  <a14:m>
                    <m:oMathPara xmlns:m="http://schemas.openxmlformats.org/officeDocument/2006/math">
                      <m:oMathParaPr>
                        <m:jc m:val="centerGroup"/>
                      </m:oMathParaPr>
                      <m:oMath xmlns:m="http://schemas.openxmlformats.org/officeDocument/2006/math">
                        <m:r>
                          <a:rPr kumimoji="1" lang="en-US" altLang="zh-CN" sz="2400" b="0" i="1" smtClean="0">
                            <a:solidFill>
                              <a:schemeClr val="tx1"/>
                            </a:solidFill>
                            <a:latin typeface="Cambria Math" panose="02040503050406030204" pitchFamily="18" charset="0"/>
                            <a:ea typeface="微软雅黑" panose="020B0503020204020204" pitchFamily="34" charset="-122"/>
                          </a:rPr>
                          <m:t> </m:t>
                        </m:r>
                        <m:sSub>
                          <m:sSubPr>
                            <m:ctrlPr>
                              <a:rPr kumimoji="1" lang="en-US" altLang="zh-CN" sz="2400" i="1" smtClean="0">
                                <a:solidFill>
                                  <a:schemeClr val="tx1"/>
                                </a:solidFill>
                                <a:latin typeface="Cambria Math" panose="02040503050406030204" pitchFamily="18" charset="0"/>
                                <a:ea typeface="微软雅黑" panose="020B0503020204020204" pitchFamily="34" charset="-122"/>
                              </a:rPr>
                            </m:ctrlPr>
                          </m:sSubPr>
                          <m:e>
                            <m:r>
                              <a:rPr kumimoji="1" lang="en-US" altLang="zh-CN" sz="2400" b="0" i="1" smtClean="0">
                                <a:solidFill>
                                  <a:schemeClr val="tx1"/>
                                </a:solidFill>
                                <a:latin typeface="Cambria Math" panose="02040503050406030204" pitchFamily="18" charset="0"/>
                                <a:ea typeface="微软雅黑" panose="020B0503020204020204" pitchFamily="34" charset="-122"/>
                              </a:rPr>
                              <m:t>𝑉</m:t>
                            </m:r>
                          </m:e>
                          <m:sub>
                            <m:r>
                              <m:rPr>
                                <m:sty m:val="p"/>
                              </m:rPr>
                              <a:rPr kumimoji="1" lang="en-US" altLang="zh-CN" sz="2400" b="0" i="0" smtClean="0">
                                <a:solidFill>
                                  <a:schemeClr val="tx1"/>
                                </a:solidFill>
                                <a:latin typeface="Cambria Math" panose="02040503050406030204" pitchFamily="18" charset="0"/>
                                <a:ea typeface="微软雅黑" panose="020B0503020204020204" pitchFamily="34" charset="-122"/>
                              </a:rPr>
                              <m:t>O</m:t>
                            </m:r>
                          </m:sub>
                        </m:sSub>
                      </m:oMath>
                    </m:oMathPara>
                  </a14:m>
                  <a:endParaRPr kumimoji="1" lang="en-US" altLang="zh-CN" sz="2400" dirty="0">
                    <a:solidFill>
                      <a:schemeClr val="tx1"/>
                    </a:solidFill>
                    <a:latin typeface="微软雅黑" panose="020B0503020204020204" pitchFamily="34" charset="-122"/>
                    <a:ea typeface="微软雅黑" panose="020B0503020204020204" pitchFamily="34" charset="-122"/>
                  </a:endParaRPr>
                </a:p>
                <a:p>
                  <a:pPr algn="ctr"/>
                  <a14:m>
                    <m:oMath xmlns:m="http://schemas.openxmlformats.org/officeDocument/2006/math">
                      <m:r>
                        <a:rPr kumimoji="1" lang="en-US" altLang="zh-CN" sz="2400" b="0" i="1" smtClean="0">
                          <a:latin typeface="Cambria Math" panose="02040503050406030204" pitchFamily="18" charset="0"/>
                          <a:ea typeface="微软雅黑" panose="020B0503020204020204" pitchFamily="34" charset="-122"/>
                        </a:rPr>
                        <m:t>−</m:t>
                      </m:r>
                    </m:oMath>
                  </a14:m>
                  <a:r>
                    <a:rPr kumimoji="1" lang="en-US" altLang="zh-CN" sz="2400" dirty="0">
                      <a:solidFill>
                        <a:schemeClr val="tx1"/>
                      </a:solidFill>
                      <a:latin typeface="微软雅黑" panose="020B0503020204020204" pitchFamily="34" charset="-122"/>
                      <a:ea typeface="微软雅黑" panose="020B0503020204020204" pitchFamily="34" charset="-122"/>
                    </a:rPr>
                    <a:t> </a:t>
                  </a:r>
                  <a:endParaRPr lang="zh-CN" altLang="en-US" sz="2400" dirty="0">
                    <a:solidFill>
                      <a:schemeClr val="tx1"/>
                    </a:solidFill>
                  </a:endParaRPr>
                </a:p>
              </p:txBody>
            </p:sp>
          </mc:Choice>
          <mc:Fallback xmlns="">
            <p:sp>
              <p:nvSpPr>
                <p:cNvPr id="95" name="文本框 94">
                  <a:extLst>
                    <a:ext uri="{FF2B5EF4-FFF2-40B4-BE49-F238E27FC236}">
                      <a16:creationId xmlns:a16="http://schemas.microsoft.com/office/drawing/2014/main" id="{2A61162E-1AD2-0E6B-DE41-7052733E1845}"/>
                    </a:ext>
                  </a:extLst>
                </p:cNvPr>
                <p:cNvSpPr txBox="1">
                  <a:spLocks noRot="1" noChangeAspect="1" noMove="1" noResize="1" noEditPoints="1" noAdjustHandles="1" noChangeArrowheads="1" noChangeShapeType="1" noTextEdit="1"/>
                </p:cNvSpPr>
                <p:nvPr/>
              </p:nvSpPr>
              <p:spPr>
                <a:xfrm>
                  <a:off x="9663057" y="4788000"/>
                  <a:ext cx="540000" cy="1152000"/>
                </a:xfrm>
                <a:prstGeom prst="rect">
                  <a:avLst/>
                </a:prstGeom>
                <a:blipFill>
                  <a:blip r:embed="rId12"/>
                  <a:stretch>
                    <a:fillRect r="-1124"/>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98" name="文本框 97">
                <a:extLst>
                  <a:ext uri="{FF2B5EF4-FFF2-40B4-BE49-F238E27FC236}">
                    <a16:creationId xmlns:a16="http://schemas.microsoft.com/office/drawing/2014/main" id="{8F9D8315-8C47-08CC-CAD0-21D257CC2076}"/>
                  </a:ext>
                </a:extLst>
              </p:cNvPr>
              <p:cNvSpPr txBox="1"/>
              <p:nvPr/>
            </p:nvSpPr>
            <p:spPr>
              <a:xfrm>
                <a:off x="360001" y="5760000"/>
                <a:ext cx="4968000" cy="792000"/>
              </a:xfrm>
              <a:prstGeom prst="rect">
                <a:avLst/>
              </a:prstGeom>
              <a:noFill/>
            </p:spPr>
            <p:txBody>
              <a:bodyPr wrap="square">
                <a:spAutoFit/>
              </a:bodyPr>
              <a:lstStyle/>
              <a:p>
                <a:pPr lvl="1"/>
                <a14:m>
                  <m:oMath xmlns:m="http://schemas.openxmlformats.org/officeDocument/2006/math">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𝑅</m:t>
                    </m:r>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：限流电阻，保证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t>𝐷</m:t>
                        </m:r>
                      </m:e>
                      <m:sub>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Z</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的工作电流 </a:t>
                </a:r>
                <a14:m>
                  <m:oMath xmlns:m="http://schemas.openxmlformats.org/officeDocument/2006/math">
                    <m:sSub>
                      <m:sSubPr>
                        <m:ctrlPr>
                          <a:rPr kumimoji="1" lang="en-US" altLang="zh-CN" sz="2400" i="1">
                            <a:solidFill>
                              <a:schemeClr val="accent5">
                                <a:lumMod val="75000"/>
                              </a:schemeClr>
                            </a:solidFill>
                            <a:latin typeface="Cambria Math" panose="02040503050406030204" pitchFamily="18" charset="0"/>
                            <a:ea typeface="微软雅黑" panose="020B0503020204020204" pitchFamily="34" charset="-122"/>
                          </a:rPr>
                        </m:ctrlPr>
                      </m:sSubPr>
                      <m:e>
                        <m:r>
                          <a:rPr kumimoji="1" lang="en-US" altLang="zh-CN" sz="2400" b="0" i="1" smtClean="0">
                            <a:solidFill>
                              <a:schemeClr val="accent5">
                                <a:lumMod val="75000"/>
                              </a:schemeClr>
                            </a:solidFill>
                            <a:latin typeface="Cambria Math" panose="02040503050406030204" pitchFamily="18" charset="0"/>
                            <a:ea typeface="微软雅黑" panose="020B0503020204020204" pitchFamily="34" charset="-122"/>
                          </a:rPr>
                          <m:t>𝐼</m:t>
                        </m:r>
                      </m:e>
                      <m:sub>
                        <m:r>
                          <m:rPr>
                            <m:sty m:val="p"/>
                          </m:rPr>
                          <a:rPr kumimoji="1" lang="en-US" altLang="zh-CN" sz="2400">
                            <a:solidFill>
                              <a:schemeClr val="accent5">
                                <a:lumMod val="75000"/>
                              </a:schemeClr>
                            </a:solidFill>
                            <a:latin typeface="Cambria Math" panose="02040503050406030204" pitchFamily="18" charset="0"/>
                            <a:ea typeface="微软雅黑" panose="020B0503020204020204" pitchFamily="34" charset="-122"/>
                          </a:rPr>
                          <m:t>Z</m:t>
                        </m:r>
                      </m:sub>
                    </m:sSub>
                  </m:oMath>
                </a14:m>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 在规定范围内</a:t>
                </a:r>
                <a:endParaRPr kumimoji="1" lang="en-US" altLang="zh-CN" sz="2400" dirty="0">
                  <a:solidFill>
                    <a:schemeClr val="accent5">
                      <a:lumMod val="75000"/>
                    </a:schemeClr>
                  </a:solidFill>
                  <a:latin typeface="微软雅黑" panose="020B0503020204020204" pitchFamily="34" charset="-122"/>
                  <a:ea typeface="微软雅黑" panose="020B0503020204020204" pitchFamily="34" charset="-122"/>
                </a:endParaRPr>
              </a:p>
            </p:txBody>
          </p:sp>
        </mc:Choice>
        <mc:Fallback xmlns="">
          <p:sp>
            <p:nvSpPr>
              <p:cNvPr id="98" name="文本框 97">
                <a:extLst>
                  <a:ext uri="{FF2B5EF4-FFF2-40B4-BE49-F238E27FC236}">
                    <a16:creationId xmlns:a16="http://schemas.microsoft.com/office/drawing/2014/main" id="{8F9D8315-8C47-08CC-CAD0-21D257CC2076}"/>
                  </a:ext>
                </a:extLst>
              </p:cNvPr>
              <p:cNvSpPr txBox="1">
                <a:spLocks noRot="1" noChangeAspect="1" noMove="1" noResize="1" noEditPoints="1" noAdjustHandles="1" noChangeArrowheads="1" noChangeShapeType="1" noTextEdit="1"/>
              </p:cNvSpPr>
              <p:nvPr/>
            </p:nvSpPr>
            <p:spPr>
              <a:xfrm>
                <a:off x="360001" y="5760000"/>
                <a:ext cx="4968000" cy="792000"/>
              </a:xfrm>
              <a:prstGeom prst="rect">
                <a:avLst/>
              </a:prstGeom>
              <a:blipFill>
                <a:blip r:embed="rId13"/>
                <a:stretch>
                  <a:fillRect t="-6154" b="-215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EC2DD34E-1037-8479-0E58-A22FF93DF56B}"/>
                  </a:ext>
                </a:extLst>
              </p:cNvPr>
              <p:cNvSpPr txBox="1"/>
              <p:nvPr/>
            </p:nvSpPr>
            <p:spPr>
              <a:xfrm>
                <a:off x="6480000" y="4679999"/>
                <a:ext cx="4140000" cy="1260000"/>
              </a:xfrm>
              <a:prstGeom prst="rect">
                <a:avLst/>
              </a:prstGeom>
              <a:noFill/>
            </p:spPr>
            <p:txBody>
              <a:bodyPr wrap="square">
                <a:spAutoFit/>
              </a:bodyPr>
              <a:lstStyle/>
              <a:p>
                <a:r>
                  <a:rPr kumimoji="1" lang="zh-CN" altLang="en-US" sz="2400" dirty="0">
                    <a:solidFill>
                      <a:srgbClr val="0000FF"/>
                    </a:solidFill>
                    <a:ea typeface="微软雅黑" panose="020B0503020204020204" pitchFamily="34" charset="-122"/>
                  </a:rPr>
                  <a:t>在 </a:t>
                </a:r>
                <a14:m>
                  <m:oMath xmlns:m="http://schemas.openxmlformats.org/officeDocument/2006/math">
                    <m:sSub>
                      <m:sSubPr>
                        <m:ctrlPr>
                          <a:rPr kumimoji="1" lang="en-US" altLang="zh-CN" sz="2400" i="1">
                            <a:solidFill>
                              <a:srgbClr val="0000FF"/>
                            </a:solidFill>
                            <a:latin typeface="Cambria Math" panose="02040503050406030204" pitchFamily="18" charset="0"/>
                            <a:ea typeface="微软雅黑" panose="020B0503020204020204" pitchFamily="34" charset="-122"/>
                          </a:rPr>
                        </m:ctrlPr>
                      </m:sSubPr>
                      <m:e>
                        <m:r>
                          <a:rPr kumimoji="1" lang="en-US" altLang="zh-CN" sz="2400" i="1">
                            <a:solidFill>
                              <a:srgbClr val="0000FF"/>
                            </a:solidFill>
                            <a:latin typeface="Cambria Math" panose="02040503050406030204" pitchFamily="18" charset="0"/>
                            <a:ea typeface="微软雅黑" panose="020B0503020204020204" pitchFamily="34" charset="-122"/>
                          </a:rPr>
                          <m:t>𝐷</m:t>
                        </m:r>
                      </m:e>
                      <m:sub>
                        <m:r>
                          <m:rPr>
                            <m:sty m:val="p"/>
                          </m:rPr>
                          <a:rPr kumimoji="1" lang="en-US" altLang="zh-CN" sz="2400">
                            <a:solidFill>
                              <a:srgbClr val="0000FF"/>
                            </a:solidFill>
                            <a:latin typeface="Cambria Math" panose="02040503050406030204" pitchFamily="18" charset="0"/>
                            <a:ea typeface="微软雅黑" panose="020B0503020204020204" pitchFamily="34" charset="-122"/>
                          </a:rPr>
                          <m:t>Z</m:t>
                        </m:r>
                      </m:sub>
                    </m:sSub>
                  </m:oMath>
                </a14:m>
                <a:r>
                  <a:rPr kumimoji="1" lang="zh-CN" altLang="en-US" sz="2400" dirty="0">
                    <a:solidFill>
                      <a:srgbClr val="0000FF"/>
                    </a:solidFill>
                    <a:ea typeface="微软雅黑" panose="020B0503020204020204" pitchFamily="34" charset="-122"/>
                  </a:rPr>
                  <a:t> 处于正常工作状态时，</a:t>
                </a:r>
                <a:r>
                  <a:rPr kumimoji="1" lang="en-US" altLang="zh-CN" sz="2400" dirty="0">
                    <a:solidFill>
                      <a:srgbClr val="0000FF"/>
                    </a:solidFill>
                    <a:ea typeface="微软雅黑" panose="020B0503020204020204" pitchFamily="34" charset="-122"/>
                  </a:rPr>
                  <a:t> </a:t>
                </a:r>
                <a14:m>
                  <m:oMath xmlns:m="http://schemas.openxmlformats.org/officeDocument/2006/math">
                    <m:sSub>
                      <m:sSubPr>
                        <m:ctrlPr>
                          <a:rPr kumimoji="1" lang="en-US" altLang="zh-CN" sz="2400" i="1" smtClean="0">
                            <a:solidFill>
                              <a:srgbClr val="0000FF"/>
                            </a:solidFill>
                            <a:latin typeface="Cambria Math" panose="02040503050406030204" pitchFamily="18" charset="0"/>
                            <a:ea typeface="微软雅黑" panose="020B0503020204020204" pitchFamily="34" charset="-122"/>
                          </a:rPr>
                        </m:ctrlPr>
                      </m:sSubPr>
                      <m:e>
                        <m:r>
                          <a:rPr kumimoji="1" lang="en-US" altLang="zh-CN" sz="2400" i="1">
                            <a:solidFill>
                              <a:srgbClr val="0000FF"/>
                            </a:solidFill>
                            <a:latin typeface="Cambria Math" panose="02040503050406030204" pitchFamily="18" charset="0"/>
                            <a:ea typeface="微软雅黑" panose="020B0503020204020204" pitchFamily="34" charset="-122"/>
                          </a:rPr>
                          <m:t>𝐼</m:t>
                        </m:r>
                      </m:e>
                      <m:sub>
                        <m:r>
                          <m:rPr>
                            <m:sty m:val="p"/>
                          </m:rPr>
                          <a:rPr kumimoji="1" lang="en-US" altLang="zh-CN" sz="2400">
                            <a:solidFill>
                              <a:srgbClr val="0000FF"/>
                            </a:solidFill>
                            <a:latin typeface="Cambria Math" panose="02040503050406030204" pitchFamily="18" charset="0"/>
                            <a:ea typeface="微软雅黑" panose="020B0503020204020204" pitchFamily="34" charset="-122"/>
                          </a:rPr>
                          <m:t>Z</m:t>
                        </m:r>
                      </m:sub>
                    </m:sSub>
                  </m:oMath>
                </a14:m>
                <a:r>
                  <a:rPr kumimoji="1" lang="en-US" altLang="zh-CN" sz="2400" dirty="0">
                    <a:solidFill>
                      <a:srgbClr val="0000FF"/>
                    </a:solidFill>
                    <a:latin typeface="微软雅黑" panose="020B0503020204020204" pitchFamily="34" charset="-122"/>
                    <a:ea typeface="微软雅黑" panose="020B0503020204020204" pitchFamily="34" charset="-122"/>
                  </a:rPr>
                  <a:t> </a:t>
                </a:r>
                <a:r>
                  <a:rPr kumimoji="1" lang="zh-CN" altLang="en-US" sz="2400" dirty="0">
                    <a:solidFill>
                      <a:srgbClr val="0000FF"/>
                    </a:solidFill>
                    <a:latin typeface="微软雅黑" panose="020B0503020204020204" pitchFamily="34" charset="-122"/>
                    <a:ea typeface="微软雅黑" panose="020B0503020204020204" pitchFamily="34" charset="-122"/>
                  </a:rPr>
                  <a:t>可在较大范围内变化，而 </a:t>
                </a:r>
                <a14:m>
                  <m:oMath xmlns:m="http://schemas.openxmlformats.org/officeDocument/2006/math">
                    <m:sSub>
                      <m:sSubPr>
                        <m:ctrlPr>
                          <a:rPr kumimoji="1" lang="en-US" altLang="zh-CN" sz="2400" i="1">
                            <a:solidFill>
                              <a:srgbClr val="0000FF"/>
                            </a:solidFill>
                            <a:latin typeface="Cambria Math" panose="02040503050406030204" pitchFamily="18" charset="0"/>
                            <a:ea typeface="微软雅黑" panose="020B0503020204020204" pitchFamily="34" charset="-122"/>
                          </a:rPr>
                        </m:ctrlPr>
                      </m:sSubPr>
                      <m:e>
                        <m:r>
                          <a:rPr kumimoji="1" lang="en-US" altLang="zh-CN" sz="2400" b="0" i="1" smtClean="0">
                            <a:solidFill>
                              <a:srgbClr val="0000FF"/>
                            </a:solidFill>
                            <a:latin typeface="Cambria Math" panose="02040503050406030204" pitchFamily="18" charset="0"/>
                            <a:ea typeface="微软雅黑" panose="020B0503020204020204" pitchFamily="34" charset="-122"/>
                          </a:rPr>
                          <m:t>𝑉</m:t>
                        </m:r>
                      </m:e>
                      <m:sub>
                        <m:r>
                          <m:rPr>
                            <m:sty m:val="p"/>
                          </m:rPr>
                          <a:rPr kumimoji="1" lang="en-US" altLang="zh-CN" sz="2400">
                            <a:solidFill>
                              <a:srgbClr val="0000FF"/>
                            </a:solidFill>
                            <a:latin typeface="Cambria Math" panose="02040503050406030204" pitchFamily="18" charset="0"/>
                            <a:ea typeface="微软雅黑" panose="020B0503020204020204" pitchFamily="34" charset="-122"/>
                          </a:rPr>
                          <m:t>Z</m:t>
                        </m:r>
                      </m:sub>
                    </m:sSub>
                  </m:oMath>
                </a14:m>
                <a:r>
                  <a:rPr kumimoji="1" lang="zh-CN" altLang="en-US" sz="2400" dirty="0">
                    <a:solidFill>
                      <a:srgbClr val="0000FF"/>
                    </a:solidFill>
                    <a:latin typeface="微软雅黑" panose="020B0503020204020204" pitchFamily="34" charset="-122"/>
                    <a:ea typeface="微软雅黑" panose="020B0503020204020204" pitchFamily="34" charset="-122"/>
                  </a:rPr>
                  <a:t> 的变化可忽略，从而稳压 </a:t>
                </a:r>
                <a:endParaRPr kumimoji="1" lang="en-US" altLang="zh-CN" sz="2400" dirty="0">
                  <a:solidFill>
                    <a:srgbClr val="0000FF"/>
                  </a:solidFill>
                  <a:latin typeface="微软雅黑" panose="020B0503020204020204" pitchFamily="34" charset="-122"/>
                  <a:ea typeface="微软雅黑" panose="020B0503020204020204" pitchFamily="34" charset="-122"/>
                </a:endParaRPr>
              </a:p>
            </p:txBody>
          </p:sp>
        </mc:Choice>
        <mc:Fallback xmlns="">
          <p:sp>
            <p:nvSpPr>
              <p:cNvPr id="9" name="文本框 8">
                <a:extLst>
                  <a:ext uri="{FF2B5EF4-FFF2-40B4-BE49-F238E27FC236}">
                    <a16:creationId xmlns:a16="http://schemas.microsoft.com/office/drawing/2014/main" id="{EC2DD34E-1037-8479-0E58-A22FF93DF56B}"/>
                  </a:ext>
                </a:extLst>
              </p:cNvPr>
              <p:cNvSpPr txBox="1">
                <a:spLocks noRot="1" noChangeAspect="1" noMove="1" noResize="1" noEditPoints="1" noAdjustHandles="1" noChangeArrowheads="1" noChangeShapeType="1" noTextEdit="1"/>
              </p:cNvSpPr>
              <p:nvPr/>
            </p:nvSpPr>
            <p:spPr>
              <a:xfrm>
                <a:off x="6480000" y="4679999"/>
                <a:ext cx="4140000" cy="1260000"/>
              </a:xfrm>
              <a:prstGeom prst="rect">
                <a:avLst/>
              </a:prstGeom>
              <a:blipFill>
                <a:blip r:embed="rId14"/>
                <a:stretch>
                  <a:fillRect l="-2356" t="-4369" b="-582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425437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04AF741-2989-8935-977C-2D9C32296B5C}"/>
              </a:ext>
            </a:extLst>
          </p:cNvPr>
          <p:cNvSpPr txBox="1">
            <a:spLocks/>
          </p:cNvSpPr>
          <p:nvPr/>
        </p:nvSpPr>
        <p:spPr>
          <a:xfrm>
            <a:off x="360000" y="0"/>
            <a:ext cx="11826000" cy="548639"/>
          </a:xfrm>
          <a:prstGeom prst="rect">
            <a:avLst/>
          </a:prstGeom>
        </p:spPr>
        <p:txBody>
          <a:bodyPr anchor="b">
            <a:normAutofit/>
          </a:bodyPr>
          <a:lstStyle>
            <a:defPPr>
              <a:defRPr lang="zh-CN"/>
            </a:defPPr>
            <a:lvl1pPr marL="0" algn="l" defTabSz="914400" rtl="0" eaLnBrk="1" latinLnBrk="0" hangingPunct="1">
              <a:lnSpc>
                <a:spcPct val="90000"/>
              </a:lnSpc>
              <a:spcBef>
                <a:spcPct val="0"/>
              </a:spcBef>
              <a:buNone/>
              <a:defRPr sz="3200" b="1" kern="1200">
                <a:solidFill>
                  <a:schemeClr val="bg1"/>
                </a:solidFill>
                <a:latin typeface="微软雅黑" panose="020B0503020204020204" pitchFamily="34" charset="-122"/>
                <a:ea typeface="微软雅黑" panose="020B0503020204020204" pitchFamily="34" charset="-122"/>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000" dirty="0"/>
              <a:t>作业</a:t>
            </a:r>
            <a:endParaRPr lang="en-US" altLang="zh-CN" sz="3000" dirty="0">
              <a:solidFill>
                <a:srgbClr val="FFFF00"/>
              </a:solidFill>
            </a:endParaRPr>
          </a:p>
        </p:txBody>
      </p:sp>
      <p:sp>
        <p:nvSpPr>
          <p:cNvPr id="2" name="文本框 1">
            <a:extLst>
              <a:ext uri="{FF2B5EF4-FFF2-40B4-BE49-F238E27FC236}">
                <a16:creationId xmlns:a16="http://schemas.microsoft.com/office/drawing/2014/main" id="{D971CD10-445B-B464-E756-E18E349489AD}"/>
              </a:ext>
            </a:extLst>
          </p:cNvPr>
          <p:cNvSpPr txBox="1"/>
          <p:nvPr/>
        </p:nvSpPr>
        <p:spPr>
          <a:xfrm>
            <a:off x="360001" y="828000"/>
            <a:ext cx="9042416" cy="4152740"/>
          </a:xfrm>
          <a:prstGeom prst="rect">
            <a:avLst/>
          </a:prstGeom>
          <a:noFill/>
        </p:spPr>
        <p:txBody>
          <a:bodyPr wrap="square">
            <a:spAutoFit/>
          </a:bodyPr>
          <a:lstStyle/>
          <a:p>
            <a:pPr>
              <a:lnSpc>
                <a:spcPct val="110000"/>
              </a:lnSpc>
              <a:spcAft>
                <a:spcPct val="30000"/>
              </a:spcAft>
              <a:defRPr/>
            </a:pPr>
            <a:r>
              <a:rPr lang="zh-CN" altLang="en-US" sz="2800" kern="0" dirty="0">
                <a:solidFill>
                  <a:srgbClr val="C00000"/>
                </a:solidFill>
                <a:latin typeface="微软雅黑" panose="020B0503020204020204" pitchFamily="34" charset="-122"/>
                <a:ea typeface="微软雅黑" panose="020B0503020204020204" pitchFamily="34" charset="-122"/>
              </a:rPr>
              <a:t>电子技术基础（模拟部分）</a:t>
            </a:r>
            <a:endParaRPr lang="en-US" altLang="zh-CN" sz="2800" kern="0" dirty="0">
              <a:solidFill>
                <a:srgbClr val="C00000"/>
              </a:solidFill>
              <a:latin typeface="微软雅黑" panose="020B0503020204020204" pitchFamily="34" charset="-122"/>
              <a:ea typeface="微软雅黑" panose="020B0503020204020204" pitchFamily="34" charset="-122"/>
            </a:endParaRPr>
          </a:p>
          <a:p>
            <a:pPr>
              <a:lnSpc>
                <a:spcPct val="110000"/>
              </a:lnSpc>
              <a:spcAft>
                <a:spcPct val="30000"/>
              </a:spcAft>
              <a:defRPr/>
            </a:pP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11 </a:t>
            </a:r>
            <a:r>
              <a:rPr lang="zh-CN" altLang="en-US" sz="2800" kern="0" dirty="0">
                <a:solidFill>
                  <a:schemeClr val="accent5">
                    <a:lumMod val="75000"/>
                  </a:schemeClr>
                </a:solidFill>
                <a:latin typeface="微软雅黑" panose="020B0503020204020204" pitchFamily="34" charset="-122"/>
                <a:ea typeface="微软雅黑" panose="020B0503020204020204" pitchFamily="34" charset="-122"/>
              </a:rPr>
              <a:t>月 </a:t>
            </a: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19 </a:t>
            </a:r>
            <a:r>
              <a:rPr lang="zh-CN" altLang="en-US" sz="2800" kern="0" dirty="0">
                <a:solidFill>
                  <a:schemeClr val="accent5">
                    <a:lumMod val="75000"/>
                  </a:schemeClr>
                </a:solidFill>
                <a:latin typeface="微软雅黑" panose="020B0503020204020204" pitchFamily="34" charset="-122"/>
                <a:ea typeface="微软雅黑" panose="020B0503020204020204" pitchFamily="34" charset="-122"/>
              </a:rPr>
              <a:t>日的作业</a:t>
            </a:r>
            <a:endParaRPr lang="en-US" altLang="zh-CN" sz="2800" kern="0" dirty="0">
              <a:solidFill>
                <a:schemeClr val="accent5">
                  <a:lumMod val="75000"/>
                </a:schemeClr>
              </a:solidFill>
              <a:latin typeface="微软雅黑" panose="020B0503020204020204" pitchFamily="34" charset="-122"/>
              <a:ea typeface="微软雅黑" panose="020B0503020204020204" pitchFamily="34" charset="-122"/>
            </a:endParaRPr>
          </a:p>
          <a:p>
            <a:pPr>
              <a:lnSpc>
                <a:spcPct val="110000"/>
              </a:lnSpc>
              <a:spcAft>
                <a:spcPct val="30000"/>
              </a:spcAft>
              <a:defRPr/>
            </a:pP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P84 - 88</a:t>
            </a:r>
            <a:r>
              <a:rPr lang="zh-CN" altLang="en-US" sz="2800" kern="0" dirty="0">
                <a:solidFill>
                  <a:schemeClr val="accent5">
                    <a:lumMod val="75000"/>
                  </a:schemeClr>
                </a:solidFill>
                <a:latin typeface="微软雅黑" panose="020B0503020204020204" pitchFamily="34" charset="-122"/>
                <a:ea typeface="微软雅黑" panose="020B0503020204020204" pitchFamily="34" charset="-122"/>
              </a:rPr>
              <a:t>：</a:t>
            </a:r>
            <a:endParaRPr lang="en-US" altLang="zh-CN" sz="2800" kern="0" dirty="0">
              <a:solidFill>
                <a:schemeClr val="accent5">
                  <a:lumMod val="75000"/>
                </a:schemeClr>
              </a:solidFill>
              <a:latin typeface="微软雅黑" panose="020B0503020204020204" pitchFamily="34" charset="-122"/>
              <a:ea typeface="微软雅黑" panose="020B0503020204020204" pitchFamily="34" charset="-122"/>
            </a:endParaRPr>
          </a:p>
          <a:p>
            <a:pPr lvl="1">
              <a:lnSpc>
                <a:spcPct val="110000"/>
              </a:lnSpc>
              <a:spcAft>
                <a:spcPct val="30000"/>
              </a:spcAft>
              <a:defRPr/>
            </a:pP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3.4.3</a:t>
            </a:r>
          </a:p>
          <a:p>
            <a:pPr lvl="1">
              <a:lnSpc>
                <a:spcPct val="110000"/>
              </a:lnSpc>
              <a:spcAft>
                <a:spcPct val="30000"/>
              </a:spcAft>
              <a:defRPr/>
            </a:pP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3.4.12 (b)</a:t>
            </a:r>
            <a:r>
              <a:rPr lang="zh-CN" altLang="en-US" sz="2800" kern="0" dirty="0">
                <a:solidFill>
                  <a:schemeClr val="accent5">
                    <a:lumMod val="75000"/>
                  </a:schemeClr>
                </a:solidFill>
                <a:latin typeface="微软雅黑" panose="020B0503020204020204" pitchFamily="34" charset="-122"/>
                <a:ea typeface="微软雅黑" panose="020B0503020204020204" pitchFamily="34" charset="-122"/>
              </a:rPr>
              <a:t>、</a:t>
            </a: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(d)</a:t>
            </a:r>
          </a:p>
          <a:p>
            <a:pPr lvl="1">
              <a:lnSpc>
                <a:spcPct val="110000"/>
              </a:lnSpc>
              <a:spcAft>
                <a:spcPct val="30000"/>
              </a:spcAft>
              <a:defRPr/>
            </a:pP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3.4.15</a:t>
            </a:r>
          </a:p>
          <a:p>
            <a:pPr lvl="1">
              <a:lnSpc>
                <a:spcPct val="110000"/>
              </a:lnSpc>
              <a:spcAft>
                <a:spcPct val="30000"/>
              </a:spcAft>
              <a:defRPr/>
            </a:pPr>
            <a:r>
              <a:rPr lang="en-US" altLang="zh-CN" sz="2800" kern="0" dirty="0">
                <a:solidFill>
                  <a:schemeClr val="accent5">
                    <a:lumMod val="75000"/>
                  </a:schemeClr>
                </a:solidFill>
                <a:latin typeface="微软雅黑" panose="020B0503020204020204" pitchFamily="34" charset="-122"/>
                <a:ea typeface="微软雅黑" panose="020B0503020204020204" pitchFamily="34" charset="-122"/>
              </a:rPr>
              <a:t>3.5.3</a:t>
            </a:r>
            <a:r>
              <a:rPr lang="zh-CN" altLang="en-US" sz="2800" kern="0" dirty="0">
                <a:solidFill>
                  <a:schemeClr val="accent5">
                    <a:lumMod val="75000"/>
                  </a:schemeClr>
                </a:solidFill>
                <a:latin typeface="微软雅黑" panose="020B0503020204020204" pitchFamily="34" charset="-122"/>
                <a:ea typeface="微软雅黑" panose="020B0503020204020204" pitchFamily="34" charset="-122"/>
              </a:rPr>
              <a:t>（</a:t>
            </a:r>
            <a:r>
              <a:rPr kumimoji="1" lang="zh-CN" altLang="en-US" sz="2400" dirty="0">
                <a:solidFill>
                  <a:schemeClr val="accent5">
                    <a:lumMod val="75000"/>
                  </a:schemeClr>
                </a:solidFill>
                <a:latin typeface="微软雅黑" panose="020B0503020204020204" pitchFamily="34" charset="-122"/>
                <a:ea typeface="微软雅黑" panose="020B0503020204020204" pitchFamily="34" charset="-122"/>
              </a:rPr>
              <a:t>注：功率为电压和电流的乘积</a:t>
            </a:r>
            <a:r>
              <a:rPr lang="zh-CN" altLang="en-US" sz="2800" kern="0" dirty="0">
                <a:solidFill>
                  <a:schemeClr val="accent5">
                    <a:lumMod val="75000"/>
                  </a:schemeClr>
                </a:solidFill>
                <a:latin typeface="微软雅黑" panose="020B0503020204020204" pitchFamily="34" charset="-122"/>
                <a:ea typeface="微软雅黑" panose="020B0503020204020204" pitchFamily="34" charset="-122"/>
              </a:rPr>
              <a:t>）</a:t>
            </a:r>
            <a:endParaRPr lang="en-US" altLang="zh-CN" sz="2800" kern="0" dirty="0">
              <a:solidFill>
                <a:schemeClr val="accent5">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4151833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32074</TotalTime>
  <Words>5066</Words>
  <Application>Microsoft Office PowerPoint</Application>
  <PresentationFormat>宽屏</PresentationFormat>
  <Paragraphs>905</Paragraphs>
  <Slides>32</Slides>
  <Notes>24</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32</vt:i4>
      </vt:variant>
    </vt:vector>
  </HeadingPairs>
  <TitlesOfParts>
    <vt:vector size="44" baseType="lpstr">
      <vt:lpstr>等线</vt:lpstr>
      <vt:lpstr>黑体</vt:lpstr>
      <vt:lpstr>楷体_GB2312</vt:lpstr>
      <vt:lpstr>宋体</vt:lpstr>
      <vt:lpstr>Microsoft YaHei</vt:lpstr>
      <vt:lpstr>Microsoft YaHei</vt:lpstr>
      <vt:lpstr>Arial</vt:lpstr>
      <vt:lpstr>Cambria Math</vt:lpstr>
      <vt:lpstr>Candara</vt:lpstr>
      <vt:lpstr>Wingdings</vt:lpstr>
      <vt:lpstr>Office 主题​​</vt:lpstr>
      <vt:lpstr>Picture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Ada Liao</dc:creator>
  <cp:lastModifiedBy>QF</cp:lastModifiedBy>
  <cp:revision>1557</cp:revision>
  <dcterms:created xsi:type="dcterms:W3CDTF">2024-12-23T04:28:42Z</dcterms:created>
  <dcterms:modified xsi:type="dcterms:W3CDTF">2025-12-29T06:45:46Z</dcterms:modified>
</cp:coreProperties>
</file>